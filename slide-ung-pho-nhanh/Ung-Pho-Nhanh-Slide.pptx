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59" d="100"/>
          <a:sy n="159" d="100"/>
        </p:scale>
        <p:origin x="33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30744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chào quý Ban Lãnh đạo, Ban Tổ chức và Ban Giám khảo. Nhóm chúng em xin trình bày dự án Ứng Phó Nhanh - Giải pháp cứu hộ, cứu nạn và hậu cần thông minh.</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Chúng em sinh ra và lớn lên tại vùng đất năm nào cũng chịu ảnh hưởng của bão lũ. Trong nhóm có thành viên là chiến sĩ Công an nhân dân, đã trực tiếp tham gia cứu hộ trong đợt bão lũ lịch sử năm 2025.</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2025 là dấu mốc trực tiếp thúc đẩy nhóm em bắt tay vào làm. Đợt mưa lũ giữa tháng 11, mưa phổ biến bốn trăm đến sáu trăm mi-li-mét, có nơi trên tám trăm. Lũ trên sông Ba và sông Kỳ Lộ vượt các đỉnh lũ lịch sử. Tính đến ngày hai mươi tháng mười một, toàn tỉnh có mười chín người chết, sáu người mất tích, hơn tám mươi lăm nghìn bảy trăm lượt nhà bị ngập, hơn mười hai nghìn tám trăm hộ bị cô lập. Bốn mươi xã phường phải công bố tình huống khẩn cấp, trong đó có xã Đồng Xuân quê em. Tổng thiệt hại vượt chín nghìn bảy trăm ba mươi tỷ đồng. Đoạn này nói chậm, để con số tự nói.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hiện trường thật ở quê chúng em trong đợt lũ tháng mười một. Nói ngắn, để ảnh tự kể. Nếu chưa kịp có ảnh thì bỏ hẳn slide này thay vì để khung trống.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quyết định vẫn phải đưa ra nhanh chóng: Cần vật tư gì? Lấy ở đâu? Kho nào còn đủ? Và làm sao để tất cả các bộ phận cùng nhận được thông tin nhanh chóng, chính xác?</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Trưởng thôn báo tình huống, người điều phối dùng AI lập phương án. Ngay khi phương án được duyệt, bộ phận kho và đội cứu hộ nhận thông tin cùng một lúc chứ không truyền tin nối tiếp qua nhau.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sơ bộ toàn bộ quy trình: từ tin báo của trưởng thôn, AI phân tích, chọn kho, xác nhận và thông báo, đội cứu hộ báo cáo hoàn thành, cuối cùng là kho xác nhận hoàn trả vật tư. Sau đây nhóm em xin đi sâu từng bước.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bắt đầu từ tin báo của trưởng thôn, sau đó AI phân tích tình hình để người điều phối chốt phương án.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đọc mô tả bằng lời thành số liệu, đề xuất vật tư và chọn kho tối ưu để rút ngắn thời gian ứng cứu.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có danh mục vật tư, hệ thống chọn kho tiếp tế gần điểm gặp nạn nhất.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tính quãng đường thực tế từ điểm gặp nạn tới từng kho, ưu tiên kho gần nhất. Kho gần nhất không đủ thì lấy hết phần đang có rồi tràn sang kho gần thứ hai, thứ ba. Kho đang có sự cố hoặc vật tư hỏng, hết hạn sẽ bị loại khỏi phương án.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điều phối xác nhận phương án, kho và đội cứu hộ nhận thông báo cùng lúc.</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người điều phối xác nhận, kho và đội cứu hộ nhận thông tin cùng một lúc. Kho có phiếu yêu cầu riêng để chuẩn bị và xuất vật tư; đội cứu hộ thấy điểm gặp nạn trên bản đồ, biết cần nhận vật tư gì và phải tới những kho nào.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Hoàn thành nhiệm vụ, đội cứu hộ xác nhận trên hệ thống và gửi kèm hình ảnh tại hiện trường.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 xác nhận phần vật tư đội cứu hộ hoàn trả. Toàn bộ vòng đời nhiệm vụ được ghi lại đầy đủ trong hệ thống.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lưu lại toàn bộ dữ liệu từng đợt cứu hộ, trở thành nguồn thông tin để phân tích và dự báo nhu cầu vật tư cho những đợt tiếp theo.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vừa rồi là luồng điều phối. Sáu slide tiếp theo đi vào phần kho — nơi giữ cho số liệu mà luồng điều phối dựa vào luôn đúng: cách quản lý vật tư, chấm điểm sẵn sàng của kho, nhìn tồn kho toàn xã, cảm biến IoT, lựa chọn phần cứng và trợ lý AI hỏi đáp.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xã có một kho tổng và mười bảy kho thôn. Biết còn bao nhiêu là chưa đủ: ba mươi áo phao còn tốt nhưng đang cho đội xung kích mượn đi diễn tập thì không được tính là khả dụng.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số chấm theo sáu chiều, tính ở bốn cấp: lô, kệ, khu, toàn kho. Khi cảm biến báo nguy cơ cháy, kho đang chín mươi lăm điểm lập tức chuyển sang trạng thái không điều phối được.</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ngăn một sai lầm đã thấy ngoài đời: người trực nhìn con số ở kho tổng, kết luận cả xã hết hàng rồi đi xin chi viện, trong khi thứ mình cần đang nằm ở thôn bên cạnh. Nếu dư thời gian, nói thêm ở đây về dự báo nhu cầu theo lượng mưa 72 giờ và bản tin đầu ngày.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quy tắc này thể hiện rõ nhất cách nhóm em suy nghĩ: không để báo động giả làm người ta tắt hệ thống, và không coi sự im lặng của thiết bị là mọi thứ bình thường.</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lựa chọn kỹ thuật, không phải thiếu sót. Nói bình thản, không hạ giọng.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mô hình viết xong câu trả lời, hệ thống đối chiếu từng con số với ảnh chụp dữ liệu kho tại thời điểm hỏi. Không khớp thì chặn lại và hiện thông báo chưa thể tạo câu trả lời an toàn từ dữ liệu hiện có.</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Dự án bắt đầu từ quê nhà của chúng em — xã Đồng Xuân. Đoạn này nói chậm nhất, nhìn thẳng xuống ban giám khảo. Nếu thư chưa ký kịp: đổi tiêu đề thành “Đưa sản phẩm về đúng nơi nó sinh ra”, bỏ khung ảnh và giữ ba gạch đầu dòng ở thì tương lai.</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chúng em muốn xây dựng là một hệ thống kết nối thông tin, hỗ trợ ra quyết định và điều phối nguồn lực.</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Chúng ta có thể không kiểm soát được khi nào thiên tai xảy ra, nhưng có thể chuẩn bị tốt hơn, phối hợp nhanh hơn và ứng phó hiệu quả hơn. Mời quý Ban Giám khảo theo dõi phần demo.</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6.jp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7" Type="http://schemas.openxmlformats.org/officeDocument/2006/relationships/image" Target="../media/image9.jp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jpg"/><Relationship Id="rId5" Type="http://schemas.openxmlformats.org/officeDocument/2006/relationships/image" Target="../media/image7.jp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0.jp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1.jp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12.jp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4101F"/>
        </a:solidFill>
        <a:effectLst/>
      </p:bgPr>
    </p:bg>
    <p:spTree>
      <p:nvGrpSpPr>
        <p:cNvPr id="1" name=""/>
        <p:cNvGrpSpPr/>
        <p:nvPr/>
      </p:nvGrpSpPr>
      <p:grpSpPr>
        <a:xfrm>
          <a:off x="0" y="0"/>
          <a:ext cx="0" cy="0"/>
          <a:chOff x="0" y="0"/>
          <a:chExt cx="0" cy="0"/>
        </a:xfrm>
      </p:grpSpPr>
      <p:pic>
        <p:nvPicPr>
          <p:cNvPr id="2" name="Image 0" descr="bg-title.jpg"/>
          <p:cNvPicPr>
            <a:picLocks noChangeAspect="1"/>
          </p:cNvPicPr>
          <p:nvPr/>
        </p:nvPicPr>
        <p:blipFill>
          <a:blip r:embed="rId3"/>
          <a:stretch>
            <a:fillRect/>
          </a:stretch>
        </p:blipFill>
        <p:spPr>
          <a:xfrm>
            <a:off x="0" y="0"/>
            <a:ext cx="12191695" cy="6858000"/>
          </a:xfrm>
          <a:prstGeom prst="rect">
            <a:avLst/>
          </a:prstGeom>
        </p:spPr>
      </p:pic>
      <p:pic>
        <p:nvPicPr>
          <p:cNvPr id="3" name="Image 1" descr="scrim-left.png"/>
          <p:cNvPicPr>
            <a:picLocks noChangeAspect="1"/>
          </p:cNvPicPr>
          <p:nvPr/>
        </p:nvPicPr>
        <p:blipFill>
          <a:blip r:embed="rId4"/>
          <a:stretch>
            <a:fillRect/>
          </a:stretch>
        </p:blipFill>
        <p:spPr>
          <a:xfrm>
            <a:off x="0" y="0"/>
            <a:ext cx="12191695" cy="6858000"/>
          </a:xfrm>
          <a:prstGeom prst="rect">
            <a:avLst/>
          </a:prstGeom>
        </p:spPr>
      </p:pic>
      <p:pic>
        <p:nvPicPr>
          <p:cNvPr id="4" name="Image 2" descr="scrim-bottom.png"/>
          <p:cNvPicPr>
            <a:picLocks noChangeAspect="1"/>
          </p:cNvPicPr>
          <p:nvPr/>
        </p:nvPicPr>
        <p:blipFill>
          <a:blip r:embed="rId5"/>
          <a:stretch>
            <a:fillRect/>
          </a:stretch>
        </p:blipFill>
        <p:spPr>
          <a:xfrm>
            <a:off x="0" y="0"/>
            <a:ext cx="12191695" cy="6858000"/>
          </a:xfrm>
          <a:prstGeom prst="rect">
            <a:avLst/>
          </a:prstGeom>
        </p:spPr>
      </p:pic>
      <p:sp>
        <p:nvSpPr>
          <p:cNvPr id="5" name="Shape 0"/>
          <p:cNvSpPr/>
          <p:nvPr/>
        </p:nvSpPr>
        <p:spPr>
          <a:xfrm>
            <a:off x="0" y="0"/>
            <a:ext cx="12191695" cy="6858000"/>
          </a:xfrm>
          <a:prstGeom prst="rect">
            <a:avLst/>
          </a:prstGeom>
          <a:solidFill>
            <a:srgbClr val="04101F">
              <a:alpha val="22000"/>
            </a:srgbClr>
          </a:solidFill>
          <a:ln/>
        </p:spPr>
      </p:sp>
      <p:pic>
        <p:nvPicPr>
          <p:cNvPr id="6" name="Image 3" descr="mark-sm.png"/>
          <p:cNvPicPr>
            <a:picLocks noChangeAspect="1"/>
          </p:cNvPicPr>
          <p:nvPr/>
        </p:nvPicPr>
        <p:blipFill>
          <a:blip r:embed="rId6"/>
          <a:stretch>
            <a:fillRect/>
          </a:stretch>
        </p:blipFill>
        <p:spPr>
          <a:xfrm>
            <a:off x="1399032" y="768096"/>
            <a:ext cx="1408176" cy="1408176"/>
          </a:xfrm>
          <a:prstGeom prst="rect">
            <a:avLst/>
          </a:prstGeom>
        </p:spPr>
      </p:pic>
      <p:sp>
        <p:nvSpPr>
          <p:cNvPr id="7" name="Text 1"/>
          <p:cNvSpPr/>
          <p:nvPr/>
        </p:nvSpPr>
        <p:spPr>
          <a:xfrm>
            <a:off x="713232" y="2560320"/>
            <a:ext cx="8321040" cy="923544"/>
          </a:xfrm>
          <a:prstGeom prst="rect">
            <a:avLst/>
          </a:prstGeom>
          <a:noFill/>
          <a:ln/>
        </p:spPr>
        <p:txBody>
          <a:bodyPr wrap="square" lIns="0" tIns="0" rIns="0" bIns="0" rtlCol="0" anchor="t"/>
          <a:lstStyle/>
          <a:p>
            <a:pPr marL="0" indent="0" algn="l">
              <a:lnSpc>
                <a:spcPts val="6696"/>
              </a:lnSpc>
              <a:buNone/>
            </a:pPr>
            <a:r>
              <a:rPr lang="en-US" sz="6200" b="1" dirty="0">
                <a:solidFill>
                  <a:srgbClr val="FFFFFF"/>
                </a:solidFill>
                <a:latin typeface="Be Vietnam Pro" pitchFamily="34" charset="0"/>
                <a:ea typeface="Be Vietnam Pro" pitchFamily="34" charset="-122"/>
                <a:cs typeface="Be Vietnam Pro" pitchFamily="34" charset="-120"/>
              </a:rPr>
              <a:t>ỨNG PHÓ NHANH</a:t>
            </a:r>
            <a:endParaRPr lang="en-US" sz="6200" dirty="0"/>
          </a:p>
        </p:txBody>
      </p:sp>
      <p:sp>
        <p:nvSpPr>
          <p:cNvPr id="8" name="Shape 2"/>
          <p:cNvSpPr/>
          <p:nvPr/>
        </p:nvSpPr>
        <p:spPr>
          <a:xfrm>
            <a:off x="713232" y="3767328"/>
            <a:ext cx="1325880" cy="68580"/>
          </a:xfrm>
          <a:prstGeom prst="roundRect">
            <a:avLst>
              <a:gd name="adj" fmla="val 49333"/>
            </a:avLst>
          </a:prstGeom>
          <a:solidFill>
            <a:srgbClr val="22C55E"/>
          </a:solidFill>
          <a:ln/>
        </p:spPr>
      </p:sp>
      <p:sp>
        <p:nvSpPr>
          <p:cNvPr id="9" name="Text 3"/>
          <p:cNvSpPr/>
          <p:nvPr/>
        </p:nvSpPr>
        <p:spPr>
          <a:xfrm>
            <a:off x="713232" y="4023360"/>
            <a:ext cx="7040880" cy="419862"/>
          </a:xfrm>
          <a:prstGeom prst="rect">
            <a:avLst/>
          </a:prstGeom>
          <a:noFill/>
          <a:ln/>
        </p:spPr>
        <p:txBody>
          <a:bodyPr wrap="square" lIns="0" tIns="0" rIns="0" bIns="0" rtlCol="0" anchor="t"/>
          <a:lstStyle/>
          <a:p>
            <a:pPr marL="0" indent="0" algn="l">
              <a:lnSpc>
                <a:spcPts val="2730"/>
              </a:lnSpc>
              <a:buNone/>
            </a:pPr>
            <a:r>
              <a:rPr lang="en-US" sz="2100" dirty="0">
                <a:solidFill>
                  <a:srgbClr val="E8F1FA"/>
                </a:solidFill>
                <a:latin typeface="Be Vietnam Pro" pitchFamily="34" charset="0"/>
                <a:ea typeface="Be Vietnam Pro" pitchFamily="34" charset="-122"/>
                <a:cs typeface="Be Vietnam Pro" pitchFamily="34" charset="-120"/>
              </a:rPr>
              <a:t>Giải pháp cứu hộ, cứu nạn và hậu cần thông minh</a:t>
            </a:r>
            <a:endParaRPr lang="en-US" sz="2100" dirty="0"/>
          </a:p>
        </p:txBody>
      </p:sp>
      <p:sp>
        <p:nvSpPr>
          <p:cNvPr id="10" name="Shape 4"/>
          <p:cNvSpPr/>
          <p:nvPr/>
        </p:nvSpPr>
        <p:spPr>
          <a:xfrm>
            <a:off x="713232" y="4828032"/>
            <a:ext cx="1823841" cy="329184"/>
          </a:xfrm>
          <a:prstGeom prst="roundRect">
            <a:avLst>
              <a:gd name="adj" fmla="val 50000"/>
            </a:avLst>
          </a:prstGeom>
          <a:solidFill>
            <a:srgbClr val="6EE7A8">
              <a:alpha val="18000"/>
            </a:srgbClr>
          </a:solidFill>
          <a:ln w="12700">
            <a:solidFill>
              <a:srgbClr val="6EE7A8">
                <a:alpha val="55000"/>
              </a:srgbClr>
            </a:solidFill>
            <a:prstDash val="solid"/>
          </a:ln>
        </p:spPr>
      </p:sp>
      <p:sp>
        <p:nvSpPr>
          <p:cNvPr id="11" name="Text 5"/>
          <p:cNvSpPr/>
          <p:nvPr/>
        </p:nvSpPr>
        <p:spPr>
          <a:xfrm>
            <a:off x="667512" y="4887468"/>
            <a:ext cx="1915281" cy="270320"/>
          </a:xfrm>
          <a:prstGeom prst="rect">
            <a:avLst/>
          </a:prstGeom>
          <a:noFill/>
          <a:ln/>
        </p:spPr>
        <p:txBody>
          <a:bodyPr wrap="square" lIns="0" tIns="0" rIns="0" bIns="0" rtlCol="0" anchor="t"/>
          <a:lstStyle/>
          <a:p>
            <a:pPr marL="0" indent="0" algn="ctr">
              <a:lnSpc>
                <a:spcPts val="1553"/>
              </a:lnSpc>
              <a:buNone/>
            </a:pPr>
            <a:r>
              <a:rPr lang="en-US" sz="1150" b="1" dirty="0">
                <a:solidFill>
                  <a:srgbClr val="6EE7A8"/>
                </a:solidFill>
                <a:latin typeface="Be Vietnam Pro" pitchFamily="34" charset="0"/>
                <a:ea typeface="Be Vietnam Pro" pitchFamily="34" charset="-122"/>
                <a:cs typeface="Be Vietnam Pro" pitchFamily="34" charset="-120"/>
              </a:rPr>
              <a:t>Điều phối nguồn lực</a:t>
            </a:r>
            <a:endParaRPr lang="en-US" sz="1150" dirty="0"/>
          </a:p>
        </p:txBody>
      </p:sp>
      <p:sp>
        <p:nvSpPr>
          <p:cNvPr id="12" name="Shape 6"/>
          <p:cNvSpPr/>
          <p:nvPr/>
        </p:nvSpPr>
        <p:spPr>
          <a:xfrm>
            <a:off x="2701665" y="4828032"/>
            <a:ext cx="1840782" cy="329184"/>
          </a:xfrm>
          <a:prstGeom prst="roundRect">
            <a:avLst>
              <a:gd name="adj" fmla="val 50000"/>
            </a:avLst>
          </a:prstGeom>
          <a:solidFill>
            <a:srgbClr val="FBBF24">
              <a:alpha val="18000"/>
            </a:srgbClr>
          </a:solidFill>
          <a:ln w="12700">
            <a:solidFill>
              <a:srgbClr val="FBBF24">
                <a:alpha val="55000"/>
              </a:srgbClr>
            </a:solidFill>
            <a:prstDash val="solid"/>
          </a:ln>
        </p:spPr>
      </p:sp>
      <p:sp>
        <p:nvSpPr>
          <p:cNvPr id="13" name="Text 7"/>
          <p:cNvSpPr/>
          <p:nvPr/>
        </p:nvSpPr>
        <p:spPr>
          <a:xfrm>
            <a:off x="2655945" y="4887468"/>
            <a:ext cx="1932222" cy="270320"/>
          </a:xfrm>
          <a:prstGeom prst="rect">
            <a:avLst/>
          </a:prstGeom>
          <a:noFill/>
          <a:ln/>
        </p:spPr>
        <p:txBody>
          <a:bodyPr wrap="square" lIns="0" tIns="0" rIns="0" bIns="0" rtlCol="0" anchor="t"/>
          <a:lstStyle/>
          <a:p>
            <a:pPr marL="0" indent="0" algn="ctr">
              <a:lnSpc>
                <a:spcPts val="1553"/>
              </a:lnSpc>
              <a:buNone/>
            </a:pPr>
            <a:r>
              <a:rPr lang="en-US" sz="1150" b="1" dirty="0">
                <a:solidFill>
                  <a:srgbClr val="FBBF24"/>
                </a:solidFill>
                <a:latin typeface="Be Vietnam Pro" pitchFamily="34" charset="0"/>
                <a:ea typeface="Be Vietnam Pro" pitchFamily="34" charset="-122"/>
                <a:cs typeface="Be Vietnam Pro" pitchFamily="34" charset="-120"/>
              </a:rPr>
              <a:t>Hỗ trợ ra quyết định</a:t>
            </a:r>
            <a:endParaRPr lang="en-US" sz="1150" dirty="0"/>
          </a:p>
        </p:txBody>
      </p:sp>
      <p:sp>
        <p:nvSpPr>
          <p:cNvPr id="14" name="Shape 8"/>
          <p:cNvSpPr/>
          <p:nvPr/>
        </p:nvSpPr>
        <p:spPr>
          <a:xfrm>
            <a:off x="4707039" y="4828032"/>
            <a:ext cx="2092281" cy="329184"/>
          </a:xfrm>
          <a:prstGeom prst="roundRect">
            <a:avLst>
              <a:gd name="adj" fmla="val 50000"/>
            </a:avLst>
          </a:prstGeom>
          <a:solidFill>
            <a:srgbClr val="38BDF8">
              <a:alpha val="18000"/>
            </a:srgbClr>
          </a:solidFill>
          <a:ln w="12700">
            <a:solidFill>
              <a:srgbClr val="38BDF8">
                <a:alpha val="55000"/>
              </a:srgbClr>
            </a:solidFill>
            <a:prstDash val="solid"/>
          </a:ln>
        </p:spPr>
      </p:sp>
      <p:sp>
        <p:nvSpPr>
          <p:cNvPr id="15" name="Text 9"/>
          <p:cNvSpPr/>
          <p:nvPr/>
        </p:nvSpPr>
        <p:spPr>
          <a:xfrm>
            <a:off x="4661319" y="4887468"/>
            <a:ext cx="2183721" cy="270320"/>
          </a:xfrm>
          <a:prstGeom prst="rect">
            <a:avLst/>
          </a:prstGeom>
          <a:noFill/>
          <a:ln/>
        </p:spPr>
        <p:txBody>
          <a:bodyPr wrap="square" lIns="0" tIns="0" rIns="0" bIns="0" rtlCol="0" anchor="t"/>
          <a:lstStyle/>
          <a:p>
            <a:pPr marL="0" indent="0" algn="ctr">
              <a:lnSpc>
                <a:spcPts val="1553"/>
              </a:lnSpc>
              <a:buNone/>
            </a:pPr>
            <a:r>
              <a:rPr lang="en-US" sz="1150" b="1" dirty="0">
                <a:solidFill>
                  <a:srgbClr val="38BDF8"/>
                </a:solidFill>
                <a:latin typeface="Be Vietnam Pro" pitchFamily="34" charset="0"/>
                <a:ea typeface="Be Vietnam Pro" pitchFamily="34" charset="-122"/>
                <a:cs typeface="Be Vietnam Pro" pitchFamily="34" charset="-120"/>
              </a:rPr>
              <a:t>Quản lý kho thông minh</a:t>
            </a:r>
            <a:endParaRPr lang="en-US" sz="1150" dirty="0"/>
          </a:p>
        </p:txBody>
      </p:sp>
      <p:sp>
        <p:nvSpPr>
          <p:cNvPr id="16" name="Text 10"/>
          <p:cNvSpPr/>
          <p:nvPr/>
        </p:nvSpPr>
        <p:spPr>
          <a:xfrm>
            <a:off x="713232" y="5925312"/>
            <a:ext cx="7406640" cy="270320"/>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Nhóm phát triển Ứng Phó Nhanh · Lũ Trẻ</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par>
                                <p:cTn id="14" presetID="10" presetClass="entr" presetSubtype="0" fill="hold" nodeType="withEffect">
                                  <p:stCondLst>
                                    <p:cond delay="22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nodeType="withEffect">
                                  <p:stCondLst>
                                    <p:cond delay="22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nodeType="withEffect">
                                  <p:stCondLst>
                                    <p:cond delay="44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nodeType="withEffect">
                                  <p:stCondLst>
                                    <p:cond delay="44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nodeType="withEffect">
                                  <p:stCondLst>
                                    <p:cond delay="66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nodeType="withEffect">
                                  <p:stCondLst>
                                    <p:cond delay="66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nodeType="withEffect">
                                  <p:stCondLst>
                                    <p:cond delay="66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02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BỐI CẢNH</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Lớn lên cùng những mùa bão lũ</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pic>
        <p:nvPicPr>
          <p:cNvPr id="12" name="Image 2" descr="anh/da-cat/boi-canh.jpg"/>
          <p:cNvPicPr>
            <a:picLocks noChangeAspect="1"/>
          </p:cNvPicPr>
          <p:nvPr/>
        </p:nvPicPr>
        <p:blipFill>
          <a:blip r:embed="rId5"/>
          <a:stretch>
            <a:fillRect/>
          </a:stretch>
        </p:blipFill>
        <p:spPr>
          <a:xfrm>
            <a:off x="713232" y="2220214"/>
            <a:ext cx="4846320" cy="2651760"/>
          </a:xfrm>
          <a:prstGeom prst="rect">
            <a:avLst/>
          </a:prstGeom>
        </p:spPr>
      </p:pic>
      <p:sp>
        <p:nvSpPr>
          <p:cNvPr id="13" name="Shape 8"/>
          <p:cNvSpPr/>
          <p:nvPr/>
        </p:nvSpPr>
        <p:spPr>
          <a:xfrm>
            <a:off x="713232" y="2220214"/>
            <a:ext cx="4846320" cy="2651760"/>
          </a:xfrm>
          <a:prstGeom prst="roundRect">
            <a:avLst>
              <a:gd name="adj" fmla="val 4138"/>
            </a:avLst>
          </a:prstGeom>
          <a:solidFill>
            <a:srgbClr val="FFFFFF">
              <a:alpha val="0"/>
            </a:srgbClr>
          </a:solidFill>
          <a:ln w="12700">
            <a:solidFill>
              <a:srgbClr val="FFFFFF">
                <a:alpha val="18000"/>
              </a:srgbClr>
            </a:solidFill>
            <a:prstDash val="solid"/>
          </a:ln>
        </p:spPr>
      </p:sp>
      <p:sp>
        <p:nvSpPr>
          <p:cNvPr id="14" name="Text 9"/>
          <p:cNvSpPr/>
          <p:nvPr/>
        </p:nvSpPr>
        <p:spPr>
          <a:xfrm>
            <a:off x="713232" y="4945126"/>
            <a:ext cx="4937760" cy="253175"/>
          </a:xfrm>
          <a:prstGeom prst="rect">
            <a:avLst/>
          </a:prstGeom>
          <a:noFill/>
          <a:ln/>
        </p:spPr>
        <p:txBody>
          <a:bodyPr wrap="square" lIns="0" tIns="0" rIns="0" bIns="0" rtlCol="0" anchor="t"/>
          <a:lstStyle/>
          <a:p>
            <a:pPr marL="0" indent="0" algn="l">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Cả khu dân cư chìm trong nước lũ, nhìn từ trên cao.</a:t>
            </a:r>
            <a:endParaRPr lang="en-US" sz="1050" dirty="0"/>
          </a:p>
        </p:txBody>
      </p:sp>
      <p:sp>
        <p:nvSpPr>
          <p:cNvPr id="15" name="Shape 10"/>
          <p:cNvSpPr/>
          <p:nvPr/>
        </p:nvSpPr>
        <p:spPr>
          <a:xfrm>
            <a:off x="5907024" y="2220214"/>
            <a:ext cx="5571439" cy="864680"/>
          </a:xfrm>
          <a:prstGeom prst="roundRect">
            <a:avLst>
              <a:gd name="adj" fmla="val 12690"/>
            </a:avLst>
          </a:prstGeom>
          <a:solidFill>
            <a:srgbClr val="091B2D">
              <a:alpha val="66000"/>
            </a:srgbClr>
          </a:solidFill>
          <a:ln w="12700">
            <a:solidFill>
              <a:srgbClr val="FFFFFF">
                <a:alpha val="12000"/>
              </a:srgbClr>
            </a:solidFill>
            <a:prstDash val="solid"/>
          </a:ln>
        </p:spPr>
      </p:sp>
      <p:sp>
        <p:nvSpPr>
          <p:cNvPr id="16" name="Shape 11"/>
          <p:cNvSpPr/>
          <p:nvPr/>
        </p:nvSpPr>
        <p:spPr>
          <a:xfrm>
            <a:off x="5907024" y="2220214"/>
            <a:ext cx="50292" cy="864680"/>
          </a:xfrm>
          <a:prstGeom prst="roundRect">
            <a:avLst>
              <a:gd name="adj" fmla="val 54545"/>
            </a:avLst>
          </a:prstGeom>
          <a:solidFill>
            <a:srgbClr val="38BDF8">
              <a:alpha val="95000"/>
            </a:srgbClr>
          </a:solidFill>
          <a:ln/>
        </p:spPr>
      </p:sp>
      <p:sp>
        <p:nvSpPr>
          <p:cNvPr id="17" name="Text 12"/>
          <p:cNvSpPr/>
          <p:nvPr/>
        </p:nvSpPr>
        <p:spPr>
          <a:xfrm>
            <a:off x="6199632" y="2272951"/>
            <a:ext cx="5077663"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Điều chúng em tận mắt chứng kiến</a:t>
            </a:r>
            <a:endParaRPr lang="en-US" sz="1400" dirty="0"/>
          </a:p>
        </p:txBody>
      </p:sp>
      <p:sp>
        <p:nvSpPr>
          <p:cNvPr id="18" name="Text 13"/>
          <p:cNvSpPr/>
          <p:nvPr/>
        </p:nvSpPr>
        <p:spPr>
          <a:xfrm>
            <a:off x="6199632" y="2586641"/>
            <a:ext cx="5077663" cy="482092"/>
          </a:xfrm>
          <a:prstGeom prst="rect">
            <a:avLst/>
          </a:prstGeom>
          <a:noFill/>
          <a:ln/>
        </p:spPr>
        <p:txBody>
          <a:bodyPr wrap="square" lIns="0" tIns="0" rIns="0" bIns="0" rtlCol="0" anchor="t"/>
          <a:lstStyle/>
          <a:p>
            <a:pPr marL="0" indent="0" algn="l">
              <a:lnSpc>
                <a:spcPts val="1610"/>
              </a:lnSpc>
              <a:buNone/>
            </a:pPr>
            <a:r>
              <a:rPr lang="en-US" sz="1150" dirty="0">
                <a:solidFill>
                  <a:srgbClr val="D9E6F2"/>
                </a:solidFill>
                <a:latin typeface="Be Vietnam Pro" pitchFamily="34" charset="0"/>
                <a:ea typeface="Be Vietnam Pro" pitchFamily="34" charset="-122"/>
                <a:cs typeface="Be Vietnam Pro" pitchFamily="34" charset="-120"/>
              </a:rPr>
              <a:t>Nhà dân bị ngập, tuyến đường bị chia cắt, nhiều khu vực bị cô lập</a:t>
            </a:r>
            <a:endParaRPr lang="en-US" sz="1150" dirty="0"/>
          </a:p>
          <a:p>
            <a:pPr marL="0" indent="0" algn="l">
              <a:lnSpc>
                <a:spcPts val="1610"/>
              </a:lnSpc>
              <a:buNone/>
            </a:pPr>
            <a:r>
              <a:rPr lang="en-US" sz="1150" dirty="0">
                <a:solidFill>
                  <a:srgbClr val="D9E6F2"/>
                </a:solidFill>
                <a:latin typeface="Be Vietnam Pro" pitchFamily="34" charset="0"/>
                <a:ea typeface="Be Vietnam Pro" pitchFamily="34" charset="-122"/>
                <a:cs typeface="Be Vietnam Pro" pitchFamily="34" charset="-120"/>
              </a:rPr>
              <a:t>hoàn toàn.</a:t>
            </a:r>
            <a:endParaRPr lang="en-US" sz="1150" dirty="0"/>
          </a:p>
        </p:txBody>
      </p:sp>
      <p:sp>
        <p:nvSpPr>
          <p:cNvPr id="19" name="Shape 14"/>
          <p:cNvSpPr/>
          <p:nvPr/>
        </p:nvSpPr>
        <p:spPr>
          <a:xfrm>
            <a:off x="5907024" y="3249485"/>
            <a:ext cx="5571439" cy="864680"/>
          </a:xfrm>
          <a:prstGeom prst="roundRect">
            <a:avLst>
              <a:gd name="adj" fmla="val 12690"/>
            </a:avLst>
          </a:prstGeom>
          <a:solidFill>
            <a:srgbClr val="091B2D">
              <a:alpha val="66000"/>
            </a:srgbClr>
          </a:solidFill>
          <a:ln w="12700">
            <a:solidFill>
              <a:srgbClr val="FFFFFF">
                <a:alpha val="12000"/>
              </a:srgbClr>
            </a:solidFill>
            <a:prstDash val="solid"/>
          </a:ln>
        </p:spPr>
      </p:sp>
      <p:sp>
        <p:nvSpPr>
          <p:cNvPr id="20" name="Shape 15"/>
          <p:cNvSpPr/>
          <p:nvPr/>
        </p:nvSpPr>
        <p:spPr>
          <a:xfrm>
            <a:off x="5907024" y="3249485"/>
            <a:ext cx="50292" cy="864680"/>
          </a:xfrm>
          <a:prstGeom prst="roundRect">
            <a:avLst>
              <a:gd name="adj" fmla="val 54545"/>
            </a:avLst>
          </a:prstGeom>
          <a:solidFill>
            <a:srgbClr val="FB923C">
              <a:alpha val="95000"/>
            </a:srgbClr>
          </a:solidFill>
          <a:ln/>
        </p:spPr>
      </p:sp>
      <p:sp>
        <p:nvSpPr>
          <p:cNvPr id="21" name="Text 16"/>
          <p:cNvSpPr/>
          <p:nvPr/>
        </p:nvSpPr>
        <p:spPr>
          <a:xfrm>
            <a:off x="6199632" y="3302222"/>
            <a:ext cx="5077663"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Những người ở tuyến đầu</a:t>
            </a:r>
            <a:endParaRPr lang="en-US" sz="1400" dirty="0"/>
          </a:p>
        </p:txBody>
      </p:sp>
      <p:sp>
        <p:nvSpPr>
          <p:cNvPr id="22" name="Text 17"/>
          <p:cNvSpPr/>
          <p:nvPr/>
        </p:nvSpPr>
        <p:spPr>
          <a:xfrm>
            <a:off x="6199632" y="3615912"/>
            <a:ext cx="5077663" cy="482092"/>
          </a:xfrm>
          <a:prstGeom prst="rect">
            <a:avLst/>
          </a:prstGeom>
          <a:noFill/>
          <a:ln/>
        </p:spPr>
        <p:txBody>
          <a:bodyPr wrap="square" lIns="0" tIns="0" rIns="0" bIns="0" rtlCol="0" anchor="t"/>
          <a:lstStyle/>
          <a:p>
            <a:pPr marL="0" indent="0" algn="l">
              <a:lnSpc>
                <a:spcPts val="1610"/>
              </a:lnSpc>
              <a:buNone/>
            </a:pPr>
            <a:r>
              <a:rPr lang="en-US" sz="1150" dirty="0">
                <a:solidFill>
                  <a:srgbClr val="D9E6F2"/>
                </a:solidFill>
                <a:latin typeface="Be Vietnam Pro" pitchFamily="34" charset="0"/>
                <a:ea typeface="Be Vietnam Pro" pitchFamily="34" charset="-122"/>
                <a:cs typeface="Be Vietnam Pro" pitchFamily="34" charset="-120"/>
              </a:rPr>
              <a:t>Lực lượng cứu hộ làm việc liên tục ngày đêm để đưa người dân đến nơi</a:t>
            </a:r>
            <a:endParaRPr lang="en-US" sz="1150" dirty="0"/>
          </a:p>
          <a:p>
            <a:pPr marL="0" indent="0" algn="l">
              <a:lnSpc>
                <a:spcPts val="1610"/>
              </a:lnSpc>
              <a:buNone/>
            </a:pPr>
            <a:r>
              <a:rPr lang="en-US" sz="1150" dirty="0">
                <a:solidFill>
                  <a:srgbClr val="D9E6F2"/>
                </a:solidFill>
                <a:latin typeface="Be Vietnam Pro" pitchFamily="34" charset="0"/>
                <a:ea typeface="Be Vietnam Pro" pitchFamily="34" charset="-122"/>
                <a:cs typeface="Be Vietnam Pro" pitchFamily="34" charset="-120"/>
              </a:rPr>
              <a:t>an toàn.</a:t>
            </a:r>
            <a:endParaRPr lang="en-US" sz="1150" dirty="0"/>
          </a:p>
        </p:txBody>
      </p:sp>
      <p:sp>
        <p:nvSpPr>
          <p:cNvPr id="23" name="Shape 18"/>
          <p:cNvSpPr/>
          <p:nvPr/>
        </p:nvSpPr>
        <p:spPr>
          <a:xfrm>
            <a:off x="5907024" y="4278757"/>
            <a:ext cx="5571439" cy="864680"/>
          </a:xfrm>
          <a:prstGeom prst="roundRect">
            <a:avLst>
              <a:gd name="adj" fmla="val 12690"/>
            </a:avLst>
          </a:prstGeom>
          <a:solidFill>
            <a:srgbClr val="091B2D">
              <a:alpha val="66000"/>
            </a:srgbClr>
          </a:solidFill>
          <a:ln w="12700">
            <a:solidFill>
              <a:srgbClr val="FFFFFF">
                <a:alpha val="12000"/>
              </a:srgbClr>
            </a:solidFill>
            <a:prstDash val="solid"/>
          </a:ln>
        </p:spPr>
      </p:sp>
      <p:sp>
        <p:nvSpPr>
          <p:cNvPr id="24" name="Shape 19"/>
          <p:cNvSpPr/>
          <p:nvPr/>
        </p:nvSpPr>
        <p:spPr>
          <a:xfrm>
            <a:off x="5907024" y="4278757"/>
            <a:ext cx="50292" cy="864680"/>
          </a:xfrm>
          <a:prstGeom prst="roundRect">
            <a:avLst>
              <a:gd name="adj" fmla="val 54545"/>
            </a:avLst>
          </a:prstGeom>
          <a:solidFill>
            <a:srgbClr val="22C55E">
              <a:alpha val="95000"/>
            </a:srgbClr>
          </a:solidFill>
          <a:ln/>
        </p:spPr>
      </p:sp>
      <p:sp>
        <p:nvSpPr>
          <p:cNvPr id="25" name="Text 20"/>
          <p:cNvSpPr/>
          <p:nvPr/>
        </p:nvSpPr>
        <p:spPr>
          <a:xfrm>
            <a:off x="6199632" y="4331494"/>
            <a:ext cx="5077663"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Trải nghiệm thực chiến</a:t>
            </a:r>
            <a:endParaRPr lang="en-US" sz="1400" dirty="0"/>
          </a:p>
        </p:txBody>
      </p:sp>
      <p:sp>
        <p:nvSpPr>
          <p:cNvPr id="26" name="Text 21"/>
          <p:cNvSpPr/>
          <p:nvPr/>
        </p:nvSpPr>
        <p:spPr>
          <a:xfrm>
            <a:off x="6199632" y="4645184"/>
            <a:ext cx="5077663" cy="482092"/>
          </a:xfrm>
          <a:prstGeom prst="rect">
            <a:avLst/>
          </a:prstGeom>
          <a:noFill/>
          <a:ln/>
        </p:spPr>
        <p:txBody>
          <a:bodyPr wrap="square" lIns="0" tIns="0" rIns="0" bIns="0" rtlCol="0" anchor="t"/>
          <a:lstStyle/>
          <a:p>
            <a:pPr marL="0" indent="0" algn="l">
              <a:lnSpc>
                <a:spcPts val="1610"/>
              </a:lnSpc>
              <a:buNone/>
            </a:pPr>
            <a:r>
              <a:rPr lang="en-US" sz="1150" dirty="0">
                <a:solidFill>
                  <a:srgbClr val="D9E6F2"/>
                </a:solidFill>
                <a:latin typeface="Be Vietnam Pro" pitchFamily="34" charset="0"/>
                <a:ea typeface="Be Vietnam Pro" pitchFamily="34" charset="-122"/>
                <a:cs typeface="Be Vietnam Pro" pitchFamily="34" charset="-120"/>
              </a:rPr>
              <a:t>Thành viên nhóm là chiến sĩ Công an nhân dân, trực tiếp tham gia cứu</a:t>
            </a:r>
            <a:endParaRPr lang="en-US" sz="1150" dirty="0"/>
          </a:p>
          <a:p>
            <a:pPr marL="0" indent="0" algn="l">
              <a:lnSpc>
                <a:spcPts val="1610"/>
              </a:lnSpc>
              <a:buNone/>
            </a:pPr>
            <a:r>
              <a:rPr lang="en-US" sz="1150" dirty="0">
                <a:solidFill>
                  <a:srgbClr val="D9E6F2"/>
                </a:solidFill>
                <a:latin typeface="Be Vietnam Pro" pitchFamily="34" charset="0"/>
                <a:ea typeface="Be Vietnam Pro" pitchFamily="34" charset="-122"/>
                <a:cs typeface="Be Vietnam Pro" pitchFamily="34" charset="-120"/>
              </a:rPr>
              <a:t>hộ đợt bão lũ năm 2025.</a:t>
            </a:r>
            <a:endParaRPr lang="en-US" sz="1150" dirty="0"/>
          </a:p>
        </p:txBody>
      </p:sp>
      <p:sp>
        <p:nvSpPr>
          <p:cNvPr id="27" name="Shape 22"/>
          <p:cNvSpPr/>
          <p:nvPr/>
        </p:nvSpPr>
        <p:spPr>
          <a:xfrm>
            <a:off x="713232" y="5381181"/>
            <a:ext cx="10765231" cy="822960"/>
          </a:xfrm>
          <a:prstGeom prst="roundRect">
            <a:avLst>
              <a:gd name="adj" fmla="val 13333"/>
            </a:avLst>
          </a:prstGeom>
          <a:solidFill>
            <a:srgbClr val="22C55E">
              <a:alpha val="12000"/>
            </a:srgbClr>
          </a:solidFill>
          <a:ln w="12700">
            <a:solidFill>
              <a:srgbClr val="22C55E">
                <a:alpha val="45000"/>
              </a:srgbClr>
            </a:solidFill>
            <a:prstDash val="solid"/>
          </a:ln>
        </p:spPr>
      </p:sp>
      <p:sp>
        <p:nvSpPr>
          <p:cNvPr id="28" name="Shape 23"/>
          <p:cNvSpPr/>
          <p:nvPr/>
        </p:nvSpPr>
        <p:spPr>
          <a:xfrm>
            <a:off x="713232" y="5381181"/>
            <a:ext cx="54864" cy="822960"/>
          </a:xfrm>
          <a:prstGeom prst="roundRect">
            <a:avLst>
              <a:gd name="adj" fmla="val 50000"/>
            </a:avLst>
          </a:prstGeom>
          <a:solidFill>
            <a:srgbClr val="22C55E"/>
          </a:solidFill>
          <a:ln/>
        </p:spPr>
      </p:sp>
      <p:sp>
        <p:nvSpPr>
          <p:cNvPr id="29" name="Text 24"/>
          <p:cNvSpPr/>
          <p:nvPr/>
        </p:nvSpPr>
        <p:spPr>
          <a:xfrm>
            <a:off x="1097280" y="5509197"/>
            <a:ext cx="10125151" cy="624332"/>
          </a:xfrm>
          <a:prstGeom prst="rect">
            <a:avLst/>
          </a:prstGeom>
          <a:noFill/>
          <a:ln/>
        </p:spPr>
        <p:txBody>
          <a:bodyPr wrap="square" lIns="0" tIns="0" rIns="0" bIns="0" rtlCol="0" anchor="t"/>
          <a:lstStyle/>
          <a:p>
            <a:pPr marL="0" indent="0" algn="l">
              <a:lnSpc>
                <a:spcPts val="2170"/>
              </a:lnSpc>
              <a:buNone/>
            </a:pPr>
            <a:r>
              <a:rPr lang="en-US" sz="1550" b="1" dirty="0">
                <a:solidFill>
                  <a:srgbClr val="FFFFFF"/>
                </a:solidFill>
                <a:latin typeface="Be Vietnam Pro" pitchFamily="34" charset="0"/>
                <a:ea typeface="Be Vietnam Pro" pitchFamily="34" charset="-122"/>
                <a:cs typeface="Be Vietnam Pro" pitchFamily="34" charset="-120"/>
              </a:rPr>
              <a:t>Chúng em trăn trở: liệu công nghệ và AI có thể giảm bớt gánh nặng cho những người đang </a:t>
            </a:r>
            <a:r>
              <a:rPr lang="en-US" sz="1550" b="1" dirty="0" err="1">
                <a:solidFill>
                  <a:srgbClr val="FFFFFF"/>
                </a:solidFill>
                <a:latin typeface="Be Vietnam Pro" pitchFamily="34" charset="0"/>
                <a:ea typeface="Be Vietnam Pro" pitchFamily="34" charset="-122"/>
                <a:cs typeface="Be Vietnam Pro" pitchFamily="34" charset="-120"/>
              </a:rPr>
              <a:t>trực</a:t>
            </a:r>
            <a:r>
              <a:rPr lang="en-US" sz="1550" b="1" dirty="0">
                <a:solidFill>
                  <a:srgbClr val="FFFFFF"/>
                </a:solidFill>
                <a:latin typeface="Be Vietnam Pro" pitchFamily="34" charset="0"/>
                <a:ea typeface="Be Vietnam Pro" pitchFamily="34" charset="-122"/>
                <a:cs typeface="Be Vietnam Pro" pitchFamily="34" charset="-120"/>
              </a:rPr>
              <a:t> </a:t>
            </a:r>
            <a:r>
              <a:rPr lang="en-US" sz="1550" b="1" dirty="0" err="1">
                <a:solidFill>
                  <a:srgbClr val="FFFFFF"/>
                </a:solidFill>
                <a:latin typeface="Be Vietnam Pro" pitchFamily="34" charset="0"/>
                <a:ea typeface="Be Vietnam Pro" pitchFamily="34" charset="-122"/>
                <a:cs typeface="Be Vietnam Pro" pitchFamily="34" charset="-120"/>
              </a:rPr>
              <a:t>tiếp</a:t>
            </a:r>
            <a:r>
              <a:rPr lang="en-US" sz="1550" dirty="0"/>
              <a:t> </a:t>
            </a:r>
            <a:r>
              <a:rPr lang="en-US" sz="1550" b="1" dirty="0" err="1">
                <a:solidFill>
                  <a:srgbClr val="FFFFFF"/>
                </a:solidFill>
                <a:latin typeface="Be Vietnam Pro" pitchFamily="34" charset="0"/>
                <a:ea typeface="Be Vietnam Pro" pitchFamily="34" charset="-122"/>
                <a:cs typeface="Be Vietnam Pro" pitchFamily="34" charset="-120"/>
              </a:rPr>
              <a:t>điều</a:t>
            </a:r>
            <a:r>
              <a:rPr lang="en-US" sz="1550" b="1" dirty="0">
                <a:solidFill>
                  <a:srgbClr val="FFFFFF"/>
                </a:solidFill>
                <a:latin typeface="Be Vietnam Pro" pitchFamily="34" charset="0"/>
                <a:ea typeface="Be Vietnam Pro" pitchFamily="34" charset="-122"/>
                <a:cs typeface="Be Vietnam Pro" pitchFamily="34" charset="-120"/>
              </a:rPr>
              <a:t> phối cứu hộ? </a:t>
            </a:r>
          </a:p>
          <a:p>
            <a:pPr marL="0" indent="0" algn="l">
              <a:lnSpc>
                <a:spcPts val="2170"/>
              </a:lnSpc>
              <a:buNone/>
            </a:pPr>
            <a:r>
              <a:rPr lang="en-US" sz="1550" b="1" dirty="0" err="1">
                <a:solidFill>
                  <a:srgbClr val="FFFFFF"/>
                </a:solidFill>
                <a:latin typeface="Be Vietnam Pro" pitchFamily="34" charset="0"/>
                <a:ea typeface="Be Vietnam Pro" pitchFamily="34" charset="-122"/>
                <a:cs typeface="Be Vietnam Pro" pitchFamily="34" charset="-120"/>
              </a:rPr>
              <a:t>Đó</a:t>
            </a:r>
            <a:r>
              <a:rPr lang="en-US" sz="1550" b="1" dirty="0">
                <a:solidFill>
                  <a:srgbClr val="FFFFFF"/>
                </a:solidFill>
                <a:latin typeface="Be Vietnam Pro" pitchFamily="34" charset="0"/>
                <a:ea typeface="Be Vietnam Pro" pitchFamily="34" charset="-122"/>
                <a:cs typeface="Be Vietnam Pro" pitchFamily="34" charset="-120"/>
              </a:rPr>
              <a:t> là lý do Ứng Phó Nhanh ra đời.</a:t>
            </a:r>
            <a:endParaRPr lang="en-US" sz="15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66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88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32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03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ĐỢT MƯA LŨ THÁNG 11/2025</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Sông Ba và sông Kỳ Lộ vượt đỉnh lũ lịch sử</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Text 8"/>
          <p:cNvSpPr/>
          <p:nvPr/>
        </p:nvSpPr>
        <p:spPr>
          <a:xfrm>
            <a:off x="713232" y="2201926"/>
            <a:ext cx="10424160" cy="322072"/>
          </a:xfrm>
          <a:prstGeom prst="rect">
            <a:avLst/>
          </a:prstGeom>
          <a:noFill/>
          <a:ln/>
        </p:spPr>
        <p:txBody>
          <a:bodyPr wrap="square" lIns="0" tIns="0" rIns="0" bIns="0" rtlCol="0" anchor="t"/>
          <a:lstStyle/>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Mưa phổ biến 400 – 600 mm, có nơi trên 800 mm, đợt thiên tai trực tiếp thúc đẩy nhóm em bắt tay vào làm dự án này.</a:t>
            </a:r>
            <a:endParaRPr lang="en-US" sz="1400" dirty="0"/>
          </a:p>
        </p:txBody>
      </p:sp>
      <p:sp>
        <p:nvSpPr>
          <p:cNvPr id="13" name="Shape 9"/>
          <p:cNvSpPr/>
          <p:nvPr/>
        </p:nvSpPr>
        <p:spPr>
          <a:xfrm>
            <a:off x="713232" y="2834894"/>
            <a:ext cx="2485568" cy="1920240"/>
          </a:xfrm>
          <a:prstGeom prst="roundRect">
            <a:avLst>
              <a:gd name="adj" fmla="val 5714"/>
            </a:avLst>
          </a:prstGeom>
          <a:solidFill>
            <a:srgbClr val="091B2D">
              <a:alpha val="66000"/>
            </a:srgbClr>
          </a:solidFill>
          <a:ln w="12700">
            <a:solidFill>
              <a:srgbClr val="FFFFFF">
                <a:alpha val="12000"/>
              </a:srgbClr>
            </a:solidFill>
            <a:prstDash val="solid"/>
          </a:ln>
        </p:spPr>
      </p:sp>
      <p:sp>
        <p:nvSpPr>
          <p:cNvPr id="14" name="Shape 10"/>
          <p:cNvSpPr/>
          <p:nvPr/>
        </p:nvSpPr>
        <p:spPr>
          <a:xfrm>
            <a:off x="713232" y="2834894"/>
            <a:ext cx="50292" cy="1920240"/>
          </a:xfrm>
          <a:prstGeom prst="roundRect">
            <a:avLst>
              <a:gd name="adj" fmla="val 54545"/>
            </a:avLst>
          </a:prstGeom>
          <a:solidFill>
            <a:srgbClr val="F87171">
              <a:alpha val="95000"/>
            </a:srgbClr>
          </a:solidFill>
          <a:ln/>
        </p:spPr>
      </p:sp>
      <p:sp>
        <p:nvSpPr>
          <p:cNvPr id="15" name="Text 11"/>
          <p:cNvSpPr/>
          <p:nvPr/>
        </p:nvSpPr>
        <p:spPr>
          <a:xfrm>
            <a:off x="1005840" y="3054350"/>
            <a:ext cx="1991792" cy="548132"/>
          </a:xfrm>
          <a:prstGeom prst="rect">
            <a:avLst/>
          </a:prstGeom>
          <a:noFill/>
          <a:ln/>
        </p:spPr>
        <p:txBody>
          <a:bodyPr wrap="square" lIns="0" tIns="0" rIns="0" bIns="0" rtlCol="0" anchor="t"/>
          <a:lstStyle/>
          <a:p>
            <a:pPr marL="0" indent="0" algn="l">
              <a:lnSpc>
                <a:spcPts val="3740"/>
              </a:lnSpc>
              <a:buNone/>
            </a:pPr>
            <a:r>
              <a:rPr lang="en-US" sz="3400" b="1" dirty="0">
                <a:solidFill>
                  <a:srgbClr val="F87171"/>
                </a:solidFill>
                <a:latin typeface="Be Vietnam Pro" pitchFamily="34" charset="0"/>
                <a:ea typeface="Be Vietnam Pro" pitchFamily="34" charset="-122"/>
                <a:cs typeface="Be Vietnam Pro" pitchFamily="34" charset="-120"/>
              </a:rPr>
              <a:t>19</a:t>
            </a:r>
            <a:endParaRPr lang="en-US" sz="3400" dirty="0"/>
          </a:p>
        </p:txBody>
      </p:sp>
      <p:sp>
        <p:nvSpPr>
          <p:cNvPr id="16" name="Text 12"/>
          <p:cNvSpPr/>
          <p:nvPr/>
        </p:nvSpPr>
        <p:spPr>
          <a:xfrm>
            <a:off x="1005840" y="3657854"/>
            <a:ext cx="1991792" cy="313182"/>
          </a:xfrm>
          <a:prstGeom prst="rect">
            <a:avLst/>
          </a:prstGeom>
          <a:noFill/>
          <a:ln/>
        </p:spPr>
        <p:txBody>
          <a:bodyPr wrap="square" lIns="0" tIns="0" rIns="0" bIns="0" rtlCol="0" anchor="t"/>
          <a:lstStyle/>
          <a:p>
            <a:pPr marL="0" indent="0" algn="l">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người chết</a:t>
            </a:r>
            <a:endParaRPr lang="en-US" sz="1400" dirty="0"/>
          </a:p>
        </p:txBody>
      </p:sp>
      <p:sp>
        <p:nvSpPr>
          <p:cNvPr id="17" name="Text 13"/>
          <p:cNvSpPr/>
          <p:nvPr/>
        </p:nvSpPr>
        <p:spPr>
          <a:xfrm>
            <a:off x="1005840" y="4060190"/>
            <a:ext cx="1991792"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Cùng 6 người mất tích,</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tính đến ngày 20/11/2025.</a:t>
            </a:r>
            <a:endParaRPr lang="en-US" sz="1150" dirty="0"/>
          </a:p>
        </p:txBody>
      </p:sp>
      <p:sp>
        <p:nvSpPr>
          <p:cNvPr id="18" name="Shape 14"/>
          <p:cNvSpPr/>
          <p:nvPr/>
        </p:nvSpPr>
        <p:spPr>
          <a:xfrm>
            <a:off x="3473120" y="2834894"/>
            <a:ext cx="2485568" cy="1920240"/>
          </a:xfrm>
          <a:prstGeom prst="roundRect">
            <a:avLst>
              <a:gd name="adj" fmla="val 5714"/>
            </a:avLst>
          </a:prstGeom>
          <a:solidFill>
            <a:srgbClr val="091B2D">
              <a:alpha val="66000"/>
            </a:srgbClr>
          </a:solidFill>
          <a:ln w="12700">
            <a:solidFill>
              <a:srgbClr val="FFFFFF">
                <a:alpha val="12000"/>
              </a:srgbClr>
            </a:solidFill>
            <a:prstDash val="solid"/>
          </a:ln>
        </p:spPr>
      </p:sp>
      <p:sp>
        <p:nvSpPr>
          <p:cNvPr id="19" name="Shape 15"/>
          <p:cNvSpPr/>
          <p:nvPr/>
        </p:nvSpPr>
        <p:spPr>
          <a:xfrm>
            <a:off x="3473120" y="2834894"/>
            <a:ext cx="50292" cy="1920240"/>
          </a:xfrm>
          <a:prstGeom prst="roundRect">
            <a:avLst>
              <a:gd name="adj" fmla="val 54545"/>
            </a:avLst>
          </a:prstGeom>
          <a:solidFill>
            <a:srgbClr val="38BDF8">
              <a:alpha val="95000"/>
            </a:srgbClr>
          </a:solidFill>
          <a:ln/>
        </p:spPr>
      </p:sp>
      <p:sp>
        <p:nvSpPr>
          <p:cNvPr id="20" name="Text 16"/>
          <p:cNvSpPr/>
          <p:nvPr/>
        </p:nvSpPr>
        <p:spPr>
          <a:xfrm>
            <a:off x="3765728" y="3054350"/>
            <a:ext cx="1991792" cy="548132"/>
          </a:xfrm>
          <a:prstGeom prst="rect">
            <a:avLst/>
          </a:prstGeom>
          <a:noFill/>
          <a:ln/>
        </p:spPr>
        <p:txBody>
          <a:bodyPr wrap="square" lIns="0" tIns="0" rIns="0" bIns="0" rtlCol="0" anchor="t"/>
          <a:lstStyle/>
          <a:p>
            <a:pPr marL="0" indent="0" algn="l">
              <a:lnSpc>
                <a:spcPts val="3740"/>
              </a:lnSpc>
              <a:buNone/>
            </a:pPr>
            <a:r>
              <a:rPr lang="en-US" sz="3400" b="1" dirty="0">
                <a:solidFill>
                  <a:srgbClr val="38BDF8"/>
                </a:solidFill>
                <a:latin typeface="Be Vietnam Pro" pitchFamily="34" charset="0"/>
                <a:ea typeface="Be Vietnam Pro" pitchFamily="34" charset="-122"/>
                <a:cs typeface="Be Vietnam Pro" pitchFamily="34" charset="-120"/>
              </a:rPr>
              <a:t>85.700+</a:t>
            </a:r>
            <a:endParaRPr lang="en-US" sz="3400" dirty="0"/>
          </a:p>
        </p:txBody>
      </p:sp>
      <p:sp>
        <p:nvSpPr>
          <p:cNvPr id="21" name="Text 17"/>
          <p:cNvSpPr/>
          <p:nvPr/>
        </p:nvSpPr>
        <p:spPr>
          <a:xfrm>
            <a:off x="3765728" y="3657854"/>
            <a:ext cx="1991792" cy="313182"/>
          </a:xfrm>
          <a:prstGeom prst="rect">
            <a:avLst/>
          </a:prstGeom>
          <a:noFill/>
          <a:ln/>
        </p:spPr>
        <p:txBody>
          <a:bodyPr wrap="square" lIns="0" tIns="0" rIns="0" bIns="0" rtlCol="0" anchor="t"/>
          <a:lstStyle/>
          <a:p>
            <a:pPr marL="0" indent="0" algn="l">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lượt nhà bị ngập</a:t>
            </a:r>
            <a:endParaRPr lang="en-US" sz="1400" dirty="0"/>
          </a:p>
        </p:txBody>
      </p:sp>
      <p:sp>
        <p:nvSpPr>
          <p:cNvPr id="22" name="Text 18"/>
          <p:cNvSpPr/>
          <p:nvPr/>
        </p:nvSpPr>
        <p:spPr>
          <a:xfrm>
            <a:off x="3765728" y="4060190"/>
            <a:ext cx="1991792" cy="68656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Nước lên nhanh, nhiều khu</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dân cư ngập sâu nhiều</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ngày.</a:t>
            </a:r>
            <a:endParaRPr lang="en-US" sz="1150" dirty="0"/>
          </a:p>
        </p:txBody>
      </p:sp>
      <p:sp>
        <p:nvSpPr>
          <p:cNvPr id="23" name="Shape 19"/>
          <p:cNvSpPr/>
          <p:nvPr/>
        </p:nvSpPr>
        <p:spPr>
          <a:xfrm>
            <a:off x="6233008" y="2834894"/>
            <a:ext cx="2485568" cy="1920240"/>
          </a:xfrm>
          <a:prstGeom prst="roundRect">
            <a:avLst>
              <a:gd name="adj" fmla="val 5714"/>
            </a:avLst>
          </a:prstGeom>
          <a:solidFill>
            <a:srgbClr val="091B2D">
              <a:alpha val="66000"/>
            </a:srgbClr>
          </a:solidFill>
          <a:ln w="12700">
            <a:solidFill>
              <a:srgbClr val="FFFFFF">
                <a:alpha val="12000"/>
              </a:srgbClr>
            </a:solidFill>
            <a:prstDash val="solid"/>
          </a:ln>
        </p:spPr>
      </p:sp>
      <p:sp>
        <p:nvSpPr>
          <p:cNvPr id="24" name="Shape 20"/>
          <p:cNvSpPr/>
          <p:nvPr/>
        </p:nvSpPr>
        <p:spPr>
          <a:xfrm>
            <a:off x="6233008" y="2834894"/>
            <a:ext cx="50292" cy="1920240"/>
          </a:xfrm>
          <a:prstGeom prst="roundRect">
            <a:avLst>
              <a:gd name="adj" fmla="val 54545"/>
            </a:avLst>
          </a:prstGeom>
          <a:solidFill>
            <a:srgbClr val="FB923C">
              <a:alpha val="95000"/>
            </a:srgbClr>
          </a:solidFill>
          <a:ln/>
        </p:spPr>
      </p:sp>
      <p:sp>
        <p:nvSpPr>
          <p:cNvPr id="25" name="Text 21"/>
          <p:cNvSpPr/>
          <p:nvPr/>
        </p:nvSpPr>
        <p:spPr>
          <a:xfrm>
            <a:off x="6525616" y="3054350"/>
            <a:ext cx="1991792" cy="548132"/>
          </a:xfrm>
          <a:prstGeom prst="rect">
            <a:avLst/>
          </a:prstGeom>
          <a:noFill/>
          <a:ln/>
        </p:spPr>
        <p:txBody>
          <a:bodyPr wrap="square" lIns="0" tIns="0" rIns="0" bIns="0" rtlCol="0" anchor="t"/>
          <a:lstStyle/>
          <a:p>
            <a:pPr marL="0" indent="0" algn="l">
              <a:lnSpc>
                <a:spcPts val="3740"/>
              </a:lnSpc>
              <a:buNone/>
            </a:pPr>
            <a:r>
              <a:rPr lang="en-US" sz="3400" b="1" dirty="0">
                <a:solidFill>
                  <a:srgbClr val="FB923C"/>
                </a:solidFill>
                <a:latin typeface="Be Vietnam Pro" pitchFamily="34" charset="0"/>
                <a:ea typeface="Be Vietnam Pro" pitchFamily="34" charset="-122"/>
                <a:cs typeface="Be Vietnam Pro" pitchFamily="34" charset="-120"/>
              </a:rPr>
              <a:t>12.800+</a:t>
            </a:r>
            <a:endParaRPr lang="en-US" sz="3400" dirty="0"/>
          </a:p>
        </p:txBody>
      </p:sp>
      <p:sp>
        <p:nvSpPr>
          <p:cNvPr id="26" name="Text 22"/>
          <p:cNvSpPr/>
          <p:nvPr/>
        </p:nvSpPr>
        <p:spPr>
          <a:xfrm>
            <a:off x="6525616" y="3657854"/>
            <a:ext cx="1991792" cy="313182"/>
          </a:xfrm>
          <a:prstGeom prst="rect">
            <a:avLst/>
          </a:prstGeom>
          <a:noFill/>
          <a:ln/>
        </p:spPr>
        <p:txBody>
          <a:bodyPr wrap="square" lIns="0" tIns="0" rIns="0" bIns="0" rtlCol="0" anchor="t"/>
          <a:lstStyle/>
          <a:p>
            <a:pPr marL="0" indent="0" algn="l">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hộ bị cô lập</a:t>
            </a:r>
            <a:endParaRPr lang="en-US" sz="1400" dirty="0"/>
          </a:p>
        </p:txBody>
      </p:sp>
      <p:sp>
        <p:nvSpPr>
          <p:cNvPr id="27" name="Text 23"/>
          <p:cNvSpPr/>
          <p:nvPr/>
        </p:nvSpPr>
        <p:spPr>
          <a:xfrm>
            <a:off x="6525616" y="4060190"/>
            <a:ext cx="1991792" cy="68656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Đường bị chia cắt, vật tư</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cứu trợ không vào được</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bằng đường bộ.</a:t>
            </a:r>
            <a:endParaRPr lang="en-US" sz="1150" dirty="0"/>
          </a:p>
        </p:txBody>
      </p:sp>
      <p:sp>
        <p:nvSpPr>
          <p:cNvPr id="28" name="Shape 24"/>
          <p:cNvSpPr/>
          <p:nvPr/>
        </p:nvSpPr>
        <p:spPr>
          <a:xfrm>
            <a:off x="8992895" y="2834894"/>
            <a:ext cx="2485568" cy="1920240"/>
          </a:xfrm>
          <a:prstGeom prst="roundRect">
            <a:avLst>
              <a:gd name="adj" fmla="val 5714"/>
            </a:avLst>
          </a:prstGeom>
          <a:solidFill>
            <a:srgbClr val="091B2D">
              <a:alpha val="66000"/>
            </a:srgbClr>
          </a:solidFill>
          <a:ln w="12700">
            <a:solidFill>
              <a:srgbClr val="FFFFFF">
                <a:alpha val="12000"/>
              </a:srgbClr>
            </a:solidFill>
            <a:prstDash val="solid"/>
          </a:ln>
        </p:spPr>
      </p:sp>
      <p:sp>
        <p:nvSpPr>
          <p:cNvPr id="29" name="Shape 25"/>
          <p:cNvSpPr/>
          <p:nvPr/>
        </p:nvSpPr>
        <p:spPr>
          <a:xfrm>
            <a:off x="8992895" y="2834894"/>
            <a:ext cx="50292" cy="1920240"/>
          </a:xfrm>
          <a:prstGeom prst="roundRect">
            <a:avLst>
              <a:gd name="adj" fmla="val 54545"/>
            </a:avLst>
          </a:prstGeom>
          <a:solidFill>
            <a:srgbClr val="FBBF24">
              <a:alpha val="95000"/>
            </a:srgbClr>
          </a:solidFill>
          <a:ln/>
        </p:spPr>
      </p:sp>
      <p:sp>
        <p:nvSpPr>
          <p:cNvPr id="30" name="Text 26"/>
          <p:cNvSpPr/>
          <p:nvPr/>
        </p:nvSpPr>
        <p:spPr>
          <a:xfrm>
            <a:off x="9285503" y="3054350"/>
            <a:ext cx="1991792" cy="548132"/>
          </a:xfrm>
          <a:prstGeom prst="rect">
            <a:avLst/>
          </a:prstGeom>
          <a:noFill/>
          <a:ln/>
        </p:spPr>
        <p:txBody>
          <a:bodyPr wrap="square" lIns="0" tIns="0" rIns="0" bIns="0" rtlCol="0" anchor="t"/>
          <a:lstStyle/>
          <a:p>
            <a:pPr marL="0" indent="0" algn="l">
              <a:lnSpc>
                <a:spcPts val="3740"/>
              </a:lnSpc>
              <a:buNone/>
            </a:pPr>
            <a:r>
              <a:rPr lang="en-US" sz="3400" b="1" dirty="0">
                <a:solidFill>
                  <a:srgbClr val="FBBF24"/>
                </a:solidFill>
                <a:latin typeface="Be Vietnam Pro" pitchFamily="34" charset="0"/>
                <a:ea typeface="Be Vietnam Pro" pitchFamily="34" charset="-122"/>
                <a:cs typeface="Be Vietnam Pro" pitchFamily="34" charset="-120"/>
              </a:rPr>
              <a:t>40</a:t>
            </a:r>
            <a:endParaRPr lang="en-US" sz="3400" dirty="0"/>
          </a:p>
        </p:txBody>
      </p:sp>
      <p:sp>
        <p:nvSpPr>
          <p:cNvPr id="31" name="Text 27"/>
          <p:cNvSpPr/>
          <p:nvPr/>
        </p:nvSpPr>
        <p:spPr>
          <a:xfrm>
            <a:off x="9285503" y="3657854"/>
            <a:ext cx="1991792" cy="313182"/>
          </a:xfrm>
          <a:prstGeom prst="rect">
            <a:avLst/>
          </a:prstGeom>
          <a:noFill/>
          <a:ln/>
        </p:spPr>
        <p:txBody>
          <a:bodyPr wrap="square" lIns="0" tIns="0" rIns="0" bIns="0" rtlCol="0" anchor="t"/>
          <a:lstStyle/>
          <a:p>
            <a:pPr marL="0" indent="0" algn="l">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xã, phường</a:t>
            </a:r>
            <a:endParaRPr lang="en-US" sz="1400" dirty="0"/>
          </a:p>
        </p:txBody>
      </p:sp>
      <p:sp>
        <p:nvSpPr>
          <p:cNvPr id="32" name="Text 28"/>
          <p:cNvSpPr/>
          <p:nvPr/>
        </p:nvSpPr>
        <p:spPr>
          <a:xfrm>
            <a:off x="9285503" y="4060190"/>
            <a:ext cx="1991792" cy="68656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Phải công bố tình huống</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khẩn cấp về thiên tai,</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trong đó có xã Đồng Xuân.</a:t>
            </a:r>
            <a:endParaRPr lang="en-US" sz="1150" dirty="0"/>
          </a:p>
        </p:txBody>
      </p:sp>
      <p:sp>
        <p:nvSpPr>
          <p:cNvPr id="33" name="Shape 29"/>
          <p:cNvSpPr/>
          <p:nvPr/>
        </p:nvSpPr>
        <p:spPr>
          <a:xfrm>
            <a:off x="713232" y="5029454"/>
            <a:ext cx="10765231" cy="859536"/>
          </a:xfrm>
          <a:prstGeom prst="roundRect">
            <a:avLst>
              <a:gd name="adj" fmla="val 12766"/>
            </a:avLst>
          </a:prstGeom>
          <a:solidFill>
            <a:srgbClr val="F87171">
              <a:alpha val="12000"/>
            </a:srgbClr>
          </a:solidFill>
          <a:ln w="12700">
            <a:solidFill>
              <a:srgbClr val="F87171">
                <a:alpha val="45000"/>
              </a:srgbClr>
            </a:solidFill>
            <a:prstDash val="solid"/>
          </a:ln>
        </p:spPr>
      </p:sp>
      <p:sp>
        <p:nvSpPr>
          <p:cNvPr id="34" name="Shape 30"/>
          <p:cNvSpPr/>
          <p:nvPr/>
        </p:nvSpPr>
        <p:spPr>
          <a:xfrm>
            <a:off x="713232" y="5029454"/>
            <a:ext cx="54864" cy="859536"/>
          </a:xfrm>
          <a:prstGeom prst="roundRect">
            <a:avLst>
              <a:gd name="adj" fmla="val 50000"/>
            </a:avLst>
          </a:prstGeom>
          <a:solidFill>
            <a:srgbClr val="F87171"/>
          </a:solidFill>
          <a:ln/>
        </p:spPr>
      </p:sp>
      <p:sp>
        <p:nvSpPr>
          <p:cNvPr id="35" name="Text 31"/>
          <p:cNvSpPr/>
          <p:nvPr/>
        </p:nvSpPr>
        <p:spPr>
          <a:xfrm>
            <a:off x="1097280" y="5166614"/>
            <a:ext cx="2926080" cy="492252"/>
          </a:xfrm>
          <a:prstGeom prst="rect">
            <a:avLst/>
          </a:prstGeom>
          <a:noFill/>
          <a:ln/>
        </p:spPr>
        <p:txBody>
          <a:bodyPr wrap="square" lIns="0" tIns="0" rIns="0" bIns="0" rtlCol="0" anchor="t"/>
          <a:lstStyle/>
          <a:p>
            <a:pPr marL="0" indent="0" algn="l">
              <a:lnSpc>
                <a:spcPts val="3300"/>
              </a:lnSpc>
              <a:buNone/>
            </a:pPr>
            <a:r>
              <a:rPr lang="en-US" sz="3000" b="1" dirty="0">
                <a:solidFill>
                  <a:srgbClr val="F87171"/>
                </a:solidFill>
                <a:latin typeface="Be Vietnam Pro" pitchFamily="34" charset="0"/>
                <a:ea typeface="Be Vietnam Pro" pitchFamily="34" charset="-122"/>
                <a:cs typeface="Be Vietnam Pro" pitchFamily="34" charset="-120"/>
              </a:rPr>
              <a:t>9.730 tỷ đồng</a:t>
            </a:r>
            <a:endParaRPr lang="en-US" sz="3000" dirty="0"/>
          </a:p>
        </p:txBody>
      </p:sp>
      <p:sp>
        <p:nvSpPr>
          <p:cNvPr id="36" name="Text 32"/>
          <p:cNvSpPr/>
          <p:nvPr/>
        </p:nvSpPr>
        <p:spPr>
          <a:xfrm>
            <a:off x="3913632" y="5203190"/>
            <a:ext cx="7290511" cy="588772"/>
          </a:xfrm>
          <a:prstGeom prst="rect">
            <a:avLst/>
          </a:prstGeom>
          <a:noFill/>
          <a:ln/>
        </p:spPr>
        <p:txBody>
          <a:bodyPr wrap="square" lIns="0" tIns="0" rIns="0" bIns="0" rtlCol="0" anchor="t"/>
          <a:lstStyle/>
          <a:p>
            <a:pPr marL="0" indent="0" algn="l">
              <a:lnSpc>
                <a:spcPts val="2030"/>
              </a:lnSpc>
              <a:buNone/>
            </a:pPr>
            <a:r>
              <a:rPr lang="en-US" sz="1450" b="1" dirty="0">
                <a:solidFill>
                  <a:srgbClr val="FFFFFF"/>
                </a:solidFill>
                <a:latin typeface="Be Vietnam Pro" pitchFamily="34" charset="0"/>
                <a:ea typeface="Be Vietnam Pro" pitchFamily="34" charset="-122"/>
                <a:cs typeface="Be Vietnam Pro" pitchFamily="34" charset="-120"/>
              </a:rPr>
              <a:t>Tổng thiệt hại thiên tai của tỉnh trong năm 2025. </a:t>
            </a:r>
          </a:p>
          <a:p>
            <a:pPr marL="0" indent="0" algn="l">
              <a:lnSpc>
                <a:spcPts val="2030"/>
              </a:lnSpc>
              <a:buNone/>
            </a:pPr>
            <a:r>
              <a:rPr lang="en-US" sz="1450" b="1" dirty="0" err="1">
                <a:solidFill>
                  <a:srgbClr val="FFFFFF"/>
                </a:solidFill>
                <a:latin typeface="Be Vietnam Pro" pitchFamily="34" charset="0"/>
                <a:ea typeface="Be Vietnam Pro" pitchFamily="34" charset="-122"/>
                <a:cs typeface="Be Vietnam Pro" pitchFamily="34" charset="-120"/>
              </a:rPr>
              <a:t>Mỗi</a:t>
            </a:r>
            <a:r>
              <a:rPr lang="en-US" sz="1450" b="1" dirty="0">
                <a:solidFill>
                  <a:srgbClr val="FFFFFF"/>
                </a:solidFill>
                <a:latin typeface="Be Vietnam Pro" pitchFamily="34" charset="0"/>
                <a:ea typeface="Be Vietnam Pro" pitchFamily="34" charset="-122"/>
                <a:cs typeface="Be Vietnam Pro" pitchFamily="34" charset="-120"/>
              </a:rPr>
              <a:t> con số ở đây là </a:t>
            </a:r>
            <a:r>
              <a:rPr lang="en-US" sz="1450" b="1" dirty="0" err="1">
                <a:solidFill>
                  <a:srgbClr val="FFFFFF"/>
                </a:solidFill>
                <a:latin typeface="Be Vietnam Pro" pitchFamily="34" charset="0"/>
                <a:ea typeface="Be Vietnam Pro" pitchFamily="34" charset="-122"/>
                <a:cs typeface="Be Vietnam Pro" pitchFamily="34" charset="-120"/>
              </a:rPr>
              <a:t>một</a:t>
            </a:r>
            <a:r>
              <a:rPr lang="en-US" sz="1450" b="1" dirty="0">
                <a:solidFill>
                  <a:srgbClr val="FFFFFF"/>
                </a:solidFill>
                <a:latin typeface="Be Vietnam Pro" pitchFamily="34" charset="0"/>
                <a:ea typeface="Be Vietnam Pro" pitchFamily="34" charset="-122"/>
                <a:cs typeface="Be Vietnam Pro" pitchFamily="34" charset="-120"/>
              </a:rPr>
              <a:t> </a:t>
            </a:r>
            <a:r>
              <a:rPr lang="en-US" sz="1450" b="1" dirty="0" err="1">
                <a:solidFill>
                  <a:srgbClr val="FFFFFF"/>
                </a:solidFill>
                <a:latin typeface="Be Vietnam Pro" pitchFamily="34" charset="0"/>
                <a:ea typeface="Be Vietnam Pro" pitchFamily="34" charset="-122"/>
                <a:cs typeface="Be Vietnam Pro" pitchFamily="34" charset="-120"/>
              </a:rPr>
              <a:t>lần</a:t>
            </a:r>
            <a:r>
              <a:rPr lang="en-US" sz="1450" dirty="0"/>
              <a:t> </a:t>
            </a:r>
            <a:r>
              <a:rPr lang="en-US" sz="1450" b="1" dirty="0" err="1">
                <a:solidFill>
                  <a:srgbClr val="FFFFFF"/>
                </a:solidFill>
                <a:latin typeface="Be Vietnam Pro" pitchFamily="34" charset="0"/>
                <a:ea typeface="Be Vietnam Pro" pitchFamily="34" charset="-122"/>
                <a:cs typeface="Be Vietnam Pro" pitchFamily="34" charset="-120"/>
              </a:rPr>
              <a:t>vật</a:t>
            </a:r>
            <a:r>
              <a:rPr lang="en-US" sz="1450" b="1" dirty="0">
                <a:solidFill>
                  <a:srgbClr val="FFFFFF"/>
                </a:solidFill>
                <a:latin typeface="Be Vietnam Pro" pitchFamily="34" charset="0"/>
                <a:ea typeface="Be Vietnam Pro" pitchFamily="34" charset="-122"/>
                <a:cs typeface="Be Vietnam Pro" pitchFamily="34" charset="-120"/>
              </a:rPr>
              <a:t> tư phải đến đúng nơi, đúng lúc.</a:t>
            </a:r>
            <a:endParaRPr lang="en-US" sz="1450" dirty="0"/>
          </a:p>
        </p:txBody>
      </p:sp>
      <p:sp>
        <p:nvSpPr>
          <p:cNvPr id="37" name="Text 33"/>
          <p:cNvSpPr/>
          <p:nvPr/>
        </p:nvSpPr>
        <p:spPr>
          <a:xfrm>
            <a:off x="713232" y="5962142"/>
            <a:ext cx="10856671" cy="236030"/>
          </a:xfrm>
          <a:prstGeom prst="rect">
            <a:avLst/>
          </a:prstGeom>
          <a:noFill/>
          <a:ln/>
        </p:spPr>
        <p:txBody>
          <a:bodyPr wrap="square" lIns="0" tIns="0" rIns="0" bIns="0" rtlCol="0" anchor="t"/>
          <a:lstStyle/>
          <a:p>
            <a:pPr marL="0" indent="0" algn="l">
              <a:lnSpc>
                <a:spcPts val="1283"/>
              </a:lnSpc>
              <a:buNone/>
            </a:pPr>
            <a:r>
              <a:rPr lang="en-US" sz="950" dirty="0">
                <a:solidFill>
                  <a:srgbClr val="7189A2"/>
                </a:solidFill>
                <a:latin typeface="Be Vietnam Pro" pitchFamily="34" charset="0"/>
                <a:ea typeface="Be Vietnam Pro" pitchFamily="34" charset="-122"/>
                <a:cs typeface="Be Vietnam Pro" pitchFamily="34" charset="-120"/>
              </a:rPr>
              <a:t>Nguồn: báo cáo thiệt hại của tỉnh Đắk Lắk (địa bàn Phú Yên cũ sau sáp nhập), số liệu tính đến ngày 20/11/2025.</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44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66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88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88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88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88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10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10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10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10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10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32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32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32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32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132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04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HIỆN TRƯỜNG THÁNG 11/2025</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err="1">
                <a:solidFill>
                  <a:srgbClr val="FFFFFF"/>
                </a:solidFill>
                <a:latin typeface="Be Vietnam Pro" pitchFamily="34" charset="0"/>
                <a:ea typeface="Be Vietnam Pro" pitchFamily="34" charset="-122"/>
                <a:cs typeface="Be Vietnam Pro" pitchFamily="34" charset="-120"/>
              </a:rPr>
              <a:t>Những</a:t>
            </a:r>
            <a:r>
              <a:rPr lang="en-US" sz="3100" b="1" dirty="0">
                <a:solidFill>
                  <a:srgbClr val="FFFFFF"/>
                </a:solidFill>
                <a:latin typeface="Be Vietnam Pro" pitchFamily="34" charset="0"/>
                <a:ea typeface="Be Vietnam Pro" pitchFamily="34" charset="-122"/>
                <a:cs typeface="Be Vietnam Pro" pitchFamily="34" charset="-120"/>
              </a:rPr>
              <a:t> </a:t>
            </a:r>
            <a:r>
              <a:rPr lang="en-US" sz="3100" b="1" dirty="0" err="1">
                <a:solidFill>
                  <a:srgbClr val="FFFFFF"/>
                </a:solidFill>
                <a:latin typeface="Be Vietnam Pro" pitchFamily="34" charset="0"/>
                <a:ea typeface="Be Vietnam Pro" pitchFamily="34" charset="-122"/>
                <a:cs typeface="Be Vietnam Pro" pitchFamily="34" charset="-120"/>
              </a:rPr>
              <a:t>gì</a:t>
            </a:r>
            <a:r>
              <a:rPr lang="en-US" sz="3100" b="1" dirty="0">
                <a:solidFill>
                  <a:srgbClr val="FFFFFF"/>
                </a:solidFill>
                <a:latin typeface="Be Vietnam Pro" pitchFamily="34" charset="0"/>
                <a:ea typeface="Be Vietnam Pro" pitchFamily="34" charset="-122"/>
                <a:cs typeface="Be Vietnam Pro" pitchFamily="34" charset="-120"/>
              </a:rPr>
              <a:t> </a:t>
            </a:r>
            <a:r>
              <a:rPr lang="en-US" sz="3100" b="1" dirty="0" err="1">
                <a:solidFill>
                  <a:srgbClr val="FFFFFF"/>
                </a:solidFill>
                <a:latin typeface="Be Vietnam Pro" pitchFamily="34" charset="0"/>
                <a:ea typeface="Be Vietnam Pro" pitchFamily="34" charset="-122"/>
                <a:cs typeface="Be Vietnam Pro" pitchFamily="34" charset="-120"/>
              </a:rPr>
              <a:t>mà</a:t>
            </a:r>
            <a:r>
              <a:rPr lang="en-US" sz="3100" b="1" dirty="0">
                <a:solidFill>
                  <a:srgbClr val="FFFFFF"/>
                </a:solidFill>
                <a:latin typeface="Be Vietnam Pro" pitchFamily="34" charset="0"/>
                <a:ea typeface="Be Vietnam Pro" pitchFamily="34" charset="-122"/>
                <a:cs typeface="Be Vietnam Pro" pitchFamily="34" charset="-120"/>
              </a:rPr>
              <a:t> </a:t>
            </a:r>
            <a:r>
              <a:rPr lang="en-US" sz="3100" b="1" dirty="0" err="1">
                <a:solidFill>
                  <a:srgbClr val="FFFFFF"/>
                </a:solidFill>
                <a:latin typeface="Be Vietnam Pro" pitchFamily="34" charset="0"/>
                <a:ea typeface="Be Vietnam Pro" pitchFamily="34" charset="-122"/>
                <a:cs typeface="Be Vietnam Pro" pitchFamily="34" charset="-120"/>
              </a:rPr>
              <a:t>người</a:t>
            </a:r>
            <a:r>
              <a:rPr lang="en-US" sz="3100" b="1" dirty="0">
                <a:solidFill>
                  <a:srgbClr val="FFFFFF"/>
                </a:solidFill>
                <a:latin typeface="Be Vietnam Pro" pitchFamily="34" charset="0"/>
                <a:ea typeface="Be Vietnam Pro" pitchFamily="34" charset="-122"/>
                <a:cs typeface="Be Vietnam Pro" pitchFamily="34" charset="-120"/>
              </a:rPr>
              <a:t> </a:t>
            </a:r>
            <a:r>
              <a:rPr lang="en-US" sz="3100" b="1" dirty="0" err="1">
                <a:solidFill>
                  <a:srgbClr val="FFFFFF"/>
                </a:solidFill>
                <a:latin typeface="Be Vietnam Pro" pitchFamily="34" charset="0"/>
                <a:ea typeface="Be Vietnam Pro" pitchFamily="34" charset="-122"/>
                <a:cs typeface="Be Vietnam Pro" pitchFamily="34" charset="-120"/>
              </a:rPr>
              <a:t>dân</a:t>
            </a:r>
            <a:r>
              <a:rPr lang="en-US" sz="3100" b="1" dirty="0">
                <a:solidFill>
                  <a:srgbClr val="FFFFFF"/>
                </a:solidFill>
                <a:latin typeface="Be Vietnam Pro" pitchFamily="34" charset="0"/>
                <a:ea typeface="Be Vietnam Pro" pitchFamily="34" charset="-122"/>
                <a:cs typeface="Be Vietnam Pro" pitchFamily="34" charset="-120"/>
              </a:rPr>
              <a:t> </a:t>
            </a:r>
            <a:r>
              <a:rPr lang="en-US" sz="3100" b="1" dirty="0" err="1">
                <a:solidFill>
                  <a:srgbClr val="FFFFFF"/>
                </a:solidFill>
                <a:latin typeface="Be Vietnam Pro" pitchFamily="34" charset="0"/>
                <a:ea typeface="Be Vietnam Pro" pitchFamily="34" charset="-122"/>
                <a:cs typeface="Be Vietnam Pro" pitchFamily="34" charset="-120"/>
              </a:rPr>
              <a:t>đã</a:t>
            </a:r>
            <a:r>
              <a:rPr lang="en-US" sz="3100" b="1" dirty="0">
                <a:solidFill>
                  <a:srgbClr val="FFFFFF"/>
                </a:solidFill>
                <a:latin typeface="Be Vietnam Pro" pitchFamily="34" charset="0"/>
                <a:ea typeface="Be Vietnam Pro" pitchFamily="34" charset="-122"/>
                <a:cs typeface="Be Vietnam Pro" pitchFamily="34" charset="-120"/>
              </a:rPr>
              <a:t> </a:t>
            </a:r>
            <a:r>
              <a:rPr lang="en-US" sz="3100" b="1" dirty="0" err="1">
                <a:solidFill>
                  <a:srgbClr val="FFFFFF"/>
                </a:solidFill>
                <a:latin typeface="Be Vietnam Pro" pitchFamily="34" charset="0"/>
                <a:ea typeface="Be Vietnam Pro" pitchFamily="34" charset="-122"/>
                <a:cs typeface="Be Vietnam Pro" pitchFamily="34" charset="-120"/>
              </a:rPr>
              <a:t>gánh</a:t>
            </a:r>
            <a:r>
              <a:rPr lang="en-US" sz="3100" b="1" dirty="0">
                <a:solidFill>
                  <a:srgbClr val="FFFFFF"/>
                </a:solidFill>
                <a:latin typeface="Be Vietnam Pro" pitchFamily="34" charset="0"/>
                <a:ea typeface="Be Vietnam Pro" pitchFamily="34" charset="-122"/>
                <a:cs typeface="Be Vietnam Pro" pitchFamily="34" charset="-120"/>
              </a:rPr>
              <a:t> </a:t>
            </a:r>
            <a:r>
              <a:rPr lang="en-US" sz="3100" b="1" dirty="0" err="1">
                <a:solidFill>
                  <a:srgbClr val="FFFFFF"/>
                </a:solidFill>
                <a:latin typeface="Be Vietnam Pro" pitchFamily="34" charset="0"/>
                <a:ea typeface="Be Vietnam Pro" pitchFamily="34" charset="-122"/>
                <a:cs typeface="Be Vietnam Pro" pitchFamily="34" charset="-120"/>
              </a:rPr>
              <a:t>chịu</a:t>
            </a:r>
            <a:r>
              <a:rPr lang="en-US" sz="3100" b="1" dirty="0">
                <a:solidFill>
                  <a:srgbClr val="FFFFFF"/>
                </a:solidFill>
                <a:latin typeface="Be Vietnam Pro" pitchFamily="34" charset="0"/>
                <a:ea typeface="Be Vietnam Pro" pitchFamily="34" charset="-122"/>
                <a:cs typeface="Be Vietnam Pro" pitchFamily="34" charset="-120"/>
              </a:rPr>
              <a:t> </a:t>
            </a:r>
            <a:r>
              <a:rPr lang="en-US" sz="3100" b="1" dirty="0" err="1">
                <a:solidFill>
                  <a:srgbClr val="FFFFFF"/>
                </a:solidFill>
                <a:latin typeface="Be Vietnam Pro" pitchFamily="34" charset="0"/>
                <a:ea typeface="Be Vietnam Pro" pitchFamily="34" charset="-122"/>
                <a:cs typeface="Be Vietnam Pro" pitchFamily="34" charset="-120"/>
              </a:rPr>
              <a:t>hằng</a:t>
            </a:r>
            <a:r>
              <a:rPr lang="en-US" sz="3100" b="1" dirty="0">
                <a:solidFill>
                  <a:srgbClr val="FFFFFF"/>
                </a:solidFill>
                <a:latin typeface="Be Vietnam Pro" pitchFamily="34" charset="0"/>
                <a:ea typeface="Be Vietnam Pro" pitchFamily="34" charset="-122"/>
                <a:cs typeface="Be Vietnam Pro" pitchFamily="34" charset="-120"/>
              </a:rPr>
              <a:t> </a:t>
            </a:r>
            <a:r>
              <a:rPr lang="en-US" sz="3100" b="1" dirty="0" err="1">
                <a:solidFill>
                  <a:srgbClr val="FFFFFF"/>
                </a:solidFill>
                <a:latin typeface="Be Vietnam Pro" pitchFamily="34" charset="0"/>
                <a:ea typeface="Be Vietnam Pro" pitchFamily="34" charset="-122"/>
                <a:cs typeface="Be Vietnam Pro" pitchFamily="34" charset="-120"/>
              </a:rPr>
              <a:t>năm</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Text 8"/>
          <p:cNvSpPr/>
          <p:nvPr/>
        </p:nvSpPr>
        <p:spPr>
          <a:xfrm>
            <a:off x="713232" y="2201926"/>
            <a:ext cx="10332720" cy="322072"/>
          </a:xfrm>
          <a:prstGeom prst="rect">
            <a:avLst/>
          </a:prstGeom>
          <a:noFill/>
          <a:ln/>
        </p:spPr>
        <p:txBody>
          <a:bodyPr wrap="square" lIns="0" tIns="0" rIns="0" bIns="0" rtlCol="0" anchor="t"/>
          <a:lstStyle/>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Đằng sau mỗi con số ở slide trước là những ngày nước ngập tới mái nhà, đường bị cắt và vật tư không kịp tới nơi cần.</a:t>
            </a:r>
            <a:endParaRPr lang="en-US" sz="1400" dirty="0"/>
          </a:p>
        </p:txBody>
      </p:sp>
      <p:pic>
        <p:nvPicPr>
          <p:cNvPr id="13" name="Image 2" descr="anh/da-cat/hien-truong-1.jpg"/>
          <p:cNvPicPr>
            <a:picLocks noChangeAspect="1"/>
          </p:cNvPicPr>
          <p:nvPr/>
        </p:nvPicPr>
        <p:blipFill>
          <a:blip r:embed="rId5"/>
          <a:stretch>
            <a:fillRect/>
          </a:stretch>
        </p:blipFill>
        <p:spPr>
          <a:xfrm>
            <a:off x="713232" y="2834894"/>
            <a:ext cx="3401568" cy="2468880"/>
          </a:xfrm>
          <a:prstGeom prst="rect">
            <a:avLst/>
          </a:prstGeom>
        </p:spPr>
      </p:pic>
      <p:sp>
        <p:nvSpPr>
          <p:cNvPr id="14" name="Shape 9"/>
          <p:cNvSpPr/>
          <p:nvPr/>
        </p:nvSpPr>
        <p:spPr>
          <a:xfrm>
            <a:off x="713232" y="2834894"/>
            <a:ext cx="3401568" cy="2468880"/>
          </a:xfrm>
          <a:prstGeom prst="roundRect">
            <a:avLst>
              <a:gd name="adj" fmla="val 4444"/>
            </a:avLst>
          </a:prstGeom>
          <a:solidFill>
            <a:srgbClr val="FFFFFF">
              <a:alpha val="0"/>
            </a:srgbClr>
          </a:solidFill>
          <a:ln w="12700">
            <a:solidFill>
              <a:srgbClr val="FFFFFF">
                <a:alpha val="18000"/>
              </a:srgbClr>
            </a:solidFill>
            <a:prstDash val="solid"/>
          </a:ln>
        </p:spPr>
      </p:sp>
      <p:sp>
        <p:nvSpPr>
          <p:cNvPr id="15" name="Text 10"/>
          <p:cNvSpPr/>
          <p:nvPr/>
        </p:nvSpPr>
        <p:spPr>
          <a:xfrm>
            <a:off x="713232" y="5376926"/>
            <a:ext cx="3493008" cy="433197"/>
          </a:xfrm>
          <a:prstGeom prst="rect">
            <a:avLst/>
          </a:prstGeom>
          <a:noFill/>
          <a:ln/>
        </p:spPr>
        <p:txBody>
          <a:bodyPr wrap="square" lIns="0" tIns="0" rIns="0" bIns="0" rtlCol="0" anchor="t"/>
          <a:lstStyle/>
          <a:p>
            <a:pPr marL="0" indent="0" algn="l">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Nước ngập gần tới mái, người dân phải trèo lên nóc</a:t>
            </a:r>
            <a:endParaRPr lang="en-US" sz="1050" dirty="0"/>
          </a:p>
          <a:p>
            <a:pPr marL="0" indent="0" algn="l">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nhà chờ cứu hộ.</a:t>
            </a:r>
            <a:endParaRPr lang="en-US" sz="1050" dirty="0"/>
          </a:p>
        </p:txBody>
      </p:sp>
      <p:pic>
        <p:nvPicPr>
          <p:cNvPr id="16" name="Image 3" descr="anh/da-cat/hien-truong-2.jpg"/>
          <p:cNvPicPr>
            <a:picLocks noChangeAspect="1"/>
          </p:cNvPicPr>
          <p:nvPr/>
        </p:nvPicPr>
        <p:blipFill>
          <a:blip r:embed="rId6"/>
          <a:stretch>
            <a:fillRect/>
          </a:stretch>
        </p:blipFill>
        <p:spPr>
          <a:xfrm>
            <a:off x="4389120" y="2834894"/>
            <a:ext cx="3401568" cy="2468880"/>
          </a:xfrm>
          <a:prstGeom prst="rect">
            <a:avLst/>
          </a:prstGeom>
        </p:spPr>
      </p:pic>
      <p:sp>
        <p:nvSpPr>
          <p:cNvPr id="17" name="Shape 11"/>
          <p:cNvSpPr/>
          <p:nvPr/>
        </p:nvSpPr>
        <p:spPr>
          <a:xfrm>
            <a:off x="4389120" y="2834894"/>
            <a:ext cx="3401568" cy="2468880"/>
          </a:xfrm>
          <a:prstGeom prst="roundRect">
            <a:avLst>
              <a:gd name="adj" fmla="val 4444"/>
            </a:avLst>
          </a:prstGeom>
          <a:solidFill>
            <a:srgbClr val="FFFFFF">
              <a:alpha val="0"/>
            </a:srgbClr>
          </a:solidFill>
          <a:ln w="12700">
            <a:solidFill>
              <a:srgbClr val="FFFFFF">
                <a:alpha val="18000"/>
              </a:srgbClr>
            </a:solidFill>
            <a:prstDash val="solid"/>
          </a:ln>
        </p:spPr>
      </p:sp>
      <p:sp>
        <p:nvSpPr>
          <p:cNvPr id="18" name="Text 12"/>
          <p:cNvSpPr/>
          <p:nvPr/>
        </p:nvSpPr>
        <p:spPr>
          <a:xfrm>
            <a:off x="4389120" y="5376926"/>
            <a:ext cx="3493008" cy="433197"/>
          </a:xfrm>
          <a:prstGeom prst="rect">
            <a:avLst/>
          </a:prstGeom>
          <a:noFill/>
          <a:ln/>
        </p:spPr>
        <p:txBody>
          <a:bodyPr wrap="square" lIns="0" tIns="0" rIns="0" bIns="0" rtlCol="0" anchor="t"/>
          <a:lstStyle/>
          <a:p>
            <a:pPr marL="0" indent="0" algn="l">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Lực lượng cứu hộ đưa người già và trẻ nhỏ ra khỏi</a:t>
            </a:r>
            <a:endParaRPr lang="en-US" sz="1050" dirty="0"/>
          </a:p>
          <a:p>
            <a:pPr marL="0" indent="0" algn="l">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vùng ngập</a:t>
            </a:r>
            <a:endParaRPr lang="en-US" sz="1050" dirty="0"/>
          </a:p>
        </p:txBody>
      </p:sp>
      <p:pic>
        <p:nvPicPr>
          <p:cNvPr id="19" name="Image 4" descr="anh/da-cat/hien-truong-3.jpg"/>
          <p:cNvPicPr>
            <a:picLocks noChangeAspect="1"/>
          </p:cNvPicPr>
          <p:nvPr/>
        </p:nvPicPr>
        <p:blipFill>
          <a:blip r:embed="rId7"/>
          <a:stretch>
            <a:fillRect/>
          </a:stretch>
        </p:blipFill>
        <p:spPr>
          <a:xfrm>
            <a:off x="8065008" y="2834894"/>
            <a:ext cx="3401568" cy="2468880"/>
          </a:xfrm>
          <a:prstGeom prst="rect">
            <a:avLst/>
          </a:prstGeom>
        </p:spPr>
      </p:pic>
      <p:sp>
        <p:nvSpPr>
          <p:cNvPr id="20" name="Shape 13"/>
          <p:cNvSpPr/>
          <p:nvPr/>
        </p:nvSpPr>
        <p:spPr>
          <a:xfrm>
            <a:off x="8065008" y="2834894"/>
            <a:ext cx="3401568" cy="2468880"/>
          </a:xfrm>
          <a:prstGeom prst="roundRect">
            <a:avLst>
              <a:gd name="adj" fmla="val 4444"/>
            </a:avLst>
          </a:prstGeom>
          <a:solidFill>
            <a:srgbClr val="FFFFFF">
              <a:alpha val="0"/>
            </a:srgbClr>
          </a:solidFill>
          <a:ln w="12700">
            <a:solidFill>
              <a:srgbClr val="FFFFFF">
                <a:alpha val="18000"/>
              </a:srgbClr>
            </a:solidFill>
            <a:prstDash val="solid"/>
          </a:ln>
        </p:spPr>
      </p:sp>
      <p:sp>
        <p:nvSpPr>
          <p:cNvPr id="21" name="Text 14"/>
          <p:cNvSpPr/>
          <p:nvPr/>
        </p:nvSpPr>
        <p:spPr>
          <a:xfrm>
            <a:off x="8065008" y="5376926"/>
            <a:ext cx="3493008" cy="253175"/>
          </a:xfrm>
          <a:prstGeom prst="rect">
            <a:avLst/>
          </a:prstGeom>
          <a:noFill/>
          <a:ln/>
        </p:spPr>
        <p:txBody>
          <a:bodyPr wrap="square" lIns="0" tIns="0" rIns="0" bIns="0" rtlCol="0" anchor="t"/>
          <a:lstStyle/>
          <a:p>
            <a:pPr marL="0" indent="0" algn="l">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Vật tư cứu trợ được đưa tới từng nhà bằng xuồng.</a:t>
            </a:r>
            <a:endParaRPr lang="en-US" sz="1050" dirty="0"/>
          </a:p>
        </p:txBody>
      </p:sp>
      <p:sp>
        <p:nvSpPr>
          <p:cNvPr id="22" name="Text 15"/>
          <p:cNvSpPr/>
          <p:nvPr/>
        </p:nvSpPr>
        <p:spPr>
          <a:xfrm>
            <a:off x="713232" y="5956427"/>
            <a:ext cx="10856671" cy="261747"/>
          </a:xfrm>
          <a:prstGeom prst="rect">
            <a:avLst/>
          </a:prstGeom>
          <a:noFill/>
          <a:ln/>
        </p:spPr>
        <p:txBody>
          <a:bodyPr wrap="square" lIns="0" tIns="0" rIns="0" bIns="0" rtlCol="0" anchor="t"/>
          <a:lstStyle/>
          <a:p>
            <a:pPr marL="0" indent="0" algn="l">
              <a:lnSpc>
                <a:spcPts val="1485"/>
              </a:lnSpc>
              <a:buNone/>
            </a:pPr>
            <a:r>
              <a:rPr lang="en-US" sz="1100" dirty="0">
                <a:solidFill>
                  <a:srgbClr val="7189A2"/>
                </a:solidFill>
                <a:latin typeface="Be Vietnam Pro" pitchFamily="34" charset="0"/>
                <a:ea typeface="Be Vietnam Pro" pitchFamily="34" charset="-122"/>
                <a:cs typeface="Be Vietnam Pro" pitchFamily="34" charset="-120"/>
              </a:rPr>
              <a:t>Nguồn ảnh: Báo Thanh Niên, Báo Dân Trí — đợt mưa lũ tháng 11/2025.</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88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05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VẤN ĐỀ</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Bài toán trong những giờ khẩn cấp</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069080" cy="3657600"/>
          </a:xfrm>
          <a:prstGeom prst="roundRect">
            <a:avLst>
              <a:gd name="adj" fmla="val 3000"/>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657600"/>
          </a:xfrm>
          <a:prstGeom prst="roundRect">
            <a:avLst>
              <a:gd name="adj" fmla="val 54545"/>
            </a:avLst>
          </a:prstGeom>
          <a:solidFill>
            <a:srgbClr val="FB923C">
              <a:alpha val="95000"/>
            </a:srgbClr>
          </a:solidFill>
          <a:ln/>
        </p:spPr>
      </p:sp>
      <p:sp>
        <p:nvSpPr>
          <p:cNvPr id="14" name="Text 10"/>
          <p:cNvSpPr/>
          <p:nvPr/>
        </p:nvSpPr>
        <p:spPr>
          <a:xfrm>
            <a:off x="1042416" y="2531110"/>
            <a:ext cx="3502152" cy="643128"/>
          </a:xfrm>
          <a:prstGeom prst="rect">
            <a:avLst/>
          </a:prstGeom>
          <a:noFill/>
          <a:ln/>
        </p:spPr>
        <p:txBody>
          <a:bodyPr wrap="square" lIns="0" tIns="0" rIns="0" bIns="0" rtlCol="0" anchor="t"/>
          <a:lstStyle/>
          <a:p>
            <a:pPr marL="0" indent="0" algn="l">
              <a:lnSpc>
                <a:spcPts val="2244"/>
              </a:lnSpc>
              <a:buNone/>
            </a:pPr>
            <a:r>
              <a:rPr lang="en-US" sz="1700" b="1" dirty="0">
                <a:solidFill>
                  <a:srgbClr val="FFFFFF"/>
                </a:solidFill>
                <a:latin typeface="Be Vietnam Pro" pitchFamily="34" charset="0"/>
                <a:ea typeface="Be Vietnam Pro" pitchFamily="34" charset="-122"/>
                <a:cs typeface="Be Vietnam Pro" pitchFamily="34" charset="-120"/>
              </a:rPr>
              <a:t>Phía sau mỗi nhiệm vụ cứu hộ</a:t>
            </a:r>
            <a:endParaRPr lang="en-US" sz="1700" dirty="0"/>
          </a:p>
          <a:p>
            <a:pPr marL="0" indent="0" algn="l">
              <a:lnSpc>
                <a:spcPts val="2244"/>
              </a:lnSpc>
              <a:buNone/>
            </a:pPr>
            <a:r>
              <a:rPr lang="en-US" sz="1700" b="1" dirty="0">
                <a:solidFill>
                  <a:srgbClr val="FFFFFF"/>
                </a:solidFill>
                <a:latin typeface="Be Vietnam Pro" pitchFamily="34" charset="0"/>
                <a:ea typeface="Be Vietnam Pro" pitchFamily="34" charset="-122"/>
                <a:cs typeface="Be Vietnam Pro" pitchFamily="34" charset="-120"/>
              </a:rPr>
              <a:t>không chỉ là lòng dũng cảm</a:t>
            </a:r>
            <a:endParaRPr lang="en-US" sz="1700" dirty="0"/>
          </a:p>
        </p:txBody>
      </p:sp>
      <p:sp>
        <p:nvSpPr>
          <p:cNvPr id="15" name="Text 11"/>
          <p:cNvSpPr/>
          <p:nvPr/>
        </p:nvSpPr>
        <p:spPr>
          <a:xfrm>
            <a:off x="1042416" y="3193136"/>
            <a:ext cx="3502152" cy="568452"/>
          </a:xfrm>
          <a:prstGeom prst="rect">
            <a:avLst/>
          </a:prstGeom>
          <a:noFill/>
          <a:ln/>
        </p:spPr>
        <p:txBody>
          <a:bodyPr wrap="square" lIns="0" tIns="0" rIns="0" bIns="0" rtlCol="0" anchor="t"/>
          <a:lstStyle/>
          <a:p>
            <a:pPr marL="0" indent="0" algn="l">
              <a:lnSpc>
                <a:spcPts val="1950"/>
              </a:lnSpc>
              <a:buNone/>
            </a:pPr>
            <a:r>
              <a:rPr lang="en-US" sz="1300" dirty="0">
                <a:solidFill>
                  <a:srgbClr val="D9E6F2"/>
                </a:solidFill>
                <a:latin typeface="Be Vietnam Pro" pitchFamily="34" charset="0"/>
                <a:ea typeface="Be Vietnam Pro" pitchFamily="34" charset="-122"/>
                <a:cs typeface="Be Vietnam Pro" pitchFamily="34" charset="-120"/>
              </a:rPr>
              <a:t>Đó còn là bài toán về thời gian, con người,</a:t>
            </a:r>
            <a:endParaRPr lang="en-US" sz="1300" dirty="0"/>
          </a:p>
          <a:p>
            <a:pPr marL="0" indent="0" algn="l">
              <a:lnSpc>
                <a:spcPts val="1950"/>
              </a:lnSpc>
              <a:buNone/>
            </a:pPr>
            <a:r>
              <a:rPr lang="en-US" sz="1300" dirty="0">
                <a:solidFill>
                  <a:srgbClr val="D9E6F2"/>
                </a:solidFill>
                <a:latin typeface="Be Vietnam Pro" pitchFamily="34" charset="0"/>
                <a:ea typeface="Be Vietnam Pro" pitchFamily="34" charset="-122"/>
                <a:cs typeface="Be Vietnam Pro" pitchFamily="34" charset="-120"/>
              </a:rPr>
              <a:t>vật tư và khả năng điều phối.</a:t>
            </a:r>
            <a:endParaRPr lang="en-US" sz="1300" dirty="0"/>
          </a:p>
        </p:txBody>
      </p:sp>
      <p:sp>
        <p:nvSpPr>
          <p:cNvPr id="16" name="Shape 12"/>
          <p:cNvSpPr/>
          <p:nvPr/>
        </p:nvSpPr>
        <p:spPr>
          <a:xfrm>
            <a:off x="1042416" y="4014267"/>
            <a:ext cx="3410712" cy="9144"/>
          </a:xfrm>
          <a:prstGeom prst="rect">
            <a:avLst/>
          </a:prstGeom>
          <a:solidFill>
            <a:srgbClr val="FFFFFF">
              <a:alpha val="16000"/>
            </a:srgbClr>
          </a:solidFill>
          <a:ln/>
        </p:spPr>
      </p:sp>
      <p:sp>
        <p:nvSpPr>
          <p:cNvPr id="17" name="Text 13"/>
          <p:cNvSpPr/>
          <p:nvPr/>
        </p:nvSpPr>
        <p:spPr>
          <a:xfrm>
            <a:off x="1042416" y="4341622"/>
            <a:ext cx="3502152" cy="1030732"/>
          </a:xfrm>
          <a:prstGeom prst="rect">
            <a:avLst/>
          </a:prstGeom>
          <a:noFill/>
          <a:ln/>
        </p:spPr>
        <p:txBody>
          <a:bodyPr wrap="square" lIns="0" tIns="0" rIns="0" bIns="0" rtlCol="0" anchor="t"/>
          <a:lstStyle/>
          <a:p>
            <a:pPr marL="0" indent="0" algn="l">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Sau nhiều giờ, thậm chí nhiều ngày liên</a:t>
            </a:r>
            <a:endParaRPr lang="en-US" sz="1300" dirty="0"/>
          </a:p>
          <a:p>
            <a:pPr marL="0" indent="0" algn="l">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tục, con người sẽ xuống sức — trong khi</a:t>
            </a:r>
            <a:endParaRPr lang="en-US" sz="1300" dirty="0"/>
          </a:p>
          <a:p>
            <a:pPr marL="0" indent="0" algn="l">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quyết định vẫn phải đưa ra trong vài</a:t>
            </a:r>
            <a:endParaRPr lang="en-US" sz="1300" dirty="0"/>
          </a:p>
          <a:p>
            <a:pPr marL="0" indent="0" algn="l">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phút.</a:t>
            </a:r>
            <a:endParaRPr lang="en-US" sz="1300" dirty="0"/>
          </a:p>
        </p:txBody>
      </p:sp>
      <p:sp>
        <p:nvSpPr>
          <p:cNvPr id="18" name="Shape 14"/>
          <p:cNvSpPr/>
          <p:nvPr/>
        </p:nvSpPr>
        <p:spPr>
          <a:xfrm>
            <a:off x="5093208" y="222021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19" name="Shape 15"/>
          <p:cNvSpPr/>
          <p:nvPr/>
        </p:nvSpPr>
        <p:spPr>
          <a:xfrm>
            <a:off x="5093208" y="2220214"/>
            <a:ext cx="50292" cy="1691640"/>
          </a:xfrm>
          <a:prstGeom prst="roundRect">
            <a:avLst>
              <a:gd name="adj" fmla="val 54545"/>
            </a:avLst>
          </a:prstGeom>
          <a:solidFill>
            <a:srgbClr val="F87171">
              <a:alpha val="95000"/>
            </a:srgbClr>
          </a:solidFill>
          <a:ln/>
        </p:spPr>
      </p:sp>
      <p:sp>
        <p:nvSpPr>
          <p:cNvPr id="20" name="Text 16"/>
          <p:cNvSpPr/>
          <p:nvPr/>
        </p:nvSpPr>
        <p:spPr>
          <a:xfrm>
            <a:off x="5367528" y="2457958"/>
            <a:ext cx="2598268" cy="303340"/>
          </a:xfrm>
          <a:prstGeom prst="rect">
            <a:avLst/>
          </a:prstGeom>
          <a:noFill/>
          <a:ln/>
        </p:spPr>
        <p:txBody>
          <a:bodyPr wrap="square" lIns="0" tIns="0" rIns="0" bIns="0" rtlCol="0" anchor="t"/>
          <a:lstStyle/>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Cần những vật tư gì?</a:t>
            </a:r>
            <a:endParaRPr lang="en-US" sz="1450" dirty="0"/>
          </a:p>
        </p:txBody>
      </p:sp>
      <p:sp>
        <p:nvSpPr>
          <p:cNvPr id="21" name="Text 17"/>
          <p:cNvSpPr/>
          <p:nvPr/>
        </p:nvSpPr>
        <p:spPr>
          <a:xfrm>
            <a:off x="5367528" y="2756726"/>
            <a:ext cx="2598268"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Chủng loại, số lượng phù hợp với</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quy mô ảnh hưởng.</a:t>
            </a:r>
            <a:endParaRPr lang="en-US" sz="1150" dirty="0"/>
          </a:p>
        </p:txBody>
      </p:sp>
      <p:sp>
        <p:nvSpPr>
          <p:cNvPr id="22" name="Shape 18"/>
          <p:cNvSpPr/>
          <p:nvPr/>
        </p:nvSpPr>
        <p:spPr>
          <a:xfrm>
            <a:off x="8422996" y="222021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3" name="Shape 19"/>
          <p:cNvSpPr/>
          <p:nvPr/>
        </p:nvSpPr>
        <p:spPr>
          <a:xfrm>
            <a:off x="8422996" y="2220214"/>
            <a:ext cx="50292" cy="1691640"/>
          </a:xfrm>
          <a:prstGeom prst="roundRect">
            <a:avLst>
              <a:gd name="adj" fmla="val 54545"/>
            </a:avLst>
          </a:prstGeom>
          <a:solidFill>
            <a:srgbClr val="F87171">
              <a:alpha val="95000"/>
            </a:srgbClr>
          </a:solidFill>
          <a:ln/>
        </p:spPr>
      </p:sp>
      <p:sp>
        <p:nvSpPr>
          <p:cNvPr id="24" name="Text 20"/>
          <p:cNvSpPr/>
          <p:nvPr/>
        </p:nvSpPr>
        <p:spPr>
          <a:xfrm>
            <a:off x="8697316" y="2457958"/>
            <a:ext cx="2598268" cy="303340"/>
          </a:xfrm>
          <a:prstGeom prst="rect">
            <a:avLst/>
          </a:prstGeom>
          <a:noFill/>
          <a:ln/>
        </p:spPr>
        <p:txBody>
          <a:bodyPr wrap="square" lIns="0" tIns="0" rIns="0" bIns="0" rtlCol="0" anchor="t"/>
          <a:lstStyle/>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Lấy vật tư ở đâu?</a:t>
            </a:r>
            <a:endParaRPr lang="en-US" sz="1450" dirty="0"/>
          </a:p>
        </p:txBody>
      </p:sp>
      <p:sp>
        <p:nvSpPr>
          <p:cNvPr id="25" name="Text 21"/>
          <p:cNvSpPr/>
          <p:nvPr/>
        </p:nvSpPr>
        <p:spPr>
          <a:xfrm>
            <a:off x="8697316" y="2756726"/>
            <a:ext cx="2598268"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Kho nào gần hiện trường nhất để</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rút ngắn thời gian.</a:t>
            </a:r>
            <a:endParaRPr lang="en-US" sz="1150" dirty="0"/>
          </a:p>
        </p:txBody>
      </p:sp>
      <p:sp>
        <p:nvSpPr>
          <p:cNvPr id="26" name="Shape 22"/>
          <p:cNvSpPr/>
          <p:nvPr/>
        </p:nvSpPr>
        <p:spPr>
          <a:xfrm>
            <a:off x="5093208" y="418617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7" name="Shape 23"/>
          <p:cNvSpPr/>
          <p:nvPr/>
        </p:nvSpPr>
        <p:spPr>
          <a:xfrm>
            <a:off x="5093208" y="4186174"/>
            <a:ext cx="50292" cy="1691640"/>
          </a:xfrm>
          <a:prstGeom prst="roundRect">
            <a:avLst>
              <a:gd name="adj" fmla="val 54545"/>
            </a:avLst>
          </a:prstGeom>
          <a:solidFill>
            <a:srgbClr val="F87171">
              <a:alpha val="95000"/>
            </a:srgbClr>
          </a:solidFill>
          <a:ln/>
        </p:spPr>
      </p:sp>
      <p:sp>
        <p:nvSpPr>
          <p:cNvPr id="28" name="Text 24"/>
          <p:cNvSpPr/>
          <p:nvPr/>
        </p:nvSpPr>
        <p:spPr>
          <a:xfrm>
            <a:off x="5367528" y="4423918"/>
            <a:ext cx="2598268" cy="303340"/>
          </a:xfrm>
          <a:prstGeom prst="rect">
            <a:avLst/>
          </a:prstGeom>
          <a:noFill/>
          <a:ln/>
        </p:spPr>
        <p:txBody>
          <a:bodyPr wrap="square" lIns="0" tIns="0" rIns="0" bIns="0" rtlCol="0" anchor="t"/>
          <a:lstStyle/>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Kho nào còn đủ?</a:t>
            </a:r>
            <a:endParaRPr lang="en-US" sz="1450" dirty="0"/>
          </a:p>
        </p:txBody>
      </p:sp>
      <p:sp>
        <p:nvSpPr>
          <p:cNvPr id="29" name="Text 25"/>
          <p:cNvSpPr/>
          <p:nvPr/>
        </p:nvSpPr>
        <p:spPr>
          <a:xfrm>
            <a:off x="5367528" y="4722686"/>
            <a:ext cx="2598268"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Tồn kho thực tế thay đổi liên tục</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trong thiên tai.</a:t>
            </a:r>
            <a:endParaRPr lang="en-US" sz="1150" dirty="0"/>
          </a:p>
        </p:txBody>
      </p:sp>
      <p:sp>
        <p:nvSpPr>
          <p:cNvPr id="30" name="Shape 26"/>
          <p:cNvSpPr/>
          <p:nvPr/>
        </p:nvSpPr>
        <p:spPr>
          <a:xfrm>
            <a:off x="8422996" y="418617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31" name="Shape 27"/>
          <p:cNvSpPr/>
          <p:nvPr/>
        </p:nvSpPr>
        <p:spPr>
          <a:xfrm>
            <a:off x="8422996" y="4186174"/>
            <a:ext cx="50292" cy="1691640"/>
          </a:xfrm>
          <a:prstGeom prst="roundRect">
            <a:avLst>
              <a:gd name="adj" fmla="val 54545"/>
            </a:avLst>
          </a:prstGeom>
          <a:solidFill>
            <a:srgbClr val="F87171">
              <a:alpha val="95000"/>
            </a:srgbClr>
          </a:solidFill>
          <a:ln/>
        </p:spPr>
      </p:sp>
      <p:sp>
        <p:nvSpPr>
          <p:cNvPr id="32" name="Text 28"/>
          <p:cNvSpPr/>
          <p:nvPr/>
        </p:nvSpPr>
        <p:spPr>
          <a:xfrm>
            <a:off x="8697316" y="4423918"/>
            <a:ext cx="2598268" cy="533527"/>
          </a:xfrm>
          <a:prstGeom prst="rect">
            <a:avLst/>
          </a:prstGeom>
          <a:noFill/>
          <a:ln/>
        </p:spPr>
        <p:txBody>
          <a:bodyPr wrap="square" lIns="0" tIns="0" rIns="0" bIns="0" rtlCol="0" anchor="t"/>
          <a:lstStyle/>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Làm sao để mọi bộ phận</a:t>
            </a:r>
            <a:endParaRPr lang="en-US" sz="1450" dirty="0"/>
          </a:p>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nắm thông tin tức thời?</a:t>
            </a:r>
            <a:endParaRPr lang="en-US" sz="1450" dirty="0"/>
          </a:p>
        </p:txBody>
      </p:sp>
      <p:sp>
        <p:nvSpPr>
          <p:cNvPr id="33" name="Text 29"/>
          <p:cNvSpPr/>
          <p:nvPr/>
        </p:nvSpPr>
        <p:spPr>
          <a:xfrm>
            <a:off x="8697316" y="4952873"/>
            <a:ext cx="2598268"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Thông tin phải đến đúng người,</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nhanh và chính xác.</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nodeType="withEffect">
                                  <p:stCondLst>
                                    <p:cond delay="66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nodeType="withEffect">
                                  <p:stCondLst>
                                    <p:cond delay="66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nodeType="withEffect">
                                  <p:stCondLst>
                                    <p:cond delay="66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66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88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88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88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nodeType="withEffect">
                                  <p:stCondLst>
                                    <p:cond delay="88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nodeType="withEffect">
                                  <p:stCondLst>
                                    <p:cond delay="110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nodeType="withEffect">
                                  <p:stCondLst>
                                    <p:cond delay="110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400"/>
                                        <p:tgtEl>
                                          <p:spTgt spid="27"/>
                                        </p:tgtEl>
                                      </p:cBhvr>
                                    </p:animEffect>
                                  </p:childTnLst>
                                </p:cTn>
                              </p:par>
                              <p:par>
                                <p:cTn id="56" presetID="10" presetClass="entr" presetSubtype="0" fill="hold" nodeType="withEffect">
                                  <p:stCondLst>
                                    <p:cond delay="110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400"/>
                                        <p:tgtEl>
                                          <p:spTgt spid="28"/>
                                        </p:tgtEl>
                                      </p:cBhvr>
                                    </p:animEffect>
                                  </p:childTnLst>
                                </p:cTn>
                              </p:par>
                              <p:par>
                                <p:cTn id="59" presetID="10" presetClass="entr" presetSubtype="0" fill="hold" nodeType="withEffect">
                                  <p:stCondLst>
                                    <p:cond delay="110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400"/>
                                        <p:tgtEl>
                                          <p:spTgt spid="29"/>
                                        </p:tgtEl>
                                      </p:cBhvr>
                                    </p:animEffect>
                                  </p:childTnLst>
                                </p:cTn>
                              </p:par>
                              <p:par>
                                <p:cTn id="62" presetID="10" presetClass="entr" presetSubtype="0" fill="hold" nodeType="withEffect">
                                  <p:stCondLst>
                                    <p:cond delay="1320"/>
                                  </p:stCondLst>
                                  <p:childTnLst>
                                    <p:set>
                                      <p:cBhvr>
                                        <p:cTn id="63" dur="1" fill="hold">
                                          <p:stCondLst>
                                            <p:cond delay="0"/>
                                          </p:stCondLst>
                                        </p:cTn>
                                        <p:tgtEl>
                                          <p:spTgt spid="30"/>
                                        </p:tgtEl>
                                        <p:attrNameLst>
                                          <p:attrName>style.visibility</p:attrName>
                                        </p:attrNameLst>
                                      </p:cBhvr>
                                      <p:to>
                                        <p:strVal val="visible"/>
                                      </p:to>
                                    </p:set>
                                    <p:animEffect transition="in" filter="fade">
                                      <p:cBhvr>
                                        <p:cTn id="64" dur="400"/>
                                        <p:tgtEl>
                                          <p:spTgt spid="30"/>
                                        </p:tgtEl>
                                      </p:cBhvr>
                                    </p:animEffect>
                                  </p:childTnLst>
                                </p:cTn>
                              </p:par>
                              <p:par>
                                <p:cTn id="65" presetID="10" presetClass="entr" presetSubtype="0" fill="hold" nodeType="withEffect">
                                  <p:stCondLst>
                                    <p:cond delay="1320"/>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400"/>
                                        <p:tgtEl>
                                          <p:spTgt spid="31"/>
                                        </p:tgtEl>
                                      </p:cBhvr>
                                    </p:animEffect>
                                  </p:childTnLst>
                                </p:cTn>
                              </p:par>
                              <p:par>
                                <p:cTn id="68" presetID="10" presetClass="entr" presetSubtype="0" fill="hold" nodeType="withEffect">
                                  <p:stCondLst>
                                    <p:cond delay="1320"/>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400"/>
                                        <p:tgtEl>
                                          <p:spTgt spid="32"/>
                                        </p:tgtEl>
                                      </p:cBhvr>
                                    </p:animEffect>
                                  </p:childTnLst>
                                </p:cTn>
                              </p:par>
                              <p:par>
                                <p:cTn id="71" presetID="10" presetClass="entr" presetSubtype="0" fill="hold" nodeType="withEffect">
                                  <p:stCondLst>
                                    <p:cond delay="1320"/>
                                  </p:stCondLst>
                                  <p:childTnLst>
                                    <p:set>
                                      <p:cBhvr>
                                        <p:cTn id="72" dur="1" fill="hold">
                                          <p:stCondLst>
                                            <p:cond delay="0"/>
                                          </p:stCondLst>
                                        </p:cTn>
                                        <p:tgtEl>
                                          <p:spTgt spid="33"/>
                                        </p:tgtEl>
                                        <p:attrNameLst>
                                          <p:attrName>style.visibility</p:attrName>
                                        </p:attrNameLst>
                                      </p:cBhvr>
                                      <p:to>
                                        <p:strVal val="visible"/>
                                      </p:to>
                                    </p:set>
                                    <p:animEffect transition="in" filter="fade">
                                      <p:cBhvr>
                                        <p:cTn id="73"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06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GIẢI PHÁP</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Một hệ thống — bốn mắt xích — một luồng thông tin</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Text 8"/>
          <p:cNvSpPr/>
          <p:nvPr/>
        </p:nvSpPr>
        <p:spPr>
          <a:xfrm>
            <a:off x="713232" y="2201926"/>
            <a:ext cx="10332720" cy="322072"/>
          </a:xfrm>
          <a:prstGeom prst="rect">
            <a:avLst/>
          </a:prstGeom>
          <a:noFill/>
          <a:ln/>
        </p:spPr>
        <p:txBody>
          <a:bodyPr wrap="square" lIns="0" tIns="0" rIns="0" bIns="0" rtlCol="0" anchor="t"/>
          <a:lstStyle/>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Kết nối xuyên suốt các bộ phận, đồng thời ứng dụng AI để phân tích và hỗ trợ ra quyết định trong thời điểm khẩn cấp.</a:t>
            </a:r>
            <a:endParaRPr lang="en-US" sz="1400" dirty="0"/>
          </a:p>
        </p:txBody>
      </p:sp>
      <p:sp>
        <p:nvSpPr>
          <p:cNvPr id="13" name="Shape 9"/>
          <p:cNvSpPr/>
          <p:nvPr/>
        </p:nvSpPr>
        <p:spPr>
          <a:xfrm>
            <a:off x="713232" y="3392678"/>
            <a:ext cx="2743200"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14" name="Shape 10"/>
          <p:cNvSpPr/>
          <p:nvPr/>
        </p:nvSpPr>
        <p:spPr>
          <a:xfrm>
            <a:off x="713232" y="3392678"/>
            <a:ext cx="50292" cy="2194560"/>
          </a:xfrm>
          <a:prstGeom prst="roundRect">
            <a:avLst>
              <a:gd name="adj" fmla="val 54545"/>
            </a:avLst>
          </a:prstGeom>
          <a:solidFill>
            <a:srgbClr val="38BDF8">
              <a:alpha val="95000"/>
            </a:srgbClr>
          </a:solidFill>
          <a:ln/>
        </p:spPr>
      </p:sp>
      <p:sp>
        <p:nvSpPr>
          <p:cNvPr id="15" name="Shape 11"/>
          <p:cNvSpPr/>
          <p:nvPr/>
        </p:nvSpPr>
        <p:spPr>
          <a:xfrm>
            <a:off x="987552" y="3666998"/>
            <a:ext cx="457200" cy="457200"/>
          </a:xfrm>
          <a:prstGeom prst="roundRect">
            <a:avLst>
              <a:gd name="adj" fmla="val 50000"/>
            </a:avLst>
          </a:prstGeom>
          <a:solidFill>
            <a:srgbClr val="04101F">
              <a:alpha val="88000"/>
            </a:srgbClr>
          </a:solidFill>
          <a:ln/>
        </p:spPr>
      </p:sp>
      <p:sp>
        <p:nvSpPr>
          <p:cNvPr id="16" name="Shape 12"/>
          <p:cNvSpPr/>
          <p:nvPr/>
        </p:nvSpPr>
        <p:spPr>
          <a:xfrm>
            <a:off x="987552" y="3666998"/>
            <a:ext cx="457200" cy="457200"/>
          </a:xfrm>
          <a:prstGeom prst="roundRect">
            <a:avLst>
              <a:gd name="adj" fmla="val 50000"/>
            </a:avLst>
          </a:prstGeom>
          <a:solidFill>
            <a:srgbClr val="38BDF8">
              <a:alpha val="20000"/>
            </a:srgbClr>
          </a:solidFill>
          <a:ln w="15240">
            <a:solidFill>
              <a:srgbClr val="38BDF8">
                <a:alpha val="70000"/>
              </a:srgbClr>
            </a:solidFill>
            <a:prstDash val="solid"/>
          </a:ln>
        </p:spPr>
      </p:sp>
      <p:sp>
        <p:nvSpPr>
          <p:cNvPr id="17" name="Text 13"/>
          <p:cNvSpPr/>
          <p:nvPr/>
        </p:nvSpPr>
        <p:spPr>
          <a:xfrm>
            <a:off x="941832" y="3758438"/>
            <a:ext cx="548640" cy="330327"/>
          </a:xfrm>
          <a:prstGeom prst="rect">
            <a:avLst/>
          </a:prstGeom>
          <a:noFill/>
          <a:ln/>
        </p:spPr>
        <p:txBody>
          <a:bodyPr wrap="square" lIns="0" tIns="0" rIns="0" bIns="0" rtlCol="0" anchor="t"/>
          <a:lstStyle/>
          <a:p>
            <a:pPr marL="0" indent="0" algn="ctr">
              <a:lnSpc>
                <a:spcPts val="2025"/>
              </a:lnSpc>
              <a:buNone/>
            </a:pPr>
            <a:r>
              <a:rPr lang="en-US" sz="1500" b="1" dirty="0">
                <a:solidFill>
                  <a:srgbClr val="38BDF8"/>
                </a:solidFill>
                <a:latin typeface="Be Vietnam Pro" pitchFamily="34" charset="0"/>
                <a:ea typeface="Be Vietnam Pro" pitchFamily="34" charset="-122"/>
                <a:cs typeface="Be Vietnam Pro" pitchFamily="34" charset="-120"/>
              </a:rPr>
              <a:t>01</a:t>
            </a:r>
            <a:endParaRPr lang="en-US" sz="1500" dirty="0"/>
          </a:p>
        </p:txBody>
      </p:sp>
      <p:sp>
        <p:nvSpPr>
          <p:cNvPr id="18" name="Text 14"/>
          <p:cNvSpPr/>
          <p:nvPr/>
        </p:nvSpPr>
        <p:spPr>
          <a:xfrm>
            <a:off x="987552" y="4288790"/>
            <a:ext cx="2286000" cy="347472"/>
          </a:xfrm>
          <a:prstGeom prst="rect">
            <a:avLst/>
          </a:prstGeom>
          <a:noFill/>
          <a:ln/>
        </p:spPr>
        <p:txBody>
          <a:bodyPr wrap="square" lIns="0" tIns="0" rIns="0" bIns="0" rtlCol="0" anchor="t"/>
          <a:lstStyle/>
          <a:p>
            <a:pPr marL="0" indent="0" algn="l">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Trưởng thôn</a:t>
            </a:r>
            <a:endParaRPr lang="en-US" sz="1600" dirty="0"/>
          </a:p>
        </p:txBody>
      </p:sp>
      <p:sp>
        <p:nvSpPr>
          <p:cNvPr id="19" name="Text 15"/>
          <p:cNvSpPr/>
          <p:nvPr/>
        </p:nvSpPr>
        <p:spPr>
          <a:xfrm>
            <a:off x="987552" y="4672838"/>
            <a:ext cx="2286000" cy="51511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Báo cáo tình huống và định vị</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vị trí gặp nạn trên bản đồ.</a:t>
            </a:r>
            <a:endParaRPr lang="en-US" sz="1200" dirty="0"/>
          </a:p>
        </p:txBody>
      </p:sp>
      <p:sp>
        <p:nvSpPr>
          <p:cNvPr id="20" name="Shape 16"/>
          <p:cNvSpPr/>
          <p:nvPr/>
        </p:nvSpPr>
        <p:spPr>
          <a:xfrm>
            <a:off x="3959352" y="3392678"/>
            <a:ext cx="2926080"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21" name="Shape 17"/>
          <p:cNvSpPr/>
          <p:nvPr/>
        </p:nvSpPr>
        <p:spPr>
          <a:xfrm>
            <a:off x="3959352" y="3392678"/>
            <a:ext cx="50292" cy="2194560"/>
          </a:xfrm>
          <a:prstGeom prst="roundRect">
            <a:avLst>
              <a:gd name="adj" fmla="val 54545"/>
            </a:avLst>
          </a:prstGeom>
          <a:solidFill>
            <a:srgbClr val="22C55E">
              <a:alpha val="95000"/>
            </a:srgbClr>
          </a:solidFill>
          <a:ln/>
        </p:spPr>
      </p:sp>
      <p:sp>
        <p:nvSpPr>
          <p:cNvPr id="22" name="Shape 18"/>
          <p:cNvSpPr/>
          <p:nvPr/>
        </p:nvSpPr>
        <p:spPr>
          <a:xfrm>
            <a:off x="4233672" y="3666998"/>
            <a:ext cx="457200" cy="457200"/>
          </a:xfrm>
          <a:prstGeom prst="roundRect">
            <a:avLst>
              <a:gd name="adj" fmla="val 50000"/>
            </a:avLst>
          </a:prstGeom>
          <a:solidFill>
            <a:srgbClr val="04101F">
              <a:alpha val="88000"/>
            </a:srgbClr>
          </a:solidFill>
          <a:ln/>
        </p:spPr>
      </p:sp>
      <p:sp>
        <p:nvSpPr>
          <p:cNvPr id="23" name="Shape 19"/>
          <p:cNvSpPr/>
          <p:nvPr/>
        </p:nvSpPr>
        <p:spPr>
          <a:xfrm>
            <a:off x="4233672" y="3666998"/>
            <a:ext cx="457200" cy="457200"/>
          </a:xfrm>
          <a:prstGeom prst="roundRect">
            <a:avLst>
              <a:gd name="adj" fmla="val 50000"/>
            </a:avLst>
          </a:prstGeom>
          <a:solidFill>
            <a:srgbClr val="22C55E">
              <a:alpha val="20000"/>
            </a:srgbClr>
          </a:solidFill>
          <a:ln w="15240">
            <a:solidFill>
              <a:srgbClr val="22C55E">
                <a:alpha val="70000"/>
              </a:srgbClr>
            </a:solidFill>
            <a:prstDash val="solid"/>
          </a:ln>
        </p:spPr>
      </p:sp>
      <p:sp>
        <p:nvSpPr>
          <p:cNvPr id="24" name="Text 20"/>
          <p:cNvSpPr/>
          <p:nvPr/>
        </p:nvSpPr>
        <p:spPr>
          <a:xfrm>
            <a:off x="4187952" y="3758438"/>
            <a:ext cx="548640"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02</a:t>
            </a:r>
            <a:endParaRPr lang="en-US" sz="1500" dirty="0"/>
          </a:p>
        </p:txBody>
      </p:sp>
      <p:sp>
        <p:nvSpPr>
          <p:cNvPr id="25" name="Text 21"/>
          <p:cNvSpPr/>
          <p:nvPr/>
        </p:nvSpPr>
        <p:spPr>
          <a:xfrm>
            <a:off x="4233672" y="4288790"/>
            <a:ext cx="2468880" cy="347472"/>
          </a:xfrm>
          <a:prstGeom prst="rect">
            <a:avLst/>
          </a:prstGeom>
          <a:noFill/>
          <a:ln/>
        </p:spPr>
        <p:txBody>
          <a:bodyPr wrap="square" lIns="0" tIns="0" rIns="0" bIns="0" rtlCol="0" anchor="t"/>
          <a:lstStyle/>
          <a:p>
            <a:pPr marL="0" indent="0" algn="l">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Người điều phối</a:t>
            </a:r>
            <a:endParaRPr lang="en-US" sz="1600" dirty="0"/>
          </a:p>
        </p:txBody>
      </p:sp>
      <p:sp>
        <p:nvSpPr>
          <p:cNvPr id="26" name="Text 22"/>
          <p:cNvSpPr/>
          <p:nvPr/>
        </p:nvSpPr>
        <p:spPr>
          <a:xfrm>
            <a:off x="4233672" y="4672838"/>
            <a:ext cx="2468880"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Dùng AI phân tích tình hình, phê</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duyệt phương án và lập kế</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hoạch cứu hộ.</a:t>
            </a:r>
            <a:endParaRPr lang="en-US" sz="1200" dirty="0"/>
          </a:p>
        </p:txBody>
      </p:sp>
      <p:sp>
        <p:nvSpPr>
          <p:cNvPr id="27" name="Shape 23"/>
          <p:cNvSpPr/>
          <p:nvPr/>
        </p:nvSpPr>
        <p:spPr>
          <a:xfrm>
            <a:off x="7452360" y="2834894"/>
            <a:ext cx="4023360" cy="1517904"/>
          </a:xfrm>
          <a:prstGeom prst="roundRect">
            <a:avLst>
              <a:gd name="adj" fmla="val 7229"/>
            </a:avLst>
          </a:prstGeom>
          <a:solidFill>
            <a:srgbClr val="091B2D">
              <a:alpha val="66000"/>
            </a:srgbClr>
          </a:solidFill>
          <a:ln w="12700">
            <a:solidFill>
              <a:srgbClr val="FFFFFF">
                <a:alpha val="12000"/>
              </a:srgbClr>
            </a:solidFill>
            <a:prstDash val="solid"/>
          </a:ln>
        </p:spPr>
      </p:sp>
      <p:sp>
        <p:nvSpPr>
          <p:cNvPr id="28" name="Shape 24"/>
          <p:cNvSpPr/>
          <p:nvPr/>
        </p:nvSpPr>
        <p:spPr>
          <a:xfrm>
            <a:off x="7452360" y="2834894"/>
            <a:ext cx="50292" cy="1517904"/>
          </a:xfrm>
          <a:prstGeom prst="roundRect">
            <a:avLst>
              <a:gd name="adj" fmla="val 54545"/>
            </a:avLst>
          </a:prstGeom>
          <a:solidFill>
            <a:srgbClr val="FBBF24">
              <a:alpha val="95000"/>
            </a:srgbClr>
          </a:solidFill>
          <a:ln/>
        </p:spPr>
      </p:sp>
      <p:sp>
        <p:nvSpPr>
          <p:cNvPr id="29" name="Shape 25"/>
          <p:cNvSpPr/>
          <p:nvPr/>
        </p:nvSpPr>
        <p:spPr>
          <a:xfrm>
            <a:off x="7726680" y="3072638"/>
            <a:ext cx="420624" cy="420624"/>
          </a:xfrm>
          <a:prstGeom prst="roundRect">
            <a:avLst>
              <a:gd name="adj" fmla="val 50000"/>
            </a:avLst>
          </a:prstGeom>
          <a:solidFill>
            <a:srgbClr val="04101F">
              <a:alpha val="88000"/>
            </a:srgbClr>
          </a:solidFill>
          <a:ln/>
        </p:spPr>
      </p:sp>
      <p:sp>
        <p:nvSpPr>
          <p:cNvPr id="30" name="Shape 26"/>
          <p:cNvSpPr/>
          <p:nvPr/>
        </p:nvSpPr>
        <p:spPr>
          <a:xfrm>
            <a:off x="7726680" y="3072638"/>
            <a:ext cx="420624" cy="420624"/>
          </a:xfrm>
          <a:prstGeom prst="roundRect">
            <a:avLst>
              <a:gd name="adj" fmla="val 50000"/>
            </a:avLst>
          </a:prstGeom>
          <a:solidFill>
            <a:srgbClr val="FBBF24">
              <a:alpha val="20000"/>
            </a:srgbClr>
          </a:solidFill>
          <a:ln w="15240">
            <a:solidFill>
              <a:srgbClr val="FBBF24">
                <a:alpha val="70000"/>
              </a:srgbClr>
            </a:solidFill>
            <a:prstDash val="solid"/>
          </a:ln>
        </p:spPr>
      </p:sp>
      <p:sp>
        <p:nvSpPr>
          <p:cNvPr id="31" name="Text 27"/>
          <p:cNvSpPr/>
          <p:nvPr/>
        </p:nvSpPr>
        <p:spPr>
          <a:xfrm>
            <a:off x="7680960" y="3145790"/>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FBBF24"/>
                </a:solidFill>
                <a:latin typeface="Be Vietnam Pro" pitchFamily="34" charset="0"/>
                <a:ea typeface="Be Vietnam Pro" pitchFamily="34" charset="-122"/>
                <a:cs typeface="Be Vietnam Pro" pitchFamily="34" charset="-120"/>
              </a:rPr>
              <a:t>03</a:t>
            </a:r>
            <a:endParaRPr lang="en-US" sz="1500" dirty="0"/>
          </a:p>
        </p:txBody>
      </p:sp>
      <p:sp>
        <p:nvSpPr>
          <p:cNvPr id="32" name="Text 28"/>
          <p:cNvSpPr/>
          <p:nvPr/>
        </p:nvSpPr>
        <p:spPr>
          <a:xfrm>
            <a:off x="8275320" y="3118358"/>
            <a:ext cx="3017520" cy="347472"/>
          </a:xfrm>
          <a:prstGeom prst="rect">
            <a:avLst/>
          </a:prstGeom>
          <a:noFill/>
          <a:ln/>
        </p:spPr>
        <p:txBody>
          <a:bodyPr wrap="square" lIns="0" tIns="0" rIns="0" bIns="0" rtlCol="0" anchor="t"/>
          <a:lstStyle/>
          <a:p>
            <a:pPr marL="0" indent="0" algn="l">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Bộ phận kho</a:t>
            </a:r>
            <a:endParaRPr lang="en-US" sz="1600" dirty="0"/>
          </a:p>
        </p:txBody>
      </p:sp>
      <p:sp>
        <p:nvSpPr>
          <p:cNvPr id="33" name="Text 29"/>
          <p:cNvSpPr/>
          <p:nvPr/>
        </p:nvSpPr>
        <p:spPr>
          <a:xfrm>
            <a:off x="7726680" y="3657854"/>
            <a:ext cx="3566160" cy="51511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Nhận thông báo tức thì để chuẩn bị và xuất</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vật tư theo lệnh.</a:t>
            </a:r>
            <a:endParaRPr lang="en-US" sz="1200" dirty="0"/>
          </a:p>
        </p:txBody>
      </p:sp>
      <p:sp>
        <p:nvSpPr>
          <p:cNvPr id="34" name="Shape 30"/>
          <p:cNvSpPr/>
          <p:nvPr/>
        </p:nvSpPr>
        <p:spPr>
          <a:xfrm>
            <a:off x="7452360" y="4627118"/>
            <a:ext cx="4023360" cy="1517904"/>
          </a:xfrm>
          <a:prstGeom prst="roundRect">
            <a:avLst>
              <a:gd name="adj" fmla="val 7229"/>
            </a:avLst>
          </a:prstGeom>
          <a:solidFill>
            <a:srgbClr val="091B2D">
              <a:alpha val="66000"/>
            </a:srgbClr>
          </a:solidFill>
          <a:ln w="12700">
            <a:solidFill>
              <a:srgbClr val="FFFFFF">
                <a:alpha val="12000"/>
              </a:srgbClr>
            </a:solidFill>
            <a:prstDash val="solid"/>
          </a:ln>
        </p:spPr>
      </p:sp>
      <p:sp>
        <p:nvSpPr>
          <p:cNvPr id="35" name="Shape 31"/>
          <p:cNvSpPr/>
          <p:nvPr/>
        </p:nvSpPr>
        <p:spPr>
          <a:xfrm>
            <a:off x="7452360" y="4627118"/>
            <a:ext cx="50292" cy="1517904"/>
          </a:xfrm>
          <a:prstGeom prst="roundRect">
            <a:avLst>
              <a:gd name="adj" fmla="val 54545"/>
            </a:avLst>
          </a:prstGeom>
          <a:solidFill>
            <a:srgbClr val="FB923C">
              <a:alpha val="95000"/>
            </a:srgbClr>
          </a:solidFill>
          <a:ln/>
        </p:spPr>
      </p:sp>
      <p:sp>
        <p:nvSpPr>
          <p:cNvPr id="36" name="Shape 32"/>
          <p:cNvSpPr/>
          <p:nvPr/>
        </p:nvSpPr>
        <p:spPr>
          <a:xfrm>
            <a:off x="7726680" y="4864862"/>
            <a:ext cx="420624" cy="420624"/>
          </a:xfrm>
          <a:prstGeom prst="roundRect">
            <a:avLst>
              <a:gd name="adj" fmla="val 50000"/>
            </a:avLst>
          </a:prstGeom>
          <a:solidFill>
            <a:srgbClr val="04101F">
              <a:alpha val="88000"/>
            </a:srgbClr>
          </a:solidFill>
          <a:ln/>
        </p:spPr>
      </p:sp>
      <p:sp>
        <p:nvSpPr>
          <p:cNvPr id="37" name="Shape 33"/>
          <p:cNvSpPr/>
          <p:nvPr/>
        </p:nvSpPr>
        <p:spPr>
          <a:xfrm>
            <a:off x="7726680" y="4864862"/>
            <a:ext cx="420624" cy="420624"/>
          </a:xfrm>
          <a:prstGeom prst="roundRect">
            <a:avLst>
              <a:gd name="adj" fmla="val 50000"/>
            </a:avLst>
          </a:prstGeom>
          <a:solidFill>
            <a:srgbClr val="FB923C">
              <a:alpha val="20000"/>
            </a:srgbClr>
          </a:solidFill>
          <a:ln w="15240">
            <a:solidFill>
              <a:srgbClr val="FB923C">
                <a:alpha val="70000"/>
              </a:srgbClr>
            </a:solidFill>
            <a:prstDash val="solid"/>
          </a:ln>
        </p:spPr>
      </p:sp>
      <p:sp>
        <p:nvSpPr>
          <p:cNvPr id="38" name="Text 34"/>
          <p:cNvSpPr/>
          <p:nvPr/>
        </p:nvSpPr>
        <p:spPr>
          <a:xfrm>
            <a:off x="7680960" y="4938014"/>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FB923C"/>
                </a:solidFill>
                <a:latin typeface="Be Vietnam Pro" pitchFamily="34" charset="0"/>
                <a:ea typeface="Be Vietnam Pro" pitchFamily="34" charset="-122"/>
                <a:cs typeface="Be Vietnam Pro" pitchFamily="34" charset="-120"/>
              </a:rPr>
              <a:t>04</a:t>
            </a:r>
            <a:endParaRPr lang="en-US" sz="1500" dirty="0"/>
          </a:p>
        </p:txBody>
      </p:sp>
      <p:sp>
        <p:nvSpPr>
          <p:cNvPr id="39" name="Text 35"/>
          <p:cNvSpPr/>
          <p:nvPr/>
        </p:nvSpPr>
        <p:spPr>
          <a:xfrm>
            <a:off x="8275320" y="4910582"/>
            <a:ext cx="3017520" cy="347472"/>
          </a:xfrm>
          <a:prstGeom prst="rect">
            <a:avLst/>
          </a:prstGeom>
          <a:noFill/>
          <a:ln/>
        </p:spPr>
        <p:txBody>
          <a:bodyPr wrap="square" lIns="0" tIns="0" rIns="0" bIns="0" rtlCol="0" anchor="t"/>
          <a:lstStyle/>
          <a:p>
            <a:pPr marL="0" indent="0" algn="l">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Đội cứu hộ</a:t>
            </a:r>
            <a:endParaRPr lang="en-US" sz="1600" dirty="0"/>
          </a:p>
        </p:txBody>
      </p:sp>
      <p:sp>
        <p:nvSpPr>
          <p:cNvPr id="40" name="Text 36"/>
          <p:cNvSpPr/>
          <p:nvPr/>
        </p:nvSpPr>
        <p:spPr>
          <a:xfrm>
            <a:off x="7726680" y="5450078"/>
            <a:ext cx="3566160" cy="51511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Nhận nhiệm vụ, danh sách vật tư và vị trí kho</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trên bản đồ.</a:t>
            </a:r>
            <a:endParaRPr lang="en-US" sz="1200" dirty="0"/>
          </a:p>
        </p:txBody>
      </p:sp>
      <p:sp>
        <p:nvSpPr>
          <p:cNvPr id="41" name="Shape 37"/>
          <p:cNvSpPr/>
          <p:nvPr/>
        </p:nvSpPr>
        <p:spPr>
          <a:xfrm rot="5400000">
            <a:off x="3589020" y="4371086"/>
            <a:ext cx="237744" cy="237744"/>
          </a:xfrm>
          <a:prstGeom prst="triangle">
            <a:avLst/>
          </a:prstGeom>
          <a:solidFill>
            <a:srgbClr val="22C55E">
              <a:alpha val="80000"/>
            </a:srgbClr>
          </a:solidFill>
          <a:ln/>
        </p:spPr>
      </p:sp>
      <p:sp>
        <p:nvSpPr>
          <p:cNvPr id="42" name="Shape 38"/>
          <p:cNvSpPr/>
          <p:nvPr/>
        </p:nvSpPr>
        <p:spPr>
          <a:xfrm>
            <a:off x="6940296" y="4479900"/>
            <a:ext cx="219456" cy="20117"/>
          </a:xfrm>
          <a:prstGeom prst="rect">
            <a:avLst/>
          </a:prstGeom>
          <a:solidFill>
            <a:srgbClr val="2E7D55">
              <a:alpha val="85000"/>
            </a:srgbClr>
          </a:solidFill>
          <a:ln/>
        </p:spPr>
      </p:sp>
      <p:sp>
        <p:nvSpPr>
          <p:cNvPr id="43" name="Shape 39"/>
          <p:cNvSpPr/>
          <p:nvPr/>
        </p:nvSpPr>
        <p:spPr>
          <a:xfrm>
            <a:off x="7149694" y="3593846"/>
            <a:ext cx="20117" cy="1792224"/>
          </a:xfrm>
          <a:prstGeom prst="rect">
            <a:avLst/>
          </a:prstGeom>
          <a:solidFill>
            <a:srgbClr val="2E7D55">
              <a:alpha val="85000"/>
            </a:srgbClr>
          </a:solidFill>
          <a:ln/>
        </p:spPr>
      </p:sp>
      <p:sp>
        <p:nvSpPr>
          <p:cNvPr id="44" name="Shape 40"/>
          <p:cNvSpPr/>
          <p:nvPr/>
        </p:nvSpPr>
        <p:spPr>
          <a:xfrm>
            <a:off x="7159752" y="3583788"/>
            <a:ext cx="73152" cy="20117"/>
          </a:xfrm>
          <a:prstGeom prst="rect">
            <a:avLst/>
          </a:prstGeom>
          <a:solidFill>
            <a:srgbClr val="2E7D55">
              <a:alpha val="85000"/>
            </a:srgbClr>
          </a:solidFill>
          <a:ln/>
        </p:spPr>
      </p:sp>
      <p:sp>
        <p:nvSpPr>
          <p:cNvPr id="45" name="Shape 41"/>
          <p:cNvSpPr/>
          <p:nvPr/>
        </p:nvSpPr>
        <p:spPr>
          <a:xfrm rot="5400000">
            <a:off x="7205472" y="3474974"/>
            <a:ext cx="237744" cy="237744"/>
          </a:xfrm>
          <a:prstGeom prst="triangle">
            <a:avLst/>
          </a:prstGeom>
          <a:solidFill>
            <a:srgbClr val="22C55E">
              <a:alpha val="80000"/>
            </a:srgbClr>
          </a:solidFill>
          <a:ln/>
        </p:spPr>
      </p:sp>
      <p:sp>
        <p:nvSpPr>
          <p:cNvPr id="46" name="Shape 42"/>
          <p:cNvSpPr/>
          <p:nvPr/>
        </p:nvSpPr>
        <p:spPr>
          <a:xfrm>
            <a:off x="7159752" y="5376012"/>
            <a:ext cx="73152" cy="20117"/>
          </a:xfrm>
          <a:prstGeom prst="rect">
            <a:avLst/>
          </a:prstGeom>
          <a:solidFill>
            <a:srgbClr val="2E7D55">
              <a:alpha val="85000"/>
            </a:srgbClr>
          </a:solidFill>
          <a:ln/>
        </p:spPr>
      </p:sp>
      <p:sp>
        <p:nvSpPr>
          <p:cNvPr id="47" name="Shape 43"/>
          <p:cNvSpPr/>
          <p:nvPr/>
        </p:nvSpPr>
        <p:spPr>
          <a:xfrm rot="5400000">
            <a:off x="7205472" y="5267198"/>
            <a:ext cx="237744" cy="237744"/>
          </a:xfrm>
          <a:prstGeom prst="triangle">
            <a:avLst/>
          </a:prstGeom>
          <a:solidFill>
            <a:srgbClr val="22C55E">
              <a:alpha val="80000"/>
            </a:srgbClr>
          </a:solidFill>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44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44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44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66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66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66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66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66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660"/>
                                  </p:stCondLst>
                                  <p:childTnLst>
                                    <p:set>
                                      <p:cBhvr>
                                        <p:cTn id="57" dur="1" fill="hold">
                                          <p:stCondLst>
                                            <p:cond delay="0"/>
                                          </p:stCondLst>
                                        </p:cTn>
                                        <p:tgtEl>
                                          <p:spTgt spid="41"/>
                                        </p:tgtEl>
                                        <p:attrNameLst>
                                          <p:attrName>style.visibility</p:attrName>
                                        </p:attrNameLst>
                                      </p:cBhvr>
                                      <p:to>
                                        <p:strVal val="visible"/>
                                      </p:to>
                                    </p:set>
                                    <p:animEffect transition="in" filter="fade">
                                      <p:cBhvr>
                                        <p:cTn id="58" dur="400"/>
                                        <p:tgtEl>
                                          <p:spTgt spid="41"/>
                                        </p:tgtEl>
                                      </p:cBhvr>
                                    </p:animEffect>
                                  </p:childTnLst>
                                </p:cTn>
                              </p:par>
                              <p:par>
                                <p:cTn id="59" presetID="10" presetClass="entr" presetSubtype="0" fill="hold" nodeType="withEffect">
                                  <p:stCondLst>
                                    <p:cond delay="660"/>
                                  </p:stCondLst>
                                  <p:childTnLst>
                                    <p:set>
                                      <p:cBhvr>
                                        <p:cTn id="60" dur="1" fill="hold">
                                          <p:stCondLst>
                                            <p:cond delay="0"/>
                                          </p:stCondLst>
                                        </p:cTn>
                                        <p:tgtEl>
                                          <p:spTgt spid="42"/>
                                        </p:tgtEl>
                                        <p:attrNameLst>
                                          <p:attrName>style.visibility</p:attrName>
                                        </p:attrNameLst>
                                      </p:cBhvr>
                                      <p:to>
                                        <p:strVal val="visible"/>
                                      </p:to>
                                    </p:set>
                                    <p:animEffect transition="in" filter="fade">
                                      <p:cBhvr>
                                        <p:cTn id="61" dur="400"/>
                                        <p:tgtEl>
                                          <p:spTgt spid="42"/>
                                        </p:tgtEl>
                                      </p:cBhvr>
                                    </p:animEffect>
                                  </p:childTnLst>
                                </p:cTn>
                              </p:par>
                              <p:par>
                                <p:cTn id="62" presetID="10" presetClass="entr" presetSubtype="0" fill="hold" nodeType="withEffect">
                                  <p:stCondLst>
                                    <p:cond delay="88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par>
                                <p:cTn id="65" presetID="10" presetClass="entr" presetSubtype="0" fill="hold" nodeType="withEffect">
                                  <p:stCondLst>
                                    <p:cond delay="88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400"/>
                                        <p:tgtEl>
                                          <p:spTgt spid="28"/>
                                        </p:tgtEl>
                                      </p:cBhvr>
                                    </p:animEffect>
                                  </p:childTnLst>
                                </p:cTn>
                              </p:par>
                              <p:par>
                                <p:cTn id="68" presetID="10" presetClass="entr" presetSubtype="0" fill="hold" nodeType="withEffect">
                                  <p:stCondLst>
                                    <p:cond delay="880"/>
                                  </p:stCondLst>
                                  <p:childTnLst>
                                    <p:set>
                                      <p:cBhvr>
                                        <p:cTn id="69" dur="1" fill="hold">
                                          <p:stCondLst>
                                            <p:cond delay="0"/>
                                          </p:stCondLst>
                                        </p:cTn>
                                        <p:tgtEl>
                                          <p:spTgt spid="29"/>
                                        </p:tgtEl>
                                        <p:attrNameLst>
                                          <p:attrName>style.visibility</p:attrName>
                                        </p:attrNameLst>
                                      </p:cBhvr>
                                      <p:to>
                                        <p:strVal val="visible"/>
                                      </p:to>
                                    </p:set>
                                    <p:animEffect transition="in" filter="fade">
                                      <p:cBhvr>
                                        <p:cTn id="70" dur="400"/>
                                        <p:tgtEl>
                                          <p:spTgt spid="29"/>
                                        </p:tgtEl>
                                      </p:cBhvr>
                                    </p:animEffect>
                                  </p:childTnLst>
                                </p:cTn>
                              </p:par>
                              <p:par>
                                <p:cTn id="71" presetID="10" presetClass="entr" presetSubtype="0" fill="hold" nodeType="withEffect">
                                  <p:stCondLst>
                                    <p:cond delay="880"/>
                                  </p:stCondLst>
                                  <p:childTnLst>
                                    <p:set>
                                      <p:cBhvr>
                                        <p:cTn id="72" dur="1" fill="hold">
                                          <p:stCondLst>
                                            <p:cond delay="0"/>
                                          </p:stCondLst>
                                        </p:cTn>
                                        <p:tgtEl>
                                          <p:spTgt spid="30"/>
                                        </p:tgtEl>
                                        <p:attrNameLst>
                                          <p:attrName>style.visibility</p:attrName>
                                        </p:attrNameLst>
                                      </p:cBhvr>
                                      <p:to>
                                        <p:strVal val="visible"/>
                                      </p:to>
                                    </p:set>
                                    <p:animEffect transition="in" filter="fade">
                                      <p:cBhvr>
                                        <p:cTn id="73" dur="400"/>
                                        <p:tgtEl>
                                          <p:spTgt spid="30"/>
                                        </p:tgtEl>
                                      </p:cBhvr>
                                    </p:animEffect>
                                  </p:childTnLst>
                                </p:cTn>
                              </p:par>
                              <p:par>
                                <p:cTn id="74" presetID="10" presetClass="entr" presetSubtype="0" fill="hold" nodeType="withEffect">
                                  <p:stCondLst>
                                    <p:cond delay="880"/>
                                  </p:stCondLst>
                                  <p:childTnLst>
                                    <p:set>
                                      <p:cBhvr>
                                        <p:cTn id="75" dur="1" fill="hold">
                                          <p:stCondLst>
                                            <p:cond delay="0"/>
                                          </p:stCondLst>
                                        </p:cTn>
                                        <p:tgtEl>
                                          <p:spTgt spid="31"/>
                                        </p:tgtEl>
                                        <p:attrNameLst>
                                          <p:attrName>style.visibility</p:attrName>
                                        </p:attrNameLst>
                                      </p:cBhvr>
                                      <p:to>
                                        <p:strVal val="visible"/>
                                      </p:to>
                                    </p:set>
                                    <p:animEffect transition="in" filter="fade">
                                      <p:cBhvr>
                                        <p:cTn id="76" dur="400"/>
                                        <p:tgtEl>
                                          <p:spTgt spid="31"/>
                                        </p:tgtEl>
                                      </p:cBhvr>
                                    </p:animEffect>
                                  </p:childTnLst>
                                </p:cTn>
                              </p:par>
                              <p:par>
                                <p:cTn id="77" presetID="10" presetClass="entr" presetSubtype="0" fill="hold" nodeType="withEffect">
                                  <p:stCondLst>
                                    <p:cond delay="88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400"/>
                                        <p:tgtEl>
                                          <p:spTgt spid="32"/>
                                        </p:tgtEl>
                                      </p:cBhvr>
                                    </p:animEffect>
                                  </p:childTnLst>
                                </p:cTn>
                              </p:par>
                              <p:par>
                                <p:cTn id="80" presetID="10" presetClass="entr" presetSubtype="0" fill="hold" nodeType="withEffect">
                                  <p:stCondLst>
                                    <p:cond delay="880"/>
                                  </p:stCondLst>
                                  <p:childTnLst>
                                    <p:set>
                                      <p:cBhvr>
                                        <p:cTn id="81" dur="1" fill="hold">
                                          <p:stCondLst>
                                            <p:cond delay="0"/>
                                          </p:stCondLst>
                                        </p:cTn>
                                        <p:tgtEl>
                                          <p:spTgt spid="33"/>
                                        </p:tgtEl>
                                        <p:attrNameLst>
                                          <p:attrName>style.visibility</p:attrName>
                                        </p:attrNameLst>
                                      </p:cBhvr>
                                      <p:to>
                                        <p:strVal val="visible"/>
                                      </p:to>
                                    </p:set>
                                    <p:animEffect transition="in" filter="fade">
                                      <p:cBhvr>
                                        <p:cTn id="82" dur="400"/>
                                        <p:tgtEl>
                                          <p:spTgt spid="33"/>
                                        </p:tgtEl>
                                      </p:cBhvr>
                                    </p:animEffect>
                                  </p:childTnLst>
                                </p:cTn>
                              </p:par>
                              <p:par>
                                <p:cTn id="83" presetID="10" presetClass="entr" presetSubtype="0" fill="hold" nodeType="withEffect">
                                  <p:stCondLst>
                                    <p:cond delay="880"/>
                                  </p:stCondLst>
                                  <p:childTnLst>
                                    <p:set>
                                      <p:cBhvr>
                                        <p:cTn id="84" dur="1" fill="hold">
                                          <p:stCondLst>
                                            <p:cond delay="0"/>
                                          </p:stCondLst>
                                        </p:cTn>
                                        <p:tgtEl>
                                          <p:spTgt spid="44"/>
                                        </p:tgtEl>
                                        <p:attrNameLst>
                                          <p:attrName>style.visibility</p:attrName>
                                        </p:attrNameLst>
                                      </p:cBhvr>
                                      <p:to>
                                        <p:strVal val="visible"/>
                                      </p:to>
                                    </p:set>
                                    <p:animEffect transition="in" filter="fade">
                                      <p:cBhvr>
                                        <p:cTn id="85" dur="400"/>
                                        <p:tgtEl>
                                          <p:spTgt spid="44"/>
                                        </p:tgtEl>
                                      </p:cBhvr>
                                    </p:animEffect>
                                  </p:childTnLst>
                                </p:cTn>
                              </p:par>
                              <p:par>
                                <p:cTn id="86" presetID="10" presetClass="entr" presetSubtype="0" fill="hold" nodeType="withEffect">
                                  <p:stCondLst>
                                    <p:cond delay="880"/>
                                  </p:stCondLst>
                                  <p:childTnLst>
                                    <p:set>
                                      <p:cBhvr>
                                        <p:cTn id="87" dur="1" fill="hold">
                                          <p:stCondLst>
                                            <p:cond delay="0"/>
                                          </p:stCondLst>
                                        </p:cTn>
                                        <p:tgtEl>
                                          <p:spTgt spid="45"/>
                                        </p:tgtEl>
                                        <p:attrNameLst>
                                          <p:attrName>style.visibility</p:attrName>
                                        </p:attrNameLst>
                                      </p:cBhvr>
                                      <p:to>
                                        <p:strVal val="visible"/>
                                      </p:to>
                                    </p:set>
                                    <p:animEffect transition="in" filter="fade">
                                      <p:cBhvr>
                                        <p:cTn id="88" dur="400"/>
                                        <p:tgtEl>
                                          <p:spTgt spid="45"/>
                                        </p:tgtEl>
                                      </p:cBhvr>
                                    </p:animEffect>
                                  </p:childTnLst>
                                </p:cTn>
                              </p:par>
                              <p:par>
                                <p:cTn id="89" presetID="10" presetClass="entr" presetSubtype="0" fill="hold" nodeType="withEffect">
                                  <p:stCondLst>
                                    <p:cond delay="110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400"/>
                                        <p:tgtEl>
                                          <p:spTgt spid="34"/>
                                        </p:tgtEl>
                                      </p:cBhvr>
                                    </p:animEffect>
                                  </p:childTnLst>
                                </p:cTn>
                              </p:par>
                              <p:par>
                                <p:cTn id="92" presetID="10" presetClass="entr" presetSubtype="0" fill="hold" nodeType="withEffect">
                                  <p:stCondLst>
                                    <p:cond delay="110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par>
                                <p:cTn id="95" presetID="10" presetClass="entr" presetSubtype="0" fill="hold" nodeType="withEffect">
                                  <p:stCondLst>
                                    <p:cond delay="1100"/>
                                  </p:stCondLst>
                                  <p:childTnLst>
                                    <p:set>
                                      <p:cBhvr>
                                        <p:cTn id="96" dur="1" fill="hold">
                                          <p:stCondLst>
                                            <p:cond delay="0"/>
                                          </p:stCondLst>
                                        </p:cTn>
                                        <p:tgtEl>
                                          <p:spTgt spid="36"/>
                                        </p:tgtEl>
                                        <p:attrNameLst>
                                          <p:attrName>style.visibility</p:attrName>
                                        </p:attrNameLst>
                                      </p:cBhvr>
                                      <p:to>
                                        <p:strVal val="visible"/>
                                      </p:to>
                                    </p:set>
                                    <p:animEffect transition="in" filter="fade">
                                      <p:cBhvr>
                                        <p:cTn id="97" dur="400"/>
                                        <p:tgtEl>
                                          <p:spTgt spid="36"/>
                                        </p:tgtEl>
                                      </p:cBhvr>
                                    </p:animEffect>
                                  </p:childTnLst>
                                </p:cTn>
                              </p:par>
                              <p:par>
                                <p:cTn id="98" presetID="10" presetClass="entr" presetSubtype="0" fill="hold" nodeType="withEffect">
                                  <p:stCondLst>
                                    <p:cond delay="1100"/>
                                  </p:stCondLst>
                                  <p:childTnLst>
                                    <p:set>
                                      <p:cBhvr>
                                        <p:cTn id="99" dur="1" fill="hold">
                                          <p:stCondLst>
                                            <p:cond delay="0"/>
                                          </p:stCondLst>
                                        </p:cTn>
                                        <p:tgtEl>
                                          <p:spTgt spid="37"/>
                                        </p:tgtEl>
                                        <p:attrNameLst>
                                          <p:attrName>style.visibility</p:attrName>
                                        </p:attrNameLst>
                                      </p:cBhvr>
                                      <p:to>
                                        <p:strVal val="visible"/>
                                      </p:to>
                                    </p:set>
                                    <p:animEffect transition="in" filter="fade">
                                      <p:cBhvr>
                                        <p:cTn id="100" dur="400"/>
                                        <p:tgtEl>
                                          <p:spTgt spid="37"/>
                                        </p:tgtEl>
                                      </p:cBhvr>
                                    </p:animEffect>
                                  </p:childTnLst>
                                </p:cTn>
                              </p:par>
                              <p:par>
                                <p:cTn id="101" presetID="10" presetClass="entr" presetSubtype="0" fill="hold" nodeType="withEffect">
                                  <p:stCondLst>
                                    <p:cond delay="1100"/>
                                  </p:stCondLst>
                                  <p:childTnLst>
                                    <p:set>
                                      <p:cBhvr>
                                        <p:cTn id="102" dur="1" fill="hold">
                                          <p:stCondLst>
                                            <p:cond delay="0"/>
                                          </p:stCondLst>
                                        </p:cTn>
                                        <p:tgtEl>
                                          <p:spTgt spid="38"/>
                                        </p:tgtEl>
                                        <p:attrNameLst>
                                          <p:attrName>style.visibility</p:attrName>
                                        </p:attrNameLst>
                                      </p:cBhvr>
                                      <p:to>
                                        <p:strVal val="visible"/>
                                      </p:to>
                                    </p:set>
                                    <p:animEffect transition="in" filter="fade">
                                      <p:cBhvr>
                                        <p:cTn id="103" dur="400"/>
                                        <p:tgtEl>
                                          <p:spTgt spid="38"/>
                                        </p:tgtEl>
                                      </p:cBhvr>
                                    </p:animEffect>
                                  </p:childTnLst>
                                </p:cTn>
                              </p:par>
                              <p:par>
                                <p:cTn id="104" presetID="10" presetClass="entr" presetSubtype="0" fill="hold" nodeType="withEffect">
                                  <p:stCondLst>
                                    <p:cond delay="1100"/>
                                  </p:stCondLst>
                                  <p:childTnLst>
                                    <p:set>
                                      <p:cBhvr>
                                        <p:cTn id="105" dur="1" fill="hold">
                                          <p:stCondLst>
                                            <p:cond delay="0"/>
                                          </p:stCondLst>
                                        </p:cTn>
                                        <p:tgtEl>
                                          <p:spTgt spid="39"/>
                                        </p:tgtEl>
                                        <p:attrNameLst>
                                          <p:attrName>style.visibility</p:attrName>
                                        </p:attrNameLst>
                                      </p:cBhvr>
                                      <p:to>
                                        <p:strVal val="visible"/>
                                      </p:to>
                                    </p:set>
                                    <p:animEffect transition="in" filter="fade">
                                      <p:cBhvr>
                                        <p:cTn id="106" dur="400"/>
                                        <p:tgtEl>
                                          <p:spTgt spid="39"/>
                                        </p:tgtEl>
                                      </p:cBhvr>
                                    </p:animEffect>
                                  </p:childTnLst>
                                </p:cTn>
                              </p:par>
                              <p:par>
                                <p:cTn id="107" presetID="10" presetClass="entr" presetSubtype="0" fill="hold" nodeType="withEffect">
                                  <p:stCondLst>
                                    <p:cond delay="1100"/>
                                  </p:stCondLst>
                                  <p:childTnLst>
                                    <p:set>
                                      <p:cBhvr>
                                        <p:cTn id="108" dur="1" fill="hold">
                                          <p:stCondLst>
                                            <p:cond delay="0"/>
                                          </p:stCondLst>
                                        </p:cTn>
                                        <p:tgtEl>
                                          <p:spTgt spid="40"/>
                                        </p:tgtEl>
                                        <p:attrNameLst>
                                          <p:attrName>style.visibility</p:attrName>
                                        </p:attrNameLst>
                                      </p:cBhvr>
                                      <p:to>
                                        <p:strVal val="visible"/>
                                      </p:to>
                                    </p:set>
                                    <p:animEffect transition="in" filter="fade">
                                      <p:cBhvr>
                                        <p:cTn id="109" dur="400"/>
                                        <p:tgtEl>
                                          <p:spTgt spid="40"/>
                                        </p:tgtEl>
                                      </p:cBhvr>
                                    </p:animEffect>
                                  </p:childTnLst>
                                </p:cTn>
                              </p:par>
                              <p:par>
                                <p:cTn id="110" presetID="10" presetClass="entr" presetSubtype="0" fill="hold" nodeType="withEffect">
                                  <p:stCondLst>
                                    <p:cond delay="1100"/>
                                  </p:stCondLst>
                                  <p:childTnLst>
                                    <p:set>
                                      <p:cBhvr>
                                        <p:cTn id="111" dur="1" fill="hold">
                                          <p:stCondLst>
                                            <p:cond delay="0"/>
                                          </p:stCondLst>
                                        </p:cTn>
                                        <p:tgtEl>
                                          <p:spTgt spid="43"/>
                                        </p:tgtEl>
                                        <p:attrNameLst>
                                          <p:attrName>style.visibility</p:attrName>
                                        </p:attrNameLst>
                                      </p:cBhvr>
                                      <p:to>
                                        <p:strVal val="visible"/>
                                      </p:to>
                                    </p:set>
                                    <p:animEffect transition="in" filter="fade">
                                      <p:cBhvr>
                                        <p:cTn id="112" dur="400"/>
                                        <p:tgtEl>
                                          <p:spTgt spid="43"/>
                                        </p:tgtEl>
                                      </p:cBhvr>
                                    </p:animEffect>
                                  </p:childTnLst>
                                </p:cTn>
                              </p:par>
                              <p:par>
                                <p:cTn id="113" presetID="10" presetClass="entr" presetSubtype="0" fill="hold" nodeType="withEffect">
                                  <p:stCondLst>
                                    <p:cond delay="110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400"/>
                                        <p:tgtEl>
                                          <p:spTgt spid="46"/>
                                        </p:tgtEl>
                                      </p:cBhvr>
                                    </p:animEffect>
                                  </p:childTnLst>
                                </p:cTn>
                              </p:par>
                              <p:par>
                                <p:cTn id="116" presetID="10" presetClass="entr" presetSubtype="0" fill="hold" nodeType="withEffect">
                                  <p:stCondLst>
                                    <p:cond delay="110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07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TOÀN BỘ 6 BƯỚC</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Nhiệm vụ được theo dõi minh bạch từ đầu đến cuối</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19" name="Shape 15"/>
          <p:cNvSpPr/>
          <p:nvPr/>
        </p:nvSpPr>
        <p:spPr>
          <a:xfrm>
            <a:off x="713232" y="2220214"/>
            <a:ext cx="50292" cy="1737360"/>
          </a:xfrm>
          <a:prstGeom prst="roundRect">
            <a:avLst>
              <a:gd name="adj" fmla="val 54545"/>
            </a:avLst>
          </a:prstGeom>
          <a:solidFill>
            <a:srgbClr val="22C55E">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26" name="Shape 22"/>
          <p:cNvSpPr/>
          <p:nvPr/>
        </p:nvSpPr>
        <p:spPr>
          <a:xfrm>
            <a:off x="4405274" y="2220214"/>
            <a:ext cx="50292" cy="1737360"/>
          </a:xfrm>
          <a:prstGeom prst="roundRect">
            <a:avLst>
              <a:gd name="adj" fmla="val 54545"/>
            </a:avLst>
          </a:prstGeom>
          <a:solidFill>
            <a:srgbClr val="22C55E">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33" name="Shape 29"/>
          <p:cNvSpPr/>
          <p:nvPr/>
        </p:nvSpPr>
        <p:spPr>
          <a:xfrm>
            <a:off x="8097317" y="2220214"/>
            <a:ext cx="50292" cy="1737360"/>
          </a:xfrm>
          <a:prstGeom prst="roundRect">
            <a:avLst>
              <a:gd name="adj" fmla="val 54545"/>
            </a:avLst>
          </a:prstGeom>
          <a:solidFill>
            <a:srgbClr val="22C55E">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97317" y="4359910"/>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40" name="Shape 36"/>
          <p:cNvSpPr/>
          <p:nvPr/>
        </p:nvSpPr>
        <p:spPr>
          <a:xfrm>
            <a:off x="8097317" y="4359910"/>
            <a:ext cx="50292" cy="1737360"/>
          </a:xfrm>
          <a:prstGeom prst="roundRect">
            <a:avLst>
              <a:gd name="adj" fmla="val 54545"/>
            </a:avLst>
          </a:prstGeom>
          <a:solidFill>
            <a:srgbClr val="22C55E">
              <a:alpha val="95000"/>
            </a:srgbClr>
          </a:solidFill>
          <a:ln/>
        </p:spPr>
      </p:sp>
      <p:sp>
        <p:nvSpPr>
          <p:cNvPr id="41" name="Shape 37"/>
          <p:cNvSpPr/>
          <p:nvPr/>
        </p:nvSpPr>
        <p:spPr>
          <a:xfrm>
            <a:off x="8371637" y="4579366"/>
            <a:ext cx="420624" cy="420624"/>
          </a:xfrm>
          <a:prstGeom prst="roundRect">
            <a:avLst>
              <a:gd name="adj" fmla="val 50000"/>
            </a:avLst>
          </a:prstGeom>
          <a:solidFill>
            <a:srgbClr val="04101F">
              <a:alpha val="88000"/>
            </a:srgbClr>
          </a:solidFill>
          <a:ln/>
        </p:spPr>
      </p:sp>
      <p:sp>
        <p:nvSpPr>
          <p:cNvPr id="42" name="Shape 38"/>
          <p:cNvSpPr/>
          <p:nvPr/>
        </p:nvSpPr>
        <p:spPr>
          <a:xfrm>
            <a:off x="8371637"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43" name="Text 39"/>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4</a:t>
            </a:r>
            <a:endParaRPr lang="en-US" sz="1500" dirty="0"/>
          </a:p>
        </p:txBody>
      </p:sp>
      <p:sp>
        <p:nvSpPr>
          <p:cNvPr id="44" name="Text 40"/>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5" name="Text 41"/>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lúc.</a:t>
            </a:r>
            <a:endParaRPr lang="en-US" sz="1150" dirty="0"/>
          </a:p>
        </p:txBody>
      </p:sp>
      <p:sp>
        <p:nvSpPr>
          <p:cNvPr id="46" name="Shape 42"/>
          <p:cNvSpPr/>
          <p:nvPr/>
        </p:nvSpPr>
        <p:spPr>
          <a:xfrm>
            <a:off x="4405274" y="4359910"/>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47" name="Shape 43"/>
          <p:cNvSpPr/>
          <p:nvPr/>
        </p:nvSpPr>
        <p:spPr>
          <a:xfrm>
            <a:off x="4405274" y="4359910"/>
            <a:ext cx="50292" cy="1737360"/>
          </a:xfrm>
          <a:prstGeom prst="roundRect">
            <a:avLst>
              <a:gd name="adj" fmla="val 54545"/>
            </a:avLst>
          </a:prstGeom>
          <a:solidFill>
            <a:srgbClr val="22C55E">
              <a:alpha val="95000"/>
            </a:srgbClr>
          </a:solidFill>
          <a:ln/>
        </p:spPr>
      </p:sp>
      <p:sp>
        <p:nvSpPr>
          <p:cNvPr id="48" name="Shape 44"/>
          <p:cNvSpPr/>
          <p:nvPr/>
        </p:nvSpPr>
        <p:spPr>
          <a:xfrm>
            <a:off x="4679594" y="4579366"/>
            <a:ext cx="420624" cy="420624"/>
          </a:xfrm>
          <a:prstGeom prst="roundRect">
            <a:avLst>
              <a:gd name="adj" fmla="val 50000"/>
            </a:avLst>
          </a:prstGeom>
          <a:solidFill>
            <a:srgbClr val="04101F">
              <a:alpha val="88000"/>
            </a:srgbClr>
          </a:solidFill>
          <a:ln/>
        </p:spPr>
      </p:sp>
      <p:sp>
        <p:nvSpPr>
          <p:cNvPr id="49" name="Shape 45"/>
          <p:cNvSpPr/>
          <p:nvPr/>
        </p:nvSpPr>
        <p:spPr>
          <a:xfrm>
            <a:off x="4679594"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0" name="Text 46"/>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5</a:t>
            </a:r>
            <a:endParaRPr lang="en-US" sz="1500" dirty="0"/>
          </a:p>
        </p:txBody>
      </p:sp>
      <p:sp>
        <p:nvSpPr>
          <p:cNvPr id="51" name="Text 47"/>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thành</a:t>
            </a:r>
            <a:endParaRPr lang="en-US" sz="1400" dirty="0"/>
          </a:p>
        </p:txBody>
      </p:sp>
      <p:sp>
        <p:nvSpPr>
          <p:cNvPr id="52" name="Text 48"/>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tại hiện trường.</a:t>
            </a:r>
            <a:endParaRPr lang="en-US" sz="1150" dirty="0"/>
          </a:p>
        </p:txBody>
      </p:sp>
      <p:sp>
        <p:nvSpPr>
          <p:cNvPr id="53" name="Shape 49"/>
          <p:cNvSpPr/>
          <p:nvPr/>
        </p:nvSpPr>
        <p:spPr>
          <a:xfrm>
            <a:off x="713232" y="4359910"/>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54" name="Shape 50"/>
          <p:cNvSpPr/>
          <p:nvPr/>
        </p:nvSpPr>
        <p:spPr>
          <a:xfrm>
            <a:off x="713232" y="4359910"/>
            <a:ext cx="50292" cy="1737360"/>
          </a:xfrm>
          <a:prstGeom prst="roundRect">
            <a:avLst>
              <a:gd name="adj" fmla="val 54545"/>
            </a:avLst>
          </a:prstGeom>
          <a:solidFill>
            <a:srgbClr val="22C55E">
              <a:alpha val="95000"/>
            </a:srgbClr>
          </a:solidFill>
          <a:ln/>
        </p:spPr>
      </p:sp>
      <p:sp>
        <p:nvSpPr>
          <p:cNvPr id="55" name="Shape 51"/>
          <p:cNvSpPr/>
          <p:nvPr/>
        </p:nvSpPr>
        <p:spPr>
          <a:xfrm>
            <a:off x="987552" y="4579366"/>
            <a:ext cx="420624" cy="420624"/>
          </a:xfrm>
          <a:prstGeom prst="roundRect">
            <a:avLst>
              <a:gd name="adj" fmla="val 50000"/>
            </a:avLst>
          </a:prstGeom>
          <a:solidFill>
            <a:srgbClr val="04101F">
              <a:alpha val="88000"/>
            </a:srgbClr>
          </a:solidFill>
          <a:ln/>
        </p:spPr>
      </p:sp>
      <p:sp>
        <p:nvSpPr>
          <p:cNvPr id="56" name="Shape 52"/>
          <p:cNvSpPr/>
          <p:nvPr/>
        </p:nvSpPr>
        <p:spPr>
          <a:xfrm>
            <a:off x="987552"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7" name="Text 53"/>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6</a:t>
            </a:r>
            <a:endParaRPr lang="en-US" sz="1500" dirty="0"/>
          </a:p>
        </p:txBody>
      </p:sp>
      <p:sp>
        <p:nvSpPr>
          <p:cNvPr id="58" name="Text 54"/>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vật tư</a:t>
            </a:r>
            <a:endParaRPr lang="en-US" sz="1400" dirty="0"/>
          </a:p>
        </p:txBody>
      </p:sp>
      <p:sp>
        <p:nvSpPr>
          <p:cNvPr id="59" name="Text 55"/>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4" presetID="10" presetClass="entr" presetSubtype="0" fill="hold" nodeType="withEffect">
                                  <p:stCondLst>
                                    <p:cond delay="44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17" presetID="10" presetClass="entr" presetSubtype="0" fill="hold" nodeType="withEffect">
                                  <p:stCondLst>
                                    <p:cond delay="44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0" presetID="10" presetClass="entr" presetSubtype="0" fill="hold" nodeType="withEffect">
                                  <p:stCondLst>
                                    <p:cond delay="4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44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6" presetID="10" presetClass="entr" presetSubtype="0" fill="hold" nodeType="withEffect">
                                  <p:stCondLst>
                                    <p:cond delay="4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29" presetID="10" presetClass="entr" presetSubtype="0" fill="hold" nodeType="withEffect">
                                  <p:stCondLst>
                                    <p:cond delay="44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66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66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par>
                                <p:cTn id="38" presetID="10" presetClass="entr" presetSubtype="0" fill="hold" nodeType="withEffect">
                                  <p:stCondLst>
                                    <p:cond delay="66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400"/>
                                        <p:tgtEl>
                                          <p:spTgt spid="26"/>
                                        </p:tgtEl>
                                      </p:cBhvr>
                                    </p:animEffect>
                                  </p:childTnLst>
                                </p:cTn>
                              </p:par>
                              <p:par>
                                <p:cTn id="41" presetID="10" presetClass="entr" presetSubtype="0" fill="hold" nodeType="withEffect">
                                  <p:stCondLst>
                                    <p:cond delay="66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400"/>
                                        <p:tgtEl>
                                          <p:spTgt spid="27"/>
                                        </p:tgtEl>
                                      </p:cBhvr>
                                    </p:animEffect>
                                  </p:childTnLst>
                                </p:cTn>
                              </p:par>
                              <p:par>
                                <p:cTn id="44" presetID="10" presetClass="entr" presetSubtype="0" fill="hold" nodeType="withEffect">
                                  <p:stCondLst>
                                    <p:cond delay="66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400"/>
                                        <p:tgtEl>
                                          <p:spTgt spid="28"/>
                                        </p:tgtEl>
                                      </p:cBhvr>
                                    </p:animEffect>
                                  </p:childTnLst>
                                </p:cTn>
                              </p:par>
                              <p:par>
                                <p:cTn id="47" presetID="10" presetClass="entr" presetSubtype="0" fill="hold" nodeType="withEffect">
                                  <p:stCondLst>
                                    <p:cond delay="66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400"/>
                                        <p:tgtEl>
                                          <p:spTgt spid="29"/>
                                        </p:tgtEl>
                                      </p:cBhvr>
                                    </p:animEffect>
                                  </p:childTnLst>
                                </p:cTn>
                              </p:par>
                              <p:par>
                                <p:cTn id="50" presetID="10" presetClass="entr" presetSubtype="0" fill="hold" nodeType="withEffect">
                                  <p:stCondLst>
                                    <p:cond delay="660"/>
                                  </p:stCondLst>
                                  <p:childTnLst>
                                    <p:set>
                                      <p:cBhvr>
                                        <p:cTn id="51" dur="1" fill="hold">
                                          <p:stCondLst>
                                            <p:cond delay="0"/>
                                          </p:stCondLst>
                                        </p:cTn>
                                        <p:tgtEl>
                                          <p:spTgt spid="30"/>
                                        </p:tgtEl>
                                        <p:attrNameLst>
                                          <p:attrName>style.visibility</p:attrName>
                                        </p:attrNameLst>
                                      </p:cBhvr>
                                      <p:to>
                                        <p:strVal val="visible"/>
                                      </p:to>
                                    </p:set>
                                    <p:animEffect transition="in" filter="fade">
                                      <p:cBhvr>
                                        <p:cTn id="52" dur="400"/>
                                        <p:tgtEl>
                                          <p:spTgt spid="30"/>
                                        </p:tgtEl>
                                      </p:cBhvr>
                                    </p:animEffect>
                                  </p:childTnLst>
                                </p:cTn>
                              </p:par>
                              <p:par>
                                <p:cTn id="53" presetID="10" presetClass="entr" presetSubtype="0" fill="hold" nodeType="withEffect">
                                  <p:stCondLst>
                                    <p:cond delay="66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400"/>
                                        <p:tgtEl>
                                          <p:spTgt spid="31"/>
                                        </p:tgtEl>
                                      </p:cBhvr>
                                    </p:animEffect>
                                  </p:childTnLst>
                                </p:cTn>
                              </p:par>
                              <p:par>
                                <p:cTn id="56" presetID="10" presetClass="entr" presetSubtype="0" fill="hold" nodeType="withEffect">
                                  <p:stCondLst>
                                    <p:cond delay="88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400"/>
                                        <p:tgtEl>
                                          <p:spTgt spid="14"/>
                                        </p:tgtEl>
                                      </p:cBhvr>
                                    </p:animEffect>
                                  </p:childTnLst>
                                </p:cTn>
                              </p:par>
                              <p:par>
                                <p:cTn id="59" presetID="10" presetClass="entr" presetSubtype="0" fill="hold" nodeType="withEffect">
                                  <p:stCondLst>
                                    <p:cond delay="88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400"/>
                                        <p:tgtEl>
                                          <p:spTgt spid="32"/>
                                        </p:tgtEl>
                                      </p:cBhvr>
                                    </p:animEffect>
                                  </p:childTnLst>
                                </p:cTn>
                              </p:par>
                              <p:par>
                                <p:cTn id="62" presetID="10" presetClass="entr" presetSubtype="0" fill="hold" nodeType="withEffect">
                                  <p:stCondLst>
                                    <p:cond delay="88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400"/>
                                        <p:tgtEl>
                                          <p:spTgt spid="33"/>
                                        </p:tgtEl>
                                      </p:cBhvr>
                                    </p:animEffect>
                                  </p:childTnLst>
                                </p:cTn>
                              </p:par>
                              <p:par>
                                <p:cTn id="65" presetID="10" presetClass="entr" presetSubtype="0" fill="hold" nodeType="withEffect">
                                  <p:stCondLst>
                                    <p:cond delay="88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68" presetID="10" presetClass="entr" presetSubtype="0" fill="hold" nodeType="withEffect">
                                  <p:stCondLst>
                                    <p:cond delay="88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400"/>
                                        <p:tgtEl>
                                          <p:spTgt spid="35"/>
                                        </p:tgtEl>
                                      </p:cBhvr>
                                    </p:animEffect>
                                  </p:childTnLst>
                                </p:cTn>
                              </p:par>
                              <p:par>
                                <p:cTn id="71" presetID="10" presetClass="entr" presetSubtype="0" fill="hold" nodeType="withEffect">
                                  <p:stCondLst>
                                    <p:cond delay="88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400"/>
                                        <p:tgtEl>
                                          <p:spTgt spid="36"/>
                                        </p:tgtEl>
                                      </p:cBhvr>
                                    </p:animEffect>
                                  </p:childTnLst>
                                </p:cTn>
                              </p:par>
                              <p:par>
                                <p:cTn id="74" presetID="10" presetClass="entr" presetSubtype="0" fill="hold" nodeType="withEffect">
                                  <p:stCondLst>
                                    <p:cond delay="88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400"/>
                                        <p:tgtEl>
                                          <p:spTgt spid="37"/>
                                        </p:tgtEl>
                                      </p:cBhvr>
                                    </p:animEffect>
                                  </p:childTnLst>
                                </p:cTn>
                              </p:par>
                              <p:par>
                                <p:cTn id="77" presetID="10" presetClass="entr" presetSubtype="0" fill="hold" nodeType="withEffect">
                                  <p:stCondLst>
                                    <p:cond delay="88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400"/>
                                        <p:tgtEl>
                                          <p:spTgt spid="38"/>
                                        </p:tgtEl>
                                      </p:cBhvr>
                                    </p:animEffect>
                                  </p:childTnLst>
                                </p:cTn>
                              </p:par>
                              <p:par>
                                <p:cTn id="80" presetID="10" presetClass="entr" presetSubtype="0" fill="hold" nodeType="withEffect">
                                  <p:stCondLst>
                                    <p:cond delay="1100"/>
                                  </p:stCondLst>
                                  <p:childTnLst>
                                    <p:set>
                                      <p:cBhvr>
                                        <p:cTn id="81" dur="1" fill="hold">
                                          <p:stCondLst>
                                            <p:cond delay="0"/>
                                          </p:stCondLst>
                                        </p:cTn>
                                        <p:tgtEl>
                                          <p:spTgt spid="16"/>
                                        </p:tgtEl>
                                        <p:attrNameLst>
                                          <p:attrName>style.visibility</p:attrName>
                                        </p:attrNameLst>
                                      </p:cBhvr>
                                      <p:to>
                                        <p:strVal val="visible"/>
                                      </p:to>
                                    </p:set>
                                    <p:animEffect transition="in" filter="fade">
                                      <p:cBhvr>
                                        <p:cTn id="82" dur="400"/>
                                        <p:tgtEl>
                                          <p:spTgt spid="16"/>
                                        </p:tgtEl>
                                      </p:cBhvr>
                                    </p:animEffect>
                                  </p:childTnLst>
                                </p:cTn>
                              </p:par>
                              <p:par>
                                <p:cTn id="83" presetID="10" presetClass="entr" presetSubtype="0" fill="hold" nodeType="withEffect">
                                  <p:stCondLst>
                                    <p:cond delay="1100"/>
                                  </p:stCondLst>
                                  <p:childTnLst>
                                    <p:set>
                                      <p:cBhvr>
                                        <p:cTn id="84" dur="1" fill="hold">
                                          <p:stCondLst>
                                            <p:cond delay="0"/>
                                          </p:stCondLst>
                                        </p:cTn>
                                        <p:tgtEl>
                                          <p:spTgt spid="17"/>
                                        </p:tgtEl>
                                        <p:attrNameLst>
                                          <p:attrName>style.visibility</p:attrName>
                                        </p:attrNameLst>
                                      </p:cBhvr>
                                      <p:to>
                                        <p:strVal val="visible"/>
                                      </p:to>
                                    </p:set>
                                    <p:animEffect transition="in" filter="fade">
                                      <p:cBhvr>
                                        <p:cTn id="85" dur="400"/>
                                        <p:tgtEl>
                                          <p:spTgt spid="17"/>
                                        </p:tgtEl>
                                      </p:cBhvr>
                                    </p:animEffect>
                                  </p:childTnLst>
                                </p:cTn>
                              </p:par>
                              <p:par>
                                <p:cTn id="86" presetID="10" presetClass="entr" presetSubtype="0" fill="hold" nodeType="withEffect">
                                  <p:stCondLst>
                                    <p:cond delay="1100"/>
                                  </p:stCondLst>
                                  <p:childTnLst>
                                    <p:set>
                                      <p:cBhvr>
                                        <p:cTn id="87" dur="1" fill="hold">
                                          <p:stCondLst>
                                            <p:cond delay="0"/>
                                          </p:stCondLst>
                                        </p:cTn>
                                        <p:tgtEl>
                                          <p:spTgt spid="39"/>
                                        </p:tgtEl>
                                        <p:attrNameLst>
                                          <p:attrName>style.visibility</p:attrName>
                                        </p:attrNameLst>
                                      </p:cBhvr>
                                      <p:to>
                                        <p:strVal val="visible"/>
                                      </p:to>
                                    </p:set>
                                    <p:animEffect transition="in" filter="fade">
                                      <p:cBhvr>
                                        <p:cTn id="88" dur="400"/>
                                        <p:tgtEl>
                                          <p:spTgt spid="39"/>
                                        </p:tgtEl>
                                      </p:cBhvr>
                                    </p:animEffect>
                                  </p:childTnLst>
                                </p:cTn>
                              </p:par>
                              <p:par>
                                <p:cTn id="89" presetID="10" presetClass="entr" presetSubtype="0" fill="hold" nodeType="withEffect">
                                  <p:stCondLst>
                                    <p:cond delay="110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400"/>
                                        <p:tgtEl>
                                          <p:spTgt spid="40"/>
                                        </p:tgtEl>
                                      </p:cBhvr>
                                    </p:animEffect>
                                  </p:childTnLst>
                                </p:cTn>
                              </p:par>
                              <p:par>
                                <p:cTn id="92" presetID="10" presetClass="entr" presetSubtype="0" fill="hold" nodeType="withEffect">
                                  <p:stCondLst>
                                    <p:cond delay="1100"/>
                                  </p:stCondLst>
                                  <p:childTnLst>
                                    <p:set>
                                      <p:cBhvr>
                                        <p:cTn id="93" dur="1" fill="hold">
                                          <p:stCondLst>
                                            <p:cond delay="0"/>
                                          </p:stCondLst>
                                        </p:cTn>
                                        <p:tgtEl>
                                          <p:spTgt spid="41"/>
                                        </p:tgtEl>
                                        <p:attrNameLst>
                                          <p:attrName>style.visibility</p:attrName>
                                        </p:attrNameLst>
                                      </p:cBhvr>
                                      <p:to>
                                        <p:strVal val="visible"/>
                                      </p:to>
                                    </p:set>
                                    <p:animEffect transition="in" filter="fade">
                                      <p:cBhvr>
                                        <p:cTn id="94" dur="400"/>
                                        <p:tgtEl>
                                          <p:spTgt spid="41"/>
                                        </p:tgtEl>
                                      </p:cBhvr>
                                    </p:animEffect>
                                  </p:childTnLst>
                                </p:cTn>
                              </p:par>
                              <p:par>
                                <p:cTn id="95" presetID="10" presetClass="entr" presetSubtype="0" fill="hold" nodeType="withEffect">
                                  <p:stCondLst>
                                    <p:cond delay="1100"/>
                                  </p:stCondLst>
                                  <p:childTnLst>
                                    <p:set>
                                      <p:cBhvr>
                                        <p:cTn id="96" dur="1" fill="hold">
                                          <p:stCondLst>
                                            <p:cond delay="0"/>
                                          </p:stCondLst>
                                        </p:cTn>
                                        <p:tgtEl>
                                          <p:spTgt spid="42"/>
                                        </p:tgtEl>
                                        <p:attrNameLst>
                                          <p:attrName>style.visibility</p:attrName>
                                        </p:attrNameLst>
                                      </p:cBhvr>
                                      <p:to>
                                        <p:strVal val="visible"/>
                                      </p:to>
                                    </p:set>
                                    <p:animEffect transition="in" filter="fade">
                                      <p:cBhvr>
                                        <p:cTn id="97" dur="400"/>
                                        <p:tgtEl>
                                          <p:spTgt spid="42"/>
                                        </p:tgtEl>
                                      </p:cBhvr>
                                    </p:animEffect>
                                  </p:childTnLst>
                                </p:cTn>
                              </p:par>
                              <p:par>
                                <p:cTn id="98" presetID="10" presetClass="entr" presetSubtype="0" fill="hold" nodeType="withEffect">
                                  <p:stCondLst>
                                    <p:cond delay="1100"/>
                                  </p:stCondLst>
                                  <p:childTnLst>
                                    <p:set>
                                      <p:cBhvr>
                                        <p:cTn id="99" dur="1" fill="hold">
                                          <p:stCondLst>
                                            <p:cond delay="0"/>
                                          </p:stCondLst>
                                        </p:cTn>
                                        <p:tgtEl>
                                          <p:spTgt spid="43"/>
                                        </p:tgtEl>
                                        <p:attrNameLst>
                                          <p:attrName>style.visibility</p:attrName>
                                        </p:attrNameLst>
                                      </p:cBhvr>
                                      <p:to>
                                        <p:strVal val="visible"/>
                                      </p:to>
                                    </p:set>
                                    <p:animEffect transition="in" filter="fade">
                                      <p:cBhvr>
                                        <p:cTn id="100" dur="400"/>
                                        <p:tgtEl>
                                          <p:spTgt spid="43"/>
                                        </p:tgtEl>
                                      </p:cBhvr>
                                    </p:animEffect>
                                  </p:childTnLst>
                                </p:cTn>
                              </p:par>
                              <p:par>
                                <p:cTn id="101" presetID="10" presetClass="entr" presetSubtype="0" fill="hold" nodeType="withEffect">
                                  <p:stCondLst>
                                    <p:cond delay="1100"/>
                                  </p:stCondLst>
                                  <p:childTnLst>
                                    <p:set>
                                      <p:cBhvr>
                                        <p:cTn id="102" dur="1" fill="hold">
                                          <p:stCondLst>
                                            <p:cond delay="0"/>
                                          </p:stCondLst>
                                        </p:cTn>
                                        <p:tgtEl>
                                          <p:spTgt spid="44"/>
                                        </p:tgtEl>
                                        <p:attrNameLst>
                                          <p:attrName>style.visibility</p:attrName>
                                        </p:attrNameLst>
                                      </p:cBhvr>
                                      <p:to>
                                        <p:strVal val="visible"/>
                                      </p:to>
                                    </p:set>
                                    <p:animEffect transition="in" filter="fade">
                                      <p:cBhvr>
                                        <p:cTn id="103" dur="400"/>
                                        <p:tgtEl>
                                          <p:spTgt spid="44"/>
                                        </p:tgtEl>
                                      </p:cBhvr>
                                    </p:animEffect>
                                  </p:childTnLst>
                                </p:cTn>
                              </p:par>
                              <p:par>
                                <p:cTn id="104" presetID="10" presetClass="entr" presetSubtype="0" fill="hold" nodeType="withEffect">
                                  <p:stCondLst>
                                    <p:cond delay="1100"/>
                                  </p:stCondLst>
                                  <p:childTnLst>
                                    <p:set>
                                      <p:cBhvr>
                                        <p:cTn id="105" dur="1" fill="hold">
                                          <p:stCondLst>
                                            <p:cond delay="0"/>
                                          </p:stCondLst>
                                        </p:cTn>
                                        <p:tgtEl>
                                          <p:spTgt spid="45"/>
                                        </p:tgtEl>
                                        <p:attrNameLst>
                                          <p:attrName>style.visibility</p:attrName>
                                        </p:attrNameLst>
                                      </p:cBhvr>
                                      <p:to>
                                        <p:strVal val="visible"/>
                                      </p:to>
                                    </p:set>
                                    <p:animEffect transition="in" filter="fade">
                                      <p:cBhvr>
                                        <p:cTn id="106" dur="400"/>
                                        <p:tgtEl>
                                          <p:spTgt spid="45"/>
                                        </p:tgtEl>
                                      </p:cBhvr>
                                    </p:animEffect>
                                  </p:childTnLst>
                                </p:cTn>
                              </p:par>
                              <p:par>
                                <p:cTn id="107" presetID="10" presetClass="entr" presetSubtype="0" fill="hold" nodeType="withEffect">
                                  <p:stCondLst>
                                    <p:cond delay="1320"/>
                                  </p:stCondLst>
                                  <p:childTnLst>
                                    <p:set>
                                      <p:cBhvr>
                                        <p:cTn id="108" dur="1" fill="hold">
                                          <p:stCondLst>
                                            <p:cond delay="0"/>
                                          </p:stCondLst>
                                        </p:cTn>
                                        <p:tgtEl>
                                          <p:spTgt spid="15"/>
                                        </p:tgtEl>
                                        <p:attrNameLst>
                                          <p:attrName>style.visibility</p:attrName>
                                        </p:attrNameLst>
                                      </p:cBhvr>
                                      <p:to>
                                        <p:strVal val="visible"/>
                                      </p:to>
                                    </p:set>
                                    <p:animEffect transition="in" filter="fade">
                                      <p:cBhvr>
                                        <p:cTn id="109" dur="400"/>
                                        <p:tgtEl>
                                          <p:spTgt spid="15"/>
                                        </p:tgtEl>
                                      </p:cBhvr>
                                    </p:animEffect>
                                  </p:childTnLst>
                                </p:cTn>
                              </p:par>
                              <p:par>
                                <p:cTn id="110" presetID="10" presetClass="entr" presetSubtype="0" fill="hold" nodeType="withEffect">
                                  <p:stCondLst>
                                    <p:cond delay="1320"/>
                                  </p:stCondLst>
                                  <p:childTnLst>
                                    <p:set>
                                      <p:cBhvr>
                                        <p:cTn id="111" dur="1" fill="hold">
                                          <p:stCondLst>
                                            <p:cond delay="0"/>
                                          </p:stCondLst>
                                        </p:cTn>
                                        <p:tgtEl>
                                          <p:spTgt spid="46"/>
                                        </p:tgtEl>
                                        <p:attrNameLst>
                                          <p:attrName>style.visibility</p:attrName>
                                        </p:attrNameLst>
                                      </p:cBhvr>
                                      <p:to>
                                        <p:strVal val="visible"/>
                                      </p:to>
                                    </p:set>
                                    <p:animEffect transition="in" filter="fade">
                                      <p:cBhvr>
                                        <p:cTn id="112" dur="400"/>
                                        <p:tgtEl>
                                          <p:spTgt spid="46"/>
                                        </p:tgtEl>
                                      </p:cBhvr>
                                    </p:animEffect>
                                  </p:childTnLst>
                                </p:cTn>
                              </p:par>
                              <p:par>
                                <p:cTn id="113" presetID="10" presetClass="entr" presetSubtype="0" fill="hold" nodeType="withEffect">
                                  <p:stCondLst>
                                    <p:cond delay="1320"/>
                                  </p:stCondLst>
                                  <p:childTnLst>
                                    <p:set>
                                      <p:cBhvr>
                                        <p:cTn id="114" dur="1" fill="hold">
                                          <p:stCondLst>
                                            <p:cond delay="0"/>
                                          </p:stCondLst>
                                        </p:cTn>
                                        <p:tgtEl>
                                          <p:spTgt spid="47"/>
                                        </p:tgtEl>
                                        <p:attrNameLst>
                                          <p:attrName>style.visibility</p:attrName>
                                        </p:attrNameLst>
                                      </p:cBhvr>
                                      <p:to>
                                        <p:strVal val="visible"/>
                                      </p:to>
                                    </p:set>
                                    <p:animEffect transition="in" filter="fade">
                                      <p:cBhvr>
                                        <p:cTn id="115" dur="400"/>
                                        <p:tgtEl>
                                          <p:spTgt spid="47"/>
                                        </p:tgtEl>
                                      </p:cBhvr>
                                    </p:animEffect>
                                  </p:childTnLst>
                                </p:cTn>
                              </p:par>
                              <p:par>
                                <p:cTn id="116" presetID="10" presetClass="entr" presetSubtype="0" fill="hold" nodeType="withEffect">
                                  <p:stCondLst>
                                    <p:cond delay="132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00"/>
                                        <p:tgtEl>
                                          <p:spTgt spid="48"/>
                                        </p:tgtEl>
                                      </p:cBhvr>
                                    </p:animEffect>
                                  </p:childTnLst>
                                </p:cTn>
                              </p:par>
                              <p:par>
                                <p:cTn id="119" presetID="10" presetClass="entr" presetSubtype="0" fill="hold" nodeType="withEffect">
                                  <p:stCondLst>
                                    <p:cond delay="1320"/>
                                  </p:stCondLst>
                                  <p:childTnLst>
                                    <p:set>
                                      <p:cBhvr>
                                        <p:cTn id="120" dur="1" fill="hold">
                                          <p:stCondLst>
                                            <p:cond delay="0"/>
                                          </p:stCondLst>
                                        </p:cTn>
                                        <p:tgtEl>
                                          <p:spTgt spid="49"/>
                                        </p:tgtEl>
                                        <p:attrNameLst>
                                          <p:attrName>style.visibility</p:attrName>
                                        </p:attrNameLst>
                                      </p:cBhvr>
                                      <p:to>
                                        <p:strVal val="visible"/>
                                      </p:to>
                                    </p:set>
                                    <p:animEffect transition="in" filter="fade">
                                      <p:cBhvr>
                                        <p:cTn id="121" dur="400"/>
                                        <p:tgtEl>
                                          <p:spTgt spid="49"/>
                                        </p:tgtEl>
                                      </p:cBhvr>
                                    </p:animEffect>
                                  </p:childTnLst>
                                </p:cTn>
                              </p:par>
                              <p:par>
                                <p:cTn id="122" presetID="10" presetClass="entr" presetSubtype="0" fill="hold" nodeType="withEffect">
                                  <p:stCondLst>
                                    <p:cond delay="1320"/>
                                  </p:stCondLst>
                                  <p:childTnLst>
                                    <p:set>
                                      <p:cBhvr>
                                        <p:cTn id="123" dur="1" fill="hold">
                                          <p:stCondLst>
                                            <p:cond delay="0"/>
                                          </p:stCondLst>
                                        </p:cTn>
                                        <p:tgtEl>
                                          <p:spTgt spid="50"/>
                                        </p:tgtEl>
                                        <p:attrNameLst>
                                          <p:attrName>style.visibility</p:attrName>
                                        </p:attrNameLst>
                                      </p:cBhvr>
                                      <p:to>
                                        <p:strVal val="visible"/>
                                      </p:to>
                                    </p:set>
                                    <p:animEffect transition="in" filter="fade">
                                      <p:cBhvr>
                                        <p:cTn id="124" dur="400"/>
                                        <p:tgtEl>
                                          <p:spTgt spid="50"/>
                                        </p:tgtEl>
                                      </p:cBhvr>
                                    </p:animEffect>
                                  </p:childTnLst>
                                </p:cTn>
                              </p:par>
                              <p:par>
                                <p:cTn id="125" presetID="10" presetClass="entr" presetSubtype="0" fill="hold" nodeType="withEffect">
                                  <p:stCondLst>
                                    <p:cond delay="1320"/>
                                  </p:stCondLst>
                                  <p:childTnLst>
                                    <p:set>
                                      <p:cBhvr>
                                        <p:cTn id="126" dur="1" fill="hold">
                                          <p:stCondLst>
                                            <p:cond delay="0"/>
                                          </p:stCondLst>
                                        </p:cTn>
                                        <p:tgtEl>
                                          <p:spTgt spid="51"/>
                                        </p:tgtEl>
                                        <p:attrNameLst>
                                          <p:attrName>style.visibility</p:attrName>
                                        </p:attrNameLst>
                                      </p:cBhvr>
                                      <p:to>
                                        <p:strVal val="visible"/>
                                      </p:to>
                                    </p:set>
                                    <p:animEffect transition="in" filter="fade">
                                      <p:cBhvr>
                                        <p:cTn id="127" dur="400"/>
                                        <p:tgtEl>
                                          <p:spTgt spid="51"/>
                                        </p:tgtEl>
                                      </p:cBhvr>
                                    </p:animEffect>
                                  </p:childTnLst>
                                </p:cTn>
                              </p:par>
                              <p:par>
                                <p:cTn id="128" presetID="10" presetClass="entr" presetSubtype="0" fill="hold" nodeType="withEffect">
                                  <p:stCondLst>
                                    <p:cond delay="1320"/>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400"/>
                                        <p:tgtEl>
                                          <p:spTgt spid="52"/>
                                        </p:tgtEl>
                                      </p:cBhvr>
                                    </p:animEffect>
                                  </p:childTnLst>
                                </p:cTn>
                              </p:par>
                              <p:par>
                                <p:cTn id="131" presetID="10" presetClass="entr" presetSubtype="0" fill="hold" nodeType="withEffect">
                                  <p:stCondLst>
                                    <p:cond delay="1540"/>
                                  </p:stCondLst>
                                  <p:childTnLst>
                                    <p:set>
                                      <p:cBhvr>
                                        <p:cTn id="132" dur="1" fill="hold">
                                          <p:stCondLst>
                                            <p:cond delay="0"/>
                                          </p:stCondLst>
                                        </p:cTn>
                                        <p:tgtEl>
                                          <p:spTgt spid="13"/>
                                        </p:tgtEl>
                                        <p:attrNameLst>
                                          <p:attrName>style.visibility</p:attrName>
                                        </p:attrNameLst>
                                      </p:cBhvr>
                                      <p:to>
                                        <p:strVal val="visible"/>
                                      </p:to>
                                    </p:set>
                                    <p:animEffect transition="in" filter="fade">
                                      <p:cBhvr>
                                        <p:cTn id="133" dur="400"/>
                                        <p:tgtEl>
                                          <p:spTgt spid="13"/>
                                        </p:tgtEl>
                                      </p:cBhvr>
                                    </p:animEffect>
                                  </p:childTnLst>
                                </p:cTn>
                              </p:par>
                              <p:par>
                                <p:cTn id="134" presetID="10" presetClass="entr" presetSubtype="0" fill="hold" nodeType="withEffect">
                                  <p:stCondLst>
                                    <p:cond delay="1540"/>
                                  </p:stCondLst>
                                  <p:childTnLst>
                                    <p:set>
                                      <p:cBhvr>
                                        <p:cTn id="135" dur="1" fill="hold">
                                          <p:stCondLst>
                                            <p:cond delay="0"/>
                                          </p:stCondLst>
                                        </p:cTn>
                                        <p:tgtEl>
                                          <p:spTgt spid="53"/>
                                        </p:tgtEl>
                                        <p:attrNameLst>
                                          <p:attrName>style.visibility</p:attrName>
                                        </p:attrNameLst>
                                      </p:cBhvr>
                                      <p:to>
                                        <p:strVal val="visible"/>
                                      </p:to>
                                    </p:set>
                                    <p:animEffect transition="in" filter="fade">
                                      <p:cBhvr>
                                        <p:cTn id="136" dur="400"/>
                                        <p:tgtEl>
                                          <p:spTgt spid="53"/>
                                        </p:tgtEl>
                                      </p:cBhvr>
                                    </p:animEffect>
                                  </p:childTnLst>
                                </p:cTn>
                              </p:par>
                              <p:par>
                                <p:cTn id="137" presetID="10" presetClass="entr" presetSubtype="0" fill="hold" nodeType="withEffect">
                                  <p:stCondLst>
                                    <p:cond delay="154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54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54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54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54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54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08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1 → 2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Ghi nhận đúng chỗ, phân tích đúng nhu cầu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658368" y="2165350"/>
            <a:ext cx="3490874" cy="1847088"/>
          </a:xfrm>
          <a:prstGeom prst="roundRect">
            <a:avLst>
              <a:gd name="adj" fmla="val 7921"/>
            </a:avLst>
          </a:prstGeom>
          <a:solidFill>
            <a:srgbClr val="22C55E">
              <a:alpha val="18000"/>
            </a:srgbClr>
          </a:solidFill>
          <a:ln/>
        </p:spPr>
      </p:sp>
      <p:sp>
        <p:nvSpPr>
          <p:cNvPr id="19" name="Shape 15"/>
          <p:cNvSpPr/>
          <p:nvPr/>
        </p:nvSpPr>
        <p:spPr>
          <a:xfrm>
            <a:off x="713232" y="2220214"/>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20" name="Shape 16"/>
          <p:cNvSpPr/>
          <p:nvPr/>
        </p:nvSpPr>
        <p:spPr>
          <a:xfrm>
            <a:off x="713232" y="2220214"/>
            <a:ext cx="50292" cy="1737360"/>
          </a:xfrm>
          <a:prstGeom prst="roundRect">
            <a:avLst>
              <a:gd name="adj" fmla="val 54545"/>
            </a:avLst>
          </a:prstGeom>
          <a:solidFill>
            <a:srgbClr val="22C55E">
              <a:alpha val="95000"/>
            </a:srgbClr>
          </a:solidFill>
          <a:ln/>
        </p:spPr>
      </p:sp>
      <p:sp>
        <p:nvSpPr>
          <p:cNvPr id="21" name="Shape 17"/>
          <p:cNvSpPr/>
          <p:nvPr/>
        </p:nvSpPr>
        <p:spPr>
          <a:xfrm>
            <a:off x="987552" y="2439670"/>
            <a:ext cx="420624" cy="420624"/>
          </a:xfrm>
          <a:prstGeom prst="roundRect">
            <a:avLst>
              <a:gd name="adj" fmla="val 50000"/>
            </a:avLst>
          </a:prstGeom>
          <a:solidFill>
            <a:srgbClr val="04101F">
              <a:alpha val="88000"/>
            </a:srgbClr>
          </a:solidFill>
          <a:ln/>
        </p:spPr>
      </p:sp>
      <p:sp>
        <p:nvSpPr>
          <p:cNvPr id="22" name="Shape 18"/>
          <p:cNvSpPr/>
          <p:nvPr/>
        </p:nvSpPr>
        <p:spPr>
          <a:xfrm>
            <a:off x="987552"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23" name="Text 19"/>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1</a:t>
            </a:r>
            <a:endParaRPr lang="en-US" sz="1500" dirty="0"/>
          </a:p>
        </p:txBody>
      </p:sp>
      <p:sp>
        <p:nvSpPr>
          <p:cNvPr id="24" name="Text 20"/>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Ghi nhận tình huống</a:t>
            </a:r>
            <a:endParaRPr lang="en-US" sz="1400" dirty="0"/>
          </a:p>
        </p:txBody>
      </p:sp>
      <p:sp>
        <p:nvSpPr>
          <p:cNvPr id="25" name="Text 21"/>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nạn lên bản đồ.</a:t>
            </a:r>
            <a:endParaRPr lang="en-US" sz="1150" dirty="0"/>
          </a:p>
        </p:txBody>
      </p:sp>
      <p:sp>
        <p:nvSpPr>
          <p:cNvPr id="26" name="Shape 22"/>
          <p:cNvSpPr/>
          <p:nvPr/>
        </p:nvSpPr>
        <p:spPr>
          <a:xfrm>
            <a:off x="4350410" y="2165350"/>
            <a:ext cx="3490874" cy="1847088"/>
          </a:xfrm>
          <a:prstGeom prst="roundRect">
            <a:avLst>
              <a:gd name="adj" fmla="val 7921"/>
            </a:avLst>
          </a:prstGeom>
          <a:solidFill>
            <a:srgbClr val="22C55E">
              <a:alpha val="18000"/>
            </a:srgbClr>
          </a:solidFill>
          <a:ln/>
        </p:spPr>
      </p:sp>
      <p:sp>
        <p:nvSpPr>
          <p:cNvPr id="27" name="Shape 23"/>
          <p:cNvSpPr/>
          <p:nvPr/>
        </p:nvSpPr>
        <p:spPr>
          <a:xfrm>
            <a:off x="4405274" y="2220214"/>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28" name="Shape 24"/>
          <p:cNvSpPr/>
          <p:nvPr/>
        </p:nvSpPr>
        <p:spPr>
          <a:xfrm>
            <a:off x="4405274" y="2220214"/>
            <a:ext cx="50292" cy="1737360"/>
          </a:xfrm>
          <a:prstGeom prst="roundRect">
            <a:avLst>
              <a:gd name="adj" fmla="val 54545"/>
            </a:avLst>
          </a:prstGeom>
          <a:solidFill>
            <a:srgbClr val="22C55E">
              <a:alpha val="95000"/>
            </a:srgbClr>
          </a:solidFill>
          <a:ln/>
        </p:spPr>
      </p:sp>
      <p:sp>
        <p:nvSpPr>
          <p:cNvPr id="29" name="Shape 25"/>
          <p:cNvSpPr/>
          <p:nvPr/>
        </p:nvSpPr>
        <p:spPr>
          <a:xfrm>
            <a:off x="4679594" y="2439670"/>
            <a:ext cx="420624" cy="420624"/>
          </a:xfrm>
          <a:prstGeom prst="roundRect">
            <a:avLst>
              <a:gd name="adj" fmla="val 50000"/>
            </a:avLst>
          </a:prstGeom>
          <a:solidFill>
            <a:srgbClr val="04101F">
              <a:alpha val="88000"/>
            </a:srgbClr>
          </a:solidFill>
          <a:ln/>
        </p:spPr>
      </p:sp>
      <p:sp>
        <p:nvSpPr>
          <p:cNvPr id="30" name="Shape 26"/>
          <p:cNvSpPr/>
          <p:nvPr/>
        </p:nvSpPr>
        <p:spPr>
          <a:xfrm>
            <a:off x="4679594"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31" name="Text 27"/>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2</a:t>
            </a:r>
            <a:endParaRPr lang="en-US" sz="1500" dirty="0"/>
          </a:p>
        </p:txBody>
      </p:sp>
      <p:sp>
        <p:nvSpPr>
          <p:cNvPr id="32" name="Text 28"/>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điều phối</a:t>
            </a:r>
            <a:endParaRPr lang="en-US" sz="1400" dirty="0"/>
          </a:p>
        </p:txBody>
      </p:sp>
      <p:sp>
        <p:nvSpPr>
          <p:cNvPr id="33" name="Text 29"/>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phương án.</a:t>
            </a:r>
            <a:endParaRPr lang="en-US" sz="1150" dirty="0"/>
          </a:p>
        </p:txBody>
      </p:sp>
      <p:sp>
        <p:nvSpPr>
          <p:cNvPr id="34" name="Shape 30"/>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5" name="Shape 31"/>
          <p:cNvSpPr/>
          <p:nvPr/>
        </p:nvSpPr>
        <p:spPr>
          <a:xfrm>
            <a:off x="8097317" y="2220214"/>
            <a:ext cx="50292" cy="1737360"/>
          </a:xfrm>
          <a:prstGeom prst="roundRect">
            <a:avLst>
              <a:gd name="adj" fmla="val 54545"/>
            </a:avLst>
          </a:prstGeom>
          <a:solidFill>
            <a:srgbClr val="3C5468">
              <a:alpha val="95000"/>
            </a:srgbClr>
          </a:solidFill>
          <a:ln/>
        </p:spPr>
      </p:sp>
      <p:sp>
        <p:nvSpPr>
          <p:cNvPr id="36" name="Shape 32"/>
          <p:cNvSpPr/>
          <p:nvPr/>
        </p:nvSpPr>
        <p:spPr>
          <a:xfrm>
            <a:off x="8371637" y="2439670"/>
            <a:ext cx="420624" cy="420624"/>
          </a:xfrm>
          <a:prstGeom prst="roundRect">
            <a:avLst>
              <a:gd name="adj" fmla="val 50000"/>
            </a:avLst>
          </a:prstGeom>
          <a:solidFill>
            <a:srgbClr val="04101F">
              <a:alpha val="88000"/>
            </a:srgbClr>
          </a:solidFill>
          <a:ln/>
        </p:spPr>
      </p:sp>
      <p:sp>
        <p:nvSpPr>
          <p:cNvPr id="37" name="Shape 33"/>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8" name="Text 34"/>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9" name="Text 35"/>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40" name="Text 36"/>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41" name="Shape 37"/>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2" name="Shape 38"/>
          <p:cNvSpPr/>
          <p:nvPr/>
        </p:nvSpPr>
        <p:spPr>
          <a:xfrm>
            <a:off x="8097317" y="4359910"/>
            <a:ext cx="50292" cy="1737360"/>
          </a:xfrm>
          <a:prstGeom prst="roundRect">
            <a:avLst>
              <a:gd name="adj" fmla="val 54545"/>
            </a:avLst>
          </a:prstGeom>
          <a:solidFill>
            <a:srgbClr val="3C5468">
              <a:alpha val="95000"/>
            </a:srgbClr>
          </a:solidFill>
          <a:ln/>
        </p:spPr>
      </p:sp>
      <p:sp>
        <p:nvSpPr>
          <p:cNvPr id="43" name="Shape 39"/>
          <p:cNvSpPr/>
          <p:nvPr/>
        </p:nvSpPr>
        <p:spPr>
          <a:xfrm>
            <a:off x="8371637" y="4579366"/>
            <a:ext cx="420624" cy="420624"/>
          </a:xfrm>
          <a:prstGeom prst="roundRect">
            <a:avLst>
              <a:gd name="adj" fmla="val 50000"/>
            </a:avLst>
          </a:prstGeom>
          <a:solidFill>
            <a:srgbClr val="04101F">
              <a:alpha val="88000"/>
            </a:srgbClr>
          </a:solidFill>
          <a:ln/>
        </p:spPr>
      </p:sp>
      <p:sp>
        <p:nvSpPr>
          <p:cNvPr id="44" name="Shape 40"/>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5" name="Text 41"/>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6" name="Text 42"/>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7" name="Text 43"/>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lúc.</a:t>
            </a:r>
            <a:endParaRPr lang="en-US" sz="1150" dirty="0"/>
          </a:p>
        </p:txBody>
      </p:sp>
      <p:sp>
        <p:nvSpPr>
          <p:cNvPr id="48" name="Shape 44"/>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9" name="Shape 45"/>
          <p:cNvSpPr/>
          <p:nvPr/>
        </p:nvSpPr>
        <p:spPr>
          <a:xfrm>
            <a:off x="4405274" y="4359910"/>
            <a:ext cx="50292" cy="1737360"/>
          </a:xfrm>
          <a:prstGeom prst="roundRect">
            <a:avLst>
              <a:gd name="adj" fmla="val 54545"/>
            </a:avLst>
          </a:prstGeom>
          <a:solidFill>
            <a:srgbClr val="3C5468">
              <a:alpha val="95000"/>
            </a:srgbClr>
          </a:solidFill>
          <a:ln/>
        </p:spPr>
      </p:sp>
      <p:sp>
        <p:nvSpPr>
          <p:cNvPr id="50" name="Shape 46"/>
          <p:cNvSpPr/>
          <p:nvPr/>
        </p:nvSpPr>
        <p:spPr>
          <a:xfrm>
            <a:off x="4679594" y="4579366"/>
            <a:ext cx="420624" cy="420624"/>
          </a:xfrm>
          <a:prstGeom prst="roundRect">
            <a:avLst>
              <a:gd name="adj" fmla="val 50000"/>
            </a:avLst>
          </a:prstGeom>
          <a:solidFill>
            <a:srgbClr val="04101F">
              <a:alpha val="88000"/>
            </a:srgbClr>
          </a:solidFill>
          <a:ln/>
        </p:spPr>
      </p:sp>
      <p:sp>
        <p:nvSpPr>
          <p:cNvPr id="51" name="Shape 47"/>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2" name="Text 48"/>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3" name="Text 49"/>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4" name="Text 50"/>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5" name="Shape 51"/>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6" name="Shape 52"/>
          <p:cNvSpPr/>
          <p:nvPr/>
        </p:nvSpPr>
        <p:spPr>
          <a:xfrm>
            <a:off x="713232" y="4359910"/>
            <a:ext cx="50292" cy="1737360"/>
          </a:xfrm>
          <a:prstGeom prst="roundRect">
            <a:avLst>
              <a:gd name="adj" fmla="val 54545"/>
            </a:avLst>
          </a:prstGeom>
          <a:solidFill>
            <a:srgbClr val="3C5468">
              <a:alpha val="95000"/>
            </a:srgbClr>
          </a:solidFill>
          <a:ln/>
        </p:spPr>
      </p:sp>
      <p:sp>
        <p:nvSpPr>
          <p:cNvPr id="57" name="Shape 53"/>
          <p:cNvSpPr/>
          <p:nvPr/>
        </p:nvSpPr>
        <p:spPr>
          <a:xfrm>
            <a:off x="987552" y="4579366"/>
            <a:ext cx="420624" cy="420624"/>
          </a:xfrm>
          <a:prstGeom prst="roundRect">
            <a:avLst>
              <a:gd name="adj" fmla="val 50000"/>
            </a:avLst>
          </a:prstGeom>
          <a:solidFill>
            <a:srgbClr val="04101F">
              <a:alpha val="88000"/>
            </a:srgbClr>
          </a:solidFill>
          <a:ln/>
        </p:spPr>
      </p:sp>
      <p:sp>
        <p:nvSpPr>
          <p:cNvPr id="58" name="Shape 54"/>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9" name="Text 55"/>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60" name="Text 56"/>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1" name="Text 57"/>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4" presetID="10" presetClass="entr" presetSubtype="0" fill="hold" nodeType="withEffect">
                                  <p:stCondLst>
                                    <p:cond delay="66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17" presetID="10" presetClass="entr" presetSubtype="0" fill="hold" nodeType="withEffect">
                                  <p:stCondLst>
                                    <p:cond delay="66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0" presetID="10" presetClass="entr" presetSubtype="0" fill="hold" nodeType="withEffect">
                                  <p:stCondLst>
                                    <p:cond delay="66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6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6" presetID="10" presetClass="entr" presetSubtype="0" fill="hold" nodeType="withEffect">
                                  <p:stCondLst>
                                    <p:cond delay="66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29" presetID="10" presetClass="entr" presetSubtype="0" fill="hold" nodeType="withEffect">
                                  <p:stCondLst>
                                    <p:cond delay="66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66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38" presetID="10" presetClass="entr" presetSubtype="0" fill="hold" nodeType="withEffect">
                                  <p:stCondLst>
                                    <p:cond delay="11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400"/>
                                        <p:tgtEl>
                                          <p:spTgt spid="12"/>
                                        </p:tgtEl>
                                      </p:cBhvr>
                                    </p:animEffect>
                                  </p:childTnLst>
                                </p:cTn>
                              </p:par>
                              <p:par>
                                <p:cTn id="41" presetID="10" presetClass="entr" presetSubtype="0" fill="hold" nodeType="withEffect">
                                  <p:stCondLst>
                                    <p:cond delay="110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400"/>
                                        <p:tgtEl>
                                          <p:spTgt spid="27"/>
                                        </p:tgtEl>
                                      </p:cBhvr>
                                    </p:animEffect>
                                  </p:childTnLst>
                                </p:cTn>
                              </p:par>
                              <p:par>
                                <p:cTn id="44" presetID="10" presetClass="entr" presetSubtype="0" fill="hold" nodeType="withEffect">
                                  <p:stCondLst>
                                    <p:cond delay="110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400"/>
                                        <p:tgtEl>
                                          <p:spTgt spid="28"/>
                                        </p:tgtEl>
                                      </p:cBhvr>
                                    </p:animEffect>
                                  </p:childTnLst>
                                </p:cTn>
                              </p:par>
                              <p:par>
                                <p:cTn id="47" presetID="10" presetClass="entr" presetSubtype="0" fill="hold" nodeType="withEffect">
                                  <p:stCondLst>
                                    <p:cond delay="110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400"/>
                                        <p:tgtEl>
                                          <p:spTgt spid="29"/>
                                        </p:tgtEl>
                                      </p:cBhvr>
                                    </p:animEffect>
                                  </p:childTnLst>
                                </p:cTn>
                              </p:par>
                              <p:par>
                                <p:cTn id="50" presetID="10" presetClass="entr" presetSubtype="0" fill="hold" nodeType="withEffect">
                                  <p:stCondLst>
                                    <p:cond delay="1100"/>
                                  </p:stCondLst>
                                  <p:childTnLst>
                                    <p:set>
                                      <p:cBhvr>
                                        <p:cTn id="51" dur="1" fill="hold">
                                          <p:stCondLst>
                                            <p:cond delay="0"/>
                                          </p:stCondLst>
                                        </p:cTn>
                                        <p:tgtEl>
                                          <p:spTgt spid="30"/>
                                        </p:tgtEl>
                                        <p:attrNameLst>
                                          <p:attrName>style.visibility</p:attrName>
                                        </p:attrNameLst>
                                      </p:cBhvr>
                                      <p:to>
                                        <p:strVal val="visible"/>
                                      </p:to>
                                    </p:set>
                                    <p:animEffect transition="in" filter="fade">
                                      <p:cBhvr>
                                        <p:cTn id="52" dur="400"/>
                                        <p:tgtEl>
                                          <p:spTgt spid="30"/>
                                        </p:tgtEl>
                                      </p:cBhvr>
                                    </p:animEffect>
                                  </p:childTnLst>
                                </p:cTn>
                              </p:par>
                              <p:par>
                                <p:cTn id="53" presetID="10" presetClass="entr" presetSubtype="0" fill="hold" nodeType="withEffect">
                                  <p:stCondLst>
                                    <p:cond delay="110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400"/>
                                        <p:tgtEl>
                                          <p:spTgt spid="31"/>
                                        </p:tgtEl>
                                      </p:cBhvr>
                                    </p:animEffect>
                                  </p:childTnLst>
                                </p:cTn>
                              </p:par>
                              <p:par>
                                <p:cTn id="56" presetID="10" presetClass="entr" presetSubtype="0" fill="hold" nodeType="withEffect">
                                  <p:stCondLst>
                                    <p:cond delay="1100"/>
                                  </p:stCondLst>
                                  <p:childTnLst>
                                    <p:set>
                                      <p:cBhvr>
                                        <p:cTn id="57" dur="1" fill="hold">
                                          <p:stCondLst>
                                            <p:cond delay="0"/>
                                          </p:stCondLst>
                                        </p:cTn>
                                        <p:tgtEl>
                                          <p:spTgt spid="32"/>
                                        </p:tgtEl>
                                        <p:attrNameLst>
                                          <p:attrName>style.visibility</p:attrName>
                                        </p:attrNameLst>
                                      </p:cBhvr>
                                      <p:to>
                                        <p:strVal val="visible"/>
                                      </p:to>
                                    </p:set>
                                    <p:animEffect transition="in" filter="fade">
                                      <p:cBhvr>
                                        <p:cTn id="58" dur="400"/>
                                        <p:tgtEl>
                                          <p:spTgt spid="32"/>
                                        </p:tgtEl>
                                      </p:cBhvr>
                                    </p:animEffect>
                                  </p:childTnLst>
                                </p:cTn>
                              </p:par>
                              <p:par>
                                <p:cTn id="59" presetID="10" presetClass="entr" presetSubtype="0" fill="hold" nodeType="withEffect">
                                  <p:stCondLst>
                                    <p:cond delay="1100"/>
                                  </p:stCondLst>
                                  <p:childTnLst>
                                    <p:set>
                                      <p:cBhvr>
                                        <p:cTn id="60" dur="1" fill="hold">
                                          <p:stCondLst>
                                            <p:cond delay="0"/>
                                          </p:stCondLst>
                                        </p:cTn>
                                        <p:tgtEl>
                                          <p:spTgt spid="33"/>
                                        </p:tgtEl>
                                        <p:attrNameLst>
                                          <p:attrName>style.visibility</p:attrName>
                                        </p:attrNameLst>
                                      </p:cBhvr>
                                      <p:to>
                                        <p:strVal val="visible"/>
                                      </p:to>
                                    </p:set>
                                    <p:animEffect transition="in" filter="fade">
                                      <p:cBhvr>
                                        <p:cTn id="61" dur="400"/>
                                        <p:tgtEl>
                                          <p:spTgt spid="33"/>
                                        </p:tgtEl>
                                      </p:cBhvr>
                                    </p:animEffect>
                                  </p:childTnLst>
                                </p:cTn>
                              </p:par>
                              <p:par>
                                <p:cTn id="62" presetID="10" presetClass="entr" presetSubtype="0" fill="hold" nodeType="withEffect">
                                  <p:stCondLst>
                                    <p:cond delay="132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400"/>
                                        <p:tgtEl>
                                          <p:spTgt spid="14"/>
                                        </p:tgtEl>
                                      </p:cBhvr>
                                    </p:animEffect>
                                  </p:childTnLst>
                                </p:cTn>
                              </p:par>
                              <p:par>
                                <p:cTn id="65" presetID="10" presetClass="entr" presetSubtype="0" fill="hold" nodeType="withEffect">
                                  <p:stCondLst>
                                    <p:cond delay="132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68" presetID="10" presetClass="entr" presetSubtype="0" fill="hold" nodeType="withEffect">
                                  <p:stCondLst>
                                    <p:cond delay="132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400"/>
                                        <p:tgtEl>
                                          <p:spTgt spid="35"/>
                                        </p:tgtEl>
                                      </p:cBhvr>
                                    </p:animEffect>
                                  </p:childTnLst>
                                </p:cTn>
                              </p:par>
                              <p:par>
                                <p:cTn id="71" presetID="10" presetClass="entr" presetSubtype="0" fill="hold" nodeType="withEffect">
                                  <p:stCondLst>
                                    <p:cond delay="132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400"/>
                                        <p:tgtEl>
                                          <p:spTgt spid="36"/>
                                        </p:tgtEl>
                                      </p:cBhvr>
                                    </p:animEffect>
                                  </p:childTnLst>
                                </p:cTn>
                              </p:par>
                              <p:par>
                                <p:cTn id="74" presetID="10" presetClass="entr" presetSubtype="0" fill="hold" nodeType="withEffect">
                                  <p:stCondLst>
                                    <p:cond delay="132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400"/>
                                        <p:tgtEl>
                                          <p:spTgt spid="37"/>
                                        </p:tgtEl>
                                      </p:cBhvr>
                                    </p:animEffect>
                                  </p:childTnLst>
                                </p:cTn>
                              </p:par>
                              <p:par>
                                <p:cTn id="77" presetID="10" presetClass="entr" presetSubtype="0" fill="hold" nodeType="withEffect">
                                  <p:stCondLst>
                                    <p:cond delay="132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400"/>
                                        <p:tgtEl>
                                          <p:spTgt spid="38"/>
                                        </p:tgtEl>
                                      </p:cBhvr>
                                    </p:animEffect>
                                  </p:childTnLst>
                                </p:cTn>
                              </p:par>
                              <p:par>
                                <p:cTn id="80" presetID="10" presetClass="entr" presetSubtype="0" fill="hold" nodeType="withEffect">
                                  <p:stCondLst>
                                    <p:cond delay="1320"/>
                                  </p:stCondLst>
                                  <p:childTnLst>
                                    <p:set>
                                      <p:cBhvr>
                                        <p:cTn id="81" dur="1" fill="hold">
                                          <p:stCondLst>
                                            <p:cond delay="0"/>
                                          </p:stCondLst>
                                        </p:cTn>
                                        <p:tgtEl>
                                          <p:spTgt spid="39"/>
                                        </p:tgtEl>
                                        <p:attrNameLst>
                                          <p:attrName>style.visibility</p:attrName>
                                        </p:attrNameLst>
                                      </p:cBhvr>
                                      <p:to>
                                        <p:strVal val="visible"/>
                                      </p:to>
                                    </p:set>
                                    <p:animEffect transition="in" filter="fade">
                                      <p:cBhvr>
                                        <p:cTn id="82" dur="400"/>
                                        <p:tgtEl>
                                          <p:spTgt spid="39"/>
                                        </p:tgtEl>
                                      </p:cBhvr>
                                    </p:animEffect>
                                  </p:childTnLst>
                                </p:cTn>
                              </p:par>
                              <p:par>
                                <p:cTn id="83" presetID="10" presetClass="entr" presetSubtype="0" fill="hold" nodeType="withEffect">
                                  <p:stCondLst>
                                    <p:cond delay="1320"/>
                                  </p:stCondLst>
                                  <p:childTnLst>
                                    <p:set>
                                      <p:cBhvr>
                                        <p:cTn id="84" dur="1" fill="hold">
                                          <p:stCondLst>
                                            <p:cond delay="0"/>
                                          </p:stCondLst>
                                        </p:cTn>
                                        <p:tgtEl>
                                          <p:spTgt spid="40"/>
                                        </p:tgtEl>
                                        <p:attrNameLst>
                                          <p:attrName>style.visibility</p:attrName>
                                        </p:attrNameLst>
                                      </p:cBhvr>
                                      <p:to>
                                        <p:strVal val="visible"/>
                                      </p:to>
                                    </p:set>
                                    <p:animEffect transition="in" filter="fade">
                                      <p:cBhvr>
                                        <p:cTn id="85" dur="400"/>
                                        <p:tgtEl>
                                          <p:spTgt spid="40"/>
                                        </p:tgtEl>
                                      </p:cBhvr>
                                    </p:animEffect>
                                  </p:childTnLst>
                                </p:cTn>
                              </p:par>
                              <p:par>
                                <p:cTn id="86" presetID="10" presetClass="entr" presetSubtype="0" fill="hold" nodeType="withEffect">
                                  <p:stCondLst>
                                    <p:cond delay="1540"/>
                                  </p:stCondLst>
                                  <p:childTnLst>
                                    <p:set>
                                      <p:cBhvr>
                                        <p:cTn id="87" dur="1" fill="hold">
                                          <p:stCondLst>
                                            <p:cond delay="0"/>
                                          </p:stCondLst>
                                        </p:cTn>
                                        <p:tgtEl>
                                          <p:spTgt spid="16"/>
                                        </p:tgtEl>
                                        <p:attrNameLst>
                                          <p:attrName>style.visibility</p:attrName>
                                        </p:attrNameLst>
                                      </p:cBhvr>
                                      <p:to>
                                        <p:strVal val="visible"/>
                                      </p:to>
                                    </p:set>
                                    <p:animEffect transition="in" filter="fade">
                                      <p:cBhvr>
                                        <p:cTn id="88" dur="400"/>
                                        <p:tgtEl>
                                          <p:spTgt spid="16"/>
                                        </p:tgtEl>
                                      </p:cBhvr>
                                    </p:animEffect>
                                  </p:childTnLst>
                                </p:cTn>
                              </p:par>
                              <p:par>
                                <p:cTn id="89" presetID="10" presetClass="entr" presetSubtype="0" fill="hold" nodeType="withEffect">
                                  <p:stCondLst>
                                    <p:cond delay="1540"/>
                                  </p:stCondLst>
                                  <p:childTnLst>
                                    <p:set>
                                      <p:cBhvr>
                                        <p:cTn id="90" dur="1" fill="hold">
                                          <p:stCondLst>
                                            <p:cond delay="0"/>
                                          </p:stCondLst>
                                        </p:cTn>
                                        <p:tgtEl>
                                          <p:spTgt spid="17"/>
                                        </p:tgtEl>
                                        <p:attrNameLst>
                                          <p:attrName>style.visibility</p:attrName>
                                        </p:attrNameLst>
                                      </p:cBhvr>
                                      <p:to>
                                        <p:strVal val="visible"/>
                                      </p:to>
                                    </p:set>
                                    <p:animEffect transition="in" filter="fade">
                                      <p:cBhvr>
                                        <p:cTn id="91" dur="400"/>
                                        <p:tgtEl>
                                          <p:spTgt spid="17"/>
                                        </p:tgtEl>
                                      </p:cBhvr>
                                    </p:animEffect>
                                  </p:childTnLst>
                                </p:cTn>
                              </p:par>
                              <p:par>
                                <p:cTn id="92" presetID="10" presetClass="entr" presetSubtype="0" fill="hold" nodeType="withEffect">
                                  <p:stCondLst>
                                    <p:cond delay="1540"/>
                                  </p:stCondLst>
                                  <p:childTnLst>
                                    <p:set>
                                      <p:cBhvr>
                                        <p:cTn id="93" dur="1" fill="hold">
                                          <p:stCondLst>
                                            <p:cond delay="0"/>
                                          </p:stCondLst>
                                        </p:cTn>
                                        <p:tgtEl>
                                          <p:spTgt spid="41"/>
                                        </p:tgtEl>
                                        <p:attrNameLst>
                                          <p:attrName>style.visibility</p:attrName>
                                        </p:attrNameLst>
                                      </p:cBhvr>
                                      <p:to>
                                        <p:strVal val="visible"/>
                                      </p:to>
                                    </p:set>
                                    <p:animEffect transition="in" filter="fade">
                                      <p:cBhvr>
                                        <p:cTn id="94" dur="400"/>
                                        <p:tgtEl>
                                          <p:spTgt spid="41"/>
                                        </p:tgtEl>
                                      </p:cBhvr>
                                    </p:animEffect>
                                  </p:childTnLst>
                                </p:cTn>
                              </p:par>
                              <p:par>
                                <p:cTn id="95" presetID="10" presetClass="entr" presetSubtype="0" fill="hold" nodeType="withEffect">
                                  <p:stCondLst>
                                    <p:cond delay="1540"/>
                                  </p:stCondLst>
                                  <p:childTnLst>
                                    <p:set>
                                      <p:cBhvr>
                                        <p:cTn id="96" dur="1" fill="hold">
                                          <p:stCondLst>
                                            <p:cond delay="0"/>
                                          </p:stCondLst>
                                        </p:cTn>
                                        <p:tgtEl>
                                          <p:spTgt spid="42"/>
                                        </p:tgtEl>
                                        <p:attrNameLst>
                                          <p:attrName>style.visibility</p:attrName>
                                        </p:attrNameLst>
                                      </p:cBhvr>
                                      <p:to>
                                        <p:strVal val="visible"/>
                                      </p:to>
                                    </p:set>
                                    <p:animEffect transition="in" filter="fade">
                                      <p:cBhvr>
                                        <p:cTn id="97" dur="400"/>
                                        <p:tgtEl>
                                          <p:spTgt spid="42"/>
                                        </p:tgtEl>
                                      </p:cBhvr>
                                    </p:animEffect>
                                  </p:childTnLst>
                                </p:cTn>
                              </p:par>
                              <p:par>
                                <p:cTn id="98" presetID="10" presetClass="entr" presetSubtype="0" fill="hold" nodeType="withEffect">
                                  <p:stCondLst>
                                    <p:cond delay="1540"/>
                                  </p:stCondLst>
                                  <p:childTnLst>
                                    <p:set>
                                      <p:cBhvr>
                                        <p:cTn id="99" dur="1" fill="hold">
                                          <p:stCondLst>
                                            <p:cond delay="0"/>
                                          </p:stCondLst>
                                        </p:cTn>
                                        <p:tgtEl>
                                          <p:spTgt spid="43"/>
                                        </p:tgtEl>
                                        <p:attrNameLst>
                                          <p:attrName>style.visibility</p:attrName>
                                        </p:attrNameLst>
                                      </p:cBhvr>
                                      <p:to>
                                        <p:strVal val="visible"/>
                                      </p:to>
                                    </p:set>
                                    <p:animEffect transition="in" filter="fade">
                                      <p:cBhvr>
                                        <p:cTn id="100" dur="400"/>
                                        <p:tgtEl>
                                          <p:spTgt spid="43"/>
                                        </p:tgtEl>
                                      </p:cBhvr>
                                    </p:animEffect>
                                  </p:childTnLst>
                                </p:cTn>
                              </p:par>
                              <p:par>
                                <p:cTn id="101" presetID="10" presetClass="entr" presetSubtype="0" fill="hold" nodeType="withEffect">
                                  <p:stCondLst>
                                    <p:cond delay="1540"/>
                                  </p:stCondLst>
                                  <p:childTnLst>
                                    <p:set>
                                      <p:cBhvr>
                                        <p:cTn id="102" dur="1" fill="hold">
                                          <p:stCondLst>
                                            <p:cond delay="0"/>
                                          </p:stCondLst>
                                        </p:cTn>
                                        <p:tgtEl>
                                          <p:spTgt spid="44"/>
                                        </p:tgtEl>
                                        <p:attrNameLst>
                                          <p:attrName>style.visibility</p:attrName>
                                        </p:attrNameLst>
                                      </p:cBhvr>
                                      <p:to>
                                        <p:strVal val="visible"/>
                                      </p:to>
                                    </p:set>
                                    <p:animEffect transition="in" filter="fade">
                                      <p:cBhvr>
                                        <p:cTn id="103" dur="400"/>
                                        <p:tgtEl>
                                          <p:spTgt spid="44"/>
                                        </p:tgtEl>
                                      </p:cBhvr>
                                    </p:animEffect>
                                  </p:childTnLst>
                                </p:cTn>
                              </p:par>
                              <p:par>
                                <p:cTn id="104" presetID="10" presetClass="entr" presetSubtype="0" fill="hold" nodeType="withEffect">
                                  <p:stCondLst>
                                    <p:cond delay="1540"/>
                                  </p:stCondLst>
                                  <p:childTnLst>
                                    <p:set>
                                      <p:cBhvr>
                                        <p:cTn id="105" dur="1" fill="hold">
                                          <p:stCondLst>
                                            <p:cond delay="0"/>
                                          </p:stCondLst>
                                        </p:cTn>
                                        <p:tgtEl>
                                          <p:spTgt spid="45"/>
                                        </p:tgtEl>
                                        <p:attrNameLst>
                                          <p:attrName>style.visibility</p:attrName>
                                        </p:attrNameLst>
                                      </p:cBhvr>
                                      <p:to>
                                        <p:strVal val="visible"/>
                                      </p:to>
                                    </p:set>
                                    <p:animEffect transition="in" filter="fade">
                                      <p:cBhvr>
                                        <p:cTn id="106" dur="400"/>
                                        <p:tgtEl>
                                          <p:spTgt spid="45"/>
                                        </p:tgtEl>
                                      </p:cBhvr>
                                    </p:animEffect>
                                  </p:childTnLst>
                                </p:cTn>
                              </p:par>
                              <p:par>
                                <p:cTn id="107" presetID="10" presetClass="entr" presetSubtype="0" fill="hold" nodeType="withEffect">
                                  <p:stCondLst>
                                    <p:cond delay="1540"/>
                                  </p:stCondLst>
                                  <p:childTnLst>
                                    <p:set>
                                      <p:cBhvr>
                                        <p:cTn id="108" dur="1" fill="hold">
                                          <p:stCondLst>
                                            <p:cond delay="0"/>
                                          </p:stCondLst>
                                        </p:cTn>
                                        <p:tgtEl>
                                          <p:spTgt spid="46"/>
                                        </p:tgtEl>
                                        <p:attrNameLst>
                                          <p:attrName>style.visibility</p:attrName>
                                        </p:attrNameLst>
                                      </p:cBhvr>
                                      <p:to>
                                        <p:strVal val="visible"/>
                                      </p:to>
                                    </p:set>
                                    <p:animEffect transition="in" filter="fade">
                                      <p:cBhvr>
                                        <p:cTn id="109" dur="400"/>
                                        <p:tgtEl>
                                          <p:spTgt spid="46"/>
                                        </p:tgtEl>
                                      </p:cBhvr>
                                    </p:animEffect>
                                  </p:childTnLst>
                                </p:cTn>
                              </p:par>
                              <p:par>
                                <p:cTn id="110" presetID="10" presetClass="entr" presetSubtype="0" fill="hold" nodeType="withEffect">
                                  <p:stCondLst>
                                    <p:cond delay="1540"/>
                                  </p:stCondLst>
                                  <p:childTnLst>
                                    <p:set>
                                      <p:cBhvr>
                                        <p:cTn id="111" dur="1" fill="hold">
                                          <p:stCondLst>
                                            <p:cond delay="0"/>
                                          </p:stCondLst>
                                        </p:cTn>
                                        <p:tgtEl>
                                          <p:spTgt spid="47"/>
                                        </p:tgtEl>
                                        <p:attrNameLst>
                                          <p:attrName>style.visibility</p:attrName>
                                        </p:attrNameLst>
                                      </p:cBhvr>
                                      <p:to>
                                        <p:strVal val="visible"/>
                                      </p:to>
                                    </p:set>
                                    <p:animEffect transition="in" filter="fade">
                                      <p:cBhvr>
                                        <p:cTn id="112" dur="400"/>
                                        <p:tgtEl>
                                          <p:spTgt spid="47"/>
                                        </p:tgtEl>
                                      </p:cBhvr>
                                    </p:animEffect>
                                  </p:childTnLst>
                                </p:cTn>
                              </p:par>
                              <p:par>
                                <p:cTn id="113" presetID="10" presetClass="entr" presetSubtype="0" fill="hold" nodeType="withEffect">
                                  <p:stCondLst>
                                    <p:cond delay="1760"/>
                                  </p:stCondLst>
                                  <p:childTnLst>
                                    <p:set>
                                      <p:cBhvr>
                                        <p:cTn id="114" dur="1" fill="hold">
                                          <p:stCondLst>
                                            <p:cond delay="0"/>
                                          </p:stCondLst>
                                        </p:cTn>
                                        <p:tgtEl>
                                          <p:spTgt spid="15"/>
                                        </p:tgtEl>
                                        <p:attrNameLst>
                                          <p:attrName>style.visibility</p:attrName>
                                        </p:attrNameLst>
                                      </p:cBhvr>
                                      <p:to>
                                        <p:strVal val="visible"/>
                                      </p:to>
                                    </p:set>
                                    <p:animEffect transition="in" filter="fade">
                                      <p:cBhvr>
                                        <p:cTn id="115" dur="400"/>
                                        <p:tgtEl>
                                          <p:spTgt spid="15"/>
                                        </p:tgtEl>
                                      </p:cBhvr>
                                    </p:animEffect>
                                  </p:childTnLst>
                                </p:cTn>
                              </p:par>
                              <p:par>
                                <p:cTn id="116" presetID="10" presetClass="entr" presetSubtype="0" fill="hold" nodeType="withEffect">
                                  <p:stCondLst>
                                    <p:cond delay="176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00"/>
                                        <p:tgtEl>
                                          <p:spTgt spid="48"/>
                                        </p:tgtEl>
                                      </p:cBhvr>
                                    </p:animEffect>
                                  </p:childTnLst>
                                </p:cTn>
                              </p:par>
                              <p:par>
                                <p:cTn id="119" presetID="10" presetClass="entr" presetSubtype="0" fill="hold" nodeType="withEffect">
                                  <p:stCondLst>
                                    <p:cond delay="1760"/>
                                  </p:stCondLst>
                                  <p:childTnLst>
                                    <p:set>
                                      <p:cBhvr>
                                        <p:cTn id="120" dur="1" fill="hold">
                                          <p:stCondLst>
                                            <p:cond delay="0"/>
                                          </p:stCondLst>
                                        </p:cTn>
                                        <p:tgtEl>
                                          <p:spTgt spid="49"/>
                                        </p:tgtEl>
                                        <p:attrNameLst>
                                          <p:attrName>style.visibility</p:attrName>
                                        </p:attrNameLst>
                                      </p:cBhvr>
                                      <p:to>
                                        <p:strVal val="visible"/>
                                      </p:to>
                                    </p:set>
                                    <p:animEffect transition="in" filter="fade">
                                      <p:cBhvr>
                                        <p:cTn id="121" dur="400"/>
                                        <p:tgtEl>
                                          <p:spTgt spid="49"/>
                                        </p:tgtEl>
                                      </p:cBhvr>
                                    </p:animEffect>
                                  </p:childTnLst>
                                </p:cTn>
                              </p:par>
                              <p:par>
                                <p:cTn id="122" presetID="10" presetClass="entr" presetSubtype="0" fill="hold" nodeType="withEffect">
                                  <p:stCondLst>
                                    <p:cond delay="1760"/>
                                  </p:stCondLst>
                                  <p:childTnLst>
                                    <p:set>
                                      <p:cBhvr>
                                        <p:cTn id="123" dur="1" fill="hold">
                                          <p:stCondLst>
                                            <p:cond delay="0"/>
                                          </p:stCondLst>
                                        </p:cTn>
                                        <p:tgtEl>
                                          <p:spTgt spid="50"/>
                                        </p:tgtEl>
                                        <p:attrNameLst>
                                          <p:attrName>style.visibility</p:attrName>
                                        </p:attrNameLst>
                                      </p:cBhvr>
                                      <p:to>
                                        <p:strVal val="visible"/>
                                      </p:to>
                                    </p:set>
                                    <p:animEffect transition="in" filter="fade">
                                      <p:cBhvr>
                                        <p:cTn id="124" dur="400"/>
                                        <p:tgtEl>
                                          <p:spTgt spid="50"/>
                                        </p:tgtEl>
                                      </p:cBhvr>
                                    </p:animEffect>
                                  </p:childTnLst>
                                </p:cTn>
                              </p:par>
                              <p:par>
                                <p:cTn id="125" presetID="10" presetClass="entr" presetSubtype="0" fill="hold" nodeType="withEffect">
                                  <p:stCondLst>
                                    <p:cond delay="1760"/>
                                  </p:stCondLst>
                                  <p:childTnLst>
                                    <p:set>
                                      <p:cBhvr>
                                        <p:cTn id="126" dur="1" fill="hold">
                                          <p:stCondLst>
                                            <p:cond delay="0"/>
                                          </p:stCondLst>
                                        </p:cTn>
                                        <p:tgtEl>
                                          <p:spTgt spid="51"/>
                                        </p:tgtEl>
                                        <p:attrNameLst>
                                          <p:attrName>style.visibility</p:attrName>
                                        </p:attrNameLst>
                                      </p:cBhvr>
                                      <p:to>
                                        <p:strVal val="visible"/>
                                      </p:to>
                                    </p:set>
                                    <p:animEffect transition="in" filter="fade">
                                      <p:cBhvr>
                                        <p:cTn id="127" dur="400"/>
                                        <p:tgtEl>
                                          <p:spTgt spid="51"/>
                                        </p:tgtEl>
                                      </p:cBhvr>
                                    </p:animEffect>
                                  </p:childTnLst>
                                </p:cTn>
                              </p:par>
                              <p:par>
                                <p:cTn id="128" presetID="10" presetClass="entr" presetSubtype="0" fill="hold" nodeType="withEffect">
                                  <p:stCondLst>
                                    <p:cond delay="1760"/>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400"/>
                                        <p:tgtEl>
                                          <p:spTgt spid="52"/>
                                        </p:tgtEl>
                                      </p:cBhvr>
                                    </p:animEffect>
                                  </p:childTnLst>
                                </p:cTn>
                              </p:par>
                              <p:par>
                                <p:cTn id="131" presetID="10" presetClass="entr" presetSubtype="0" fill="hold" nodeType="withEffect">
                                  <p:stCondLst>
                                    <p:cond delay="176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00"/>
                                        <p:tgtEl>
                                          <p:spTgt spid="53"/>
                                        </p:tgtEl>
                                      </p:cBhvr>
                                    </p:animEffect>
                                  </p:childTnLst>
                                </p:cTn>
                              </p:par>
                              <p:par>
                                <p:cTn id="134" presetID="10" presetClass="entr" presetSubtype="0" fill="hold" nodeType="withEffect">
                                  <p:stCondLst>
                                    <p:cond delay="1760"/>
                                  </p:stCondLst>
                                  <p:childTnLst>
                                    <p:set>
                                      <p:cBhvr>
                                        <p:cTn id="135" dur="1" fill="hold">
                                          <p:stCondLst>
                                            <p:cond delay="0"/>
                                          </p:stCondLst>
                                        </p:cTn>
                                        <p:tgtEl>
                                          <p:spTgt spid="54"/>
                                        </p:tgtEl>
                                        <p:attrNameLst>
                                          <p:attrName>style.visibility</p:attrName>
                                        </p:attrNameLst>
                                      </p:cBhvr>
                                      <p:to>
                                        <p:strVal val="visible"/>
                                      </p:to>
                                    </p:set>
                                    <p:animEffect transition="in" filter="fade">
                                      <p:cBhvr>
                                        <p:cTn id="136" dur="400"/>
                                        <p:tgtEl>
                                          <p:spTgt spid="54"/>
                                        </p:tgtEl>
                                      </p:cBhvr>
                                    </p:animEffect>
                                  </p:childTnLst>
                                </p:cTn>
                              </p:par>
                              <p:par>
                                <p:cTn id="137" presetID="10" presetClass="entr" presetSubtype="0" fill="hold" nodeType="withEffect">
                                  <p:stCondLst>
                                    <p:cond delay="1980"/>
                                  </p:stCondLst>
                                  <p:childTnLst>
                                    <p:set>
                                      <p:cBhvr>
                                        <p:cTn id="138" dur="1" fill="hold">
                                          <p:stCondLst>
                                            <p:cond delay="0"/>
                                          </p:stCondLst>
                                        </p:cTn>
                                        <p:tgtEl>
                                          <p:spTgt spid="13"/>
                                        </p:tgtEl>
                                        <p:attrNameLst>
                                          <p:attrName>style.visibility</p:attrName>
                                        </p:attrNameLst>
                                      </p:cBhvr>
                                      <p:to>
                                        <p:strVal val="visible"/>
                                      </p:to>
                                    </p:set>
                                    <p:animEffect transition="in" filter="fade">
                                      <p:cBhvr>
                                        <p:cTn id="139" dur="400"/>
                                        <p:tgtEl>
                                          <p:spTgt spid="13"/>
                                        </p:tgtEl>
                                      </p:cBhvr>
                                    </p:animEffect>
                                  </p:childTnLst>
                                </p:cTn>
                              </p:par>
                              <p:par>
                                <p:cTn id="140" presetID="10" presetClass="entr" presetSubtype="0" fill="hold" nodeType="withEffect">
                                  <p:stCondLst>
                                    <p:cond delay="198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98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98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98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98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98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par>
                                <p:cTn id="158" presetID="10" presetClass="entr" presetSubtype="0" fill="hold" nodeType="withEffect">
                                  <p:stCondLst>
                                    <p:cond delay="1980"/>
                                  </p:stCondLst>
                                  <p:childTnLst>
                                    <p:set>
                                      <p:cBhvr>
                                        <p:cTn id="159" dur="1" fill="hold">
                                          <p:stCondLst>
                                            <p:cond delay="0"/>
                                          </p:stCondLst>
                                        </p:cTn>
                                        <p:tgtEl>
                                          <p:spTgt spid="61"/>
                                        </p:tgtEl>
                                        <p:attrNameLst>
                                          <p:attrName>style.visibility</p:attrName>
                                        </p:attrNameLst>
                                      </p:cBhvr>
                                      <p:to>
                                        <p:strVal val="visible"/>
                                      </p:to>
                                    </p:set>
                                    <p:animEffect transition="in" filter="fade">
                                      <p:cBhvr>
                                        <p:cTn id="16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09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AI THAM MƯU</a:t>
            </a:r>
            <a:endParaRPr lang="en-US" sz="1150" dirty="0"/>
          </a:p>
        </p:txBody>
      </p:sp>
      <p:sp>
        <p:nvSpPr>
          <p:cNvPr id="9" name="Text 5"/>
          <p:cNvSpPr/>
          <p:nvPr/>
        </p:nvSpPr>
        <p:spPr>
          <a:xfrm>
            <a:off x="713232" y="1426464"/>
            <a:ext cx="10490911" cy="492760"/>
          </a:xfrm>
          <a:prstGeom prst="rect">
            <a:avLst/>
          </a:prstGeom>
          <a:noFill/>
          <a:ln/>
        </p:spPr>
        <p:txBody>
          <a:bodyPr wrap="square" lIns="0" tIns="0" rIns="0" bIns="0" rtlCol="0" anchor="t"/>
          <a:lstStyle/>
          <a:p>
            <a:pPr marL="0" indent="0" algn="l">
              <a:lnSpc>
                <a:spcPts val="3304"/>
              </a:lnSpc>
              <a:buNone/>
            </a:pPr>
            <a:r>
              <a:rPr lang="en-US" sz="2800" b="1" dirty="0">
                <a:solidFill>
                  <a:srgbClr val="FFFFFF"/>
                </a:solidFill>
                <a:latin typeface="Be Vietnam Pro" pitchFamily="34" charset="0"/>
                <a:ea typeface="Be Vietnam Pro" pitchFamily="34" charset="-122"/>
                <a:cs typeface="Be Vietnam Pro" pitchFamily="34" charset="-120"/>
              </a:rPr>
              <a:t>Trưởng thôn báo cáo — AI phân </a:t>
            </a:r>
            <a:r>
              <a:rPr lang="en-US" sz="2800" b="1" dirty="0" err="1">
                <a:solidFill>
                  <a:srgbClr val="FFFFFF"/>
                </a:solidFill>
                <a:latin typeface="Be Vietnam Pro" pitchFamily="34" charset="0"/>
                <a:ea typeface="Be Vietnam Pro" pitchFamily="34" charset="-122"/>
                <a:cs typeface="Be Vietnam Pro" pitchFamily="34" charset="-120"/>
              </a:rPr>
              <a:t>tích</a:t>
            </a:r>
            <a:r>
              <a:rPr lang="en-US" sz="2800" b="1" dirty="0">
                <a:solidFill>
                  <a:srgbClr val="FFFFFF"/>
                </a:solidFill>
                <a:latin typeface="Be Vietnam Pro" pitchFamily="34" charset="0"/>
                <a:ea typeface="Be Vietnam Pro" pitchFamily="34" charset="-122"/>
                <a:cs typeface="Be Vietnam Pro" pitchFamily="34" charset="-120"/>
              </a:rPr>
              <a:t> </a:t>
            </a:r>
            <a:r>
              <a:rPr lang="en-US" sz="2800" b="1" dirty="0" err="1">
                <a:solidFill>
                  <a:srgbClr val="FFFFFF"/>
                </a:solidFill>
                <a:latin typeface="Be Vietnam Pro" pitchFamily="34" charset="0"/>
                <a:ea typeface="Be Vietnam Pro" pitchFamily="34" charset="-122"/>
                <a:cs typeface="Be Vietnam Pro" pitchFamily="34" charset="-120"/>
              </a:rPr>
              <a:t>và</a:t>
            </a:r>
            <a:r>
              <a:rPr lang="en-US" sz="2800" b="1" dirty="0">
                <a:solidFill>
                  <a:srgbClr val="FFFFFF"/>
                </a:solidFill>
                <a:latin typeface="Be Vietnam Pro" pitchFamily="34" charset="0"/>
                <a:ea typeface="Be Vietnam Pro" pitchFamily="34" charset="-122"/>
                <a:cs typeface="Be Vietnam Pro" pitchFamily="34" charset="-120"/>
              </a:rPr>
              <a:t> </a:t>
            </a:r>
            <a:r>
              <a:rPr lang="en-US" sz="2800" b="1" dirty="0" err="1">
                <a:solidFill>
                  <a:srgbClr val="FFFFFF"/>
                </a:solidFill>
                <a:latin typeface="Be Vietnam Pro" pitchFamily="34" charset="0"/>
                <a:ea typeface="Be Vietnam Pro" pitchFamily="34" charset="-122"/>
                <a:cs typeface="Be Vietnam Pro" pitchFamily="34" charset="-120"/>
              </a:rPr>
              <a:t>lập</a:t>
            </a:r>
            <a:r>
              <a:rPr lang="en-US" sz="2800" b="1" dirty="0">
                <a:solidFill>
                  <a:srgbClr val="FFFFFF"/>
                </a:solidFill>
                <a:latin typeface="Be Vietnam Pro" pitchFamily="34" charset="0"/>
                <a:ea typeface="Be Vietnam Pro" pitchFamily="34" charset="-122"/>
                <a:cs typeface="Be Vietnam Pro" pitchFamily="34" charset="-120"/>
              </a:rPr>
              <a:t> bản tham mưu</a:t>
            </a:r>
            <a:endParaRPr lang="en-US" sz="28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pic>
        <p:nvPicPr>
          <p:cNvPr id="12" name="Image 2" descr="anh/da-cat/ai-tham-muu.jpg"/>
          <p:cNvPicPr>
            <a:picLocks noChangeAspect="1"/>
          </p:cNvPicPr>
          <p:nvPr/>
        </p:nvPicPr>
        <p:blipFill>
          <a:blip r:embed="rId5"/>
          <a:stretch>
            <a:fillRect/>
          </a:stretch>
        </p:blipFill>
        <p:spPr>
          <a:xfrm>
            <a:off x="713232" y="2220214"/>
            <a:ext cx="2882189" cy="3511296"/>
          </a:xfrm>
          <a:prstGeom prst="rect">
            <a:avLst/>
          </a:prstGeom>
        </p:spPr>
      </p:pic>
      <p:sp>
        <p:nvSpPr>
          <p:cNvPr id="13" name="Shape 8"/>
          <p:cNvSpPr/>
          <p:nvPr/>
        </p:nvSpPr>
        <p:spPr>
          <a:xfrm>
            <a:off x="713232" y="2220214"/>
            <a:ext cx="2882189" cy="3511296"/>
          </a:xfrm>
          <a:prstGeom prst="roundRect">
            <a:avLst>
              <a:gd name="adj" fmla="val 3807"/>
            </a:avLst>
          </a:prstGeom>
          <a:solidFill>
            <a:srgbClr val="FFFFFF">
              <a:alpha val="0"/>
            </a:srgbClr>
          </a:solidFill>
          <a:ln w="12700">
            <a:solidFill>
              <a:srgbClr val="FFFFFF">
                <a:alpha val="18000"/>
              </a:srgbClr>
            </a:solidFill>
            <a:prstDash val="solid"/>
          </a:ln>
        </p:spPr>
      </p:sp>
      <p:sp>
        <p:nvSpPr>
          <p:cNvPr id="14" name="Text 9"/>
          <p:cNvSpPr/>
          <p:nvPr/>
        </p:nvSpPr>
        <p:spPr>
          <a:xfrm>
            <a:off x="713232" y="5804662"/>
            <a:ext cx="2973629" cy="253175"/>
          </a:xfrm>
          <a:prstGeom prst="rect">
            <a:avLst/>
          </a:prstGeom>
          <a:noFill/>
          <a:ln/>
        </p:spPr>
        <p:txBody>
          <a:bodyPr wrap="square" lIns="0" tIns="0" rIns="0" bIns="0" rtlCol="0" anchor="t"/>
          <a:lstStyle/>
          <a:p>
            <a:pPr marL="0" indent="0" algn="l">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Màn hình thật trên hệ thống Ứng Phó Nhanh.</a:t>
            </a:r>
            <a:endParaRPr lang="en-US" sz="1050" dirty="0"/>
          </a:p>
        </p:txBody>
      </p:sp>
      <p:sp>
        <p:nvSpPr>
          <p:cNvPr id="15" name="Shape 10"/>
          <p:cNvSpPr/>
          <p:nvPr/>
        </p:nvSpPr>
        <p:spPr>
          <a:xfrm rot="5400000">
            <a:off x="3796589" y="3985006"/>
            <a:ext cx="274320" cy="274320"/>
          </a:xfrm>
          <a:prstGeom prst="triangle">
            <a:avLst/>
          </a:prstGeom>
          <a:solidFill>
            <a:srgbClr val="6EE7A8">
              <a:alpha val="90000"/>
            </a:srgbClr>
          </a:solidFill>
          <a:ln/>
        </p:spPr>
      </p:sp>
      <p:sp>
        <p:nvSpPr>
          <p:cNvPr id="16" name="Shape 11"/>
          <p:cNvSpPr/>
          <p:nvPr/>
        </p:nvSpPr>
        <p:spPr>
          <a:xfrm>
            <a:off x="4272077" y="2220214"/>
            <a:ext cx="720638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17" name="Shape 12"/>
          <p:cNvSpPr/>
          <p:nvPr/>
        </p:nvSpPr>
        <p:spPr>
          <a:xfrm>
            <a:off x="4272077" y="2220214"/>
            <a:ext cx="50292" cy="868680"/>
          </a:xfrm>
          <a:prstGeom prst="roundRect">
            <a:avLst>
              <a:gd name="adj" fmla="val 54545"/>
            </a:avLst>
          </a:prstGeom>
          <a:solidFill>
            <a:srgbClr val="22C55E">
              <a:alpha val="95000"/>
            </a:srgbClr>
          </a:solidFill>
          <a:ln/>
        </p:spPr>
      </p:sp>
      <p:sp>
        <p:nvSpPr>
          <p:cNvPr id="18" name="Text 13"/>
          <p:cNvSpPr/>
          <p:nvPr/>
        </p:nvSpPr>
        <p:spPr>
          <a:xfrm>
            <a:off x="4546397" y="2384806"/>
            <a:ext cx="6749186"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Số liệu ngay lập tức điền sẵn để người điều phối kiểm tra</a:t>
            </a:r>
            <a:endParaRPr lang="en-US" sz="1350" dirty="0"/>
          </a:p>
        </p:txBody>
      </p:sp>
      <p:sp>
        <p:nvSpPr>
          <p:cNvPr id="19" name="Text 14"/>
          <p:cNvSpPr/>
          <p:nvPr/>
        </p:nvSpPr>
        <p:spPr>
          <a:xfrm>
            <a:off x="4546397" y="2677414"/>
            <a:ext cx="6749186"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Loại tình huống, số người, số giờ cô lập, trẻ em, người già, ca y tế.</a:t>
            </a:r>
            <a:endParaRPr lang="en-US" sz="1150" dirty="0"/>
          </a:p>
        </p:txBody>
      </p:sp>
      <p:sp>
        <p:nvSpPr>
          <p:cNvPr id="20" name="Shape 15"/>
          <p:cNvSpPr/>
          <p:nvPr/>
        </p:nvSpPr>
        <p:spPr>
          <a:xfrm>
            <a:off x="4272077" y="3198622"/>
            <a:ext cx="720638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21" name="Shape 16"/>
          <p:cNvSpPr/>
          <p:nvPr/>
        </p:nvSpPr>
        <p:spPr>
          <a:xfrm>
            <a:off x="4272077" y="3198622"/>
            <a:ext cx="50292" cy="868680"/>
          </a:xfrm>
          <a:prstGeom prst="roundRect">
            <a:avLst>
              <a:gd name="adj" fmla="val 54545"/>
            </a:avLst>
          </a:prstGeom>
          <a:solidFill>
            <a:srgbClr val="FBBF24">
              <a:alpha val="95000"/>
            </a:srgbClr>
          </a:solidFill>
          <a:ln/>
        </p:spPr>
      </p:sp>
      <p:sp>
        <p:nvSpPr>
          <p:cNvPr id="22" name="Text 17"/>
          <p:cNvSpPr/>
          <p:nvPr/>
        </p:nvSpPr>
        <p:spPr>
          <a:xfrm>
            <a:off x="4546397" y="3363214"/>
            <a:ext cx="6749186"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Danh mục vật tư đề xuất</a:t>
            </a:r>
            <a:endParaRPr lang="en-US" sz="1350" dirty="0"/>
          </a:p>
        </p:txBody>
      </p:sp>
      <p:sp>
        <p:nvSpPr>
          <p:cNvPr id="23" name="Text 18"/>
          <p:cNvSpPr/>
          <p:nvPr/>
        </p:nvSpPr>
        <p:spPr>
          <a:xfrm>
            <a:off x="4546397" y="3655822"/>
            <a:ext cx="6749186"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Vật tư, thiết bị và nguồn lực cần thiết cho nhiệm vụ.</a:t>
            </a:r>
            <a:endParaRPr lang="en-US" sz="1150" dirty="0"/>
          </a:p>
        </p:txBody>
      </p:sp>
      <p:sp>
        <p:nvSpPr>
          <p:cNvPr id="24" name="Shape 19"/>
          <p:cNvSpPr/>
          <p:nvPr/>
        </p:nvSpPr>
        <p:spPr>
          <a:xfrm>
            <a:off x="4272077" y="4177030"/>
            <a:ext cx="720638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25" name="Shape 20"/>
          <p:cNvSpPr/>
          <p:nvPr/>
        </p:nvSpPr>
        <p:spPr>
          <a:xfrm>
            <a:off x="4272077" y="4177030"/>
            <a:ext cx="50292" cy="868680"/>
          </a:xfrm>
          <a:prstGeom prst="roundRect">
            <a:avLst>
              <a:gd name="adj" fmla="val 54545"/>
            </a:avLst>
          </a:prstGeom>
          <a:solidFill>
            <a:srgbClr val="38BDF8">
              <a:alpha val="95000"/>
            </a:srgbClr>
          </a:solidFill>
          <a:ln/>
        </p:spPr>
      </p:sp>
      <p:sp>
        <p:nvSpPr>
          <p:cNvPr id="26" name="Text 21"/>
          <p:cNvSpPr/>
          <p:nvPr/>
        </p:nvSpPr>
        <p:spPr>
          <a:xfrm>
            <a:off x="4546397" y="4341622"/>
            <a:ext cx="6749186"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Kho xuất hàng tối ưu</a:t>
            </a:r>
            <a:endParaRPr lang="en-US" sz="1350" dirty="0"/>
          </a:p>
        </p:txBody>
      </p:sp>
      <p:sp>
        <p:nvSpPr>
          <p:cNvPr id="27" name="Text 22"/>
          <p:cNvSpPr/>
          <p:nvPr/>
        </p:nvSpPr>
        <p:spPr>
          <a:xfrm>
            <a:off x="4546397" y="4634230"/>
            <a:ext cx="6749186"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Dựa trên vị trí, tồn kho và khả năng đáp ứng của từng kho.</a:t>
            </a:r>
            <a:endParaRPr lang="en-US" sz="1150" dirty="0"/>
          </a:p>
        </p:txBody>
      </p:sp>
      <p:sp>
        <p:nvSpPr>
          <p:cNvPr id="28" name="Shape 23"/>
          <p:cNvSpPr/>
          <p:nvPr/>
        </p:nvSpPr>
        <p:spPr>
          <a:xfrm>
            <a:off x="4272077" y="5155438"/>
            <a:ext cx="720638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29" name="Shape 24"/>
          <p:cNvSpPr/>
          <p:nvPr/>
        </p:nvSpPr>
        <p:spPr>
          <a:xfrm>
            <a:off x="4272077" y="5155438"/>
            <a:ext cx="50292" cy="868680"/>
          </a:xfrm>
          <a:prstGeom prst="roundRect">
            <a:avLst>
              <a:gd name="adj" fmla="val 54545"/>
            </a:avLst>
          </a:prstGeom>
          <a:solidFill>
            <a:srgbClr val="FB923C">
              <a:alpha val="95000"/>
            </a:srgbClr>
          </a:solidFill>
          <a:ln/>
        </p:spPr>
      </p:sp>
      <p:sp>
        <p:nvSpPr>
          <p:cNvPr id="30" name="Text 25"/>
          <p:cNvSpPr/>
          <p:nvPr/>
        </p:nvSpPr>
        <p:spPr>
          <a:xfrm>
            <a:off x="4546397" y="5320030"/>
            <a:ext cx="6749186"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Bản tham mưu sẵn sàng duyệt</a:t>
            </a:r>
            <a:endParaRPr lang="en-US" sz="1350" dirty="0"/>
          </a:p>
        </p:txBody>
      </p:sp>
      <p:sp>
        <p:nvSpPr>
          <p:cNvPr id="31" name="Text 26"/>
          <p:cNvSpPr/>
          <p:nvPr/>
        </p:nvSpPr>
        <p:spPr>
          <a:xfrm>
            <a:off x="4546397" y="5612638"/>
            <a:ext cx="6749186"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Người điều phối chỉ cần kiểm tra, chỉnh sửa và xác nhận phương án.</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66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par>
                                <p:cTn id="23" presetID="10" presetClass="entr" presetSubtype="0" fill="hold" nodeType="withEffect">
                                  <p:stCondLst>
                                    <p:cond delay="66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nodeType="withEffect">
                                  <p:stCondLst>
                                    <p:cond delay="66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nodeType="withEffect">
                                  <p:stCondLst>
                                    <p:cond delay="66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nodeType="withEffect">
                                  <p:stCondLst>
                                    <p:cond delay="88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88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88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88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110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400"/>
                                        <p:tgtEl>
                                          <p:spTgt spid="15"/>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32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10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3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Chọn kho theo khoảng cách và khả năng đáp ứng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42453" y="2165350"/>
            <a:ext cx="3490874" cy="1847088"/>
          </a:xfrm>
          <a:prstGeom prst="roundRect">
            <a:avLst>
              <a:gd name="adj" fmla="val 7921"/>
            </a:avLst>
          </a:prstGeom>
          <a:solidFill>
            <a:srgbClr val="22C55E">
              <a:alpha val="18000"/>
            </a:srgbClr>
          </a:solidFill>
          <a:ln/>
        </p:spPr>
      </p:sp>
      <p:sp>
        <p:nvSpPr>
          <p:cNvPr id="33" name="Shape 29"/>
          <p:cNvSpPr/>
          <p:nvPr/>
        </p:nvSpPr>
        <p:spPr>
          <a:xfrm>
            <a:off x="8097317" y="2220214"/>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34" name="Shape 30"/>
          <p:cNvSpPr/>
          <p:nvPr/>
        </p:nvSpPr>
        <p:spPr>
          <a:xfrm>
            <a:off x="8097317" y="2220214"/>
            <a:ext cx="50292" cy="1737360"/>
          </a:xfrm>
          <a:prstGeom prst="roundRect">
            <a:avLst>
              <a:gd name="adj" fmla="val 54545"/>
            </a:avLst>
          </a:prstGeom>
          <a:solidFill>
            <a:srgbClr val="22C55E">
              <a:alpha val="95000"/>
            </a:srgbClr>
          </a:solidFill>
          <a:ln/>
        </p:spPr>
      </p:sp>
      <p:sp>
        <p:nvSpPr>
          <p:cNvPr id="35" name="Shape 31"/>
          <p:cNvSpPr/>
          <p:nvPr/>
        </p:nvSpPr>
        <p:spPr>
          <a:xfrm>
            <a:off x="8371637" y="2439670"/>
            <a:ext cx="420624" cy="420624"/>
          </a:xfrm>
          <a:prstGeom prst="roundRect">
            <a:avLst>
              <a:gd name="adj" fmla="val 50000"/>
            </a:avLst>
          </a:prstGeom>
          <a:solidFill>
            <a:srgbClr val="04101F">
              <a:alpha val="88000"/>
            </a:srgbClr>
          </a:solidFill>
          <a:ln/>
        </p:spPr>
      </p:sp>
      <p:sp>
        <p:nvSpPr>
          <p:cNvPr id="36" name="Shape 32"/>
          <p:cNvSpPr/>
          <p:nvPr/>
        </p:nvSpPr>
        <p:spPr>
          <a:xfrm>
            <a:off x="8371637"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37" name="Text 33"/>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3</a:t>
            </a:r>
            <a:endParaRPr lang="en-US" sz="1500" dirty="0"/>
          </a:p>
        </p:txBody>
      </p:sp>
      <p:sp>
        <p:nvSpPr>
          <p:cNvPr id="38" name="Text 34"/>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9" name="Text 35"/>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40" name="Shape 36"/>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1" name="Shape 37"/>
          <p:cNvSpPr/>
          <p:nvPr/>
        </p:nvSpPr>
        <p:spPr>
          <a:xfrm>
            <a:off x="8097317" y="4359910"/>
            <a:ext cx="50292" cy="1737360"/>
          </a:xfrm>
          <a:prstGeom prst="roundRect">
            <a:avLst>
              <a:gd name="adj" fmla="val 54545"/>
            </a:avLst>
          </a:prstGeom>
          <a:solidFill>
            <a:srgbClr val="3C5468">
              <a:alpha val="95000"/>
            </a:srgbClr>
          </a:solidFill>
          <a:ln/>
        </p:spPr>
      </p:sp>
      <p:sp>
        <p:nvSpPr>
          <p:cNvPr id="42" name="Shape 38"/>
          <p:cNvSpPr/>
          <p:nvPr/>
        </p:nvSpPr>
        <p:spPr>
          <a:xfrm>
            <a:off x="8371637" y="4579366"/>
            <a:ext cx="420624" cy="420624"/>
          </a:xfrm>
          <a:prstGeom prst="roundRect">
            <a:avLst>
              <a:gd name="adj" fmla="val 50000"/>
            </a:avLst>
          </a:prstGeom>
          <a:solidFill>
            <a:srgbClr val="04101F">
              <a:alpha val="88000"/>
            </a:srgbClr>
          </a:solidFill>
          <a:ln/>
        </p:spPr>
      </p:sp>
      <p:sp>
        <p:nvSpPr>
          <p:cNvPr id="43" name="Shape 39"/>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4" name="Text 40"/>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5" name="Text 41"/>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6" name="Text 42"/>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lúc.</a:t>
            </a:r>
            <a:endParaRPr lang="en-US" sz="1150" dirty="0"/>
          </a:p>
        </p:txBody>
      </p:sp>
      <p:sp>
        <p:nvSpPr>
          <p:cNvPr id="47" name="Shape 43"/>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8" name="Shape 44"/>
          <p:cNvSpPr/>
          <p:nvPr/>
        </p:nvSpPr>
        <p:spPr>
          <a:xfrm>
            <a:off x="4405274" y="4359910"/>
            <a:ext cx="50292" cy="1737360"/>
          </a:xfrm>
          <a:prstGeom prst="roundRect">
            <a:avLst>
              <a:gd name="adj" fmla="val 54545"/>
            </a:avLst>
          </a:prstGeom>
          <a:solidFill>
            <a:srgbClr val="3C5468">
              <a:alpha val="95000"/>
            </a:srgbClr>
          </a:solidFill>
          <a:ln/>
        </p:spPr>
      </p:sp>
      <p:sp>
        <p:nvSpPr>
          <p:cNvPr id="49" name="Shape 45"/>
          <p:cNvSpPr/>
          <p:nvPr/>
        </p:nvSpPr>
        <p:spPr>
          <a:xfrm>
            <a:off x="4679594" y="4579366"/>
            <a:ext cx="420624" cy="420624"/>
          </a:xfrm>
          <a:prstGeom prst="roundRect">
            <a:avLst>
              <a:gd name="adj" fmla="val 50000"/>
            </a:avLst>
          </a:prstGeom>
          <a:solidFill>
            <a:srgbClr val="04101F">
              <a:alpha val="88000"/>
            </a:srgbClr>
          </a:solidFill>
          <a:ln/>
        </p:spPr>
      </p:sp>
      <p:sp>
        <p:nvSpPr>
          <p:cNvPr id="50" name="Shape 46"/>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1" name="Text 47"/>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2" name="Text 48"/>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3" name="Text 49"/>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4" name="Shape 50"/>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5" name="Shape 51"/>
          <p:cNvSpPr/>
          <p:nvPr/>
        </p:nvSpPr>
        <p:spPr>
          <a:xfrm>
            <a:off x="713232" y="4359910"/>
            <a:ext cx="50292" cy="1737360"/>
          </a:xfrm>
          <a:prstGeom prst="roundRect">
            <a:avLst>
              <a:gd name="adj" fmla="val 54545"/>
            </a:avLst>
          </a:prstGeom>
          <a:solidFill>
            <a:srgbClr val="3C5468">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4" presetID="10" presetClass="entr" presetSubtype="0" fill="hold" nodeType="withEffect">
                                  <p:stCondLst>
                                    <p:cond delay="44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17" presetID="10" presetClass="entr" presetSubtype="0" fill="hold" nodeType="withEffect">
                                  <p:stCondLst>
                                    <p:cond delay="44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0" presetID="10" presetClass="entr" presetSubtype="0" fill="hold" nodeType="withEffect">
                                  <p:stCondLst>
                                    <p:cond delay="4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44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6" presetID="10" presetClass="entr" presetSubtype="0" fill="hold" nodeType="withEffect">
                                  <p:stCondLst>
                                    <p:cond delay="4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29" presetID="10" presetClass="entr" presetSubtype="0" fill="hold" nodeType="withEffect">
                                  <p:stCondLst>
                                    <p:cond delay="44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66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66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par>
                                <p:cTn id="38" presetID="10" presetClass="entr" presetSubtype="0" fill="hold" nodeType="withEffect">
                                  <p:stCondLst>
                                    <p:cond delay="66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400"/>
                                        <p:tgtEl>
                                          <p:spTgt spid="26"/>
                                        </p:tgtEl>
                                      </p:cBhvr>
                                    </p:animEffect>
                                  </p:childTnLst>
                                </p:cTn>
                              </p:par>
                              <p:par>
                                <p:cTn id="41" presetID="10" presetClass="entr" presetSubtype="0" fill="hold" nodeType="withEffect">
                                  <p:stCondLst>
                                    <p:cond delay="66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400"/>
                                        <p:tgtEl>
                                          <p:spTgt spid="27"/>
                                        </p:tgtEl>
                                      </p:cBhvr>
                                    </p:animEffect>
                                  </p:childTnLst>
                                </p:cTn>
                              </p:par>
                              <p:par>
                                <p:cTn id="44" presetID="10" presetClass="entr" presetSubtype="0" fill="hold" nodeType="withEffect">
                                  <p:stCondLst>
                                    <p:cond delay="66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400"/>
                                        <p:tgtEl>
                                          <p:spTgt spid="28"/>
                                        </p:tgtEl>
                                      </p:cBhvr>
                                    </p:animEffect>
                                  </p:childTnLst>
                                </p:cTn>
                              </p:par>
                              <p:par>
                                <p:cTn id="47" presetID="10" presetClass="entr" presetSubtype="0" fill="hold" nodeType="withEffect">
                                  <p:stCondLst>
                                    <p:cond delay="66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400"/>
                                        <p:tgtEl>
                                          <p:spTgt spid="29"/>
                                        </p:tgtEl>
                                      </p:cBhvr>
                                    </p:animEffect>
                                  </p:childTnLst>
                                </p:cTn>
                              </p:par>
                              <p:par>
                                <p:cTn id="50" presetID="10" presetClass="entr" presetSubtype="0" fill="hold" nodeType="withEffect">
                                  <p:stCondLst>
                                    <p:cond delay="660"/>
                                  </p:stCondLst>
                                  <p:childTnLst>
                                    <p:set>
                                      <p:cBhvr>
                                        <p:cTn id="51" dur="1" fill="hold">
                                          <p:stCondLst>
                                            <p:cond delay="0"/>
                                          </p:stCondLst>
                                        </p:cTn>
                                        <p:tgtEl>
                                          <p:spTgt spid="30"/>
                                        </p:tgtEl>
                                        <p:attrNameLst>
                                          <p:attrName>style.visibility</p:attrName>
                                        </p:attrNameLst>
                                      </p:cBhvr>
                                      <p:to>
                                        <p:strVal val="visible"/>
                                      </p:to>
                                    </p:set>
                                    <p:animEffect transition="in" filter="fade">
                                      <p:cBhvr>
                                        <p:cTn id="52" dur="400"/>
                                        <p:tgtEl>
                                          <p:spTgt spid="30"/>
                                        </p:tgtEl>
                                      </p:cBhvr>
                                    </p:animEffect>
                                  </p:childTnLst>
                                </p:cTn>
                              </p:par>
                              <p:par>
                                <p:cTn id="53" presetID="10" presetClass="entr" presetSubtype="0" fill="hold" nodeType="withEffect">
                                  <p:stCondLst>
                                    <p:cond delay="66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400"/>
                                        <p:tgtEl>
                                          <p:spTgt spid="31"/>
                                        </p:tgtEl>
                                      </p:cBhvr>
                                    </p:animEffect>
                                  </p:childTnLst>
                                </p:cTn>
                              </p:par>
                              <p:par>
                                <p:cTn id="56" presetID="10" presetClass="entr" presetSubtype="0" fill="hold" nodeType="withEffect">
                                  <p:stCondLst>
                                    <p:cond delay="880"/>
                                  </p:stCondLst>
                                  <p:childTnLst>
                                    <p:set>
                                      <p:cBhvr>
                                        <p:cTn id="57" dur="1" fill="hold">
                                          <p:stCondLst>
                                            <p:cond delay="0"/>
                                          </p:stCondLst>
                                        </p:cTn>
                                        <p:tgtEl>
                                          <p:spTgt spid="32"/>
                                        </p:tgtEl>
                                        <p:attrNameLst>
                                          <p:attrName>style.visibility</p:attrName>
                                        </p:attrNameLst>
                                      </p:cBhvr>
                                      <p:to>
                                        <p:strVal val="visible"/>
                                      </p:to>
                                    </p:set>
                                    <p:animEffect transition="in" filter="fade">
                                      <p:cBhvr>
                                        <p:cTn id="58" dur="400"/>
                                        <p:tgtEl>
                                          <p:spTgt spid="32"/>
                                        </p:tgtEl>
                                      </p:cBhvr>
                                    </p:animEffect>
                                  </p:childTnLst>
                                </p:cTn>
                              </p:par>
                              <p:par>
                                <p:cTn id="59" presetID="10" presetClass="entr" presetSubtype="0" fill="hold" nodeType="withEffect">
                                  <p:stCondLst>
                                    <p:cond delay="110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400"/>
                                        <p:tgtEl>
                                          <p:spTgt spid="14"/>
                                        </p:tgtEl>
                                      </p:cBhvr>
                                    </p:animEffect>
                                  </p:childTnLst>
                                </p:cTn>
                              </p:par>
                              <p:par>
                                <p:cTn id="62" presetID="10" presetClass="entr" presetSubtype="0" fill="hold" nodeType="withEffect">
                                  <p:stCondLst>
                                    <p:cond delay="110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400"/>
                                        <p:tgtEl>
                                          <p:spTgt spid="33"/>
                                        </p:tgtEl>
                                      </p:cBhvr>
                                    </p:animEffect>
                                  </p:childTnLst>
                                </p:cTn>
                              </p:par>
                              <p:par>
                                <p:cTn id="65" presetID="10" presetClass="entr" presetSubtype="0" fill="hold" nodeType="withEffect">
                                  <p:stCondLst>
                                    <p:cond delay="110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68" presetID="10" presetClass="entr" presetSubtype="0" fill="hold" nodeType="withEffect">
                                  <p:stCondLst>
                                    <p:cond delay="110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400"/>
                                        <p:tgtEl>
                                          <p:spTgt spid="35"/>
                                        </p:tgtEl>
                                      </p:cBhvr>
                                    </p:animEffect>
                                  </p:childTnLst>
                                </p:cTn>
                              </p:par>
                              <p:par>
                                <p:cTn id="71" presetID="10" presetClass="entr" presetSubtype="0" fill="hold" nodeType="withEffect">
                                  <p:stCondLst>
                                    <p:cond delay="110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400"/>
                                        <p:tgtEl>
                                          <p:spTgt spid="36"/>
                                        </p:tgtEl>
                                      </p:cBhvr>
                                    </p:animEffect>
                                  </p:childTnLst>
                                </p:cTn>
                              </p:par>
                              <p:par>
                                <p:cTn id="74" presetID="10" presetClass="entr" presetSubtype="0" fill="hold" nodeType="withEffect">
                                  <p:stCondLst>
                                    <p:cond delay="110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400"/>
                                        <p:tgtEl>
                                          <p:spTgt spid="37"/>
                                        </p:tgtEl>
                                      </p:cBhvr>
                                    </p:animEffect>
                                  </p:childTnLst>
                                </p:cTn>
                              </p:par>
                              <p:par>
                                <p:cTn id="77" presetID="10" presetClass="entr" presetSubtype="0" fill="hold" nodeType="withEffect">
                                  <p:stCondLst>
                                    <p:cond delay="110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400"/>
                                        <p:tgtEl>
                                          <p:spTgt spid="38"/>
                                        </p:tgtEl>
                                      </p:cBhvr>
                                    </p:animEffect>
                                  </p:childTnLst>
                                </p:cTn>
                              </p:par>
                              <p:par>
                                <p:cTn id="80" presetID="10" presetClass="entr" presetSubtype="0" fill="hold" nodeType="withEffect">
                                  <p:stCondLst>
                                    <p:cond delay="1100"/>
                                  </p:stCondLst>
                                  <p:childTnLst>
                                    <p:set>
                                      <p:cBhvr>
                                        <p:cTn id="81" dur="1" fill="hold">
                                          <p:stCondLst>
                                            <p:cond delay="0"/>
                                          </p:stCondLst>
                                        </p:cTn>
                                        <p:tgtEl>
                                          <p:spTgt spid="39"/>
                                        </p:tgtEl>
                                        <p:attrNameLst>
                                          <p:attrName>style.visibility</p:attrName>
                                        </p:attrNameLst>
                                      </p:cBhvr>
                                      <p:to>
                                        <p:strVal val="visible"/>
                                      </p:to>
                                    </p:set>
                                    <p:animEffect transition="in" filter="fade">
                                      <p:cBhvr>
                                        <p:cTn id="82" dur="400"/>
                                        <p:tgtEl>
                                          <p:spTgt spid="39"/>
                                        </p:tgtEl>
                                      </p:cBhvr>
                                    </p:animEffect>
                                  </p:childTnLst>
                                </p:cTn>
                              </p:par>
                              <p:par>
                                <p:cTn id="83" presetID="10" presetClass="entr" presetSubtype="0" fill="hold" nodeType="withEffect">
                                  <p:stCondLst>
                                    <p:cond delay="1320"/>
                                  </p:stCondLst>
                                  <p:childTnLst>
                                    <p:set>
                                      <p:cBhvr>
                                        <p:cTn id="84" dur="1" fill="hold">
                                          <p:stCondLst>
                                            <p:cond delay="0"/>
                                          </p:stCondLst>
                                        </p:cTn>
                                        <p:tgtEl>
                                          <p:spTgt spid="16"/>
                                        </p:tgtEl>
                                        <p:attrNameLst>
                                          <p:attrName>style.visibility</p:attrName>
                                        </p:attrNameLst>
                                      </p:cBhvr>
                                      <p:to>
                                        <p:strVal val="visible"/>
                                      </p:to>
                                    </p:set>
                                    <p:animEffect transition="in" filter="fade">
                                      <p:cBhvr>
                                        <p:cTn id="85" dur="400"/>
                                        <p:tgtEl>
                                          <p:spTgt spid="16"/>
                                        </p:tgtEl>
                                      </p:cBhvr>
                                    </p:animEffect>
                                  </p:childTnLst>
                                </p:cTn>
                              </p:par>
                              <p:par>
                                <p:cTn id="86" presetID="10" presetClass="entr" presetSubtype="0" fill="hold" nodeType="withEffect">
                                  <p:stCondLst>
                                    <p:cond delay="1320"/>
                                  </p:stCondLst>
                                  <p:childTnLst>
                                    <p:set>
                                      <p:cBhvr>
                                        <p:cTn id="87" dur="1" fill="hold">
                                          <p:stCondLst>
                                            <p:cond delay="0"/>
                                          </p:stCondLst>
                                        </p:cTn>
                                        <p:tgtEl>
                                          <p:spTgt spid="17"/>
                                        </p:tgtEl>
                                        <p:attrNameLst>
                                          <p:attrName>style.visibility</p:attrName>
                                        </p:attrNameLst>
                                      </p:cBhvr>
                                      <p:to>
                                        <p:strVal val="visible"/>
                                      </p:to>
                                    </p:set>
                                    <p:animEffect transition="in" filter="fade">
                                      <p:cBhvr>
                                        <p:cTn id="88" dur="400"/>
                                        <p:tgtEl>
                                          <p:spTgt spid="17"/>
                                        </p:tgtEl>
                                      </p:cBhvr>
                                    </p:animEffect>
                                  </p:childTnLst>
                                </p:cTn>
                              </p:par>
                              <p:par>
                                <p:cTn id="89" presetID="10" presetClass="entr" presetSubtype="0" fill="hold" nodeType="withEffect">
                                  <p:stCondLst>
                                    <p:cond delay="132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400"/>
                                        <p:tgtEl>
                                          <p:spTgt spid="40"/>
                                        </p:tgtEl>
                                      </p:cBhvr>
                                    </p:animEffect>
                                  </p:childTnLst>
                                </p:cTn>
                              </p:par>
                              <p:par>
                                <p:cTn id="92" presetID="10" presetClass="entr" presetSubtype="0" fill="hold" nodeType="withEffect">
                                  <p:stCondLst>
                                    <p:cond delay="1320"/>
                                  </p:stCondLst>
                                  <p:childTnLst>
                                    <p:set>
                                      <p:cBhvr>
                                        <p:cTn id="93" dur="1" fill="hold">
                                          <p:stCondLst>
                                            <p:cond delay="0"/>
                                          </p:stCondLst>
                                        </p:cTn>
                                        <p:tgtEl>
                                          <p:spTgt spid="41"/>
                                        </p:tgtEl>
                                        <p:attrNameLst>
                                          <p:attrName>style.visibility</p:attrName>
                                        </p:attrNameLst>
                                      </p:cBhvr>
                                      <p:to>
                                        <p:strVal val="visible"/>
                                      </p:to>
                                    </p:set>
                                    <p:animEffect transition="in" filter="fade">
                                      <p:cBhvr>
                                        <p:cTn id="94" dur="400"/>
                                        <p:tgtEl>
                                          <p:spTgt spid="41"/>
                                        </p:tgtEl>
                                      </p:cBhvr>
                                    </p:animEffect>
                                  </p:childTnLst>
                                </p:cTn>
                              </p:par>
                              <p:par>
                                <p:cTn id="95" presetID="10" presetClass="entr" presetSubtype="0" fill="hold" nodeType="withEffect">
                                  <p:stCondLst>
                                    <p:cond delay="1320"/>
                                  </p:stCondLst>
                                  <p:childTnLst>
                                    <p:set>
                                      <p:cBhvr>
                                        <p:cTn id="96" dur="1" fill="hold">
                                          <p:stCondLst>
                                            <p:cond delay="0"/>
                                          </p:stCondLst>
                                        </p:cTn>
                                        <p:tgtEl>
                                          <p:spTgt spid="42"/>
                                        </p:tgtEl>
                                        <p:attrNameLst>
                                          <p:attrName>style.visibility</p:attrName>
                                        </p:attrNameLst>
                                      </p:cBhvr>
                                      <p:to>
                                        <p:strVal val="visible"/>
                                      </p:to>
                                    </p:set>
                                    <p:animEffect transition="in" filter="fade">
                                      <p:cBhvr>
                                        <p:cTn id="97" dur="400"/>
                                        <p:tgtEl>
                                          <p:spTgt spid="42"/>
                                        </p:tgtEl>
                                      </p:cBhvr>
                                    </p:animEffect>
                                  </p:childTnLst>
                                </p:cTn>
                              </p:par>
                              <p:par>
                                <p:cTn id="98" presetID="10" presetClass="entr" presetSubtype="0" fill="hold" nodeType="withEffect">
                                  <p:stCondLst>
                                    <p:cond delay="1320"/>
                                  </p:stCondLst>
                                  <p:childTnLst>
                                    <p:set>
                                      <p:cBhvr>
                                        <p:cTn id="99" dur="1" fill="hold">
                                          <p:stCondLst>
                                            <p:cond delay="0"/>
                                          </p:stCondLst>
                                        </p:cTn>
                                        <p:tgtEl>
                                          <p:spTgt spid="43"/>
                                        </p:tgtEl>
                                        <p:attrNameLst>
                                          <p:attrName>style.visibility</p:attrName>
                                        </p:attrNameLst>
                                      </p:cBhvr>
                                      <p:to>
                                        <p:strVal val="visible"/>
                                      </p:to>
                                    </p:set>
                                    <p:animEffect transition="in" filter="fade">
                                      <p:cBhvr>
                                        <p:cTn id="100" dur="400"/>
                                        <p:tgtEl>
                                          <p:spTgt spid="43"/>
                                        </p:tgtEl>
                                      </p:cBhvr>
                                    </p:animEffect>
                                  </p:childTnLst>
                                </p:cTn>
                              </p:par>
                              <p:par>
                                <p:cTn id="101" presetID="10" presetClass="entr" presetSubtype="0" fill="hold" nodeType="withEffect">
                                  <p:stCondLst>
                                    <p:cond delay="1320"/>
                                  </p:stCondLst>
                                  <p:childTnLst>
                                    <p:set>
                                      <p:cBhvr>
                                        <p:cTn id="102" dur="1" fill="hold">
                                          <p:stCondLst>
                                            <p:cond delay="0"/>
                                          </p:stCondLst>
                                        </p:cTn>
                                        <p:tgtEl>
                                          <p:spTgt spid="44"/>
                                        </p:tgtEl>
                                        <p:attrNameLst>
                                          <p:attrName>style.visibility</p:attrName>
                                        </p:attrNameLst>
                                      </p:cBhvr>
                                      <p:to>
                                        <p:strVal val="visible"/>
                                      </p:to>
                                    </p:set>
                                    <p:animEffect transition="in" filter="fade">
                                      <p:cBhvr>
                                        <p:cTn id="103" dur="400"/>
                                        <p:tgtEl>
                                          <p:spTgt spid="44"/>
                                        </p:tgtEl>
                                      </p:cBhvr>
                                    </p:animEffect>
                                  </p:childTnLst>
                                </p:cTn>
                              </p:par>
                              <p:par>
                                <p:cTn id="104" presetID="10" presetClass="entr" presetSubtype="0" fill="hold" nodeType="withEffect">
                                  <p:stCondLst>
                                    <p:cond delay="1320"/>
                                  </p:stCondLst>
                                  <p:childTnLst>
                                    <p:set>
                                      <p:cBhvr>
                                        <p:cTn id="105" dur="1" fill="hold">
                                          <p:stCondLst>
                                            <p:cond delay="0"/>
                                          </p:stCondLst>
                                        </p:cTn>
                                        <p:tgtEl>
                                          <p:spTgt spid="45"/>
                                        </p:tgtEl>
                                        <p:attrNameLst>
                                          <p:attrName>style.visibility</p:attrName>
                                        </p:attrNameLst>
                                      </p:cBhvr>
                                      <p:to>
                                        <p:strVal val="visible"/>
                                      </p:to>
                                    </p:set>
                                    <p:animEffect transition="in" filter="fade">
                                      <p:cBhvr>
                                        <p:cTn id="106" dur="400"/>
                                        <p:tgtEl>
                                          <p:spTgt spid="45"/>
                                        </p:tgtEl>
                                      </p:cBhvr>
                                    </p:animEffect>
                                  </p:childTnLst>
                                </p:cTn>
                              </p:par>
                              <p:par>
                                <p:cTn id="107" presetID="10" presetClass="entr" presetSubtype="0" fill="hold" nodeType="withEffect">
                                  <p:stCondLst>
                                    <p:cond delay="1320"/>
                                  </p:stCondLst>
                                  <p:childTnLst>
                                    <p:set>
                                      <p:cBhvr>
                                        <p:cTn id="108" dur="1" fill="hold">
                                          <p:stCondLst>
                                            <p:cond delay="0"/>
                                          </p:stCondLst>
                                        </p:cTn>
                                        <p:tgtEl>
                                          <p:spTgt spid="46"/>
                                        </p:tgtEl>
                                        <p:attrNameLst>
                                          <p:attrName>style.visibility</p:attrName>
                                        </p:attrNameLst>
                                      </p:cBhvr>
                                      <p:to>
                                        <p:strVal val="visible"/>
                                      </p:to>
                                    </p:set>
                                    <p:animEffect transition="in" filter="fade">
                                      <p:cBhvr>
                                        <p:cTn id="109" dur="400"/>
                                        <p:tgtEl>
                                          <p:spTgt spid="46"/>
                                        </p:tgtEl>
                                      </p:cBhvr>
                                    </p:animEffect>
                                  </p:childTnLst>
                                </p:cTn>
                              </p:par>
                              <p:par>
                                <p:cTn id="110" presetID="10" presetClass="entr" presetSubtype="0" fill="hold" nodeType="withEffect">
                                  <p:stCondLst>
                                    <p:cond delay="1540"/>
                                  </p:stCondLst>
                                  <p:childTnLst>
                                    <p:set>
                                      <p:cBhvr>
                                        <p:cTn id="111" dur="1" fill="hold">
                                          <p:stCondLst>
                                            <p:cond delay="0"/>
                                          </p:stCondLst>
                                        </p:cTn>
                                        <p:tgtEl>
                                          <p:spTgt spid="15"/>
                                        </p:tgtEl>
                                        <p:attrNameLst>
                                          <p:attrName>style.visibility</p:attrName>
                                        </p:attrNameLst>
                                      </p:cBhvr>
                                      <p:to>
                                        <p:strVal val="visible"/>
                                      </p:to>
                                    </p:set>
                                    <p:animEffect transition="in" filter="fade">
                                      <p:cBhvr>
                                        <p:cTn id="112" dur="400"/>
                                        <p:tgtEl>
                                          <p:spTgt spid="15"/>
                                        </p:tgtEl>
                                      </p:cBhvr>
                                    </p:animEffect>
                                  </p:childTnLst>
                                </p:cTn>
                              </p:par>
                              <p:par>
                                <p:cTn id="113" presetID="10" presetClass="entr" presetSubtype="0" fill="hold" nodeType="withEffect">
                                  <p:stCondLst>
                                    <p:cond delay="1540"/>
                                  </p:stCondLst>
                                  <p:childTnLst>
                                    <p:set>
                                      <p:cBhvr>
                                        <p:cTn id="114" dur="1" fill="hold">
                                          <p:stCondLst>
                                            <p:cond delay="0"/>
                                          </p:stCondLst>
                                        </p:cTn>
                                        <p:tgtEl>
                                          <p:spTgt spid="47"/>
                                        </p:tgtEl>
                                        <p:attrNameLst>
                                          <p:attrName>style.visibility</p:attrName>
                                        </p:attrNameLst>
                                      </p:cBhvr>
                                      <p:to>
                                        <p:strVal val="visible"/>
                                      </p:to>
                                    </p:set>
                                    <p:animEffect transition="in" filter="fade">
                                      <p:cBhvr>
                                        <p:cTn id="115" dur="400"/>
                                        <p:tgtEl>
                                          <p:spTgt spid="47"/>
                                        </p:tgtEl>
                                      </p:cBhvr>
                                    </p:animEffect>
                                  </p:childTnLst>
                                </p:cTn>
                              </p:par>
                              <p:par>
                                <p:cTn id="116" presetID="10" presetClass="entr" presetSubtype="0" fill="hold" nodeType="withEffect">
                                  <p:stCondLst>
                                    <p:cond delay="154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00"/>
                                        <p:tgtEl>
                                          <p:spTgt spid="48"/>
                                        </p:tgtEl>
                                      </p:cBhvr>
                                    </p:animEffect>
                                  </p:childTnLst>
                                </p:cTn>
                              </p:par>
                              <p:par>
                                <p:cTn id="119" presetID="10" presetClass="entr" presetSubtype="0" fill="hold" nodeType="withEffect">
                                  <p:stCondLst>
                                    <p:cond delay="1540"/>
                                  </p:stCondLst>
                                  <p:childTnLst>
                                    <p:set>
                                      <p:cBhvr>
                                        <p:cTn id="120" dur="1" fill="hold">
                                          <p:stCondLst>
                                            <p:cond delay="0"/>
                                          </p:stCondLst>
                                        </p:cTn>
                                        <p:tgtEl>
                                          <p:spTgt spid="49"/>
                                        </p:tgtEl>
                                        <p:attrNameLst>
                                          <p:attrName>style.visibility</p:attrName>
                                        </p:attrNameLst>
                                      </p:cBhvr>
                                      <p:to>
                                        <p:strVal val="visible"/>
                                      </p:to>
                                    </p:set>
                                    <p:animEffect transition="in" filter="fade">
                                      <p:cBhvr>
                                        <p:cTn id="121" dur="400"/>
                                        <p:tgtEl>
                                          <p:spTgt spid="49"/>
                                        </p:tgtEl>
                                      </p:cBhvr>
                                    </p:animEffect>
                                  </p:childTnLst>
                                </p:cTn>
                              </p:par>
                              <p:par>
                                <p:cTn id="122" presetID="10" presetClass="entr" presetSubtype="0" fill="hold" nodeType="withEffect">
                                  <p:stCondLst>
                                    <p:cond delay="1540"/>
                                  </p:stCondLst>
                                  <p:childTnLst>
                                    <p:set>
                                      <p:cBhvr>
                                        <p:cTn id="123" dur="1" fill="hold">
                                          <p:stCondLst>
                                            <p:cond delay="0"/>
                                          </p:stCondLst>
                                        </p:cTn>
                                        <p:tgtEl>
                                          <p:spTgt spid="50"/>
                                        </p:tgtEl>
                                        <p:attrNameLst>
                                          <p:attrName>style.visibility</p:attrName>
                                        </p:attrNameLst>
                                      </p:cBhvr>
                                      <p:to>
                                        <p:strVal val="visible"/>
                                      </p:to>
                                    </p:set>
                                    <p:animEffect transition="in" filter="fade">
                                      <p:cBhvr>
                                        <p:cTn id="124" dur="400"/>
                                        <p:tgtEl>
                                          <p:spTgt spid="50"/>
                                        </p:tgtEl>
                                      </p:cBhvr>
                                    </p:animEffect>
                                  </p:childTnLst>
                                </p:cTn>
                              </p:par>
                              <p:par>
                                <p:cTn id="125" presetID="10" presetClass="entr" presetSubtype="0" fill="hold" nodeType="withEffect">
                                  <p:stCondLst>
                                    <p:cond delay="1540"/>
                                  </p:stCondLst>
                                  <p:childTnLst>
                                    <p:set>
                                      <p:cBhvr>
                                        <p:cTn id="126" dur="1" fill="hold">
                                          <p:stCondLst>
                                            <p:cond delay="0"/>
                                          </p:stCondLst>
                                        </p:cTn>
                                        <p:tgtEl>
                                          <p:spTgt spid="51"/>
                                        </p:tgtEl>
                                        <p:attrNameLst>
                                          <p:attrName>style.visibility</p:attrName>
                                        </p:attrNameLst>
                                      </p:cBhvr>
                                      <p:to>
                                        <p:strVal val="visible"/>
                                      </p:to>
                                    </p:set>
                                    <p:animEffect transition="in" filter="fade">
                                      <p:cBhvr>
                                        <p:cTn id="127" dur="400"/>
                                        <p:tgtEl>
                                          <p:spTgt spid="51"/>
                                        </p:tgtEl>
                                      </p:cBhvr>
                                    </p:animEffect>
                                  </p:childTnLst>
                                </p:cTn>
                              </p:par>
                              <p:par>
                                <p:cTn id="128" presetID="10" presetClass="entr" presetSubtype="0" fill="hold" nodeType="withEffect">
                                  <p:stCondLst>
                                    <p:cond delay="1540"/>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400"/>
                                        <p:tgtEl>
                                          <p:spTgt spid="52"/>
                                        </p:tgtEl>
                                      </p:cBhvr>
                                    </p:animEffect>
                                  </p:childTnLst>
                                </p:cTn>
                              </p:par>
                              <p:par>
                                <p:cTn id="131" presetID="10" presetClass="entr" presetSubtype="0" fill="hold" nodeType="withEffect">
                                  <p:stCondLst>
                                    <p:cond delay="154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00"/>
                                        <p:tgtEl>
                                          <p:spTgt spid="53"/>
                                        </p:tgtEl>
                                      </p:cBhvr>
                                    </p:animEffect>
                                  </p:childTnLst>
                                </p:cTn>
                              </p:par>
                              <p:par>
                                <p:cTn id="134" presetID="10" presetClass="entr" presetSubtype="0" fill="hold" nodeType="withEffect">
                                  <p:stCondLst>
                                    <p:cond delay="1760"/>
                                  </p:stCondLst>
                                  <p:childTnLst>
                                    <p:set>
                                      <p:cBhvr>
                                        <p:cTn id="135" dur="1" fill="hold">
                                          <p:stCondLst>
                                            <p:cond delay="0"/>
                                          </p:stCondLst>
                                        </p:cTn>
                                        <p:tgtEl>
                                          <p:spTgt spid="13"/>
                                        </p:tgtEl>
                                        <p:attrNameLst>
                                          <p:attrName>style.visibility</p:attrName>
                                        </p:attrNameLst>
                                      </p:cBhvr>
                                      <p:to>
                                        <p:strVal val="visible"/>
                                      </p:to>
                                    </p:set>
                                    <p:animEffect transition="in" filter="fade">
                                      <p:cBhvr>
                                        <p:cTn id="136" dur="400"/>
                                        <p:tgtEl>
                                          <p:spTgt spid="13"/>
                                        </p:tgtEl>
                                      </p:cBhvr>
                                    </p:animEffect>
                                  </p:childTnLst>
                                </p:cTn>
                              </p:par>
                              <p:par>
                                <p:cTn id="137" presetID="10" presetClass="entr" presetSubtype="0" fill="hold" nodeType="withEffect">
                                  <p:stCondLst>
                                    <p:cond delay="176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76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76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76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76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76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76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11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BƯỚC 3 · CHỌN KHO TIẾP TẾ</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Kho nào gần nhất? Không đủ thì lấy tiếp ở đâu?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pic>
        <p:nvPicPr>
          <p:cNvPr id="12" name="Image 2" descr="anh/da-cat/chon-kho.jpg"/>
          <p:cNvPicPr>
            <a:picLocks noChangeAspect="1"/>
          </p:cNvPicPr>
          <p:nvPr/>
        </p:nvPicPr>
        <p:blipFill>
          <a:blip r:embed="rId5"/>
          <a:stretch>
            <a:fillRect/>
          </a:stretch>
        </p:blipFill>
        <p:spPr>
          <a:xfrm>
            <a:off x="713232" y="2220214"/>
            <a:ext cx="4937760" cy="3632911"/>
          </a:xfrm>
          <a:prstGeom prst="rect">
            <a:avLst/>
          </a:prstGeom>
        </p:spPr>
      </p:pic>
      <p:sp>
        <p:nvSpPr>
          <p:cNvPr id="13" name="Shape 8"/>
          <p:cNvSpPr/>
          <p:nvPr/>
        </p:nvSpPr>
        <p:spPr>
          <a:xfrm>
            <a:off x="713232" y="2220214"/>
            <a:ext cx="4937760" cy="3632911"/>
          </a:xfrm>
          <a:prstGeom prst="roundRect">
            <a:avLst>
              <a:gd name="adj" fmla="val 3020"/>
            </a:avLst>
          </a:prstGeom>
          <a:solidFill>
            <a:srgbClr val="FFFFFF">
              <a:alpha val="0"/>
            </a:srgbClr>
          </a:solidFill>
          <a:ln w="12700">
            <a:solidFill>
              <a:srgbClr val="FFFFFF">
                <a:alpha val="18000"/>
              </a:srgbClr>
            </a:solidFill>
            <a:prstDash val="solid"/>
          </a:ln>
        </p:spPr>
      </p:sp>
      <p:sp>
        <p:nvSpPr>
          <p:cNvPr id="14" name="Text 9"/>
          <p:cNvSpPr/>
          <p:nvPr/>
        </p:nvSpPr>
        <p:spPr>
          <a:xfrm>
            <a:off x="713232" y="5926277"/>
            <a:ext cx="5029200" cy="253175"/>
          </a:xfrm>
          <a:prstGeom prst="rect">
            <a:avLst/>
          </a:prstGeom>
          <a:noFill/>
          <a:ln/>
        </p:spPr>
        <p:txBody>
          <a:bodyPr wrap="square" lIns="0" tIns="0" rIns="0" bIns="0" rtlCol="0" anchor="t"/>
          <a:lstStyle/>
          <a:p>
            <a:pPr marL="0" indent="0" algn="l">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Màn hình thật: hệ thống xếp kho lấy hàng từ gần đến xa.</a:t>
            </a:r>
            <a:endParaRPr lang="en-US" sz="1050" dirty="0"/>
          </a:p>
        </p:txBody>
      </p:sp>
      <p:sp>
        <p:nvSpPr>
          <p:cNvPr id="15" name="Shape 10"/>
          <p:cNvSpPr/>
          <p:nvPr/>
        </p:nvSpPr>
        <p:spPr>
          <a:xfrm>
            <a:off x="6135624" y="2220214"/>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16" name="Shape 11"/>
          <p:cNvSpPr/>
          <p:nvPr/>
        </p:nvSpPr>
        <p:spPr>
          <a:xfrm>
            <a:off x="6135624" y="2220214"/>
            <a:ext cx="50292" cy="713232"/>
          </a:xfrm>
          <a:prstGeom prst="roundRect">
            <a:avLst>
              <a:gd name="adj" fmla="val 54545"/>
            </a:avLst>
          </a:prstGeom>
          <a:solidFill>
            <a:srgbClr val="22C55E">
              <a:alpha val="95000"/>
            </a:srgbClr>
          </a:solidFill>
          <a:ln/>
        </p:spPr>
      </p:sp>
      <p:sp>
        <p:nvSpPr>
          <p:cNvPr id="17" name="Text 12"/>
          <p:cNvSpPr/>
          <p:nvPr/>
        </p:nvSpPr>
        <p:spPr>
          <a:xfrm>
            <a:off x="6409944" y="2320798"/>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Đường đi thực tế, không phải đường chim bay</a:t>
            </a:r>
            <a:endParaRPr lang="en-US" sz="1300" dirty="0"/>
          </a:p>
        </p:txBody>
      </p:sp>
      <p:sp>
        <p:nvSpPr>
          <p:cNvPr id="18" name="Text 13"/>
          <p:cNvSpPr/>
          <p:nvPr/>
        </p:nvSpPr>
        <p:spPr>
          <a:xfrm>
            <a:off x="6409944" y="2585974"/>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Hệ thống định tuyến theo đường sá thật, không đo đường thẳng.</a:t>
            </a:r>
            <a:endParaRPr lang="en-US" sz="1150" dirty="0"/>
          </a:p>
        </p:txBody>
      </p:sp>
      <p:sp>
        <p:nvSpPr>
          <p:cNvPr id="19" name="Shape 14"/>
          <p:cNvSpPr/>
          <p:nvPr/>
        </p:nvSpPr>
        <p:spPr>
          <a:xfrm>
            <a:off x="6135624" y="3029458"/>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20" name="Shape 15"/>
          <p:cNvSpPr/>
          <p:nvPr/>
        </p:nvSpPr>
        <p:spPr>
          <a:xfrm>
            <a:off x="6135624" y="3029458"/>
            <a:ext cx="50292" cy="713232"/>
          </a:xfrm>
          <a:prstGeom prst="roundRect">
            <a:avLst>
              <a:gd name="adj" fmla="val 54545"/>
            </a:avLst>
          </a:prstGeom>
          <a:solidFill>
            <a:srgbClr val="FBBF24">
              <a:alpha val="95000"/>
            </a:srgbClr>
          </a:solidFill>
          <a:ln/>
        </p:spPr>
      </p:sp>
      <p:sp>
        <p:nvSpPr>
          <p:cNvPr id="21" name="Text 16"/>
          <p:cNvSpPr/>
          <p:nvPr/>
        </p:nvSpPr>
        <p:spPr>
          <a:xfrm>
            <a:off x="6409944" y="3130042"/>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Gần trước, hạn dùng gần hết trước</a:t>
            </a:r>
            <a:endParaRPr lang="en-US" sz="1300" dirty="0"/>
          </a:p>
        </p:txBody>
      </p:sp>
      <p:sp>
        <p:nvSpPr>
          <p:cNvPr id="22" name="Text 17"/>
          <p:cNvSpPr/>
          <p:nvPr/>
        </p:nvSpPr>
        <p:spPr>
          <a:xfrm>
            <a:off x="6409944" y="3395218"/>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Cùng khoảng cách thì ưu tiên lô sắp hết hạn, tránh lãng phí.</a:t>
            </a:r>
            <a:endParaRPr lang="en-US" sz="1150" dirty="0"/>
          </a:p>
        </p:txBody>
      </p:sp>
      <p:sp>
        <p:nvSpPr>
          <p:cNvPr id="23" name="Shape 18"/>
          <p:cNvSpPr/>
          <p:nvPr/>
        </p:nvSpPr>
        <p:spPr>
          <a:xfrm>
            <a:off x="6135624" y="3838702"/>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24" name="Shape 19"/>
          <p:cNvSpPr/>
          <p:nvPr/>
        </p:nvSpPr>
        <p:spPr>
          <a:xfrm>
            <a:off x="6135624" y="3838702"/>
            <a:ext cx="50292" cy="713232"/>
          </a:xfrm>
          <a:prstGeom prst="roundRect">
            <a:avLst>
              <a:gd name="adj" fmla="val 54545"/>
            </a:avLst>
          </a:prstGeom>
          <a:solidFill>
            <a:srgbClr val="38BDF8">
              <a:alpha val="95000"/>
            </a:srgbClr>
          </a:solidFill>
          <a:ln/>
        </p:spPr>
      </p:sp>
      <p:sp>
        <p:nvSpPr>
          <p:cNvPr id="25" name="Text 20"/>
          <p:cNvSpPr/>
          <p:nvPr/>
        </p:nvSpPr>
        <p:spPr>
          <a:xfrm>
            <a:off x="6409944" y="3939286"/>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Thiếu thì tràn sang kho kế tiếp</a:t>
            </a:r>
            <a:endParaRPr lang="en-US" sz="1300" dirty="0"/>
          </a:p>
        </p:txBody>
      </p:sp>
      <p:sp>
        <p:nvSpPr>
          <p:cNvPr id="26" name="Text 21"/>
          <p:cNvSpPr/>
          <p:nvPr/>
        </p:nvSpPr>
        <p:spPr>
          <a:xfrm>
            <a:off x="6409944" y="4204462"/>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Lấy hết phần kho gần có, phần thiếu chuyển sang kho gần kế tiếp.</a:t>
            </a:r>
            <a:endParaRPr lang="en-US" sz="1150" dirty="0"/>
          </a:p>
        </p:txBody>
      </p:sp>
      <p:sp>
        <p:nvSpPr>
          <p:cNvPr id="27" name="Shape 22"/>
          <p:cNvSpPr/>
          <p:nvPr/>
        </p:nvSpPr>
        <p:spPr>
          <a:xfrm>
            <a:off x="6135624" y="4647946"/>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28" name="Shape 23"/>
          <p:cNvSpPr/>
          <p:nvPr/>
        </p:nvSpPr>
        <p:spPr>
          <a:xfrm>
            <a:off x="6135624" y="4647946"/>
            <a:ext cx="50292" cy="713232"/>
          </a:xfrm>
          <a:prstGeom prst="roundRect">
            <a:avLst>
              <a:gd name="adj" fmla="val 54545"/>
            </a:avLst>
          </a:prstGeom>
          <a:solidFill>
            <a:srgbClr val="FB923C">
              <a:alpha val="95000"/>
            </a:srgbClr>
          </a:solidFill>
          <a:ln/>
        </p:spPr>
      </p:sp>
      <p:sp>
        <p:nvSpPr>
          <p:cNvPr id="29" name="Text 24"/>
          <p:cNvSpPr/>
          <p:nvPr/>
        </p:nvSpPr>
        <p:spPr>
          <a:xfrm>
            <a:off x="6409944" y="4748530"/>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Tự loại kho không thể xuất</a:t>
            </a:r>
            <a:endParaRPr lang="en-US" sz="1300" dirty="0"/>
          </a:p>
        </p:txBody>
      </p:sp>
      <p:sp>
        <p:nvSpPr>
          <p:cNvPr id="30" name="Text 25"/>
          <p:cNvSpPr/>
          <p:nvPr/>
        </p:nvSpPr>
        <p:spPr>
          <a:xfrm>
            <a:off x="6409944" y="5013706"/>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Kho đang có sự cố, vật tư hỏng hoặc hết hạn đều bị loại.</a:t>
            </a:r>
            <a:endParaRPr lang="en-US" sz="1150" dirty="0"/>
          </a:p>
        </p:txBody>
      </p:sp>
      <p:sp>
        <p:nvSpPr>
          <p:cNvPr id="31" name="Shape 26"/>
          <p:cNvSpPr/>
          <p:nvPr/>
        </p:nvSpPr>
        <p:spPr>
          <a:xfrm>
            <a:off x="6135624" y="5457190"/>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32" name="Shape 27"/>
          <p:cNvSpPr/>
          <p:nvPr/>
        </p:nvSpPr>
        <p:spPr>
          <a:xfrm>
            <a:off x="6135624" y="5457190"/>
            <a:ext cx="50292" cy="713232"/>
          </a:xfrm>
          <a:prstGeom prst="roundRect">
            <a:avLst>
              <a:gd name="adj" fmla="val 54545"/>
            </a:avLst>
          </a:prstGeom>
          <a:solidFill>
            <a:srgbClr val="F87171">
              <a:alpha val="95000"/>
            </a:srgbClr>
          </a:solidFill>
          <a:ln/>
        </p:spPr>
      </p:sp>
      <p:sp>
        <p:nvSpPr>
          <p:cNvPr id="33" name="Text 28"/>
          <p:cNvSpPr/>
          <p:nvPr/>
        </p:nvSpPr>
        <p:spPr>
          <a:xfrm>
            <a:off x="6409944" y="5557774"/>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Cả xã vẫn không đủ?</a:t>
            </a:r>
            <a:endParaRPr lang="en-US" sz="1300" dirty="0"/>
          </a:p>
        </p:txBody>
      </p:sp>
      <p:sp>
        <p:nvSpPr>
          <p:cNvPr id="34" name="Text 29"/>
          <p:cNvSpPr/>
          <p:nvPr/>
        </p:nvSpPr>
        <p:spPr>
          <a:xfrm>
            <a:off x="6409944" y="5822950"/>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Hệ thống gợi ý kho của xã lân cận để người điều phối liên hệ.</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66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88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32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54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54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54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54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12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4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Phương án được duyệt, thông tin đầy đủ</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3" name="Shape 29"/>
          <p:cNvSpPr/>
          <p:nvPr/>
        </p:nvSpPr>
        <p:spPr>
          <a:xfrm>
            <a:off x="8097317" y="2220214"/>
            <a:ext cx="50292" cy="1737360"/>
          </a:xfrm>
          <a:prstGeom prst="roundRect">
            <a:avLst>
              <a:gd name="adj" fmla="val 54545"/>
            </a:avLst>
          </a:prstGeom>
          <a:solidFill>
            <a:srgbClr val="3C5468">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42453" y="4305046"/>
            <a:ext cx="3490874" cy="1847088"/>
          </a:xfrm>
          <a:prstGeom prst="roundRect">
            <a:avLst>
              <a:gd name="adj" fmla="val 7921"/>
            </a:avLst>
          </a:prstGeom>
          <a:solidFill>
            <a:srgbClr val="22C55E">
              <a:alpha val="18000"/>
            </a:srgbClr>
          </a:solidFill>
          <a:ln/>
        </p:spPr>
      </p:sp>
      <p:sp>
        <p:nvSpPr>
          <p:cNvPr id="40" name="Shape 36"/>
          <p:cNvSpPr/>
          <p:nvPr/>
        </p:nvSpPr>
        <p:spPr>
          <a:xfrm>
            <a:off x="8097317" y="4359910"/>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41" name="Shape 37"/>
          <p:cNvSpPr/>
          <p:nvPr/>
        </p:nvSpPr>
        <p:spPr>
          <a:xfrm>
            <a:off x="8097317" y="4359910"/>
            <a:ext cx="50292" cy="1737360"/>
          </a:xfrm>
          <a:prstGeom prst="roundRect">
            <a:avLst>
              <a:gd name="adj" fmla="val 54545"/>
            </a:avLst>
          </a:prstGeom>
          <a:solidFill>
            <a:srgbClr val="22C55E">
              <a:alpha val="95000"/>
            </a:srgbClr>
          </a:solidFill>
          <a:ln/>
        </p:spPr>
      </p:sp>
      <p:sp>
        <p:nvSpPr>
          <p:cNvPr id="42" name="Shape 38"/>
          <p:cNvSpPr/>
          <p:nvPr/>
        </p:nvSpPr>
        <p:spPr>
          <a:xfrm>
            <a:off x="8371637" y="4579366"/>
            <a:ext cx="420624" cy="420624"/>
          </a:xfrm>
          <a:prstGeom prst="roundRect">
            <a:avLst>
              <a:gd name="adj" fmla="val 50000"/>
            </a:avLst>
          </a:prstGeom>
          <a:solidFill>
            <a:srgbClr val="04101F">
              <a:alpha val="88000"/>
            </a:srgbClr>
          </a:solidFill>
          <a:ln/>
        </p:spPr>
      </p:sp>
      <p:sp>
        <p:nvSpPr>
          <p:cNvPr id="43" name="Shape 39"/>
          <p:cNvSpPr/>
          <p:nvPr/>
        </p:nvSpPr>
        <p:spPr>
          <a:xfrm>
            <a:off x="8371637"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44" name="Text 40"/>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4</a:t>
            </a:r>
            <a:endParaRPr lang="en-US" sz="1500" dirty="0"/>
          </a:p>
        </p:txBody>
      </p:sp>
      <p:sp>
        <p:nvSpPr>
          <p:cNvPr id="45" name="Text 41"/>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6" name="Text 42"/>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lúc.</a:t>
            </a:r>
            <a:endParaRPr lang="en-US" sz="1150" dirty="0"/>
          </a:p>
        </p:txBody>
      </p:sp>
      <p:sp>
        <p:nvSpPr>
          <p:cNvPr id="47" name="Shape 43"/>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8" name="Shape 44"/>
          <p:cNvSpPr/>
          <p:nvPr/>
        </p:nvSpPr>
        <p:spPr>
          <a:xfrm>
            <a:off x="4405274" y="4359910"/>
            <a:ext cx="50292" cy="1737360"/>
          </a:xfrm>
          <a:prstGeom prst="roundRect">
            <a:avLst>
              <a:gd name="adj" fmla="val 54545"/>
            </a:avLst>
          </a:prstGeom>
          <a:solidFill>
            <a:srgbClr val="3C5468">
              <a:alpha val="95000"/>
            </a:srgbClr>
          </a:solidFill>
          <a:ln/>
        </p:spPr>
      </p:sp>
      <p:sp>
        <p:nvSpPr>
          <p:cNvPr id="49" name="Shape 45"/>
          <p:cNvSpPr/>
          <p:nvPr/>
        </p:nvSpPr>
        <p:spPr>
          <a:xfrm>
            <a:off x="4679594" y="4579366"/>
            <a:ext cx="420624" cy="420624"/>
          </a:xfrm>
          <a:prstGeom prst="roundRect">
            <a:avLst>
              <a:gd name="adj" fmla="val 50000"/>
            </a:avLst>
          </a:prstGeom>
          <a:solidFill>
            <a:srgbClr val="04101F">
              <a:alpha val="88000"/>
            </a:srgbClr>
          </a:solidFill>
          <a:ln/>
        </p:spPr>
      </p:sp>
      <p:sp>
        <p:nvSpPr>
          <p:cNvPr id="50" name="Shape 46"/>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1" name="Text 47"/>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2" name="Text 48"/>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3" name="Text 49"/>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4" name="Shape 50"/>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5" name="Shape 51"/>
          <p:cNvSpPr/>
          <p:nvPr/>
        </p:nvSpPr>
        <p:spPr>
          <a:xfrm>
            <a:off x="713232" y="4359910"/>
            <a:ext cx="50292" cy="1737360"/>
          </a:xfrm>
          <a:prstGeom prst="roundRect">
            <a:avLst>
              <a:gd name="adj" fmla="val 54545"/>
            </a:avLst>
          </a:prstGeom>
          <a:solidFill>
            <a:srgbClr val="3C5468">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4" presetID="10" presetClass="entr" presetSubtype="0" fill="hold" nodeType="withEffect">
                                  <p:stCondLst>
                                    <p:cond delay="44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17" presetID="10" presetClass="entr" presetSubtype="0" fill="hold" nodeType="withEffect">
                                  <p:stCondLst>
                                    <p:cond delay="44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0" presetID="10" presetClass="entr" presetSubtype="0" fill="hold" nodeType="withEffect">
                                  <p:stCondLst>
                                    <p:cond delay="4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44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6" presetID="10" presetClass="entr" presetSubtype="0" fill="hold" nodeType="withEffect">
                                  <p:stCondLst>
                                    <p:cond delay="4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29" presetID="10" presetClass="entr" presetSubtype="0" fill="hold" nodeType="withEffect">
                                  <p:stCondLst>
                                    <p:cond delay="44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66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66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par>
                                <p:cTn id="38" presetID="10" presetClass="entr" presetSubtype="0" fill="hold" nodeType="withEffect">
                                  <p:stCondLst>
                                    <p:cond delay="66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400"/>
                                        <p:tgtEl>
                                          <p:spTgt spid="26"/>
                                        </p:tgtEl>
                                      </p:cBhvr>
                                    </p:animEffect>
                                  </p:childTnLst>
                                </p:cTn>
                              </p:par>
                              <p:par>
                                <p:cTn id="41" presetID="10" presetClass="entr" presetSubtype="0" fill="hold" nodeType="withEffect">
                                  <p:stCondLst>
                                    <p:cond delay="66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400"/>
                                        <p:tgtEl>
                                          <p:spTgt spid="27"/>
                                        </p:tgtEl>
                                      </p:cBhvr>
                                    </p:animEffect>
                                  </p:childTnLst>
                                </p:cTn>
                              </p:par>
                              <p:par>
                                <p:cTn id="44" presetID="10" presetClass="entr" presetSubtype="0" fill="hold" nodeType="withEffect">
                                  <p:stCondLst>
                                    <p:cond delay="66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400"/>
                                        <p:tgtEl>
                                          <p:spTgt spid="28"/>
                                        </p:tgtEl>
                                      </p:cBhvr>
                                    </p:animEffect>
                                  </p:childTnLst>
                                </p:cTn>
                              </p:par>
                              <p:par>
                                <p:cTn id="47" presetID="10" presetClass="entr" presetSubtype="0" fill="hold" nodeType="withEffect">
                                  <p:stCondLst>
                                    <p:cond delay="66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400"/>
                                        <p:tgtEl>
                                          <p:spTgt spid="29"/>
                                        </p:tgtEl>
                                      </p:cBhvr>
                                    </p:animEffect>
                                  </p:childTnLst>
                                </p:cTn>
                              </p:par>
                              <p:par>
                                <p:cTn id="50" presetID="10" presetClass="entr" presetSubtype="0" fill="hold" nodeType="withEffect">
                                  <p:stCondLst>
                                    <p:cond delay="660"/>
                                  </p:stCondLst>
                                  <p:childTnLst>
                                    <p:set>
                                      <p:cBhvr>
                                        <p:cTn id="51" dur="1" fill="hold">
                                          <p:stCondLst>
                                            <p:cond delay="0"/>
                                          </p:stCondLst>
                                        </p:cTn>
                                        <p:tgtEl>
                                          <p:spTgt spid="30"/>
                                        </p:tgtEl>
                                        <p:attrNameLst>
                                          <p:attrName>style.visibility</p:attrName>
                                        </p:attrNameLst>
                                      </p:cBhvr>
                                      <p:to>
                                        <p:strVal val="visible"/>
                                      </p:to>
                                    </p:set>
                                    <p:animEffect transition="in" filter="fade">
                                      <p:cBhvr>
                                        <p:cTn id="52" dur="400"/>
                                        <p:tgtEl>
                                          <p:spTgt spid="30"/>
                                        </p:tgtEl>
                                      </p:cBhvr>
                                    </p:animEffect>
                                  </p:childTnLst>
                                </p:cTn>
                              </p:par>
                              <p:par>
                                <p:cTn id="53" presetID="10" presetClass="entr" presetSubtype="0" fill="hold" nodeType="withEffect">
                                  <p:stCondLst>
                                    <p:cond delay="66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400"/>
                                        <p:tgtEl>
                                          <p:spTgt spid="31"/>
                                        </p:tgtEl>
                                      </p:cBhvr>
                                    </p:animEffect>
                                  </p:childTnLst>
                                </p:cTn>
                              </p:par>
                              <p:par>
                                <p:cTn id="56" presetID="10" presetClass="entr" presetSubtype="0" fill="hold" nodeType="withEffect">
                                  <p:stCondLst>
                                    <p:cond delay="88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400"/>
                                        <p:tgtEl>
                                          <p:spTgt spid="14"/>
                                        </p:tgtEl>
                                      </p:cBhvr>
                                    </p:animEffect>
                                  </p:childTnLst>
                                </p:cTn>
                              </p:par>
                              <p:par>
                                <p:cTn id="59" presetID="10" presetClass="entr" presetSubtype="0" fill="hold" nodeType="withEffect">
                                  <p:stCondLst>
                                    <p:cond delay="88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400"/>
                                        <p:tgtEl>
                                          <p:spTgt spid="32"/>
                                        </p:tgtEl>
                                      </p:cBhvr>
                                    </p:animEffect>
                                  </p:childTnLst>
                                </p:cTn>
                              </p:par>
                              <p:par>
                                <p:cTn id="62" presetID="10" presetClass="entr" presetSubtype="0" fill="hold" nodeType="withEffect">
                                  <p:stCondLst>
                                    <p:cond delay="88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400"/>
                                        <p:tgtEl>
                                          <p:spTgt spid="33"/>
                                        </p:tgtEl>
                                      </p:cBhvr>
                                    </p:animEffect>
                                  </p:childTnLst>
                                </p:cTn>
                              </p:par>
                              <p:par>
                                <p:cTn id="65" presetID="10" presetClass="entr" presetSubtype="0" fill="hold" nodeType="withEffect">
                                  <p:stCondLst>
                                    <p:cond delay="88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68" presetID="10" presetClass="entr" presetSubtype="0" fill="hold" nodeType="withEffect">
                                  <p:stCondLst>
                                    <p:cond delay="88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400"/>
                                        <p:tgtEl>
                                          <p:spTgt spid="35"/>
                                        </p:tgtEl>
                                      </p:cBhvr>
                                    </p:animEffect>
                                  </p:childTnLst>
                                </p:cTn>
                              </p:par>
                              <p:par>
                                <p:cTn id="71" presetID="10" presetClass="entr" presetSubtype="0" fill="hold" nodeType="withEffect">
                                  <p:stCondLst>
                                    <p:cond delay="88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400"/>
                                        <p:tgtEl>
                                          <p:spTgt spid="36"/>
                                        </p:tgtEl>
                                      </p:cBhvr>
                                    </p:animEffect>
                                  </p:childTnLst>
                                </p:cTn>
                              </p:par>
                              <p:par>
                                <p:cTn id="74" presetID="10" presetClass="entr" presetSubtype="0" fill="hold" nodeType="withEffect">
                                  <p:stCondLst>
                                    <p:cond delay="88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400"/>
                                        <p:tgtEl>
                                          <p:spTgt spid="37"/>
                                        </p:tgtEl>
                                      </p:cBhvr>
                                    </p:animEffect>
                                  </p:childTnLst>
                                </p:cTn>
                              </p:par>
                              <p:par>
                                <p:cTn id="77" presetID="10" presetClass="entr" presetSubtype="0" fill="hold" nodeType="withEffect">
                                  <p:stCondLst>
                                    <p:cond delay="88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400"/>
                                        <p:tgtEl>
                                          <p:spTgt spid="38"/>
                                        </p:tgtEl>
                                      </p:cBhvr>
                                    </p:animEffect>
                                  </p:childTnLst>
                                </p:cTn>
                              </p:par>
                              <p:par>
                                <p:cTn id="80" presetID="10" presetClass="entr" presetSubtype="0" fill="hold" nodeType="withEffect">
                                  <p:stCondLst>
                                    <p:cond delay="1100"/>
                                  </p:stCondLst>
                                  <p:childTnLst>
                                    <p:set>
                                      <p:cBhvr>
                                        <p:cTn id="81" dur="1" fill="hold">
                                          <p:stCondLst>
                                            <p:cond delay="0"/>
                                          </p:stCondLst>
                                        </p:cTn>
                                        <p:tgtEl>
                                          <p:spTgt spid="39"/>
                                        </p:tgtEl>
                                        <p:attrNameLst>
                                          <p:attrName>style.visibility</p:attrName>
                                        </p:attrNameLst>
                                      </p:cBhvr>
                                      <p:to>
                                        <p:strVal val="visible"/>
                                      </p:to>
                                    </p:set>
                                    <p:animEffect transition="in" filter="fade">
                                      <p:cBhvr>
                                        <p:cTn id="82" dur="400"/>
                                        <p:tgtEl>
                                          <p:spTgt spid="39"/>
                                        </p:tgtEl>
                                      </p:cBhvr>
                                    </p:animEffect>
                                  </p:childTnLst>
                                </p:cTn>
                              </p:par>
                              <p:par>
                                <p:cTn id="83" presetID="10" presetClass="entr" presetSubtype="0" fill="hold" nodeType="withEffect">
                                  <p:stCondLst>
                                    <p:cond delay="1320"/>
                                  </p:stCondLst>
                                  <p:childTnLst>
                                    <p:set>
                                      <p:cBhvr>
                                        <p:cTn id="84" dur="1" fill="hold">
                                          <p:stCondLst>
                                            <p:cond delay="0"/>
                                          </p:stCondLst>
                                        </p:cTn>
                                        <p:tgtEl>
                                          <p:spTgt spid="16"/>
                                        </p:tgtEl>
                                        <p:attrNameLst>
                                          <p:attrName>style.visibility</p:attrName>
                                        </p:attrNameLst>
                                      </p:cBhvr>
                                      <p:to>
                                        <p:strVal val="visible"/>
                                      </p:to>
                                    </p:set>
                                    <p:animEffect transition="in" filter="fade">
                                      <p:cBhvr>
                                        <p:cTn id="85" dur="400"/>
                                        <p:tgtEl>
                                          <p:spTgt spid="16"/>
                                        </p:tgtEl>
                                      </p:cBhvr>
                                    </p:animEffect>
                                  </p:childTnLst>
                                </p:cTn>
                              </p:par>
                              <p:par>
                                <p:cTn id="86" presetID="10" presetClass="entr" presetSubtype="0" fill="hold" nodeType="withEffect">
                                  <p:stCondLst>
                                    <p:cond delay="1320"/>
                                  </p:stCondLst>
                                  <p:childTnLst>
                                    <p:set>
                                      <p:cBhvr>
                                        <p:cTn id="87" dur="1" fill="hold">
                                          <p:stCondLst>
                                            <p:cond delay="0"/>
                                          </p:stCondLst>
                                        </p:cTn>
                                        <p:tgtEl>
                                          <p:spTgt spid="17"/>
                                        </p:tgtEl>
                                        <p:attrNameLst>
                                          <p:attrName>style.visibility</p:attrName>
                                        </p:attrNameLst>
                                      </p:cBhvr>
                                      <p:to>
                                        <p:strVal val="visible"/>
                                      </p:to>
                                    </p:set>
                                    <p:animEffect transition="in" filter="fade">
                                      <p:cBhvr>
                                        <p:cTn id="88" dur="400"/>
                                        <p:tgtEl>
                                          <p:spTgt spid="17"/>
                                        </p:tgtEl>
                                      </p:cBhvr>
                                    </p:animEffect>
                                  </p:childTnLst>
                                </p:cTn>
                              </p:par>
                              <p:par>
                                <p:cTn id="89" presetID="10" presetClass="entr" presetSubtype="0" fill="hold" nodeType="withEffect">
                                  <p:stCondLst>
                                    <p:cond delay="132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400"/>
                                        <p:tgtEl>
                                          <p:spTgt spid="40"/>
                                        </p:tgtEl>
                                      </p:cBhvr>
                                    </p:animEffect>
                                  </p:childTnLst>
                                </p:cTn>
                              </p:par>
                              <p:par>
                                <p:cTn id="92" presetID="10" presetClass="entr" presetSubtype="0" fill="hold" nodeType="withEffect">
                                  <p:stCondLst>
                                    <p:cond delay="1320"/>
                                  </p:stCondLst>
                                  <p:childTnLst>
                                    <p:set>
                                      <p:cBhvr>
                                        <p:cTn id="93" dur="1" fill="hold">
                                          <p:stCondLst>
                                            <p:cond delay="0"/>
                                          </p:stCondLst>
                                        </p:cTn>
                                        <p:tgtEl>
                                          <p:spTgt spid="41"/>
                                        </p:tgtEl>
                                        <p:attrNameLst>
                                          <p:attrName>style.visibility</p:attrName>
                                        </p:attrNameLst>
                                      </p:cBhvr>
                                      <p:to>
                                        <p:strVal val="visible"/>
                                      </p:to>
                                    </p:set>
                                    <p:animEffect transition="in" filter="fade">
                                      <p:cBhvr>
                                        <p:cTn id="94" dur="400"/>
                                        <p:tgtEl>
                                          <p:spTgt spid="41"/>
                                        </p:tgtEl>
                                      </p:cBhvr>
                                    </p:animEffect>
                                  </p:childTnLst>
                                </p:cTn>
                              </p:par>
                              <p:par>
                                <p:cTn id="95" presetID="10" presetClass="entr" presetSubtype="0" fill="hold" nodeType="withEffect">
                                  <p:stCondLst>
                                    <p:cond delay="1320"/>
                                  </p:stCondLst>
                                  <p:childTnLst>
                                    <p:set>
                                      <p:cBhvr>
                                        <p:cTn id="96" dur="1" fill="hold">
                                          <p:stCondLst>
                                            <p:cond delay="0"/>
                                          </p:stCondLst>
                                        </p:cTn>
                                        <p:tgtEl>
                                          <p:spTgt spid="42"/>
                                        </p:tgtEl>
                                        <p:attrNameLst>
                                          <p:attrName>style.visibility</p:attrName>
                                        </p:attrNameLst>
                                      </p:cBhvr>
                                      <p:to>
                                        <p:strVal val="visible"/>
                                      </p:to>
                                    </p:set>
                                    <p:animEffect transition="in" filter="fade">
                                      <p:cBhvr>
                                        <p:cTn id="97" dur="400"/>
                                        <p:tgtEl>
                                          <p:spTgt spid="42"/>
                                        </p:tgtEl>
                                      </p:cBhvr>
                                    </p:animEffect>
                                  </p:childTnLst>
                                </p:cTn>
                              </p:par>
                              <p:par>
                                <p:cTn id="98" presetID="10" presetClass="entr" presetSubtype="0" fill="hold" nodeType="withEffect">
                                  <p:stCondLst>
                                    <p:cond delay="1320"/>
                                  </p:stCondLst>
                                  <p:childTnLst>
                                    <p:set>
                                      <p:cBhvr>
                                        <p:cTn id="99" dur="1" fill="hold">
                                          <p:stCondLst>
                                            <p:cond delay="0"/>
                                          </p:stCondLst>
                                        </p:cTn>
                                        <p:tgtEl>
                                          <p:spTgt spid="43"/>
                                        </p:tgtEl>
                                        <p:attrNameLst>
                                          <p:attrName>style.visibility</p:attrName>
                                        </p:attrNameLst>
                                      </p:cBhvr>
                                      <p:to>
                                        <p:strVal val="visible"/>
                                      </p:to>
                                    </p:set>
                                    <p:animEffect transition="in" filter="fade">
                                      <p:cBhvr>
                                        <p:cTn id="100" dur="400"/>
                                        <p:tgtEl>
                                          <p:spTgt spid="43"/>
                                        </p:tgtEl>
                                      </p:cBhvr>
                                    </p:animEffect>
                                  </p:childTnLst>
                                </p:cTn>
                              </p:par>
                              <p:par>
                                <p:cTn id="101" presetID="10" presetClass="entr" presetSubtype="0" fill="hold" nodeType="withEffect">
                                  <p:stCondLst>
                                    <p:cond delay="1320"/>
                                  </p:stCondLst>
                                  <p:childTnLst>
                                    <p:set>
                                      <p:cBhvr>
                                        <p:cTn id="102" dur="1" fill="hold">
                                          <p:stCondLst>
                                            <p:cond delay="0"/>
                                          </p:stCondLst>
                                        </p:cTn>
                                        <p:tgtEl>
                                          <p:spTgt spid="44"/>
                                        </p:tgtEl>
                                        <p:attrNameLst>
                                          <p:attrName>style.visibility</p:attrName>
                                        </p:attrNameLst>
                                      </p:cBhvr>
                                      <p:to>
                                        <p:strVal val="visible"/>
                                      </p:to>
                                    </p:set>
                                    <p:animEffect transition="in" filter="fade">
                                      <p:cBhvr>
                                        <p:cTn id="103" dur="400"/>
                                        <p:tgtEl>
                                          <p:spTgt spid="44"/>
                                        </p:tgtEl>
                                      </p:cBhvr>
                                    </p:animEffect>
                                  </p:childTnLst>
                                </p:cTn>
                              </p:par>
                              <p:par>
                                <p:cTn id="104" presetID="10" presetClass="entr" presetSubtype="0" fill="hold" nodeType="withEffect">
                                  <p:stCondLst>
                                    <p:cond delay="1320"/>
                                  </p:stCondLst>
                                  <p:childTnLst>
                                    <p:set>
                                      <p:cBhvr>
                                        <p:cTn id="105" dur="1" fill="hold">
                                          <p:stCondLst>
                                            <p:cond delay="0"/>
                                          </p:stCondLst>
                                        </p:cTn>
                                        <p:tgtEl>
                                          <p:spTgt spid="45"/>
                                        </p:tgtEl>
                                        <p:attrNameLst>
                                          <p:attrName>style.visibility</p:attrName>
                                        </p:attrNameLst>
                                      </p:cBhvr>
                                      <p:to>
                                        <p:strVal val="visible"/>
                                      </p:to>
                                    </p:set>
                                    <p:animEffect transition="in" filter="fade">
                                      <p:cBhvr>
                                        <p:cTn id="106" dur="400"/>
                                        <p:tgtEl>
                                          <p:spTgt spid="45"/>
                                        </p:tgtEl>
                                      </p:cBhvr>
                                    </p:animEffect>
                                  </p:childTnLst>
                                </p:cTn>
                              </p:par>
                              <p:par>
                                <p:cTn id="107" presetID="10" presetClass="entr" presetSubtype="0" fill="hold" nodeType="withEffect">
                                  <p:stCondLst>
                                    <p:cond delay="1320"/>
                                  </p:stCondLst>
                                  <p:childTnLst>
                                    <p:set>
                                      <p:cBhvr>
                                        <p:cTn id="108" dur="1" fill="hold">
                                          <p:stCondLst>
                                            <p:cond delay="0"/>
                                          </p:stCondLst>
                                        </p:cTn>
                                        <p:tgtEl>
                                          <p:spTgt spid="46"/>
                                        </p:tgtEl>
                                        <p:attrNameLst>
                                          <p:attrName>style.visibility</p:attrName>
                                        </p:attrNameLst>
                                      </p:cBhvr>
                                      <p:to>
                                        <p:strVal val="visible"/>
                                      </p:to>
                                    </p:set>
                                    <p:animEffect transition="in" filter="fade">
                                      <p:cBhvr>
                                        <p:cTn id="109" dur="400"/>
                                        <p:tgtEl>
                                          <p:spTgt spid="46"/>
                                        </p:tgtEl>
                                      </p:cBhvr>
                                    </p:animEffect>
                                  </p:childTnLst>
                                </p:cTn>
                              </p:par>
                              <p:par>
                                <p:cTn id="110" presetID="10" presetClass="entr" presetSubtype="0" fill="hold" nodeType="withEffect">
                                  <p:stCondLst>
                                    <p:cond delay="1540"/>
                                  </p:stCondLst>
                                  <p:childTnLst>
                                    <p:set>
                                      <p:cBhvr>
                                        <p:cTn id="111" dur="1" fill="hold">
                                          <p:stCondLst>
                                            <p:cond delay="0"/>
                                          </p:stCondLst>
                                        </p:cTn>
                                        <p:tgtEl>
                                          <p:spTgt spid="15"/>
                                        </p:tgtEl>
                                        <p:attrNameLst>
                                          <p:attrName>style.visibility</p:attrName>
                                        </p:attrNameLst>
                                      </p:cBhvr>
                                      <p:to>
                                        <p:strVal val="visible"/>
                                      </p:to>
                                    </p:set>
                                    <p:animEffect transition="in" filter="fade">
                                      <p:cBhvr>
                                        <p:cTn id="112" dur="400"/>
                                        <p:tgtEl>
                                          <p:spTgt spid="15"/>
                                        </p:tgtEl>
                                      </p:cBhvr>
                                    </p:animEffect>
                                  </p:childTnLst>
                                </p:cTn>
                              </p:par>
                              <p:par>
                                <p:cTn id="113" presetID="10" presetClass="entr" presetSubtype="0" fill="hold" nodeType="withEffect">
                                  <p:stCondLst>
                                    <p:cond delay="1540"/>
                                  </p:stCondLst>
                                  <p:childTnLst>
                                    <p:set>
                                      <p:cBhvr>
                                        <p:cTn id="114" dur="1" fill="hold">
                                          <p:stCondLst>
                                            <p:cond delay="0"/>
                                          </p:stCondLst>
                                        </p:cTn>
                                        <p:tgtEl>
                                          <p:spTgt spid="47"/>
                                        </p:tgtEl>
                                        <p:attrNameLst>
                                          <p:attrName>style.visibility</p:attrName>
                                        </p:attrNameLst>
                                      </p:cBhvr>
                                      <p:to>
                                        <p:strVal val="visible"/>
                                      </p:to>
                                    </p:set>
                                    <p:animEffect transition="in" filter="fade">
                                      <p:cBhvr>
                                        <p:cTn id="115" dur="400"/>
                                        <p:tgtEl>
                                          <p:spTgt spid="47"/>
                                        </p:tgtEl>
                                      </p:cBhvr>
                                    </p:animEffect>
                                  </p:childTnLst>
                                </p:cTn>
                              </p:par>
                              <p:par>
                                <p:cTn id="116" presetID="10" presetClass="entr" presetSubtype="0" fill="hold" nodeType="withEffect">
                                  <p:stCondLst>
                                    <p:cond delay="154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00"/>
                                        <p:tgtEl>
                                          <p:spTgt spid="48"/>
                                        </p:tgtEl>
                                      </p:cBhvr>
                                    </p:animEffect>
                                  </p:childTnLst>
                                </p:cTn>
                              </p:par>
                              <p:par>
                                <p:cTn id="119" presetID="10" presetClass="entr" presetSubtype="0" fill="hold" nodeType="withEffect">
                                  <p:stCondLst>
                                    <p:cond delay="1540"/>
                                  </p:stCondLst>
                                  <p:childTnLst>
                                    <p:set>
                                      <p:cBhvr>
                                        <p:cTn id="120" dur="1" fill="hold">
                                          <p:stCondLst>
                                            <p:cond delay="0"/>
                                          </p:stCondLst>
                                        </p:cTn>
                                        <p:tgtEl>
                                          <p:spTgt spid="49"/>
                                        </p:tgtEl>
                                        <p:attrNameLst>
                                          <p:attrName>style.visibility</p:attrName>
                                        </p:attrNameLst>
                                      </p:cBhvr>
                                      <p:to>
                                        <p:strVal val="visible"/>
                                      </p:to>
                                    </p:set>
                                    <p:animEffect transition="in" filter="fade">
                                      <p:cBhvr>
                                        <p:cTn id="121" dur="400"/>
                                        <p:tgtEl>
                                          <p:spTgt spid="49"/>
                                        </p:tgtEl>
                                      </p:cBhvr>
                                    </p:animEffect>
                                  </p:childTnLst>
                                </p:cTn>
                              </p:par>
                              <p:par>
                                <p:cTn id="122" presetID="10" presetClass="entr" presetSubtype="0" fill="hold" nodeType="withEffect">
                                  <p:stCondLst>
                                    <p:cond delay="1540"/>
                                  </p:stCondLst>
                                  <p:childTnLst>
                                    <p:set>
                                      <p:cBhvr>
                                        <p:cTn id="123" dur="1" fill="hold">
                                          <p:stCondLst>
                                            <p:cond delay="0"/>
                                          </p:stCondLst>
                                        </p:cTn>
                                        <p:tgtEl>
                                          <p:spTgt spid="50"/>
                                        </p:tgtEl>
                                        <p:attrNameLst>
                                          <p:attrName>style.visibility</p:attrName>
                                        </p:attrNameLst>
                                      </p:cBhvr>
                                      <p:to>
                                        <p:strVal val="visible"/>
                                      </p:to>
                                    </p:set>
                                    <p:animEffect transition="in" filter="fade">
                                      <p:cBhvr>
                                        <p:cTn id="124" dur="400"/>
                                        <p:tgtEl>
                                          <p:spTgt spid="50"/>
                                        </p:tgtEl>
                                      </p:cBhvr>
                                    </p:animEffect>
                                  </p:childTnLst>
                                </p:cTn>
                              </p:par>
                              <p:par>
                                <p:cTn id="125" presetID="10" presetClass="entr" presetSubtype="0" fill="hold" nodeType="withEffect">
                                  <p:stCondLst>
                                    <p:cond delay="1540"/>
                                  </p:stCondLst>
                                  <p:childTnLst>
                                    <p:set>
                                      <p:cBhvr>
                                        <p:cTn id="126" dur="1" fill="hold">
                                          <p:stCondLst>
                                            <p:cond delay="0"/>
                                          </p:stCondLst>
                                        </p:cTn>
                                        <p:tgtEl>
                                          <p:spTgt spid="51"/>
                                        </p:tgtEl>
                                        <p:attrNameLst>
                                          <p:attrName>style.visibility</p:attrName>
                                        </p:attrNameLst>
                                      </p:cBhvr>
                                      <p:to>
                                        <p:strVal val="visible"/>
                                      </p:to>
                                    </p:set>
                                    <p:animEffect transition="in" filter="fade">
                                      <p:cBhvr>
                                        <p:cTn id="127" dur="400"/>
                                        <p:tgtEl>
                                          <p:spTgt spid="51"/>
                                        </p:tgtEl>
                                      </p:cBhvr>
                                    </p:animEffect>
                                  </p:childTnLst>
                                </p:cTn>
                              </p:par>
                              <p:par>
                                <p:cTn id="128" presetID="10" presetClass="entr" presetSubtype="0" fill="hold" nodeType="withEffect">
                                  <p:stCondLst>
                                    <p:cond delay="1540"/>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400"/>
                                        <p:tgtEl>
                                          <p:spTgt spid="52"/>
                                        </p:tgtEl>
                                      </p:cBhvr>
                                    </p:animEffect>
                                  </p:childTnLst>
                                </p:cTn>
                              </p:par>
                              <p:par>
                                <p:cTn id="131" presetID="10" presetClass="entr" presetSubtype="0" fill="hold" nodeType="withEffect">
                                  <p:stCondLst>
                                    <p:cond delay="154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00"/>
                                        <p:tgtEl>
                                          <p:spTgt spid="53"/>
                                        </p:tgtEl>
                                      </p:cBhvr>
                                    </p:animEffect>
                                  </p:childTnLst>
                                </p:cTn>
                              </p:par>
                              <p:par>
                                <p:cTn id="134" presetID="10" presetClass="entr" presetSubtype="0" fill="hold" nodeType="withEffect">
                                  <p:stCondLst>
                                    <p:cond delay="1760"/>
                                  </p:stCondLst>
                                  <p:childTnLst>
                                    <p:set>
                                      <p:cBhvr>
                                        <p:cTn id="135" dur="1" fill="hold">
                                          <p:stCondLst>
                                            <p:cond delay="0"/>
                                          </p:stCondLst>
                                        </p:cTn>
                                        <p:tgtEl>
                                          <p:spTgt spid="13"/>
                                        </p:tgtEl>
                                        <p:attrNameLst>
                                          <p:attrName>style.visibility</p:attrName>
                                        </p:attrNameLst>
                                      </p:cBhvr>
                                      <p:to>
                                        <p:strVal val="visible"/>
                                      </p:to>
                                    </p:set>
                                    <p:animEffect transition="in" filter="fade">
                                      <p:cBhvr>
                                        <p:cTn id="136" dur="400"/>
                                        <p:tgtEl>
                                          <p:spTgt spid="13"/>
                                        </p:tgtEl>
                                      </p:cBhvr>
                                    </p:animEffect>
                                  </p:childTnLst>
                                </p:cTn>
                              </p:par>
                              <p:par>
                                <p:cTn id="137" presetID="10" presetClass="entr" presetSubtype="0" fill="hold" nodeType="withEffect">
                                  <p:stCondLst>
                                    <p:cond delay="176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76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76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76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76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76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76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13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BƯỚC 4 · XÁC NHẬN &amp; THÔNG BÁO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Xác nhận một lần, hai bộ phận cùng nhận thông tin</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218024" cy="3154680"/>
          </a:xfrm>
          <a:prstGeom prst="roundRect">
            <a:avLst>
              <a:gd name="adj" fmla="val 3478"/>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154680"/>
          </a:xfrm>
          <a:prstGeom prst="roundRect">
            <a:avLst>
              <a:gd name="adj" fmla="val 54545"/>
            </a:avLst>
          </a:prstGeom>
          <a:solidFill>
            <a:srgbClr val="FBBF24">
              <a:alpha val="95000"/>
            </a:srgbClr>
          </a:solidFill>
          <a:ln/>
        </p:spPr>
      </p:sp>
      <p:sp>
        <p:nvSpPr>
          <p:cNvPr id="14" name="Text 10"/>
          <p:cNvSpPr/>
          <p:nvPr/>
        </p:nvSpPr>
        <p:spPr>
          <a:xfrm>
            <a:off x="1042416" y="2476246"/>
            <a:ext cx="4651096"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FBBF24"/>
                </a:solidFill>
                <a:latin typeface="Be Vietnam Pro" pitchFamily="34" charset="0"/>
                <a:ea typeface="Be Vietnam Pro" pitchFamily="34" charset="-122"/>
                <a:cs typeface="Be Vietnam Pro" pitchFamily="34" charset="-120"/>
              </a:rPr>
              <a:t>BỘ PHẬN KHO</a:t>
            </a:r>
            <a:endParaRPr lang="en-US" sz="1050" dirty="0"/>
          </a:p>
        </p:txBody>
      </p:sp>
      <p:sp>
        <p:nvSpPr>
          <p:cNvPr id="15" name="Text 11"/>
          <p:cNvSpPr/>
          <p:nvPr/>
        </p:nvSpPr>
        <p:spPr>
          <a:xfrm>
            <a:off x="1042416" y="2750566"/>
            <a:ext cx="4651096" cy="364617"/>
          </a:xfrm>
          <a:prstGeom prst="rect">
            <a:avLst/>
          </a:prstGeom>
          <a:noFill/>
          <a:ln/>
        </p:spPr>
        <p:txBody>
          <a:bodyPr wrap="square" lIns="0" tIns="0" rIns="0" bIns="0" rtlCol="0" anchor="t"/>
          <a:lstStyle/>
          <a:p>
            <a:pPr marL="0" indent="0" algn="l">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Chuẩn bị và xuất vật tư</a:t>
            </a:r>
            <a:endParaRPr lang="en-US" sz="1700" dirty="0"/>
          </a:p>
        </p:txBody>
      </p:sp>
      <p:sp>
        <p:nvSpPr>
          <p:cNvPr id="16" name="Shape 12"/>
          <p:cNvSpPr/>
          <p:nvPr/>
        </p:nvSpPr>
        <p:spPr>
          <a:xfrm>
            <a:off x="1042416" y="3244342"/>
            <a:ext cx="4559656" cy="9144"/>
          </a:xfrm>
          <a:prstGeom prst="rect">
            <a:avLst/>
          </a:prstGeom>
          <a:solidFill>
            <a:srgbClr val="FFFFFF">
              <a:alpha val="14000"/>
            </a:srgbClr>
          </a:solidFill>
          <a:ln/>
        </p:spPr>
      </p:sp>
      <p:sp>
        <p:nvSpPr>
          <p:cNvPr id="17" name="Shape 13"/>
          <p:cNvSpPr/>
          <p:nvPr/>
        </p:nvSpPr>
        <p:spPr>
          <a:xfrm>
            <a:off x="1060704" y="3518662"/>
            <a:ext cx="82296" cy="82296"/>
          </a:xfrm>
          <a:prstGeom prst="roundRect">
            <a:avLst>
              <a:gd name="adj" fmla="val 50000"/>
            </a:avLst>
          </a:prstGeom>
          <a:solidFill>
            <a:srgbClr val="FBBF24">
              <a:alpha val="95000"/>
            </a:srgbClr>
          </a:solidFill>
          <a:ln/>
        </p:spPr>
      </p:sp>
      <p:sp>
        <p:nvSpPr>
          <p:cNvPr id="18" name="Text 14"/>
          <p:cNvSpPr/>
          <p:nvPr/>
        </p:nvSpPr>
        <p:spPr>
          <a:xfrm>
            <a:off x="1298448" y="3427222"/>
            <a:ext cx="4395064" cy="51765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Nhận thông báo ngay khi người điều phối xác nhận</a:t>
            </a:r>
            <a:endParaRPr lang="en-US" sz="1250" dirty="0"/>
          </a:p>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phương án.</a:t>
            </a:r>
            <a:endParaRPr lang="en-US" sz="1250" dirty="0"/>
          </a:p>
        </p:txBody>
      </p:sp>
      <p:sp>
        <p:nvSpPr>
          <p:cNvPr id="19" name="Shape 15"/>
          <p:cNvSpPr/>
          <p:nvPr/>
        </p:nvSpPr>
        <p:spPr>
          <a:xfrm>
            <a:off x="1060704" y="4109466"/>
            <a:ext cx="82296" cy="82296"/>
          </a:xfrm>
          <a:prstGeom prst="roundRect">
            <a:avLst>
              <a:gd name="adj" fmla="val 50000"/>
            </a:avLst>
          </a:prstGeom>
          <a:solidFill>
            <a:srgbClr val="FBBF24">
              <a:alpha val="95000"/>
            </a:srgbClr>
          </a:solidFill>
          <a:ln/>
        </p:spPr>
      </p:sp>
      <p:sp>
        <p:nvSpPr>
          <p:cNvPr id="20" name="Text 16"/>
          <p:cNvSpPr/>
          <p:nvPr/>
        </p:nvSpPr>
        <p:spPr>
          <a:xfrm>
            <a:off x="1298448" y="4018026"/>
            <a:ext cx="4395064" cy="51765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Nhận thông tin xong là soạn vật tư theo danh sách và</a:t>
            </a:r>
            <a:endParaRPr lang="en-US" sz="1250" dirty="0"/>
          </a:p>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xuất kho, tồn kho trừ ngay lúc xuất.</a:t>
            </a:r>
            <a:endParaRPr lang="en-US" sz="1250" dirty="0"/>
          </a:p>
        </p:txBody>
      </p:sp>
      <p:sp>
        <p:nvSpPr>
          <p:cNvPr id="21" name="Shape 17"/>
          <p:cNvSpPr/>
          <p:nvPr/>
        </p:nvSpPr>
        <p:spPr>
          <a:xfrm>
            <a:off x="6260440" y="2220214"/>
            <a:ext cx="5218024" cy="3154680"/>
          </a:xfrm>
          <a:prstGeom prst="roundRect">
            <a:avLst>
              <a:gd name="adj" fmla="val 3478"/>
            </a:avLst>
          </a:prstGeom>
          <a:solidFill>
            <a:srgbClr val="091B2D">
              <a:alpha val="66000"/>
            </a:srgbClr>
          </a:solidFill>
          <a:ln w="12700">
            <a:solidFill>
              <a:srgbClr val="FFFFFF">
                <a:alpha val="12000"/>
              </a:srgbClr>
            </a:solidFill>
            <a:prstDash val="solid"/>
          </a:ln>
        </p:spPr>
      </p:sp>
      <p:sp>
        <p:nvSpPr>
          <p:cNvPr id="22" name="Shape 18"/>
          <p:cNvSpPr/>
          <p:nvPr/>
        </p:nvSpPr>
        <p:spPr>
          <a:xfrm>
            <a:off x="6260440" y="2220214"/>
            <a:ext cx="50292" cy="3154680"/>
          </a:xfrm>
          <a:prstGeom prst="roundRect">
            <a:avLst>
              <a:gd name="adj" fmla="val 54545"/>
            </a:avLst>
          </a:prstGeom>
          <a:solidFill>
            <a:srgbClr val="38BDF8">
              <a:alpha val="95000"/>
            </a:srgbClr>
          </a:solidFill>
          <a:ln/>
        </p:spPr>
      </p:sp>
      <p:sp>
        <p:nvSpPr>
          <p:cNvPr id="23" name="Text 19"/>
          <p:cNvSpPr/>
          <p:nvPr/>
        </p:nvSpPr>
        <p:spPr>
          <a:xfrm>
            <a:off x="6589624" y="2476246"/>
            <a:ext cx="4651096"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38BDF8"/>
                </a:solidFill>
                <a:latin typeface="Be Vietnam Pro" pitchFamily="34" charset="0"/>
                <a:ea typeface="Be Vietnam Pro" pitchFamily="34" charset="-122"/>
                <a:cs typeface="Be Vietnam Pro" pitchFamily="34" charset="-120"/>
              </a:rPr>
              <a:t>ĐỘI CỨU HỘ</a:t>
            </a:r>
            <a:endParaRPr lang="en-US" sz="1050" dirty="0"/>
          </a:p>
        </p:txBody>
      </p:sp>
      <p:sp>
        <p:nvSpPr>
          <p:cNvPr id="24" name="Text 20"/>
          <p:cNvSpPr/>
          <p:nvPr/>
        </p:nvSpPr>
        <p:spPr>
          <a:xfrm>
            <a:off x="6589624" y="2750566"/>
            <a:ext cx="4651096" cy="364617"/>
          </a:xfrm>
          <a:prstGeom prst="rect">
            <a:avLst/>
          </a:prstGeom>
          <a:noFill/>
          <a:ln/>
        </p:spPr>
        <p:txBody>
          <a:bodyPr wrap="square" lIns="0" tIns="0" rIns="0" bIns="0" rtlCol="0" anchor="t"/>
          <a:lstStyle/>
          <a:p>
            <a:pPr marL="0" indent="0" algn="l">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Biết đi đâu, nhận gì, ở kho nào</a:t>
            </a:r>
            <a:endParaRPr lang="en-US" sz="1700" dirty="0"/>
          </a:p>
        </p:txBody>
      </p:sp>
      <p:sp>
        <p:nvSpPr>
          <p:cNvPr id="25" name="Shape 21"/>
          <p:cNvSpPr/>
          <p:nvPr/>
        </p:nvSpPr>
        <p:spPr>
          <a:xfrm>
            <a:off x="6589624" y="3244342"/>
            <a:ext cx="4559656" cy="9144"/>
          </a:xfrm>
          <a:prstGeom prst="rect">
            <a:avLst/>
          </a:prstGeom>
          <a:solidFill>
            <a:srgbClr val="FFFFFF">
              <a:alpha val="14000"/>
            </a:srgbClr>
          </a:solidFill>
          <a:ln/>
        </p:spPr>
      </p:sp>
      <p:sp>
        <p:nvSpPr>
          <p:cNvPr id="26" name="Shape 22"/>
          <p:cNvSpPr/>
          <p:nvPr/>
        </p:nvSpPr>
        <p:spPr>
          <a:xfrm>
            <a:off x="6607912" y="3518662"/>
            <a:ext cx="82296" cy="82296"/>
          </a:xfrm>
          <a:prstGeom prst="roundRect">
            <a:avLst>
              <a:gd name="adj" fmla="val 50000"/>
            </a:avLst>
          </a:prstGeom>
          <a:solidFill>
            <a:srgbClr val="38BDF8">
              <a:alpha val="95000"/>
            </a:srgbClr>
          </a:solidFill>
          <a:ln/>
        </p:spPr>
      </p:sp>
      <p:sp>
        <p:nvSpPr>
          <p:cNvPr id="27" name="Text 23"/>
          <p:cNvSpPr/>
          <p:nvPr/>
        </p:nvSpPr>
        <p:spPr>
          <a:xfrm>
            <a:off x="6845656" y="3427222"/>
            <a:ext cx="4395064" cy="29540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Điểm gặp nạn hiển thị trực tiếp trên bản đồ.</a:t>
            </a:r>
            <a:endParaRPr lang="en-US" sz="1250" dirty="0"/>
          </a:p>
        </p:txBody>
      </p:sp>
      <p:sp>
        <p:nvSpPr>
          <p:cNvPr id="28" name="Shape 24"/>
          <p:cNvSpPr/>
          <p:nvPr/>
        </p:nvSpPr>
        <p:spPr>
          <a:xfrm>
            <a:off x="6607912" y="3887216"/>
            <a:ext cx="82296" cy="82296"/>
          </a:xfrm>
          <a:prstGeom prst="roundRect">
            <a:avLst>
              <a:gd name="adj" fmla="val 50000"/>
            </a:avLst>
          </a:prstGeom>
          <a:solidFill>
            <a:srgbClr val="38BDF8">
              <a:alpha val="95000"/>
            </a:srgbClr>
          </a:solidFill>
          <a:ln/>
        </p:spPr>
      </p:sp>
      <p:sp>
        <p:nvSpPr>
          <p:cNvPr id="29" name="Text 25"/>
          <p:cNvSpPr/>
          <p:nvPr/>
        </p:nvSpPr>
        <p:spPr>
          <a:xfrm>
            <a:off x="6845656" y="3795776"/>
            <a:ext cx="4395064" cy="29540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Danh sách vật tư cần nhận cho nhiệm vụ của mình.</a:t>
            </a:r>
            <a:endParaRPr lang="en-US" sz="1250" dirty="0"/>
          </a:p>
        </p:txBody>
      </p:sp>
      <p:sp>
        <p:nvSpPr>
          <p:cNvPr id="30" name="Shape 26"/>
          <p:cNvSpPr/>
          <p:nvPr/>
        </p:nvSpPr>
        <p:spPr>
          <a:xfrm>
            <a:off x="6607912" y="4255770"/>
            <a:ext cx="82296" cy="82296"/>
          </a:xfrm>
          <a:prstGeom prst="roundRect">
            <a:avLst>
              <a:gd name="adj" fmla="val 50000"/>
            </a:avLst>
          </a:prstGeom>
          <a:solidFill>
            <a:srgbClr val="38BDF8">
              <a:alpha val="95000"/>
            </a:srgbClr>
          </a:solidFill>
          <a:ln/>
        </p:spPr>
      </p:sp>
      <p:sp>
        <p:nvSpPr>
          <p:cNvPr id="31" name="Text 27"/>
          <p:cNvSpPr/>
          <p:nvPr/>
        </p:nvSpPr>
        <p:spPr>
          <a:xfrm>
            <a:off x="6845656" y="4164330"/>
            <a:ext cx="4395064" cy="29540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Danh sách kho cần đến kèm vị trí từng kho trên bản đồ.</a:t>
            </a:r>
            <a:endParaRPr lang="en-US" sz="1250" dirty="0"/>
          </a:p>
        </p:txBody>
      </p:sp>
      <p:sp>
        <p:nvSpPr>
          <p:cNvPr id="32" name="Shape 28"/>
          <p:cNvSpPr/>
          <p:nvPr/>
        </p:nvSpPr>
        <p:spPr>
          <a:xfrm>
            <a:off x="6607912" y="4624324"/>
            <a:ext cx="82296" cy="82296"/>
          </a:xfrm>
          <a:prstGeom prst="roundRect">
            <a:avLst>
              <a:gd name="adj" fmla="val 50000"/>
            </a:avLst>
          </a:prstGeom>
          <a:solidFill>
            <a:srgbClr val="38BDF8">
              <a:alpha val="95000"/>
            </a:srgbClr>
          </a:solidFill>
          <a:ln/>
        </p:spPr>
      </p:sp>
      <p:sp>
        <p:nvSpPr>
          <p:cNvPr id="33" name="Text 29"/>
          <p:cNvSpPr/>
          <p:nvPr/>
        </p:nvSpPr>
        <p:spPr>
          <a:xfrm>
            <a:off x="6845656" y="4532884"/>
            <a:ext cx="4395064" cy="29540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Đường đi từ các kho đến điểm gặp nạn</a:t>
            </a:r>
            <a:endParaRPr lang="en-US" sz="1250" dirty="0"/>
          </a:p>
        </p:txBody>
      </p:sp>
      <p:sp>
        <p:nvSpPr>
          <p:cNvPr id="34" name="Shape 30"/>
          <p:cNvSpPr/>
          <p:nvPr/>
        </p:nvSpPr>
        <p:spPr>
          <a:xfrm>
            <a:off x="713232" y="5630926"/>
            <a:ext cx="10765231" cy="566928"/>
          </a:xfrm>
          <a:prstGeom prst="roundRect">
            <a:avLst>
              <a:gd name="adj" fmla="val 16129"/>
            </a:avLst>
          </a:prstGeom>
          <a:solidFill>
            <a:srgbClr val="22C55E">
              <a:alpha val="12000"/>
            </a:srgbClr>
          </a:solidFill>
          <a:ln w="12700">
            <a:solidFill>
              <a:srgbClr val="22C55E">
                <a:alpha val="40000"/>
              </a:srgbClr>
            </a:solidFill>
            <a:prstDash val="solid"/>
          </a:ln>
        </p:spPr>
      </p:sp>
      <p:sp>
        <p:nvSpPr>
          <p:cNvPr id="35" name="Text 31"/>
          <p:cNvSpPr/>
          <p:nvPr/>
        </p:nvSpPr>
        <p:spPr>
          <a:xfrm>
            <a:off x="1042416" y="5768086"/>
            <a:ext cx="10198303"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Không ai phải gọi điện hỏi lại: kho biết chuẩn bị gì, đội cứu hộ biết đi đâu và nhận ở đâu.</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nodeType="withEffect">
                                  <p:stCondLst>
                                    <p:cond delay="44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nodeType="withEffect">
                                  <p:stCondLst>
                                    <p:cond delay="44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nodeType="withEffect">
                                  <p:stCondLst>
                                    <p:cond delay="44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66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66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66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66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nodeType="withEffect">
                                  <p:stCondLst>
                                    <p:cond delay="66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0" presetID="10" presetClass="entr" presetSubtype="0" fill="hold" nodeType="withEffect">
                                  <p:stCondLst>
                                    <p:cond delay="66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par>
                                <p:cTn id="53" presetID="10" presetClass="entr" presetSubtype="0" fill="hold" nodeType="withEffect">
                                  <p:stCondLst>
                                    <p:cond delay="66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00"/>
                                        <p:tgtEl>
                                          <p:spTgt spid="28"/>
                                        </p:tgtEl>
                                      </p:cBhvr>
                                    </p:animEffect>
                                  </p:childTnLst>
                                </p:cTn>
                              </p:par>
                              <p:par>
                                <p:cTn id="56" presetID="10" presetClass="entr" presetSubtype="0" fill="hold" nodeType="withEffect">
                                  <p:stCondLst>
                                    <p:cond delay="66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00"/>
                                        <p:tgtEl>
                                          <p:spTgt spid="29"/>
                                        </p:tgtEl>
                                      </p:cBhvr>
                                    </p:animEffect>
                                  </p:childTnLst>
                                </p:cTn>
                              </p:par>
                              <p:par>
                                <p:cTn id="59" presetID="10" presetClass="entr" presetSubtype="0" fill="hold" nodeType="withEffect">
                                  <p:stCondLst>
                                    <p:cond delay="66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00"/>
                                        <p:tgtEl>
                                          <p:spTgt spid="30"/>
                                        </p:tgtEl>
                                      </p:cBhvr>
                                    </p:animEffect>
                                  </p:childTnLst>
                                </p:cTn>
                              </p:par>
                              <p:par>
                                <p:cTn id="62" presetID="10" presetClass="entr" presetSubtype="0" fill="hold" nodeType="withEffect">
                                  <p:stCondLst>
                                    <p:cond delay="660"/>
                                  </p:stCondLst>
                                  <p:childTnLst>
                                    <p:set>
                                      <p:cBhvr>
                                        <p:cTn id="63" dur="1" fill="hold">
                                          <p:stCondLst>
                                            <p:cond delay="0"/>
                                          </p:stCondLst>
                                        </p:cTn>
                                        <p:tgtEl>
                                          <p:spTgt spid="31"/>
                                        </p:tgtEl>
                                        <p:attrNameLst>
                                          <p:attrName>style.visibility</p:attrName>
                                        </p:attrNameLst>
                                      </p:cBhvr>
                                      <p:to>
                                        <p:strVal val="visible"/>
                                      </p:to>
                                    </p:set>
                                    <p:animEffect transition="in" filter="fade">
                                      <p:cBhvr>
                                        <p:cTn id="64" dur="400"/>
                                        <p:tgtEl>
                                          <p:spTgt spid="31"/>
                                        </p:tgtEl>
                                      </p:cBhvr>
                                    </p:animEffect>
                                  </p:childTnLst>
                                </p:cTn>
                              </p:par>
                              <p:par>
                                <p:cTn id="65" presetID="10" presetClass="entr" presetSubtype="0" fill="hold" nodeType="withEffect">
                                  <p:stCondLst>
                                    <p:cond delay="660"/>
                                  </p:stCondLst>
                                  <p:childTnLst>
                                    <p:set>
                                      <p:cBhvr>
                                        <p:cTn id="66" dur="1" fill="hold">
                                          <p:stCondLst>
                                            <p:cond delay="0"/>
                                          </p:stCondLst>
                                        </p:cTn>
                                        <p:tgtEl>
                                          <p:spTgt spid="32"/>
                                        </p:tgtEl>
                                        <p:attrNameLst>
                                          <p:attrName>style.visibility</p:attrName>
                                        </p:attrNameLst>
                                      </p:cBhvr>
                                      <p:to>
                                        <p:strVal val="visible"/>
                                      </p:to>
                                    </p:set>
                                    <p:animEffect transition="in" filter="fade">
                                      <p:cBhvr>
                                        <p:cTn id="67" dur="400"/>
                                        <p:tgtEl>
                                          <p:spTgt spid="32"/>
                                        </p:tgtEl>
                                      </p:cBhvr>
                                    </p:animEffect>
                                  </p:childTnLst>
                                </p:cTn>
                              </p:par>
                              <p:par>
                                <p:cTn id="68" presetID="10" presetClass="entr" presetSubtype="0" fill="hold" nodeType="withEffect">
                                  <p:stCondLst>
                                    <p:cond delay="660"/>
                                  </p:stCondLst>
                                  <p:childTnLst>
                                    <p:set>
                                      <p:cBhvr>
                                        <p:cTn id="69" dur="1" fill="hold">
                                          <p:stCondLst>
                                            <p:cond delay="0"/>
                                          </p:stCondLst>
                                        </p:cTn>
                                        <p:tgtEl>
                                          <p:spTgt spid="33"/>
                                        </p:tgtEl>
                                        <p:attrNameLst>
                                          <p:attrName>style.visibility</p:attrName>
                                        </p:attrNameLst>
                                      </p:cBhvr>
                                      <p:to>
                                        <p:strVal val="visible"/>
                                      </p:to>
                                    </p:set>
                                    <p:animEffect transition="in" filter="fade">
                                      <p:cBhvr>
                                        <p:cTn id="70" dur="400"/>
                                        <p:tgtEl>
                                          <p:spTgt spid="33"/>
                                        </p:tgtEl>
                                      </p:cBhvr>
                                    </p:animEffect>
                                  </p:childTnLst>
                                </p:cTn>
                              </p:par>
                              <p:par>
                                <p:cTn id="71" presetID="10" presetClass="entr" presetSubtype="0" fill="hold" nodeType="withEffect">
                                  <p:stCondLst>
                                    <p:cond delay="880"/>
                                  </p:stCondLst>
                                  <p:childTnLst>
                                    <p:set>
                                      <p:cBhvr>
                                        <p:cTn id="72" dur="1" fill="hold">
                                          <p:stCondLst>
                                            <p:cond delay="0"/>
                                          </p:stCondLst>
                                        </p:cTn>
                                        <p:tgtEl>
                                          <p:spTgt spid="34"/>
                                        </p:tgtEl>
                                        <p:attrNameLst>
                                          <p:attrName>style.visibility</p:attrName>
                                        </p:attrNameLst>
                                      </p:cBhvr>
                                      <p:to>
                                        <p:strVal val="visible"/>
                                      </p:to>
                                    </p:set>
                                    <p:animEffect transition="in" filter="fade">
                                      <p:cBhvr>
                                        <p:cTn id="73" dur="400"/>
                                        <p:tgtEl>
                                          <p:spTgt spid="34"/>
                                        </p:tgtEl>
                                      </p:cBhvr>
                                    </p:animEffect>
                                  </p:childTnLst>
                                </p:cTn>
                              </p:par>
                              <p:par>
                                <p:cTn id="74" presetID="10" presetClass="entr" presetSubtype="0" fill="hold" nodeType="withEffect">
                                  <p:stCondLst>
                                    <p:cond delay="880"/>
                                  </p:stCondLst>
                                  <p:childTnLst>
                                    <p:set>
                                      <p:cBhvr>
                                        <p:cTn id="75" dur="1" fill="hold">
                                          <p:stCondLst>
                                            <p:cond delay="0"/>
                                          </p:stCondLst>
                                        </p:cTn>
                                        <p:tgtEl>
                                          <p:spTgt spid="35"/>
                                        </p:tgtEl>
                                        <p:attrNameLst>
                                          <p:attrName>style.visibility</p:attrName>
                                        </p:attrNameLst>
                                      </p:cBhvr>
                                      <p:to>
                                        <p:strVal val="visible"/>
                                      </p:to>
                                    </p:set>
                                    <p:animEffect transition="in" filter="fade">
                                      <p:cBhvr>
                                        <p:cTn id="76"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14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5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Hoàn thành nhiệm vụ và gửi bằng chứng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3" name="Shape 29"/>
          <p:cNvSpPr/>
          <p:nvPr/>
        </p:nvSpPr>
        <p:spPr>
          <a:xfrm>
            <a:off x="8097317" y="2220214"/>
            <a:ext cx="50292" cy="1737360"/>
          </a:xfrm>
          <a:prstGeom prst="roundRect">
            <a:avLst>
              <a:gd name="adj" fmla="val 54545"/>
            </a:avLst>
          </a:prstGeom>
          <a:solidFill>
            <a:srgbClr val="3C5468">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0" name="Shape 36"/>
          <p:cNvSpPr/>
          <p:nvPr/>
        </p:nvSpPr>
        <p:spPr>
          <a:xfrm>
            <a:off x="8097317" y="4359910"/>
            <a:ext cx="50292" cy="1737360"/>
          </a:xfrm>
          <a:prstGeom prst="roundRect">
            <a:avLst>
              <a:gd name="adj" fmla="val 54545"/>
            </a:avLst>
          </a:prstGeom>
          <a:solidFill>
            <a:srgbClr val="3C5468">
              <a:alpha val="95000"/>
            </a:srgbClr>
          </a:solidFill>
          <a:ln/>
        </p:spPr>
      </p:sp>
      <p:sp>
        <p:nvSpPr>
          <p:cNvPr id="41" name="Shape 37"/>
          <p:cNvSpPr/>
          <p:nvPr/>
        </p:nvSpPr>
        <p:spPr>
          <a:xfrm>
            <a:off x="8371637" y="4579366"/>
            <a:ext cx="420624" cy="420624"/>
          </a:xfrm>
          <a:prstGeom prst="roundRect">
            <a:avLst>
              <a:gd name="adj" fmla="val 50000"/>
            </a:avLst>
          </a:prstGeom>
          <a:solidFill>
            <a:srgbClr val="04101F">
              <a:alpha val="88000"/>
            </a:srgbClr>
          </a:solidFill>
          <a:ln/>
        </p:spPr>
      </p:sp>
      <p:sp>
        <p:nvSpPr>
          <p:cNvPr id="42" name="Shape 38"/>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3" name="Text 39"/>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4" name="Text 40"/>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5" name="Text 41"/>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lúc.</a:t>
            </a:r>
            <a:endParaRPr lang="en-US" sz="1150" dirty="0"/>
          </a:p>
        </p:txBody>
      </p:sp>
      <p:sp>
        <p:nvSpPr>
          <p:cNvPr id="46" name="Shape 42"/>
          <p:cNvSpPr/>
          <p:nvPr/>
        </p:nvSpPr>
        <p:spPr>
          <a:xfrm>
            <a:off x="4350410" y="4305046"/>
            <a:ext cx="3490874" cy="1847088"/>
          </a:xfrm>
          <a:prstGeom prst="roundRect">
            <a:avLst>
              <a:gd name="adj" fmla="val 7921"/>
            </a:avLst>
          </a:prstGeom>
          <a:solidFill>
            <a:srgbClr val="22C55E">
              <a:alpha val="18000"/>
            </a:srgbClr>
          </a:solidFill>
          <a:ln/>
        </p:spPr>
      </p:sp>
      <p:sp>
        <p:nvSpPr>
          <p:cNvPr id="47" name="Shape 43"/>
          <p:cNvSpPr/>
          <p:nvPr/>
        </p:nvSpPr>
        <p:spPr>
          <a:xfrm>
            <a:off x="4405274" y="4359910"/>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48" name="Shape 44"/>
          <p:cNvSpPr/>
          <p:nvPr/>
        </p:nvSpPr>
        <p:spPr>
          <a:xfrm>
            <a:off x="4405274" y="4359910"/>
            <a:ext cx="50292" cy="1737360"/>
          </a:xfrm>
          <a:prstGeom prst="roundRect">
            <a:avLst>
              <a:gd name="adj" fmla="val 54545"/>
            </a:avLst>
          </a:prstGeom>
          <a:solidFill>
            <a:srgbClr val="22C55E">
              <a:alpha val="95000"/>
            </a:srgbClr>
          </a:solidFill>
          <a:ln/>
        </p:spPr>
      </p:sp>
      <p:sp>
        <p:nvSpPr>
          <p:cNvPr id="49" name="Shape 45"/>
          <p:cNvSpPr/>
          <p:nvPr/>
        </p:nvSpPr>
        <p:spPr>
          <a:xfrm>
            <a:off x="4679594" y="4579366"/>
            <a:ext cx="420624" cy="420624"/>
          </a:xfrm>
          <a:prstGeom prst="roundRect">
            <a:avLst>
              <a:gd name="adj" fmla="val 50000"/>
            </a:avLst>
          </a:prstGeom>
          <a:solidFill>
            <a:srgbClr val="04101F">
              <a:alpha val="88000"/>
            </a:srgbClr>
          </a:solidFill>
          <a:ln/>
        </p:spPr>
      </p:sp>
      <p:sp>
        <p:nvSpPr>
          <p:cNvPr id="50" name="Shape 46"/>
          <p:cNvSpPr/>
          <p:nvPr/>
        </p:nvSpPr>
        <p:spPr>
          <a:xfrm>
            <a:off x="4679594"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1" name="Text 47"/>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5</a:t>
            </a:r>
            <a:endParaRPr lang="en-US" sz="1500" dirty="0"/>
          </a:p>
        </p:txBody>
      </p:sp>
      <p:sp>
        <p:nvSpPr>
          <p:cNvPr id="52" name="Text 48"/>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thành</a:t>
            </a:r>
            <a:endParaRPr lang="en-US" sz="1400" dirty="0"/>
          </a:p>
        </p:txBody>
      </p:sp>
      <p:sp>
        <p:nvSpPr>
          <p:cNvPr id="53" name="Text 49"/>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tại hiện trường.</a:t>
            </a:r>
            <a:endParaRPr lang="en-US" sz="1150" dirty="0"/>
          </a:p>
        </p:txBody>
      </p:sp>
      <p:sp>
        <p:nvSpPr>
          <p:cNvPr id="54" name="Shape 50"/>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5" name="Shape 51"/>
          <p:cNvSpPr/>
          <p:nvPr/>
        </p:nvSpPr>
        <p:spPr>
          <a:xfrm>
            <a:off x="713232" y="4359910"/>
            <a:ext cx="50292" cy="1737360"/>
          </a:xfrm>
          <a:prstGeom prst="roundRect">
            <a:avLst>
              <a:gd name="adj" fmla="val 54545"/>
            </a:avLst>
          </a:prstGeom>
          <a:solidFill>
            <a:srgbClr val="3C5468">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4" presetID="10" presetClass="entr" presetSubtype="0" fill="hold" nodeType="withEffect">
                                  <p:stCondLst>
                                    <p:cond delay="44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17" presetID="10" presetClass="entr" presetSubtype="0" fill="hold" nodeType="withEffect">
                                  <p:stCondLst>
                                    <p:cond delay="44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0" presetID="10" presetClass="entr" presetSubtype="0" fill="hold" nodeType="withEffect">
                                  <p:stCondLst>
                                    <p:cond delay="4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44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6" presetID="10" presetClass="entr" presetSubtype="0" fill="hold" nodeType="withEffect">
                                  <p:stCondLst>
                                    <p:cond delay="4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29" presetID="10" presetClass="entr" presetSubtype="0" fill="hold" nodeType="withEffect">
                                  <p:stCondLst>
                                    <p:cond delay="44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66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66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par>
                                <p:cTn id="38" presetID="10" presetClass="entr" presetSubtype="0" fill="hold" nodeType="withEffect">
                                  <p:stCondLst>
                                    <p:cond delay="66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400"/>
                                        <p:tgtEl>
                                          <p:spTgt spid="26"/>
                                        </p:tgtEl>
                                      </p:cBhvr>
                                    </p:animEffect>
                                  </p:childTnLst>
                                </p:cTn>
                              </p:par>
                              <p:par>
                                <p:cTn id="41" presetID="10" presetClass="entr" presetSubtype="0" fill="hold" nodeType="withEffect">
                                  <p:stCondLst>
                                    <p:cond delay="66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400"/>
                                        <p:tgtEl>
                                          <p:spTgt spid="27"/>
                                        </p:tgtEl>
                                      </p:cBhvr>
                                    </p:animEffect>
                                  </p:childTnLst>
                                </p:cTn>
                              </p:par>
                              <p:par>
                                <p:cTn id="44" presetID="10" presetClass="entr" presetSubtype="0" fill="hold" nodeType="withEffect">
                                  <p:stCondLst>
                                    <p:cond delay="66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400"/>
                                        <p:tgtEl>
                                          <p:spTgt spid="28"/>
                                        </p:tgtEl>
                                      </p:cBhvr>
                                    </p:animEffect>
                                  </p:childTnLst>
                                </p:cTn>
                              </p:par>
                              <p:par>
                                <p:cTn id="47" presetID="10" presetClass="entr" presetSubtype="0" fill="hold" nodeType="withEffect">
                                  <p:stCondLst>
                                    <p:cond delay="66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400"/>
                                        <p:tgtEl>
                                          <p:spTgt spid="29"/>
                                        </p:tgtEl>
                                      </p:cBhvr>
                                    </p:animEffect>
                                  </p:childTnLst>
                                </p:cTn>
                              </p:par>
                              <p:par>
                                <p:cTn id="50" presetID="10" presetClass="entr" presetSubtype="0" fill="hold" nodeType="withEffect">
                                  <p:stCondLst>
                                    <p:cond delay="660"/>
                                  </p:stCondLst>
                                  <p:childTnLst>
                                    <p:set>
                                      <p:cBhvr>
                                        <p:cTn id="51" dur="1" fill="hold">
                                          <p:stCondLst>
                                            <p:cond delay="0"/>
                                          </p:stCondLst>
                                        </p:cTn>
                                        <p:tgtEl>
                                          <p:spTgt spid="30"/>
                                        </p:tgtEl>
                                        <p:attrNameLst>
                                          <p:attrName>style.visibility</p:attrName>
                                        </p:attrNameLst>
                                      </p:cBhvr>
                                      <p:to>
                                        <p:strVal val="visible"/>
                                      </p:to>
                                    </p:set>
                                    <p:animEffect transition="in" filter="fade">
                                      <p:cBhvr>
                                        <p:cTn id="52" dur="400"/>
                                        <p:tgtEl>
                                          <p:spTgt spid="30"/>
                                        </p:tgtEl>
                                      </p:cBhvr>
                                    </p:animEffect>
                                  </p:childTnLst>
                                </p:cTn>
                              </p:par>
                              <p:par>
                                <p:cTn id="53" presetID="10" presetClass="entr" presetSubtype="0" fill="hold" nodeType="withEffect">
                                  <p:stCondLst>
                                    <p:cond delay="66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400"/>
                                        <p:tgtEl>
                                          <p:spTgt spid="31"/>
                                        </p:tgtEl>
                                      </p:cBhvr>
                                    </p:animEffect>
                                  </p:childTnLst>
                                </p:cTn>
                              </p:par>
                              <p:par>
                                <p:cTn id="56" presetID="10" presetClass="entr" presetSubtype="0" fill="hold" nodeType="withEffect">
                                  <p:stCondLst>
                                    <p:cond delay="88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400"/>
                                        <p:tgtEl>
                                          <p:spTgt spid="14"/>
                                        </p:tgtEl>
                                      </p:cBhvr>
                                    </p:animEffect>
                                  </p:childTnLst>
                                </p:cTn>
                              </p:par>
                              <p:par>
                                <p:cTn id="59" presetID="10" presetClass="entr" presetSubtype="0" fill="hold" nodeType="withEffect">
                                  <p:stCondLst>
                                    <p:cond delay="88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400"/>
                                        <p:tgtEl>
                                          <p:spTgt spid="32"/>
                                        </p:tgtEl>
                                      </p:cBhvr>
                                    </p:animEffect>
                                  </p:childTnLst>
                                </p:cTn>
                              </p:par>
                              <p:par>
                                <p:cTn id="62" presetID="10" presetClass="entr" presetSubtype="0" fill="hold" nodeType="withEffect">
                                  <p:stCondLst>
                                    <p:cond delay="88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400"/>
                                        <p:tgtEl>
                                          <p:spTgt spid="33"/>
                                        </p:tgtEl>
                                      </p:cBhvr>
                                    </p:animEffect>
                                  </p:childTnLst>
                                </p:cTn>
                              </p:par>
                              <p:par>
                                <p:cTn id="65" presetID="10" presetClass="entr" presetSubtype="0" fill="hold" nodeType="withEffect">
                                  <p:stCondLst>
                                    <p:cond delay="88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68" presetID="10" presetClass="entr" presetSubtype="0" fill="hold" nodeType="withEffect">
                                  <p:stCondLst>
                                    <p:cond delay="88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400"/>
                                        <p:tgtEl>
                                          <p:spTgt spid="35"/>
                                        </p:tgtEl>
                                      </p:cBhvr>
                                    </p:animEffect>
                                  </p:childTnLst>
                                </p:cTn>
                              </p:par>
                              <p:par>
                                <p:cTn id="71" presetID="10" presetClass="entr" presetSubtype="0" fill="hold" nodeType="withEffect">
                                  <p:stCondLst>
                                    <p:cond delay="88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400"/>
                                        <p:tgtEl>
                                          <p:spTgt spid="36"/>
                                        </p:tgtEl>
                                      </p:cBhvr>
                                    </p:animEffect>
                                  </p:childTnLst>
                                </p:cTn>
                              </p:par>
                              <p:par>
                                <p:cTn id="74" presetID="10" presetClass="entr" presetSubtype="0" fill="hold" nodeType="withEffect">
                                  <p:stCondLst>
                                    <p:cond delay="88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400"/>
                                        <p:tgtEl>
                                          <p:spTgt spid="37"/>
                                        </p:tgtEl>
                                      </p:cBhvr>
                                    </p:animEffect>
                                  </p:childTnLst>
                                </p:cTn>
                              </p:par>
                              <p:par>
                                <p:cTn id="77" presetID="10" presetClass="entr" presetSubtype="0" fill="hold" nodeType="withEffect">
                                  <p:stCondLst>
                                    <p:cond delay="88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400"/>
                                        <p:tgtEl>
                                          <p:spTgt spid="38"/>
                                        </p:tgtEl>
                                      </p:cBhvr>
                                    </p:animEffect>
                                  </p:childTnLst>
                                </p:cTn>
                              </p:par>
                              <p:par>
                                <p:cTn id="80" presetID="10" presetClass="entr" presetSubtype="0" fill="hold" nodeType="withEffect">
                                  <p:stCondLst>
                                    <p:cond delay="1100"/>
                                  </p:stCondLst>
                                  <p:childTnLst>
                                    <p:set>
                                      <p:cBhvr>
                                        <p:cTn id="81" dur="1" fill="hold">
                                          <p:stCondLst>
                                            <p:cond delay="0"/>
                                          </p:stCondLst>
                                        </p:cTn>
                                        <p:tgtEl>
                                          <p:spTgt spid="16"/>
                                        </p:tgtEl>
                                        <p:attrNameLst>
                                          <p:attrName>style.visibility</p:attrName>
                                        </p:attrNameLst>
                                      </p:cBhvr>
                                      <p:to>
                                        <p:strVal val="visible"/>
                                      </p:to>
                                    </p:set>
                                    <p:animEffect transition="in" filter="fade">
                                      <p:cBhvr>
                                        <p:cTn id="82" dur="400"/>
                                        <p:tgtEl>
                                          <p:spTgt spid="16"/>
                                        </p:tgtEl>
                                      </p:cBhvr>
                                    </p:animEffect>
                                  </p:childTnLst>
                                </p:cTn>
                              </p:par>
                              <p:par>
                                <p:cTn id="83" presetID="10" presetClass="entr" presetSubtype="0" fill="hold" nodeType="withEffect">
                                  <p:stCondLst>
                                    <p:cond delay="1100"/>
                                  </p:stCondLst>
                                  <p:childTnLst>
                                    <p:set>
                                      <p:cBhvr>
                                        <p:cTn id="84" dur="1" fill="hold">
                                          <p:stCondLst>
                                            <p:cond delay="0"/>
                                          </p:stCondLst>
                                        </p:cTn>
                                        <p:tgtEl>
                                          <p:spTgt spid="17"/>
                                        </p:tgtEl>
                                        <p:attrNameLst>
                                          <p:attrName>style.visibility</p:attrName>
                                        </p:attrNameLst>
                                      </p:cBhvr>
                                      <p:to>
                                        <p:strVal val="visible"/>
                                      </p:to>
                                    </p:set>
                                    <p:animEffect transition="in" filter="fade">
                                      <p:cBhvr>
                                        <p:cTn id="85" dur="400"/>
                                        <p:tgtEl>
                                          <p:spTgt spid="17"/>
                                        </p:tgtEl>
                                      </p:cBhvr>
                                    </p:animEffect>
                                  </p:childTnLst>
                                </p:cTn>
                              </p:par>
                              <p:par>
                                <p:cTn id="86" presetID="10" presetClass="entr" presetSubtype="0" fill="hold" nodeType="withEffect">
                                  <p:stCondLst>
                                    <p:cond delay="1100"/>
                                  </p:stCondLst>
                                  <p:childTnLst>
                                    <p:set>
                                      <p:cBhvr>
                                        <p:cTn id="87" dur="1" fill="hold">
                                          <p:stCondLst>
                                            <p:cond delay="0"/>
                                          </p:stCondLst>
                                        </p:cTn>
                                        <p:tgtEl>
                                          <p:spTgt spid="39"/>
                                        </p:tgtEl>
                                        <p:attrNameLst>
                                          <p:attrName>style.visibility</p:attrName>
                                        </p:attrNameLst>
                                      </p:cBhvr>
                                      <p:to>
                                        <p:strVal val="visible"/>
                                      </p:to>
                                    </p:set>
                                    <p:animEffect transition="in" filter="fade">
                                      <p:cBhvr>
                                        <p:cTn id="88" dur="400"/>
                                        <p:tgtEl>
                                          <p:spTgt spid="39"/>
                                        </p:tgtEl>
                                      </p:cBhvr>
                                    </p:animEffect>
                                  </p:childTnLst>
                                </p:cTn>
                              </p:par>
                              <p:par>
                                <p:cTn id="89" presetID="10" presetClass="entr" presetSubtype="0" fill="hold" nodeType="withEffect">
                                  <p:stCondLst>
                                    <p:cond delay="110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400"/>
                                        <p:tgtEl>
                                          <p:spTgt spid="40"/>
                                        </p:tgtEl>
                                      </p:cBhvr>
                                    </p:animEffect>
                                  </p:childTnLst>
                                </p:cTn>
                              </p:par>
                              <p:par>
                                <p:cTn id="92" presetID="10" presetClass="entr" presetSubtype="0" fill="hold" nodeType="withEffect">
                                  <p:stCondLst>
                                    <p:cond delay="1100"/>
                                  </p:stCondLst>
                                  <p:childTnLst>
                                    <p:set>
                                      <p:cBhvr>
                                        <p:cTn id="93" dur="1" fill="hold">
                                          <p:stCondLst>
                                            <p:cond delay="0"/>
                                          </p:stCondLst>
                                        </p:cTn>
                                        <p:tgtEl>
                                          <p:spTgt spid="41"/>
                                        </p:tgtEl>
                                        <p:attrNameLst>
                                          <p:attrName>style.visibility</p:attrName>
                                        </p:attrNameLst>
                                      </p:cBhvr>
                                      <p:to>
                                        <p:strVal val="visible"/>
                                      </p:to>
                                    </p:set>
                                    <p:animEffect transition="in" filter="fade">
                                      <p:cBhvr>
                                        <p:cTn id="94" dur="400"/>
                                        <p:tgtEl>
                                          <p:spTgt spid="41"/>
                                        </p:tgtEl>
                                      </p:cBhvr>
                                    </p:animEffect>
                                  </p:childTnLst>
                                </p:cTn>
                              </p:par>
                              <p:par>
                                <p:cTn id="95" presetID="10" presetClass="entr" presetSubtype="0" fill="hold" nodeType="withEffect">
                                  <p:stCondLst>
                                    <p:cond delay="1100"/>
                                  </p:stCondLst>
                                  <p:childTnLst>
                                    <p:set>
                                      <p:cBhvr>
                                        <p:cTn id="96" dur="1" fill="hold">
                                          <p:stCondLst>
                                            <p:cond delay="0"/>
                                          </p:stCondLst>
                                        </p:cTn>
                                        <p:tgtEl>
                                          <p:spTgt spid="42"/>
                                        </p:tgtEl>
                                        <p:attrNameLst>
                                          <p:attrName>style.visibility</p:attrName>
                                        </p:attrNameLst>
                                      </p:cBhvr>
                                      <p:to>
                                        <p:strVal val="visible"/>
                                      </p:to>
                                    </p:set>
                                    <p:animEffect transition="in" filter="fade">
                                      <p:cBhvr>
                                        <p:cTn id="97" dur="400"/>
                                        <p:tgtEl>
                                          <p:spTgt spid="42"/>
                                        </p:tgtEl>
                                      </p:cBhvr>
                                    </p:animEffect>
                                  </p:childTnLst>
                                </p:cTn>
                              </p:par>
                              <p:par>
                                <p:cTn id="98" presetID="10" presetClass="entr" presetSubtype="0" fill="hold" nodeType="withEffect">
                                  <p:stCondLst>
                                    <p:cond delay="1100"/>
                                  </p:stCondLst>
                                  <p:childTnLst>
                                    <p:set>
                                      <p:cBhvr>
                                        <p:cTn id="99" dur="1" fill="hold">
                                          <p:stCondLst>
                                            <p:cond delay="0"/>
                                          </p:stCondLst>
                                        </p:cTn>
                                        <p:tgtEl>
                                          <p:spTgt spid="43"/>
                                        </p:tgtEl>
                                        <p:attrNameLst>
                                          <p:attrName>style.visibility</p:attrName>
                                        </p:attrNameLst>
                                      </p:cBhvr>
                                      <p:to>
                                        <p:strVal val="visible"/>
                                      </p:to>
                                    </p:set>
                                    <p:animEffect transition="in" filter="fade">
                                      <p:cBhvr>
                                        <p:cTn id="100" dur="400"/>
                                        <p:tgtEl>
                                          <p:spTgt spid="43"/>
                                        </p:tgtEl>
                                      </p:cBhvr>
                                    </p:animEffect>
                                  </p:childTnLst>
                                </p:cTn>
                              </p:par>
                              <p:par>
                                <p:cTn id="101" presetID="10" presetClass="entr" presetSubtype="0" fill="hold" nodeType="withEffect">
                                  <p:stCondLst>
                                    <p:cond delay="1100"/>
                                  </p:stCondLst>
                                  <p:childTnLst>
                                    <p:set>
                                      <p:cBhvr>
                                        <p:cTn id="102" dur="1" fill="hold">
                                          <p:stCondLst>
                                            <p:cond delay="0"/>
                                          </p:stCondLst>
                                        </p:cTn>
                                        <p:tgtEl>
                                          <p:spTgt spid="44"/>
                                        </p:tgtEl>
                                        <p:attrNameLst>
                                          <p:attrName>style.visibility</p:attrName>
                                        </p:attrNameLst>
                                      </p:cBhvr>
                                      <p:to>
                                        <p:strVal val="visible"/>
                                      </p:to>
                                    </p:set>
                                    <p:animEffect transition="in" filter="fade">
                                      <p:cBhvr>
                                        <p:cTn id="103" dur="400"/>
                                        <p:tgtEl>
                                          <p:spTgt spid="44"/>
                                        </p:tgtEl>
                                      </p:cBhvr>
                                    </p:animEffect>
                                  </p:childTnLst>
                                </p:cTn>
                              </p:par>
                              <p:par>
                                <p:cTn id="104" presetID="10" presetClass="entr" presetSubtype="0" fill="hold" nodeType="withEffect">
                                  <p:stCondLst>
                                    <p:cond delay="1100"/>
                                  </p:stCondLst>
                                  <p:childTnLst>
                                    <p:set>
                                      <p:cBhvr>
                                        <p:cTn id="105" dur="1" fill="hold">
                                          <p:stCondLst>
                                            <p:cond delay="0"/>
                                          </p:stCondLst>
                                        </p:cTn>
                                        <p:tgtEl>
                                          <p:spTgt spid="45"/>
                                        </p:tgtEl>
                                        <p:attrNameLst>
                                          <p:attrName>style.visibility</p:attrName>
                                        </p:attrNameLst>
                                      </p:cBhvr>
                                      <p:to>
                                        <p:strVal val="visible"/>
                                      </p:to>
                                    </p:set>
                                    <p:animEffect transition="in" filter="fade">
                                      <p:cBhvr>
                                        <p:cTn id="106" dur="400"/>
                                        <p:tgtEl>
                                          <p:spTgt spid="45"/>
                                        </p:tgtEl>
                                      </p:cBhvr>
                                    </p:animEffect>
                                  </p:childTnLst>
                                </p:cTn>
                              </p:par>
                              <p:par>
                                <p:cTn id="107" presetID="10" presetClass="entr" presetSubtype="0" fill="hold" nodeType="withEffect">
                                  <p:stCondLst>
                                    <p:cond delay="1320"/>
                                  </p:stCondLst>
                                  <p:childTnLst>
                                    <p:set>
                                      <p:cBhvr>
                                        <p:cTn id="108" dur="1" fill="hold">
                                          <p:stCondLst>
                                            <p:cond delay="0"/>
                                          </p:stCondLst>
                                        </p:cTn>
                                        <p:tgtEl>
                                          <p:spTgt spid="46"/>
                                        </p:tgtEl>
                                        <p:attrNameLst>
                                          <p:attrName>style.visibility</p:attrName>
                                        </p:attrNameLst>
                                      </p:cBhvr>
                                      <p:to>
                                        <p:strVal val="visible"/>
                                      </p:to>
                                    </p:set>
                                    <p:animEffect transition="in" filter="fade">
                                      <p:cBhvr>
                                        <p:cTn id="109" dur="400"/>
                                        <p:tgtEl>
                                          <p:spTgt spid="46"/>
                                        </p:tgtEl>
                                      </p:cBhvr>
                                    </p:animEffect>
                                  </p:childTnLst>
                                </p:cTn>
                              </p:par>
                              <p:par>
                                <p:cTn id="110" presetID="10" presetClass="entr" presetSubtype="0" fill="hold" nodeType="withEffect">
                                  <p:stCondLst>
                                    <p:cond delay="1540"/>
                                  </p:stCondLst>
                                  <p:childTnLst>
                                    <p:set>
                                      <p:cBhvr>
                                        <p:cTn id="111" dur="1" fill="hold">
                                          <p:stCondLst>
                                            <p:cond delay="0"/>
                                          </p:stCondLst>
                                        </p:cTn>
                                        <p:tgtEl>
                                          <p:spTgt spid="15"/>
                                        </p:tgtEl>
                                        <p:attrNameLst>
                                          <p:attrName>style.visibility</p:attrName>
                                        </p:attrNameLst>
                                      </p:cBhvr>
                                      <p:to>
                                        <p:strVal val="visible"/>
                                      </p:to>
                                    </p:set>
                                    <p:animEffect transition="in" filter="fade">
                                      <p:cBhvr>
                                        <p:cTn id="112" dur="400"/>
                                        <p:tgtEl>
                                          <p:spTgt spid="15"/>
                                        </p:tgtEl>
                                      </p:cBhvr>
                                    </p:animEffect>
                                  </p:childTnLst>
                                </p:cTn>
                              </p:par>
                              <p:par>
                                <p:cTn id="113" presetID="10" presetClass="entr" presetSubtype="0" fill="hold" nodeType="withEffect">
                                  <p:stCondLst>
                                    <p:cond delay="1540"/>
                                  </p:stCondLst>
                                  <p:childTnLst>
                                    <p:set>
                                      <p:cBhvr>
                                        <p:cTn id="114" dur="1" fill="hold">
                                          <p:stCondLst>
                                            <p:cond delay="0"/>
                                          </p:stCondLst>
                                        </p:cTn>
                                        <p:tgtEl>
                                          <p:spTgt spid="47"/>
                                        </p:tgtEl>
                                        <p:attrNameLst>
                                          <p:attrName>style.visibility</p:attrName>
                                        </p:attrNameLst>
                                      </p:cBhvr>
                                      <p:to>
                                        <p:strVal val="visible"/>
                                      </p:to>
                                    </p:set>
                                    <p:animEffect transition="in" filter="fade">
                                      <p:cBhvr>
                                        <p:cTn id="115" dur="400"/>
                                        <p:tgtEl>
                                          <p:spTgt spid="47"/>
                                        </p:tgtEl>
                                      </p:cBhvr>
                                    </p:animEffect>
                                  </p:childTnLst>
                                </p:cTn>
                              </p:par>
                              <p:par>
                                <p:cTn id="116" presetID="10" presetClass="entr" presetSubtype="0" fill="hold" nodeType="withEffect">
                                  <p:stCondLst>
                                    <p:cond delay="154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00"/>
                                        <p:tgtEl>
                                          <p:spTgt spid="48"/>
                                        </p:tgtEl>
                                      </p:cBhvr>
                                    </p:animEffect>
                                  </p:childTnLst>
                                </p:cTn>
                              </p:par>
                              <p:par>
                                <p:cTn id="119" presetID="10" presetClass="entr" presetSubtype="0" fill="hold" nodeType="withEffect">
                                  <p:stCondLst>
                                    <p:cond delay="1540"/>
                                  </p:stCondLst>
                                  <p:childTnLst>
                                    <p:set>
                                      <p:cBhvr>
                                        <p:cTn id="120" dur="1" fill="hold">
                                          <p:stCondLst>
                                            <p:cond delay="0"/>
                                          </p:stCondLst>
                                        </p:cTn>
                                        <p:tgtEl>
                                          <p:spTgt spid="49"/>
                                        </p:tgtEl>
                                        <p:attrNameLst>
                                          <p:attrName>style.visibility</p:attrName>
                                        </p:attrNameLst>
                                      </p:cBhvr>
                                      <p:to>
                                        <p:strVal val="visible"/>
                                      </p:to>
                                    </p:set>
                                    <p:animEffect transition="in" filter="fade">
                                      <p:cBhvr>
                                        <p:cTn id="121" dur="400"/>
                                        <p:tgtEl>
                                          <p:spTgt spid="49"/>
                                        </p:tgtEl>
                                      </p:cBhvr>
                                    </p:animEffect>
                                  </p:childTnLst>
                                </p:cTn>
                              </p:par>
                              <p:par>
                                <p:cTn id="122" presetID="10" presetClass="entr" presetSubtype="0" fill="hold" nodeType="withEffect">
                                  <p:stCondLst>
                                    <p:cond delay="1540"/>
                                  </p:stCondLst>
                                  <p:childTnLst>
                                    <p:set>
                                      <p:cBhvr>
                                        <p:cTn id="123" dur="1" fill="hold">
                                          <p:stCondLst>
                                            <p:cond delay="0"/>
                                          </p:stCondLst>
                                        </p:cTn>
                                        <p:tgtEl>
                                          <p:spTgt spid="50"/>
                                        </p:tgtEl>
                                        <p:attrNameLst>
                                          <p:attrName>style.visibility</p:attrName>
                                        </p:attrNameLst>
                                      </p:cBhvr>
                                      <p:to>
                                        <p:strVal val="visible"/>
                                      </p:to>
                                    </p:set>
                                    <p:animEffect transition="in" filter="fade">
                                      <p:cBhvr>
                                        <p:cTn id="124" dur="400"/>
                                        <p:tgtEl>
                                          <p:spTgt spid="50"/>
                                        </p:tgtEl>
                                      </p:cBhvr>
                                    </p:animEffect>
                                  </p:childTnLst>
                                </p:cTn>
                              </p:par>
                              <p:par>
                                <p:cTn id="125" presetID="10" presetClass="entr" presetSubtype="0" fill="hold" nodeType="withEffect">
                                  <p:stCondLst>
                                    <p:cond delay="1540"/>
                                  </p:stCondLst>
                                  <p:childTnLst>
                                    <p:set>
                                      <p:cBhvr>
                                        <p:cTn id="126" dur="1" fill="hold">
                                          <p:stCondLst>
                                            <p:cond delay="0"/>
                                          </p:stCondLst>
                                        </p:cTn>
                                        <p:tgtEl>
                                          <p:spTgt spid="51"/>
                                        </p:tgtEl>
                                        <p:attrNameLst>
                                          <p:attrName>style.visibility</p:attrName>
                                        </p:attrNameLst>
                                      </p:cBhvr>
                                      <p:to>
                                        <p:strVal val="visible"/>
                                      </p:to>
                                    </p:set>
                                    <p:animEffect transition="in" filter="fade">
                                      <p:cBhvr>
                                        <p:cTn id="127" dur="400"/>
                                        <p:tgtEl>
                                          <p:spTgt spid="51"/>
                                        </p:tgtEl>
                                      </p:cBhvr>
                                    </p:animEffect>
                                  </p:childTnLst>
                                </p:cTn>
                              </p:par>
                              <p:par>
                                <p:cTn id="128" presetID="10" presetClass="entr" presetSubtype="0" fill="hold" nodeType="withEffect">
                                  <p:stCondLst>
                                    <p:cond delay="1540"/>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400"/>
                                        <p:tgtEl>
                                          <p:spTgt spid="52"/>
                                        </p:tgtEl>
                                      </p:cBhvr>
                                    </p:animEffect>
                                  </p:childTnLst>
                                </p:cTn>
                              </p:par>
                              <p:par>
                                <p:cTn id="131" presetID="10" presetClass="entr" presetSubtype="0" fill="hold" nodeType="withEffect">
                                  <p:stCondLst>
                                    <p:cond delay="154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00"/>
                                        <p:tgtEl>
                                          <p:spTgt spid="53"/>
                                        </p:tgtEl>
                                      </p:cBhvr>
                                    </p:animEffect>
                                  </p:childTnLst>
                                </p:cTn>
                              </p:par>
                              <p:par>
                                <p:cTn id="134" presetID="10" presetClass="entr" presetSubtype="0" fill="hold" nodeType="withEffect">
                                  <p:stCondLst>
                                    <p:cond delay="1760"/>
                                  </p:stCondLst>
                                  <p:childTnLst>
                                    <p:set>
                                      <p:cBhvr>
                                        <p:cTn id="135" dur="1" fill="hold">
                                          <p:stCondLst>
                                            <p:cond delay="0"/>
                                          </p:stCondLst>
                                        </p:cTn>
                                        <p:tgtEl>
                                          <p:spTgt spid="13"/>
                                        </p:tgtEl>
                                        <p:attrNameLst>
                                          <p:attrName>style.visibility</p:attrName>
                                        </p:attrNameLst>
                                      </p:cBhvr>
                                      <p:to>
                                        <p:strVal val="visible"/>
                                      </p:to>
                                    </p:set>
                                    <p:animEffect transition="in" filter="fade">
                                      <p:cBhvr>
                                        <p:cTn id="136" dur="400"/>
                                        <p:tgtEl>
                                          <p:spTgt spid="13"/>
                                        </p:tgtEl>
                                      </p:cBhvr>
                                    </p:animEffect>
                                  </p:childTnLst>
                                </p:cTn>
                              </p:par>
                              <p:par>
                                <p:cTn id="137" presetID="10" presetClass="entr" presetSubtype="0" fill="hold" nodeType="withEffect">
                                  <p:stCondLst>
                                    <p:cond delay="176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76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76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76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76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76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76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15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6 / 6 · KHÉP VÒNG</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Vật tư hoàn trả xong, nhiệm vụ khép lại</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3" name="Shape 29"/>
          <p:cNvSpPr/>
          <p:nvPr/>
        </p:nvSpPr>
        <p:spPr>
          <a:xfrm>
            <a:off x="8097317" y="2220214"/>
            <a:ext cx="50292" cy="1737360"/>
          </a:xfrm>
          <a:prstGeom prst="roundRect">
            <a:avLst>
              <a:gd name="adj" fmla="val 54545"/>
            </a:avLst>
          </a:prstGeom>
          <a:solidFill>
            <a:srgbClr val="3C5468">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0" name="Shape 36"/>
          <p:cNvSpPr/>
          <p:nvPr/>
        </p:nvSpPr>
        <p:spPr>
          <a:xfrm>
            <a:off x="8097317" y="4359910"/>
            <a:ext cx="50292" cy="1737360"/>
          </a:xfrm>
          <a:prstGeom prst="roundRect">
            <a:avLst>
              <a:gd name="adj" fmla="val 54545"/>
            </a:avLst>
          </a:prstGeom>
          <a:solidFill>
            <a:srgbClr val="3C5468">
              <a:alpha val="95000"/>
            </a:srgbClr>
          </a:solidFill>
          <a:ln/>
        </p:spPr>
      </p:sp>
      <p:sp>
        <p:nvSpPr>
          <p:cNvPr id="41" name="Shape 37"/>
          <p:cNvSpPr/>
          <p:nvPr/>
        </p:nvSpPr>
        <p:spPr>
          <a:xfrm>
            <a:off x="8371637" y="4579366"/>
            <a:ext cx="420624" cy="420624"/>
          </a:xfrm>
          <a:prstGeom prst="roundRect">
            <a:avLst>
              <a:gd name="adj" fmla="val 50000"/>
            </a:avLst>
          </a:prstGeom>
          <a:solidFill>
            <a:srgbClr val="04101F">
              <a:alpha val="88000"/>
            </a:srgbClr>
          </a:solidFill>
          <a:ln/>
        </p:spPr>
      </p:sp>
      <p:sp>
        <p:nvSpPr>
          <p:cNvPr id="42" name="Shape 38"/>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3" name="Text 39"/>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4" name="Text 40"/>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5" name="Text 41"/>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lúc.</a:t>
            </a:r>
            <a:endParaRPr lang="en-US" sz="1150" dirty="0"/>
          </a:p>
        </p:txBody>
      </p:sp>
      <p:sp>
        <p:nvSpPr>
          <p:cNvPr id="46" name="Shape 42"/>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7" name="Shape 43"/>
          <p:cNvSpPr/>
          <p:nvPr/>
        </p:nvSpPr>
        <p:spPr>
          <a:xfrm>
            <a:off x="4405274" y="4359910"/>
            <a:ext cx="50292" cy="1737360"/>
          </a:xfrm>
          <a:prstGeom prst="roundRect">
            <a:avLst>
              <a:gd name="adj" fmla="val 54545"/>
            </a:avLst>
          </a:prstGeom>
          <a:solidFill>
            <a:srgbClr val="3C5468">
              <a:alpha val="95000"/>
            </a:srgbClr>
          </a:solidFill>
          <a:ln/>
        </p:spPr>
      </p:sp>
      <p:sp>
        <p:nvSpPr>
          <p:cNvPr id="48" name="Shape 44"/>
          <p:cNvSpPr/>
          <p:nvPr/>
        </p:nvSpPr>
        <p:spPr>
          <a:xfrm>
            <a:off x="4679594" y="4579366"/>
            <a:ext cx="420624" cy="420624"/>
          </a:xfrm>
          <a:prstGeom prst="roundRect">
            <a:avLst>
              <a:gd name="adj" fmla="val 50000"/>
            </a:avLst>
          </a:prstGeom>
          <a:solidFill>
            <a:srgbClr val="04101F">
              <a:alpha val="88000"/>
            </a:srgbClr>
          </a:solidFill>
          <a:ln/>
        </p:spPr>
      </p:sp>
      <p:sp>
        <p:nvSpPr>
          <p:cNvPr id="49" name="Shape 45"/>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0" name="Text 46"/>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1" name="Text 47"/>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2" name="Text 48"/>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3" name="Shape 49"/>
          <p:cNvSpPr/>
          <p:nvPr/>
        </p:nvSpPr>
        <p:spPr>
          <a:xfrm>
            <a:off x="658368" y="4305046"/>
            <a:ext cx="3490874" cy="1847088"/>
          </a:xfrm>
          <a:prstGeom prst="roundRect">
            <a:avLst>
              <a:gd name="adj" fmla="val 7921"/>
            </a:avLst>
          </a:prstGeom>
          <a:solidFill>
            <a:srgbClr val="22C55E">
              <a:alpha val="18000"/>
            </a:srgbClr>
          </a:solidFill>
          <a:ln/>
        </p:spPr>
      </p:sp>
      <p:sp>
        <p:nvSpPr>
          <p:cNvPr id="54" name="Shape 50"/>
          <p:cNvSpPr/>
          <p:nvPr/>
        </p:nvSpPr>
        <p:spPr>
          <a:xfrm>
            <a:off x="713232" y="4359910"/>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55" name="Shape 51"/>
          <p:cNvSpPr/>
          <p:nvPr/>
        </p:nvSpPr>
        <p:spPr>
          <a:xfrm>
            <a:off x="713232" y="4359910"/>
            <a:ext cx="50292" cy="1737360"/>
          </a:xfrm>
          <a:prstGeom prst="roundRect">
            <a:avLst>
              <a:gd name="adj" fmla="val 54545"/>
            </a:avLst>
          </a:prstGeom>
          <a:solidFill>
            <a:srgbClr val="22C55E">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4" presetID="10" presetClass="entr" presetSubtype="0" fill="hold" nodeType="withEffect">
                                  <p:stCondLst>
                                    <p:cond delay="44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17" presetID="10" presetClass="entr" presetSubtype="0" fill="hold" nodeType="withEffect">
                                  <p:stCondLst>
                                    <p:cond delay="44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0" presetID="10" presetClass="entr" presetSubtype="0" fill="hold" nodeType="withEffect">
                                  <p:stCondLst>
                                    <p:cond delay="4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44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6" presetID="10" presetClass="entr" presetSubtype="0" fill="hold" nodeType="withEffect">
                                  <p:stCondLst>
                                    <p:cond delay="4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29" presetID="10" presetClass="entr" presetSubtype="0" fill="hold" nodeType="withEffect">
                                  <p:stCondLst>
                                    <p:cond delay="44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66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66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par>
                                <p:cTn id="38" presetID="10" presetClass="entr" presetSubtype="0" fill="hold" nodeType="withEffect">
                                  <p:stCondLst>
                                    <p:cond delay="66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400"/>
                                        <p:tgtEl>
                                          <p:spTgt spid="26"/>
                                        </p:tgtEl>
                                      </p:cBhvr>
                                    </p:animEffect>
                                  </p:childTnLst>
                                </p:cTn>
                              </p:par>
                              <p:par>
                                <p:cTn id="41" presetID="10" presetClass="entr" presetSubtype="0" fill="hold" nodeType="withEffect">
                                  <p:stCondLst>
                                    <p:cond delay="66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400"/>
                                        <p:tgtEl>
                                          <p:spTgt spid="27"/>
                                        </p:tgtEl>
                                      </p:cBhvr>
                                    </p:animEffect>
                                  </p:childTnLst>
                                </p:cTn>
                              </p:par>
                              <p:par>
                                <p:cTn id="44" presetID="10" presetClass="entr" presetSubtype="0" fill="hold" nodeType="withEffect">
                                  <p:stCondLst>
                                    <p:cond delay="66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400"/>
                                        <p:tgtEl>
                                          <p:spTgt spid="28"/>
                                        </p:tgtEl>
                                      </p:cBhvr>
                                    </p:animEffect>
                                  </p:childTnLst>
                                </p:cTn>
                              </p:par>
                              <p:par>
                                <p:cTn id="47" presetID="10" presetClass="entr" presetSubtype="0" fill="hold" nodeType="withEffect">
                                  <p:stCondLst>
                                    <p:cond delay="66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400"/>
                                        <p:tgtEl>
                                          <p:spTgt spid="29"/>
                                        </p:tgtEl>
                                      </p:cBhvr>
                                    </p:animEffect>
                                  </p:childTnLst>
                                </p:cTn>
                              </p:par>
                              <p:par>
                                <p:cTn id="50" presetID="10" presetClass="entr" presetSubtype="0" fill="hold" nodeType="withEffect">
                                  <p:stCondLst>
                                    <p:cond delay="660"/>
                                  </p:stCondLst>
                                  <p:childTnLst>
                                    <p:set>
                                      <p:cBhvr>
                                        <p:cTn id="51" dur="1" fill="hold">
                                          <p:stCondLst>
                                            <p:cond delay="0"/>
                                          </p:stCondLst>
                                        </p:cTn>
                                        <p:tgtEl>
                                          <p:spTgt spid="30"/>
                                        </p:tgtEl>
                                        <p:attrNameLst>
                                          <p:attrName>style.visibility</p:attrName>
                                        </p:attrNameLst>
                                      </p:cBhvr>
                                      <p:to>
                                        <p:strVal val="visible"/>
                                      </p:to>
                                    </p:set>
                                    <p:animEffect transition="in" filter="fade">
                                      <p:cBhvr>
                                        <p:cTn id="52" dur="400"/>
                                        <p:tgtEl>
                                          <p:spTgt spid="30"/>
                                        </p:tgtEl>
                                      </p:cBhvr>
                                    </p:animEffect>
                                  </p:childTnLst>
                                </p:cTn>
                              </p:par>
                              <p:par>
                                <p:cTn id="53" presetID="10" presetClass="entr" presetSubtype="0" fill="hold" nodeType="withEffect">
                                  <p:stCondLst>
                                    <p:cond delay="66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400"/>
                                        <p:tgtEl>
                                          <p:spTgt spid="31"/>
                                        </p:tgtEl>
                                      </p:cBhvr>
                                    </p:animEffect>
                                  </p:childTnLst>
                                </p:cTn>
                              </p:par>
                              <p:par>
                                <p:cTn id="56" presetID="10" presetClass="entr" presetSubtype="0" fill="hold" nodeType="withEffect">
                                  <p:stCondLst>
                                    <p:cond delay="88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400"/>
                                        <p:tgtEl>
                                          <p:spTgt spid="14"/>
                                        </p:tgtEl>
                                      </p:cBhvr>
                                    </p:animEffect>
                                  </p:childTnLst>
                                </p:cTn>
                              </p:par>
                              <p:par>
                                <p:cTn id="59" presetID="10" presetClass="entr" presetSubtype="0" fill="hold" nodeType="withEffect">
                                  <p:stCondLst>
                                    <p:cond delay="88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400"/>
                                        <p:tgtEl>
                                          <p:spTgt spid="32"/>
                                        </p:tgtEl>
                                      </p:cBhvr>
                                    </p:animEffect>
                                  </p:childTnLst>
                                </p:cTn>
                              </p:par>
                              <p:par>
                                <p:cTn id="62" presetID="10" presetClass="entr" presetSubtype="0" fill="hold" nodeType="withEffect">
                                  <p:stCondLst>
                                    <p:cond delay="88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400"/>
                                        <p:tgtEl>
                                          <p:spTgt spid="33"/>
                                        </p:tgtEl>
                                      </p:cBhvr>
                                    </p:animEffect>
                                  </p:childTnLst>
                                </p:cTn>
                              </p:par>
                              <p:par>
                                <p:cTn id="65" presetID="10" presetClass="entr" presetSubtype="0" fill="hold" nodeType="withEffect">
                                  <p:stCondLst>
                                    <p:cond delay="88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68" presetID="10" presetClass="entr" presetSubtype="0" fill="hold" nodeType="withEffect">
                                  <p:stCondLst>
                                    <p:cond delay="88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400"/>
                                        <p:tgtEl>
                                          <p:spTgt spid="35"/>
                                        </p:tgtEl>
                                      </p:cBhvr>
                                    </p:animEffect>
                                  </p:childTnLst>
                                </p:cTn>
                              </p:par>
                              <p:par>
                                <p:cTn id="71" presetID="10" presetClass="entr" presetSubtype="0" fill="hold" nodeType="withEffect">
                                  <p:stCondLst>
                                    <p:cond delay="88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400"/>
                                        <p:tgtEl>
                                          <p:spTgt spid="36"/>
                                        </p:tgtEl>
                                      </p:cBhvr>
                                    </p:animEffect>
                                  </p:childTnLst>
                                </p:cTn>
                              </p:par>
                              <p:par>
                                <p:cTn id="74" presetID="10" presetClass="entr" presetSubtype="0" fill="hold" nodeType="withEffect">
                                  <p:stCondLst>
                                    <p:cond delay="88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400"/>
                                        <p:tgtEl>
                                          <p:spTgt spid="37"/>
                                        </p:tgtEl>
                                      </p:cBhvr>
                                    </p:animEffect>
                                  </p:childTnLst>
                                </p:cTn>
                              </p:par>
                              <p:par>
                                <p:cTn id="77" presetID="10" presetClass="entr" presetSubtype="0" fill="hold" nodeType="withEffect">
                                  <p:stCondLst>
                                    <p:cond delay="88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400"/>
                                        <p:tgtEl>
                                          <p:spTgt spid="38"/>
                                        </p:tgtEl>
                                      </p:cBhvr>
                                    </p:animEffect>
                                  </p:childTnLst>
                                </p:cTn>
                              </p:par>
                              <p:par>
                                <p:cTn id="80" presetID="10" presetClass="entr" presetSubtype="0" fill="hold" nodeType="withEffect">
                                  <p:stCondLst>
                                    <p:cond delay="1100"/>
                                  </p:stCondLst>
                                  <p:childTnLst>
                                    <p:set>
                                      <p:cBhvr>
                                        <p:cTn id="81" dur="1" fill="hold">
                                          <p:stCondLst>
                                            <p:cond delay="0"/>
                                          </p:stCondLst>
                                        </p:cTn>
                                        <p:tgtEl>
                                          <p:spTgt spid="16"/>
                                        </p:tgtEl>
                                        <p:attrNameLst>
                                          <p:attrName>style.visibility</p:attrName>
                                        </p:attrNameLst>
                                      </p:cBhvr>
                                      <p:to>
                                        <p:strVal val="visible"/>
                                      </p:to>
                                    </p:set>
                                    <p:animEffect transition="in" filter="fade">
                                      <p:cBhvr>
                                        <p:cTn id="82" dur="400"/>
                                        <p:tgtEl>
                                          <p:spTgt spid="16"/>
                                        </p:tgtEl>
                                      </p:cBhvr>
                                    </p:animEffect>
                                  </p:childTnLst>
                                </p:cTn>
                              </p:par>
                              <p:par>
                                <p:cTn id="83" presetID="10" presetClass="entr" presetSubtype="0" fill="hold" nodeType="withEffect">
                                  <p:stCondLst>
                                    <p:cond delay="1100"/>
                                  </p:stCondLst>
                                  <p:childTnLst>
                                    <p:set>
                                      <p:cBhvr>
                                        <p:cTn id="84" dur="1" fill="hold">
                                          <p:stCondLst>
                                            <p:cond delay="0"/>
                                          </p:stCondLst>
                                        </p:cTn>
                                        <p:tgtEl>
                                          <p:spTgt spid="17"/>
                                        </p:tgtEl>
                                        <p:attrNameLst>
                                          <p:attrName>style.visibility</p:attrName>
                                        </p:attrNameLst>
                                      </p:cBhvr>
                                      <p:to>
                                        <p:strVal val="visible"/>
                                      </p:to>
                                    </p:set>
                                    <p:animEffect transition="in" filter="fade">
                                      <p:cBhvr>
                                        <p:cTn id="85" dur="400"/>
                                        <p:tgtEl>
                                          <p:spTgt spid="17"/>
                                        </p:tgtEl>
                                      </p:cBhvr>
                                    </p:animEffect>
                                  </p:childTnLst>
                                </p:cTn>
                              </p:par>
                              <p:par>
                                <p:cTn id="86" presetID="10" presetClass="entr" presetSubtype="0" fill="hold" nodeType="withEffect">
                                  <p:stCondLst>
                                    <p:cond delay="1100"/>
                                  </p:stCondLst>
                                  <p:childTnLst>
                                    <p:set>
                                      <p:cBhvr>
                                        <p:cTn id="87" dur="1" fill="hold">
                                          <p:stCondLst>
                                            <p:cond delay="0"/>
                                          </p:stCondLst>
                                        </p:cTn>
                                        <p:tgtEl>
                                          <p:spTgt spid="39"/>
                                        </p:tgtEl>
                                        <p:attrNameLst>
                                          <p:attrName>style.visibility</p:attrName>
                                        </p:attrNameLst>
                                      </p:cBhvr>
                                      <p:to>
                                        <p:strVal val="visible"/>
                                      </p:to>
                                    </p:set>
                                    <p:animEffect transition="in" filter="fade">
                                      <p:cBhvr>
                                        <p:cTn id="88" dur="400"/>
                                        <p:tgtEl>
                                          <p:spTgt spid="39"/>
                                        </p:tgtEl>
                                      </p:cBhvr>
                                    </p:animEffect>
                                  </p:childTnLst>
                                </p:cTn>
                              </p:par>
                              <p:par>
                                <p:cTn id="89" presetID="10" presetClass="entr" presetSubtype="0" fill="hold" nodeType="withEffect">
                                  <p:stCondLst>
                                    <p:cond delay="110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400"/>
                                        <p:tgtEl>
                                          <p:spTgt spid="40"/>
                                        </p:tgtEl>
                                      </p:cBhvr>
                                    </p:animEffect>
                                  </p:childTnLst>
                                </p:cTn>
                              </p:par>
                              <p:par>
                                <p:cTn id="92" presetID="10" presetClass="entr" presetSubtype="0" fill="hold" nodeType="withEffect">
                                  <p:stCondLst>
                                    <p:cond delay="1100"/>
                                  </p:stCondLst>
                                  <p:childTnLst>
                                    <p:set>
                                      <p:cBhvr>
                                        <p:cTn id="93" dur="1" fill="hold">
                                          <p:stCondLst>
                                            <p:cond delay="0"/>
                                          </p:stCondLst>
                                        </p:cTn>
                                        <p:tgtEl>
                                          <p:spTgt spid="41"/>
                                        </p:tgtEl>
                                        <p:attrNameLst>
                                          <p:attrName>style.visibility</p:attrName>
                                        </p:attrNameLst>
                                      </p:cBhvr>
                                      <p:to>
                                        <p:strVal val="visible"/>
                                      </p:to>
                                    </p:set>
                                    <p:animEffect transition="in" filter="fade">
                                      <p:cBhvr>
                                        <p:cTn id="94" dur="400"/>
                                        <p:tgtEl>
                                          <p:spTgt spid="41"/>
                                        </p:tgtEl>
                                      </p:cBhvr>
                                    </p:animEffect>
                                  </p:childTnLst>
                                </p:cTn>
                              </p:par>
                              <p:par>
                                <p:cTn id="95" presetID="10" presetClass="entr" presetSubtype="0" fill="hold" nodeType="withEffect">
                                  <p:stCondLst>
                                    <p:cond delay="1100"/>
                                  </p:stCondLst>
                                  <p:childTnLst>
                                    <p:set>
                                      <p:cBhvr>
                                        <p:cTn id="96" dur="1" fill="hold">
                                          <p:stCondLst>
                                            <p:cond delay="0"/>
                                          </p:stCondLst>
                                        </p:cTn>
                                        <p:tgtEl>
                                          <p:spTgt spid="42"/>
                                        </p:tgtEl>
                                        <p:attrNameLst>
                                          <p:attrName>style.visibility</p:attrName>
                                        </p:attrNameLst>
                                      </p:cBhvr>
                                      <p:to>
                                        <p:strVal val="visible"/>
                                      </p:to>
                                    </p:set>
                                    <p:animEffect transition="in" filter="fade">
                                      <p:cBhvr>
                                        <p:cTn id="97" dur="400"/>
                                        <p:tgtEl>
                                          <p:spTgt spid="42"/>
                                        </p:tgtEl>
                                      </p:cBhvr>
                                    </p:animEffect>
                                  </p:childTnLst>
                                </p:cTn>
                              </p:par>
                              <p:par>
                                <p:cTn id="98" presetID="10" presetClass="entr" presetSubtype="0" fill="hold" nodeType="withEffect">
                                  <p:stCondLst>
                                    <p:cond delay="1100"/>
                                  </p:stCondLst>
                                  <p:childTnLst>
                                    <p:set>
                                      <p:cBhvr>
                                        <p:cTn id="99" dur="1" fill="hold">
                                          <p:stCondLst>
                                            <p:cond delay="0"/>
                                          </p:stCondLst>
                                        </p:cTn>
                                        <p:tgtEl>
                                          <p:spTgt spid="43"/>
                                        </p:tgtEl>
                                        <p:attrNameLst>
                                          <p:attrName>style.visibility</p:attrName>
                                        </p:attrNameLst>
                                      </p:cBhvr>
                                      <p:to>
                                        <p:strVal val="visible"/>
                                      </p:to>
                                    </p:set>
                                    <p:animEffect transition="in" filter="fade">
                                      <p:cBhvr>
                                        <p:cTn id="100" dur="400"/>
                                        <p:tgtEl>
                                          <p:spTgt spid="43"/>
                                        </p:tgtEl>
                                      </p:cBhvr>
                                    </p:animEffect>
                                  </p:childTnLst>
                                </p:cTn>
                              </p:par>
                              <p:par>
                                <p:cTn id="101" presetID="10" presetClass="entr" presetSubtype="0" fill="hold" nodeType="withEffect">
                                  <p:stCondLst>
                                    <p:cond delay="1100"/>
                                  </p:stCondLst>
                                  <p:childTnLst>
                                    <p:set>
                                      <p:cBhvr>
                                        <p:cTn id="102" dur="1" fill="hold">
                                          <p:stCondLst>
                                            <p:cond delay="0"/>
                                          </p:stCondLst>
                                        </p:cTn>
                                        <p:tgtEl>
                                          <p:spTgt spid="44"/>
                                        </p:tgtEl>
                                        <p:attrNameLst>
                                          <p:attrName>style.visibility</p:attrName>
                                        </p:attrNameLst>
                                      </p:cBhvr>
                                      <p:to>
                                        <p:strVal val="visible"/>
                                      </p:to>
                                    </p:set>
                                    <p:animEffect transition="in" filter="fade">
                                      <p:cBhvr>
                                        <p:cTn id="103" dur="400"/>
                                        <p:tgtEl>
                                          <p:spTgt spid="44"/>
                                        </p:tgtEl>
                                      </p:cBhvr>
                                    </p:animEffect>
                                  </p:childTnLst>
                                </p:cTn>
                              </p:par>
                              <p:par>
                                <p:cTn id="104" presetID="10" presetClass="entr" presetSubtype="0" fill="hold" nodeType="withEffect">
                                  <p:stCondLst>
                                    <p:cond delay="1100"/>
                                  </p:stCondLst>
                                  <p:childTnLst>
                                    <p:set>
                                      <p:cBhvr>
                                        <p:cTn id="105" dur="1" fill="hold">
                                          <p:stCondLst>
                                            <p:cond delay="0"/>
                                          </p:stCondLst>
                                        </p:cTn>
                                        <p:tgtEl>
                                          <p:spTgt spid="45"/>
                                        </p:tgtEl>
                                        <p:attrNameLst>
                                          <p:attrName>style.visibility</p:attrName>
                                        </p:attrNameLst>
                                      </p:cBhvr>
                                      <p:to>
                                        <p:strVal val="visible"/>
                                      </p:to>
                                    </p:set>
                                    <p:animEffect transition="in" filter="fade">
                                      <p:cBhvr>
                                        <p:cTn id="106" dur="400"/>
                                        <p:tgtEl>
                                          <p:spTgt spid="45"/>
                                        </p:tgtEl>
                                      </p:cBhvr>
                                    </p:animEffect>
                                  </p:childTnLst>
                                </p:cTn>
                              </p:par>
                              <p:par>
                                <p:cTn id="107" presetID="10" presetClass="entr" presetSubtype="0" fill="hold" nodeType="withEffect">
                                  <p:stCondLst>
                                    <p:cond delay="1320"/>
                                  </p:stCondLst>
                                  <p:childTnLst>
                                    <p:set>
                                      <p:cBhvr>
                                        <p:cTn id="108" dur="1" fill="hold">
                                          <p:stCondLst>
                                            <p:cond delay="0"/>
                                          </p:stCondLst>
                                        </p:cTn>
                                        <p:tgtEl>
                                          <p:spTgt spid="15"/>
                                        </p:tgtEl>
                                        <p:attrNameLst>
                                          <p:attrName>style.visibility</p:attrName>
                                        </p:attrNameLst>
                                      </p:cBhvr>
                                      <p:to>
                                        <p:strVal val="visible"/>
                                      </p:to>
                                    </p:set>
                                    <p:animEffect transition="in" filter="fade">
                                      <p:cBhvr>
                                        <p:cTn id="109" dur="400"/>
                                        <p:tgtEl>
                                          <p:spTgt spid="15"/>
                                        </p:tgtEl>
                                      </p:cBhvr>
                                    </p:animEffect>
                                  </p:childTnLst>
                                </p:cTn>
                              </p:par>
                              <p:par>
                                <p:cTn id="110" presetID="10" presetClass="entr" presetSubtype="0" fill="hold" nodeType="withEffect">
                                  <p:stCondLst>
                                    <p:cond delay="1320"/>
                                  </p:stCondLst>
                                  <p:childTnLst>
                                    <p:set>
                                      <p:cBhvr>
                                        <p:cTn id="111" dur="1" fill="hold">
                                          <p:stCondLst>
                                            <p:cond delay="0"/>
                                          </p:stCondLst>
                                        </p:cTn>
                                        <p:tgtEl>
                                          <p:spTgt spid="46"/>
                                        </p:tgtEl>
                                        <p:attrNameLst>
                                          <p:attrName>style.visibility</p:attrName>
                                        </p:attrNameLst>
                                      </p:cBhvr>
                                      <p:to>
                                        <p:strVal val="visible"/>
                                      </p:to>
                                    </p:set>
                                    <p:animEffect transition="in" filter="fade">
                                      <p:cBhvr>
                                        <p:cTn id="112" dur="400"/>
                                        <p:tgtEl>
                                          <p:spTgt spid="46"/>
                                        </p:tgtEl>
                                      </p:cBhvr>
                                    </p:animEffect>
                                  </p:childTnLst>
                                </p:cTn>
                              </p:par>
                              <p:par>
                                <p:cTn id="113" presetID="10" presetClass="entr" presetSubtype="0" fill="hold" nodeType="withEffect">
                                  <p:stCondLst>
                                    <p:cond delay="1320"/>
                                  </p:stCondLst>
                                  <p:childTnLst>
                                    <p:set>
                                      <p:cBhvr>
                                        <p:cTn id="114" dur="1" fill="hold">
                                          <p:stCondLst>
                                            <p:cond delay="0"/>
                                          </p:stCondLst>
                                        </p:cTn>
                                        <p:tgtEl>
                                          <p:spTgt spid="47"/>
                                        </p:tgtEl>
                                        <p:attrNameLst>
                                          <p:attrName>style.visibility</p:attrName>
                                        </p:attrNameLst>
                                      </p:cBhvr>
                                      <p:to>
                                        <p:strVal val="visible"/>
                                      </p:to>
                                    </p:set>
                                    <p:animEffect transition="in" filter="fade">
                                      <p:cBhvr>
                                        <p:cTn id="115" dur="400"/>
                                        <p:tgtEl>
                                          <p:spTgt spid="47"/>
                                        </p:tgtEl>
                                      </p:cBhvr>
                                    </p:animEffect>
                                  </p:childTnLst>
                                </p:cTn>
                              </p:par>
                              <p:par>
                                <p:cTn id="116" presetID="10" presetClass="entr" presetSubtype="0" fill="hold" nodeType="withEffect">
                                  <p:stCondLst>
                                    <p:cond delay="132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00"/>
                                        <p:tgtEl>
                                          <p:spTgt spid="48"/>
                                        </p:tgtEl>
                                      </p:cBhvr>
                                    </p:animEffect>
                                  </p:childTnLst>
                                </p:cTn>
                              </p:par>
                              <p:par>
                                <p:cTn id="119" presetID="10" presetClass="entr" presetSubtype="0" fill="hold" nodeType="withEffect">
                                  <p:stCondLst>
                                    <p:cond delay="1320"/>
                                  </p:stCondLst>
                                  <p:childTnLst>
                                    <p:set>
                                      <p:cBhvr>
                                        <p:cTn id="120" dur="1" fill="hold">
                                          <p:stCondLst>
                                            <p:cond delay="0"/>
                                          </p:stCondLst>
                                        </p:cTn>
                                        <p:tgtEl>
                                          <p:spTgt spid="49"/>
                                        </p:tgtEl>
                                        <p:attrNameLst>
                                          <p:attrName>style.visibility</p:attrName>
                                        </p:attrNameLst>
                                      </p:cBhvr>
                                      <p:to>
                                        <p:strVal val="visible"/>
                                      </p:to>
                                    </p:set>
                                    <p:animEffect transition="in" filter="fade">
                                      <p:cBhvr>
                                        <p:cTn id="121" dur="400"/>
                                        <p:tgtEl>
                                          <p:spTgt spid="49"/>
                                        </p:tgtEl>
                                      </p:cBhvr>
                                    </p:animEffect>
                                  </p:childTnLst>
                                </p:cTn>
                              </p:par>
                              <p:par>
                                <p:cTn id="122" presetID="10" presetClass="entr" presetSubtype="0" fill="hold" nodeType="withEffect">
                                  <p:stCondLst>
                                    <p:cond delay="1320"/>
                                  </p:stCondLst>
                                  <p:childTnLst>
                                    <p:set>
                                      <p:cBhvr>
                                        <p:cTn id="123" dur="1" fill="hold">
                                          <p:stCondLst>
                                            <p:cond delay="0"/>
                                          </p:stCondLst>
                                        </p:cTn>
                                        <p:tgtEl>
                                          <p:spTgt spid="50"/>
                                        </p:tgtEl>
                                        <p:attrNameLst>
                                          <p:attrName>style.visibility</p:attrName>
                                        </p:attrNameLst>
                                      </p:cBhvr>
                                      <p:to>
                                        <p:strVal val="visible"/>
                                      </p:to>
                                    </p:set>
                                    <p:animEffect transition="in" filter="fade">
                                      <p:cBhvr>
                                        <p:cTn id="124" dur="400"/>
                                        <p:tgtEl>
                                          <p:spTgt spid="50"/>
                                        </p:tgtEl>
                                      </p:cBhvr>
                                    </p:animEffect>
                                  </p:childTnLst>
                                </p:cTn>
                              </p:par>
                              <p:par>
                                <p:cTn id="125" presetID="10" presetClass="entr" presetSubtype="0" fill="hold" nodeType="withEffect">
                                  <p:stCondLst>
                                    <p:cond delay="1320"/>
                                  </p:stCondLst>
                                  <p:childTnLst>
                                    <p:set>
                                      <p:cBhvr>
                                        <p:cTn id="126" dur="1" fill="hold">
                                          <p:stCondLst>
                                            <p:cond delay="0"/>
                                          </p:stCondLst>
                                        </p:cTn>
                                        <p:tgtEl>
                                          <p:spTgt spid="51"/>
                                        </p:tgtEl>
                                        <p:attrNameLst>
                                          <p:attrName>style.visibility</p:attrName>
                                        </p:attrNameLst>
                                      </p:cBhvr>
                                      <p:to>
                                        <p:strVal val="visible"/>
                                      </p:to>
                                    </p:set>
                                    <p:animEffect transition="in" filter="fade">
                                      <p:cBhvr>
                                        <p:cTn id="127" dur="400"/>
                                        <p:tgtEl>
                                          <p:spTgt spid="51"/>
                                        </p:tgtEl>
                                      </p:cBhvr>
                                    </p:animEffect>
                                  </p:childTnLst>
                                </p:cTn>
                              </p:par>
                              <p:par>
                                <p:cTn id="128" presetID="10" presetClass="entr" presetSubtype="0" fill="hold" nodeType="withEffect">
                                  <p:stCondLst>
                                    <p:cond delay="1320"/>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400"/>
                                        <p:tgtEl>
                                          <p:spTgt spid="52"/>
                                        </p:tgtEl>
                                      </p:cBhvr>
                                    </p:animEffect>
                                  </p:childTnLst>
                                </p:cTn>
                              </p:par>
                              <p:par>
                                <p:cTn id="131" presetID="10" presetClass="entr" presetSubtype="0" fill="hold" nodeType="withEffect">
                                  <p:stCondLst>
                                    <p:cond delay="154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00"/>
                                        <p:tgtEl>
                                          <p:spTgt spid="53"/>
                                        </p:tgtEl>
                                      </p:cBhvr>
                                    </p:animEffect>
                                  </p:childTnLst>
                                </p:cTn>
                              </p:par>
                              <p:par>
                                <p:cTn id="134" presetID="10" presetClass="entr" presetSubtype="0" fill="hold" nodeType="withEffect">
                                  <p:stCondLst>
                                    <p:cond delay="1760"/>
                                  </p:stCondLst>
                                  <p:childTnLst>
                                    <p:set>
                                      <p:cBhvr>
                                        <p:cTn id="135" dur="1" fill="hold">
                                          <p:stCondLst>
                                            <p:cond delay="0"/>
                                          </p:stCondLst>
                                        </p:cTn>
                                        <p:tgtEl>
                                          <p:spTgt spid="13"/>
                                        </p:tgtEl>
                                        <p:attrNameLst>
                                          <p:attrName>style.visibility</p:attrName>
                                        </p:attrNameLst>
                                      </p:cBhvr>
                                      <p:to>
                                        <p:strVal val="visible"/>
                                      </p:to>
                                    </p:set>
                                    <p:animEffect transition="in" filter="fade">
                                      <p:cBhvr>
                                        <p:cTn id="136" dur="400"/>
                                        <p:tgtEl>
                                          <p:spTgt spid="13"/>
                                        </p:tgtEl>
                                      </p:cBhvr>
                                    </p:animEffect>
                                  </p:childTnLst>
                                </p:cTn>
                              </p:par>
                              <p:par>
                                <p:cTn id="137" presetID="10" presetClass="entr" presetSubtype="0" fill="hold" nodeType="withEffect">
                                  <p:stCondLst>
                                    <p:cond delay="176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76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76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76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76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76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76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16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DỮ LIỆU &amp; DỰ BÁO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Mỗi đợt thiên tai để lại dữ liệu cho đợt sau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148840"/>
          </a:xfrm>
          <a:prstGeom prst="roundRect">
            <a:avLst>
              <a:gd name="adj" fmla="val 54545"/>
            </a:avLst>
          </a:prstGeom>
          <a:solidFill>
            <a:srgbClr val="22C55E">
              <a:alpha val="95000"/>
            </a:srgbClr>
          </a:solidFill>
          <a:ln/>
        </p:spPr>
      </p:sp>
      <p:sp>
        <p:nvSpPr>
          <p:cNvPr id="14" name="Text 10"/>
          <p:cNvSpPr/>
          <p:nvPr/>
        </p:nvSpPr>
        <p:spPr>
          <a:xfrm>
            <a:off x="1005840" y="2476246"/>
            <a:ext cx="1991792" cy="549402"/>
          </a:xfrm>
          <a:prstGeom prst="rect">
            <a:avLst/>
          </a:prstGeom>
          <a:noFill/>
          <a:ln/>
        </p:spPr>
        <p:txBody>
          <a:bodyPr wrap="square" lIns="0" tIns="0" rIns="0" bIns="0" rtlCol="0" anchor="t"/>
          <a:lstStyle/>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Nhiệm vụ đã hoàn</a:t>
            </a:r>
            <a:endParaRPr lang="en-US" sz="1500" dirty="0"/>
          </a:p>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thành</a:t>
            </a:r>
            <a:endParaRPr lang="en-US" sz="1500" dirty="0"/>
          </a:p>
        </p:txBody>
      </p:sp>
      <p:sp>
        <p:nvSpPr>
          <p:cNvPr id="15" name="Text 11"/>
          <p:cNvSpPr/>
          <p:nvPr/>
        </p:nvSpPr>
        <p:spPr>
          <a:xfrm>
            <a:off x="1005840" y="3244342"/>
            <a:ext cx="1991792"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Bao nhiêu nhiệm vụ hoàn</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thành, bao nhiêu còn</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dang dở sau mỗi đợt.</a:t>
            </a:r>
            <a:endParaRPr lang="en-US" sz="1200" dirty="0"/>
          </a:p>
        </p:txBody>
      </p:sp>
      <p:sp>
        <p:nvSpPr>
          <p:cNvPr id="16" name="Shape 12"/>
          <p:cNvSpPr/>
          <p:nvPr/>
        </p:nvSpPr>
        <p:spPr>
          <a:xfrm>
            <a:off x="3473120"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17" name="Shape 13"/>
          <p:cNvSpPr/>
          <p:nvPr/>
        </p:nvSpPr>
        <p:spPr>
          <a:xfrm>
            <a:off x="3473120" y="2220214"/>
            <a:ext cx="50292" cy="2148840"/>
          </a:xfrm>
          <a:prstGeom prst="roundRect">
            <a:avLst>
              <a:gd name="adj" fmla="val 54545"/>
            </a:avLst>
          </a:prstGeom>
          <a:solidFill>
            <a:srgbClr val="38BDF8">
              <a:alpha val="95000"/>
            </a:srgbClr>
          </a:solidFill>
          <a:ln/>
        </p:spPr>
      </p:sp>
      <p:sp>
        <p:nvSpPr>
          <p:cNvPr id="18" name="Text 14"/>
          <p:cNvSpPr/>
          <p:nvPr/>
        </p:nvSpPr>
        <p:spPr>
          <a:xfrm>
            <a:off x="3765728" y="2476246"/>
            <a:ext cx="1991792" cy="311277"/>
          </a:xfrm>
          <a:prstGeom prst="rect">
            <a:avLst/>
          </a:prstGeom>
          <a:noFill/>
          <a:ln/>
        </p:spPr>
        <p:txBody>
          <a:bodyPr wrap="square" lIns="0" tIns="0" rIns="0" bIns="0" rtlCol="0" anchor="t"/>
          <a:lstStyle/>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Vật tư đã sử dụng</a:t>
            </a:r>
            <a:endParaRPr lang="en-US" sz="1500" dirty="0"/>
          </a:p>
        </p:txBody>
      </p:sp>
      <p:sp>
        <p:nvSpPr>
          <p:cNvPr id="19" name="Text 15"/>
          <p:cNvSpPr/>
          <p:nvPr/>
        </p:nvSpPr>
        <p:spPr>
          <a:xfrm>
            <a:off x="3765728" y="3244342"/>
            <a:ext cx="1991792"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Thống kê chính xác lượng</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vật tư đã cấp phát cho</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từng nhiệm vụ.</a:t>
            </a:r>
            <a:endParaRPr lang="en-US" sz="1200" dirty="0"/>
          </a:p>
        </p:txBody>
      </p:sp>
      <p:sp>
        <p:nvSpPr>
          <p:cNvPr id="20" name="Shape 16"/>
          <p:cNvSpPr/>
          <p:nvPr/>
        </p:nvSpPr>
        <p:spPr>
          <a:xfrm>
            <a:off x="6233008"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21" name="Shape 17"/>
          <p:cNvSpPr/>
          <p:nvPr/>
        </p:nvSpPr>
        <p:spPr>
          <a:xfrm>
            <a:off x="6233008" y="2220214"/>
            <a:ext cx="50292" cy="2148840"/>
          </a:xfrm>
          <a:prstGeom prst="roundRect">
            <a:avLst>
              <a:gd name="adj" fmla="val 54545"/>
            </a:avLst>
          </a:prstGeom>
          <a:solidFill>
            <a:srgbClr val="F87171">
              <a:alpha val="95000"/>
            </a:srgbClr>
          </a:solidFill>
          <a:ln/>
        </p:spPr>
      </p:sp>
      <p:sp>
        <p:nvSpPr>
          <p:cNvPr id="22" name="Text 18"/>
          <p:cNvSpPr/>
          <p:nvPr/>
        </p:nvSpPr>
        <p:spPr>
          <a:xfrm>
            <a:off x="6525616" y="2476246"/>
            <a:ext cx="1991792" cy="311277"/>
          </a:xfrm>
          <a:prstGeom prst="rect">
            <a:avLst/>
          </a:prstGeom>
          <a:noFill/>
          <a:ln/>
        </p:spPr>
        <p:txBody>
          <a:bodyPr wrap="square" lIns="0" tIns="0" rIns="0" bIns="0" rtlCol="0" anchor="t"/>
          <a:lstStyle/>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Vật tư thất thoát</a:t>
            </a:r>
            <a:endParaRPr lang="en-US" sz="1500" dirty="0"/>
          </a:p>
        </p:txBody>
      </p:sp>
      <p:sp>
        <p:nvSpPr>
          <p:cNvPr id="23" name="Text 19"/>
          <p:cNvSpPr/>
          <p:nvPr/>
        </p:nvSpPr>
        <p:spPr>
          <a:xfrm>
            <a:off x="6525616" y="3244342"/>
            <a:ext cx="1991792"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Ghi nhận phần thất thoát</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trong quá trình cứu hộ để</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rút kinh nghiệm.</a:t>
            </a:r>
            <a:endParaRPr lang="en-US" sz="1200" dirty="0"/>
          </a:p>
        </p:txBody>
      </p:sp>
      <p:sp>
        <p:nvSpPr>
          <p:cNvPr id="24" name="Shape 20"/>
          <p:cNvSpPr/>
          <p:nvPr/>
        </p:nvSpPr>
        <p:spPr>
          <a:xfrm>
            <a:off x="8992895"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25" name="Shape 21"/>
          <p:cNvSpPr/>
          <p:nvPr/>
        </p:nvSpPr>
        <p:spPr>
          <a:xfrm>
            <a:off x="8992895" y="2220214"/>
            <a:ext cx="50292" cy="2148840"/>
          </a:xfrm>
          <a:prstGeom prst="roundRect">
            <a:avLst>
              <a:gd name="adj" fmla="val 54545"/>
            </a:avLst>
          </a:prstGeom>
          <a:solidFill>
            <a:srgbClr val="FBBF24">
              <a:alpha val="95000"/>
            </a:srgbClr>
          </a:solidFill>
          <a:ln/>
        </p:spPr>
      </p:sp>
      <p:sp>
        <p:nvSpPr>
          <p:cNvPr id="26" name="Text 22"/>
          <p:cNvSpPr/>
          <p:nvPr/>
        </p:nvSpPr>
        <p:spPr>
          <a:xfrm>
            <a:off x="9285503" y="2476246"/>
            <a:ext cx="1991792" cy="311277"/>
          </a:xfrm>
          <a:prstGeom prst="rect">
            <a:avLst/>
          </a:prstGeom>
          <a:noFill/>
          <a:ln/>
        </p:spPr>
        <p:txBody>
          <a:bodyPr wrap="square" lIns="0" tIns="0" rIns="0" bIns="0" rtlCol="0" anchor="t"/>
          <a:lstStyle/>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Lưu trữ lâu dài</a:t>
            </a:r>
            <a:endParaRPr lang="en-US" sz="1500" dirty="0"/>
          </a:p>
        </p:txBody>
      </p:sp>
      <p:sp>
        <p:nvSpPr>
          <p:cNvPr id="27" name="Text 23"/>
          <p:cNvSpPr/>
          <p:nvPr/>
        </p:nvSpPr>
        <p:spPr>
          <a:xfrm>
            <a:off x="9285503" y="3244342"/>
            <a:ext cx="1991792"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Tra cứu dữ liệu của nhiều</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năm trước chỉ trong vài</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giây.</a:t>
            </a:r>
            <a:endParaRPr lang="en-US" sz="1200" dirty="0"/>
          </a:p>
        </p:txBody>
      </p:sp>
      <p:sp>
        <p:nvSpPr>
          <p:cNvPr id="28" name="Shape 24"/>
          <p:cNvSpPr/>
          <p:nvPr/>
        </p:nvSpPr>
        <p:spPr>
          <a:xfrm>
            <a:off x="713232" y="4753102"/>
            <a:ext cx="10765231" cy="1051560"/>
          </a:xfrm>
          <a:prstGeom prst="roundRect">
            <a:avLst>
              <a:gd name="adj" fmla="val 10435"/>
            </a:avLst>
          </a:prstGeom>
          <a:solidFill>
            <a:srgbClr val="22C55E">
              <a:alpha val="12000"/>
            </a:srgbClr>
          </a:solidFill>
          <a:ln w="12700">
            <a:solidFill>
              <a:srgbClr val="22C55E">
                <a:alpha val="45000"/>
              </a:srgbClr>
            </a:solidFill>
            <a:prstDash val="solid"/>
          </a:ln>
        </p:spPr>
      </p:sp>
      <p:sp>
        <p:nvSpPr>
          <p:cNvPr id="29" name="Shape 25"/>
          <p:cNvSpPr/>
          <p:nvPr/>
        </p:nvSpPr>
        <p:spPr>
          <a:xfrm>
            <a:off x="713232" y="4753102"/>
            <a:ext cx="54864" cy="1051560"/>
          </a:xfrm>
          <a:prstGeom prst="roundRect">
            <a:avLst>
              <a:gd name="adj" fmla="val 50000"/>
            </a:avLst>
          </a:prstGeom>
          <a:solidFill>
            <a:srgbClr val="22C55E"/>
          </a:solidFill>
          <a:ln/>
        </p:spPr>
      </p:sp>
      <p:sp>
        <p:nvSpPr>
          <p:cNvPr id="30" name="Text 26"/>
          <p:cNvSpPr/>
          <p:nvPr/>
        </p:nvSpPr>
        <p:spPr>
          <a:xfrm>
            <a:off x="1097280" y="4954270"/>
            <a:ext cx="10088575" cy="607187"/>
          </a:xfrm>
          <a:prstGeom prst="rect">
            <a:avLst/>
          </a:prstGeom>
          <a:noFill/>
          <a:ln/>
        </p:spPr>
        <p:txBody>
          <a:bodyPr wrap="square" lIns="0" tIns="0" rIns="0" bIns="0" rtlCol="0" anchor="t"/>
          <a:lstStyle/>
          <a:p>
            <a:pPr marL="0" indent="0" algn="l">
              <a:lnSpc>
                <a:spcPts val="2103"/>
              </a:lnSpc>
              <a:buNone/>
            </a:pPr>
            <a:r>
              <a:rPr lang="en-US" sz="1450" b="1" dirty="0">
                <a:solidFill>
                  <a:srgbClr val="FFFFFF"/>
                </a:solidFill>
                <a:latin typeface="Be Vietnam Pro" pitchFamily="34" charset="0"/>
                <a:ea typeface="Be Vietnam Pro" pitchFamily="34" charset="-122"/>
                <a:cs typeface="Be Vietnam Pro" pitchFamily="34" charset="-120"/>
              </a:rPr>
              <a:t>Dựa trên dữ liệu thực tế của những năm trước, người quản lý lập kế hoạch dự trữ sát với nhu cầu hơn — chuẩn</a:t>
            </a:r>
            <a:endParaRPr lang="en-US" sz="1450" dirty="0"/>
          </a:p>
          <a:p>
            <a:pPr marL="0" indent="0" algn="l">
              <a:lnSpc>
                <a:spcPts val="2103"/>
              </a:lnSpc>
              <a:buNone/>
            </a:pPr>
            <a:r>
              <a:rPr lang="en-US" sz="1450" b="1" dirty="0">
                <a:solidFill>
                  <a:srgbClr val="FFFFFF"/>
                </a:solidFill>
                <a:latin typeface="Be Vietnam Pro" pitchFamily="34" charset="0"/>
                <a:ea typeface="Be Vietnam Pro" pitchFamily="34" charset="-122"/>
                <a:cs typeface="Be Vietnam Pro" pitchFamily="34" charset="-120"/>
              </a:rPr>
              <a:t>bị trước khi thiên tai đến, thay vì xoay xở khi đã xảy ra.</a:t>
            </a:r>
            <a:endParaRPr lang="en-US" sz="14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17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PHẦN KHO · TỔNG QUAN</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Điều phối chỉ đúng khi số liệu kho là thật</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Text 8"/>
          <p:cNvSpPr/>
          <p:nvPr/>
        </p:nvSpPr>
        <p:spPr>
          <a:xfrm>
            <a:off x="713232" y="2201926"/>
            <a:ext cx="10515600" cy="570992"/>
          </a:xfrm>
          <a:prstGeom prst="rect">
            <a:avLst/>
          </a:prstGeom>
          <a:noFill/>
          <a:ln/>
        </p:spPr>
        <p:txBody>
          <a:bodyPr wrap="square" lIns="0" tIns="0" rIns="0" bIns="0" rtlCol="0" anchor="t"/>
          <a:lstStyle/>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Toàn bộ luồng ở trên đứng trên một giả định: hệ thống biết chính xác mỗi kho đang có gì và dùng được bao nhiêu.</a:t>
            </a:r>
            <a:endParaRPr lang="en-US" sz="1400" dirty="0"/>
          </a:p>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6 phần tiếp theo nói về cách chúng em giữ cho con số đó đáng tin.</a:t>
            </a:r>
            <a:endParaRPr lang="en-US" sz="1400" dirty="0"/>
          </a:p>
        </p:txBody>
      </p:sp>
      <p:sp>
        <p:nvSpPr>
          <p:cNvPr id="13" name="Shape 9"/>
          <p:cNvSpPr/>
          <p:nvPr/>
        </p:nvSpPr>
        <p:spPr>
          <a:xfrm>
            <a:off x="713232" y="308381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14" name="Shape 10"/>
          <p:cNvSpPr/>
          <p:nvPr/>
        </p:nvSpPr>
        <p:spPr>
          <a:xfrm>
            <a:off x="713232" y="3083814"/>
            <a:ext cx="50292" cy="1316736"/>
          </a:xfrm>
          <a:prstGeom prst="roundRect">
            <a:avLst>
              <a:gd name="adj" fmla="val 54545"/>
            </a:avLst>
          </a:prstGeom>
          <a:solidFill>
            <a:srgbClr val="22C55E">
              <a:alpha val="95000"/>
            </a:srgbClr>
          </a:solidFill>
          <a:ln/>
        </p:spPr>
      </p:sp>
      <p:sp>
        <p:nvSpPr>
          <p:cNvPr id="15" name="Text 11"/>
          <p:cNvSpPr/>
          <p:nvPr/>
        </p:nvSpPr>
        <p:spPr>
          <a:xfrm>
            <a:off x="987552" y="330327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22C55E"/>
                </a:solidFill>
                <a:latin typeface="Be Vietnam Pro" pitchFamily="34" charset="0"/>
                <a:ea typeface="Be Vietnam Pro" pitchFamily="34" charset="-122"/>
                <a:cs typeface="Be Vietnam Pro" pitchFamily="34" charset="-120"/>
              </a:rPr>
              <a:t>01</a:t>
            </a:r>
            <a:endParaRPr lang="en-US" sz="1300" dirty="0"/>
          </a:p>
        </p:txBody>
      </p:sp>
      <p:sp>
        <p:nvSpPr>
          <p:cNvPr id="16" name="Text 12"/>
          <p:cNvSpPr/>
          <p:nvPr/>
        </p:nvSpPr>
        <p:spPr>
          <a:xfrm>
            <a:off x="1536192" y="328498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Quản lý kho tập trung</a:t>
            </a:r>
            <a:endParaRPr lang="en-US" sz="1450" dirty="0"/>
          </a:p>
        </p:txBody>
      </p:sp>
      <p:sp>
        <p:nvSpPr>
          <p:cNvPr id="17" name="Text 13"/>
          <p:cNvSpPr/>
          <p:nvPr/>
        </p:nvSpPr>
        <p:spPr>
          <a:xfrm>
            <a:off x="987552" y="372389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18 kho chung một sổ, mỗi lô hàng mang</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hai chiều trạng thái tách rời.</a:t>
            </a:r>
            <a:endParaRPr lang="en-US" sz="1150" dirty="0"/>
          </a:p>
        </p:txBody>
      </p:sp>
      <p:sp>
        <p:nvSpPr>
          <p:cNvPr id="18" name="Shape 14"/>
          <p:cNvSpPr/>
          <p:nvPr/>
        </p:nvSpPr>
        <p:spPr>
          <a:xfrm>
            <a:off x="4393082" y="308381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19" name="Shape 15"/>
          <p:cNvSpPr/>
          <p:nvPr/>
        </p:nvSpPr>
        <p:spPr>
          <a:xfrm>
            <a:off x="4393082" y="3083814"/>
            <a:ext cx="50292" cy="1316736"/>
          </a:xfrm>
          <a:prstGeom prst="roundRect">
            <a:avLst>
              <a:gd name="adj" fmla="val 54545"/>
            </a:avLst>
          </a:prstGeom>
          <a:solidFill>
            <a:srgbClr val="38BDF8">
              <a:alpha val="95000"/>
            </a:srgbClr>
          </a:solidFill>
          <a:ln/>
        </p:spPr>
      </p:sp>
      <p:sp>
        <p:nvSpPr>
          <p:cNvPr id="20" name="Text 16"/>
          <p:cNvSpPr/>
          <p:nvPr/>
        </p:nvSpPr>
        <p:spPr>
          <a:xfrm>
            <a:off x="4667402" y="330327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38BDF8"/>
                </a:solidFill>
                <a:latin typeface="Be Vietnam Pro" pitchFamily="34" charset="0"/>
                <a:ea typeface="Be Vietnam Pro" pitchFamily="34" charset="-122"/>
                <a:cs typeface="Be Vietnam Pro" pitchFamily="34" charset="-120"/>
              </a:rPr>
              <a:t>02</a:t>
            </a:r>
            <a:endParaRPr lang="en-US" sz="1300" dirty="0"/>
          </a:p>
        </p:txBody>
      </p:sp>
      <p:sp>
        <p:nvSpPr>
          <p:cNvPr id="21" name="Text 17"/>
          <p:cNvSpPr/>
          <p:nvPr/>
        </p:nvSpPr>
        <p:spPr>
          <a:xfrm>
            <a:off x="5216042" y="328498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Chỉ số sẵn sàng</a:t>
            </a:r>
            <a:endParaRPr lang="en-US" sz="1450" dirty="0"/>
          </a:p>
        </p:txBody>
      </p:sp>
      <p:sp>
        <p:nvSpPr>
          <p:cNvPr id="22" name="Text 18"/>
          <p:cNvSpPr/>
          <p:nvPr/>
        </p:nvSpPr>
        <p:spPr>
          <a:xfrm>
            <a:off x="4667402" y="372389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Chấm theo 6 chiều ở 4 cấp, mỗi điểm</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trừ kèm lý do và việc phải làm.</a:t>
            </a:r>
            <a:endParaRPr lang="en-US" sz="1150" dirty="0"/>
          </a:p>
        </p:txBody>
      </p:sp>
      <p:sp>
        <p:nvSpPr>
          <p:cNvPr id="23" name="Shape 19"/>
          <p:cNvSpPr/>
          <p:nvPr/>
        </p:nvSpPr>
        <p:spPr>
          <a:xfrm>
            <a:off x="8072933" y="308381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24" name="Shape 20"/>
          <p:cNvSpPr/>
          <p:nvPr/>
        </p:nvSpPr>
        <p:spPr>
          <a:xfrm>
            <a:off x="8072933" y="3083814"/>
            <a:ext cx="50292" cy="1316736"/>
          </a:xfrm>
          <a:prstGeom prst="roundRect">
            <a:avLst>
              <a:gd name="adj" fmla="val 54545"/>
            </a:avLst>
          </a:prstGeom>
          <a:solidFill>
            <a:srgbClr val="FBBF24">
              <a:alpha val="95000"/>
            </a:srgbClr>
          </a:solidFill>
          <a:ln/>
        </p:spPr>
      </p:sp>
      <p:sp>
        <p:nvSpPr>
          <p:cNvPr id="25" name="Text 21"/>
          <p:cNvSpPr/>
          <p:nvPr/>
        </p:nvSpPr>
        <p:spPr>
          <a:xfrm>
            <a:off x="8347253" y="330327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FBBF24"/>
                </a:solidFill>
                <a:latin typeface="Be Vietnam Pro" pitchFamily="34" charset="0"/>
                <a:ea typeface="Be Vietnam Pro" pitchFamily="34" charset="-122"/>
                <a:cs typeface="Be Vietnam Pro" pitchFamily="34" charset="-120"/>
              </a:rPr>
              <a:t>03</a:t>
            </a:r>
            <a:endParaRPr lang="en-US" sz="1300" dirty="0"/>
          </a:p>
        </p:txBody>
      </p:sp>
      <p:sp>
        <p:nvSpPr>
          <p:cNvPr id="26" name="Text 22"/>
          <p:cNvSpPr/>
          <p:nvPr/>
        </p:nvSpPr>
        <p:spPr>
          <a:xfrm>
            <a:off x="8895893" y="328498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Tồn kho toàn xã</a:t>
            </a:r>
            <a:endParaRPr lang="en-US" sz="1450" dirty="0"/>
          </a:p>
        </p:txBody>
      </p:sp>
      <p:sp>
        <p:nvSpPr>
          <p:cNvPr id="27" name="Text 23"/>
          <p:cNvSpPr/>
          <p:nvPr/>
        </p:nvSpPr>
        <p:spPr>
          <a:xfrm>
            <a:off x="8347253" y="372389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Gộp cả xã vào một bảng để không xin</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chi viện khi hàng còn ở thôn bên.</a:t>
            </a:r>
            <a:endParaRPr lang="en-US" sz="1150" dirty="0"/>
          </a:p>
        </p:txBody>
      </p:sp>
      <p:sp>
        <p:nvSpPr>
          <p:cNvPr id="28" name="Shape 24"/>
          <p:cNvSpPr/>
          <p:nvPr/>
        </p:nvSpPr>
        <p:spPr>
          <a:xfrm>
            <a:off x="713232" y="463829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29" name="Shape 25"/>
          <p:cNvSpPr/>
          <p:nvPr/>
        </p:nvSpPr>
        <p:spPr>
          <a:xfrm>
            <a:off x="713232" y="4638294"/>
            <a:ext cx="50292" cy="1316736"/>
          </a:xfrm>
          <a:prstGeom prst="roundRect">
            <a:avLst>
              <a:gd name="adj" fmla="val 54545"/>
            </a:avLst>
          </a:prstGeom>
          <a:solidFill>
            <a:srgbClr val="FB923C">
              <a:alpha val="95000"/>
            </a:srgbClr>
          </a:solidFill>
          <a:ln/>
        </p:spPr>
      </p:sp>
      <p:sp>
        <p:nvSpPr>
          <p:cNvPr id="30" name="Text 26"/>
          <p:cNvSpPr/>
          <p:nvPr/>
        </p:nvSpPr>
        <p:spPr>
          <a:xfrm>
            <a:off x="987552" y="485775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FB923C"/>
                </a:solidFill>
                <a:latin typeface="Be Vietnam Pro" pitchFamily="34" charset="0"/>
                <a:ea typeface="Be Vietnam Pro" pitchFamily="34" charset="-122"/>
                <a:cs typeface="Be Vietnam Pro" pitchFamily="34" charset="-120"/>
              </a:rPr>
              <a:t>04</a:t>
            </a:r>
            <a:endParaRPr lang="en-US" sz="1300" dirty="0"/>
          </a:p>
        </p:txBody>
      </p:sp>
      <p:sp>
        <p:nvSpPr>
          <p:cNvPr id="31" name="Text 27"/>
          <p:cNvSpPr/>
          <p:nvPr/>
        </p:nvSpPr>
        <p:spPr>
          <a:xfrm>
            <a:off x="1536192" y="483946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Cảm biến IoT</a:t>
            </a:r>
            <a:endParaRPr lang="en-US" sz="1450" dirty="0"/>
          </a:p>
        </p:txBody>
      </p:sp>
      <p:sp>
        <p:nvSpPr>
          <p:cNvPr id="32" name="Text 28"/>
          <p:cNvSpPr/>
          <p:nvPr/>
        </p:nvSpPr>
        <p:spPr>
          <a:xfrm>
            <a:off x="987552" y="527837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Theo dõi môi trường kho, lọc báo động</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giả và không bỏ qua thiết bị im lặng.</a:t>
            </a:r>
            <a:endParaRPr lang="en-US" sz="1150" dirty="0"/>
          </a:p>
        </p:txBody>
      </p:sp>
      <p:sp>
        <p:nvSpPr>
          <p:cNvPr id="33" name="Shape 29"/>
          <p:cNvSpPr/>
          <p:nvPr/>
        </p:nvSpPr>
        <p:spPr>
          <a:xfrm>
            <a:off x="4393082" y="463829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34" name="Shape 30"/>
          <p:cNvSpPr/>
          <p:nvPr/>
        </p:nvSpPr>
        <p:spPr>
          <a:xfrm>
            <a:off x="4393082" y="4638294"/>
            <a:ext cx="50292" cy="1316736"/>
          </a:xfrm>
          <a:prstGeom prst="roundRect">
            <a:avLst>
              <a:gd name="adj" fmla="val 54545"/>
            </a:avLst>
          </a:prstGeom>
          <a:solidFill>
            <a:srgbClr val="F87171">
              <a:alpha val="95000"/>
            </a:srgbClr>
          </a:solidFill>
          <a:ln/>
        </p:spPr>
      </p:sp>
      <p:sp>
        <p:nvSpPr>
          <p:cNvPr id="35" name="Text 31"/>
          <p:cNvSpPr/>
          <p:nvPr/>
        </p:nvSpPr>
        <p:spPr>
          <a:xfrm>
            <a:off x="4667402" y="485775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F87171"/>
                </a:solidFill>
                <a:latin typeface="Be Vietnam Pro" pitchFamily="34" charset="0"/>
                <a:ea typeface="Be Vietnam Pro" pitchFamily="34" charset="-122"/>
                <a:cs typeface="Be Vietnam Pro" pitchFamily="34" charset="-120"/>
              </a:rPr>
              <a:t>05</a:t>
            </a:r>
            <a:endParaRPr lang="en-US" sz="1300" dirty="0"/>
          </a:p>
        </p:txBody>
      </p:sp>
      <p:sp>
        <p:nvSpPr>
          <p:cNvPr id="36" name="Text 32"/>
          <p:cNvSpPr/>
          <p:nvPr/>
        </p:nvSpPr>
        <p:spPr>
          <a:xfrm>
            <a:off x="5216042" y="483946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Nói thẳng về phần cứng</a:t>
            </a:r>
            <a:endParaRPr lang="en-US" sz="1450" dirty="0"/>
          </a:p>
        </p:txBody>
      </p:sp>
      <p:sp>
        <p:nvSpPr>
          <p:cNvPr id="37" name="Text 33"/>
          <p:cNvSpPr/>
          <p:nvPr/>
        </p:nvSpPr>
        <p:spPr>
          <a:xfrm>
            <a:off x="4667402" y="527837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Phần nào đã chạy thật, phần nào còn là</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bản sao số đang mô phỏng.</a:t>
            </a:r>
            <a:endParaRPr lang="en-US" sz="1150" dirty="0"/>
          </a:p>
        </p:txBody>
      </p:sp>
      <p:sp>
        <p:nvSpPr>
          <p:cNvPr id="38" name="Shape 34"/>
          <p:cNvSpPr/>
          <p:nvPr/>
        </p:nvSpPr>
        <p:spPr>
          <a:xfrm>
            <a:off x="8072933" y="463829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39" name="Shape 35"/>
          <p:cNvSpPr/>
          <p:nvPr/>
        </p:nvSpPr>
        <p:spPr>
          <a:xfrm>
            <a:off x="8072933" y="4638294"/>
            <a:ext cx="50292" cy="1316736"/>
          </a:xfrm>
          <a:prstGeom prst="roundRect">
            <a:avLst>
              <a:gd name="adj" fmla="val 54545"/>
            </a:avLst>
          </a:prstGeom>
          <a:solidFill>
            <a:srgbClr val="6EE7A8">
              <a:alpha val="95000"/>
            </a:srgbClr>
          </a:solidFill>
          <a:ln/>
        </p:spPr>
      </p:sp>
      <p:sp>
        <p:nvSpPr>
          <p:cNvPr id="40" name="Text 36"/>
          <p:cNvSpPr/>
          <p:nvPr/>
        </p:nvSpPr>
        <p:spPr>
          <a:xfrm>
            <a:off x="8347253" y="485775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6EE7A8"/>
                </a:solidFill>
                <a:latin typeface="Be Vietnam Pro" pitchFamily="34" charset="0"/>
                <a:ea typeface="Be Vietnam Pro" pitchFamily="34" charset="-122"/>
                <a:cs typeface="Be Vietnam Pro" pitchFamily="34" charset="-120"/>
              </a:rPr>
              <a:t>06</a:t>
            </a:r>
            <a:endParaRPr lang="en-US" sz="1300" dirty="0"/>
          </a:p>
        </p:txBody>
      </p:sp>
      <p:sp>
        <p:nvSpPr>
          <p:cNvPr id="41" name="Text 37"/>
          <p:cNvSpPr/>
          <p:nvPr/>
        </p:nvSpPr>
        <p:spPr>
          <a:xfrm>
            <a:off x="8895893" y="483946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Trợ lý AI hỏi đáp kho</a:t>
            </a:r>
            <a:endParaRPr lang="en-US" sz="1450" dirty="0"/>
          </a:p>
        </p:txBody>
      </p:sp>
      <p:sp>
        <p:nvSpPr>
          <p:cNvPr id="42" name="Text 38"/>
          <p:cNvSpPr/>
          <p:nvPr/>
        </p:nvSpPr>
        <p:spPr>
          <a:xfrm>
            <a:off x="8347253" y="527837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Mọi con số trong câu trả lời đều đối</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chiếu lại với dữ liệu kho.</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66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66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66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88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88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32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32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54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54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54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54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154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176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76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76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76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76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18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QUẢN LÝ KHO TẬP TRUNG</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Không hỏi còn bao nhiêu — hỏi dùng được bao nhiêu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114800" cy="3017520"/>
          </a:xfrm>
          <a:prstGeom prst="roundRect">
            <a:avLst>
              <a:gd name="adj" fmla="val 3636"/>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017520"/>
          </a:xfrm>
          <a:prstGeom prst="roundRect">
            <a:avLst>
              <a:gd name="adj" fmla="val 54545"/>
            </a:avLst>
          </a:prstGeom>
          <a:solidFill>
            <a:srgbClr val="22C55E">
              <a:alpha val="95000"/>
            </a:srgbClr>
          </a:solidFill>
          <a:ln/>
        </p:spPr>
      </p:sp>
      <p:sp>
        <p:nvSpPr>
          <p:cNvPr id="14" name="Text 10"/>
          <p:cNvSpPr/>
          <p:nvPr/>
        </p:nvSpPr>
        <p:spPr>
          <a:xfrm>
            <a:off x="1024128" y="2476246"/>
            <a:ext cx="3584448"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22C55E"/>
                </a:solidFill>
                <a:latin typeface="Be Vietnam Pro" pitchFamily="34" charset="0"/>
                <a:ea typeface="Be Vietnam Pro" pitchFamily="34" charset="-122"/>
                <a:cs typeface="Be Vietnam Pro" pitchFamily="34" charset="-120"/>
              </a:rPr>
              <a:t>MỘT SỔ KHO DUY NHẤT</a:t>
            </a:r>
            <a:endParaRPr lang="en-US" sz="1050" dirty="0"/>
          </a:p>
        </p:txBody>
      </p:sp>
      <p:sp>
        <p:nvSpPr>
          <p:cNvPr id="15" name="Shape 11"/>
          <p:cNvSpPr/>
          <p:nvPr/>
        </p:nvSpPr>
        <p:spPr>
          <a:xfrm>
            <a:off x="1024128" y="2878582"/>
            <a:ext cx="3493008" cy="768096"/>
          </a:xfrm>
          <a:prstGeom prst="roundRect">
            <a:avLst>
              <a:gd name="adj" fmla="val 11905"/>
            </a:avLst>
          </a:prstGeom>
          <a:solidFill>
            <a:srgbClr val="FFFFFF">
              <a:alpha val="7000"/>
            </a:srgbClr>
          </a:solidFill>
          <a:ln w="12700">
            <a:solidFill>
              <a:srgbClr val="FFFFFF">
                <a:alpha val="14000"/>
              </a:srgbClr>
            </a:solidFill>
            <a:prstDash val="solid"/>
          </a:ln>
        </p:spPr>
      </p:sp>
      <p:sp>
        <p:nvSpPr>
          <p:cNvPr id="16" name="Text 12"/>
          <p:cNvSpPr/>
          <p:nvPr/>
        </p:nvSpPr>
        <p:spPr>
          <a:xfrm>
            <a:off x="1207008" y="2988310"/>
            <a:ext cx="1005840" cy="518922"/>
          </a:xfrm>
          <a:prstGeom prst="rect">
            <a:avLst/>
          </a:prstGeom>
          <a:noFill/>
          <a:ln/>
        </p:spPr>
        <p:txBody>
          <a:bodyPr wrap="square" lIns="0" tIns="0" rIns="0" bIns="0" rtlCol="0" anchor="t"/>
          <a:lstStyle/>
          <a:p>
            <a:pPr marL="0" indent="0" algn="l">
              <a:lnSpc>
                <a:spcPts val="3510"/>
              </a:lnSpc>
              <a:buNone/>
            </a:pPr>
            <a:r>
              <a:rPr lang="en-US" sz="2600" b="1" dirty="0">
                <a:solidFill>
                  <a:srgbClr val="6EE7A8"/>
                </a:solidFill>
                <a:latin typeface="Be Vietnam Pro" pitchFamily="34" charset="0"/>
                <a:ea typeface="Be Vietnam Pro" pitchFamily="34" charset="-122"/>
                <a:cs typeface="Be Vietnam Pro" pitchFamily="34" charset="-120"/>
              </a:rPr>
              <a:t>01</a:t>
            </a:r>
            <a:endParaRPr lang="en-US" sz="2600" dirty="0"/>
          </a:p>
        </p:txBody>
      </p:sp>
      <p:sp>
        <p:nvSpPr>
          <p:cNvPr id="17" name="Text 13"/>
          <p:cNvSpPr/>
          <p:nvPr/>
        </p:nvSpPr>
        <p:spPr>
          <a:xfrm>
            <a:off x="2066544" y="3125470"/>
            <a:ext cx="2468880" cy="313182"/>
          </a:xfrm>
          <a:prstGeom prst="rect">
            <a:avLst/>
          </a:prstGeom>
          <a:noFill/>
          <a:ln/>
        </p:spPr>
        <p:txBody>
          <a:bodyPr wrap="square" lIns="0" tIns="0" rIns="0" bIns="0" rtlCol="0" anchor="t"/>
          <a:lstStyle/>
          <a:p>
            <a:pPr marL="0" indent="0" algn="l">
              <a:lnSpc>
                <a:spcPts val="1890"/>
              </a:lnSpc>
              <a:buNone/>
            </a:pPr>
            <a:r>
              <a:rPr lang="en-US" sz="1400" b="1" dirty="0">
                <a:solidFill>
                  <a:srgbClr val="D9E6F2"/>
                </a:solidFill>
                <a:latin typeface="Be Vietnam Pro" pitchFamily="34" charset="0"/>
                <a:ea typeface="Be Vietnam Pro" pitchFamily="34" charset="-122"/>
                <a:cs typeface="Be Vietnam Pro" pitchFamily="34" charset="-120"/>
              </a:rPr>
              <a:t>kho tổng</a:t>
            </a:r>
            <a:endParaRPr lang="en-US" sz="1400" dirty="0"/>
          </a:p>
        </p:txBody>
      </p:sp>
      <p:sp>
        <p:nvSpPr>
          <p:cNvPr id="18" name="Shape 14"/>
          <p:cNvSpPr/>
          <p:nvPr/>
        </p:nvSpPr>
        <p:spPr>
          <a:xfrm>
            <a:off x="1024128" y="3738118"/>
            <a:ext cx="3493008" cy="768096"/>
          </a:xfrm>
          <a:prstGeom prst="roundRect">
            <a:avLst>
              <a:gd name="adj" fmla="val 11905"/>
            </a:avLst>
          </a:prstGeom>
          <a:solidFill>
            <a:srgbClr val="FFFFFF">
              <a:alpha val="7000"/>
            </a:srgbClr>
          </a:solidFill>
          <a:ln w="12700">
            <a:solidFill>
              <a:srgbClr val="FFFFFF">
                <a:alpha val="14000"/>
              </a:srgbClr>
            </a:solidFill>
            <a:prstDash val="solid"/>
          </a:ln>
        </p:spPr>
      </p:sp>
      <p:sp>
        <p:nvSpPr>
          <p:cNvPr id="19" name="Text 15"/>
          <p:cNvSpPr/>
          <p:nvPr/>
        </p:nvSpPr>
        <p:spPr>
          <a:xfrm>
            <a:off x="1207008" y="3847846"/>
            <a:ext cx="1005840" cy="518922"/>
          </a:xfrm>
          <a:prstGeom prst="rect">
            <a:avLst/>
          </a:prstGeom>
          <a:noFill/>
          <a:ln/>
        </p:spPr>
        <p:txBody>
          <a:bodyPr wrap="square" lIns="0" tIns="0" rIns="0" bIns="0" rtlCol="0" anchor="t"/>
          <a:lstStyle/>
          <a:p>
            <a:pPr marL="0" indent="0" algn="l">
              <a:lnSpc>
                <a:spcPts val="3510"/>
              </a:lnSpc>
              <a:buNone/>
            </a:pPr>
            <a:r>
              <a:rPr lang="en-US" sz="2600" b="1" dirty="0">
                <a:solidFill>
                  <a:srgbClr val="6EE7A8"/>
                </a:solidFill>
                <a:latin typeface="Be Vietnam Pro" pitchFamily="34" charset="0"/>
                <a:ea typeface="Be Vietnam Pro" pitchFamily="34" charset="-122"/>
                <a:cs typeface="Be Vietnam Pro" pitchFamily="34" charset="-120"/>
              </a:rPr>
              <a:t>17</a:t>
            </a:r>
            <a:endParaRPr lang="en-US" sz="2600" dirty="0"/>
          </a:p>
        </p:txBody>
      </p:sp>
      <p:sp>
        <p:nvSpPr>
          <p:cNvPr id="20" name="Text 16"/>
          <p:cNvSpPr/>
          <p:nvPr/>
        </p:nvSpPr>
        <p:spPr>
          <a:xfrm>
            <a:off x="2066544" y="3985006"/>
            <a:ext cx="2468880" cy="313182"/>
          </a:xfrm>
          <a:prstGeom prst="rect">
            <a:avLst/>
          </a:prstGeom>
          <a:noFill/>
          <a:ln/>
        </p:spPr>
        <p:txBody>
          <a:bodyPr wrap="square" lIns="0" tIns="0" rIns="0" bIns="0" rtlCol="0" anchor="t"/>
          <a:lstStyle/>
          <a:p>
            <a:pPr marL="0" indent="0" algn="l">
              <a:lnSpc>
                <a:spcPts val="1890"/>
              </a:lnSpc>
              <a:buNone/>
            </a:pPr>
            <a:r>
              <a:rPr lang="en-US" sz="1400" b="1" dirty="0">
                <a:solidFill>
                  <a:srgbClr val="D9E6F2"/>
                </a:solidFill>
                <a:latin typeface="Be Vietnam Pro" pitchFamily="34" charset="0"/>
                <a:ea typeface="Be Vietnam Pro" pitchFamily="34" charset="-122"/>
                <a:cs typeface="Be Vietnam Pro" pitchFamily="34" charset="-120"/>
              </a:rPr>
              <a:t>kho thôn</a:t>
            </a:r>
            <a:endParaRPr lang="en-US" sz="1400" dirty="0"/>
          </a:p>
        </p:txBody>
      </p:sp>
      <p:sp>
        <p:nvSpPr>
          <p:cNvPr id="21" name="Text 17"/>
          <p:cNvSpPr/>
          <p:nvPr/>
        </p:nvSpPr>
        <p:spPr>
          <a:xfrm>
            <a:off x="1024128" y="4634230"/>
            <a:ext cx="3584448" cy="533527"/>
          </a:xfrm>
          <a:prstGeom prst="rect">
            <a:avLst/>
          </a:prstGeom>
          <a:noFill/>
          <a:ln/>
        </p:spPr>
        <p:txBody>
          <a:bodyPr wrap="square" lIns="0" tIns="0" rIns="0" bIns="0" rtlCol="0" anchor="t"/>
          <a:lstStyle/>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Tồn kho, lịch sử nhập — xuất và thông tin</a:t>
            </a:r>
            <a:endParaRPr lang="en-US" sz="1250" dirty="0"/>
          </a:p>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từng kho nằm chung một hệ thống.</a:t>
            </a:r>
            <a:endParaRPr lang="en-US" sz="1250" dirty="0"/>
          </a:p>
        </p:txBody>
      </p:sp>
      <p:sp>
        <p:nvSpPr>
          <p:cNvPr id="22" name="Shape 18"/>
          <p:cNvSpPr/>
          <p:nvPr/>
        </p:nvSpPr>
        <p:spPr>
          <a:xfrm>
            <a:off x="5175504" y="2220214"/>
            <a:ext cx="3014320" cy="2395728"/>
          </a:xfrm>
          <a:prstGeom prst="roundRect">
            <a:avLst>
              <a:gd name="adj" fmla="val 4580"/>
            </a:avLst>
          </a:prstGeom>
          <a:solidFill>
            <a:srgbClr val="091B2D">
              <a:alpha val="66000"/>
            </a:srgbClr>
          </a:solidFill>
          <a:ln w="12700">
            <a:solidFill>
              <a:srgbClr val="FFFFFF">
                <a:alpha val="12000"/>
              </a:srgbClr>
            </a:solidFill>
            <a:prstDash val="solid"/>
          </a:ln>
        </p:spPr>
      </p:sp>
      <p:sp>
        <p:nvSpPr>
          <p:cNvPr id="23" name="Shape 19"/>
          <p:cNvSpPr/>
          <p:nvPr/>
        </p:nvSpPr>
        <p:spPr>
          <a:xfrm>
            <a:off x="5175504" y="2220214"/>
            <a:ext cx="50292" cy="2395728"/>
          </a:xfrm>
          <a:prstGeom prst="roundRect">
            <a:avLst>
              <a:gd name="adj" fmla="val 54545"/>
            </a:avLst>
          </a:prstGeom>
          <a:solidFill>
            <a:srgbClr val="38BDF8">
              <a:alpha val="95000"/>
            </a:srgbClr>
          </a:solidFill>
          <a:ln/>
        </p:spPr>
      </p:sp>
      <p:sp>
        <p:nvSpPr>
          <p:cNvPr id="24" name="Text 20"/>
          <p:cNvSpPr/>
          <p:nvPr/>
        </p:nvSpPr>
        <p:spPr>
          <a:xfrm>
            <a:off x="5468112" y="2476246"/>
            <a:ext cx="2520544" cy="253175"/>
          </a:xfrm>
          <a:prstGeom prst="rect">
            <a:avLst/>
          </a:prstGeom>
          <a:noFill/>
          <a:ln/>
        </p:spPr>
        <p:txBody>
          <a:bodyPr wrap="square" lIns="0" tIns="0" rIns="0" bIns="0" rtlCol="0" anchor="t"/>
          <a:lstStyle/>
          <a:p>
            <a:pPr marL="0" indent="0" algn="l">
              <a:lnSpc>
                <a:spcPts val="1418"/>
              </a:lnSpc>
              <a:buNone/>
            </a:pPr>
            <a:r>
              <a:rPr lang="en-US" sz="1050" b="1" kern="0" spc="160" dirty="0">
                <a:solidFill>
                  <a:srgbClr val="38BDF8"/>
                </a:solidFill>
                <a:latin typeface="Be Vietnam Pro" pitchFamily="34" charset="0"/>
                <a:ea typeface="Be Vietnam Pro" pitchFamily="34" charset="-122"/>
                <a:cs typeface="Be Vietnam Pro" pitchFamily="34" charset="-120"/>
              </a:rPr>
              <a:t>TÌNH TRẠNG VẬT LÝ</a:t>
            </a:r>
            <a:endParaRPr lang="en-US" sz="1050" dirty="0"/>
          </a:p>
        </p:txBody>
      </p:sp>
      <p:sp>
        <p:nvSpPr>
          <p:cNvPr id="25" name="Shape 21"/>
          <p:cNvSpPr/>
          <p:nvPr/>
        </p:nvSpPr>
        <p:spPr>
          <a:xfrm>
            <a:off x="5468112" y="3006598"/>
            <a:ext cx="82296" cy="82296"/>
          </a:xfrm>
          <a:prstGeom prst="roundRect">
            <a:avLst>
              <a:gd name="adj" fmla="val 50000"/>
            </a:avLst>
          </a:prstGeom>
          <a:solidFill>
            <a:srgbClr val="38BDF8">
              <a:alpha val="95000"/>
            </a:srgbClr>
          </a:solidFill>
          <a:ln/>
        </p:spPr>
      </p:sp>
      <p:sp>
        <p:nvSpPr>
          <p:cNvPr id="26" name="Text 22"/>
          <p:cNvSpPr/>
          <p:nvPr/>
        </p:nvSpPr>
        <p:spPr>
          <a:xfrm>
            <a:off x="5705856" y="2915158"/>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Mới</a:t>
            </a:r>
            <a:endParaRPr lang="en-US" sz="1300" dirty="0"/>
          </a:p>
        </p:txBody>
      </p:sp>
      <p:sp>
        <p:nvSpPr>
          <p:cNvPr id="27" name="Shape 23"/>
          <p:cNvSpPr/>
          <p:nvPr/>
        </p:nvSpPr>
        <p:spPr>
          <a:xfrm>
            <a:off x="5468112" y="3427222"/>
            <a:ext cx="82296" cy="82296"/>
          </a:xfrm>
          <a:prstGeom prst="roundRect">
            <a:avLst>
              <a:gd name="adj" fmla="val 50000"/>
            </a:avLst>
          </a:prstGeom>
          <a:solidFill>
            <a:srgbClr val="38BDF8">
              <a:alpha val="95000"/>
            </a:srgbClr>
          </a:solidFill>
          <a:ln/>
        </p:spPr>
      </p:sp>
      <p:sp>
        <p:nvSpPr>
          <p:cNvPr id="28" name="Text 24"/>
          <p:cNvSpPr/>
          <p:nvPr/>
        </p:nvSpPr>
        <p:spPr>
          <a:xfrm>
            <a:off x="5705856" y="3335782"/>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Đã dùng</a:t>
            </a:r>
            <a:endParaRPr lang="en-US" sz="1300" dirty="0"/>
          </a:p>
        </p:txBody>
      </p:sp>
      <p:sp>
        <p:nvSpPr>
          <p:cNvPr id="29" name="Shape 25"/>
          <p:cNvSpPr/>
          <p:nvPr/>
        </p:nvSpPr>
        <p:spPr>
          <a:xfrm>
            <a:off x="5468112" y="3847846"/>
            <a:ext cx="82296" cy="82296"/>
          </a:xfrm>
          <a:prstGeom prst="roundRect">
            <a:avLst>
              <a:gd name="adj" fmla="val 50000"/>
            </a:avLst>
          </a:prstGeom>
          <a:solidFill>
            <a:srgbClr val="38BDF8">
              <a:alpha val="95000"/>
            </a:srgbClr>
          </a:solidFill>
          <a:ln/>
        </p:spPr>
      </p:sp>
      <p:sp>
        <p:nvSpPr>
          <p:cNvPr id="30" name="Text 26"/>
          <p:cNvSpPr/>
          <p:nvPr/>
        </p:nvSpPr>
        <p:spPr>
          <a:xfrm>
            <a:off x="5705856" y="3756406"/>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Cần kiểm tra</a:t>
            </a:r>
            <a:endParaRPr lang="en-US" sz="1300" dirty="0"/>
          </a:p>
        </p:txBody>
      </p:sp>
      <p:sp>
        <p:nvSpPr>
          <p:cNvPr id="31" name="Shape 27"/>
          <p:cNvSpPr/>
          <p:nvPr/>
        </p:nvSpPr>
        <p:spPr>
          <a:xfrm>
            <a:off x="5468112" y="4268470"/>
            <a:ext cx="82296" cy="82296"/>
          </a:xfrm>
          <a:prstGeom prst="roundRect">
            <a:avLst>
              <a:gd name="adj" fmla="val 50000"/>
            </a:avLst>
          </a:prstGeom>
          <a:solidFill>
            <a:srgbClr val="38BDF8">
              <a:alpha val="95000"/>
            </a:srgbClr>
          </a:solidFill>
          <a:ln/>
        </p:spPr>
      </p:sp>
      <p:sp>
        <p:nvSpPr>
          <p:cNvPr id="32" name="Text 28"/>
          <p:cNvSpPr/>
          <p:nvPr/>
        </p:nvSpPr>
        <p:spPr>
          <a:xfrm>
            <a:off x="5705856" y="4177030"/>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Hỏng</a:t>
            </a:r>
            <a:endParaRPr lang="en-US" sz="1300" dirty="0"/>
          </a:p>
        </p:txBody>
      </p:sp>
      <p:sp>
        <p:nvSpPr>
          <p:cNvPr id="33" name="Shape 29"/>
          <p:cNvSpPr/>
          <p:nvPr/>
        </p:nvSpPr>
        <p:spPr>
          <a:xfrm>
            <a:off x="8464144" y="2220214"/>
            <a:ext cx="3014320" cy="2395728"/>
          </a:xfrm>
          <a:prstGeom prst="roundRect">
            <a:avLst>
              <a:gd name="adj" fmla="val 4580"/>
            </a:avLst>
          </a:prstGeom>
          <a:solidFill>
            <a:srgbClr val="091B2D">
              <a:alpha val="66000"/>
            </a:srgbClr>
          </a:solidFill>
          <a:ln w="12700">
            <a:solidFill>
              <a:srgbClr val="FFFFFF">
                <a:alpha val="12000"/>
              </a:srgbClr>
            </a:solidFill>
            <a:prstDash val="solid"/>
          </a:ln>
        </p:spPr>
      </p:sp>
      <p:sp>
        <p:nvSpPr>
          <p:cNvPr id="34" name="Shape 30"/>
          <p:cNvSpPr/>
          <p:nvPr/>
        </p:nvSpPr>
        <p:spPr>
          <a:xfrm>
            <a:off x="8464144" y="2220214"/>
            <a:ext cx="50292" cy="2395728"/>
          </a:xfrm>
          <a:prstGeom prst="roundRect">
            <a:avLst>
              <a:gd name="adj" fmla="val 54545"/>
            </a:avLst>
          </a:prstGeom>
          <a:solidFill>
            <a:srgbClr val="FBBF24">
              <a:alpha val="95000"/>
            </a:srgbClr>
          </a:solidFill>
          <a:ln/>
        </p:spPr>
      </p:sp>
      <p:sp>
        <p:nvSpPr>
          <p:cNvPr id="35" name="Text 31"/>
          <p:cNvSpPr/>
          <p:nvPr/>
        </p:nvSpPr>
        <p:spPr>
          <a:xfrm>
            <a:off x="8756752" y="2476246"/>
            <a:ext cx="2520544" cy="253175"/>
          </a:xfrm>
          <a:prstGeom prst="rect">
            <a:avLst/>
          </a:prstGeom>
          <a:noFill/>
          <a:ln/>
        </p:spPr>
        <p:txBody>
          <a:bodyPr wrap="square" lIns="0" tIns="0" rIns="0" bIns="0" rtlCol="0" anchor="t"/>
          <a:lstStyle/>
          <a:p>
            <a:pPr marL="0" indent="0" algn="l">
              <a:lnSpc>
                <a:spcPts val="1418"/>
              </a:lnSpc>
              <a:buNone/>
            </a:pPr>
            <a:r>
              <a:rPr lang="en-US" sz="1050" b="1" kern="0" spc="160" dirty="0">
                <a:solidFill>
                  <a:srgbClr val="FBBF24"/>
                </a:solidFill>
                <a:latin typeface="Be Vietnam Pro" pitchFamily="34" charset="0"/>
                <a:ea typeface="Be Vietnam Pro" pitchFamily="34" charset="-122"/>
                <a:cs typeface="Be Vietnam Pro" pitchFamily="34" charset="-120"/>
              </a:rPr>
              <a:t>TRẠNG THÁI LƯU HÀNH</a:t>
            </a:r>
            <a:endParaRPr lang="en-US" sz="1050" dirty="0"/>
          </a:p>
        </p:txBody>
      </p:sp>
      <p:sp>
        <p:nvSpPr>
          <p:cNvPr id="36" name="Shape 32"/>
          <p:cNvSpPr/>
          <p:nvPr/>
        </p:nvSpPr>
        <p:spPr>
          <a:xfrm>
            <a:off x="8756752" y="3006598"/>
            <a:ext cx="82296" cy="82296"/>
          </a:xfrm>
          <a:prstGeom prst="roundRect">
            <a:avLst>
              <a:gd name="adj" fmla="val 50000"/>
            </a:avLst>
          </a:prstGeom>
          <a:solidFill>
            <a:srgbClr val="FBBF24">
              <a:alpha val="95000"/>
            </a:srgbClr>
          </a:solidFill>
          <a:ln/>
        </p:spPr>
      </p:sp>
      <p:sp>
        <p:nvSpPr>
          <p:cNvPr id="37" name="Text 33"/>
          <p:cNvSpPr/>
          <p:nvPr/>
        </p:nvSpPr>
        <p:spPr>
          <a:xfrm>
            <a:off x="8994496" y="2915158"/>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Đang trong kho</a:t>
            </a:r>
            <a:endParaRPr lang="en-US" sz="1300" dirty="0"/>
          </a:p>
        </p:txBody>
      </p:sp>
      <p:sp>
        <p:nvSpPr>
          <p:cNvPr id="38" name="Shape 34"/>
          <p:cNvSpPr/>
          <p:nvPr/>
        </p:nvSpPr>
        <p:spPr>
          <a:xfrm>
            <a:off x="8756752" y="3427222"/>
            <a:ext cx="82296" cy="82296"/>
          </a:xfrm>
          <a:prstGeom prst="roundRect">
            <a:avLst>
              <a:gd name="adj" fmla="val 50000"/>
            </a:avLst>
          </a:prstGeom>
          <a:solidFill>
            <a:srgbClr val="FBBF24">
              <a:alpha val="95000"/>
            </a:srgbClr>
          </a:solidFill>
          <a:ln/>
        </p:spPr>
      </p:sp>
      <p:sp>
        <p:nvSpPr>
          <p:cNvPr id="39" name="Text 35"/>
          <p:cNvSpPr/>
          <p:nvPr/>
        </p:nvSpPr>
        <p:spPr>
          <a:xfrm>
            <a:off x="8994496" y="3335782"/>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Đang cho mượn</a:t>
            </a:r>
            <a:endParaRPr lang="en-US" sz="1300" dirty="0"/>
          </a:p>
        </p:txBody>
      </p:sp>
      <p:sp>
        <p:nvSpPr>
          <p:cNvPr id="40" name="Shape 36"/>
          <p:cNvSpPr/>
          <p:nvPr/>
        </p:nvSpPr>
        <p:spPr>
          <a:xfrm>
            <a:off x="8756752" y="3847846"/>
            <a:ext cx="82296" cy="82296"/>
          </a:xfrm>
          <a:prstGeom prst="roundRect">
            <a:avLst>
              <a:gd name="adj" fmla="val 50000"/>
            </a:avLst>
          </a:prstGeom>
          <a:solidFill>
            <a:srgbClr val="FBBF24">
              <a:alpha val="95000"/>
            </a:srgbClr>
          </a:solidFill>
          <a:ln/>
        </p:spPr>
      </p:sp>
      <p:sp>
        <p:nvSpPr>
          <p:cNvPr id="41" name="Text 37"/>
          <p:cNvSpPr/>
          <p:nvPr/>
        </p:nvSpPr>
        <p:spPr>
          <a:xfrm>
            <a:off x="8994496" y="3756406"/>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Đã xuất</a:t>
            </a:r>
            <a:endParaRPr lang="en-US" sz="1300" dirty="0"/>
          </a:p>
        </p:txBody>
      </p:sp>
      <p:sp>
        <p:nvSpPr>
          <p:cNvPr id="42" name="Text 38"/>
          <p:cNvSpPr/>
          <p:nvPr/>
        </p:nvSpPr>
        <p:spPr>
          <a:xfrm>
            <a:off x="5175504" y="4743958"/>
            <a:ext cx="6394399" cy="270320"/>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Mỗi lô hàng mang hai chiều trạng thái tách rời nhau.</a:t>
            </a:r>
            <a:endParaRPr lang="en-US" sz="1150" dirty="0"/>
          </a:p>
        </p:txBody>
      </p:sp>
      <p:sp>
        <p:nvSpPr>
          <p:cNvPr id="43" name="Shape 39"/>
          <p:cNvSpPr/>
          <p:nvPr/>
        </p:nvSpPr>
        <p:spPr>
          <a:xfrm>
            <a:off x="713232" y="5475478"/>
            <a:ext cx="10765231" cy="713232"/>
          </a:xfrm>
          <a:prstGeom prst="roundRect">
            <a:avLst>
              <a:gd name="adj" fmla="val 12821"/>
            </a:avLst>
          </a:prstGeom>
          <a:solidFill>
            <a:srgbClr val="F87171">
              <a:alpha val="12000"/>
            </a:srgbClr>
          </a:solidFill>
          <a:ln w="12700">
            <a:solidFill>
              <a:srgbClr val="F87171">
                <a:alpha val="42000"/>
              </a:srgbClr>
            </a:solidFill>
            <a:prstDash val="solid"/>
          </a:ln>
        </p:spPr>
      </p:sp>
      <p:sp>
        <p:nvSpPr>
          <p:cNvPr id="44" name="Shape 40"/>
          <p:cNvSpPr/>
          <p:nvPr/>
        </p:nvSpPr>
        <p:spPr>
          <a:xfrm>
            <a:off x="713232" y="5475478"/>
            <a:ext cx="50292" cy="713232"/>
          </a:xfrm>
          <a:prstGeom prst="roundRect">
            <a:avLst>
              <a:gd name="adj" fmla="val 54545"/>
            </a:avLst>
          </a:prstGeom>
          <a:solidFill>
            <a:srgbClr val="F87171">
              <a:alpha val="95000"/>
            </a:srgbClr>
          </a:solidFill>
          <a:ln/>
        </p:spPr>
      </p:sp>
      <p:sp>
        <p:nvSpPr>
          <p:cNvPr id="45" name="Text 41"/>
          <p:cNvSpPr/>
          <p:nvPr/>
        </p:nvSpPr>
        <p:spPr>
          <a:xfrm>
            <a:off x="1078992" y="5658358"/>
            <a:ext cx="10125151"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Áo phao đang cho mượn ≠ áo phao khả dụng, đây là chỗ phần mềm kho thông thường hay đếm nhầm.</a:t>
            </a:r>
            <a:endParaRPr lang="en-US" sz="14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66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nodeType="withEffect">
                                  <p:stCondLst>
                                    <p:cond delay="66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nodeType="withEffect">
                                  <p:stCondLst>
                                    <p:cond delay="66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nodeType="withEffect">
                                  <p:stCondLst>
                                    <p:cond delay="88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nodeType="withEffect">
                                  <p:stCondLst>
                                    <p:cond delay="88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nodeType="withEffect">
                                  <p:stCondLst>
                                    <p:cond delay="88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nodeType="withEffect">
                                  <p:stCondLst>
                                    <p:cond delay="110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10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10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10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10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10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32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32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32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32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132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132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32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32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32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32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par>
                                <p:cTn id="104" presetID="10" presetClass="entr" presetSubtype="0" fill="hold" nodeType="withEffect">
                                  <p:stCondLst>
                                    <p:cond delay="154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400"/>
                                        <p:tgtEl>
                                          <p:spTgt spid="43"/>
                                        </p:tgtEl>
                                      </p:cBhvr>
                                    </p:animEffect>
                                  </p:childTnLst>
                                </p:cTn>
                              </p:par>
                              <p:par>
                                <p:cTn id="107" presetID="10" presetClass="entr" presetSubtype="0" fill="hold" nodeType="withEffect">
                                  <p:stCondLst>
                                    <p:cond delay="154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400"/>
                                        <p:tgtEl>
                                          <p:spTgt spid="44"/>
                                        </p:tgtEl>
                                      </p:cBhvr>
                                    </p:animEffect>
                                  </p:childTnLst>
                                </p:cTn>
                              </p:par>
                              <p:par>
                                <p:cTn id="110" presetID="10" presetClass="entr" presetSubtype="0" fill="hold" nodeType="withEffect">
                                  <p:stCondLst>
                                    <p:cond delay="154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19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CHỈ SỐ SẴN SÀNG CỦA KHO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Một kết luận vận hành, không phải một con số</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480560" cy="3931920"/>
          </a:xfrm>
          <a:prstGeom prst="roundRect">
            <a:avLst>
              <a:gd name="adj" fmla="val 2791"/>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931920"/>
          </a:xfrm>
          <a:prstGeom prst="roundRect">
            <a:avLst>
              <a:gd name="adj" fmla="val 54545"/>
            </a:avLst>
          </a:prstGeom>
          <a:solidFill>
            <a:srgbClr val="22C55E">
              <a:alpha val="95000"/>
            </a:srgbClr>
          </a:solidFill>
          <a:ln/>
        </p:spPr>
      </p:sp>
      <p:sp>
        <p:nvSpPr>
          <p:cNvPr id="14" name="Text 10"/>
          <p:cNvSpPr/>
          <p:nvPr/>
        </p:nvSpPr>
        <p:spPr>
          <a:xfrm>
            <a:off x="1042416" y="2494534"/>
            <a:ext cx="3913632"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22C55E"/>
                </a:solidFill>
                <a:latin typeface="Be Vietnam Pro" pitchFamily="34" charset="0"/>
                <a:ea typeface="Be Vietnam Pro" pitchFamily="34" charset="-122"/>
                <a:cs typeface="Be Vietnam Pro" pitchFamily="34" charset="-120"/>
              </a:rPr>
              <a:t>CÁCH CHẤM ĐIỂM</a:t>
            </a:r>
            <a:endParaRPr lang="en-US" sz="1050" dirty="0"/>
          </a:p>
        </p:txBody>
      </p:sp>
      <p:sp>
        <p:nvSpPr>
          <p:cNvPr id="15" name="Shape 11"/>
          <p:cNvSpPr/>
          <p:nvPr/>
        </p:nvSpPr>
        <p:spPr>
          <a:xfrm>
            <a:off x="1042416" y="2915158"/>
            <a:ext cx="3822192" cy="786384"/>
          </a:xfrm>
          <a:prstGeom prst="roundRect">
            <a:avLst>
              <a:gd name="adj" fmla="val 11628"/>
            </a:avLst>
          </a:prstGeom>
          <a:solidFill>
            <a:srgbClr val="FFFFFF">
              <a:alpha val="7000"/>
            </a:srgbClr>
          </a:solidFill>
          <a:ln w="12700">
            <a:solidFill>
              <a:srgbClr val="FFFFFF">
                <a:alpha val="14000"/>
              </a:srgbClr>
            </a:solidFill>
            <a:prstDash val="solid"/>
          </a:ln>
        </p:spPr>
      </p:sp>
      <p:sp>
        <p:nvSpPr>
          <p:cNvPr id="16" name="Text 12"/>
          <p:cNvSpPr/>
          <p:nvPr/>
        </p:nvSpPr>
        <p:spPr>
          <a:xfrm>
            <a:off x="1225296" y="3043174"/>
            <a:ext cx="731520" cy="484632"/>
          </a:xfrm>
          <a:prstGeom prst="rect">
            <a:avLst/>
          </a:prstGeom>
          <a:noFill/>
          <a:ln/>
        </p:spPr>
        <p:txBody>
          <a:bodyPr wrap="square" lIns="0" tIns="0" rIns="0" bIns="0" rtlCol="0" anchor="t"/>
          <a:lstStyle/>
          <a:p>
            <a:pPr marL="0" indent="0" algn="l">
              <a:lnSpc>
                <a:spcPts val="3240"/>
              </a:lnSpc>
              <a:buNone/>
            </a:pPr>
            <a:r>
              <a:rPr lang="en-US" sz="2400" b="1" dirty="0">
                <a:solidFill>
                  <a:srgbClr val="6EE7A8"/>
                </a:solidFill>
                <a:latin typeface="Be Vietnam Pro" pitchFamily="34" charset="0"/>
                <a:ea typeface="Be Vietnam Pro" pitchFamily="34" charset="-122"/>
                <a:cs typeface="Be Vietnam Pro" pitchFamily="34" charset="-120"/>
              </a:rPr>
              <a:t>6</a:t>
            </a:r>
            <a:endParaRPr lang="en-US" sz="2400" dirty="0"/>
          </a:p>
        </p:txBody>
      </p:sp>
      <p:sp>
        <p:nvSpPr>
          <p:cNvPr id="17" name="Text 13"/>
          <p:cNvSpPr/>
          <p:nvPr/>
        </p:nvSpPr>
        <p:spPr>
          <a:xfrm>
            <a:off x="1865376" y="3171190"/>
            <a:ext cx="3017520" cy="287465"/>
          </a:xfrm>
          <a:prstGeom prst="rect">
            <a:avLst/>
          </a:prstGeom>
          <a:noFill/>
          <a:ln/>
        </p:spPr>
        <p:txBody>
          <a:bodyPr wrap="square" lIns="0" tIns="0" rIns="0" bIns="0" rtlCol="0" anchor="t"/>
          <a:lstStyle/>
          <a:p>
            <a:pPr marL="0" indent="0" algn="l">
              <a:lnSpc>
                <a:spcPts val="1688"/>
              </a:lnSpc>
              <a:buNone/>
            </a:pPr>
            <a:r>
              <a:rPr lang="en-US" sz="1250" b="1" dirty="0">
                <a:solidFill>
                  <a:srgbClr val="D9E6F2"/>
                </a:solidFill>
                <a:latin typeface="Be Vietnam Pro" pitchFamily="34" charset="0"/>
                <a:ea typeface="Be Vietnam Pro" pitchFamily="34" charset="-122"/>
                <a:cs typeface="Be Vietnam Pro" pitchFamily="34" charset="-120"/>
              </a:rPr>
              <a:t>Chiều đánh giá</a:t>
            </a:r>
            <a:endParaRPr lang="en-US" sz="1250" dirty="0"/>
          </a:p>
        </p:txBody>
      </p:sp>
      <p:sp>
        <p:nvSpPr>
          <p:cNvPr id="18" name="Shape 14"/>
          <p:cNvSpPr/>
          <p:nvPr/>
        </p:nvSpPr>
        <p:spPr>
          <a:xfrm>
            <a:off x="1042416" y="3829558"/>
            <a:ext cx="3822192" cy="786384"/>
          </a:xfrm>
          <a:prstGeom prst="roundRect">
            <a:avLst>
              <a:gd name="adj" fmla="val 11628"/>
            </a:avLst>
          </a:prstGeom>
          <a:solidFill>
            <a:srgbClr val="FFFFFF">
              <a:alpha val="7000"/>
            </a:srgbClr>
          </a:solidFill>
          <a:ln w="12700">
            <a:solidFill>
              <a:srgbClr val="FFFFFF">
                <a:alpha val="14000"/>
              </a:srgbClr>
            </a:solidFill>
            <a:prstDash val="solid"/>
          </a:ln>
        </p:spPr>
      </p:sp>
      <p:sp>
        <p:nvSpPr>
          <p:cNvPr id="19" name="Text 15"/>
          <p:cNvSpPr/>
          <p:nvPr/>
        </p:nvSpPr>
        <p:spPr>
          <a:xfrm>
            <a:off x="1225296" y="3957574"/>
            <a:ext cx="731520" cy="484632"/>
          </a:xfrm>
          <a:prstGeom prst="rect">
            <a:avLst/>
          </a:prstGeom>
          <a:noFill/>
          <a:ln/>
        </p:spPr>
        <p:txBody>
          <a:bodyPr wrap="square" lIns="0" tIns="0" rIns="0" bIns="0" rtlCol="0" anchor="t"/>
          <a:lstStyle/>
          <a:p>
            <a:pPr marL="0" indent="0" algn="l">
              <a:lnSpc>
                <a:spcPts val="3240"/>
              </a:lnSpc>
              <a:buNone/>
            </a:pPr>
            <a:r>
              <a:rPr lang="en-US" sz="2400" b="1" dirty="0">
                <a:solidFill>
                  <a:srgbClr val="6EE7A8"/>
                </a:solidFill>
                <a:latin typeface="Be Vietnam Pro" pitchFamily="34" charset="0"/>
                <a:ea typeface="Be Vietnam Pro" pitchFamily="34" charset="-122"/>
                <a:cs typeface="Be Vietnam Pro" pitchFamily="34" charset="-120"/>
              </a:rPr>
              <a:t>4</a:t>
            </a:r>
            <a:endParaRPr lang="en-US" sz="2400" dirty="0"/>
          </a:p>
        </p:txBody>
      </p:sp>
      <p:sp>
        <p:nvSpPr>
          <p:cNvPr id="20" name="Text 16"/>
          <p:cNvSpPr/>
          <p:nvPr/>
        </p:nvSpPr>
        <p:spPr>
          <a:xfrm>
            <a:off x="1865376" y="4085590"/>
            <a:ext cx="3017520" cy="287465"/>
          </a:xfrm>
          <a:prstGeom prst="rect">
            <a:avLst/>
          </a:prstGeom>
          <a:noFill/>
          <a:ln/>
        </p:spPr>
        <p:txBody>
          <a:bodyPr wrap="square" lIns="0" tIns="0" rIns="0" bIns="0" rtlCol="0" anchor="t"/>
          <a:lstStyle/>
          <a:p>
            <a:pPr marL="0" indent="0" algn="l">
              <a:lnSpc>
                <a:spcPts val="1688"/>
              </a:lnSpc>
              <a:buNone/>
            </a:pPr>
            <a:r>
              <a:rPr lang="en-US" sz="1250" b="1" dirty="0">
                <a:solidFill>
                  <a:srgbClr val="D9E6F2"/>
                </a:solidFill>
                <a:latin typeface="Be Vietnam Pro" pitchFamily="34" charset="0"/>
                <a:ea typeface="Be Vietnam Pro" pitchFamily="34" charset="-122"/>
                <a:cs typeface="Be Vietnam Pro" pitchFamily="34" charset="-120"/>
              </a:rPr>
              <a:t>Cấp: Lô → Kệ → Khu → Toàn kho</a:t>
            </a:r>
            <a:endParaRPr lang="en-US" sz="1250" dirty="0"/>
          </a:p>
        </p:txBody>
      </p:sp>
      <p:sp>
        <p:nvSpPr>
          <p:cNvPr id="21" name="Text 17"/>
          <p:cNvSpPr/>
          <p:nvPr/>
        </p:nvSpPr>
        <p:spPr>
          <a:xfrm>
            <a:off x="1042416" y="4945126"/>
            <a:ext cx="3913632" cy="551942"/>
          </a:xfrm>
          <a:prstGeom prst="rect">
            <a:avLst/>
          </a:prstGeom>
          <a:noFill/>
          <a:ln/>
        </p:spPr>
        <p:txBody>
          <a:bodyPr wrap="square" lIns="0" tIns="0" rIns="0" bIns="0" rtlCol="0" anchor="t"/>
          <a:lstStyle/>
          <a:p>
            <a:pPr marL="0" indent="0" algn="l">
              <a:lnSpc>
                <a:spcPts val="1885"/>
              </a:lnSpc>
              <a:buNone/>
            </a:pPr>
            <a:r>
              <a:rPr lang="en-US" sz="1300" b="1" dirty="0">
                <a:solidFill>
                  <a:srgbClr val="6EE7A8"/>
                </a:solidFill>
                <a:latin typeface="Be Vietnam Pro" pitchFamily="34" charset="0"/>
                <a:ea typeface="Be Vietnam Pro" pitchFamily="34" charset="-122"/>
                <a:cs typeface="Be Vietnam Pro" pitchFamily="34" charset="-120"/>
              </a:rPr>
              <a:t>Mỗi điểm bị trừ đều kèm lý do và việc phải làm,</a:t>
            </a:r>
            <a:endParaRPr lang="en-US" sz="1300" dirty="0"/>
          </a:p>
          <a:p>
            <a:pPr marL="0" indent="0" algn="l">
              <a:lnSpc>
                <a:spcPts val="1885"/>
              </a:lnSpc>
              <a:buNone/>
            </a:pPr>
            <a:r>
              <a:rPr lang="en-US" sz="1300" b="1" dirty="0">
                <a:solidFill>
                  <a:srgbClr val="6EE7A8"/>
                </a:solidFill>
                <a:latin typeface="Be Vietnam Pro" pitchFamily="34" charset="0"/>
                <a:ea typeface="Be Vietnam Pro" pitchFamily="34" charset="-122"/>
                <a:cs typeface="Be Vietnam Pro" pitchFamily="34" charset="-120"/>
              </a:rPr>
              <a:t>thay vì chỉ đưa ra một con số.</a:t>
            </a:r>
            <a:endParaRPr lang="en-US" sz="1300" dirty="0"/>
          </a:p>
        </p:txBody>
      </p:sp>
      <p:sp>
        <p:nvSpPr>
          <p:cNvPr id="22" name="Shape 18"/>
          <p:cNvSpPr/>
          <p:nvPr/>
        </p:nvSpPr>
        <p:spPr>
          <a:xfrm>
            <a:off x="5541264" y="2220214"/>
            <a:ext cx="5937199" cy="1078992"/>
          </a:xfrm>
          <a:prstGeom prst="roundRect">
            <a:avLst>
              <a:gd name="adj" fmla="val 10169"/>
            </a:avLst>
          </a:prstGeom>
          <a:solidFill>
            <a:srgbClr val="091B2D">
              <a:alpha val="66000"/>
            </a:srgbClr>
          </a:solidFill>
          <a:ln w="12700">
            <a:solidFill>
              <a:srgbClr val="FFFFFF">
                <a:alpha val="12000"/>
              </a:srgbClr>
            </a:solidFill>
            <a:prstDash val="solid"/>
          </a:ln>
        </p:spPr>
      </p:sp>
      <p:sp>
        <p:nvSpPr>
          <p:cNvPr id="23" name="Shape 19"/>
          <p:cNvSpPr/>
          <p:nvPr/>
        </p:nvSpPr>
        <p:spPr>
          <a:xfrm>
            <a:off x="5541264" y="2220214"/>
            <a:ext cx="50292" cy="1078992"/>
          </a:xfrm>
          <a:prstGeom prst="roundRect">
            <a:avLst>
              <a:gd name="adj" fmla="val 54545"/>
            </a:avLst>
          </a:prstGeom>
          <a:solidFill>
            <a:srgbClr val="22C55E">
              <a:alpha val="95000"/>
            </a:srgbClr>
          </a:solidFill>
          <a:ln/>
        </p:spPr>
      </p:sp>
      <p:sp>
        <p:nvSpPr>
          <p:cNvPr id="24" name="Text 20"/>
          <p:cNvSpPr/>
          <p:nvPr/>
        </p:nvSpPr>
        <p:spPr>
          <a:xfrm>
            <a:off x="5833872" y="2403094"/>
            <a:ext cx="5443423"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Kho trung tâm: 95 / 100 điểm</a:t>
            </a:r>
            <a:endParaRPr lang="en-US" sz="1500" dirty="0"/>
          </a:p>
        </p:txBody>
      </p:sp>
      <p:sp>
        <p:nvSpPr>
          <p:cNvPr id="25" name="Text 21"/>
          <p:cNvSpPr/>
          <p:nvPr/>
        </p:nvSpPr>
        <p:spPr>
          <a:xfrm>
            <a:off x="5833872" y="2805430"/>
            <a:ext cx="5443423" cy="278892"/>
          </a:xfrm>
          <a:prstGeom prst="rect">
            <a:avLst/>
          </a:prstGeom>
          <a:noFill/>
          <a:ln/>
        </p:spPr>
        <p:txBody>
          <a:bodyPr wrap="square" lIns="0" tIns="0" rIns="0" bIns="0" rtlCol="0" anchor="t"/>
          <a:lstStyle/>
          <a:p>
            <a:pPr marL="0" indent="0" algn="l">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Nhìn con số thì rất đẹp.</a:t>
            </a:r>
            <a:endParaRPr lang="en-US" sz="1200" dirty="0"/>
          </a:p>
        </p:txBody>
      </p:sp>
      <p:sp>
        <p:nvSpPr>
          <p:cNvPr id="26" name="Shape 22"/>
          <p:cNvSpPr/>
          <p:nvPr/>
        </p:nvSpPr>
        <p:spPr>
          <a:xfrm rot="10800000">
            <a:off x="8409280" y="3326638"/>
            <a:ext cx="201168" cy="201168"/>
          </a:xfrm>
          <a:prstGeom prst="triangle">
            <a:avLst/>
          </a:prstGeom>
          <a:solidFill>
            <a:srgbClr val="22C55E">
              <a:alpha val="80000"/>
            </a:srgbClr>
          </a:solidFill>
          <a:ln/>
        </p:spPr>
      </p:sp>
      <p:sp>
        <p:nvSpPr>
          <p:cNvPr id="27" name="Shape 23"/>
          <p:cNvSpPr/>
          <p:nvPr/>
        </p:nvSpPr>
        <p:spPr>
          <a:xfrm>
            <a:off x="5541264" y="3555238"/>
            <a:ext cx="5937199" cy="1078992"/>
          </a:xfrm>
          <a:prstGeom prst="roundRect">
            <a:avLst>
              <a:gd name="adj" fmla="val 10169"/>
            </a:avLst>
          </a:prstGeom>
          <a:solidFill>
            <a:srgbClr val="091B2D">
              <a:alpha val="66000"/>
            </a:srgbClr>
          </a:solidFill>
          <a:ln w="12700">
            <a:solidFill>
              <a:srgbClr val="FFFFFF">
                <a:alpha val="12000"/>
              </a:srgbClr>
            </a:solidFill>
            <a:prstDash val="solid"/>
          </a:ln>
        </p:spPr>
      </p:sp>
      <p:sp>
        <p:nvSpPr>
          <p:cNvPr id="28" name="Shape 24"/>
          <p:cNvSpPr/>
          <p:nvPr/>
        </p:nvSpPr>
        <p:spPr>
          <a:xfrm>
            <a:off x="5541264" y="3555238"/>
            <a:ext cx="50292" cy="1078992"/>
          </a:xfrm>
          <a:prstGeom prst="roundRect">
            <a:avLst>
              <a:gd name="adj" fmla="val 54545"/>
            </a:avLst>
          </a:prstGeom>
          <a:solidFill>
            <a:srgbClr val="FBBF24">
              <a:alpha val="95000"/>
            </a:srgbClr>
          </a:solidFill>
          <a:ln/>
        </p:spPr>
      </p:sp>
      <p:sp>
        <p:nvSpPr>
          <p:cNvPr id="29" name="Text 25"/>
          <p:cNvSpPr/>
          <p:nvPr/>
        </p:nvSpPr>
        <p:spPr>
          <a:xfrm>
            <a:off x="5833872" y="3738118"/>
            <a:ext cx="5443423"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Cảm biến khói vượt ngưỡng, nhiệt độ tăng vọt</a:t>
            </a:r>
            <a:endParaRPr lang="en-US" sz="1500" dirty="0"/>
          </a:p>
        </p:txBody>
      </p:sp>
      <p:sp>
        <p:nvSpPr>
          <p:cNvPr id="30" name="Text 26"/>
          <p:cNvSpPr/>
          <p:nvPr/>
        </p:nvSpPr>
        <p:spPr>
          <a:xfrm>
            <a:off x="5833872" y="4140454"/>
            <a:ext cx="5443423" cy="278892"/>
          </a:xfrm>
          <a:prstGeom prst="rect">
            <a:avLst/>
          </a:prstGeom>
          <a:noFill/>
          <a:ln/>
        </p:spPr>
        <p:txBody>
          <a:bodyPr wrap="square" lIns="0" tIns="0" rIns="0" bIns="0" rtlCol="0" anchor="t"/>
          <a:lstStyle/>
          <a:p>
            <a:pPr marL="0" indent="0" algn="l">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Hệ thống mở sự cố nguy cơ cháy.</a:t>
            </a:r>
            <a:endParaRPr lang="en-US" sz="1200" dirty="0"/>
          </a:p>
        </p:txBody>
      </p:sp>
      <p:sp>
        <p:nvSpPr>
          <p:cNvPr id="31" name="Shape 27"/>
          <p:cNvSpPr/>
          <p:nvPr/>
        </p:nvSpPr>
        <p:spPr>
          <a:xfrm rot="10800000">
            <a:off x="8409280" y="4661662"/>
            <a:ext cx="201168" cy="201168"/>
          </a:xfrm>
          <a:prstGeom prst="triangle">
            <a:avLst/>
          </a:prstGeom>
          <a:solidFill>
            <a:srgbClr val="22C55E">
              <a:alpha val="80000"/>
            </a:srgbClr>
          </a:solidFill>
          <a:ln/>
        </p:spPr>
      </p:sp>
      <p:sp>
        <p:nvSpPr>
          <p:cNvPr id="32" name="Shape 28"/>
          <p:cNvSpPr/>
          <p:nvPr/>
        </p:nvSpPr>
        <p:spPr>
          <a:xfrm>
            <a:off x="5541264" y="4890262"/>
            <a:ext cx="5937199" cy="1078992"/>
          </a:xfrm>
          <a:prstGeom prst="roundRect">
            <a:avLst>
              <a:gd name="adj" fmla="val 10169"/>
            </a:avLst>
          </a:prstGeom>
          <a:solidFill>
            <a:srgbClr val="091B2D">
              <a:alpha val="66000"/>
            </a:srgbClr>
          </a:solidFill>
          <a:ln w="12700">
            <a:solidFill>
              <a:srgbClr val="FFFFFF">
                <a:alpha val="12000"/>
              </a:srgbClr>
            </a:solidFill>
            <a:prstDash val="solid"/>
          </a:ln>
        </p:spPr>
      </p:sp>
      <p:sp>
        <p:nvSpPr>
          <p:cNvPr id="33" name="Shape 29"/>
          <p:cNvSpPr/>
          <p:nvPr/>
        </p:nvSpPr>
        <p:spPr>
          <a:xfrm>
            <a:off x="5541264" y="4890262"/>
            <a:ext cx="50292" cy="1078992"/>
          </a:xfrm>
          <a:prstGeom prst="roundRect">
            <a:avLst>
              <a:gd name="adj" fmla="val 54545"/>
            </a:avLst>
          </a:prstGeom>
          <a:solidFill>
            <a:srgbClr val="F87171">
              <a:alpha val="95000"/>
            </a:srgbClr>
          </a:solidFill>
          <a:ln/>
        </p:spPr>
      </p:sp>
      <p:sp>
        <p:nvSpPr>
          <p:cNvPr id="34" name="Text 30"/>
          <p:cNvSpPr/>
          <p:nvPr/>
        </p:nvSpPr>
        <p:spPr>
          <a:xfrm>
            <a:off x="5833872" y="5073142"/>
            <a:ext cx="5443423" cy="330327"/>
          </a:xfrm>
          <a:prstGeom prst="rect">
            <a:avLst/>
          </a:prstGeom>
          <a:noFill/>
          <a:ln/>
        </p:spPr>
        <p:txBody>
          <a:bodyPr wrap="square" lIns="0" tIns="0" rIns="0" bIns="0" rtlCol="0" anchor="t"/>
          <a:lstStyle/>
          <a:p>
            <a:pPr marL="0" indent="0" algn="l">
              <a:lnSpc>
                <a:spcPts val="2025"/>
              </a:lnSpc>
              <a:buNone/>
            </a:pPr>
            <a:r>
              <a:rPr lang="en-US" sz="1500" b="1" dirty="0">
                <a:solidFill>
                  <a:srgbClr val="F87171"/>
                </a:solidFill>
                <a:latin typeface="Be Vietnam Pro" pitchFamily="34" charset="0"/>
                <a:ea typeface="Be Vietnam Pro" pitchFamily="34" charset="-122"/>
                <a:cs typeface="Be Vietnam Pro" pitchFamily="34" charset="-120"/>
              </a:rPr>
              <a:t>KHÔNG ĐIỀU PHỐI ĐƯỢC</a:t>
            </a:r>
            <a:endParaRPr lang="en-US" sz="1500" dirty="0"/>
          </a:p>
        </p:txBody>
      </p:sp>
      <p:sp>
        <p:nvSpPr>
          <p:cNvPr id="35" name="Text 31"/>
          <p:cNvSpPr/>
          <p:nvPr/>
        </p:nvSpPr>
        <p:spPr>
          <a:xfrm>
            <a:off x="5833872" y="5475478"/>
            <a:ext cx="5443423" cy="484632"/>
          </a:xfrm>
          <a:prstGeom prst="rect">
            <a:avLst/>
          </a:prstGeom>
          <a:noFill/>
          <a:ln/>
        </p:spPr>
        <p:txBody>
          <a:bodyPr wrap="square" lIns="0" tIns="0" rIns="0" bIns="0" rtlCol="0" anchor="t"/>
          <a:lstStyle/>
          <a:p>
            <a:pPr marL="0" indent="0" algn="l">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Người điều phối biết ngay: không được lên phương án lấy hàng từ kho</a:t>
            </a:r>
            <a:endParaRPr lang="en-US" sz="1200" dirty="0"/>
          </a:p>
          <a:p>
            <a:pPr marL="0" indent="0" algn="l">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này.</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66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nodeType="withEffect">
                                  <p:stCondLst>
                                    <p:cond delay="66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nodeType="withEffect">
                                  <p:stCondLst>
                                    <p:cond delay="66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nodeType="withEffect">
                                  <p:stCondLst>
                                    <p:cond delay="88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nodeType="withEffect">
                                  <p:stCondLst>
                                    <p:cond delay="88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nodeType="withEffect">
                                  <p:stCondLst>
                                    <p:cond delay="88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nodeType="withEffect">
                                  <p:stCondLst>
                                    <p:cond delay="110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32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32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54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54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54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54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54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20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TỒN KHO TOÀN XÃ</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Thiếu ở kho tổng, có thể đang thừa ở thôn bên</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099152" cy="2697480"/>
          </a:xfrm>
          <a:prstGeom prst="roundRect">
            <a:avLst>
              <a:gd name="adj" fmla="val 4068"/>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697480"/>
          </a:xfrm>
          <a:prstGeom prst="roundRect">
            <a:avLst>
              <a:gd name="adj" fmla="val 54545"/>
            </a:avLst>
          </a:prstGeom>
          <a:solidFill>
            <a:srgbClr val="F87171">
              <a:alpha val="95000"/>
            </a:srgbClr>
          </a:solidFill>
          <a:ln/>
        </p:spPr>
      </p:sp>
      <p:sp>
        <p:nvSpPr>
          <p:cNvPr id="14" name="Text 10"/>
          <p:cNvSpPr/>
          <p:nvPr/>
        </p:nvSpPr>
        <p:spPr>
          <a:xfrm>
            <a:off x="1042416" y="2494534"/>
            <a:ext cx="4532224"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F87171"/>
                </a:solidFill>
                <a:latin typeface="Be Vietnam Pro" pitchFamily="34" charset="0"/>
                <a:ea typeface="Be Vietnam Pro" pitchFamily="34" charset="-122"/>
                <a:cs typeface="Be Vietnam Pro" pitchFamily="34" charset="-120"/>
              </a:rPr>
              <a:t>KHO TỔNG</a:t>
            </a:r>
            <a:endParaRPr lang="en-US" sz="1050" dirty="0"/>
          </a:p>
        </p:txBody>
      </p:sp>
      <p:sp>
        <p:nvSpPr>
          <p:cNvPr id="15" name="Text 11"/>
          <p:cNvSpPr/>
          <p:nvPr/>
        </p:nvSpPr>
        <p:spPr>
          <a:xfrm>
            <a:off x="1042416" y="2988310"/>
            <a:ext cx="4532224" cy="484632"/>
          </a:xfrm>
          <a:prstGeom prst="rect">
            <a:avLst/>
          </a:prstGeom>
          <a:noFill/>
          <a:ln/>
        </p:spPr>
        <p:txBody>
          <a:bodyPr wrap="square" lIns="0" tIns="0" rIns="0" bIns="0" rtlCol="0" anchor="t"/>
          <a:lstStyle/>
          <a:p>
            <a:pPr marL="0" indent="0" algn="l">
              <a:lnSpc>
                <a:spcPts val="3240"/>
              </a:lnSpc>
              <a:buNone/>
            </a:pPr>
            <a:r>
              <a:rPr lang="en-US" sz="2700" b="1" dirty="0">
                <a:solidFill>
                  <a:srgbClr val="FFFFFF"/>
                </a:solidFill>
                <a:latin typeface="Be Vietnam Pro" pitchFamily="34" charset="0"/>
                <a:ea typeface="Be Vietnam Pro" pitchFamily="34" charset="-122"/>
                <a:cs typeface="Be Vietnam Pro" pitchFamily="34" charset="-120"/>
              </a:rPr>
              <a:t>Gần hết bộ sơ cứu</a:t>
            </a:r>
            <a:endParaRPr lang="en-US" sz="2700" dirty="0"/>
          </a:p>
        </p:txBody>
      </p:sp>
      <p:sp>
        <p:nvSpPr>
          <p:cNvPr id="16" name="Text 12"/>
          <p:cNvSpPr/>
          <p:nvPr/>
        </p:nvSpPr>
        <p:spPr>
          <a:xfrm>
            <a:off x="1042416" y="4122166"/>
            <a:ext cx="4532224" cy="295402"/>
          </a:xfrm>
          <a:prstGeom prst="rect">
            <a:avLst/>
          </a:prstGeom>
          <a:noFill/>
          <a:ln/>
        </p:spPr>
        <p:txBody>
          <a:bodyPr wrap="square" lIns="0" tIns="0" rIns="0" bIns="0" rtlCol="0" anchor="t"/>
          <a:lstStyle/>
          <a:p>
            <a:pPr marL="0" indent="0" algn="l">
              <a:lnSpc>
                <a:spcPts val="1750"/>
              </a:lnSpc>
              <a:buNone/>
            </a:pPr>
            <a:r>
              <a:rPr lang="en-US" sz="1250" dirty="0">
                <a:solidFill>
                  <a:srgbClr val="9BB0C6"/>
                </a:solidFill>
                <a:latin typeface="Be Vietnam Pro" pitchFamily="34" charset="0"/>
                <a:ea typeface="Be Vietnam Pro" pitchFamily="34" charset="-122"/>
                <a:cs typeface="Be Vietnam Pro" pitchFamily="34" charset="-120"/>
              </a:rPr>
              <a:t>Nhìn riêng con số ở đây rất dễ kết luận cả xã đã hết hàng.</a:t>
            </a:r>
            <a:endParaRPr lang="en-US" sz="1250" dirty="0"/>
          </a:p>
        </p:txBody>
      </p:sp>
      <p:sp>
        <p:nvSpPr>
          <p:cNvPr id="17" name="Shape 13"/>
          <p:cNvSpPr/>
          <p:nvPr/>
        </p:nvSpPr>
        <p:spPr>
          <a:xfrm>
            <a:off x="6379312" y="2220214"/>
            <a:ext cx="5099152" cy="2697480"/>
          </a:xfrm>
          <a:prstGeom prst="roundRect">
            <a:avLst>
              <a:gd name="adj" fmla="val 4068"/>
            </a:avLst>
          </a:prstGeom>
          <a:solidFill>
            <a:srgbClr val="091B2D">
              <a:alpha val="66000"/>
            </a:srgbClr>
          </a:solidFill>
          <a:ln w="12700">
            <a:solidFill>
              <a:srgbClr val="FFFFFF">
                <a:alpha val="12000"/>
              </a:srgbClr>
            </a:solidFill>
            <a:prstDash val="solid"/>
          </a:ln>
        </p:spPr>
      </p:sp>
      <p:sp>
        <p:nvSpPr>
          <p:cNvPr id="18" name="Shape 14"/>
          <p:cNvSpPr/>
          <p:nvPr/>
        </p:nvSpPr>
        <p:spPr>
          <a:xfrm>
            <a:off x="6379312" y="2220214"/>
            <a:ext cx="50292" cy="2697480"/>
          </a:xfrm>
          <a:prstGeom prst="roundRect">
            <a:avLst>
              <a:gd name="adj" fmla="val 54545"/>
            </a:avLst>
          </a:prstGeom>
          <a:solidFill>
            <a:srgbClr val="22C55E">
              <a:alpha val="95000"/>
            </a:srgbClr>
          </a:solidFill>
          <a:ln/>
        </p:spPr>
      </p:sp>
      <p:sp>
        <p:nvSpPr>
          <p:cNvPr id="19" name="Text 15"/>
          <p:cNvSpPr/>
          <p:nvPr/>
        </p:nvSpPr>
        <p:spPr>
          <a:xfrm>
            <a:off x="6708496" y="2494534"/>
            <a:ext cx="4532224"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22C55E"/>
                </a:solidFill>
                <a:latin typeface="Be Vietnam Pro" pitchFamily="34" charset="0"/>
                <a:ea typeface="Be Vietnam Pro" pitchFamily="34" charset="-122"/>
                <a:cs typeface="Be Vietnam Pro" pitchFamily="34" charset="-120"/>
              </a:rPr>
              <a:t>KHO THÔN LONG CHÂU</a:t>
            </a:r>
            <a:endParaRPr lang="en-US" sz="1050" dirty="0"/>
          </a:p>
        </p:txBody>
      </p:sp>
      <p:sp>
        <p:nvSpPr>
          <p:cNvPr id="20" name="Text 16"/>
          <p:cNvSpPr/>
          <p:nvPr/>
        </p:nvSpPr>
        <p:spPr>
          <a:xfrm>
            <a:off x="6708496" y="2988310"/>
            <a:ext cx="4532224" cy="484632"/>
          </a:xfrm>
          <a:prstGeom prst="rect">
            <a:avLst/>
          </a:prstGeom>
          <a:noFill/>
          <a:ln/>
        </p:spPr>
        <p:txBody>
          <a:bodyPr wrap="square" lIns="0" tIns="0" rIns="0" bIns="0" rtlCol="0" anchor="t"/>
          <a:lstStyle/>
          <a:p>
            <a:pPr marL="0" indent="0" algn="l">
              <a:lnSpc>
                <a:spcPts val="3240"/>
              </a:lnSpc>
              <a:buNone/>
            </a:pPr>
            <a:r>
              <a:rPr lang="en-US" sz="2700" b="1" dirty="0">
                <a:solidFill>
                  <a:srgbClr val="FFFFFF"/>
                </a:solidFill>
                <a:latin typeface="Be Vietnam Pro" pitchFamily="34" charset="0"/>
                <a:ea typeface="Be Vietnam Pro" pitchFamily="34" charset="-122"/>
                <a:cs typeface="Be Vietnam Pro" pitchFamily="34" charset="-120"/>
              </a:rPr>
              <a:t>Hơn 1.600 bộ</a:t>
            </a:r>
            <a:endParaRPr lang="en-US" sz="2700" dirty="0"/>
          </a:p>
        </p:txBody>
      </p:sp>
      <p:sp>
        <p:nvSpPr>
          <p:cNvPr id="21" name="Text 17"/>
          <p:cNvSpPr/>
          <p:nvPr/>
        </p:nvSpPr>
        <p:spPr>
          <a:xfrm>
            <a:off x="6708496" y="4122166"/>
            <a:ext cx="4532224" cy="517652"/>
          </a:xfrm>
          <a:prstGeom prst="rect">
            <a:avLst/>
          </a:prstGeom>
          <a:noFill/>
          <a:ln/>
        </p:spPr>
        <p:txBody>
          <a:bodyPr wrap="square" lIns="0" tIns="0" rIns="0" bIns="0" rtlCol="0" anchor="t"/>
          <a:lstStyle/>
          <a:p>
            <a:pPr marL="0" indent="0" algn="l">
              <a:lnSpc>
                <a:spcPts val="1750"/>
              </a:lnSpc>
              <a:buNone/>
            </a:pPr>
            <a:r>
              <a:rPr lang="en-US" sz="1250" dirty="0">
                <a:solidFill>
                  <a:srgbClr val="9BB0C6"/>
                </a:solidFill>
                <a:latin typeface="Be Vietnam Pro" pitchFamily="34" charset="0"/>
                <a:ea typeface="Be Vietnam Pro" pitchFamily="34" charset="-122"/>
                <a:cs typeface="Be Vietnam Pro" pitchFamily="34" charset="-120"/>
              </a:rPr>
              <a:t>Thứ đang cần vẫn còn nguyên, chỉ cách hiện trường vài</a:t>
            </a:r>
            <a:endParaRPr lang="en-US" sz="1250" dirty="0"/>
          </a:p>
          <a:p>
            <a:pPr marL="0" indent="0" algn="l">
              <a:lnSpc>
                <a:spcPts val="1750"/>
              </a:lnSpc>
              <a:buNone/>
            </a:pPr>
            <a:r>
              <a:rPr lang="en-US" sz="1250" dirty="0">
                <a:solidFill>
                  <a:srgbClr val="9BB0C6"/>
                </a:solidFill>
                <a:latin typeface="Be Vietnam Pro" pitchFamily="34" charset="0"/>
                <a:ea typeface="Be Vietnam Pro" pitchFamily="34" charset="-122"/>
                <a:cs typeface="Be Vietnam Pro" pitchFamily="34" charset="-120"/>
              </a:rPr>
              <a:t>ki-lô-mét.</a:t>
            </a:r>
            <a:endParaRPr lang="en-US" sz="1250" dirty="0"/>
          </a:p>
        </p:txBody>
      </p:sp>
      <p:sp>
        <p:nvSpPr>
          <p:cNvPr id="22" name="Shape 18"/>
          <p:cNvSpPr/>
          <p:nvPr/>
        </p:nvSpPr>
        <p:spPr>
          <a:xfrm rot="5400000">
            <a:off x="5967832" y="3440938"/>
            <a:ext cx="256032" cy="256032"/>
          </a:xfrm>
          <a:prstGeom prst="triangle">
            <a:avLst/>
          </a:prstGeom>
          <a:solidFill>
            <a:srgbClr val="6EE7A8">
              <a:alpha val="90000"/>
            </a:srgbClr>
          </a:solidFill>
          <a:ln/>
        </p:spPr>
      </p:sp>
      <p:sp>
        <p:nvSpPr>
          <p:cNvPr id="23" name="Shape 19"/>
          <p:cNvSpPr/>
          <p:nvPr/>
        </p:nvSpPr>
        <p:spPr>
          <a:xfrm>
            <a:off x="713232" y="5210302"/>
            <a:ext cx="10765231" cy="822960"/>
          </a:xfrm>
          <a:prstGeom prst="roundRect">
            <a:avLst>
              <a:gd name="adj" fmla="val 11111"/>
            </a:avLst>
          </a:prstGeom>
          <a:solidFill>
            <a:srgbClr val="22C55E">
              <a:alpha val="12000"/>
            </a:srgbClr>
          </a:solidFill>
          <a:ln w="12700">
            <a:solidFill>
              <a:srgbClr val="22C55E">
                <a:alpha val="40000"/>
              </a:srgbClr>
            </a:solidFill>
            <a:prstDash val="solid"/>
          </a:ln>
        </p:spPr>
      </p:sp>
      <p:sp>
        <p:nvSpPr>
          <p:cNvPr id="24" name="Shape 20"/>
          <p:cNvSpPr/>
          <p:nvPr/>
        </p:nvSpPr>
        <p:spPr>
          <a:xfrm>
            <a:off x="713232" y="5210302"/>
            <a:ext cx="50292" cy="822960"/>
          </a:xfrm>
          <a:prstGeom prst="roundRect">
            <a:avLst>
              <a:gd name="adj" fmla="val 54545"/>
            </a:avLst>
          </a:prstGeom>
          <a:solidFill>
            <a:srgbClr val="22C55E">
              <a:alpha val="95000"/>
            </a:srgbClr>
          </a:solidFill>
          <a:ln/>
        </p:spPr>
      </p:sp>
      <p:sp>
        <p:nvSpPr>
          <p:cNvPr id="25" name="Text 21"/>
          <p:cNvSpPr/>
          <p:nvPr/>
        </p:nvSpPr>
        <p:spPr>
          <a:xfrm>
            <a:off x="1078992" y="5356606"/>
            <a:ext cx="10125151" cy="322072"/>
          </a:xfrm>
          <a:prstGeom prst="rect">
            <a:avLst/>
          </a:prstGeom>
          <a:noFill/>
          <a:ln/>
        </p:spPr>
        <p:txBody>
          <a:bodyPr wrap="square" lIns="0" tIns="0" rIns="0" bIns="0" rtlCol="0" anchor="t"/>
          <a:lstStyle/>
          <a:p>
            <a:pPr marL="0" indent="0" algn="l">
              <a:lnSpc>
                <a:spcPts val="1960"/>
              </a:lnSpc>
              <a:buNone/>
            </a:pPr>
            <a:r>
              <a:rPr lang="en-US" sz="1400" b="1" dirty="0">
                <a:solidFill>
                  <a:srgbClr val="FFFFFF"/>
                </a:solidFill>
                <a:latin typeface="Be Vietnam Pro" pitchFamily="34" charset="0"/>
                <a:ea typeface="Be Vietnam Pro" pitchFamily="34" charset="-122"/>
                <a:cs typeface="Be Vietnam Pro" pitchFamily="34" charset="-120"/>
              </a:rPr>
              <a:t>Màn hình tồn kho toàn xã gộp cả 18 kho vào một bảng: xe chạy 4 ki-lô-mét, thay vì gọi điện xin chi viện xã bên.</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66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88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88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21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CẢM BIẾN IoT TẠI KHO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Cảnh báo trước khi mất hàng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24545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868680"/>
          </a:xfrm>
          <a:prstGeom prst="roundRect">
            <a:avLst>
              <a:gd name="adj" fmla="val 54545"/>
            </a:avLst>
          </a:prstGeom>
          <a:solidFill>
            <a:srgbClr val="38BDF8">
              <a:alpha val="95000"/>
            </a:srgbClr>
          </a:solidFill>
          <a:ln/>
        </p:spPr>
      </p:sp>
      <p:sp>
        <p:nvSpPr>
          <p:cNvPr id="14" name="Text 10"/>
          <p:cNvSpPr/>
          <p:nvPr/>
        </p:nvSpPr>
        <p:spPr>
          <a:xfrm>
            <a:off x="1005840" y="2329942"/>
            <a:ext cx="4751680"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9 loại thiết bị</a:t>
            </a:r>
            <a:endParaRPr lang="en-US" sz="1500" dirty="0"/>
          </a:p>
        </p:txBody>
      </p:sp>
      <p:sp>
        <p:nvSpPr>
          <p:cNvPr id="15" name="Text 11"/>
          <p:cNvSpPr/>
          <p:nvPr/>
        </p:nvSpPr>
        <p:spPr>
          <a:xfrm>
            <a:off x="1005840" y="2677414"/>
            <a:ext cx="4751680" cy="467487"/>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Cân kệ, nhiệt độ, độ ẩm, khói, cảm biến cửa, cổng RFID, camera,</a:t>
            </a:r>
            <a:endParaRPr lang="en-US" sz="1150" dirty="0"/>
          </a:p>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nguồn điện…</a:t>
            </a:r>
            <a:endParaRPr lang="en-US" sz="1150" dirty="0"/>
          </a:p>
        </p:txBody>
      </p:sp>
      <p:sp>
        <p:nvSpPr>
          <p:cNvPr id="16" name="Shape 12"/>
          <p:cNvSpPr/>
          <p:nvPr/>
        </p:nvSpPr>
        <p:spPr>
          <a:xfrm>
            <a:off x="6233008" y="2220214"/>
            <a:ext cx="524545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17" name="Shape 13"/>
          <p:cNvSpPr/>
          <p:nvPr/>
        </p:nvSpPr>
        <p:spPr>
          <a:xfrm>
            <a:off x="6233008" y="2220214"/>
            <a:ext cx="50292" cy="868680"/>
          </a:xfrm>
          <a:prstGeom prst="roundRect">
            <a:avLst>
              <a:gd name="adj" fmla="val 54545"/>
            </a:avLst>
          </a:prstGeom>
          <a:solidFill>
            <a:srgbClr val="22C55E">
              <a:alpha val="95000"/>
            </a:srgbClr>
          </a:solidFill>
          <a:ln/>
        </p:spPr>
      </p:sp>
      <p:sp>
        <p:nvSpPr>
          <p:cNvPr id="18" name="Text 14"/>
          <p:cNvSpPr/>
          <p:nvPr/>
        </p:nvSpPr>
        <p:spPr>
          <a:xfrm>
            <a:off x="6525616" y="2329942"/>
            <a:ext cx="4751680"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9 loại sự cố được quét tự động</a:t>
            </a:r>
            <a:endParaRPr lang="en-US" sz="1500" dirty="0"/>
          </a:p>
        </p:txBody>
      </p:sp>
      <p:sp>
        <p:nvSpPr>
          <p:cNvPr id="19" name="Text 15"/>
          <p:cNvSpPr/>
          <p:nvPr/>
        </p:nvSpPr>
        <p:spPr>
          <a:xfrm>
            <a:off x="6525616" y="2677414"/>
            <a:ext cx="4751680" cy="467487"/>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Hệ thống mở hồ sơ sự cố kèm bằng chứng và báo theo thời gian</a:t>
            </a:r>
            <a:endParaRPr lang="en-US" sz="1150" dirty="0"/>
          </a:p>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thực.</a:t>
            </a:r>
            <a:endParaRPr lang="en-US" sz="1150" dirty="0"/>
          </a:p>
        </p:txBody>
      </p:sp>
      <p:sp>
        <p:nvSpPr>
          <p:cNvPr id="20" name="Shape 16"/>
          <p:cNvSpPr/>
          <p:nvPr/>
        </p:nvSpPr>
        <p:spPr>
          <a:xfrm>
            <a:off x="713232" y="3299206"/>
            <a:ext cx="5245456"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1" name="Shape 17"/>
          <p:cNvSpPr/>
          <p:nvPr/>
        </p:nvSpPr>
        <p:spPr>
          <a:xfrm>
            <a:off x="713232" y="3299206"/>
            <a:ext cx="50292" cy="1691640"/>
          </a:xfrm>
          <a:prstGeom prst="roundRect">
            <a:avLst>
              <a:gd name="adj" fmla="val 54545"/>
            </a:avLst>
          </a:prstGeom>
          <a:solidFill>
            <a:srgbClr val="FB923C">
              <a:alpha val="95000"/>
            </a:srgbClr>
          </a:solidFill>
          <a:ln/>
        </p:spPr>
      </p:sp>
      <p:sp>
        <p:nvSpPr>
          <p:cNvPr id="22" name="Text 18"/>
          <p:cNvSpPr/>
          <p:nvPr/>
        </p:nvSpPr>
        <p:spPr>
          <a:xfrm>
            <a:off x="1005840" y="3482086"/>
            <a:ext cx="4751680"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Nguy cơ cháy đòi hai dấu hiệu cùng lúc</a:t>
            </a:r>
            <a:endParaRPr lang="en-US" sz="1500" dirty="0"/>
          </a:p>
        </p:txBody>
      </p:sp>
      <p:sp>
        <p:nvSpPr>
          <p:cNvPr id="23" name="Text 19"/>
          <p:cNvSpPr/>
          <p:nvPr/>
        </p:nvSpPr>
        <p:spPr>
          <a:xfrm>
            <a:off x="1005840" y="3884422"/>
            <a:ext cx="4751680" cy="902716"/>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Khói vượt 30 ppm VÀ nhiệt độ tăng từ 15 độ trở lên trong cùng</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một cửa sổ quét.</a:t>
            </a:r>
            <a:endParaRPr lang="en-US" sz="1150" dirty="0"/>
          </a:p>
          <a:p>
            <a:pPr marL="0" indent="0" algn="l">
              <a:lnSpc>
                <a:spcPts val="1633"/>
              </a:lnSpc>
              <a:buNone/>
            </a:pP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Một hệ thống báo động giả vài lần sẽ bị người ta tắt đi.</a:t>
            </a:r>
            <a:endParaRPr lang="en-US" sz="1150" dirty="0"/>
          </a:p>
        </p:txBody>
      </p:sp>
      <p:sp>
        <p:nvSpPr>
          <p:cNvPr id="24" name="Shape 20"/>
          <p:cNvSpPr/>
          <p:nvPr/>
        </p:nvSpPr>
        <p:spPr>
          <a:xfrm>
            <a:off x="6233008" y="3299206"/>
            <a:ext cx="5245456"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5" name="Shape 21"/>
          <p:cNvSpPr/>
          <p:nvPr/>
        </p:nvSpPr>
        <p:spPr>
          <a:xfrm>
            <a:off x="6233008" y="3299206"/>
            <a:ext cx="50292" cy="1691640"/>
          </a:xfrm>
          <a:prstGeom prst="roundRect">
            <a:avLst>
              <a:gd name="adj" fmla="val 54545"/>
            </a:avLst>
          </a:prstGeom>
          <a:solidFill>
            <a:srgbClr val="FBBF24">
              <a:alpha val="95000"/>
            </a:srgbClr>
          </a:solidFill>
          <a:ln/>
        </p:spPr>
      </p:sp>
      <p:sp>
        <p:nvSpPr>
          <p:cNvPr id="26" name="Text 22"/>
          <p:cNvSpPr/>
          <p:nvPr/>
        </p:nvSpPr>
        <p:spPr>
          <a:xfrm>
            <a:off x="6525616" y="3482086"/>
            <a:ext cx="4751680"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Sự im lặng cũng là một sự cố</a:t>
            </a:r>
            <a:endParaRPr lang="en-US" sz="1500" dirty="0"/>
          </a:p>
        </p:txBody>
      </p:sp>
      <p:sp>
        <p:nvSpPr>
          <p:cNvPr id="27" name="Text 23"/>
          <p:cNvSpPr/>
          <p:nvPr/>
        </p:nvSpPr>
        <p:spPr>
          <a:xfrm>
            <a:off x="6525616" y="3884422"/>
            <a:ext cx="4751680" cy="902716"/>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Bỏ lỡ 3 chu kỳ báo thì cảnh báo; bỏ lỡ 10 chu kỳ thì coi như thiết bị</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đã chết.</a:t>
            </a:r>
            <a:endParaRPr lang="en-US" sz="1150" dirty="0"/>
          </a:p>
          <a:p>
            <a:pPr marL="0" indent="0" algn="l">
              <a:lnSpc>
                <a:spcPts val="1633"/>
              </a:lnSpc>
              <a:buNone/>
            </a:pP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Im lặng rất dễ bị hiểu nhầm là “mọi thứ bình thường”.</a:t>
            </a:r>
            <a:endParaRPr lang="en-US" sz="1150" dirty="0"/>
          </a:p>
        </p:txBody>
      </p:sp>
      <p:sp>
        <p:nvSpPr>
          <p:cNvPr id="28" name="Shape 24"/>
          <p:cNvSpPr/>
          <p:nvPr/>
        </p:nvSpPr>
        <p:spPr>
          <a:xfrm>
            <a:off x="713232" y="5228590"/>
            <a:ext cx="5245456" cy="914400"/>
          </a:xfrm>
          <a:prstGeom prst="roundRect">
            <a:avLst>
              <a:gd name="adj" fmla="val 12000"/>
            </a:avLst>
          </a:prstGeom>
          <a:solidFill>
            <a:srgbClr val="091B2D">
              <a:alpha val="66000"/>
            </a:srgbClr>
          </a:solidFill>
          <a:ln w="12700">
            <a:solidFill>
              <a:srgbClr val="FFFFFF">
                <a:alpha val="12000"/>
              </a:srgbClr>
            </a:solidFill>
            <a:prstDash val="solid"/>
          </a:ln>
        </p:spPr>
      </p:sp>
      <p:sp>
        <p:nvSpPr>
          <p:cNvPr id="29" name="Shape 25"/>
          <p:cNvSpPr/>
          <p:nvPr/>
        </p:nvSpPr>
        <p:spPr>
          <a:xfrm>
            <a:off x="713232" y="5228590"/>
            <a:ext cx="50292" cy="914400"/>
          </a:xfrm>
          <a:prstGeom prst="roundRect">
            <a:avLst>
              <a:gd name="adj" fmla="val 54545"/>
            </a:avLst>
          </a:prstGeom>
          <a:solidFill>
            <a:srgbClr val="22C55E">
              <a:alpha val="95000"/>
            </a:srgbClr>
          </a:solidFill>
          <a:ln/>
        </p:spPr>
      </p:sp>
      <p:sp>
        <p:nvSpPr>
          <p:cNvPr id="30" name="Text 26"/>
          <p:cNvSpPr/>
          <p:nvPr/>
        </p:nvSpPr>
        <p:spPr>
          <a:xfrm>
            <a:off x="1005840" y="5356606"/>
            <a:ext cx="475168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Thư cảnh báo ghi 3 mốc thời gian</a:t>
            </a:r>
            <a:endParaRPr lang="en-US" sz="1300" dirty="0"/>
          </a:p>
        </p:txBody>
      </p:sp>
      <p:sp>
        <p:nvSpPr>
          <p:cNvPr id="31" name="Text 27"/>
          <p:cNvSpPr/>
          <p:nvPr/>
        </p:nvSpPr>
        <p:spPr>
          <a:xfrm>
            <a:off x="1005840" y="5667502"/>
            <a:ext cx="4751680"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Lúc phát hiện · lúc hệ thống nhận · lúc gửi đi — mất mạng thì nằm</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hàng chờ và gửi lại sau.</a:t>
            </a:r>
            <a:endParaRPr lang="en-US" sz="1150" dirty="0"/>
          </a:p>
        </p:txBody>
      </p:sp>
      <p:sp>
        <p:nvSpPr>
          <p:cNvPr id="32" name="Shape 28"/>
          <p:cNvSpPr/>
          <p:nvPr/>
        </p:nvSpPr>
        <p:spPr>
          <a:xfrm>
            <a:off x="6233008" y="5228590"/>
            <a:ext cx="5245456" cy="914400"/>
          </a:xfrm>
          <a:prstGeom prst="roundRect">
            <a:avLst>
              <a:gd name="adj" fmla="val 12000"/>
            </a:avLst>
          </a:prstGeom>
          <a:solidFill>
            <a:srgbClr val="091B2D">
              <a:alpha val="66000"/>
            </a:srgbClr>
          </a:solidFill>
          <a:ln w="12700">
            <a:solidFill>
              <a:srgbClr val="FFFFFF">
                <a:alpha val="12000"/>
              </a:srgbClr>
            </a:solidFill>
            <a:prstDash val="solid"/>
          </a:ln>
        </p:spPr>
      </p:sp>
      <p:sp>
        <p:nvSpPr>
          <p:cNvPr id="33" name="Shape 29"/>
          <p:cNvSpPr/>
          <p:nvPr/>
        </p:nvSpPr>
        <p:spPr>
          <a:xfrm>
            <a:off x="6233008" y="5228590"/>
            <a:ext cx="50292" cy="914400"/>
          </a:xfrm>
          <a:prstGeom prst="roundRect">
            <a:avLst>
              <a:gd name="adj" fmla="val 54545"/>
            </a:avLst>
          </a:prstGeom>
          <a:solidFill>
            <a:srgbClr val="38BDF8">
              <a:alpha val="95000"/>
            </a:srgbClr>
          </a:solidFill>
          <a:ln/>
        </p:spPr>
      </p:sp>
      <p:sp>
        <p:nvSpPr>
          <p:cNvPr id="34" name="Text 30"/>
          <p:cNvSpPr/>
          <p:nvPr/>
        </p:nvSpPr>
        <p:spPr>
          <a:xfrm>
            <a:off x="6525616" y="5356606"/>
            <a:ext cx="475168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2 giờ sáng, độ ẩm lên 88% vì mái dột</a:t>
            </a:r>
            <a:endParaRPr lang="en-US" sz="1300" dirty="0"/>
          </a:p>
        </p:txBody>
      </p:sp>
      <p:sp>
        <p:nvSpPr>
          <p:cNvPr id="35" name="Text 31"/>
          <p:cNvSpPr/>
          <p:nvPr/>
        </p:nvSpPr>
        <p:spPr>
          <a:xfrm>
            <a:off x="6525616" y="5667502"/>
            <a:ext cx="4751680"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Hệ thống mở sự cố bảo quản xấu và gửi thư ngay. Sáng ra, thuốc</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và lương khô vẫn dùng được.</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32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54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54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54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54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22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NÓI THẲNG VỀ PHẦN CỨNG</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Hôm nay: bản sao số. Ngày mai: cảm biến thật.</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3405530" cy="2834640"/>
          </a:xfrm>
          <a:prstGeom prst="roundRect">
            <a:avLst>
              <a:gd name="adj" fmla="val 3871"/>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834640"/>
          </a:xfrm>
          <a:prstGeom prst="roundRect">
            <a:avLst>
              <a:gd name="adj" fmla="val 54545"/>
            </a:avLst>
          </a:prstGeom>
          <a:solidFill>
            <a:srgbClr val="38BDF8">
              <a:alpha val="95000"/>
            </a:srgbClr>
          </a:solidFill>
          <a:ln/>
        </p:spPr>
      </p:sp>
      <p:sp>
        <p:nvSpPr>
          <p:cNvPr id="14" name="Text 10"/>
          <p:cNvSpPr/>
          <p:nvPr/>
        </p:nvSpPr>
        <p:spPr>
          <a:xfrm>
            <a:off x="1024128" y="2494534"/>
            <a:ext cx="2875178" cy="327152"/>
          </a:xfrm>
          <a:prstGeom prst="rect">
            <a:avLst/>
          </a:prstGeom>
          <a:noFill/>
          <a:ln/>
        </p:spPr>
        <p:txBody>
          <a:bodyPr wrap="square" lIns="0" tIns="0" rIns="0" bIns="0" rtlCol="0" anchor="t"/>
          <a:lstStyle/>
          <a:p>
            <a:pPr marL="0" indent="0" algn="l">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Vì sao làm như vậy</a:t>
            </a:r>
            <a:endParaRPr lang="en-US" sz="1600" dirty="0"/>
          </a:p>
        </p:txBody>
      </p:sp>
      <p:sp>
        <p:nvSpPr>
          <p:cNvPr id="15" name="Text 11"/>
          <p:cNvSpPr/>
          <p:nvPr/>
        </p:nvSpPr>
        <p:spPr>
          <a:xfrm>
            <a:off x="1024128" y="3116326"/>
            <a:ext cx="2875178" cy="1025652"/>
          </a:xfrm>
          <a:prstGeom prst="rect">
            <a:avLst/>
          </a:prstGeom>
          <a:noFill/>
          <a:ln/>
        </p:spPr>
        <p:txBody>
          <a:bodyPr wrap="square" lIns="0" tIns="0" rIns="0" bIns="0" rtlCol="0" anchor="t"/>
          <a:lstStyle/>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Một ứng dụng mô phỏng đủ 9 loại</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thiết bị, để kiểm thử trọn chuỗi tín</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hiệu → sự cố → cảnh báo → chỉ số sẵn</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sàng trước khi bỏ tiền mua thiết bị.</a:t>
            </a:r>
            <a:endParaRPr lang="en-US" sz="1250" dirty="0"/>
          </a:p>
        </p:txBody>
      </p:sp>
      <p:sp>
        <p:nvSpPr>
          <p:cNvPr id="16" name="Shape 12"/>
          <p:cNvSpPr/>
          <p:nvPr/>
        </p:nvSpPr>
        <p:spPr>
          <a:xfrm>
            <a:off x="4393082" y="2220214"/>
            <a:ext cx="3405530" cy="2834640"/>
          </a:xfrm>
          <a:prstGeom prst="roundRect">
            <a:avLst>
              <a:gd name="adj" fmla="val 3871"/>
            </a:avLst>
          </a:prstGeom>
          <a:solidFill>
            <a:srgbClr val="091B2D">
              <a:alpha val="66000"/>
            </a:srgbClr>
          </a:solidFill>
          <a:ln w="12700">
            <a:solidFill>
              <a:srgbClr val="FFFFFF">
                <a:alpha val="12000"/>
              </a:srgbClr>
            </a:solidFill>
            <a:prstDash val="solid"/>
          </a:ln>
        </p:spPr>
      </p:sp>
      <p:sp>
        <p:nvSpPr>
          <p:cNvPr id="17" name="Shape 13"/>
          <p:cNvSpPr/>
          <p:nvPr/>
        </p:nvSpPr>
        <p:spPr>
          <a:xfrm>
            <a:off x="4393082" y="2220214"/>
            <a:ext cx="50292" cy="2834640"/>
          </a:xfrm>
          <a:prstGeom prst="roundRect">
            <a:avLst>
              <a:gd name="adj" fmla="val 54545"/>
            </a:avLst>
          </a:prstGeom>
          <a:solidFill>
            <a:srgbClr val="22C55E">
              <a:alpha val="95000"/>
            </a:srgbClr>
          </a:solidFill>
          <a:ln/>
        </p:spPr>
      </p:sp>
      <p:sp>
        <p:nvSpPr>
          <p:cNvPr id="18" name="Text 14"/>
          <p:cNvSpPr/>
          <p:nvPr/>
        </p:nvSpPr>
        <p:spPr>
          <a:xfrm>
            <a:off x="4703978" y="2494534"/>
            <a:ext cx="2875178" cy="581152"/>
          </a:xfrm>
          <a:prstGeom prst="rect">
            <a:avLst/>
          </a:prstGeom>
          <a:noFill/>
          <a:ln/>
        </p:spPr>
        <p:txBody>
          <a:bodyPr wrap="square" lIns="0" tIns="0" rIns="0" bIns="0" rtlCol="0" anchor="t"/>
          <a:lstStyle/>
          <a:p>
            <a:pPr marL="0" indent="0" algn="l">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Chung một đường ống dữ</a:t>
            </a:r>
            <a:endParaRPr lang="en-US" sz="1600" dirty="0"/>
          </a:p>
          <a:p>
            <a:pPr marL="0" indent="0" algn="l">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liệu</a:t>
            </a:r>
            <a:endParaRPr lang="en-US" sz="1600" dirty="0"/>
          </a:p>
        </p:txBody>
      </p:sp>
      <p:sp>
        <p:nvSpPr>
          <p:cNvPr id="19" name="Text 15"/>
          <p:cNvSpPr/>
          <p:nvPr/>
        </p:nvSpPr>
        <p:spPr>
          <a:xfrm>
            <a:off x="4703978" y="3116326"/>
            <a:ext cx="2875178" cy="1025652"/>
          </a:xfrm>
          <a:prstGeom prst="rect">
            <a:avLst/>
          </a:prstGeom>
          <a:noFill/>
          <a:ln/>
        </p:spPr>
        <p:txBody>
          <a:bodyPr wrap="square" lIns="0" tIns="0" rIns="0" bIns="0" rtlCol="0" anchor="t"/>
          <a:lstStyle/>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Cảm biến thật và thiết bị mô phỏng</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đi chung một lối vào. Mỗi cổng thu</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phát có khóa riêng và chỉ gửi được</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cho đúng kho của mình.</a:t>
            </a:r>
            <a:endParaRPr lang="en-US" sz="1250" dirty="0"/>
          </a:p>
        </p:txBody>
      </p:sp>
      <p:sp>
        <p:nvSpPr>
          <p:cNvPr id="20" name="Shape 16"/>
          <p:cNvSpPr/>
          <p:nvPr/>
        </p:nvSpPr>
        <p:spPr>
          <a:xfrm>
            <a:off x="8072933" y="2220214"/>
            <a:ext cx="3405530" cy="2834640"/>
          </a:xfrm>
          <a:prstGeom prst="roundRect">
            <a:avLst>
              <a:gd name="adj" fmla="val 3871"/>
            </a:avLst>
          </a:prstGeom>
          <a:solidFill>
            <a:srgbClr val="091B2D">
              <a:alpha val="66000"/>
            </a:srgbClr>
          </a:solidFill>
          <a:ln w="12700">
            <a:solidFill>
              <a:srgbClr val="FFFFFF">
                <a:alpha val="12000"/>
              </a:srgbClr>
            </a:solidFill>
            <a:prstDash val="solid"/>
          </a:ln>
        </p:spPr>
      </p:sp>
      <p:sp>
        <p:nvSpPr>
          <p:cNvPr id="21" name="Shape 17"/>
          <p:cNvSpPr/>
          <p:nvPr/>
        </p:nvSpPr>
        <p:spPr>
          <a:xfrm>
            <a:off x="8072933" y="2220214"/>
            <a:ext cx="50292" cy="2834640"/>
          </a:xfrm>
          <a:prstGeom prst="roundRect">
            <a:avLst>
              <a:gd name="adj" fmla="val 54545"/>
            </a:avLst>
          </a:prstGeom>
          <a:solidFill>
            <a:srgbClr val="FBBF24">
              <a:alpha val="95000"/>
            </a:srgbClr>
          </a:solidFill>
          <a:ln/>
        </p:spPr>
      </p:sp>
      <p:sp>
        <p:nvSpPr>
          <p:cNvPr id="22" name="Text 18"/>
          <p:cNvSpPr/>
          <p:nvPr/>
        </p:nvSpPr>
        <p:spPr>
          <a:xfrm>
            <a:off x="8383829" y="2494534"/>
            <a:ext cx="2875178" cy="327152"/>
          </a:xfrm>
          <a:prstGeom prst="rect">
            <a:avLst/>
          </a:prstGeom>
          <a:noFill/>
          <a:ln/>
        </p:spPr>
        <p:txBody>
          <a:bodyPr wrap="square" lIns="0" tIns="0" rIns="0" bIns="0" rtlCol="0" anchor="t"/>
          <a:lstStyle/>
          <a:p>
            <a:pPr marL="0" indent="0" algn="l">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Khi gắn thiết bị thật</a:t>
            </a:r>
            <a:endParaRPr lang="en-US" sz="1600" dirty="0"/>
          </a:p>
        </p:txBody>
      </p:sp>
      <p:sp>
        <p:nvSpPr>
          <p:cNvPr id="23" name="Text 19"/>
          <p:cNvSpPr/>
          <p:nvPr/>
        </p:nvSpPr>
        <p:spPr>
          <a:xfrm>
            <a:off x="8383829" y="3116326"/>
            <a:ext cx="2875178" cy="1025652"/>
          </a:xfrm>
          <a:prstGeom prst="rect">
            <a:avLst/>
          </a:prstGeom>
          <a:noFill/>
          <a:ln/>
        </p:spPr>
        <p:txBody>
          <a:bodyPr wrap="square" lIns="0" tIns="0" rIns="0" bIns="0" rtlCol="0" anchor="t"/>
          <a:lstStyle/>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Phần nghiệp vụ phía sau không phải</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sửa — chỉ thay nguồn phát tín hiệu,</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toàn bộ luồng sự cố và cảnh báo giữ</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nguyên.</a:t>
            </a:r>
            <a:endParaRPr lang="en-US" sz="1250" dirty="0"/>
          </a:p>
        </p:txBody>
      </p:sp>
      <p:sp>
        <p:nvSpPr>
          <p:cNvPr id="24" name="Shape 20"/>
          <p:cNvSpPr/>
          <p:nvPr/>
        </p:nvSpPr>
        <p:spPr>
          <a:xfrm>
            <a:off x="713232" y="5329174"/>
            <a:ext cx="10765231" cy="749808"/>
          </a:xfrm>
          <a:prstGeom prst="roundRect">
            <a:avLst>
              <a:gd name="adj" fmla="val 12195"/>
            </a:avLst>
          </a:prstGeom>
          <a:solidFill>
            <a:srgbClr val="FFFFFF">
              <a:alpha val="8000"/>
            </a:srgbClr>
          </a:solidFill>
          <a:ln w="12700">
            <a:solidFill>
              <a:srgbClr val="FFFFFF">
                <a:alpha val="18000"/>
              </a:srgbClr>
            </a:solidFill>
            <a:prstDash val="solid"/>
          </a:ln>
        </p:spPr>
      </p:sp>
      <p:sp>
        <p:nvSpPr>
          <p:cNvPr id="25" name="Shape 21"/>
          <p:cNvSpPr/>
          <p:nvPr/>
        </p:nvSpPr>
        <p:spPr>
          <a:xfrm>
            <a:off x="713232" y="5329174"/>
            <a:ext cx="50292" cy="749808"/>
          </a:xfrm>
          <a:prstGeom prst="roundRect">
            <a:avLst>
              <a:gd name="adj" fmla="val 54545"/>
            </a:avLst>
          </a:prstGeom>
          <a:solidFill>
            <a:srgbClr val="6EE7A8">
              <a:alpha val="95000"/>
            </a:srgbClr>
          </a:solidFill>
          <a:ln/>
        </p:spPr>
      </p:sp>
      <p:sp>
        <p:nvSpPr>
          <p:cNvPr id="26" name="Text 22"/>
          <p:cNvSpPr/>
          <p:nvPr/>
        </p:nvSpPr>
        <p:spPr>
          <a:xfrm>
            <a:off x="1078992" y="5539486"/>
            <a:ext cx="10125151"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Không tuyên bố tương thích phần cứng trước khi nghiệm thu thiết bị thật.</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23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TRỢ LÝ AI</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Hỏi bằng tiếng Việt. Nhưng không được bịa số.</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572000" cy="2926080"/>
          </a:xfrm>
          <a:prstGeom prst="roundRect">
            <a:avLst>
              <a:gd name="adj" fmla="val 3750"/>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926080"/>
          </a:xfrm>
          <a:prstGeom prst="roundRect">
            <a:avLst>
              <a:gd name="adj" fmla="val 54545"/>
            </a:avLst>
          </a:prstGeom>
          <a:solidFill>
            <a:srgbClr val="38BDF8">
              <a:alpha val="95000"/>
            </a:srgbClr>
          </a:solidFill>
          <a:ln/>
        </p:spPr>
      </p:sp>
      <p:sp>
        <p:nvSpPr>
          <p:cNvPr id="14" name="Text 10"/>
          <p:cNvSpPr/>
          <p:nvPr/>
        </p:nvSpPr>
        <p:spPr>
          <a:xfrm>
            <a:off x="1024128" y="2457958"/>
            <a:ext cx="4041648" cy="253175"/>
          </a:xfrm>
          <a:prstGeom prst="rect">
            <a:avLst/>
          </a:prstGeom>
          <a:noFill/>
          <a:ln/>
        </p:spPr>
        <p:txBody>
          <a:bodyPr wrap="square" lIns="0" tIns="0" rIns="0" bIns="0" rtlCol="0" anchor="t"/>
          <a:lstStyle/>
          <a:p>
            <a:pPr marL="0" indent="0" algn="l">
              <a:lnSpc>
                <a:spcPts val="1418"/>
              </a:lnSpc>
              <a:buNone/>
            </a:pPr>
            <a:r>
              <a:rPr lang="en-US" sz="1050" b="1" kern="0" spc="170" dirty="0">
                <a:solidFill>
                  <a:srgbClr val="38BDF8"/>
                </a:solidFill>
                <a:latin typeface="Be Vietnam Pro" pitchFamily="34" charset="0"/>
                <a:ea typeface="Be Vietnam Pro" pitchFamily="34" charset="-122"/>
                <a:cs typeface="Be Vietnam Pro" pitchFamily="34" charset="-120"/>
              </a:rPr>
              <a:t>HỎI BẰNG NGÔN NGỮ TỰ NHIÊN</a:t>
            </a:r>
            <a:endParaRPr lang="en-US" sz="1050" dirty="0"/>
          </a:p>
        </p:txBody>
      </p:sp>
      <p:sp>
        <p:nvSpPr>
          <p:cNvPr id="15" name="Shape 11"/>
          <p:cNvSpPr/>
          <p:nvPr/>
        </p:nvSpPr>
        <p:spPr>
          <a:xfrm>
            <a:off x="1024128" y="2860294"/>
            <a:ext cx="3950208" cy="460629"/>
          </a:xfrm>
          <a:prstGeom prst="roundRect">
            <a:avLst>
              <a:gd name="adj" fmla="val 19851"/>
            </a:avLst>
          </a:prstGeom>
          <a:solidFill>
            <a:srgbClr val="38BDF8">
              <a:alpha val="14000"/>
            </a:srgbClr>
          </a:solidFill>
          <a:ln w="12700">
            <a:solidFill>
              <a:srgbClr val="38BDF8">
                <a:alpha val="40000"/>
              </a:srgbClr>
            </a:solidFill>
            <a:prstDash val="solid"/>
          </a:ln>
        </p:spPr>
      </p:sp>
      <p:sp>
        <p:nvSpPr>
          <p:cNvPr id="16" name="Text 12"/>
          <p:cNvSpPr/>
          <p:nvPr/>
        </p:nvSpPr>
        <p:spPr>
          <a:xfrm>
            <a:off x="1170432" y="2960878"/>
            <a:ext cx="374904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“Kho nào còn nhiều áo phao nhất?”</a:t>
            </a:r>
            <a:endParaRPr lang="en-US" sz="1300" dirty="0"/>
          </a:p>
        </p:txBody>
      </p:sp>
      <p:sp>
        <p:nvSpPr>
          <p:cNvPr id="17" name="Text 13"/>
          <p:cNvSpPr/>
          <p:nvPr/>
        </p:nvSpPr>
        <p:spPr>
          <a:xfrm>
            <a:off x="1024128" y="3518662"/>
            <a:ext cx="4041648" cy="278892"/>
          </a:xfrm>
          <a:prstGeom prst="rect">
            <a:avLst/>
          </a:prstGeom>
          <a:noFill/>
          <a:ln/>
        </p:spPr>
        <p:txBody>
          <a:bodyPr wrap="square" lIns="0" tIns="0" rIns="0" bIns="0" rtlCol="0" anchor="t"/>
          <a:lstStyle/>
          <a:p>
            <a:pPr marL="0" indent="0" algn="l">
              <a:lnSpc>
                <a:spcPts val="1620"/>
              </a:lnSpc>
              <a:buNone/>
            </a:pPr>
            <a:r>
              <a:rPr lang="en-US" sz="1200" dirty="0">
                <a:solidFill>
                  <a:srgbClr val="D9E6F2"/>
                </a:solidFill>
                <a:latin typeface="Be Vietnam Pro" pitchFamily="34" charset="0"/>
                <a:ea typeface="Be Vietnam Pro" pitchFamily="34" charset="-122"/>
                <a:cs typeface="Be Vietnam Pro" pitchFamily="34" charset="-120"/>
              </a:rPr>
              <a:t>Khoảng 2 giây là có số, kèm phân bổ theo từng kho.</a:t>
            </a:r>
            <a:endParaRPr lang="en-US" sz="1200" dirty="0"/>
          </a:p>
        </p:txBody>
      </p:sp>
      <p:sp>
        <p:nvSpPr>
          <p:cNvPr id="18" name="Shape 14"/>
          <p:cNvSpPr/>
          <p:nvPr/>
        </p:nvSpPr>
        <p:spPr>
          <a:xfrm>
            <a:off x="1024128" y="3920998"/>
            <a:ext cx="3950208" cy="9144"/>
          </a:xfrm>
          <a:prstGeom prst="rect">
            <a:avLst/>
          </a:prstGeom>
          <a:solidFill>
            <a:srgbClr val="FFFFFF">
              <a:alpha val="16000"/>
            </a:srgbClr>
          </a:solidFill>
          <a:ln/>
        </p:spPr>
      </p:sp>
      <p:sp>
        <p:nvSpPr>
          <p:cNvPr id="19" name="Text 15"/>
          <p:cNvSpPr/>
          <p:nvPr/>
        </p:nvSpPr>
        <p:spPr>
          <a:xfrm>
            <a:off x="1024128" y="4049014"/>
            <a:ext cx="4041648" cy="253175"/>
          </a:xfrm>
          <a:prstGeom prst="rect">
            <a:avLst/>
          </a:prstGeom>
          <a:noFill/>
          <a:ln/>
        </p:spPr>
        <p:txBody>
          <a:bodyPr wrap="square" lIns="0" tIns="0" rIns="0" bIns="0" rtlCol="0" anchor="t"/>
          <a:lstStyle/>
          <a:p>
            <a:pPr marL="0" indent="0" algn="l">
              <a:lnSpc>
                <a:spcPts val="1418"/>
              </a:lnSpc>
              <a:buNone/>
            </a:pPr>
            <a:r>
              <a:rPr lang="en-US" sz="1050" b="1" kern="0" spc="170" dirty="0">
                <a:solidFill>
                  <a:srgbClr val="F87171"/>
                </a:solidFill>
                <a:latin typeface="Be Vietnam Pro" pitchFamily="34" charset="0"/>
                <a:ea typeface="Be Vietnam Pro" pitchFamily="34" charset="-122"/>
                <a:cs typeface="Be Vietnam Pro" pitchFamily="34" charset="-120"/>
              </a:rPr>
              <a:t>KHI CON SỐ KHÔNG KHỚP DỮ LIỆU</a:t>
            </a:r>
            <a:endParaRPr lang="en-US" sz="1050" dirty="0"/>
          </a:p>
        </p:txBody>
      </p:sp>
      <p:sp>
        <p:nvSpPr>
          <p:cNvPr id="20" name="Shape 16"/>
          <p:cNvSpPr/>
          <p:nvPr/>
        </p:nvSpPr>
        <p:spPr>
          <a:xfrm>
            <a:off x="1024128" y="4433062"/>
            <a:ext cx="3950208" cy="512064"/>
          </a:xfrm>
          <a:prstGeom prst="roundRect">
            <a:avLst>
              <a:gd name="adj" fmla="val 17857"/>
            </a:avLst>
          </a:prstGeom>
          <a:solidFill>
            <a:srgbClr val="F87171">
              <a:alpha val="16000"/>
            </a:srgbClr>
          </a:solidFill>
          <a:ln w="12700">
            <a:solidFill>
              <a:srgbClr val="F87171">
                <a:alpha val="45000"/>
              </a:srgbClr>
            </a:solidFill>
            <a:prstDash val="solid"/>
          </a:ln>
        </p:spPr>
      </p:sp>
      <p:sp>
        <p:nvSpPr>
          <p:cNvPr id="21" name="Text 17"/>
          <p:cNvSpPr/>
          <p:nvPr/>
        </p:nvSpPr>
        <p:spPr>
          <a:xfrm>
            <a:off x="1170432" y="4551934"/>
            <a:ext cx="374904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“Chưa thể tạo câu trả lời an toàn.”</a:t>
            </a:r>
            <a:endParaRPr lang="en-US" sz="1300" dirty="0"/>
          </a:p>
        </p:txBody>
      </p:sp>
      <p:sp>
        <p:nvSpPr>
          <p:cNvPr id="22" name="Shape 18"/>
          <p:cNvSpPr/>
          <p:nvPr/>
        </p:nvSpPr>
        <p:spPr>
          <a:xfrm>
            <a:off x="5632704" y="2220214"/>
            <a:ext cx="5845759" cy="859536"/>
          </a:xfrm>
          <a:prstGeom prst="roundRect">
            <a:avLst>
              <a:gd name="adj" fmla="val 12766"/>
            </a:avLst>
          </a:prstGeom>
          <a:solidFill>
            <a:srgbClr val="091B2D">
              <a:alpha val="66000"/>
            </a:srgbClr>
          </a:solidFill>
          <a:ln w="12700">
            <a:solidFill>
              <a:srgbClr val="FFFFFF">
                <a:alpha val="12000"/>
              </a:srgbClr>
            </a:solidFill>
            <a:prstDash val="solid"/>
          </a:ln>
        </p:spPr>
      </p:sp>
      <p:sp>
        <p:nvSpPr>
          <p:cNvPr id="23" name="Shape 19"/>
          <p:cNvSpPr/>
          <p:nvPr/>
        </p:nvSpPr>
        <p:spPr>
          <a:xfrm>
            <a:off x="5632704" y="2220214"/>
            <a:ext cx="50292" cy="859536"/>
          </a:xfrm>
          <a:prstGeom prst="roundRect">
            <a:avLst>
              <a:gd name="adj" fmla="val 54545"/>
            </a:avLst>
          </a:prstGeom>
          <a:solidFill>
            <a:srgbClr val="22C55E">
              <a:alpha val="95000"/>
            </a:srgbClr>
          </a:solidFill>
          <a:ln/>
        </p:spPr>
      </p:sp>
      <p:sp>
        <p:nvSpPr>
          <p:cNvPr id="24" name="Text 20"/>
          <p:cNvSpPr/>
          <p:nvPr/>
        </p:nvSpPr>
        <p:spPr>
          <a:xfrm>
            <a:off x="5907024" y="2348230"/>
            <a:ext cx="5388559"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Đối chiếu từng con số</a:t>
            </a:r>
            <a:endParaRPr lang="en-US" sz="1350" dirty="0"/>
          </a:p>
        </p:txBody>
      </p:sp>
      <p:sp>
        <p:nvSpPr>
          <p:cNvPr id="25" name="Text 21"/>
          <p:cNvSpPr/>
          <p:nvPr/>
        </p:nvSpPr>
        <p:spPr>
          <a:xfrm>
            <a:off x="5907024" y="2640838"/>
            <a:ext cx="5388559"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Câu trả lời được soi lại với dữ liệu kho tại thời điểm hỏi; lệch thì chặn,</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không hiển thị.</a:t>
            </a:r>
            <a:endParaRPr lang="en-US" sz="1150" dirty="0"/>
          </a:p>
        </p:txBody>
      </p:sp>
      <p:sp>
        <p:nvSpPr>
          <p:cNvPr id="26" name="Shape 22"/>
          <p:cNvSpPr/>
          <p:nvPr/>
        </p:nvSpPr>
        <p:spPr>
          <a:xfrm>
            <a:off x="5632704" y="3253486"/>
            <a:ext cx="5845759" cy="859536"/>
          </a:xfrm>
          <a:prstGeom prst="roundRect">
            <a:avLst>
              <a:gd name="adj" fmla="val 12766"/>
            </a:avLst>
          </a:prstGeom>
          <a:solidFill>
            <a:srgbClr val="091B2D">
              <a:alpha val="66000"/>
            </a:srgbClr>
          </a:solidFill>
          <a:ln w="12700">
            <a:solidFill>
              <a:srgbClr val="FFFFFF">
                <a:alpha val="12000"/>
              </a:srgbClr>
            </a:solidFill>
            <a:prstDash val="solid"/>
          </a:ln>
        </p:spPr>
      </p:sp>
      <p:sp>
        <p:nvSpPr>
          <p:cNvPr id="27" name="Shape 23"/>
          <p:cNvSpPr/>
          <p:nvPr/>
        </p:nvSpPr>
        <p:spPr>
          <a:xfrm>
            <a:off x="5632704" y="3253486"/>
            <a:ext cx="50292" cy="859536"/>
          </a:xfrm>
          <a:prstGeom prst="roundRect">
            <a:avLst>
              <a:gd name="adj" fmla="val 54545"/>
            </a:avLst>
          </a:prstGeom>
          <a:solidFill>
            <a:srgbClr val="FBBF24">
              <a:alpha val="95000"/>
            </a:srgbClr>
          </a:solidFill>
          <a:ln/>
        </p:spPr>
      </p:sp>
      <p:sp>
        <p:nvSpPr>
          <p:cNvPr id="28" name="Text 24"/>
          <p:cNvSpPr/>
          <p:nvPr/>
        </p:nvSpPr>
        <p:spPr>
          <a:xfrm>
            <a:off x="5907024" y="3381502"/>
            <a:ext cx="5388559"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Bắt buộc trích nguồn</a:t>
            </a:r>
            <a:endParaRPr lang="en-US" sz="1350" dirty="0"/>
          </a:p>
        </p:txBody>
      </p:sp>
      <p:sp>
        <p:nvSpPr>
          <p:cNvPr id="29" name="Text 25"/>
          <p:cNvSpPr/>
          <p:nvPr/>
        </p:nvSpPr>
        <p:spPr>
          <a:xfrm>
            <a:off x="5907024" y="3674110"/>
            <a:ext cx="5388559"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Định mức và quy trình sơ cứu dựa trên Sphere Standards, IFRC, WHO và cơ</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quan phòng chống thiên tai Việt Nam.</a:t>
            </a:r>
            <a:endParaRPr lang="en-US" sz="1150" dirty="0"/>
          </a:p>
        </p:txBody>
      </p:sp>
      <p:sp>
        <p:nvSpPr>
          <p:cNvPr id="30" name="Shape 26"/>
          <p:cNvSpPr/>
          <p:nvPr/>
        </p:nvSpPr>
        <p:spPr>
          <a:xfrm>
            <a:off x="5632704" y="4286758"/>
            <a:ext cx="5845759" cy="859536"/>
          </a:xfrm>
          <a:prstGeom prst="roundRect">
            <a:avLst>
              <a:gd name="adj" fmla="val 12766"/>
            </a:avLst>
          </a:prstGeom>
          <a:solidFill>
            <a:srgbClr val="091B2D">
              <a:alpha val="66000"/>
            </a:srgbClr>
          </a:solidFill>
          <a:ln w="12700">
            <a:solidFill>
              <a:srgbClr val="FFFFFF">
                <a:alpha val="12000"/>
              </a:srgbClr>
            </a:solidFill>
            <a:prstDash val="solid"/>
          </a:ln>
        </p:spPr>
      </p:sp>
      <p:sp>
        <p:nvSpPr>
          <p:cNvPr id="31" name="Shape 27"/>
          <p:cNvSpPr/>
          <p:nvPr/>
        </p:nvSpPr>
        <p:spPr>
          <a:xfrm>
            <a:off x="5632704" y="4286758"/>
            <a:ext cx="50292" cy="859536"/>
          </a:xfrm>
          <a:prstGeom prst="roundRect">
            <a:avLst>
              <a:gd name="adj" fmla="val 54545"/>
            </a:avLst>
          </a:prstGeom>
          <a:solidFill>
            <a:srgbClr val="38BDF8">
              <a:alpha val="95000"/>
            </a:srgbClr>
          </a:solidFill>
          <a:ln/>
        </p:spPr>
      </p:sp>
      <p:sp>
        <p:nvSpPr>
          <p:cNvPr id="32" name="Text 28"/>
          <p:cNvSpPr/>
          <p:nvPr/>
        </p:nvSpPr>
        <p:spPr>
          <a:xfrm>
            <a:off x="5907024" y="4414774"/>
            <a:ext cx="5388559"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Chạy tại chỗ</a:t>
            </a:r>
            <a:endParaRPr lang="en-US" sz="1350" dirty="0"/>
          </a:p>
        </p:txBody>
      </p:sp>
      <p:sp>
        <p:nvSpPr>
          <p:cNvPr id="33" name="Text 29"/>
          <p:cNvSpPr/>
          <p:nvPr/>
        </p:nvSpPr>
        <p:spPr>
          <a:xfrm>
            <a:off x="5907024" y="4707382"/>
            <a:ext cx="5388559"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Mô hình chạy trên máy đặt tại xã: không gửi dữ liệu ra ngoài, 0 đồng mỗi</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lượt gọi.</a:t>
            </a:r>
            <a:endParaRPr lang="en-US" sz="1150" dirty="0"/>
          </a:p>
        </p:txBody>
      </p:sp>
      <p:sp>
        <p:nvSpPr>
          <p:cNvPr id="34" name="Shape 30"/>
          <p:cNvSpPr/>
          <p:nvPr/>
        </p:nvSpPr>
        <p:spPr>
          <a:xfrm>
            <a:off x="713232" y="5402326"/>
            <a:ext cx="10765231" cy="749808"/>
          </a:xfrm>
          <a:prstGeom prst="roundRect">
            <a:avLst>
              <a:gd name="adj" fmla="val 12195"/>
            </a:avLst>
          </a:prstGeom>
          <a:solidFill>
            <a:srgbClr val="F87171">
              <a:alpha val="12000"/>
            </a:srgbClr>
          </a:solidFill>
          <a:ln w="12700">
            <a:solidFill>
              <a:srgbClr val="F87171">
                <a:alpha val="42000"/>
              </a:srgbClr>
            </a:solidFill>
            <a:prstDash val="solid"/>
          </a:ln>
        </p:spPr>
      </p:sp>
      <p:sp>
        <p:nvSpPr>
          <p:cNvPr id="35" name="Shape 31"/>
          <p:cNvSpPr/>
          <p:nvPr/>
        </p:nvSpPr>
        <p:spPr>
          <a:xfrm>
            <a:off x="713232" y="5402326"/>
            <a:ext cx="50292" cy="749808"/>
          </a:xfrm>
          <a:prstGeom prst="roundRect">
            <a:avLst>
              <a:gd name="adj" fmla="val 54545"/>
            </a:avLst>
          </a:prstGeom>
          <a:solidFill>
            <a:srgbClr val="F87171">
              <a:alpha val="95000"/>
            </a:srgbClr>
          </a:solidFill>
          <a:ln/>
        </p:spPr>
      </p:sp>
      <p:sp>
        <p:nvSpPr>
          <p:cNvPr id="36" name="Text 32"/>
          <p:cNvSpPr/>
          <p:nvPr/>
        </p:nvSpPr>
        <p:spPr>
          <a:xfrm>
            <a:off x="1078992" y="5603494"/>
            <a:ext cx="10125151"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Một câu trả lời sai nghe rất thuyết phục còn nguy hiểm hơn là không có câu trả lời nào.</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3" presetID="10" presetClass="entr" presetSubtype="0" fill="hold" nodeType="withEffect">
                                  <p:stCondLst>
                                    <p:cond delay="44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nodeType="withEffect">
                                  <p:stCondLst>
                                    <p:cond delay="66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400"/>
                                        <p:tgtEl>
                                          <p:spTgt spid="15"/>
                                        </p:tgtEl>
                                      </p:cBhvr>
                                    </p:animEffect>
                                  </p:childTnLst>
                                </p:cTn>
                              </p:par>
                              <p:par>
                                <p:cTn id="29" presetID="10" presetClass="entr" presetSubtype="0" fill="hold" nodeType="withEffect">
                                  <p:stCondLst>
                                    <p:cond delay="66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00"/>
                                        <p:tgtEl>
                                          <p:spTgt spid="16"/>
                                        </p:tgtEl>
                                      </p:cBhvr>
                                    </p:animEffect>
                                  </p:childTnLst>
                                </p:cTn>
                              </p:par>
                              <p:par>
                                <p:cTn id="32" presetID="10" presetClass="entr" presetSubtype="0" fill="hold" nodeType="withEffect">
                                  <p:stCondLst>
                                    <p:cond delay="88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88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110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110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110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nodeType="withEffect">
                                  <p:stCondLst>
                                    <p:cond delay="110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nodeType="withEffect">
                                  <p:stCondLst>
                                    <p:cond delay="132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nodeType="withEffect">
                                  <p:stCondLst>
                                    <p:cond delay="132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400"/>
                                        <p:tgtEl>
                                          <p:spTgt spid="27"/>
                                        </p:tgtEl>
                                      </p:cBhvr>
                                    </p:animEffect>
                                  </p:childTnLst>
                                </p:cTn>
                              </p:par>
                              <p:par>
                                <p:cTn id="56" presetID="10" presetClass="entr" presetSubtype="0" fill="hold" nodeType="withEffect">
                                  <p:stCondLst>
                                    <p:cond delay="132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400"/>
                                        <p:tgtEl>
                                          <p:spTgt spid="28"/>
                                        </p:tgtEl>
                                      </p:cBhvr>
                                    </p:animEffect>
                                  </p:childTnLst>
                                </p:cTn>
                              </p:par>
                              <p:par>
                                <p:cTn id="59" presetID="10" presetClass="entr" presetSubtype="0" fill="hold" nodeType="withEffect">
                                  <p:stCondLst>
                                    <p:cond delay="132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400"/>
                                        <p:tgtEl>
                                          <p:spTgt spid="29"/>
                                        </p:tgtEl>
                                      </p:cBhvr>
                                    </p:animEffect>
                                  </p:childTnLst>
                                </p:cTn>
                              </p:par>
                              <p:par>
                                <p:cTn id="62" presetID="10" presetClass="entr" presetSubtype="0" fill="hold" nodeType="withEffect">
                                  <p:stCondLst>
                                    <p:cond delay="1540"/>
                                  </p:stCondLst>
                                  <p:childTnLst>
                                    <p:set>
                                      <p:cBhvr>
                                        <p:cTn id="63" dur="1" fill="hold">
                                          <p:stCondLst>
                                            <p:cond delay="0"/>
                                          </p:stCondLst>
                                        </p:cTn>
                                        <p:tgtEl>
                                          <p:spTgt spid="30"/>
                                        </p:tgtEl>
                                        <p:attrNameLst>
                                          <p:attrName>style.visibility</p:attrName>
                                        </p:attrNameLst>
                                      </p:cBhvr>
                                      <p:to>
                                        <p:strVal val="visible"/>
                                      </p:to>
                                    </p:set>
                                    <p:animEffect transition="in" filter="fade">
                                      <p:cBhvr>
                                        <p:cTn id="64" dur="400"/>
                                        <p:tgtEl>
                                          <p:spTgt spid="30"/>
                                        </p:tgtEl>
                                      </p:cBhvr>
                                    </p:animEffect>
                                  </p:childTnLst>
                                </p:cTn>
                              </p:par>
                              <p:par>
                                <p:cTn id="65" presetID="10" presetClass="entr" presetSubtype="0" fill="hold" nodeType="withEffect">
                                  <p:stCondLst>
                                    <p:cond delay="1540"/>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400"/>
                                        <p:tgtEl>
                                          <p:spTgt spid="31"/>
                                        </p:tgtEl>
                                      </p:cBhvr>
                                    </p:animEffect>
                                  </p:childTnLst>
                                </p:cTn>
                              </p:par>
                              <p:par>
                                <p:cTn id="68" presetID="10" presetClass="entr" presetSubtype="0" fill="hold" nodeType="withEffect">
                                  <p:stCondLst>
                                    <p:cond delay="1540"/>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400"/>
                                        <p:tgtEl>
                                          <p:spTgt spid="32"/>
                                        </p:tgtEl>
                                      </p:cBhvr>
                                    </p:animEffect>
                                  </p:childTnLst>
                                </p:cTn>
                              </p:par>
                              <p:par>
                                <p:cTn id="71" presetID="10" presetClass="entr" presetSubtype="0" fill="hold" nodeType="withEffect">
                                  <p:stCondLst>
                                    <p:cond delay="1540"/>
                                  </p:stCondLst>
                                  <p:childTnLst>
                                    <p:set>
                                      <p:cBhvr>
                                        <p:cTn id="72" dur="1" fill="hold">
                                          <p:stCondLst>
                                            <p:cond delay="0"/>
                                          </p:stCondLst>
                                        </p:cTn>
                                        <p:tgtEl>
                                          <p:spTgt spid="33"/>
                                        </p:tgtEl>
                                        <p:attrNameLst>
                                          <p:attrName>style.visibility</p:attrName>
                                        </p:attrNameLst>
                                      </p:cBhvr>
                                      <p:to>
                                        <p:strVal val="visible"/>
                                      </p:to>
                                    </p:set>
                                    <p:animEffect transition="in" filter="fade">
                                      <p:cBhvr>
                                        <p:cTn id="73" dur="400"/>
                                        <p:tgtEl>
                                          <p:spTgt spid="33"/>
                                        </p:tgtEl>
                                      </p:cBhvr>
                                    </p:animEffect>
                                  </p:childTnLst>
                                </p:cTn>
                              </p:par>
                              <p:par>
                                <p:cTn id="74" presetID="10" presetClass="entr" presetSubtype="0" fill="hold" nodeType="withEffect">
                                  <p:stCondLst>
                                    <p:cond delay="1760"/>
                                  </p:stCondLst>
                                  <p:childTnLst>
                                    <p:set>
                                      <p:cBhvr>
                                        <p:cTn id="75" dur="1" fill="hold">
                                          <p:stCondLst>
                                            <p:cond delay="0"/>
                                          </p:stCondLst>
                                        </p:cTn>
                                        <p:tgtEl>
                                          <p:spTgt spid="34"/>
                                        </p:tgtEl>
                                        <p:attrNameLst>
                                          <p:attrName>style.visibility</p:attrName>
                                        </p:attrNameLst>
                                      </p:cBhvr>
                                      <p:to>
                                        <p:strVal val="visible"/>
                                      </p:to>
                                    </p:set>
                                    <p:animEffect transition="in" filter="fade">
                                      <p:cBhvr>
                                        <p:cTn id="76" dur="400"/>
                                        <p:tgtEl>
                                          <p:spTgt spid="34"/>
                                        </p:tgtEl>
                                      </p:cBhvr>
                                    </p:animEffect>
                                  </p:childTnLst>
                                </p:cTn>
                              </p:par>
                              <p:par>
                                <p:cTn id="77" presetID="10" presetClass="entr" presetSubtype="0" fill="hold" nodeType="withEffect">
                                  <p:stCondLst>
                                    <p:cond delay="1760"/>
                                  </p:stCondLst>
                                  <p:childTnLst>
                                    <p:set>
                                      <p:cBhvr>
                                        <p:cTn id="78" dur="1" fill="hold">
                                          <p:stCondLst>
                                            <p:cond delay="0"/>
                                          </p:stCondLst>
                                        </p:cTn>
                                        <p:tgtEl>
                                          <p:spTgt spid="35"/>
                                        </p:tgtEl>
                                        <p:attrNameLst>
                                          <p:attrName>style.visibility</p:attrName>
                                        </p:attrNameLst>
                                      </p:cBhvr>
                                      <p:to>
                                        <p:strVal val="visible"/>
                                      </p:to>
                                    </p:set>
                                    <p:animEffect transition="in" filter="fade">
                                      <p:cBhvr>
                                        <p:cTn id="79" dur="400"/>
                                        <p:tgtEl>
                                          <p:spTgt spid="35"/>
                                        </p:tgtEl>
                                      </p:cBhvr>
                                    </p:animEffect>
                                  </p:childTnLst>
                                </p:cTn>
                              </p:par>
                              <p:par>
                                <p:cTn id="80" presetID="10" presetClass="entr" presetSubtype="0" fill="hold" nodeType="withEffect">
                                  <p:stCondLst>
                                    <p:cond delay="1760"/>
                                  </p:stCondLst>
                                  <p:childTnLst>
                                    <p:set>
                                      <p:cBhvr>
                                        <p:cTn id="81" dur="1" fill="hold">
                                          <p:stCondLst>
                                            <p:cond delay="0"/>
                                          </p:stCondLst>
                                        </p:cTn>
                                        <p:tgtEl>
                                          <p:spTgt spid="36"/>
                                        </p:tgtEl>
                                        <p:attrNameLst>
                                          <p:attrName>style.visibility</p:attrName>
                                        </p:attrNameLst>
                                      </p:cBhvr>
                                      <p:to>
                                        <p:strVal val="visible"/>
                                      </p:to>
                                    </p:set>
                                    <p:animEffect transition="in" filter="fade">
                                      <p:cBhvr>
                                        <p:cTn id="8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24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HỘI CHỮ THẬP ĐỎ XÃ ĐỒNG XUÂN</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Sản phẩm này có một nơi để về</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pic>
        <p:nvPicPr>
          <p:cNvPr id="12" name="Image 2" descr="anh/da-cat/thu-quan-tam.jpg"/>
          <p:cNvPicPr>
            <a:picLocks noChangeAspect="1"/>
          </p:cNvPicPr>
          <p:nvPr/>
        </p:nvPicPr>
        <p:blipFill>
          <a:blip r:embed="rId5"/>
          <a:stretch>
            <a:fillRect/>
          </a:stretch>
        </p:blipFill>
        <p:spPr>
          <a:xfrm>
            <a:off x="713232" y="2220214"/>
            <a:ext cx="2926080" cy="3703320"/>
          </a:xfrm>
          <a:prstGeom prst="rect">
            <a:avLst/>
          </a:prstGeom>
        </p:spPr>
      </p:pic>
      <p:sp>
        <p:nvSpPr>
          <p:cNvPr id="13" name="Shape 8"/>
          <p:cNvSpPr/>
          <p:nvPr/>
        </p:nvSpPr>
        <p:spPr>
          <a:xfrm>
            <a:off x="713232" y="2220214"/>
            <a:ext cx="2926080" cy="3703320"/>
          </a:xfrm>
          <a:prstGeom prst="roundRect">
            <a:avLst>
              <a:gd name="adj" fmla="val 3750"/>
            </a:avLst>
          </a:prstGeom>
          <a:solidFill>
            <a:srgbClr val="FFFFFF">
              <a:alpha val="0"/>
            </a:srgbClr>
          </a:solidFill>
          <a:ln w="12700">
            <a:solidFill>
              <a:srgbClr val="FFFFFF">
                <a:alpha val="18000"/>
              </a:srgbClr>
            </a:solidFill>
            <a:prstDash val="solid"/>
          </a:ln>
        </p:spPr>
      </p:sp>
      <p:sp>
        <p:nvSpPr>
          <p:cNvPr id="14" name="Shape 9"/>
          <p:cNvSpPr/>
          <p:nvPr/>
        </p:nvSpPr>
        <p:spPr>
          <a:xfrm>
            <a:off x="4041648" y="2220214"/>
            <a:ext cx="7436815" cy="1112520"/>
          </a:xfrm>
          <a:prstGeom prst="roundRect">
            <a:avLst>
              <a:gd name="adj" fmla="val 9863"/>
            </a:avLst>
          </a:prstGeom>
          <a:solidFill>
            <a:srgbClr val="091B2D">
              <a:alpha val="66000"/>
            </a:srgbClr>
          </a:solidFill>
          <a:ln w="12700">
            <a:solidFill>
              <a:srgbClr val="FFFFFF">
                <a:alpha val="12000"/>
              </a:srgbClr>
            </a:solidFill>
            <a:prstDash val="solid"/>
          </a:ln>
        </p:spPr>
      </p:sp>
      <p:sp>
        <p:nvSpPr>
          <p:cNvPr id="15" name="Shape 10"/>
          <p:cNvSpPr/>
          <p:nvPr/>
        </p:nvSpPr>
        <p:spPr>
          <a:xfrm>
            <a:off x="4041648" y="2220214"/>
            <a:ext cx="50292" cy="1112520"/>
          </a:xfrm>
          <a:prstGeom prst="roundRect">
            <a:avLst>
              <a:gd name="adj" fmla="val 54545"/>
            </a:avLst>
          </a:prstGeom>
          <a:solidFill>
            <a:srgbClr val="22C55E">
              <a:alpha val="95000"/>
            </a:srgbClr>
          </a:solidFill>
          <a:ln/>
        </p:spPr>
      </p:sp>
      <p:sp>
        <p:nvSpPr>
          <p:cNvPr id="16" name="Shape 11"/>
          <p:cNvSpPr/>
          <p:nvPr/>
        </p:nvSpPr>
        <p:spPr>
          <a:xfrm>
            <a:off x="4297680" y="2403094"/>
            <a:ext cx="402336" cy="402336"/>
          </a:xfrm>
          <a:prstGeom prst="roundRect">
            <a:avLst>
              <a:gd name="adj" fmla="val 50000"/>
            </a:avLst>
          </a:prstGeom>
          <a:solidFill>
            <a:srgbClr val="04101F">
              <a:alpha val="88000"/>
            </a:srgbClr>
          </a:solidFill>
          <a:ln/>
        </p:spPr>
      </p:sp>
      <p:sp>
        <p:nvSpPr>
          <p:cNvPr id="17" name="Shape 12"/>
          <p:cNvSpPr/>
          <p:nvPr/>
        </p:nvSpPr>
        <p:spPr>
          <a:xfrm>
            <a:off x="4297680" y="2403094"/>
            <a:ext cx="402336" cy="402336"/>
          </a:xfrm>
          <a:prstGeom prst="roundRect">
            <a:avLst>
              <a:gd name="adj" fmla="val 50000"/>
            </a:avLst>
          </a:prstGeom>
          <a:solidFill>
            <a:srgbClr val="22C55E">
              <a:alpha val="20000"/>
            </a:srgbClr>
          </a:solidFill>
          <a:ln w="15240">
            <a:solidFill>
              <a:srgbClr val="22C55E">
                <a:alpha val="70000"/>
              </a:srgbClr>
            </a:solidFill>
            <a:prstDash val="solid"/>
          </a:ln>
        </p:spPr>
      </p:sp>
      <p:sp>
        <p:nvSpPr>
          <p:cNvPr id="18" name="Text 13"/>
          <p:cNvSpPr/>
          <p:nvPr/>
        </p:nvSpPr>
        <p:spPr>
          <a:xfrm>
            <a:off x="4251960" y="2467102"/>
            <a:ext cx="493776"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01</a:t>
            </a:r>
            <a:endParaRPr lang="en-US" sz="1500" dirty="0"/>
          </a:p>
        </p:txBody>
      </p:sp>
      <p:sp>
        <p:nvSpPr>
          <p:cNvPr id="19" name="Text 14"/>
          <p:cNvSpPr/>
          <p:nvPr/>
        </p:nvSpPr>
        <p:spPr>
          <a:xfrm>
            <a:off x="4828032" y="2439670"/>
            <a:ext cx="6467551"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Xác nhận thực trạng</a:t>
            </a:r>
            <a:endParaRPr lang="en-US" sz="1450" dirty="0"/>
          </a:p>
        </p:txBody>
      </p:sp>
      <p:sp>
        <p:nvSpPr>
          <p:cNvPr id="20" name="Text 15"/>
          <p:cNvSpPr/>
          <p:nvPr/>
        </p:nvSpPr>
        <p:spPr>
          <a:xfrm>
            <a:off x="4297680" y="2878582"/>
            <a:ext cx="7016191" cy="270320"/>
          </a:xfrm>
          <a:prstGeom prst="rect">
            <a:avLst/>
          </a:prstGeom>
          <a:noFill/>
          <a:ln/>
        </p:spPr>
        <p:txBody>
          <a:bodyPr wrap="square" lIns="0" tIns="0" rIns="0" bIns="0" rtlCol="0" anchor="t"/>
          <a:lstStyle/>
          <a:p>
            <a:pPr marL="0" indent="0" algn="l">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Kho còn quản lý bằng sổ và Excel, bão lũ 2025 vật tư hết hạn, hư hỏng, số liệu lệch giữa các thôn.</a:t>
            </a:r>
            <a:endParaRPr lang="en-US" sz="1150" dirty="0"/>
          </a:p>
        </p:txBody>
      </p:sp>
      <p:sp>
        <p:nvSpPr>
          <p:cNvPr id="21" name="Shape 16"/>
          <p:cNvSpPr/>
          <p:nvPr/>
        </p:nvSpPr>
        <p:spPr>
          <a:xfrm>
            <a:off x="4041648" y="3515614"/>
            <a:ext cx="7436815" cy="1112520"/>
          </a:xfrm>
          <a:prstGeom prst="roundRect">
            <a:avLst>
              <a:gd name="adj" fmla="val 9863"/>
            </a:avLst>
          </a:prstGeom>
          <a:solidFill>
            <a:srgbClr val="091B2D">
              <a:alpha val="66000"/>
            </a:srgbClr>
          </a:solidFill>
          <a:ln w="12700">
            <a:solidFill>
              <a:srgbClr val="FFFFFF">
                <a:alpha val="12000"/>
              </a:srgbClr>
            </a:solidFill>
            <a:prstDash val="solid"/>
          </a:ln>
        </p:spPr>
      </p:sp>
      <p:sp>
        <p:nvSpPr>
          <p:cNvPr id="22" name="Shape 17"/>
          <p:cNvSpPr/>
          <p:nvPr/>
        </p:nvSpPr>
        <p:spPr>
          <a:xfrm>
            <a:off x="4041648" y="3515614"/>
            <a:ext cx="50292" cy="1112520"/>
          </a:xfrm>
          <a:prstGeom prst="roundRect">
            <a:avLst>
              <a:gd name="adj" fmla="val 54545"/>
            </a:avLst>
          </a:prstGeom>
          <a:solidFill>
            <a:srgbClr val="22C55E">
              <a:alpha val="95000"/>
            </a:srgbClr>
          </a:solidFill>
          <a:ln/>
        </p:spPr>
      </p:sp>
      <p:sp>
        <p:nvSpPr>
          <p:cNvPr id="23" name="Shape 18"/>
          <p:cNvSpPr/>
          <p:nvPr/>
        </p:nvSpPr>
        <p:spPr>
          <a:xfrm>
            <a:off x="4297680" y="3698494"/>
            <a:ext cx="402336" cy="402336"/>
          </a:xfrm>
          <a:prstGeom prst="roundRect">
            <a:avLst>
              <a:gd name="adj" fmla="val 50000"/>
            </a:avLst>
          </a:prstGeom>
          <a:solidFill>
            <a:srgbClr val="04101F">
              <a:alpha val="88000"/>
            </a:srgbClr>
          </a:solidFill>
          <a:ln/>
        </p:spPr>
      </p:sp>
      <p:sp>
        <p:nvSpPr>
          <p:cNvPr id="24" name="Shape 19"/>
          <p:cNvSpPr/>
          <p:nvPr/>
        </p:nvSpPr>
        <p:spPr>
          <a:xfrm>
            <a:off x="4297680" y="3698494"/>
            <a:ext cx="402336" cy="402336"/>
          </a:xfrm>
          <a:prstGeom prst="roundRect">
            <a:avLst>
              <a:gd name="adj" fmla="val 50000"/>
            </a:avLst>
          </a:prstGeom>
          <a:solidFill>
            <a:srgbClr val="22C55E">
              <a:alpha val="20000"/>
            </a:srgbClr>
          </a:solidFill>
          <a:ln w="15240">
            <a:solidFill>
              <a:srgbClr val="22C55E">
                <a:alpha val="70000"/>
              </a:srgbClr>
            </a:solidFill>
            <a:prstDash val="solid"/>
          </a:ln>
        </p:spPr>
      </p:sp>
      <p:sp>
        <p:nvSpPr>
          <p:cNvPr id="25" name="Text 20"/>
          <p:cNvSpPr/>
          <p:nvPr/>
        </p:nvSpPr>
        <p:spPr>
          <a:xfrm>
            <a:off x="4251960" y="3762502"/>
            <a:ext cx="493776"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02</a:t>
            </a:r>
            <a:endParaRPr lang="en-US" sz="1500" dirty="0"/>
          </a:p>
        </p:txBody>
      </p:sp>
      <p:sp>
        <p:nvSpPr>
          <p:cNvPr id="26" name="Text 21"/>
          <p:cNvSpPr/>
          <p:nvPr/>
        </p:nvSpPr>
        <p:spPr>
          <a:xfrm>
            <a:off x="4828032" y="3735070"/>
            <a:ext cx="6467551"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Xác nhận nhu cầu thật</a:t>
            </a:r>
            <a:endParaRPr lang="en-US" sz="1450" dirty="0"/>
          </a:p>
        </p:txBody>
      </p:sp>
      <p:sp>
        <p:nvSpPr>
          <p:cNvPr id="27" name="Text 22"/>
          <p:cNvSpPr/>
          <p:nvPr/>
        </p:nvSpPr>
        <p:spPr>
          <a:xfrm>
            <a:off x="4297680" y="4173982"/>
            <a:ext cx="7016191" cy="270320"/>
          </a:xfrm>
          <a:prstGeom prst="rect">
            <a:avLst/>
          </a:prstGeom>
          <a:noFill/>
          <a:ln/>
        </p:spPr>
        <p:txBody>
          <a:bodyPr wrap="square" lIns="0" tIns="0" rIns="0" bIns="0" rtlCol="0" anchor="t"/>
          <a:lstStyle/>
          <a:p>
            <a:pPr marL="0" indent="0" algn="l">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Xã cần một hệ thống quản lý kho và điều phối vật tư như Ứng Phó Nhanh.</a:t>
            </a:r>
            <a:endParaRPr lang="en-US" sz="1150" dirty="0"/>
          </a:p>
        </p:txBody>
      </p:sp>
      <p:sp>
        <p:nvSpPr>
          <p:cNvPr id="28" name="Shape 23"/>
          <p:cNvSpPr/>
          <p:nvPr/>
        </p:nvSpPr>
        <p:spPr>
          <a:xfrm>
            <a:off x="4041648" y="4811014"/>
            <a:ext cx="7436815" cy="1112520"/>
          </a:xfrm>
          <a:prstGeom prst="roundRect">
            <a:avLst>
              <a:gd name="adj" fmla="val 9863"/>
            </a:avLst>
          </a:prstGeom>
          <a:solidFill>
            <a:srgbClr val="091B2D">
              <a:alpha val="66000"/>
            </a:srgbClr>
          </a:solidFill>
          <a:ln w="12700">
            <a:solidFill>
              <a:srgbClr val="FFFFFF">
                <a:alpha val="12000"/>
              </a:srgbClr>
            </a:solidFill>
            <a:prstDash val="solid"/>
          </a:ln>
        </p:spPr>
      </p:sp>
      <p:sp>
        <p:nvSpPr>
          <p:cNvPr id="29" name="Shape 24"/>
          <p:cNvSpPr/>
          <p:nvPr/>
        </p:nvSpPr>
        <p:spPr>
          <a:xfrm>
            <a:off x="4041648" y="4811014"/>
            <a:ext cx="50292" cy="1112520"/>
          </a:xfrm>
          <a:prstGeom prst="roundRect">
            <a:avLst>
              <a:gd name="adj" fmla="val 54545"/>
            </a:avLst>
          </a:prstGeom>
          <a:solidFill>
            <a:srgbClr val="22C55E">
              <a:alpha val="95000"/>
            </a:srgbClr>
          </a:solidFill>
          <a:ln/>
        </p:spPr>
      </p:sp>
      <p:sp>
        <p:nvSpPr>
          <p:cNvPr id="30" name="Shape 25"/>
          <p:cNvSpPr/>
          <p:nvPr/>
        </p:nvSpPr>
        <p:spPr>
          <a:xfrm>
            <a:off x="4297680" y="4993894"/>
            <a:ext cx="402336" cy="402336"/>
          </a:xfrm>
          <a:prstGeom prst="roundRect">
            <a:avLst>
              <a:gd name="adj" fmla="val 50000"/>
            </a:avLst>
          </a:prstGeom>
          <a:solidFill>
            <a:srgbClr val="04101F">
              <a:alpha val="88000"/>
            </a:srgbClr>
          </a:solidFill>
          <a:ln/>
        </p:spPr>
      </p:sp>
      <p:sp>
        <p:nvSpPr>
          <p:cNvPr id="31" name="Shape 26"/>
          <p:cNvSpPr/>
          <p:nvPr/>
        </p:nvSpPr>
        <p:spPr>
          <a:xfrm>
            <a:off x="4297680" y="4993894"/>
            <a:ext cx="402336" cy="402336"/>
          </a:xfrm>
          <a:prstGeom prst="roundRect">
            <a:avLst>
              <a:gd name="adj" fmla="val 50000"/>
            </a:avLst>
          </a:prstGeom>
          <a:solidFill>
            <a:srgbClr val="22C55E">
              <a:alpha val="20000"/>
            </a:srgbClr>
          </a:solidFill>
          <a:ln w="15240">
            <a:solidFill>
              <a:srgbClr val="22C55E">
                <a:alpha val="70000"/>
              </a:srgbClr>
            </a:solidFill>
            <a:prstDash val="solid"/>
          </a:ln>
        </p:spPr>
      </p:sp>
      <p:sp>
        <p:nvSpPr>
          <p:cNvPr id="32" name="Text 27"/>
          <p:cNvSpPr/>
          <p:nvPr/>
        </p:nvSpPr>
        <p:spPr>
          <a:xfrm>
            <a:off x="4251960" y="5057902"/>
            <a:ext cx="493776"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03</a:t>
            </a:r>
            <a:endParaRPr lang="en-US" sz="1500" dirty="0"/>
          </a:p>
        </p:txBody>
      </p:sp>
      <p:sp>
        <p:nvSpPr>
          <p:cNvPr id="33" name="Text 28"/>
          <p:cNvSpPr/>
          <p:nvPr/>
        </p:nvSpPr>
        <p:spPr>
          <a:xfrm>
            <a:off x="4828032" y="5030470"/>
            <a:ext cx="6467551"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Đồng ý cho khảo sát và thử nghiệm</a:t>
            </a:r>
            <a:endParaRPr lang="en-US" sz="1450" dirty="0"/>
          </a:p>
        </p:txBody>
      </p:sp>
      <p:sp>
        <p:nvSpPr>
          <p:cNvPr id="34" name="Text 29"/>
          <p:cNvSpPr/>
          <p:nvPr/>
        </p:nvSpPr>
        <p:spPr>
          <a:xfrm>
            <a:off x="4297680" y="5469382"/>
            <a:ext cx="7016191" cy="270320"/>
          </a:xfrm>
          <a:prstGeom prst="rect">
            <a:avLst/>
          </a:prstGeom>
          <a:noFill/>
          <a:ln/>
        </p:spPr>
        <p:txBody>
          <a:bodyPr wrap="square" lIns="0" tIns="0" rIns="0" bIns="0" rtlCol="0" anchor="t"/>
          <a:lstStyle/>
          <a:p>
            <a:pPr marL="0" indent="0" algn="l">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Tạo điều kiện cho nhóm khảo sát quy trình thật và triển khai thử nghiệm tại xã sau cuộc thi.</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66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66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88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88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88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88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10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10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10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10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10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10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10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420624"/>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25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GIÁ TRỊ MANG LẠI</a:t>
            </a:r>
            <a:endParaRPr lang="en-US" sz="1150" dirty="0"/>
          </a:p>
        </p:txBody>
      </p:sp>
      <p:sp>
        <p:nvSpPr>
          <p:cNvPr id="9" name="Text 5"/>
          <p:cNvSpPr/>
          <p:nvPr/>
        </p:nvSpPr>
        <p:spPr>
          <a:xfrm>
            <a:off x="713232" y="1426464"/>
            <a:ext cx="10490911" cy="1002284"/>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Không chỉ là phần mềm kho, cũng không chỉ là một</a:t>
            </a:r>
            <a:endParaRPr lang="en-US" sz="3100" dirty="0"/>
          </a:p>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công cụ AI</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684780"/>
            <a:ext cx="3381146"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684780"/>
            <a:ext cx="50292" cy="2194560"/>
          </a:xfrm>
          <a:prstGeom prst="roundRect">
            <a:avLst>
              <a:gd name="adj" fmla="val 54545"/>
            </a:avLst>
          </a:prstGeom>
          <a:solidFill>
            <a:srgbClr val="38BDF8">
              <a:alpha val="95000"/>
            </a:srgbClr>
          </a:solidFill>
          <a:ln/>
        </p:spPr>
      </p:sp>
      <p:sp>
        <p:nvSpPr>
          <p:cNvPr id="14" name="Text 10"/>
          <p:cNvSpPr/>
          <p:nvPr/>
        </p:nvSpPr>
        <p:spPr>
          <a:xfrm>
            <a:off x="1024128" y="2940812"/>
            <a:ext cx="2850794" cy="518922"/>
          </a:xfrm>
          <a:prstGeom prst="rect">
            <a:avLst/>
          </a:prstGeom>
          <a:noFill/>
          <a:ln/>
        </p:spPr>
        <p:txBody>
          <a:bodyPr wrap="square" lIns="0" tIns="0" rIns="0" bIns="0" rtlCol="0" anchor="t"/>
          <a:lstStyle/>
          <a:p>
            <a:pPr marL="0" indent="0" algn="l">
              <a:lnSpc>
                <a:spcPts val="3510"/>
              </a:lnSpc>
              <a:buNone/>
            </a:pPr>
            <a:r>
              <a:rPr lang="en-US" sz="2600" b="1" dirty="0">
                <a:solidFill>
                  <a:srgbClr val="38BDF8"/>
                </a:solidFill>
                <a:latin typeface="Be Vietnam Pro" pitchFamily="34" charset="0"/>
                <a:ea typeface="Be Vietnam Pro" pitchFamily="34" charset="-122"/>
                <a:cs typeface="Be Vietnam Pro" pitchFamily="34" charset="-120"/>
              </a:rPr>
              <a:t>01</a:t>
            </a:r>
            <a:endParaRPr lang="en-US" sz="2600" dirty="0"/>
          </a:p>
        </p:txBody>
      </p:sp>
      <p:sp>
        <p:nvSpPr>
          <p:cNvPr id="15" name="Text 11"/>
          <p:cNvSpPr/>
          <p:nvPr/>
        </p:nvSpPr>
        <p:spPr>
          <a:xfrm>
            <a:off x="1024128" y="3580892"/>
            <a:ext cx="2850794" cy="364617"/>
          </a:xfrm>
          <a:prstGeom prst="rect">
            <a:avLst/>
          </a:prstGeom>
          <a:noFill/>
          <a:ln/>
        </p:spPr>
        <p:txBody>
          <a:bodyPr wrap="square" lIns="0" tIns="0" rIns="0" bIns="0" rtlCol="0" anchor="t"/>
          <a:lstStyle/>
          <a:p>
            <a:pPr marL="0" indent="0" algn="l">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Điều phối nguồn lực</a:t>
            </a:r>
            <a:endParaRPr lang="en-US" sz="1700" dirty="0"/>
          </a:p>
        </p:txBody>
      </p:sp>
      <p:sp>
        <p:nvSpPr>
          <p:cNvPr id="16" name="Text 12"/>
          <p:cNvSpPr/>
          <p:nvPr/>
        </p:nvSpPr>
        <p:spPr>
          <a:xfrm>
            <a:off x="1024128" y="4019804"/>
            <a:ext cx="2850794" cy="533527"/>
          </a:xfrm>
          <a:prstGeom prst="rect">
            <a:avLst/>
          </a:prstGeom>
          <a:noFill/>
          <a:ln/>
        </p:spPr>
        <p:txBody>
          <a:bodyPr wrap="square" lIns="0" tIns="0" rIns="0" bIns="0" rtlCol="0" anchor="t"/>
          <a:lstStyle/>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Vật tư đi từ đúng kho, đến đúng nơi,</a:t>
            </a:r>
            <a:endParaRPr lang="en-US" sz="1250" dirty="0"/>
          </a:p>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trong thời gian ngắn nhất.</a:t>
            </a:r>
            <a:endParaRPr lang="en-US" sz="1250" dirty="0"/>
          </a:p>
        </p:txBody>
      </p:sp>
      <p:sp>
        <p:nvSpPr>
          <p:cNvPr id="17" name="Shape 13"/>
          <p:cNvSpPr/>
          <p:nvPr/>
        </p:nvSpPr>
        <p:spPr>
          <a:xfrm>
            <a:off x="4405274" y="2684780"/>
            <a:ext cx="3381146"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18" name="Shape 14"/>
          <p:cNvSpPr/>
          <p:nvPr/>
        </p:nvSpPr>
        <p:spPr>
          <a:xfrm>
            <a:off x="4405274" y="2684780"/>
            <a:ext cx="50292" cy="2194560"/>
          </a:xfrm>
          <a:prstGeom prst="roundRect">
            <a:avLst>
              <a:gd name="adj" fmla="val 54545"/>
            </a:avLst>
          </a:prstGeom>
          <a:solidFill>
            <a:srgbClr val="22C55E">
              <a:alpha val="95000"/>
            </a:srgbClr>
          </a:solidFill>
          <a:ln/>
        </p:spPr>
      </p:sp>
      <p:sp>
        <p:nvSpPr>
          <p:cNvPr id="19" name="Text 15"/>
          <p:cNvSpPr/>
          <p:nvPr/>
        </p:nvSpPr>
        <p:spPr>
          <a:xfrm>
            <a:off x="4716170" y="2940812"/>
            <a:ext cx="2850794" cy="518922"/>
          </a:xfrm>
          <a:prstGeom prst="rect">
            <a:avLst/>
          </a:prstGeom>
          <a:noFill/>
          <a:ln/>
        </p:spPr>
        <p:txBody>
          <a:bodyPr wrap="square" lIns="0" tIns="0" rIns="0" bIns="0" rtlCol="0" anchor="t"/>
          <a:lstStyle/>
          <a:p>
            <a:pPr marL="0" indent="0" algn="l">
              <a:lnSpc>
                <a:spcPts val="3510"/>
              </a:lnSpc>
              <a:buNone/>
            </a:pPr>
            <a:r>
              <a:rPr lang="en-US" sz="2600" b="1" dirty="0">
                <a:solidFill>
                  <a:srgbClr val="22C55E"/>
                </a:solidFill>
                <a:latin typeface="Be Vietnam Pro" pitchFamily="34" charset="0"/>
                <a:ea typeface="Be Vietnam Pro" pitchFamily="34" charset="-122"/>
                <a:cs typeface="Be Vietnam Pro" pitchFamily="34" charset="-120"/>
              </a:rPr>
              <a:t>02</a:t>
            </a:r>
            <a:endParaRPr lang="en-US" sz="2600" dirty="0"/>
          </a:p>
        </p:txBody>
      </p:sp>
      <p:sp>
        <p:nvSpPr>
          <p:cNvPr id="20" name="Text 16"/>
          <p:cNvSpPr/>
          <p:nvPr/>
        </p:nvSpPr>
        <p:spPr>
          <a:xfrm>
            <a:off x="4716170" y="3580892"/>
            <a:ext cx="2850794" cy="364617"/>
          </a:xfrm>
          <a:prstGeom prst="rect">
            <a:avLst/>
          </a:prstGeom>
          <a:noFill/>
          <a:ln/>
        </p:spPr>
        <p:txBody>
          <a:bodyPr wrap="square" lIns="0" tIns="0" rIns="0" bIns="0" rtlCol="0" anchor="t"/>
          <a:lstStyle/>
          <a:p>
            <a:pPr marL="0" indent="0" algn="l">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Hỗ trợ ra quyết định</a:t>
            </a:r>
            <a:endParaRPr lang="en-US" sz="1700" dirty="0"/>
          </a:p>
        </p:txBody>
      </p:sp>
      <p:sp>
        <p:nvSpPr>
          <p:cNvPr id="21" name="Text 17"/>
          <p:cNvSpPr/>
          <p:nvPr/>
        </p:nvSpPr>
        <p:spPr>
          <a:xfrm>
            <a:off x="4716170" y="4019804"/>
            <a:ext cx="2850794" cy="763714"/>
          </a:xfrm>
          <a:prstGeom prst="rect">
            <a:avLst/>
          </a:prstGeom>
          <a:noFill/>
          <a:ln/>
        </p:spPr>
        <p:txBody>
          <a:bodyPr wrap="square" lIns="0" tIns="0" rIns="0" bIns="0" rtlCol="0" anchor="t"/>
          <a:lstStyle/>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AI phân tích và tham mưu, con</a:t>
            </a:r>
            <a:endParaRPr lang="en-US" sz="1250" dirty="0"/>
          </a:p>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người giữ quyền quyết định cuối</a:t>
            </a:r>
            <a:endParaRPr lang="en-US" sz="1250" dirty="0"/>
          </a:p>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cùng.</a:t>
            </a:r>
            <a:endParaRPr lang="en-US" sz="1250" dirty="0"/>
          </a:p>
        </p:txBody>
      </p:sp>
      <p:sp>
        <p:nvSpPr>
          <p:cNvPr id="22" name="Shape 18"/>
          <p:cNvSpPr/>
          <p:nvPr/>
        </p:nvSpPr>
        <p:spPr>
          <a:xfrm>
            <a:off x="8097317" y="2684780"/>
            <a:ext cx="3381146"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23" name="Shape 19"/>
          <p:cNvSpPr/>
          <p:nvPr/>
        </p:nvSpPr>
        <p:spPr>
          <a:xfrm>
            <a:off x="8097317" y="2684780"/>
            <a:ext cx="50292" cy="2194560"/>
          </a:xfrm>
          <a:prstGeom prst="roundRect">
            <a:avLst>
              <a:gd name="adj" fmla="val 54545"/>
            </a:avLst>
          </a:prstGeom>
          <a:solidFill>
            <a:srgbClr val="FBBF24">
              <a:alpha val="95000"/>
            </a:srgbClr>
          </a:solidFill>
          <a:ln/>
        </p:spPr>
      </p:sp>
      <p:sp>
        <p:nvSpPr>
          <p:cNvPr id="24" name="Text 20"/>
          <p:cNvSpPr/>
          <p:nvPr/>
        </p:nvSpPr>
        <p:spPr>
          <a:xfrm>
            <a:off x="8408213" y="2940812"/>
            <a:ext cx="2850794" cy="518922"/>
          </a:xfrm>
          <a:prstGeom prst="rect">
            <a:avLst/>
          </a:prstGeom>
          <a:noFill/>
          <a:ln/>
        </p:spPr>
        <p:txBody>
          <a:bodyPr wrap="square" lIns="0" tIns="0" rIns="0" bIns="0" rtlCol="0" anchor="t"/>
          <a:lstStyle/>
          <a:p>
            <a:pPr marL="0" indent="0" algn="l">
              <a:lnSpc>
                <a:spcPts val="3510"/>
              </a:lnSpc>
              <a:buNone/>
            </a:pPr>
            <a:r>
              <a:rPr lang="en-US" sz="2600" b="1" dirty="0">
                <a:solidFill>
                  <a:srgbClr val="FBBF24"/>
                </a:solidFill>
                <a:latin typeface="Be Vietnam Pro" pitchFamily="34" charset="0"/>
                <a:ea typeface="Be Vietnam Pro" pitchFamily="34" charset="-122"/>
                <a:cs typeface="Be Vietnam Pro" pitchFamily="34" charset="-120"/>
              </a:rPr>
              <a:t>03</a:t>
            </a:r>
            <a:endParaRPr lang="en-US" sz="2600" dirty="0"/>
          </a:p>
        </p:txBody>
      </p:sp>
      <p:sp>
        <p:nvSpPr>
          <p:cNvPr id="25" name="Text 21"/>
          <p:cNvSpPr/>
          <p:nvPr/>
        </p:nvSpPr>
        <p:spPr>
          <a:xfrm>
            <a:off x="8408213" y="3580892"/>
            <a:ext cx="2850794" cy="364617"/>
          </a:xfrm>
          <a:prstGeom prst="rect">
            <a:avLst/>
          </a:prstGeom>
          <a:noFill/>
          <a:ln/>
        </p:spPr>
        <p:txBody>
          <a:bodyPr wrap="square" lIns="0" tIns="0" rIns="0" bIns="0" rtlCol="0" anchor="t"/>
          <a:lstStyle/>
          <a:p>
            <a:pPr marL="0" indent="0" algn="l">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Quản lý kho thông minh</a:t>
            </a:r>
            <a:endParaRPr lang="en-US" sz="1700" dirty="0"/>
          </a:p>
        </p:txBody>
      </p:sp>
      <p:sp>
        <p:nvSpPr>
          <p:cNvPr id="26" name="Text 22"/>
          <p:cNvSpPr/>
          <p:nvPr/>
        </p:nvSpPr>
        <p:spPr>
          <a:xfrm>
            <a:off x="8408213" y="4019804"/>
            <a:ext cx="2850794" cy="533527"/>
          </a:xfrm>
          <a:prstGeom prst="rect">
            <a:avLst/>
          </a:prstGeom>
          <a:noFill/>
          <a:ln/>
        </p:spPr>
        <p:txBody>
          <a:bodyPr wrap="square" lIns="0" tIns="0" rIns="0" bIns="0" rtlCol="0" anchor="t"/>
          <a:lstStyle/>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AI theo dõi hàng ngày, dự báo nhu</a:t>
            </a:r>
            <a:endParaRPr lang="en-US" sz="1250" dirty="0"/>
          </a:p>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cầu và cảnh báo kịp thời.</a:t>
            </a:r>
            <a:endParaRPr lang="en-US" sz="1250" dirty="0"/>
          </a:p>
        </p:txBody>
      </p:sp>
      <p:sp>
        <p:nvSpPr>
          <p:cNvPr id="27" name="Shape 23"/>
          <p:cNvSpPr/>
          <p:nvPr/>
        </p:nvSpPr>
        <p:spPr>
          <a:xfrm>
            <a:off x="713232" y="5226812"/>
            <a:ext cx="10765231" cy="896112"/>
          </a:xfrm>
          <a:prstGeom prst="roundRect">
            <a:avLst>
              <a:gd name="adj" fmla="val 12245"/>
            </a:avLst>
          </a:prstGeom>
          <a:solidFill>
            <a:srgbClr val="FFFFFF">
              <a:alpha val="7000"/>
            </a:srgbClr>
          </a:solidFill>
          <a:ln w="12700">
            <a:solidFill>
              <a:srgbClr val="FFFFFF">
                <a:alpha val="16000"/>
              </a:srgbClr>
            </a:solidFill>
            <a:prstDash val="solid"/>
          </a:ln>
        </p:spPr>
      </p:sp>
      <p:sp>
        <p:nvSpPr>
          <p:cNvPr id="28" name="Text 24"/>
          <p:cNvSpPr/>
          <p:nvPr/>
        </p:nvSpPr>
        <p:spPr>
          <a:xfrm>
            <a:off x="1078992" y="5446268"/>
            <a:ext cx="10125151" cy="357632"/>
          </a:xfrm>
          <a:prstGeom prst="rect">
            <a:avLst/>
          </a:prstGeom>
          <a:noFill/>
          <a:ln/>
        </p:spPr>
        <p:txBody>
          <a:bodyPr wrap="square" lIns="0" tIns="0" rIns="0" bIns="0" rtlCol="0" anchor="t"/>
          <a:lstStyle/>
          <a:p>
            <a:pPr marL="0" indent="0" algn="l">
              <a:lnSpc>
                <a:spcPts val="2240"/>
              </a:lnSpc>
              <a:buNone/>
            </a:pPr>
            <a:r>
              <a:rPr lang="en-US" sz="1600" b="1" dirty="0">
                <a:solidFill>
                  <a:srgbClr val="FFFFFF"/>
                </a:solidFill>
                <a:latin typeface="Be Vietnam Pro" pitchFamily="34" charset="0"/>
                <a:ea typeface="Be Vietnam Pro" pitchFamily="34" charset="-122"/>
                <a:cs typeface="Be Vietnam Pro" pitchFamily="34" charset="-120"/>
              </a:rPr>
              <a:t>Để công nghệ chia sẻ một phần áp lực với những con người đang trực tiếp đứng ở tuyến đầu.</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88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88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88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10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4101F"/>
        </a:solidFill>
        <a:effectLst/>
      </p:bgPr>
    </p:bg>
    <p:spTree>
      <p:nvGrpSpPr>
        <p:cNvPr id="1" name=""/>
        <p:cNvGrpSpPr/>
        <p:nvPr/>
      </p:nvGrpSpPr>
      <p:grpSpPr>
        <a:xfrm>
          <a:off x="0" y="0"/>
          <a:ext cx="0" cy="0"/>
          <a:chOff x="0" y="0"/>
          <a:chExt cx="0" cy="0"/>
        </a:xfrm>
      </p:grpSpPr>
      <p:pic>
        <p:nvPicPr>
          <p:cNvPr id="2" name="Image 0" descr="bg-closing.jpg"/>
          <p:cNvPicPr>
            <a:picLocks noChangeAspect="1"/>
          </p:cNvPicPr>
          <p:nvPr/>
        </p:nvPicPr>
        <p:blipFill>
          <a:blip r:embed="rId3"/>
          <a:stretch>
            <a:fillRect/>
          </a:stretch>
        </p:blipFill>
        <p:spPr>
          <a:xfrm>
            <a:off x="0" y="0"/>
            <a:ext cx="12191695" cy="6858000"/>
          </a:xfrm>
          <a:prstGeom prst="rect">
            <a:avLst/>
          </a:prstGeom>
        </p:spPr>
      </p:pic>
      <p:pic>
        <p:nvPicPr>
          <p:cNvPr id="3" name="Image 1" descr="scrim-bottom.png"/>
          <p:cNvPicPr>
            <a:picLocks noChangeAspect="1"/>
          </p:cNvPicPr>
          <p:nvPr/>
        </p:nvPicPr>
        <p:blipFill>
          <a:blip r:embed="rId4"/>
          <a:stretch>
            <a:fillRect/>
          </a:stretch>
        </p:blipFill>
        <p:spPr>
          <a:xfrm>
            <a:off x="0" y="0"/>
            <a:ext cx="12191695" cy="6858000"/>
          </a:xfrm>
          <a:prstGeom prst="rect">
            <a:avLst/>
          </a:prstGeom>
        </p:spPr>
      </p:pic>
      <p:sp>
        <p:nvSpPr>
          <p:cNvPr id="4" name="Shape 0"/>
          <p:cNvSpPr/>
          <p:nvPr/>
        </p:nvSpPr>
        <p:spPr>
          <a:xfrm>
            <a:off x="0" y="0"/>
            <a:ext cx="12191695" cy="6858000"/>
          </a:xfrm>
          <a:prstGeom prst="rect">
            <a:avLst/>
          </a:prstGeom>
          <a:solidFill>
            <a:srgbClr val="04101F">
              <a:alpha val="50000"/>
            </a:srgbClr>
          </a:solidFill>
          <a:ln/>
        </p:spPr>
      </p:sp>
      <p:pic>
        <p:nvPicPr>
          <p:cNvPr id="5" name="Image 2" descr="mark-sm.png"/>
          <p:cNvPicPr>
            <a:picLocks noChangeAspect="1"/>
          </p:cNvPicPr>
          <p:nvPr/>
        </p:nvPicPr>
        <p:blipFill>
          <a:blip r:embed="rId5"/>
          <a:stretch>
            <a:fillRect/>
          </a:stretch>
        </p:blipFill>
        <p:spPr>
          <a:xfrm>
            <a:off x="5784952" y="749808"/>
            <a:ext cx="621792" cy="621792"/>
          </a:xfrm>
          <a:prstGeom prst="rect">
            <a:avLst/>
          </a:prstGeom>
        </p:spPr>
      </p:pic>
      <p:sp>
        <p:nvSpPr>
          <p:cNvPr id="6" name="Text 1"/>
          <p:cNvSpPr/>
          <p:nvPr/>
        </p:nvSpPr>
        <p:spPr>
          <a:xfrm>
            <a:off x="1417320" y="1645920"/>
            <a:ext cx="9357055" cy="287465"/>
          </a:xfrm>
          <a:prstGeom prst="rect">
            <a:avLst/>
          </a:prstGeom>
          <a:noFill/>
          <a:ln/>
        </p:spPr>
        <p:txBody>
          <a:bodyPr wrap="square" lIns="0" tIns="0" rIns="0" bIns="0" rtlCol="0" anchor="t"/>
          <a:lstStyle/>
          <a:p>
            <a:pPr marL="0" indent="0" algn="ctr">
              <a:lnSpc>
                <a:spcPts val="1688"/>
              </a:lnSpc>
              <a:buNone/>
            </a:pPr>
            <a:r>
              <a:rPr lang="en-US" sz="1250" b="1" kern="0" spc="240" dirty="0">
                <a:solidFill>
                  <a:srgbClr val="6EE7A8"/>
                </a:solidFill>
                <a:latin typeface="Be Vietnam Pro" pitchFamily="34" charset="0"/>
                <a:ea typeface="Be Vietnam Pro" pitchFamily="34" charset="-122"/>
                <a:cs typeface="Be Vietnam Pro" pitchFamily="34" charset="-120"/>
              </a:rPr>
              <a:t>CHUẨN BỊ TỐT HƠN · PHỐI HỢP NHANH HƠN · ỨNG PHÓ HIỆU QUẢ HƠN</a:t>
            </a:r>
            <a:endParaRPr lang="en-US" sz="1250" dirty="0"/>
          </a:p>
        </p:txBody>
      </p:sp>
      <p:sp>
        <p:nvSpPr>
          <p:cNvPr id="7" name="Text 2"/>
          <p:cNvSpPr/>
          <p:nvPr/>
        </p:nvSpPr>
        <p:spPr>
          <a:xfrm>
            <a:off x="1188720" y="2130552"/>
            <a:ext cx="9814255" cy="1559052"/>
          </a:xfrm>
          <a:prstGeom prst="rect">
            <a:avLst/>
          </a:prstGeom>
          <a:noFill/>
          <a:ln/>
        </p:spPr>
        <p:txBody>
          <a:bodyPr wrap="square" lIns="0" tIns="0" rIns="0" bIns="0" rtlCol="0" anchor="t"/>
          <a:lstStyle/>
          <a:p>
            <a:pPr marL="0" indent="0" algn="ctr">
              <a:lnSpc>
                <a:spcPts val="3900"/>
              </a:lnSpc>
              <a:buNone/>
            </a:pPr>
            <a:r>
              <a:rPr lang="en-US" sz="3000" b="1" dirty="0">
                <a:solidFill>
                  <a:srgbClr val="FFFFFF"/>
                </a:solidFill>
                <a:latin typeface="Be Vietnam Pro" pitchFamily="34" charset="0"/>
                <a:ea typeface="Be Vietnam Pro" pitchFamily="34" charset="-122"/>
                <a:cs typeface="Be Vietnam Pro" pitchFamily="34" charset="-120"/>
              </a:rPr>
              <a:t>Chúng ta có thể không kiểm soát được khi nào</a:t>
            </a:r>
            <a:endParaRPr lang="en-US" sz="3000" dirty="0"/>
          </a:p>
          <a:p>
            <a:pPr marL="0" indent="0" algn="ctr">
              <a:lnSpc>
                <a:spcPts val="3900"/>
              </a:lnSpc>
              <a:buNone/>
            </a:pPr>
            <a:r>
              <a:rPr lang="en-US" sz="3000" b="1" dirty="0">
                <a:solidFill>
                  <a:srgbClr val="FFFFFF"/>
                </a:solidFill>
                <a:latin typeface="Be Vietnam Pro" pitchFamily="34" charset="0"/>
                <a:ea typeface="Be Vietnam Pro" pitchFamily="34" charset="-122"/>
                <a:cs typeface="Be Vietnam Pro" pitchFamily="34" charset="-120"/>
              </a:rPr>
              <a:t>thiên tai xảy ra, nhưng có thể chuẩn bị tốt hơn khi</a:t>
            </a:r>
            <a:endParaRPr lang="en-US" sz="3000" dirty="0"/>
          </a:p>
          <a:p>
            <a:pPr marL="0" indent="0" algn="ctr">
              <a:lnSpc>
                <a:spcPts val="3900"/>
              </a:lnSpc>
              <a:buNone/>
            </a:pPr>
            <a:r>
              <a:rPr lang="en-US" sz="3000" b="1" dirty="0">
                <a:solidFill>
                  <a:srgbClr val="FFFFFF"/>
                </a:solidFill>
                <a:latin typeface="Be Vietnam Pro" pitchFamily="34" charset="0"/>
                <a:ea typeface="Be Vietnam Pro" pitchFamily="34" charset="-122"/>
                <a:cs typeface="Be Vietnam Pro" pitchFamily="34" charset="-120"/>
              </a:rPr>
              <a:t>thiên tai thực sự ập đến.</a:t>
            </a:r>
            <a:endParaRPr lang="en-US" sz="3000" dirty="0"/>
          </a:p>
        </p:txBody>
      </p:sp>
      <p:sp>
        <p:nvSpPr>
          <p:cNvPr id="8" name="Shape 3"/>
          <p:cNvSpPr/>
          <p:nvPr/>
        </p:nvSpPr>
        <p:spPr>
          <a:xfrm>
            <a:off x="5410048" y="3950208"/>
            <a:ext cx="1371600" cy="68580"/>
          </a:xfrm>
          <a:prstGeom prst="roundRect">
            <a:avLst>
              <a:gd name="adj" fmla="val 49333"/>
            </a:avLst>
          </a:prstGeom>
          <a:solidFill>
            <a:srgbClr val="22C55E"/>
          </a:solidFill>
          <a:ln/>
        </p:spPr>
      </p:sp>
      <p:sp>
        <p:nvSpPr>
          <p:cNvPr id="9" name="Text 4"/>
          <p:cNvSpPr/>
          <p:nvPr/>
        </p:nvSpPr>
        <p:spPr>
          <a:xfrm>
            <a:off x="1965960" y="4261104"/>
            <a:ext cx="8259775" cy="347472"/>
          </a:xfrm>
          <a:prstGeom prst="rect">
            <a:avLst/>
          </a:prstGeom>
          <a:noFill/>
          <a:ln/>
        </p:spPr>
        <p:txBody>
          <a:bodyPr wrap="square" lIns="0" tIns="0" rIns="0" bIns="0" rtlCol="0" anchor="t"/>
          <a:lstStyle/>
          <a:p>
            <a:pPr marL="0" indent="0" algn="ctr">
              <a:lnSpc>
                <a:spcPts val="2160"/>
              </a:lnSpc>
              <a:buNone/>
            </a:pPr>
            <a:r>
              <a:rPr lang="en-US" sz="1600" dirty="0">
                <a:solidFill>
                  <a:srgbClr val="D9E6F2"/>
                </a:solidFill>
                <a:latin typeface="Be Vietnam Pro" pitchFamily="34" charset="0"/>
                <a:ea typeface="Be Vietnam Pro" pitchFamily="34" charset="-122"/>
                <a:cs typeface="Be Vietnam Pro" pitchFamily="34" charset="-120"/>
              </a:rPr>
              <a:t>Phần trình bày tiếp theo: Hệ thống Ứng Phó Nhanh</a:t>
            </a:r>
            <a:endParaRPr lang="en-US" sz="1600" dirty="0"/>
          </a:p>
        </p:txBody>
      </p:sp>
      <p:sp>
        <p:nvSpPr>
          <p:cNvPr id="10" name="Text 5"/>
          <p:cNvSpPr/>
          <p:nvPr/>
        </p:nvSpPr>
        <p:spPr>
          <a:xfrm>
            <a:off x="1965960" y="5010912"/>
            <a:ext cx="8259775" cy="313182"/>
          </a:xfrm>
          <a:prstGeom prst="rect">
            <a:avLst/>
          </a:prstGeom>
          <a:noFill/>
          <a:ln/>
        </p:spPr>
        <p:txBody>
          <a:bodyPr wrap="square" lIns="0" tIns="0" rIns="0" bIns="0" rtlCol="0" anchor="t"/>
          <a:lstStyle/>
          <a:p>
            <a:pPr marL="0" indent="0" algn="ctr">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Trân trọng cảm ơn Ban Lãnh đạo, Ban Tổ chức và Ban Giám khảo</a:t>
            </a:r>
            <a:endParaRPr lang="en-US" sz="1400" dirty="0"/>
          </a:p>
        </p:txBody>
      </p:sp>
      <p:sp>
        <p:nvSpPr>
          <p:cNvPr id="11" name="Text 6"/>
          <p:cNvSpPr/>
          <p:nvPr/>
        </p:nvSpPr>
        <p:spPr>
          <a:xfrm>
            <a:off x="1965960" y="5925312"/>
            <a:ext cx="8259775" cy="278892"/>
          </a:xfrm>
          <a:prstGeom prst="rect">
            <a:avLst/>
          </a:prstGeom>
          <a:noFill/>
          <a:ln/>
        </p:spPr>
        <p:txBody>
          <a:bodyPr wrap="square" lIns="0" tIns="0" rIns="0" bIns="0" rtlCol="0" anchor="t"/>
          <a:lstStyle/>
          <a:p>
            <a:pPr marL="0" indent="0" algn="ctr">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ungphonhanh.life</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nodeType="withEffect">
                                  <p:stCondLst>
                                    <p:cond delay="22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nodeType="withEffect">
                                  <p:stCondLst>
                                    <p:cond delay="22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par>
                                <p:cTn id="14" presetID="10" presetClass="entr" presetSubtype="0" fill="hold" nodeType="withEffect">
                                  <p:stCondLst>
                                    <p:cond delay="22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par>
                                <p:cTn id="17" presetID="10" presetClass="entr" presetSubtype="0" fill="hold" nodeType="withEffect">
                                  <p:stCondLst>
                                    <p:cond delay="22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171</TotalTime>
  <Words>5059</Words>
  <Application>Microsoft Office PowerPoint</Application>
  <PresentationFormat>Widescreen</PresentationFormat>
  <Paragraphs>643</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Be Vietnam Pro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Ứng Phó Nhanh — Giải pháp cứu hộ, cứu nạn và hậu cần thông minh</dc:title>
  <dc:subject>PptxGenJS Presentation</dc:subject>
  <dc:creator>Nhóm Ứng Phó Nhanh</dc:creator>
  <cp:lastModifiedBy>Nguyen Khanh Trinh</cp:lastModifiedBy>
  <cp:revision>8</cp:revision>
  <dcterms:created xsi:type="dcterms:W3CDTF">2026-09-13T04:57:44Z</dcterms:created>
  <dcterms:modified xsi:type="dcterms:W3CDTF">2026-09-13T08:35:05Z</dcterms:modified>
</cp:coreProperties>
</file>