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Kính chào quý Ban Lãnh đạo, Ban Tổ chức và Ban Giám khảo. Nhóm chúng em xin trình bày dự án Ứng Phó Nhanh - Giải pháp cứu hộ, cứu nạn và hậu cần thông minh.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Chúng em sinh ra và lớn lên tại vùng đất năm nào cũng chịu ảnh hưởng của bão lũ. Trong nhóm có thành viên là chiến sĩ Công an nhân dân, đã trực tiếp tham gia cứu hộ trong đợt bão lũ lịch sử năm 2025.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Các quyết định vẫn phải đưa ra nhanh chóng: Cần vật tư gì? Lấy ở đâu? Kho nào còn đủ? Và làm sao để tất cả các bộ phận cùng nhận được thông tin nhanh chóng, chính xác?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Trưởng thôn báo tình huống, người điều phối dùng AI lập phương án. Ngay khi phương án được duyệt, bộ phận kho và đội cứu hộ nhận thông tin cùng một lúc chứ không truyền tin nối tiếp qua nhau.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Giới thiệu sơ bộ toàn bộ quy trình: từ tin báo của trưởng thôn, AI phân tích, chọn kho, xác nhận và thông báo, đội cứu hộ báo cáo hoàn thành, cuối cùng là kho xác nhận hoàn trả vật tư. Sau đây nhóm em xin đi sâu từng bước.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Quy trình bắt đầu từ tin báo của trưởng thôn, sau đó AI phân tích tình hình để người điều phối chốt phương án.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đọc mô tả bằng lời thành số liệu, đề xuất vật tư và chọn kho tối ưu để rút ngắn thời gian ứng cứu.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Sau khi có danh mục vật tư, hệ thống chọn kho tiếp tế gần điểm gặp nạn nhất.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Hệ thống tính quãng đường thực tế từ điểm gặp nạn tới từng kho, ưu tiên kho gần nhất. Kho gần nhất không đủ thì lấy hết phần đang có rồi tràn sang kho gần thứ hai, thứ ba. Kho đang có sự cố hoặc vật tư hỏng, hết hạn sẽ bị loại khỏi phương án.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Người điều phối xác nhận phương án, kho và đội cứu hộ nhận thông báo cùng lúc.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Khi người điều phối xác nhận, kho và đội cứu hộ nhận thông tin cùng một lúc. Kho có phiếu yêu cầu riêng để chuẩn bị và xuất vật tư; đội cứu hộ thấy điểm gặp nạn trên bản đồ, biết cần nhận vật tư gì và phải tới những kho nào.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Hoàn thành nhiệm vụ, đội cứu hộ xác nhận trên hệ thống và gửi kèm hình ảnh tại hiện trường.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 xác nhận phần vật tư đội cứu hộ hoàn trả. Toàn bộ vòng đời nhiệm vụ được ghi lại đầy đủ trong hệ thống.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Hệ thống lưu lại toàn bộ dữ liệu từng đợt cứu hộ, trở thành nguồn thông tin để phân tích và dự báo nhu cầu vật tư cho những đợt tiếp theo.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Một xã có một kho tổng và mười bảy kho thôn. Màn hình tồn kho toàn xã ngăn được sai lầm: nhìn kho tổng rồi kết luận cả xã hết hàng, trong khi kho thôn Long Châu còn hơn một nghìn sáu trăm bộ sơ cứu.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Biết còn bao nhiêu là chưa đủ. Câu hỏi thật sự là bao nhiêu trong số đó dùng được ngay bây giờ. Một con số tồn kho đẹp có thể che giấu một kho không xuất được hàng.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Chỉ số sẵn sàng chấm theo sáu chiều, tính ở bốn cấp. Khi cảm biến báo nguy cơ cháy, kho đang chín mươi lăm điểm lập tức chuyển sang trạng thái không điều phối được.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Hai giờ sáng, độ ẩm kho tăng lên tám mươi tám phần trăm vì mái tôn dột. Hệ thống mở sự cố bảo quản xấu và gửi thư cho người phụ trách. Sáng ra, số thuốc và lương khô ở khu đó vẫn còn dùng được.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lựa chọn kỹ thuật, không phải thiếu sót. Nói bình thản, không hạ giọng: đường ống dữ liệu đã thiết kế cho cả cảm biến thật, khi gắn thiết bị thì phần nghiệp vụ không phải sửa.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Điều nhóm em quan tâm nhất không phải trợ lý trả lời nhanh, mà là trợ lý không được phép đưa ra con số không có trong dữ liệu. Không khớp thì màn hình hiện: chưa thể tạo câu trả lời an toàn từ dữ liệu hiện có.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Sáng ngày mười hai tháng Chín, bản tin đầu ngày báo mưa một trăm tám mươi mi-li-mét trong ba ngày tới, nhu cầu nước uống dự kiến gấp đôi, kho sẽ thiếu khoảng bốn trăm chai.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đoạn nói chậm nhất. Dự án không bắt đầu từ bài toán trên giấy mà từ xã Đồng Xuân, nơi gia đình thành viên nhóm có người tham gia công tác Hội Chữ thập đỏ xã. Lá thư có nghĩa là sản phẩm này có một nơi để về.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Điều chúng em muốn xây dựng là một hệ thống kết nối thông tin, hỗ trợ ra quyết định và điều phối nguồn lực.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Chúng ta có thể không kiểm soát được khi nào thiên tai xảy ra, nhưng có thể chuẩn bị tốt hơn, phối hợp nhanh hơn và ứng phó hiệu quả hơn. Mời quý Ban Giám khảo theo dõi phần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slideLayout" Target="../slideLayouts/slideLayout1.xml"/><Relationship Id="rId5"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4101F"/>
        </a:solidFill>
      </p:bgPr>
    </p:bg>
    <p:spTree>
      <p:nvGrpSpPr>
        <p:cNvPr id="1" name=""/>
        <p:cNvGrpSpPr/>
        <p:nvPr/>
      </p:nvGrpSpPr>
      <p:grpSpPr>
        <a:xfrm>
          <a:off x="0" y="0"/>
          <a:ext cx="0" cy="0"/>
          <a:chOff x="0" y="0"/>
          <a:chExt cx="0" cy="0"/>
        </a:xfrm>
      </p:grpSpPr>
      <p:pic>
        <p:nvPicPr>
          <p:cNvPr id="2" name="Image 0" descr="bg-title.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scrim-left.png">    </p:cNvPr>
          <p:cNvPicPr>
            <a:picLocks noChangeAspect="1"/>
          </p:cNvPicPr>
          <p:nvPr/>
        </p:nvPicPr>
        <p:blipFill>
          <a:blip r:embed="rId2"/>
          <a:stretch>
            <a:fillRect/>
          </a:stretch>
        </p:blipFill>
        <p:spPr>
          <a:xfrm>
            <a:off x="0" y="0"/>
            <a:ext cx="12191695" cy="6858000"/>
          </a:xfrm>
          <a:prstGeom prst="rect">
            <a:avLst/>
          </a:prstGeom>
        </p:spPr>
      </p:pic>
      <p:pic>
        <p:nvPicPr>
          <p:cNvPr id="4" name="Image 2" descr="scrim-bottom.png">    </p:cNvPr>
          <p:cNvPicPr>
            <a:picLocks noChangeAspect="1"/>
          </p:cNvPicPr>
          <p:nvPr/>
        </p:nvPicPr>
        <p:blipFill>
          <a:blip r:embed="rId3"/>
          <a:stretch>
            <a:fillRect/>
          </a:stretch>
        </p:blipFill>
        <p:spPr>
          <a:xfrm>
            <a:off x="0" y="0"/>
            <a:ext cx="12191695" cy="6858000"/>
          </a:xfrm>
          <a:prstGeom prst="rect">
            <a:avLst/>
          </a:prstGeom>
        </p:spPr>
      </p:pic>
      <p:sp>
        <p:nvSpPr>
          <p:cNvPr id="5" name="Shape 0"/>
          <p:cNvSpPr/>
          <p:nvPr/>
        </p:nvSpPr>
        <p:spPr>
          <a:xfrm>
            <a:off x="0" y="0"/>
            <a:ext cx="12191695" cy="6858000"/>
          </a:xfrm>
          <a:prstGeom prst="rect">
            <a:avLst/>
          </a:prstGeom>
          <a:solidFill>
            <a:srgbClr val="04101F">
              <a:alpha val="22000"/>
            </a:srgbClr>
          </a:solidFill>
          <a:ln/>
        </p:spPr>
      </p:sp>
      <p:sp>
        <p:nvSpPr>
          <p:cNvPr id="6" name="Shape 1"/>
          <p:cNvSpPr/>
          <p:nvPr/>
        </p:nvSpPr>
        <p:spPr>
          <a:xfrm>
            <a:off x="713232" y="603504"/>
            <a:ext cx="1700784" cy="1133856"/>
          </a:xfrm>
          <a:prstGeom prst="roundRect">
            <a:avLst>
              <a:gd name="adj" fmla="val 11290"/>
            </a:avLst>
          </a:prstGeom>
          <a:solidFill>
            <a:srgbClr val="FFFFFF">
              <a:alpha val="96000"/>
            </a:srgbClr>
          </a:solidFill>
          <a:ln/>
        </p:spPr>
      </p:sp>
      <p:pic>
        <p:nvPicPr>
          <p:cNvPr id="7" name="Image 3" descr="logo-sm.png">    </p:cNvPr>
          <p:cNvPicPr>
            <a:picLocks noChangeAspect="1"/>
          </p:cNvPicPr>
          <p:nvPr/>
        </p:nvPicPr>
        <p:blipFill>
          <a:blip r:embed="rId4"/>
          <a:stretch>
            <a:fillRect/>
          </a:stretch>
        </p:blipFill>
        <p:spPr>
          <a:xfrm>
            <a:off x="868680" y="777240"/>
            <a:ext cx="1389888" cy="822960"/>
          </a:xfrm>
          <a:prstGeom prst="rect">
            <a:avLst/>
          </a:prstGeom>
        </p:spPr>
      </p:pic>
      <p:sp>
        <p:nvSpPr>
          <p:cNvPr id="8" name="Text 2"/>
          <p:cNvSpPr/>
          <p:nvPr/>
        </p:nvSpPr>
        <p:spPr>
          <a:xfrm>
            <a:off x="713232" y="2560320"/>
            <a:ext cx="8321040" cy="923544"/>
          </a:xfrm>
          <a:prstGeom prst="rect">
            <a:avLst/>
          </a:prstGeom>
          <a:noFill/>
          <a:ln/>
        </p:spPr>
        <p:txBody>
          <a:bodyPr wrap="square" lIns="0" tIns="0" rIns="0" bIns="0" rtlCol="0" anchor="t"/>
          <a:lstStyle/>
          <a:p>
            <a:pPr algn="l" indent="0" marL="0">
              <a:lnSpc>
                <a:spcPts val="6696"/>
              </a:lnSpc>
              <a:buNone/>
            </a:pPr>
            <a:r>
              <a:rPr lang="en-US" sz="6200" b="1" dirty="0">
                <a:solidFill>
                  <a:srgbClr val="FFFFFF"/>
                </a:solidFill>
                <a:latin typeface="Be Vietnam Pro" pitchFamily="34" charset="0"/>
                <a:ea typeface="Be Vietnam Pro" pitchFamily="34" charset="-122"/>
                <a:cs typeface="Be Vietnam Pro" pitchFamily="34" charset="-120"/>
              </a:rPr>
              <a:t>ỨNG PHÓ NHANH</a:t>
            </a:r>
            <a:endParaRPr lang="en-US" sz="6200" dirty="0"/>
          </a:p>
        </p:txBody>
      </p:sp>
      <p:sp>
        <p:nvSpPr>
          <p:cNvPr id="9" name="Shape 3"/>
          <p:cNvSpPr/>
          <p:nvPr/>
        </p:nvSpPr>
        <p:spPr>
          <a:xfrm>
            <a:off x="713232" y="3767328"/>
            <a:ext cx="1325880" cy="68580"/>
          </a:xfrm>
          <a:prstGeom prst="roundRect">
            <a:avLst>
              <a:gd name="adj" fmla="val 49333"/>
            </a:avLst>
          </a:prstGeom>
          <a:solidFill>
            <a:srgbClr val="22C55E"/>
          </a:solidFill>
          <a:ln/>
        </p:spPr>
      </p:sp>
      <p:sp>
        <p:nvSpPr>
          <p:cNvPr id="10" name="Text 4"/>
          <p:cNvSpPr/>
          <p:nvPr/>
        </p:nvSpPr>
        <p:spPr>
          <a:xfrm>
            <a:off x="713232" y="4023360"/>
            <a:ext cx="7040880" cy="419862"/>
          </a:xfrm>
          <a:prstGeom prst="rect">
            <a:avLst/>
          </a:prstGeom>
          <a:noFill/>
          <a:ln/>
        </p:spPr>
        <p:txBody>
          <a:bodyPr wrap="square" lIns="0" tIns="0" rIns="0" bIns="0" rtlCol="0" anchor="t"/>
          <a:lstStyle/>
          <a:p>
            <a:pPr algn="l" indent="0" marL="0">
              <a:lnSpc>
                <a:spcPts val="2730"/>
              </a:lnSpc>
              <a:buNone/>
            </a:pPr>
            <a:r>
              <a:rPr lang="en-US" sz="2100" dirty="0">
                <a:solidFill>
                  <a:srgbClr val="E8F1FA"/>
                </a:solidFill>
                <a:latin typeface="Be Vietnam Pro" pitchFamily="34" charset="0"/>
                <a:ea typeface="Be Vietnam Pro" pitchFamily="34" charset="-122"/>
                <a:cs typeface="Be Vietnam Pro" pitchFamily="34" charset="-120"/>
              </a:rPr>
              <a:t>Giải pháp cứu hộ, cứu nạn và hậu cần thông minh</a:t>
            </a:r>
            <a:endParaRPr lang="en-US" sz="2100" dirty="0"/>
          </a:p>
        </p:txBody>
      </p:sp>
      <p:sp>
        <p:nvSpPr>
          <p:cNvPr id="11" name="Shape 5"/>
          <p:cNvSpPr/>
          <p:nvPr/>
        </p:nvSpPr>
        <p:spPr>
          <a:xfrm>
            <a:off x="713232" y="4828032"/>
            <a:ext cx="1591767" cy="329184"/>
          </a:xfrm>
          <a:prstGeom prst="roundRect">
            <a:avLst>
              <a:gd name="adj" fmla="val 50000"/>
            </a:avLst>
          </a:prstGeom>
          <a:solidFill>
            <a:srgbClr val="6EE7A8">
              <a:alpha val="18000"/>
            </a:srgbClr>
          </a:solidFill>
          <a:ln w="12700">
            <a:solidFill>
              <a:srgbClr val="6EE7A8">
                <a:alpha val="55000"/>
              </a:srgbClr>
            </a:solidFill>
            <a:prstDash val="solid"/>
          </a:ln>
        </p:spPr>
      </p:sp>
      <p:sp>
        <p:nvSpPr>
          <p:cNvPr id="12" name="Text 6"/>
          <p:cNvSpPr/>
          <p:nvPr/>
        </p:nvSpPr>
        <p:spPr>
          <a:xfrm>
            <a:off x="667512" y="4887468"/>
            <a:ext cx="1683207" cy="270320"/>
          </a:xfrm>
          <a:prstGeom prst="rect">
            <a:avLst/>
          </a:prstGeom>
          <a:noFill/>
          <a:ln/>
        </p:spPr>
        <p:txBody>
          <a:bodyPr wrap="square" lIns="0" tIns="0" rIns="0" bIns="0" rtlCol="0" anchor="t"/>
          <a:lstStyle/>
          <a:p>
            <a:pPr algn="ctr" indent="0" marL="0">
              <a:lnSpc>
                <a:spcPts val="1553"/>
              </a:lnSpc>
              <a:buNone/>
            </a:pPr>
            <a:r>
              <a:rPr lang="en-US" sz="1150" b="1" dirty="0">
                <a:solidFill>
                  <a:srgbClr val="6EE7A8"/>
                </a:solidFill>
                <a:latin typeface="Be Vietnam Pro" pitchFamily="34" charset="0"/>
                <a:ea typeface="Be Vietnam Pro" pitchFamily="34" charset="-122"/>
                <a:cs typeface="Be Vietnam Pro" pitchFamily="34" charset="-120"/>
              </a:rPr>
              <a:t>Kết nối thông tin</a:t>
            </a:r>
            <a:endParaRPr lang="en-US" sz="1150" dirty="0"/>
          </a:p>
        </p:txBody>
      </p:sp>
      <p:sp>
        <p:nvSpPr>
          <p:cNvPr id="13" name="Shape 7"/>
          <p:cNvSpPr/>
          <p:nvPr/>
        </p:nvSpPr>
        <p:spPr>
          <a:xfrm>
            <a:off x="2469591" y="4828032"/>
            <a:ext cx="1840782" cy="329184"/>
          </a:xfrm>
          <a:prstGeom prst="roundRect">
            <a:avLst>
              <a:gd name="adj" fmla="val 50000"/>
            </a:avLst>
          </a:prstGeom>
          <a:solidFill>
            <a:srgbClr val="FBBF24">
              <a:alpha val="18000"/>
            </a:srgbClr>
          </a:solidFill>
          <a:ln w="12700">
            <a:solidFill>
              <a:srgbClr val="FBBF24">
                <a:alpha val="55000"/>
              </a:srgbClr>
            </a:solidFill>
            <a:prstDash val="solid"/>
          </a:ln>
        </p:spPr>
      </p:sp>
      <p:sp>
        <p:nvSpPr>
          <p:cNvPr id="14" name="Text 8"/>
          <p:cNvSpPr/>
          <p:nvPr/>
        </p:nvSpPr>
        <p:spPr>
          <a:xfrm>
            <a:off x="2423871" y="4887468"/>
            <a:ext cx="1932222" cy="270320"/>
          </a:xfrm>
          <a:prstGeom prst="rect">
            <a:avLst/>
          </a:prstGeom>
          <a:noFill/>
          <a:ln/>
        </p:spPr>
        <p:txBody>
          <a:bodyPr wrap="square" lIns="0" tIns="0" rIns="0" bIns="0" rtlCol="0" anchor="t"/>
          <a:lstStyle/>
          <a:p>
            <a:pPr algn="ctr" indent="0" marL="0">
              <a:lnSpc>
                <a:spcPts val="1553"/>
              </a:lnSpc>
              <a:buNone/>
            </a:pPr>
            <a:r>
              <a:rPr lang="en-US" sz="1150" b="1" dirty="0">
                <a:solidFill>
                  <a:srgbClr val="FBBF24"/>
                </a:solidFill>
                <a:latin typeface="Be Vietnam Pro" pitchFamily="34" charset="0"/>
                <a:ea typeface="Be Vietnam Pro" pitchFamily="34" charset="-122"/>
                <a:cs typeface="Be Vietnam Pro" pitchFamily="34" charset="-120"/>
              </a:rPr>
              <a:t>Hỗ trợ ra quyết định</a:t>
            </a:r>
            <a:endParaRPr lang="en-US" sz="1150" dirty="0"/>
          </a:p>
        </p:txBody>
      </p:sp>
      <p:sp>
        <p:nvSpPr>
          <p:cNvPr id="15" name="Shape 9"/>
          <p:cNvSpPr/>
          <p:nvPr/>
        </p:nvSpPr>
        <p:spPr>
          <a:xfrm>
            <a:off x="4474966" y="4828032"/>
            <a:ext cx="1823841" cy="329184"/>
          </a:xfrm>
          <a:prstGeom prst="roundRect">
            <a:avLst>
              <a:gd name="adj" fmla="val 50000"/>
            </a:avLst>
          </a:prstGeom>
          <a:solidFill>
            <a:srgbClr val="38BDF8">
              <a:alpha val="18000"/>
            </a:srgbClr>
          </a:solidFill>
          <a:ln w="12700">
            <a:solidFill>
              <a:srgbClr val="38BDF8">
                <a:alpha val="55000"/>
              </a:srgbClr>
            </a:solidFill>
            <a:prstDash val="solid"/>
          </a:ln>
        </p:spPr>
      </p:sp>
      <p:sp>
        <p:nvSpPr>
          <p:cNvPr id="16" name="Text 10"/>
          <p:cNvSpPr/>
          <p:nvPr/>
        </p:nvSpPr>
        <p:spPr>
          <a:xfrm>
            <a:off x="4429246" y="4887468"/>
            <a:ext cx="1915281" cy="270320"/>
          </a:xfrm>
          <a:prstGeom prst="rect">
            <a:avLst/>
          </a:prstGeom>
          <a:noFill/>
          <a:ln/>
        </p:spPr>
        <p:txBody>
          <a:bodyPr wrap="square" lIns="0" tIns="0" rIns="0" bIns="0" rtlCol="0" anchor="t"/>
          <a:lstStyle/>
          <a:p>
            <a:pPr algn="ctr" indent="0" marL="0">
              <a:lnSpc>
                <a:spcPts val="1553"/>
              </a:lnSpc>
              <a:buNone/>
            </a:pPr>
            <a:r>
              <a:rPr lang="en-US" sz="1150" b="1" dirty="0">
                <a:solidFill>
                  <a:srgbClr val="38BDF8"/>
                </a:solidFill>
                <a:latin typeface="Be Vietnam Pro" pitchFamily="34" charset="0"/>
                <a:ea typeface="Be Vietnam Pro" pitchFamily="34" charset="-122"/>
                <a:cs typeface="Be Vietnam Pro" pitchFamily="34" charset="-120"/>
              </a:rPr>
              <a:t>Điều phối nguồn lực</a:t>
            </a:r>
            <a:endParaRPr lang="en-US" sz="1150" dirty="0"/>
          </a:p>
        </p:txBody>
      </p:sp>
      <p:sp>
        <p:nvSpPr>
          <p:cNvPr id="17" name="Text 11"/>
          <p:cNvSpPr/>
          <p:nvPr/>
        </p:nvSpPr>
        <p:spPr>
          <a:xfrm>
            <a:off x="713232" y="5925312"/>
            <a:ext cx="7406640" cy="270320"/>
          </a:xfrm>
          <a:prstGeom prst="rect">
            <a:avLst/>
          </a:prstGeom>
          <a:noFill/>
          <a:ln/>
        </p:spPr>
        <p:txBody>
          <a:bodyPr wrap="square" lIns="0" tIns="0" rIns="0" bIns="0" rtlCol="0" anchor="t"/>
          <a:lstStyle/>
          <a:p>
            <a:pPr algn="l" indent="0" marL="0">
              <a:lnSpc>
                <a:spcPts val="1553"/>
              </a:lnSpc>
              <a:buNone/>
            </a:pPr>
            <a:r>
              <a:rPr lang="en-US" sz="1150" dirty="0">
                <a:solidFill>
                  <a:srgbClr val="9BB0C6"/>
                </a:solidFill>
                <a:latin typeface="Be Vietnam Pro" pitchFamily="34" charset="0"/>
                <a:ea typeface="Be Vietnam Pro" pitchFamily="34" charset="-122"/>
                <a:cs typeface="Be Vietnam Pro" pitchFamily="34" charset="-120"/>
              </a:rPr>
              <a:t>Nhóm phát triển Ứng Phó Nhanh · Lũ Trẻ</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4101F"/>
        </a:solidFill>
      </p:bgPr>
    </p:bg>
    <p:spTree>
      <p:nvGrpSpPr>
        <p:cNvPr id="1" name=""/>
        <p:cNvGrpSpPr/>
        <p:nvPr/>
      </p:nvGrpSpPr>
      <p:grpSpPr>
        <a:xfrm>
          <a:off x="0" y="0"/>
          <a:ext cx="0" cy="0"/>
          <a:chOff x="0" y="0"/>
          <a:chExt cx="0" cy="0"/>
        </a:xfrm>
      </p:grpSpPr>
      <p:pic>
        <p:nvPicPr>
          <p:cNvPr id="2" name="Image 0" descr="bg-content.jp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4101F">
              <a:alpha val="34000"/>
            </a:srgbClr>
          </a:solidFill>
          <a:ln/>
        </p:spPr>
      </p:sp>
      <p:pic>
        <p:nvPicPr>
          <p:cNvPr id="4" name="Image 1" descr="mark-sm.png">    </p:cNvPr>
          <p:cNvPicPr>
            <a:picLocks noChangeAspect="1"/>
          </p:cNvPicPr>
          <p:nvPr/>
        </p:nvPicPr>
        <p:blipFill>
          <a:blip r:embed="rId2"/>
          <a:stretch>
            <a:fillRect/>
          </a:stretch>
        </p:blipFill>
        <p:spPr>
          <a:xfrm>
            <a:off x="713232" y="365760"/>
            <a:ext cx="310896" cy="310896"/>
          </a:xfrm>
          <a:prstGeom prst="rect">
            <a:avLst/>
          </a:prstGeom>
        </p:spPr>
      </p:pic>
      <p:sp>
        <p:nvSpPr>
          <p:cNvPr id="5" name="Text 1"/>
          <p:cNvSpPr/>
          <p:nvPr/>
        </p:nvSpPr>
        <p:spPr>
          <a:xfrm>
            <a:off x="1170432" y="384048"/>
            <a:ext cx="3749040" cy="261747"/>
          </a:xfrm>
          <a:prstGeom prst="rect">
            <a:avLst/>
          </a:prstGeom>
          <a:noFill/>
          <a:ln/>
        </p:spPr>
        <p:txBody>
          <a:bodyPr wrap="square" lIns="0" tIns="0" rIns="0" bIns="0" rtlCol="0" anchor="t"/>
          <a:lstStyle/>
          <a:p>
            <a:pPr algn="l" indent="0" marL="0">
              <a:lnSpc>
                <a:spcPts val="1485"/>
              </a:lnSpc>
              <a:buNone/>
            </a:pPr>
            <a:r>
              <a:rPr lang="en-US" sz="1100" b="1" spc="160" kern="0" dirty="0">
                <a:solidFill>
                  <a:srgbClr val="6EE7A8"/>
                </a:solidFill>
                <a:latin typeface="Be Vietnam Pro" pitchFamily="34" charset="0"/>
                <a:ea typeface="Be Vietnam Pro" pitchFamily="34" charset="-122"/>
                <a:cs typeface="Be Vietnam Pro" pitchFamily="34" charset="-120"/>
              </a:rPr>
              <a:t>ỨNG PHÓ NHANH</a:t>
            </a:r>
            <a:endParaRPr lang="en-US" sz="1100" dirty="0"/>
          </a:p>
        </p:txBody>
      </p:sp>
      <p:sp>
        <p:nvSpPr>
          <p:cNvPr id="6" name="Text 2"/>
          <p:cNvSpPr/>
          <p:nvPr/>
        </p:nvSpPr>
        <p:spPr>
          <a:xfrm>
            <a:off x="8643823" y="384048"/>
            <a:ext cx="2834640" cy="261747"/>
          </a:xfrm>
          <a:prstGeom prst="rect">
            <a:avLst/>
          </a:prstGeom>
          <a:noFill/>
          <a:ln/>
        </p:spPr>
        <p:txBody>
          <a:bodyPr wrap="square" lIns="0" tIns="0" rIns="0" bIns="0" rtlCol="0" anchor="t"/>
          <a:lstStyle/>
          <a:p>
            <a:pPr algn="r" indent="0" marL="0">
              <a:lnSpc>
                <a:spcPts val="1485"/>
              </a:lnSpc>
              <a:buNone/>
            </a:pPr>
            <a:r>
              <a:rPr lang="en-US" sz="1100" b="1" dirty="0">
                <a:solidFill>
                  <a:srgbClr val="7189A2"/>
                </a:solidFill>
                <a:latin typeface="Be Vietnam Pro" pitchFamily="34" charset="0"/>
                <a:ea typeface="Be Vietnam Pro" pitchFamily="34" charset="-122"/>
                <a:cs typeface="Be Vietnam Pro" pitchFamily="34" charset="-120"/>
              </a:rPr>
              <a:t>02 / 24</a:t>
            </a:r>
            <a:endParaRPr lang="en-US" sz="1100" dirty="0"/>
          </a:p>
        </p:txBody>
      </p:sp>
      <p:sp>
        <p:nvSpPr>
          <p:cNvPr id="7" name="Shape 3"/>
          <p:cNvSpPr/>
          <p:nvPr/>
        </p:nvSpPr>
        <p:spPr>
          <a:xfrm>
            <a:off x="713232" y="868680"/>
            <a:ext cx="10765231" cy="10973"/>
          </a:xfrm>
          <a:prstGeom prst="rect">
            <a:avLst/>
          </a:prstGeom>
          <a:solidFill>
            <a:srgbClr val="FFFFFF">
              <a:alpha val="16000"/>
            </a:srgbClr>
          </a:solidFill>
          <a:ln/>
        </p:spPr>
      </p:sp>
      <p:sp>
        <p:nvSpPr>
          <p:cNvPr id="8" name="Text 4"/>
          <p:cNvSpPr/>
          <p:nvPr/>
        </p:nvSpPr>
        <p:spPr>
          <a:xfrm>
            <a:off x="713232" y="1133856"/>
            <a:ext cx="8321040" cy="270320"/>
          </a:xfrm>
          <a:prstGeom prst="rect">
            <a:avLst/>
          </a:prstGeom>
          <a:noFill/>
          <a:ln/>
        </p:spPr>
        <p:txBody>
          <a:bodyPr wrap="square" lIns="0" tIns="0" rIns="0" bIns="0" rtlCol="0" anchor="t"/>
          <a:lstStyle/>
          <a:p>
            <a:pPr algn="l" indent="0" marL="0">
              <a:lnSpc>
                <a:spcPts val="1553"/>
              </a:lnSpc>
              <a:buNone/>
            </a:pPr>
            <a:r>
              <a:rPr lang="en-US" sz="1150" b="1" spc="220" kern="0" dirty="0">
                <a:solidFill>
                  <a:srgbClr val="22C55E"/>
                </a:solidFill>
                <a:latin typeface="Be Vietnam Pro" pitchFamily="34" charset="0"/>
                <a:ea typeface="Be Vietnam Pro" pitchFamily="34" charset="-122"/>
                <a:cs typeface="Be Vietnam Pro" pitchFamily="34" charset="-120"/>
              </a:rPr>
              <a:t>BỐI CẢNH</a:t>
            </a:r>
            <a:endParaRPr lang="en-US" sz="1150" dirty="0"/>
          </a:p>
        </p:txBody>
      </p:sp>
      <p:sp>
        <p:nvSpPr>
          <p:cNvPr id="9" name="Text 5"/>
          <p:cNvSpPr/>
          <p:nvPr/>
        </p:nvSpPr>
        <p:spPr>
          <a:xfrm>
            <a:off x="713232" y="1426464"/>
            <a:ext cx="10490911" cy="537718"/>
          </a:xfrm>
          <a:prstGeom prst="rect">
            <a:avLst/>
          </a:prstGeom>
          <a:noFill/>
          <a:ln/>
        </p:spPr>
        <p:txBody>
          <a:bodyPr wrap="square" lIns="0" tIns="0" rIns="0" bIns="0" rtlCol="0" anchor="t"/>
          <a:lstStyle/>
          <a:p>
            <a:pPr algn="l" indent="0" marL="0">
              <a:lnSpc>
                <a:spcPts val="3658"/>
              </a:lnSpc>
              <a:buNone/>
            </a:pPr>
            <a:r>
              <a:rPr lang="en-US" sz="3100" b="1" dirty="0">
                <a:solidFill>
                  <a:srgbClr val="FFFFFF"/>
                </a:solidFill>
                <a:latin typeface="Be Vietnam Pro" pitchFamily="34" charset="0"/>
                <a:ea typeface="Be Vietnam Pro" pitchFamily="34" charset="-122"/>
                <a:cs typeface="Be Vietnam Pro" pitchFamily="34" charset="-120"/>
              </a:rPr>
              <a:t>Chúng em lớn lên cùng những mùa bão lũ</a:t>
            </a:r>
            <a:endParaRPr lang="en-US" sz="3100" dirty="0"/>
          </a:p>
        </p:txBody>
      </p:sp>
      <p:sp>
        <p:nvSpPr>
          <p:cNvPr id="10" name="Shape 6"/>
          <p:cNvSpPr/>
          <p:nvPr/>
        </p:nvSpPr>
        <p:spPr>
          <a:xfrm>
            <a:off x="713232" y="6272784"/>
            <a:ext cx="10765231" cy="9144"/>
          </a:xfrm>
          <a:prstGeom prst="rect">
            <a:avLst/>
          </a:prstGeom>
          <a:solidFill>
            <a:srgbClr val="FFFFFF">
              <a:alpha val="10000"/>
            </a:srgbClr>
          </a:solidFill>
          <a:ln/>
        </p:spPr>
      </p:sp>
      <p:sp>
        <p:nvSpPr>
          <p:cNvPr id="11" name="Text 7"/>
          <p:cNvSpPr/>
          <p:nvPr/>
        </p:nvSpPr>
        <p:spPr>
          <a:xfrm>
            <a:off x="8643823" y="6382512"/>
            <a:ext cx="2834640" cy="236030"/>
          </a:xfrm>
          <a:prstGeom prst="rect">
            <a:avLst/>
          </a:prstGeom>
          <a:noFill/>
          <a:ln/>
        </p:spPr>
        <p:txBody>
          <a:bodyPr wrap="square" lIns="0" tIns="0" rIns="0" bIns="0" rtlCol="0" anchor="t"/>
          <a:lstStyle/>
          <a:p>
            <a:pPr algn="r" indent="0" marL="0">
              <a:lnSpc>
                <a:spcPts val="1283"/>
              </a:lnSpc>
              <a:buNone/>
            </a:pPr>
            <a:r>
              <a:rPr lang="en-US" sz="950" dirty="0">
                <a:solidFill>
                  <a:srgbClr val="7189A2"/>
                </a:solidFill>
                <a:latin typeface="Be Vietnam Pro" pitchFamily="34" charset="0"/>
                <a:ea typeface="Be Vietnam Pro" pitchFamily="34" charset="-122"/>
                <a:cs typeface="Be Vietnam Pro" pitchFamily="34" charset="-120"/>
              </a:rPr>
              <a:t>ungphonhanh.life</a:t>
            </a:r>
            <a:endParaRPr lang="en-US" sz="950" dirty="0"/>
          </a:p>
        </p:txBody>
      </p:sp>
      <p:sp>
        <p:nvSpPr>
          <p:cNvPr id="12" name="Shape 8"/>
          <p:cNvSpPr/>
          <p:nvPr/>
        </p:nvSpPr>
        <p:spPr>
          <a:xfrm>
            <a:off x="713232" y="2220214"/>
            <a:ext cx="3405530" cy="2240280"/>
          </a:xfrm>
          <a:prstGeom prst="roundRect">
            <a:avLst>
              <a:gd name="adj" fmla="val 4898"/>
            </a:avLst>
          </a:prstGeom>
          <a:solidFill>
            <a:srgbClr val="091B2D">
              <a:alpha val="66000"/>
            </a:srgbClr>
          </a:solidFill>
          <a:ln w="12700">
            <a:solidFill>
              <a:srgbClr val="FFFFFF">
                <a:alpha val="12000"/>
              </a:srgbClr>
            </a:solidFill>
            <a:prstDash val="solid"/>
          </a:ln>
        </p:spPr>
      </p:sp>
      <p:sp>
        <p:nvSpPr>
          <p:cNvPr id="13" name="Shape 9"/>
          <p:cNvSpPr/>
          <p:nvPr/>
        </p:nvSpPr>
        <p:spPr>
          <a:xfrm>
            <a:off x="713232" y="2220214"/>
            <a:ext cx="50292" cy="2240280"/>
          </a:xfrm>
          <a:prstGeom prst="roundRect">
            <a:avLst>
              <a:gd name="adj" fmla="val 54545"/>
            </a:avLst>
          </a:prstGeom>
          <a:solidFill>
            <a:srgbClr val="38BDF8">
              <a:alpha val="95000"/>
            </a:srgbClr>
          </a:solidFill>
          <a:ln/>
        </p:spPr>
      </p:sp>
      <p:sp>
        <p:nvSpPr>
          <p:cNvPr id="14" name="Text 10"/>
          <p:cNvSpPr/>
          <p:nvPr/>
        </p:nvSpPr>
        <p:spPr>
          <a:xfrm>
            <a:off x="1024128" y="2476246"/>
            <a:ext cx="2948330" cy="549402"/>
          </a:xfrm>
          <a:prstGeom prst="rect">
            <a:avLst/>
          </a:prstGeom>
          <a:noFill/>
          <a:ln/>
        </p:spPr>
        <p:txBody>
          <a:bodyPr wrap="square" lIns="0" tIns="0" rIns="0" bIns="0" rtlCol="0" anchor="t"/>
          <a:lstStyle/>
          <a:p>
            <a:pPr algn="l" indent="0" marL="0">
              <a:lnSpc>
                <a:spcPts val="1875"/>
              </a:lnSpc>
              <a:buNone/>
            </a:pPr>
            <a:r>
              <a:rPr lang="en-US" sz="1500" b="1" dirty="0">
                <a:solidFill>
                  <a:srgbClr val="FFFFFF"/>
                </a:solidFill>
                <a:latin typeface="Be Vietnam Pro" pitchFamily="34" charset="0"/>
                <a:ea typeface="Be Vietnam Pro" pitchFamily="34" charset="-122"/>
                <a:cs typeface="Be Vietnam Pro" pitchFamily="34" charset="-120"/>
              </a:rPr>
              <a:t>Điều chúng em tận mắt chứng</a:t>
            </a:r>
            <a:endParaRPr lang="en-US" sz="1500" dirty="0"/>
          </a:p>
          <a:p>
            <a:pPr algn="l" indent="0" marL="0">
              <a:lnSpc>
                <a:spcPts val="1875"/>
              </a:lnSpc>
              <a:buNone/>
            </a:pPr>
            <a:r>
              <a:rPr lang="en-US" sz="1500" b="1" dirty="0">
                <a:solidFill>
                  <a:srgbClr val="FFFFFF"/>
                </a:solidFill>
                <a:latin typeface="Be Vietnam Pro" pitchFamily="34" charset="0"/>
                <a:ea typeface="Be Vietnam Pro" pitchFamily="34" charset="-122"/>
                <a:cs typeface="Be Vietnam Pro" pitchFamily="34" charset="-120"/>
              </a:rPr>
              <a:t>kiến</a:t>
            </a:r>
            <a:endParaRPr lang="en-US" sz="1500" dirty="0"/>
          </a:p>
        </p:txBody>
      </p:sp>
      <p:sp>
        <p:nvSpPr>
          <p:cNvPr id="15" name="Text 11"/>
          <p:cNvSpPr/>
          <p:nvPr/>
        </p:nvSpPr>
        <p:spPr>
          <a:xfrm>
            <a:off x="1024128" y="3226054"/>
            <a:ext cx="2948330" cy="763714"/>
          </a:xfrm>
          <a:prstGeom prst="rect">
            <a:avLst/>
          </a:prstGeom>
          <a:noFill/>
          <a:ln/>
        </p:spPr>
        <p:txBody>
          <a:bodyPr wrap="square" lIns="0" tIns="0" rIns="0" bIns="0" rtlCol="0" anchor="t"/>
          <a:lstStyle/>
          <a:p>
            <a:pPr algn="l" indent="0" marL="0">
              <a:lnSpc>
                <a:spcPts val="1813"/>
              </a:lnSpc>
              <a:buNone/>
            </a:pPr>
            <a:r>
              <a:rPr lang="en-US" sz="1250" dirty="0">
                <a:solidFill>
                  <a:srgbClr val="D9E6F2"/>
                </a:solidFill>
                <a:latin typeface="Be Vietnam Pro" pitchFamily="34" charset="0"/>
                <a:ea typeface="Be Vietnam Pro" pitchFamily="34" charset="-122"/>
                <a:cs typeface="Be Vietnam Pro" pitchFamily="34" charset="-120"/>
              </a:rPr>
              <a:t>Nhà dân bị ngập, tuyến đường bị</a:t>
            </a:r>
            <a:endParaRPr lang="en-US" sz="1250" dirty="0"/>
          </a:p>
          <a:p>
            <a:pPr algn="l" indent="0" marL="0">
              <a:lnSpc>
                <a:spcPts val="1813"/>
              </a:lnSpc>
              <a:buNone/>
            </a:pPr>
            <a:r>
              <a:rPr lang="en-US" sz="1250" dirty="0">
                <a:solidFill>
                  <a:srgbClr val="D9E6F2"/>
                </a:solidFill>
                <a:latin typeface="Be Vietnam Pro" pitchFamily="34" charset="0"/>
                <a:ea typeface="Be Vietnam Pro" pitchFamily="34" charset="-122"/>
                <a:cs typeface="Be Vietnam Pro" pitchFamily="34" charset="-120"/>
              </a:rPr>
              <a:t>chia cắt, nhiều khu vực bị cô lập</a:t>
            </a:r>
            <a:endParaRPr lang="en-US" sz="1250" dirty="0"/>
          </a:p>
          <a:p>
            <a:pPr algn="l" indent="0" marL="0">
              <a:lnSpc>
                <a:spcPts val="1813"/>
              </a:lnSpc>
              <a:buNone/>
            </a:pPr>
            <a:r>
              <a:rPr lang="en-US" sz="1250" dirty="0">
                <a:solidFill>
                  <a:srgbClr val="D9E6F2"/>
                </a:solidFill>
                <a:latin typeface="Be Vietnam Pro" pitchFamily="34" charset="0"/>
                <a:ea typeface="Be Vietnam Pro" pitchFamily="34" charset="-122"/>
                <a:cs typeface="Be Vietnam Pro" pitchFamily="34" charset="-120"/>
              </a:rPr>
              <a:t>hoàn toàn.</a:t>
            </a:r>
            <a:endParaRPr lang="en-US" sz="1250" dirty="0"/>
          </a:p>
        </p:txBody>
      </p:sp>
      <p:sp>
        <p:nvSpPr>
          <p:cNvPr id="16" name="Shape 12"/>
          <p:cNvSpPr/>
          <p:nvPr/>
        </p:nvSpPr>
        <p:spPr>
          <a:xfrm>
            <a:off x="4393082" y="2220214"/>
            <a:ext cx="3405530" cy="2240280"/>
          </a:xfrm>
          <a:prstGeom prst="roundRect">
            <a:avLst>
              <a:gd name="adj" fmla="val 4898"/>
            </a:avLst>
          </a:prstGeom>
          <a:solidFill>
            <a:srgbClr val="091B2D">
              <a:alpha val="66000"/>
            </a:srgbClr>
          </a:solidFill>
          <a:ln w="12700">
            <a:solidFill>
              <a:srgbClr val="FFFFFF">
                <a:alpha val="12000"/>
              </a:srgbClr>
            </a:solidFill>
            <a:prstDash val="solid"/>
          </a:ln>
        </p:spPr>
      </p:sp>
      <p:sp>
        <p:nvSpPr>
          <p:cNvPr id="17" name="Shape 13"/>
          <p:cNvSpPr/>
          <p:nvPr/>
        </p:nvSpPr>
        <p:spPr>
          <a:xfrm>
            <a:off x="4393082" y="2220214"/>
            <a:ext cx="50292" cy="2240280"/>
          </a:xfrm>
          <a:prstGeom prst="roundRect">
            <a:avLst>
              <a:gd name="adj" fmla="val 54545"/>
            </a:avLst>
          </a:prstGeom>
          <a:solidFill>
            <a:srgbClr val="FB923C">
              <a:alpha val="95000"/>
            </a:srgbClr>
          </a:solidFill>
          <a:ln/>
        </p:spPr>
      </p:sp>
      <p:sp>
        <p:nvSpPr>
          <p:cNvPr id="18" name="Text 14"/>
          <p:cNvSpPr/>
          <p:nvPr/>
        </p:nvSpPr>
        <p:spPr>
          <a:xfrm>
            <a:off x="4703978" y="2476246"/>
            <a:ext cx="2948330" cy="311277"/>
          </a:xfrm>
          <a:prstGeom prst="rect">
            <a:avLst/>
          </a:prstGeom>
          <a:noFill/>
          <a:ln/>
        </p:spPr>
        <p:txBody>
          <a:bodyPr wrap="square" lIns="0" tIns="0" rIns="0" bIns="0" rtlCol="0" anchor="t"/>
          <a:lstStyle/>
          <a:p>
            <a:pPr algn="l" indent="0" marL="0">
              <a:lnSpc>
                <a:spcPts val="1875"/>
              </a:lnSpc>
              <a:buNone/>
            </a:pPr>
            <a:r>
              <a:rPr lang="en-US" sz="1500" b="1" dirty="0">
                <a:solidFill>
                  <a:srgbClr val="FFFFFF"/>
                </a:solidFill>
                <a:latin typeface="Be Vietnam Pro" pitchFamily="34" charset="0"/>
                <a:ea typeface="Be Vietnam Pro" pitchFamily="34" charset="-122"/>
                <a:cs typeface="Be Vietnam Pro" pitchFamily="34" charset="-120"/>
              </a:rPr>
              <a:t>Những người ở tuyến đầu</a:t>
            </a:r>
            <a:endParaRPr lang="en-US" sz="1500" dirty="0"/>
          </a:p>
        </p:txBody>
      </p:sp>
      <p:sp>
        <p:nvSpPr>
          <p:cNvPr id="19" name="Text 15"/>
          <p:cNvSpPr/>
          <p:nvPr/>
        </p:nvSpPr>
        <p:spPr>
          <a:xfrm>
            <a:off x="4703978" y="3226054"/>
            <a:ext cx="2948330" cy="763714"/>
          </a:xfrm>
          <a:prstGeom prst="rect">
            <a:avLst/>
          </a:prstGeom>
          <a:noFill/>
          <a:ln/>
        </p:spPr>
        <p:txBody>
          <a:bodyPr wrap="square" lIns="0" tIns="0" rIns="0" bIns="0" rtlCol="0" anchor="t"/>
          <a:lstStyle/>
          <a:p>
            <a:pPr algn="l" indent="0" marL="0">
              <a:lnSpc>
                <a:spcPts val="1813"/>
              </a:lnSpc>
              <a:buNone/>
            </a:pPr>
            <a:r>
              <a:rPr lang="en-US" sz="1250" dirty="0">
                <a:solidFill>
                  <a:srgbClr val="D9E6F2"/>
                </a:solidFill>
                <a:latin typeface="Be Vietnam Pro" pitchFamily="34" charset="0"/>
                <a:ea typeface="Be Vietnam Pro" pitchFamily="34" charset="-122"/>
                <a:cs typeface="Be Vietnam Pro" pitchFamily="34" charset="-120"/>
              </a:rPr>
              <a:t>Lực lượng cứu hộ làm việc liên tục</a:t>
            </a:r>
            <a:endParaRPr lang="en-US" sz="1250" dirty="0"/>
          </a:p>
          <a:p>
            <a:pPr algn="l" indent="0" marL="0">
              <a:lnSpc>
                <a:spcPts val="1813"/>
              </a:lnSpc>
              <a:buNone/>
            </a:pPr>
            <a:r>
              <a:rPr lang="en-US" sz="1250" dirty="0">
                <a:solidFill>
                  <a:srgbClr val="D9E6F2"/>
                </a:solidFill>
                <a:latin typeface="Be Vietnam Pro" pitchFamily="34" charset="0"/>
                <a:ea typeface="Be Vietnam Pro" pitchFamily="34" charset="-122"/>
                <a:cs typeface="Be Vietnam Pro" pitchFamily="34" charset="-120"/>
              </a:rPr>
              <a:t>ngày đêm để đưa người dân đến nơi</a:t>
            </a:r>
            <a:endParaRPr lang="en-US" sz="1250" dirty="0"/>
          </a:p>
          <a:p>
            <a:pPr algn="l" indent="0" marL="0">
              <a:lnSpc>
                <a:spcPts val="1813"/>
              </a:lnSpc>
              <a:buNone/>
            </a:pPr>
            <a:r>
              <a:rPr lang="en-US" sz="1250" dirty="0">
                <a:solidFill>
                  <a:srgbClr val="D9E6F2"/>
                </a:solidFill>
                <a:latin typeface="Be Vietnam Pro" pitchFamily="34" charset="0"/>
                <a:ea typeface="Be Vietnam Pro" pitchFamily="34" charset="-122"/>
                <a:cs typeface="Be Vietnam Pro" pitchFamily="34" charset="-120"/>
              </a:rPr>
              <a:t>an toàn.</a:t>
            </a:r>
            <a:endParaRPr lang="en-US" sz="1250" dirty="0"/>
          </a:p>
        </p:txBody>
      </p:sp>
      <p:sp>
        <p:nvSpPr>
          <p:cNvPr id="20" name="Shape 16"/>
          <p:cNvSpPr/>
          <p:nvPr/>
        </p:nvSpPr>
        <p:spPr>
          <a:xfrm>
            <a:off x="8072933" y="2220214"/>
            <a:ext cx="3405530" cy="2240280"/>
          </a:xfrm>
          <a:prstGeom prst="roundRect">
            <a:avLst>
              <a:gd name="adj" fmla="val 4898"/>
            </a:avLst>
          </a:prstGeom>
          <a:solidFill>
            <a:srgbClr val="091B2D">
              <a:alpha val="66000"/>
            </a:srgbClr>
          </a:solidFill>
          <a:ln w="12700">
            <a:solidFill>
              <a:srgbClr val="FFFFFF">
                <a:alpha val="12000"/>
              </a:srgbClr>
            </a:solidFill>
            <a:prstDash val="solid"/>
          </a:ln>
        </p:spPr>
      </p:sp>
      <p:sp>
        <p:nvSpPr>
          <p:cNvPr id="21" name="Shape 17"/>
          <p:cNvSpPr/>
          <p:nvPr/>
        </p:nvSpPr>
        <p:spPr>
          <a:xfrm>
            <a:off x="8072933" y="2220214"/>
            <a:ext cx="50292" cy="2240280"/>
          </a:xfrm>
          <a:prstGeom prst="roundRect">
            <a:avLst>
              <a:gd name="adj" fmla="val 54545"/>
            </a:avLst>
          </a:prstGeom>
          <a:solidFill>
            <a:srgbClr val="22C55E">
              <a:alpha val="95000"/>
            </a:srgbClr>
          </a:solidFill>
          <a:ln/>
        </p:spPr>
      </p:sp>
      <p:sp>
        <p:nvSpPr>
          <p:cNvPr id="22" name="Text 18"/>
          <p:cNvSpPr/>
          <p:nvPr/>
        </p:nvSpPr>
        <p:spPr>
          <a:xfrm>
            <a:off x="8383829" y="2476246"/>
            <a:ext cx="2948330" cy="311277"/>
          </a:xfrm>
          <a:prstGeom prst="rect">
            <a:avLst/>
          </a:prstGeom>
          <a:noFill/>
          <a:ln/>
        </p:spPr>
        <p:txBody>
          <a:bodyPr wrap="square" lIns="0" tIns="0" rIns="0" bIns="0" rtlCol="0" anchor="t"/>
          <a:lstStyle/>
          <a:p>
            <a:pPr algn="l" indent="0" marL="0">
              <a:lnSpc>
                <a:spcPts val="1875"/>
              </a:lnSpc>
              <a:buNone/>
            </a:pPr>
            <a:r>
              <a:rPr lang="en-US" sz="1500" b="1" dirty="0">
                <a:solidFill>
                  <a:srgbClr val="FFFFFF"/>
                </a:solidFill>
                <a:latin typeface="Be Vietnam Pro" pitchFamily="34" charset="0"/>
                <a:ea typeface="Be Vietnam Pro" pitchFamily="34" charset="-122"/>
                <a:cs typeface="Be Vietnam Pro" pitchFamily="34" charset="-120"/>
              </a:rPr>
              <a:t>Trải nghiệm thực chiến</a:t>
            </a:r>
            <a:endParaRPr lang="en-US" sz="1500" dirty="0"/>
          </a:p>
        </p:txBody>
      </p:sp>
      <p:sp>
        <p:nvSpPr>
          <p:cNvPr id="23" name="Text 19"/>
          <p:cNvSpPr/>
          <p:nvPr/>
        </p:nvSpPr>
        <p:spPr>
          <a:xfrm>
            <a:off x="8383829" y="3226054"/>
            <a:ext cx="2948330" cy="763714"/>
          </a:xfrm>
          <a:prstGeom prst="rect">
            <a:avLst/>
          </a:prstGeom>
          <a:noFill/>
          <a:ln/>
        </p:spPr>
        <p:txBody>
          <a:bodyPr wrap="square" lIns="0" tIns="0" rIns="0" bIns="0" rtlCol="0" anchor="t"/>
          <a:lstStyle/>
          <a:p>
            <a:pPr algn="l" indent="0" marL="0">
              <a:lnSpc>
                <a:spcPts val="1813"/>
              </a:lnSpc>
              <a:buNone/>
            </a:pPr>
            <a:r>
              <a:rPr lang="en-US" sz="1250" dirty="0">
                <a:solidFill>
                  <a:srgbClr val="D9E6F2"/>
                </a:solidFill>
                <a:latin typeface="Be Vietnam Pro" pitchFamily="34" charset="0"/>
                <a:ea typeface="Be Vietnam Pro" pitchFamily="34" charset="-122"/>
                <a:cs typeface="Be Vietnam Pro" pitchFamily="34" charset="-120"/>
              </a:rPr>
              <a:t>Thành viên nhóm là chiến sĩ Công an</a:t>
            </a:r>
            <a:endParaRPr lang="en-US" sz="1250" dirty="0"/>
          </a:p>
          <a:p>
            <a:pPr algn="l" indent="0" marL="0">
              <a:lnSpc>
                <a:spcPts val="1813"/>
              </a:lnSpc>
              <a:buNone/>
            </a:pPr>
            <a:r>
              <a:rPr lang="en-US" sz="1250" dirty="0">
                <a:solidFill>
                  <a:srgbClr val="D9E6F2"/>
                </a:solidFill>
                <a:latin typeface="Be Vietnam Pro" pitchFamily="34" charset="0"/>
                <a:ea typeface="Be Vietnam Pro" pitchFamily="34" charset="-122"/>
                <a:cs typeface="Be Vietnam Pro" pitchFamily="34" charset="-120"/>
              </a:rPr>
              <a:t>nhân dân, trực tiếp tham gia cứu hộ</a:t>
            </a:r>
            <a:endParaRPr lang="en-US" sz="1250" dirty="0"/>
          </a:p>
          <a:p>
            <a:pPr algn="l" indent="0" marL="0">
              <a:lnSpc>
                <a:spcPts val="1813"/>
              </a:lnSpc>
              <a:buNone/>
            </a:pPr>
            <a:r>
              <a:rPr lang="en-US" sz="1250" dirty="0">
                <a:solidFill>
                  <a:srgbClr val="D9E6F2"/>
                </a:solidFill>
                <a:latin typeface="Be Vietnam Pro" pitchFamily="34" charset="0"/>
                <a:ea typeface="Be Vietnam Pro" pitchFamily="34" charset="-122"/>
                <a:cs typeface="Be Vietnam Pro" pitchFamily="34" charset="-120"/>
              </a:rPr>
              <a:t>trong đợt bão lũ lịch sử 2025.</a:t>
            </a:r>
            <a:endParaRPr lang="en-US" sz="1250" dirty="0"/>
          </a:p>
        </p:txBody>
      </p:sp>
      <p:sp>
        <p:nvSpPr>
          <p:cNvPr id="24" name="Shape 20"/>
          <p:cNvSpPr/>
          <p:nvPr/>
        </p:nvSpPr>
        <p:spPr>
          <a:xfrm>
            <a:off x="713232" y="4871974"/>
            <a:ext cx="10765231" cy="1097280"/>
          </a:xfrm>
          <a:prstGeom prst="roundRect">
            <a:avLst>
              <a:gd name="adj" fmla="val 10000"/>
            </a:avLst>
          </a:prstGeom>
          <a:solidFill>
            <a:srgbClr val="22C55E">
              <a:alpha val="12000"/>
            </a:srgbClr>
          </a:solidFill>
          <a:ln w="12700">
            <a:solidFill>
              <a:srgbClr val="22C55E">
                <a:alpha val="45000"/>
              </a:srgbClr>
            </a:solidFill>
            <a:prstDash val="solid"/>
          </a:ln>
        </p:spPr>
      </p:sp>
      <p:sp>
        <p:nvSpPr>
          <p:cNvPr id="25" name="Shape 21"/>
          <p:cNvSpPr/>
          <p:nvPr/>
        </p:nvSpPr>
        <p:spPr>
          <a:xfrm>
            <a:off x="713232" y="4871974"/>
            <a:ext cx="54864" cy="1097280"/>
          </a:xfrm>
          <a:prstGeom prst="roundRect">
            <a:avLst>
              <a:gd name="adj" fmla="val 50000"/>
            </a:avLst>
          </a:prstGeom>
          <a:solidFill>
            <a:srgbClr val="22C55E"/>
          </a:solidFill>
          <a:ln/>
        </p:spPr>
      </p:sp>
      <p:sp>
        <p:nvSpPr>
          <p:cNvPr id="26" name="Text 22"/>
          <p:cNvSpPr/>
          <p:nvPr/>
        </p:nvSpPr>
        <p:spPr>
          <a:xfrm>
            <a:off x="1097280" y="5128006"/>
            <a:ext cx="10125151" cy="677672"/>
          </a:xfrm>
          <a:prstGeom prst="rect">
            <a:avLst/>
          </a:prstGeom>
          <a:noFill/>
          <a:ln/>
        </p:spPr>
        <p:txBody>
          <a:bodyPr wrap="square" lIns="0" tIns="0" rIns="0" bIns="0" rtlCol="0" anchor="t"/>
          <a:lstStyle/>
          <a:p>
            <a:pPr algn="l" indent="0" marL="0">
              <a:lnSpc>
                <a:spcPts val="2380"/>
              </a:lnSpc>
              <a:buNone/>
            </a:pPr>
            <a:r>
              <a:rPr lang="en-US" sz="1700" b="1" dirty="0">
                <a:solidFill>
                  <a:srgbClr val="FFFFFF"/>
                </a:solidFill>
                <a:latin typeface="Be Vietnam Pro" pitchFamily="34" charset="0"/>
                <a:ea typeface="Be Vietnam Pro" pitchFamily="34" charset="-122"/>
                <a:cs typeface="Be Vietnam Pro" pitchFamily="34" charset="-120"/>
              </a:rPr>
              <a:t>Chúng em trăn trở: liệu công nghệ và AI có thể giảm bớt gánh nặng cho những người đang</a:t>
            </a:r>
            <a:endParaRPr lang="en-US" sz="1700" dirty="0"/>
          </a:p>
          <a:p>
            <a:pPr algn="l" indent="0" marL="0">
              <a:lnSpc>
                <a:spcPts val="2380"/>
              </a:lnSpc>
              <a:buNone/>
            </a:pPr>
            <a:r>
              <a:rPr lang="en-US" sz="1700" b="1" dirty="0">
                <a:solidFill>
                  <a:srgbClr val="FFFFFF"/>
                </a:solidFill>
                <a:latin typeface="Be Vietnam Pro" pitchFamily="34" charset="0"/>
                <a:ea typeface="Be Vietnam Pro" pitchFamily="34" charset="-122"/>
                <a:cs typeface="Be Vietnam Pro" pitchFamily="34" charset="-120"/>
              </a:rPr>
              <a:t>trực tiếp điều phối cứu hộ? Đó là lý do Ứng Phó Nhanh ra đời.</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4101F"/>
        </a:solidFill>
      </p:bgPr>
    </p:bg>
    <p:spTree>
      <p:nvGrpSpPr>
        <p:cNvPr id="1" name=""/>
        <p:cNvGrpSpPr/>
        <p:nvPr/>
      </p:nvGrpSpPr>
      <p:grpSpPr>
        <a:xfrm>
          <a:off x="0" y="0"/>
          <a:ext cx="0" cy="0"/>
          <a:chOff x="0" y="0"/>
          <a:chExt cx="0" cy="0"/>
        </a:xfrm>
      </p:grpSpPr>
      <p:pic>
        <p:nvPicPr>
          <p:cNvPr id="2" name="Image 0" descr="bg-content.jp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4101F">
              <a:alpha val="34000"/>
            </a:srgbClr>
          </a:solidFill>
          <a:ln/>
        </p:spPr>
      </p:sp>
      <p:pic>
        <p:nvPicPr>
          <p:cNvPr id="4" name="Image 1" descr="mark-sm.png">    </p:cNvPr>
          <p:cNvPicPr>
            <a:picLocks noChangeAspect="1"/>
          </p:cNvPicPr>
          <p:nvPr/>
        </p:nvPicPr>
        <p:blipFill>
          <a:blip r:embed="rId2"/>
          <a:stretch>
            <a:fillRect/>
          </a:stretch>
        </p:blipFill>
        <p:spPr>
          <a:xfrm>
            <a:off x="713232" y="365760"/>
            <a:ext cx="310896" cy="310896"/>
          </a:xfrm>
          <a:prstGeom prst="rect">
            <a:avLst/>
          </a:prstGeom>
        </p:spPr>
      </p:pic>
      <p:sp>
        <p:nvSpPr>
          <p:cNvPr id="5" name="Text 1"/>
          <p:cNvSpPr/>
          <p:nvPr/>
        </p:nvSpPr>
        <p:spPr>
          <a:xfrm>
            <a:off x="1170432" y="384048"/>
            <a:ext cx="3749040" cy="261747"/>
          </a:xfrm>
          <a:prstGeom prst="rect">
            <a:avLst/>
          </a:prstGeom>
          <a:noFill/>
          <a:ln/>
        </p:spPr>
        <p:txBody>
          <a:bodyPr wrap="square" lIns="0" tIns="0" rIns="0" bIns="0" rtlCol="0" anchor="t"/>
          <a:lstStyle/>
          <a:p>
            <a:pPr algn="l" indent="0" marL="0">
              <a:lnSpc>
                <a:spcPts val="1485"/>
              </a:lnSpc>
              <a:buNone/>
            </a:pPr>
            <a:r>
              <a:rPr lang="en-US" sz="1100" b="1" spc="160" kern="0" dirty="0">
                <a:solidFill>
                  <a:srgbClr val="6EE7A8"/>
                </a:solidFill>
                <a:latin typeface="Be Vietnam Pro" pitchFamily="34" charset="0"/>
                <a:ea typeface="Be Vietnam Pro" pitchFamily="34" charset="-122"/>
                <a:cs typeface="Be Vietnam Pro" pitchFamily="34" charset="-120"/>
              </a:rPr>
              <a:t>ỨNG PHÓ NHANH</a:t>
            </a:r>
            <a:endParaRPr lang="en-US" sz="1100" dirty="0"/>
          </a:p>
        </p:txBody>
      </p:sp>
      <p:sp>
        <p:nvSpPr>
          <p:cNvPr id="6" name="Text 2"/>
          <p:cNvSpPr/>
          <p:nvPr/>
        </p:nvSpPr>
        <p:spPr>
          <a:xfrm>
            <a:off x="8643823" y="384048"/>
            <a:ext cx="2834640" cy="261747"/>
          </a:xfrm>
          <a:prstGeom prst="rect">
            <a:avLst/>
          </a:prstGeom>
          <a:noFill/>
          <a:ln/>
        </p:spPr>
        <p:txBody>
          <a:bodyPr wrap="square" lIns="0" tIns="0" rIns="0" bIns="0" rtlCol="0" anchor="t"/>
          <a:lstStyle/>
          <a:p>
            <a:pPr algn="r" indent="0" marL="0">
              <a:lnSpc>
                <a:spcPts val="1485"/>
              </a:lnSpc>
              <a:buNone/>
            </a:pPr>
            <a:r>
              <a:rPr lang="en-US" sz="1100" b="1" dirty="0">
                <a:solidFill>
                  <a:srgbClr val="7189A2"/>
                </a:solidFill>
                <a:latin typeface="Be Vietnam Pro" pitchFamily="34" charset="0"/>
                <a:ea typeface="Be Vietnam Pro" pitchFamily="34" charset="-122"/>
                <a:cs typeface="Be Vietnam Pro" pitchFamily="34" charset="-120"/>
              </a:rPr>
              <a:t>03 / 24</a:t>
            </a:r>
            <a:endParaRPr lang="en-US" sz="1100" dirty="0"/>
          </a:p>
        </p:txBody>
      </p:sp>
      <p:sp>
        <p:nvSpPr>
          <p:cNvPr id="7" name="Shape 3"/>
          <p:cNvSpPr/>
          <p:nvPr/>
        </p:nvSpPr>
        <p:spPr>
          <a:xfrm>
            <a:off x="713232" y="868680"/>
            <a:ext cx="10765231" cy="10973"/>
          </a:xfrm>
          <a:prstGeom prst="rect">
            <a:avLst/>
          </a:prstGeom>
          <a:solidFill>
            <a:srgbClr val="FFFFFF">
              <a:alpha val="16000"/>
            </a:srgbClr>
          </a:solidFill>
          <a:ln/>
        </p:spPr>
      </p:sp>
      <p:sp>
        <p:nvSpPr>
          <p:cNvPr id="8" name="Text 4"/>
          <p:cNvSpPr/>
          <p:nvPr/>
        </p:nvSpPr>
        <p:spPr>
          <a:xfrm>
            <a:off x="713232" y="1133856"/>
            <a:ext cx="8321040" cy="270320"/>
          </a:xfrm>
          <a:prstGeom prst="rect">
            <a:avLst/>
          </a:prstGeom>
          <a:noFill/>
          <a:ln/>
        </p:spPr>
        <p:txBody>
          <a:bodyPr wrap="square" lIns="0" tIns="0" rIns="0" bIns="0" rtlCol="0" anchor="t"/>
          <a:lstStyle/>
          <a:p>
            <a:pPr algn="l" indent="0" marL="0">
              <a:lnSpc>
                <a:spcPts val="1553"/>
              </a:lnSpc>
              <a:buNone/>
            </a:pPr>
            <a:r>
              <a:rPr lang="en-US" sz="1150" b="1" spc="220" kern="0" dirty="0">
                <a:solidFill>
                  <a:srgbClr val="22C55E"/>
                </a:solidFill>
                <a:latin typeface="Be Vietnam Pro" pitchFamily="34" charset="0"/>
                <a:ea typeface="Be Vietnam Pro" pitchFamily="34" charset="-122"/>
                <a:cs typeface="Be Vietnam Pro" pitchFamily="34" charset="-120"/>
              </a:rPr>
              <a:t>VẤN ĐỀ</a:t>
            </a:r>
            <a:endParaRPr lang="en-US" sz="1150" dirty="0"/>
          </a:p>
        </p:txBody>
      </p:sp>
      <p:sp>
        <p:nvSpPr>
          <p:cNvPr id="9" name="Text 5"/>
          <p:cNvSpPr/>
          <p:nvPr/>
        </p:nvSpPr>
        <p:spPr>
          <a:xfrm>
            <a:off x="713232" y="1426464"/>
            <a:ext cx="10490911" cy="537718"/>
          </a:xfrm>
          <a:prstGeom prst="rect">
            <a:avLst/>
          </a:prstGeom>
          <a:noFill/>
          <a:ln/>
        </p:spPr>
        <p:txBody>
          <a:bodyPr wrap="square" lIns="0" tIns="0" rIns="0" bIns="0" rtlCol="0" anchor="t"/>
          <a:lstStyle/>
          <a:p>
            <a:pPr algn="l" indent="0" marL="0">
              <a:lnSpc>
                <a:spcPts val="3658"/>
              </a:lnSpc>
              <a:buNone/>
            </a:pPr>
            <a:r>
              <a:rPr lang="en-US" sz="3100" b="1" dirty="0">
                <a:solidFill>
                  <a:srgbClr val="FFFFFF"/>
                </a:solidFill>
                <a:latin typeface="Be Vietnam Pro" pitchFamily="34" charset="0"/>
                <a:ea typeface="Be Vietnam Pro" pitchFamily="34" charset="-122"/>
                <a:cs typeface="Be Vietnam Pro" pitchFamily="34" charset="-120"/>
              </a:rPr>
              <a:t>Bài toán trong những giờ khẩn cấp</a:t>
            </a:r>
            <a:endParaRPr lang="en-US" sz="3100" dirty="0"/>
          </a:p>
        </p:txBody>
      </p:sp>
      <p:sp>
        <p:nvSpPr>
          <p:cNvPr id="10" name="Shape 6"/>
          <p:cNvSpPr/>
          <p:nvPr/>
        </p:nvSpPr>
        <p:spPr>
          <a:xfrm>
            <a:off x="713232" y="6272784"/>
            <a:ext cx="10765231" cy="9144"/>
          </a:xfrm>
          <a:prstGeom prst="rect">
            <a:avLst/>
          </a:prstGeom>
          <a:solidFill>
            <a:srgbClr val="FFFFFF">
              <a:alpha val="10000"/>
            </a:srgbClr>
          </a:solidFill>
          <a:ln/>
        </p:spPr>
      </p:sp>
      <p:sp>
        <p:nvSpPr>
          <p:cNvPr id="11" name="Text 7"/>
          <p:cNvSpPr/>
          <p:nvPr/>
        </p:nvSpPr>
        <p:spPr>
          <a:xfrm>
            <a:off x="8643823" y="6382512"/>
            <a:ext cx="2834640" cy="236030"/>
          </a:xfrm>
          <a:prstGeom prst="rect">
            <a:avLst/>
          </a:prstGeom>
          <a:noFill/>
          <a:ln/>
        </p:spPr>
        <p:txBody>
          <a:bodyPr wrap="square" lIns="0" tIns="0" rIns="0" bIns="0" rtlCol="0" anchor="t"/>
          <a:lstStyle/>
          <a:p>
            <a:pPr algn="r" indent="0" marL="0">
              <a:lnSpc>
                <a:spcPts val="1283"/>
              </a:lnSpc>
              <a:buNone/>
            </a:pPr>
            <a:r>
              <a:rPr lang="en-US" sz="950" dirty="0">
                <a:solidFill>
                  <a:srgbClr val="7189A2"/>
                </a:solidFill>
                <a:latin typeface="Be Vietnam Pro" pitchFamily="34" charset="0"/>
                <a:ea typeface="Be Vietnam Pro" pitchFamily="34" charset="-122"/>
                <a:cs typeface="Be Vietnam Pro" pitchFamily="34" charset="-120"/>
              </a:rPr>
              <a:t>ungphonhanh.life</a:t>
            </a:r>
            <a:endParaRPr lang="en-US" sz="950" dirty="0"/>
          </a:p>
        </p:txBody>
      </p:sp>
      <p:sp>
        <p:nvSpPr>
          <p:cNvPr id="12" name="Shape 8"/>
          <p:cNvSpPr/>
          <p:nvPr/>
        </p:nvSpPr>
        <p:spPr>
          <a:xfrm>
            <a:off x="713232" y="2220214"/>
            <a:ext cx="4069080" cy="3657600"/>
          </a:xfrm>
          <a:prstGeom prst="roundRect">
            <a:avLst>
              <a:gd name="adj" fmla="val 3000"/>
            </a:avLst>
          </a:prstGeom>
          <a:solidFill>
            <a:srgbClr val="091B2D">
              <a:alpha val="66000"/>
            </a:srgbClr>
          </a:solidFill>
          <a:ln w="12700">
            <a:solidFill>
              <a:srgbClr val="FFFFFF">
                <a:alpha val="12000"/>
              </a:srgbClr>
            </a:solidFill>
            <a:prstDash val="solid"/>
          </a:ln>
        </p:spPr>
      </p:sp>
      <p:sp>
        <p:nvSpPr>
          <p:cNvPr id="13" name="Shape 9"/>
          <p:cNvSpPr/>
          <p:nvPr/>
        </p:nvSpPr>
        <p:spPr>
          <a:xfrm>
            <a:off x="713232" y="2220214"/>
            <a:ext cx="50292" cy="3657600"/>
          </a:xfrm>
          <a:prstGeom prst="roundRect">
            <a:avLst>
              <a:gd name="adj" fmla="val 54545"/>
            </a:avLst>
          </a:prstGeom>
          <a:solidFill>
            <a:srgbClr val="FB923C">
              <a:alpha val="95000"/>
            </a:srgbClr>
          </a:solidFill>
          <a:ln/>
        </p:spPr>
      </p:sp>
      <p:sp>
        <p:nvSpPr>
          <p:cNvPr id="14" name="Text 10"/>
          <p:cNvSpPr/>
          <p:nvPr/>
        </p:nvSpPr>
        <p:spPr>
          <a:xfrm>
            <a:off x="1042416" y="2531110"/>
            <a:ext cx="3502152" cy="643128"/>
          </a:xfrm>
          <a:prstGeom prst="rect">
            <a:avLst/>
          </a:prstGeom>
          <a:noFill/>
          <a:ln/>
        </p:spPr>
        <p:txBody>
          <a:bodyPr wrap="square" lIns="0" tIns="0" rIns="0" bIns="0" rtlCol="0" anchor="t"/>
          <a:lstStyle/>
          <a:p>
            <a:pPr algn="l" indent="0" marL="0">
              <a:lnSpc>
                <a:spcPts val="2244"/>
              </a:lnSpc>
              <a:buNone/>
            </a:pPr>
            <a:r>
              <a:rPr lang="en-US" sz="1700" b="1" dirty="0">
                <a:solidFill>
                  <a:srgbClr val="FFFFFF"/>
                </a:solidFill>
                <a:latin typeface="Be Vietnam Pro" pitchFamily="34" charset="0"/>
                <a:ea typeface="Be Vietnam Pro" pitchFamily="34" charset="-122"/>
                <a:cs typeface="Be Vietnam Pro" pitchFamily="34" charset="-120"/>
              </a:rPr>
              <a:t>Phía sau mỗi nhiệm vụ cứu hộ</a:t>
            </a:r>
            <a:endParaRPr lang="en-US" sz="1700" dirty="0"/>
          </a:p>
          <a:p>
            <a:pPr algn="l" indent="0" marL="0">
              <a:lnSpc>
                <a:spcPts val="2244"/>
              </a:lnSpc>
              <a:buNone/>
            </a:pPr>
            <a:r>
              <a:rPr lang="en-US" sz="1700" b="1" dirty="0">
                <a:solidFill>
                  <a:srgbClr val="FFFFFF"/>
                </a:solidFill>
                <a:latin typeface="Be Vietnam Pro" pitchFamily="34" charset="0"/>
                <a:ea typeface="Be Vietnam Pro" pitchFamily="34" charset="-122"/>
                <a:cs typeface="Be Vietnam Pro" pitchFamily="34" charset="-120"/>
              </a:rPr>
              <a:t>không chỉ là lòng dũng cảm</a:t>
            </a:r>
            <a:endParaRPr lang="en-US" sz="1700" dirty="0"/>
          </a:p>
        </p:txBody>
      </p:sp>
      <p:sp>
        <p:nvSpPr>
          <p:cNvPr id="15" name="Text 11"/>
          <p:cNvSpPr/>
          <p:nvPr/>
        </p:nvSpPr>
        <p:spPr>
          <a:xfrm>
            <a:off x="1042416" y="3527806"/>
            <a:ext cx="3502152" cy="568452"/>
          </a:xfrm>
          <a:prstGeom prst="rect">
            <a:avLst/>
          </a:prstGeom>
          <a:noFill/>
          <a:ln/>
        </p:spPr>
        <p:txBody>
          <a:bodyPr wrap="square" lIns="0" tIns="0" rIns="0" bIns="0" rtlCol="0" anchor="t"/>
          <a:lstStyle/>
          <a:p>
            <a:pPr algn="l" indent="0" marL="0">
              <a:lnSpc>
                <a:spcPts val="1950"/>
              </a:lnSpc>
              <a:buNone/>
            </a:pPr>
            <a:r>
              <a:rPr lang="en-US" sz="1300" dirty="0">
                <a:solidFill>
                  <a:srgbClr val="D9E6F2"/>
                </a:solidFill>
                <a:latin typeface="Be Vietnam Pro" pitchFamily="34" charset="0"/>
                <a:ea typeface="Be Vietnam Pro" pitchFamily="34" charset="-122"/>
                <a:cs typeface="Be Vietnam Pro" pitchFamily="34" charset="-120"/>
              </a:rPr>
              <a:t>Đó còn là bài toán về thời gian, con người,</a:t>
            </a:r>
            <a:endParaRPr lang="en-US" sz="1300" dirty="0"/>
          </a:p>
          <a:p>
            <a:pPr algn="l" indent="0" marL="0">
              <a:lnSpc>
                <a:spcPts val="1950"/>
              </a:lnSpc>
              <a:buNone/>
            </a:pPr>
            <a:r>
              <a:rPr lang="en-US" sz="1300" dirty="0">
                <a:solidFill>
                  <a:srgbClr val="D9E6F2"/>
                </a:solidFill>
                <a:latin typeface="Be Vietnam Pro" pitchFamily="34" charset="0"/>
                <a:ea typeface="Be Vietnam Pro" pitchFamily="34" charset="-122"/>
                <a:cs typeface="Be Vietnam Pro" pitchFamily="34" charset="-120"/>
              </a:rPr>
              <a:t>vật tư và khả năng điều phối.</a:t>
            </a:r>
            <a:endParaRPr lang="en-US" sz="1300" dirty="0"/>
          </a:p>
        </p:txBody>
      </p:sp>
      <p:sp>
        <p:nvSpPr>
          <p:cNvPr id="16" name="Shape 12"/>
          <p:cNvSpPr/>
          <p:nvPr/>
        </p:nvSpPr>
        <p:spPr>
          <a:xfrm>
            <a:off x="1042416" y="4460494"/>
            <a:ext cx="3410712" cy="9144"/>
          </a:xfrm>
          <a:prstGeom prst="rect">
            <a:avLst/>
          </a:prstGeom>
          <a:solidFill>
            <a:srgbClr val="FFFFFF">
              <a:alpha val="16000"/>
            </a:srgbClr>
          </a:solidFill>
          <a:ln/>
        </p:spPr>
      </p:sp>
      <p:sp>
        <p:nvSpPr>
          <p:cNvPr id="17" name="Text 13"/>
          <p:cNvSpPr/>
          <p:nvPr/>
        </p:nvSpPr>
        <p:spPr>
          <a:xfrm>
            <a:off x="1042416" y="4689094"/>
            <a:ext cx="3502152" cy="1030732"/>
          </a:xfrm>
          <a:prstGeom prst="rect">
            <a:avLst/>
          </a:prstGeom>
          <a:noFill/>
          <a:ln/>
        </p:spPr>
        <p:txBody>
          <a:bodyPr wrap="square" lIns="0" tIns="0" rIns="0" bIns="0" rtlCol="0" anchor="t"/>
          <a:lstStyle/>
          <a:p>
            <a:pPr algn="l" indent="0" marL="0">
              <a:lnSpc>
                <a:spcPts val="1885"/>
              </a:lnSpc>
              <a:buNone/>
            </a:pPr>
            <a:r>
              <a:rPr lang="en-US" sz="1300" b="1" dirty="0">
                <a:solidFill>
                  <a:srgbClr val="FBBF24"/>
                </a:solidFill>
                <a:latin typeface="Be Vietnam Pro" pitchFamily="34" charset="0"/>
                <a:ea typeface="Be Vietnam Pro" pitchFamily="34" charset="-122"/>
                <a:cs typeface="Be Vietnam Pro" pitchFamily="34" charset="-120"/>
              </a:rPr>
              <a:t>Sau nhiều giờ, thậm chí nhiều ngày liên</a:t>
            </a:r>
            <a:endParaRPr lang="en-US" sz="1300" dirty="0"/>
          </a:p>
          <a:p>
            <a:pPr algn="l" indent="0" marL="0">
              <a:lnSpc>
                <a:spcPts val="1885"/>
              </a:lnSpc>
              <a:buNone/>
            </a:pPr>
            <a:r>
              <a:rPr lang="en-US" sz="1300" b="1" dirty="0">
                <a:solidFill>
                  <a:srgbClr val="FBBF24"/>
                </a:solidFill>
                <a:latin typeface="Be Vietnam Pro" pitchFamily="34" charset="0"/>
                <a:ea typeface="Be Vietnam Pro" pitchFamily="34" charset="-122"/>
                <a:cs typeface="Be Vietnam Pro" pitchFamily="34" charset="-120"/>
              </a:rPr>
              <a:t>tục, con người sẽ xuống sức — trong khi</a:t>
            </a:r>
            <a:endParaRPr lang="en-US" sz="1300" dirty="0"/>
          </a:p>
          <a:p>
            <a:pPr algn="l" indent="0" marL="0">
              <a:lnSpc>
                <a:spcPts val="1885"/>
              </a:lnSpc>
              <a:buNone/>
            </a:pPr>
            <a:r>
              <a:rPr lang="en-US" sz="1300" b="1" dirty="0">
                <a:solidFill>
                  <a:srgbClr val="FBBF24"/>
                </a:solidFill>
                <a:latin typeface="Be Vietnam Pro" pitchFamily="34" charset="0"/>
                <a:ea typeface="Be Vietnam Pro" pitchFamily="34" charset="-122"/>
                <a:cs typeface="Be Vietnam Pro" pitchFamily="34" charset="-120"/>
              </a:rPr>
              <a:t>quyết định vẫn phải đưa ra trong vài</a:t>
            </a:r>
            <a:endParaRPr lang="en-US" sz="1300" dirty="0"/>
          </a:p>
          <a:p>
            <a:pPr algn="l" indent="0" marL="0">
              <a:lnSpc>
                <a:spcPts val="1885"/>
              </a:lnSpc>
              <a:buNone/>
            </a:pPr>
            <a:r>
              <a:rPr lang="en-US" sz="1300" b="1" dirty="0">
                <a:solidFill>
                  <a:srgbClr val="FBBF24"/>
                </a:solidFill>
                <a:latin typeface="Be Vietnam Pro" pitchFamily="34" charset="0"/>
                <a:ea typeface="Be Vietnam Pro" pitchFamily="34" charset="-122"/>
                <a:cs typeface="Be Vietnam Pro" pitchFamily="34" charset="-120"/>
              </a:rPr>
              <a:t>phút.</a:t>
            </a:r>
            <a:endParaRPr lang="en-US" sz="1300" dirty="0"/>
          </a:p>
        </p:txBody>
      </p:sp>
      <p:sp>
        <p:nvSpPr>
          <p:cNvPr id="18" name="Shape 14"/>
          <p:cNvSpPr/>
          <p:nvPr/>
        </p:nvSpPr>
        <p:spPr>
          <a:xfrm>
            <a:off x="5093208" y="2220214"/>
            <a:ext cx="3055468" cy="1691640"/>
          </a:xfrm>
          <a:prstGeom prst="roundRect">
            <a:avLst>
              <a:gd name="adj" fmla="val 6486"/>
            </a:avLst>
          </a:prstGeom>
          <a:solidFill>
            <a:srgbClr val="091B2D">
              <a:alpha val="66000"/>
            </a:srgbClr>
          </a:solidFill>
          <a:ln w="12700">
            <a:solidFill>
              <a:srgbClr val="FFFFFF">
                <a:alpha val="12000"/>
              </a:srgbClr>
            </a:solidFill>
            <a:prstDash val="solid"/>
          </a:ln>
        </p:spPr>
      </p:sp>
      <p:sp>
        <p:nvSpPr>
          <p:cNvPr id="19" name="Shape 15"/>
          <p:cNvSpPr/>
          <p:nvPr/>
        </p:nvSpPr>
        <p:spPr>
          <a:xfrm>
            <a:off x="5093208" y="2220214"/>
            <a:ext cx="50292" cy="1691640"/>
          </a:xfrm>
          <a:prstGeom prst="roundRect">
            <a:avLst>
              <a:gd name="adj" fmla="val 54545"/>
            </a:avLst>
          </a:prstGeom>
          <a:solidFill>
            <a:srgbClr val="F87171">
              <a:alpha val="95000"/>
            </a:srgbClr>
          </a:solidFill>
          <a:ln/>
        </p:spPr>
      </p:sp>
      <p:sp>
        <p:nvSpPr>
          <p:cNvPr id="20" name="Text 16"/>
          <p:cNvSpPr/>
          <p:nvPr/>
        </p:nvSpPr>
        <p:spPr>
          <a:xfrm>
            <a:off x="5367528" y="2457958"/>
            <a:ext cx="2598268" cy="303340"/>
          </a:xfrm>
          <a:prstGeom prst="rect">
            <a:avLst/>
          </a:prstGeom>
          <a:noFill/>
          <a:ln/>
        </p:spPr>
        <p:txBody>
          <a:bodyPr wrap="square" lIns="0" tIns="0" rIns="0" bIns="0" rtlCol="0" anchor="t"/>
          <a:lstStyle/>
          <a:p>
            <a:pPr algn="l" indent="0" marL="0">
              <a:lnSpc>
                <a:spcPts val="1813"/>
              </a:lnSpc>
              <a:buNone/>
            </a:pPr>
            <a:r>
              <a:rPr lang="en-US" sz="1450" b="1" dirty="0">
                <a:solidFill>
                  <a:srgbClr val="FFFFFF"/>
                </a:solidFill>
                <a:latin typeface="Be Vietnam Pro" pitchFamily="34" charset="0"/>
                <a:ea typeface="Be Vietnam Pro" pitchFamily="34" charset="-122"/>
                <a:cs typeface="Be Vietnam Pro" pitchFamily="34" charset="-120"/>
              </a:rPr>
              <a:t>Cần những vật tư gì?</a:t>
            </a:r>
            <a:endParaRPr lang="en-US" sz="1450" dirty="0"/>
          </a:p>
        </p:txBody>
      </p:sp>
      <p:sp>
        <p:nvSpPr>
          <p:cNvPr id="21" name="Text 17"/>
          <p:cNvSpPr/>
          <p:nvPr/>
        </p:nvSpPr>
        <p:spPr>
          <a:xfrm>
            <a:off x="5367528" y="3070606"/>
            <a:ext cx="2598268" cy="482092"/>
          </a:xfrm>
          <a:prstGeom prst="rect">
            <a:avLst/>
          </a:prstGeom>
          <a:noFill/>
          <a:ln/>
        </p:spPr>
        <p:txBody>
          <a:bodyPr wrap="square" lIns="0" tIns="0" rIns="0" bIns="0" rtlCol="0" anchor="t"/>
          <a:lstStyle/>
          <a:p>
            <a:pPr algn="l" indent="0" marL="0">
              <a:lnSpc>
                <a:spcPts val="1610"/>
              </a:lnSpc>
              <a:buNone/>
            </a:pPr>
            <a:r>
              <a:rPr lang="en-US" sz="1150" dirty="0">
                <a:solidFill>
                  <a:srgbClr val="9BB0C6"/>
                </a:solidFill>
                <a:latin typeface="Be Vietnam Pro" pitchFamily="34" charset="0"/>
                <a:ea typeface="Be Vietnam Pro" pitchFamily="34" charset="-122"/>
                <a:cs typeface="Be Vietnam Pro" pitchFamily="34" charset="-120"/>
              </a:rPr>
              <a:t>Chủng loại, số lượng phù hợp với</a:t>
            </a:r>
            <a:endParaRPr lang="en-US" sz="1150" dirty="0"/>
          </a:p>
          <a:p>
            <a:pPr algn="l" indent="0" marL="0">
              <a:lnSpc>
                <a:spcPts val="1610"/>
              </a:lnSpc>
              <a:buNone/>
            </a:pPr>
            <a:r>
              <a:rPr lang="en-US" sz="1150" dirty="0">
                <a:solidFill>
                  <a:srgbClr val="9BB0C6"/>
                </a:solidFill>
                <a:latin typeface="Be Vietnam Pro" pitchFamily="34" charset="0"/>
                <a:ea typeface="Be Vietnam Pro" pitchFamily="34" charset="-122"/>
                <a:cs typeface="Be Vietnam Pro" pitchFamily="34" charset="-120"/>
              </a:rPr>
              <a:t>quy mô ảnh hưởng.</a:t>
            </a:r>
            <a:endParaRPr lang="en-US" sz="1150" dirty="0"/>
          </a:p>
        </p:txBody>
      </p:sp>
      <p:sp>
        <p:nvSpPr>
          <p:cNvPr id="22" name="Shape 18"/>
          <p:cNvSpPr/>
          <p:nvPr/>
        </p:nvSpPr>
        <p:spPr>
          <a:xfrm>
            <a:off x="8422996" y="2220214"/>
            <a:ext cx="3055468" cy="1691640"/>
          </a:xfrm>
          <a:prstGeom prst="roundRect">
            <a:avLst>
              <a:gd name="adj" fmla="val 6486"/>
            </a:avLst>
          </a:prstGeom>
          <a:solidFill>
            <a:srgbClr val="091B2D">
              <a:alpha val="66000"/>
            </a:srgbClr>
          </a:solidFill>
          <a:ln w="12700">
            <a:solidFill>
              <a:srgbClr val="FFFFFF">
                <a:alpha val="12000"/>
              </a:srgbClr>
            </a:solidFill>
            <a:prstDash val="solid"/>
          </a:ln>
        </p:spPr>
      </p:sp>
      <p:sp>
        <p:nvSpPr>
          <p:cNvPr id="23" name="Shape 19"/>
          <p:cNvSpPr/>
          <p:nvPr/>
        </p:nvSpPr>
        <p:spPr>
          <a:xfrm>
            <a:off x="8422996" y="2220214"/>
            <a:ext cx="50292" cy="1691640"/>
          </a:xfrm>
          <a:prstGeom prst="roundRect">
            <a:avLst>
              <a:gd name="adj" fmla="val 54545"/>
            </a:avLst>
          </a:prstGeom>
          <a:solidFill>
            <a:srgbClr val="F87171">
              <a:alpha val="95000"/>
            </a:srgbClr>
          </a:solidFill>
          <a:ln/>
        </p:spPr>
      </p:sp>
      <p:sp>
        <p:nvSpPr>
          <p:cNvPr id="24" name="Text 20"/>
          <p:cNvSpPr/>
          <p:nvPr/>
        </p:nvSpPr>
        <p:spPr>
          <a:xfrm>
            <a:off x="8697316" y="2457958"/>
            <a:ext cx="2598268" cy="303340"/>
          </a:xfrm>
          <a:prstGeom prst="rect">
            <a:avLst/>
          </a:prstGeom>
          <a:noFill/>
          <a:ln/>
        </p:spPr>
        <p:txBody>
          <a:bodyPr wrap="square" lIns="0" tIns="0" rIns="0" bIns="0" rtlCol="0" anchor="t"/>
          <a:lstStyle/>
          <a:p>
            <a:pPr algn="l" indent="0" marL="0">
              <a:lnSpc>
                <a:spcPts val="1813"/>
              </a:lnSpc>
              <a:buNone/>
            </a:pPr>
            <a:r>
              <a:rPr lang="en-US" sz="1450" b="1" dirty="0">
                <a:solidFill>
                  <a:srgbClr val="FFFFFF"/>
                </a:solidFill>
                <a:latin typeface="Be Vietnam Pro" pitchFamily="34" charset="0"/>
                <a:ea typeface="Be Vietnam Pro" pitchFamily="34" charset="-122"/>
                <a:cs typeface="Be Vietnam Pro" pitchFamily="34" charset="-120"/>
              </a:rPr>
              <a:t>Lấy vật tư ở đâu?</a:t>
            </a:r>
            <a:endParaRPr lang="en-US" sz="1450" dirty="0"/>
          </a:p>
        </p:txBody>
      </p:sp>
      <p:sp>
        <p:nvSpPr>
          <p:cNvPr id="25" name="Text 21"/>
          <p:cNvSpPr/>
          <p:nvPr/>
        </p:nvSpPr>
        <p:spPr>
          <a:xfrm>
            <a:off x="8697316" y="3070606"/>
            <a:ext cx="2598268" cy="482092"/>
          </a:xfrm>
          <a:prstGeom prst="rect">
            <a:avLst/>
          </a:prstGeom>
          <a:noFill/>
          <a:ln/>
        </p:spPr>
        <p:txBody>
          <a:bodyPr wrap="square" lIns="0" tIns="0" rIns="0" bIns="0" rtlCol="0" anchor="t"/>
          <a:lstStyle/>
          <a:p>
            <a:pPr algn="l" indent="0" marL="0">
              <a:lnSpc>
                <a:spcPts val="1610"/>
              </a:lnSpc>
              <a:buNone/>
            </a:pPr>
            <a:r>
              <a:rPr lang="en-US" sz="1150" dirty="0">
                <a:solidFill>
                  <a:srgbClr val="9BB0C6"/>
                </a:solidFill>
                <a:latin typeface="Be Vietnam Pro" pitchFamily="34" charset="0"/>
                <a:ea typeface="Be Vietnam Pro" pitchFamily="34" charset="-122"/>
                <a:cs typeface="Be Vietnam Pro" pitchFamily="34" charset="-120"/>
              </a:rPr>
              <a:t>Kho nào gần hiện trường nhất để</a:t>
            </a:r>
            <a:endParaRPr lang="en-US" sz="1150" dirty="0"/>
          </a:p>
          <a:p>
            <a:pPr algn="l" indent="0" marL="0">
              <a:lnSpc>
                <a:spcPts val="1610"/>
              </a:lnSpc>
              <a:buNone/>
            </a:pPr>
            <a:r>
              <a:rPr lang="en-US" sz="1150" dirty="0">
                <a:solidFill>
                  <a:srgbClr val="9BB0C6"/>
                </a:solidFill>
                <a:latin typeface="Be Vietnam Pro" pitchFamily="34" charset="0"/>
                <a:ea typeface="Be Vietnam Pro" pitchFamily="34" charset="-122"/>
                <a:cs typeface="Be Vietnam Pro" pitchFamily="34" charset="-120"/>
              </a:rPr>
              <a:t>rút ngắn thời gian.</a:t>
            </a:r>
            <a:endParaRPr lang="en-US" sz="1150" dirty="0"/>
          </a:p>
        </p:txBody>
      </p:sp>
      <p:sp>
        <p:nvSpPr>
          <p:cNvPr id="26" name="Shape 22"/>
          <p:cNvSpPr/>
          <p:nvPr/>
        </p:nvSpPr>
        <p:spPr>
          <a:xfrm>
            <a:off x="5093208" y="4186174"/>
            <a:ext cx="3055468" cy="1691640"/>
          </a:xfrm>
          <a:prstGeom prst="roundRect">
            <a:avLst>
              <a:gd name="adj" fmla="val 6486"/>
            </a:avLst>
          </a:prstGeom>
          <a:solidFill>
            <a:srgbClr val="091B2D">
              <a:alpha val="66000"/>
            </a:srgbClr>
          </a:solidFill>
          <a:ln w="12700">
            <a:solidFill>
              <a:srgbClr val="FFFFFF">
                <a:alpha val="12000"/>
              </a:srgbClr>
            </a:solidFill>
            <a:prstDash val="solid"/>
          </a:ln>
        </p:spPr>
      </p:sp>
      <p:sp>
        <p:nvSpPr>
          <p:cNvPr id="27" name="Shape 23"/>
          <p:cNvSpPr/>
          <p:nvPr/>
        </p:nvSpPr>
        <p:spPr>
          <a:xfrm>
            <a:off x="5093208" y="4186174"/>
            <a:ext cx="50292" cy="1691640"/>
          </a:xfrm>
          <a:prstGeom prst="roundRect">
            <a:avLst>
              <a:gd name="adj" fmla="val 54545"/>
            </a:avLst>
          </a:prstGeom>
          <a:solidFill>
            <a:srgbClr val="F87171">
              <a:alpha val="95000"/>
            </a:srgbClr>
          </a:solidFill>
          <a:ln/>
        </p:spPr>
      </p:sp>
      <p:sp>
        <p:nvSpPr>
          <p:cNvPr id="28" name="Text 24"/>
          <p:cNvSpPr/>
          <p:nvPr/>
        </p:nvSpPr>
        <p:spPr>
          <a:xfrm>
            <a:off x="5367528" y="4423918"/>
            <a:ext cx="2598268" cy="303340"/>
          </a:xfrm>
          <a:prstGeom prst="rect">
            <a:avLst/>
          </a:prstGeom>
          <a:noFill/>
          <a:ln/>
        </p:spPr>
        <p:txBody>
          <a:bodyPr wrap="square" lIns="0" tIns="0" rIns="0" bIns="0" rtlCol="0" anchor="t"/>
          <a:lstStyle/>
          <a:p>
            <a:pPr algn="l" indent="0" marL="0">
              <a:lnSpc>
                <a:spcPts val="1813"/>
              </a:lnSpc>
              <a:buNone/>
            </a:pPr>
            <a:r>
              <a:rPr lang="en-US" sz="1450" b="1" dirty="0">
                <a:solidFill>
                  <a:srgbClr val="FFFFFF"/>
                </a:solidFill>
                <a:latin typeface="Be Vietnam Pro" pitchFamily="34" charset="0"/>
                <a:ea typeface="Be Vietnam Pro" pitchFamily="34" charset="-122"/>
                <a:cs typeface="Be Vietnam Pro" pitchFamily="34" charset="-120"/>
              </a:rPr>
              <a:t>Kho nào còn đủ?</a:t>
            </a:r>
            <a:endParaRPr lang="en-US" sz="1450" dirty="0"/>
          </a:p>
        </p:txBody>
      </p:sp>
      <p:sp>
        <p:nvSpPr>
          <p:cNvPr id="29" name="Text 25"/>
          <p:cNvSpPr/>
          <p:nvPr/>
        </p:nvSpPr>
        <p:spPr>
          <a:xfrm>
            <a:off x="5367528" y="5036566"/>
            <a:ext cx="2598268" cy="482092"/>
          </a:xfrm>
          <a:prstGeom prst="rect">
            <a:avLst/>
          </a:prstGeom>
          <a:noFill/>
          <a:ln/>
        </p:spPr>
        <p:txBody>
          <a:bodyPr wrap="square" lIns="0" tIns="0" rIns="0" bIns="0" rtlCol="0" anchor="t"/>
          <a:lstStyle/>
          <a:p>
            <a:pPr algn="l" indent="0" marL="0">
              <a:lnSpc>
                <a:spcPts val="1610"/>
              </a:lnSpc>
              <a:buNone/>
            </a:pPr>
            <a:r>
              <a:rPr lang="en-US" sz="1150" dirty="0">
                <a:solidFill>
                  <a:srgbClr val="9BB0C6"/>
                </a:solidFill>
                <a:latin typeface="Be Vietnam Pro" pitchFamily="34" charset="0"/>
                <a:ea typeface="Be Vietnam Pro" pitchFamily="34" charset="-122"/>
                <a:cs typeface="Be Vietnam Pro" pitchFamily="34" charset="-120"/>
              </a:rPr>
              <a:t>Tồn kho thực tế thay đổi liên tục</a:t>
            </a:r>
            <a:endParaRPr lang="en-US" sz="1150" dirty="0"/>
          </a:p>
          <a:p>
            <a:pPr algn="l" indent="0" marL="0">
              <a:lnSpc>
                <a:spcPts val="1610"/>
              </a:lnSpc>
              <a:buNone/>
            </a:pPr>
            <a:r>
              <a:rPr lang="en-US" sz="1150" dirty="0">
                <a:solidFill>
                  <a:srgbClr val="9BB0C6"/>
                </a:solidFill>
                <a:latin typeface="Be Vietnam Pro" pitchFamily="34" charset="0"/>
                <a:ea typeface="Be Vietnam Pro" pitchFamily="34" charset="-122"/>
                <a:cs typeface="Be Vietnam Pro" pitchFamily="34" charset="-120"/>
              </a:rPr>
              <a:t>trong thiên tai.</a:t>
            </a:r>
            <a:endParaRPr lang="en-US" sz="1150" dirty="0"/>
          </a:p>
        </p:txBody>
      </p:sp>
      <p:sp>
        <p:nvSpPr>
          <p:cNvPr id="30" name="Shape 26"/>
          <p:cNvSpPr/>
          <p:nvPr/>
        </p:nvSpPr>
        <p:spPr>
          <a:xfrm>
            <a:off x="8422996" y="4186174"/>
            <a:ext cx="3055468" cy="1691640"/>
          </a:xfrm>
          <a:prstGeom prst="roundRect">
            <a:avLst>
              <a:gd name="adj" fmla="val 6486"/>
            </a:avLst>
          </a:prstGeom>
          <a:solidFill>
            <a:srgbClr val="091B2D">
              <a:alpha val="66000"/>
            </a:srgbClr>
          </a:solidFill>
          <a:ln w="12700">
            <a:solidFill>
              <a:srgbClr val="FFFFFF">
                <a:alpha val="12000"/>
              </a:srgbClr>
            </a:solidFill>
            <a:prstDash val="solid"/>
          </a:ln>
        </p:spPr>
      </p:sp>
      <p:sp>
        <p:nvSpPr>
          <p:cNvPr id="31" name="Shape 27"/>
          <p:cNvSpPr/>
          <p:nvPr/>
        </p:nvSpPr>
        <p:spPr>
          <a:xfrm>
            <a:off x="8422996" y="4186174"/>
            <a:ext cx="50292" cy="1691640"/>
          </a:xfrm>
          <a:prstGeom prst="roundRect">
            <a:avLst>
              <a:gd name="adj" fmla="val 54545"/>
            </a:avLst>
          </a:prstGeom>
          <a:solidFill>
            <a:srgbClr val="F87171">
              <a:alpha val="95000"/>
            </a:srgbClr>
          </a:solidFill>
          <a:ln/>
        </p:spPr>
      </p:sp>
      <p:sp>
        <p:nvSpPr>
          <p:cNvPr id="32" name="Text 28"/>
          <p:cNvSpPr/>
          <p:nvPr/>
        </p:nvSpPr>
        <p:spPr>
          <a:xfrm>
            <a:off x="8697316" y="4423918"/>
            <a:ext cx="2598268" cy="533527"/>
          </a:xfrm>
          <a:prstGeom prst="rect">
            <a:avLst/>
          </a:prstGeom>
          <a:noFill/>
          <a:ln/>
        </p:spPr>
        <p:txBody>
          <a:bodyPr wrap="square" lIns="0" tIns="0" rIns="0" bIns="0" rtlCol="0" anchor="t"/>
          <a:lstStyle/>
          <a:p>
            <a:pPr algn="l" indent="0" marL="0">
              <a:lnSpc>
                <a:spcPts val="1813"/>
              </a:lnSpc>
              <a:buNone/>
            </a:pPr>
            <a:r>
              <a:rPr lang="en-US" sz="1450" b="1" dirty="0">
                <a:solidFill>
                  <a:srgbClr val="FFFFFF"/>
                </a:solidFill>
                <a:latin typeface="Be Vietnam Pro" pitchFamily="34" charset="0"/>
                <a:ea typeface="Be Vietnam Pro" pitchFamily="34" charset="-122"/>
                <a:cs typeface="Be Vietnam Pro" pitchFamily="34" charset="-120"/>
              </a:rPr>
              <a:t>Làm sao để mọi bộ phận</a:t>
            </a:r>
            <a:endParaRPr lang="en-US" sz="1450" dirty="0"/>
          </a:p>
          <a:p>
            <a:pPr algn="l" indent="0" marL="0">
              <a:lnSpc>
                <a:spcPts val="1813"/>
              </a:lnSpc>
              <a:buNone/>
            </a:pPr>
            <a:r>
              <a:rPr lang="en-US" sz="1450" b="1" dirty="0">
                <a:solidFill>
                  <a:srgbClr val="FFFFFF"/>
                </a:solidFill>
                <a:latin typeface="Be Vietnam Pro" pitchFamily="34" charset="0"/>
                <a:ea typeface="Be Vietnam Pro" pitchFamily="34" charset="-122"/>
                <a:cs typeface="Be Vietnam Pro" pitchFamily="34" charset="-120"/>
              </a:rPr>
              <a:t>nắm thông tin tức thời?</a:t>
            </a:r>
            <a:endParaRPr lang="en-US" sz="1450" dirty="0"/>
          </a:p>
        </p:txBody>
      </p:sp>
      <p:sp>
        <p:nvSpPr>
          <p:cNvPr id="33" name="Text 29"/>
          <p:cNvSpPr/>
          <p:nvPr/>
        </p:nvSpPr>
        <p:spPr>
          <a:xfrm>
            <a:off x="8697316" y="5036566"/>
            <a:ext cx="2598268" cy="482092"/>
          </a:xfrm>
          <a:prstGeom prst="rect">
            <a:avLst/>
          </a:prstGeom>
          <a:noFill/>
          <a:ln/>
        </p:spPr>
        <p:txBody>
          <a:bodyPr wrap="square" lIns="0" tIns="0" rIns="0" bIns="0" rtlCol="0" anchor="t"/>
          <a:lstStyle/>
          <a:p>
            <a:pPr algn="l" indent="0" marL="0">
              <a:lnSpc>
                <a:spcPts val="1610"/>
              </a:lnSpc>
              <a:buNone/>
            </a:pPr>
            <a:r>
              <a:rPr lang="en-US" sz="1150" dirty="0">
                <a:solidFill>
                  <a:srgbClr val="9BB0C6"/>
                </a:solidFill>
                <a:latin typeface="Be Vietnam Pro" pitchFamily="34" charset="0"/>
                <a:ea typeface="Be Vietnam Pro" pitchFamily="34" charset="-122"/>
                <a:cs typeface="Be Vietnam Pro" pitchFamily="34" charset="-120"/>
              </a:rPr>
              <a:t>Thông tin phải đến đúng người,</a:t>
            </a:r>
            <a:endParaRPr lang="en-US" sz="1150" dirty="0"/>
          </a:p>
          <a:p>
            <a:pPr algn="l" indent="0" marL="0">
              <a:lnSpc>
                <a:spcPts val="1610"/>
              </a:lnSpc>
              <a:buNone/>
            </a:pPr>
            <a:r>
              <a:rPr lang="en-US" sz="1150" dirty="0">
                <a:solidFill>
                  <a:srgbClr val="9BB0C6"/>
                </a:solidFill>
                <a:latin typeface="Be Vietnam Pro" pitchFamily="34" charset="0"/>
                <a:ea typeface="Be Vietnam Pro" pitchFamily="34" charset="-122"/>
                <a:cs typeface="Be Vietnam Pro" pitchFamily="34" charset="-120"/>
              </a:rPr>
              <a:t>nhanh và chính xác.</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4101F"/>
        </a:solidFill>
      </p:bgPr>
    </p:bg>
    <p:spTree>
      <p:nvGrpSpPr>
        <p:cNvPr id="1" name=""/>
        <p:cNvGrpSpPr/>
        <p:nvPr/>
      </p:nvGrpSpPr>
      <p:grpSpPr>
        <a:xfrm>
          <a:off x="0" y="0"/>
          <a:ext cx="0" cy="0"/>
          <a:chOff x="0" y="0"/>
          <a:chExt cx="0" cy="0"/>
        </a:xfrm>
      </p:grpSpPr>
      <p:pic>
        <p:nvPicPr>
          <p:cNvPr id="2" name="Image 0" descr="bg-content.jp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4101F">
              <a:alpha val="34000"/>
            </a:srgbClr>
          </a:solidFill>
          <a:ln/>
        </p:spPr>
      </p:sp>
      <p:pic>
        <p:nvPicPr>
          <p:cNvPr id="4" name="Image 1" descr="mark-sm.png">    </p:cNvPr>
          <p:cNvPicPr>
            <a:picLocks noChangeAspect="1"/>
          </p:cNvPicPr>
          <p:nvPr/>
        </p:nvPicPr>
        <p:blipFill>
          <a:blip r:embed="rId2"/>
          <a:stretch>
            <a:fillRect/>
          </a:stretch>
        </p:blipFill>
        <p:spPr>
          <a:xfrm>
            <a:off x="713232" y="365760"/>
            <a:ext cx="310896" cy="310896"/>
          </a:xfrm>
          <a:prstGeom prst="rect">
            <a:avLst/>
          </a:prstGeom>
        </p:spPr>
      </p:pic>
      <p:sp>
        <p:nvSpPr>
          <p:cNvPr id="5" name="Text 1"/>
          <p:cNvSpPr/>
          <p:nvPr/>
        </p:nvSpPr>
        <p:spPr>
          <a:xfrm>
            <a:off x="1170432" y="384048"/>
            <a:ext cx="3749040" cy="261747"/>
          </a:xfrm>
          <a:prstGeom prst="rect">
            <a:avLst/>
          </a:prstGeom>
          <a:noFill/>
          <a:ln/>
        </p:spPr>
        <p:txBody>
          <a:bodyPr wrap="square" lIns="0" tIns="0" rIns="0" bIns="0" rtlCol="0" anchor="t"/>
          <a:lstStyle/>
          <a:p>
            <a:pPr algn="l" indent="0" marL="0">
              <a:lnSpc>
                <a:spcPts val="1485"/>
              </a:lnSpc>
              <a:buNone/>
            </a:pPr>
            <a:r>
              <a:rPr lang="en-US" sz="1100" b="1" spc="160" kern="0" dirty="0">
                <a:solidFill>
                  <a:srgbClr val="6EE7A8"/>
                </a:solidFill>
                <a:latin typeface="Be Vietnam Pro" pitchFamily="34" charset="0"/>
                <a:ea typeface="Be Vietnam Pro" pitchFamily="34" charset="-122"/>
                <a:cs typeface="Be Vietnam Pro" pitchFamily="34" charset="-120"/>
              </a:rPr>
              <a:t>ỨNG PHÓ NHANH</a:t>
            </a:r>
            <a:endParaRPr lang="en-US" sz="1100" dirty="0"/>
          </a:p>
        </p:txBody>
      </p:sp>
      <p:sp>
        <p:nvSpPr>
          <p:cNvPr id="6" name="Text 2"/>
          <p:cNvSpPr/>
          <p:nvPr/>
        </p:nvSpPr>
        <p:spPr>
          <a:xfrm>
            <a:off x="8643823" y="384048"/>
            <a:ext cx="2834640" cy="261747"/>
          </a:xfrm>
          <a:prstGeom prst="rect">
            <a:avLst/>
          </a:prstGeom>
          <a:noFill/>
          <a:ln/>
        </p:spPr>
        <p:txBody>
          <a:bodyPr wrap="square" lIns="0" tIns="0" rIns="0" bIns="0" rtlCol="0" anchor="t"/>
          <a:lstStyle/>
          <a:p>
            <a:pPr algn="r" indent="0" marL="0">
              <a:lnSpc>
                <a:spcPts val="1485"/>
              </a:lnSpc>
              <a:buNone/>
            </a:pPr>
            <a:r>
              <a:rPr lang="en-US" sz="1100" b="1" dirty="0">
                <a:solidFill>
                  <a:srgbClr val="7189A2"/>
                </a:solidFill>
                <a:latin typeface="Be Vietnam Pro" pitchFamily="34" charset="0"/>
                <a:ea typeface="Be Vietnam Pro" pitchFamily="34" charset="-122"/>
                <a:cs typeface="Be Vietnam Pro" pitchFamily="34" charset="-120"/>
              </a:rPr>
              <a:t>04 / 24</a:t>
            </a:r>
            <a:endParaRPr lang="en-US" sz="1100" dirty="0"/>
          </a:p>
        </p:txBody>
      </p:sp>
      <p:sp>
        <p:nvSpPr>
          <p:cNvPr id="7" name="Shape 3"/>
          <p:cNvSpPr/>
          <p:nvPr/>
        </p:nvSpPr>
        <p:spPr>
          <a:xfrm>
            <a:off x="713232" y="868680"/>
            <a:ext cx="10765231" cy="10973"/>
          </a:xfrm>
          <a:prstGeom prst="rect">
            <a:avLst/>
          </a:prstGeom>
          <a:solidFill>
            <a:srgbClr val="FFFFFF">
              <a:alpha val="16000"/>
            </a:srgbClr>
          </a:solidFill>
          <a:ln/>
        </p:spPr>
      </p:sp>
      <p:sp>
        <p:nvSpPr>
          <p:cNvPr id="8" name="Text 4"/>
          <p:cNvSpPr/>
          <p:nvPr/>
        </p:nvSpPr>
        <p:spPr>
          <a:xfrm>
            <a:off x="713232" y="1133856"/>
            <a:ext cx="8321040" cy="270320"/>
          </a:xfrm>
          <a:prstGeom prst="rect">
            <a:avLst/>
          </a:prstGeom>
          <a:noFill/>
          <a:ln/>
        </p:spPr>
        <p:txBody>
          <a:bodyPr wrap="square" lIns="0" tIns="0" rIns="0" bIns="0" rtlCol="0" anchor="t"/>
          <a:lstStyle/>
          <a:p>
            <a:pPr algn="l" indent="0" marL="0">
              <a:lnSpc>
                <a:spcPts val="1553"/>
              </a:lnSpc>
              <a:buNone/>
            </a:pPr>
            <a:r>
              <a:rPr lang="en-US" sz="1150" b="1" spc="220" kern="0" dirty="0">
                <a:solidFill>
                  <a:srgbClr val="22C55E"/>
                </a:solidFill>
                <a:latin typeface="Be Vietnam Pro" pitchFamily="34" charset="0"/>
                <a:ea typeface="Be Vietnam Pro" pitchFamily="34" charset="-122"/>
                <a:cs typeface="Be Vietnam Pro" pitchFamily="34" charset="-120"/>
              </a:rPr>
              <a:t>GIẢI PHÁP</a:t>
            </a:r>
            <a:endParaRPr lang="en-US" sz="1150" dirty="0"/>
          </a:p>
        </p:txBody>
      </p:sp>
      <p:sp>
        <p:nvSpPr>
          <p:cNvPr id="9" name="Text 5"/>
          <p:cNvSpPr/>
          <p:nvPr/>
        </p:nvSpPr>
        <p:spPr>
          <a:xfrm>
            <a:off x="713232" y="1426464"/>
            <a:ext cx="10490911" cy="537718"/>
          </a:xfrm>
          <a:prstGeom prst="rect">
            <a:avLst/>
          </a:prstGeom>
          <a:noFill/>
          <a:ln/>
        </p:spPr>
        <p:txBody>
          <a:bodyPr wrap="square" lIns="0" tIns="0" rIns="0" bIns="0" rtlCol="0" anchor="t"/>
          <a:lstStyle/>
          <a:p>
            <a:pPr algn="l" indent="0" marL="0">
              <a:lnSpc>
                <a:spcPts val="3658"/>
              </a:lnSpc>
              <a:buNone/>
            </a:pPr>
            <a:r>
              <a:rPr lang="en-US" sz="3100" b="1" dirty="0">
                <a:solidFill>
                  <a:srgbClr val="FFFFFF"/>
                </a:solidFill>
                <a:latin typeface="Be Vietnam Pro" pitchFamily="34" charset="0"/>
                <a:ea typeface="Be Vietnam Pro" pitchFamily="34" charset="-122"/>
                <a:cs typeface="Be Vietnam Pro" pitchFamily="34" charset="-120"/>
              </a:rPr>
              <a:t>Một hệ thống — bốn mắt xích — một luồng thông tin</a:t>
            </a:r>
            <a:endParaRPr lang="en-US" sz="3100" dirty="0"/>
          </a:p>
        </p:txBody>
      </p:sp>
      <p:sp>
        <p:nvSpPr>
          <p:cNvPr id="10" name="Shape 6"/>
          <p:cNvSpPr/>
          <p:nvPr/>
        </p:nvSpPr>
        <p:spPr>
          <a:xfrm>
            <a:off x="713232" y="6272784"/>
            <a:ext cx="10765231" cy="9144"/>
          </a:xfrm>
          <a:prstGeom prst="rect">
            <a:avLst/>
          </a:prstGeom>
          <a:solidFill>
            <a:srgbClr val="FFFFFF">
              <a:alpha val="10000"/>
            </a:srgbClr>
          </a:solidFill>
          <a:ln/>
        </p:spPr>
      </p:sp>
      <p:sp>
        <p:nvSpPr>
          <p:cNvPr id="11" name="Text 7"/>
          <p:cNvSpPr/>
          <p:nvPr/>
        </p:nvSpPr>
        <p:spPr>
          <a:xfrm>
            <a:off x="8643823" y="6382512"/>
            <a:ext cx="2834640" cy="236030"/>
          </a:xfrm>
          <a:prstGeom prst="rect">
            <a:avLst/>
          </a:prstGeom>
          <a:noFill/>
          <a:ln/>
        </p:spPr>
        <p:txBody>
          <a:bodyPr wrap="square" lIns="0" tIns="0" rIns="0" bIns="0" rtlCol="0" anchor="t"/>
          <a:lstStyle/>
          <a:p>
            <a:pPr algn="r" indent="0" marL="0">
              <a:lnSpc>
                <a:spcPts val="1283"/>
              </a:lnSpc>
              <a:buNone/>
            </a:pPr>
            <a:r>
              <a:rPr lang="en-US" sz="950" dirty="0">
                <a:solidFill>
                  <a:srgbClr val="7189A2"/>
                </a:solidFill>
                <a:latin typeface="Be Vietnam Pro" pitchFamily="34" charset="0"/>
                <a:ea typeface="Be Vietnam Pro" pitchFamily="34" charset="-122"/>
                <a:cs typeface="Be Vietnam Pro" pitchFamily="34" charset="-120"/>
              </a:rPr>
              <a:t>ungphonhanh.life</a:t>
            </a:r>
            <a:endParaRPr lang="en-US" sz="950" dirty="0"/>
          </a:p>
        </p:txBody>
      </p:sp>
      <p:sp>
        <p:nvSpPr>
          <p:cNvPr id="12" name="Text 8"/>
          <p:cNvSpPr/>
          <p:nvPr/>
        </p:nvSpPr>
        <p:spPr>
          <a:xfrm>
            <a:off x="713232" y="2201926"/>
            <a:ext cx="10332720" cy="322072"/>
          </a:xfrm>
          <a:prstGeom prst="rect">
            <a:avLst/>
          </a:prstGeom>
          <a:noFill/>
          <a:ln/>
        </p:spPr>
        <p:txBody>
          <a:bodyPr wrap="square" lIns="0" tIns="0" rIns="0" bIns="0" rtlCol="0" anchor="t"/>
          <a:lstStyle/>
          <a:p>
            <a:pPr algn="l" indent="0" marL="0">
              <a:lnSpc>
                <a:spcPts val="1960"/>
              </a:lnSpc>
              <a:buNone/>
            </a:pPr>
            <a:r>
              <a:rPr lang="en-US" sz="1400" dirty="0">
                <a:solidFill>
                  <a:srgbClr val="9BB0C6"/>
                </a:solidFill>
                <a:latin typeface="Be Vietnam Pro" pitchFamily="34" charset="0"/>
                <a:ea typeface="Be Vietnam Pro" pitchFamily="34" charset="-122"/>
                <a:cs typeface="Be Vietnam Pro" pitchFamily="34" charset="-120"/>
              </a:rPr>
              <a:t>Kết nối xuyên suốt các bộ phận, đồng thời ứng dụng AI để phân tích và hỗ trợ ra quyết định trong thời điểm khẩn cấp.</a:t>
            </a:r>
            <a:endParaRPr lang="en-US" sz="1400" dirty="0"/>
          </a:p>
        </p:txBody>
      </p:sp>
      <p:sp>
        <p:nvSpPr>
          <p:cNvPr id="13" name="Shape 9"/>
          <p:cNvSpPr/>
          <p:nvPr/>
        </p:nvSpPr>
        <p:spPr>
          <a:xfrm>
            <a:off x="713232" y="3392678"/>
            <a:ext cx="2743200" cy="2194560"/>
          </a:xfrm>
          <a:prstGeom prst="roundRect">
            <a:avLst>
              <a:gd name="adj" fmla="val 5000"/>
            </a:avLst>
          </a:prstGeom>
          <a:solidFill>
            <a:srgbClr val="091B2D">
              <a:alpha val="66000"/>
            </a:srgbClr>
          </a:solidFill>
          <a:ln w="12700">
            <a:solidFill>
              <a:srgbClr val="FFFFFF">
                <a:alpha val="12000"/>
              </a:srgbClr>
            </a:solidFill>
            <a:prstDash val="solid"/>
          </a:ln>
        </p:spPr>
      </p:sp>
      <p:sp>
        <p:nvSpPr>
          <p:cNvPr id="14" name="Shape 10"/>
          <p:cNvSpPr/>
          <p:nvPr/>
        </p:nvSpPr>
        <p:spPr>
          <a:xfrm>
            <a:off x="713232" y="3392678"/>
            <a:ext cx="50292" cy="2194560"/>
          </a:xfrm>
          <a:prstGeom prst="roundRect">
            <a:avLst>
              <a:gd name="adj" fmla="val 54545"/>
            </a:avLst>
          </a:prstGeom>
          <a:solidFill>
            <a:srgbClr val="38BDF8">
              <a:alpha val="95000"/>
            </a:srgbClr>
          </a:solidFill>
          <a:ln/>
        </p:spPr>
      </p:sp>
      <p:sp>
        <p:nvSpPr>
          <p:cNvPr id="15" name="Shape 11"/>
          <p:cNvSpPr/>
          <p:nvPr/>
        </p:nvSpPr>
        <p:spPr>
          <a:xfrm>
            <a:off x="987552" y="3666998"/>
            <a:ext cx="457200" cy="457200"/>
          </a:xfrm>
          <a:prstGeom prst="roundRect">
            <a:avLst>
              <a:gd name="adj" fmla="val 50000"/>
            </a:avLst>
          </a:prstGeom>
          <a:solidFill>
            <a:srgbClr val="04101F">
              <a:alpha val="88000"/>
            </a:srgbClr>
          </a:solidFill>
          <a:ln/>
        </p:spPr>
      </p:sp>
      <p:sp>
        <p:nvSpPr>
          <p:cNvPr id="16" name="Shape 12"/>
          <p:cNvSpPr/>
          <p:nvPr/>
        </p:nvSpPr>
        <p:spPr>
          <a:xfrm>
            <a:off x="987552" y="3666998"/>
            <a:ext cx="457200" cy="457200"/>
          </a:xfrm>
          <a:prstGeom prst="roundRect">
            <a:avLst>
              <a:gd name="adj" fmla="val 50000"/>
            </a:avLst>
          </a:prstGeom>
          <a:solidFill>
            <a:srgbClr val="38BDF8">
              <a:alpha val="20000"/>
            </a:srgbClr>
          </a:solidFill>
          <a:ln w="15240">
            <a:solidFill>
              <a:srgbClr val="38BDF8">
                <a:alpha val="70000"/>
              </a:srgbClr>
            </a:solidFill>
            <a:prstDash val="solid"/>
          </a:ln>
        </p:spPr>
      </p:sp>
      <p:sp>
        <p:nvSpPr>
          <p:cNvPr id="17" name="Text 13"/>
          <p:cNvSpPr/>
          <p:nvPr/>
        </p:nvSpPr>
        <p:spPr>
          <a:xfrm>
            <a:off x="941832" y="3758438"/>
            <a:ext cx="548640" cy="330327"/>
          </a:xfrm>
          <a:prstGeom prst="rect">
            <a:avLst/>
          </a:prstGeom>
          <a:noFill/>
          <a:ln/>
        </p:spPr>
        <p:txBody>
          <a:bodyPr wrap="square" lIns="0" tIns="0" rIns="0" bIns="0" rtlCol="0" anchor="t"/>
          <a:lstStyle/>
          <a:p>
            <a:pPr algn="ctr" indent="0" marL="0">
              <a:lnSpc>
                <a:spcPts val="2025"/>
              </a:lnSpc>
              <a:buNone/>
            </a:pPr>
            <a:r>
              <a:rPr lang="en-US" sz="1500" b="1" dirty="0">
                <a:solidFill>
                  <a:srgbClr val="38BDF8"/>
                </a:solidFill>
                <a:latin typeface="Be Vietnam Pro" pitchFamily="34" charset="0"/>
                <a:ea typeface="Be Vietnam Pro" pitchFamily="34" charset="-122"/>
                <a:cs typeface="Be Vietnam Pro" pitchFamily="34" charset="-120"/>
              </a:rPr>
              <a:t>01</a:t>
            </a:r>
            <a:endParaRPr lang="en-US" sz="1500" dirty="0"/>
          </a:p>
        </p:txBody>
      </p:sp>
      <p:sp>
        <p:nvSpPr>
          <p:cNvPr id="18" name="Text 14"/>
          <p:cNvSpPr/>
          <p:nvPr/>
        </p:nvSpPr>
        <p:spPr>
          <a:xfrm>
            <a:off x="987552" y="4288790"/>
            <a:ext cx="2286000" cy="347472"/>
          </a:xfrm>
          <a:prstGeom prst="rect">
            <a:avLst/>
          </a:prstGeom>
          <a:noFill/>
          <a:ln/>
        </p:spPr>
        <p:txBody>
          <a:bodyPr wrap="square" lIns="0" tIns="0" rIns="0" bIns="0" rtlCol="0" anchor="t"/>
          <a:lstStyle/>
          <a:p>
            <a:pPr algn="l" indent="0" marL="0">
              <a:lnSpc>
                <a:spcPts val="2160"/>
              </a:lnSpc>
              <a:buNone/>
            </a:pPr>
            <a:r>
              <a:rPr lang="en-US" sz="1600" b="1" dirty="0">
                <a:solidFill>
                  <a:srgbClr val="FFFFFF"/>
                </a:solidFill>
                <a:latin typeface="Be Vietnam Pro" pitchFamily="34" charset="0"/>
                <a:ea typeface="Be Vietnam Pro" pitchFamily="34" charset="-122"/>
                <a:cs typeface="Be Vietnam Pro" pitchFamily="34" charset="-120"/>
              </a:rPr>
              <a:t>Trưởng thôn</a:t>
            </a:r>
            <a:endParaRPr lang="en-US" sz="1600" dirty="0"/>
          </a:p>
        </p:txBody>
      </p:sp>
      <p:sp>
        <p:nvSpPr>
          <p:cNvPr id="19" name="Text 15"/>
          <p:cNvSpPr/>
          <p:nvPr/>
        </p:nvSpPr>
        <p:spPr>
          <a:xfrm>
            <a:off x="987552" y="4672838"/>
            <a:ext cx="2286000" cy="515112"/>
          </a:xfrm>
          <a:prstGeom prst="rect">
            <a:avLst/>
          </a:prstGeom>
          <a:noFill/>
          <a:ln/>
        </p:spPr>
        <p:txBody>
          <a:bodyPr wrap="square" lIns="0" tIns="0" rIns="0" bIns="0" rtlCol="0" anchor="t"/>
          <a:lstStyle/>
          <a:p>
            <a:pPr algn="l" indent="0" marL="0">
              <a:lnSpc>
                <a:spcPts val="1740"/>
              </a:lnSpc>
              <a:buNone/>
            </a:pPr>
            <a:r>
              <a:rPr lang="en-US" sz="1200" dirty="0">
                <a:solidFill>
                  <a:srgbClr val="D9E6F2"/>
                </a:solidFill>
                <a:latin typeface="Be Vietnam Pro" pitchFamily="34" charset="0"/>
                <a:ea typeface="Be Vietnam Pro" pitchFamily="34" charset="-122"/>
                <a:cs typeface="Be Vietnam Pro" pitchFamily="34" charset="-120"/>
              </a:rPr>
              <a:t>Báo cáo tình huống và định vị</a:t>
            </a:r>
            <a:endParaRPr lang="en-US" sz="1200" dirty="0"/>
          </a:p>
          <a:p>
            <a:pPr algn="l" indent="0" marL="0">
              <a:lnSpc>
                <a:spcPts val="1740"/>
              </a:lnSpc>
              <a:buNone/>
            </a:pPr>
            <a:r>
              <a:rPr lang="en-US" sz="1200" dirty="0">
                <a:solidFill>
                  <a:srgbClr val="D9E6F2"/>
                </a:solidFill>
                <a:latin typeface="Be Vietnam Pro" pitchFamily="34" charset="0"/>
                <a:ea typeface="Be Vietnam Pro" pitchFamily="34" charset="-122"/>
                <a:cs typeface="Be Vietnam Pro" pitchFamily="34" charset="-120"/>
              </a:rPr>
              <a:t>vị trí gặp nạn trên bản đồ.</a:t>
            </a:r>
            <a:endParaRPr lang="en-US" sz="1200" dirty="0"/>
          </a:p>
        </p:txBody>
      </p:sp>
      <p:sp>
        <p:nvSpPr>
          <p:cNvPr id="20" name="Shape 16"/>
          <p:cNvSpPr/>
          <p:nvPr/>
        </p:nvSpPr>
        <p:spPr>
          <a:xfrm>
            <a:off x="3959352" y="3392678"/>
            <a:ext cx="2926080" cy="2194560"/>
          </a:xfrm>
          <a:prstGeom prst="roundRect">
            <a:avLst>
              <a:gd name="adj" fmla="val 5000"/>
            </a:avLst>
          </a:prstGeom>
          <a:solidFill>
            <a:srgbClr val="091B2D">
              <a:alpha val="66000"/>
            </a:srgbClr>
          </a:solidFill>
          <a:ln w="12700">
            <a:solidFill>
              <a:srgbClr val="FFFFFF">
                <a:alpha val="12000"/>
              </a:srgbClr>
            </a:solidFill>
            <a:prstDash val="solid"/>
          </a:ln>
        </p:spPr>
      </p:sp>
      <p:sp>
        <p:nvSpPr>
          <p:cNvPr id="21" name="Shape 17"/>
          <p:cNvSpPr/>
          <p:nvPr/>
        </p:nvSpPr>
        <p:spPr>
          <a:xfrm>
            <a:off x="3959352" y="3392678"/>
            <a:ext cx="50292" cy="2194560"/>
          </a:xfrm>
          <a:prstGeom prst="roundRect">
            <a:avLst>
              <a:gd name="adj" fmla="val 54545"/>
            </a:avLst>
          </a:prstGeom>
          <a:solidFill>
            <a:srgbClr val="22C55E">
              <a:alpha val="95000"/>
            </a:srgbClr>
          </a:solidFill>
          <a:ln/>
        </p:spPr>
      </p:sp>
      <p:sp>
        <p:nvSpPr>
          <p:cNvPr id="22" name="Shape 18"/>
          <p:cNvSpPr/>
          <p:nvPr/>
        </p:nvSpPr>
        <p:spPr>
          <a:xfrm>
            <a:off x="4233672" y="3666998"/>
            <a:ext cx="457200" cy="457200"/>
          </a:xfrm>
          <a:prstGeom prst="roundRect">
            <a:avLst>
              <a:gd name="adj" fmla="val 50000"/>
            </a:avLst>
          </a:prstGeom>
          <a:solidFill>
            <a:srgbClr val="04101F">
              <a:alpha val="88000"/>
            </a:srgbClr>
          </a:solidFill>
          <a:ln/>
        </p:spPr>
      </p:sp>
      <p:sp>
        <p:nvSpPr>
          <p:cNvPr id="23" name="Shape 19"/>
          <p:cNvSpPr/>
          <p:nvPr/>
        </p:nvSpPr>
        <p:spPr>
          <a:xfrm>
            <a:off x="4233672" y="3666998"/>
            <a:ext cx="457200" cy="457200"/>
          </a:xfrm>
          <a:prstGeom prst="roundRect">
            <a:avLst>
              <a:gd name="adj" fmla="val 50000"/>
            </a:avLst>
          </a:prstGeom>
          <a:solidFill>
            <a:srgbClr val="22C55E">
              <a:alpha val="20000"/>
            </a:srgbClr>
          </a:solidFill>
          <a:ln w="15240">
            <a:solidFill>
              <a:srgbClr val="22C55E">
                <a:alpha val="70000"/>
              </a:srgbClr>
            </a:solidFill>
            <a:prstDash val="solid"/>
          </a:ln>
        </p:spPr>
      </p:sp>
      <p:sp>
        <p:nvSpPr>
          <p:cNvPr id="24" name="Text 20"/>
          <p:cNvSpPr/>
          <p:nvPr/>
        </p:nvSpPr>
        <p:spPr>
          <a:xfrm>
            <a:off x="4187952" y="3758438"/>
            <a:ext cx="548640" cy="330327"/>
          </a:xfrm>
          <a:prstGeom prst="rect">
            <a:avLst/>
          </a:prstGeom>
          <a:noFill/>
          <a:ln/>
        </p:spPr>
        <p:txBody>
          <a:bodyPr wrap="square" lIns="0" tIns="0" rIns="0" bIns="0" rtlCol="0" anchor="t"/>
          <a:lstStyle/>
          <a:p>
            <a:pPr algn="ctr" indent="0" marL="0">
              <a:lnSpc>
                <a:spcPts val="2025"/>
              </a:lnSpc>
              <a:buNone/>
            </a:pPr>
            <a:r>
              <a:rPr lang="en-US" sz="1500" b="1" dirty="0">
                <a:solidFill>
                  <a:srgbClr val="22C55E"/>
                </a:solidFill>
                <a:latin typeface="Be Vietnam Pro" pitchFamily="34" charset="0"/>
                <a:ea typeface="Be Vietnam Pro" pitchFamily="34" charset="-122"/>
                <a:cs typeface="Be Vietnam Pro" pitchFamily="34" charset="-120"/>
              </a:rPr>
              <a:t>02</a:t>
            </a:r>
            <a:endParaRPr lang="en-US" sz="1500" dirty="0"/>
          </a:p>
        </p:txBody>
      </p:sp>
      <p:sp>
        <p:nvSpPr>
          <p:cNvPr id="25" name="Text 21"/>
          <p:cNvSpPr/>
          <p:nvPr/>
        </p:nvSpPr>
        <p:spPr>
          <a:xfrm>
            <a:off x="4233672" y="4288790"/>
            <a:ext cx="2468880" cy="347472"/>
          </a:xfrm>
          <a:prstGeom prst="rect">
            <a:avLst/>
          </a:prstGeom>
          <a:noFill/>
          <a:ln/>
        </p:spPr>
        <p:txBody>
          <a:bodyPr wrap="square" lIns="0" tIns="0" rIns="0" bIns="0" rtlCol="0" anchor="t"/>
          <a:lstStyle/>
          <a:p>
            <a:pPr algn="l" indent="0" marL="0">
              <a:lnSpc>
                <a:spcPts val="2160"/>
              </a:lnSpc>
              <a:buNone/>
            </a:pPr>
            <a:r>
              <a:rPr lang="en-US" sz="1600" b="1" dirty="0">
                <a:solidFill>
                  <a:srgbClr val="FFFFFF"/>
                </a:solidFill>
                <a:latin typeface="Be Vietnam Pro" pitchFamily="34" charset="0"/>
                <a:ea typeface="Be Vietnam Pro" pitchFamily="34" charset="-122"/>
                <a:cs typeface="Be Vietnam Pro" pitchFamily="34" charset="-120"/>
              </a:rPr>
              <a:t>Người điều phối</a:t>
            </a:r>
            <a:endParaRPr lang="en-US" sz="1600" dirty="0"/>
          </a:p>
        </p:txBody>
      </p:sp>
      <p:sp>
        <p:nvSpPr>
          <p:cNvPr id="26" name="Text 22"/>
          <p:cNvSpPr/>
          <p:nvPr/>
        </p:nvSpPr>
        <p:spPr>
          <a:xfrm>
            <a:off x="4233672" y="4672838"/>
            <a:ext cx="2468880" cy="736092"/>
          </a:xfrm>
          <a:prstGeom prst="rect">
            <a:avLst/>
          </a:prstGeom>
          <a:noFill/>
          <a:ln/>
        </p:spPr>
        <p:txBody>
          <a:bodyPr wrap="square" lIns="0" tIns="0" rIns="0" bIns="0" rtlCol="0" anchor="t"/>
          <a:lstStyle/>
          <a:p>
            <a:pPr algn="l" indent="0" marL="0">
              <a:lnSpc>
                <a:spcPts val="1740"/>
              </a:lnSpc>
              <a:buNone/>
            </a:pPr>
            <a:r>
              <a:rPr lang="en-US" sz="1200" dirty="0">
                <a:solidFill>
                  <a:srgbClr val="D9E6F2"/>
                </a:solidFill>
                <a:latin typeface="Be Vietnam Pro" pitchFamily="34" charset="0"/>
                <a:ea typeface="Be Vietnam Pro" pitchFamily="34" charset="-122"/>
                <a:cs typeface="Be Vietnam Pro" pitchFamily="34" charset="-120"/>
              </a:rPr>
              <a:t>Dùng AI phân tích tình hình, phê</a:t>
            </a:r>
            <a:endParaRPr lang="en-US" sz="1200" dirty="0"/>
          </a:p>
          <a:p>
            <a:pPr algn="l" indent="0" marL="0">
              <a:lnSpc>
                <a:spcPts val="1740"/>
              </a:lnSpc>
              <a:buNone/>
            </a:pPr>
            <a:r>
              <a:rPr lang="en-US" sz="1200" dirty="0">
                <a:solidFill>
                  <a:srgbClr val="D9E6F2"/>
                </a:solidFill>
                <a:latin typeface="Be Vietnam Pro" pitchFamily="34" charset="0"/>
                <a:ea typeface="Be Vietnam Pro" pitchFamily="34" charset="-122"/>
                <a:cs typeface="Be Vietnam Pro" pitchFamily="34" charset="-120"/>
              </a:rPr>
              <a:t>duyệt phương án và lập kế</a:t>
            </a:r>
            <a:endParaRPr lang="en-US" sz="1200" dirty="0"/>
          </a:p>
          <a:p>
            <a:pPr algn="l" indent="0" marL="0">
              <a:lnSpc>
                <a:spcPts val="1740"/>
              </a:lnSpc>
              <a:buNone/>
            </a:pPr>
            <a:r>
              <a:rPr lang="en-US" sz="1200" dirty="0">
                <a:solidFill>
                  <a:srgbClr val="D9E6F2"/>
                </a:solidFill>
                <a:latin typeface="Be Vietnam Pro" pitchFamily="34" charset="0"/>
                <a:ea typeface="Be Vietnam Pro" pitchFamily="34" charset="-122"/>
                <a:cs typeface="Be Vietnam Pro" pitchFamily="34" charset="-120"/>
              </a:rPr>
              <a:t>hoạch cứu hộ.</a:t>
            </a:r>
            <a:endParaRPr lang="en-US" sz="1200" dirty="0"/>
          </a:p>
        </p:txBody>
      </p:sp>
      <p:sp>
        <p:nvSpPr>
          <p:cNvPr id="27" name="Shape 23"/>
          <p:cNvSpPr/>
          <p:nvPr/>
        </p:nvSpPr>
        <p:spPr>
          <a:xfrm>
            <a:off x="7452360" y="2834894"/>
            <a:ext cx="4023360" cy="1517904"/>
          </a:xfrm>
          <a:prstGeom prst="roundRect">
            <a:avLst>
              <a:gd name="adj" fmla="val 7229"/>
            </a:avLst>
          </a:prstGeom>
          <a:solidFill>
            <a:srgbClr val="091B2D">
              <a:alpha val="66000"/>
            </a:srgbClr>
          </a:solidFill>
          <a:ln w="12700">
            <a:solidFill>
              <a:srgbClr val="FFFFFF">
                <a:alpha val="12000"/>
              </a:srgbClr>
            </a:solidFill>
            <a:prstDash val="solid"/>
          </a:ln>
        </p:spPr>
      </p:sp>
      <p:sp>
        <p:nvSpPr>
          <p:cNvPr id="28" name="Shape 24"/>
          <p:cNvSpPr/>
          <p:nvPr/>
        </p:nvSpPr>
        <p:spPr>
          <a:xfrm>
            <a:off x="7452360" y="2834894"/>
            <a:ext cx="50292" cy="1517904"/>
          </a:xfrm>
          <a:prstGeom prst="roundRect">
            <a:avLst>
              <a:gd name="adj" fmla="val 54545"/>
            </a:avLst>
          </a:prstGeom>
          <a:solidFill>
            <a:srgbClr val="FBBF24">
              <a:alpha val="95000"/>
            </a:srgbClr>
          </a:solidFill>
          <a:ln/>
        </p:spPr>
      </p:sp>
      <p:sp>
        <p:nvSpPr>
          <p:cNvPr id="29" name="Shape 25"/>
          <p:cNvSpPr/>
          <p:nvPr/>
        </p:nvSpPr>
        <p:spPr>
          <a:xfrm>
            <a:off x="7726680" y="3072638"/>
            <a:ext cx="420624" cy="420624"/>
          </a:xfrm>
          <a:prstGeom prst="roundRect">
            <a:avLst>
              <a:gd name="adj" fmla="val 50000"/>
            </a:avLst>
          </a:prstGeom>
          <a:solidFill>
            <a:srgbClr val="04101F">
              <a:alpha val="88000"/>
            </a:srgbClr>
          </a:solidFill>
          <a:ln/>
        </p:spPr>
      </p:sp>
      <p:sp>
        <p:nvSpPr>
          <p:cNvPr id="30" name="Shape 26"/>
          <p:cNvSpPr/>
          <p:nvPr/>
        </p:nvSpPr>
        <p:spPr>
          <a:xfrm>
            <a:off x="7726680" y="3072638"/>
            <a:ext cx="420624" cy="420624"/>
          </a:xfrm>
          <a:prstGeom prst="roundRect">
            <a:avLst>
              <a:gd name="adj" fmla="val 50000"/>
            </a:avLst>
          </a:prstGeom>
          <a:solidFill>
            <a:srgbClr val="FBBF24">
              <a:alpha val="20000"/>
            </a:srgbClr>
          </a:solidFill>
          <a:ln w="15240">
            <a:solidFill>
              <a:srgbClr val="FBBF24">
                <a:alpha val="70000"/>
              </a:srgbClr>
            </a:solidFill>
            <a:prstDash val="solid"/>
          </a:ln>
        </p:spPr>
      </p:sp>
      <p:sp>
        <p:nvSpPr>
          <p:cNvPr id="31" name="Text 27"/>
          <p:cNvSpPr/>
          <p:nvPr/>
        </p:nvSpPr>
        <p:spPr>
          <a:xfrm>
            <a:off x="7680960" y="3145790"/>
            <a:ext cx="512064" cy="330327"/>
          </a:xfrm>
          <a:prstGeom prst="rect">
            <a:avLst/>
          </a:prstGeom>
          <a:noFill/>
          <a:ln/>
        </p:spPr>
        <p:txBody>
          <a:bodyPr wrap="square" lIns="0" tIns="0" rIns="0" bIns="0" rtlCol="0" anchor="t"/>
          <a:lstStyle/>
          <a:p>
            <a:pPr algn="ctr" indent="0" marL="0">
              <a:lnSpc>
                <a:spcPts val="2025"/>
              </a:lnSpc>
              <a:buNone/>
            </a:pPr>
            <a:r>
              <a:rPr lang="en-US" sz="1500" b="1" dirty="0">
                <a:solidFill>
                  <a:srgbClr val="FBBF24"/>
                </a:solidFill>
                <a:latin typeface="Be Vietnam Pro" pitchFamily="34" charset="0"/>
                <a:ea typeface="Be Vietnam Pro" pitchFamily="34" charset="-122"/>
                <a:cs typeface="Be Vietnam Pro" pitchFamily="34" charset="-120"/>
              </a:rPr>
              <a:t>03</a:t>
            </a:r>
            <a:endParaRPr lang="en-US" sz="1500" dirty="0"/>
          </a:p>
        </p:txBody>
      </p:sp>
      <p:sp>
        <p:nvSpPr>
          <p:cNvPr id="32" name="Text 28"/>
          <p:cNvSpPr/>
          <p:nvPr/>
        </p:nvSpPr>
        <p:spPr>
          <a:xfrm>
            <a:off x="8275320" y="3118358"/>
            <a:ext cx="3017520" cy="347472"/>
          </a:xfrm>
          <a:prstGeom prst="rect">
            <a:avLst/>
          </a:prstGeom>
          <a:noFill/>
          <a:ln/>
        </p:spPr>
        <p:txBody>
          <a:bodyPr wrap="square" lIns="0" tIns="0" rIns="0" bIns="0" rtlCol="0" anchor="t"/>
          <a:lstStyle/>
          <a:p>
            <a:pPr algn="l" indent="0" marL="0">
              <a:lnSpc>
                <a:spcPts val="2160"/>
              </a:lnSpc>
              <a:buNone/>
            </a:pPr>
            <a:r>
              <a:rPr lang="en-US" sz="1600" b="1" dirty="0">
                <a:solidFill>
                  <a:srgbClr val="FFFFFF"/>
                </a:solidFill>
                <a:latin typeface="Be Vietnam Pro" pitchFamily="34" charset="0"/>
                <a:ea typeface="Be Vietnam Pro" pitchFamily="34" charset="-122"/>
                <a:cs typeface="Be Vietnam Pro" pitchFamily="34" charset="-120"/>
              </a:rPr>
              <a:t>Bộ phận kho</a:t>
            </a:r>
            <a:endParaRPr lang="en-US" sz="1600" dirty="0"/>
          </a:p>
        </p:txBody>
      </p:sp>
      <p:sp>
        <p:nvSpPr>
          <p:cNvPr id="33" name="Text 29"/>
          <p:cNvSpPr/>
          <p:nvPr/>
        </p:nvSpPr>
        <p:spPr>
          <a:xfrm>
            <a:off x="7726680" y="3657854"/>
            <a:ext cx="3566160" cy="515112"/>
          </a:xfrm>
          <a:prstGeom prst="rect">
            <a:avLst/>
          </a:prstGeom>
          <a:noFill/>
          <a:ln/>
        </p:spPr>
        <p:txBody>
          <a:bodyPr wrap="square" lIns="0" tIns="0" rIns="0" bIns="0" rtlCol="0" anchor="t"/>
          <a:lstStyle/>
          <a:p>
            <a:pPr algn="l" indent="0" marL="0">
              <a:lnSpc>
                <a:spcPts val="1740"/>
              </a:lnSpc>
              <a:buNone/>
            </a:pPr>
            <a:r>
              <a:rPr lang="en-US" sz="1200" dirty="0">
                <a:solidFill>
                  <a:srgbClr val="D9E6F2"/>
                </a:solidFill>
                <a:latin typeface="Be Vietnam Pro" pitchFamily="34" charset="0"/>
                <a:ea typeface="Be Vietnam Pro" pitchFamily="34" charset="-122"/>
                <a:cs typeface="Be Vietnam Pro" pitchFamily="34" charset="-120"/>
              </a:rPr>
              <a:t>Nhận thông báo tức thì để chuẩn bị và xuất</a:t>
            </a:r>
            <a:endParaRPr lang="en-US" sz="1200" dirty="0"/>
          </a:p>
          <a:p>
            <a:pPr algn="l" indent="0" marL="0">
              <a:lnSpc>
                <a:spcPts val="1740"/>
              </a:lnSpc>
              <a:buNone/>
            </a:pPr>
            <a:r>
              <a:rPr lang="en-US" sz="1200" dirty="0">
                <a:solidFill>
                  <a:srgbClr val="D9E6F2"/>
                </a:solidFill>
                <a:latin typeface="Be Vietnam Pro" pitchFamily="34" charset="0"/>
                <a:ea typeface="Be Vietnam Pro" pitchFamily="34" charset="-122"/>
                <a:cs typeface="Be Vietnam Pro" pitchFamily="34" charset="-120"/>
              </a:rPr>
              <a:t>vật tư theo lệnh.</a:t>
            </a:r>
            <a:endParaRPr lang="en-US" sz="1200" dirty="0"/>
          </a:p>
        </p:txBody>
      </p:sp>
      <p:sp>
        <p:nvSpPr>
          <p:cNvPr id="34" name="Shape 30"/>
          <p:cNvSpPr/>
          <p:nvPr/>
        </p:nvSpPr>
        <p:spPr>
          <a:xfrm>
            <a:off x="7452360" y="4627118"/>
            <a:ext cx="4023360" cy="1517904"/>
          </a:xfrm>
          <a:prstGeom prst="roundRect">
            <a:avLst>
              <a:gd name="adj" fmla="val 7229"/>
            </a:avLst>
          </a:prstGeom>
          <a:solidFill>
            <a:srgbClr val="091B2D">
              <a:alpha val="66000"/>
            </a:srgbClr>
          </a:solidFill>
          <a:ln w="12700">
            <a:solidFill>
              <a:srgbClr val="FFFFFF">
                <a:alpha val="12000"/>
              </a:srgbClr>
            </a:solidFill>
            <a:prstDash val="solid"/>
          </a:ln>
        </p:spPr>
      </p:sp>
      <p:sp>
        <p:nvSpPr>
          <p:cNvPr id="35" name="Shape 31"/>
          <p:cNvSpPr/>
          <p:nvPr/>
        </p:nvSpPr>
        <p:spPr>
          <a:xfrm>
            <a:off x="7452360" y="4627118"/>
            <a:ext cx="50292" cy="1517904"/>
          </a:xfrm>
          <a:prstGeom prst="roundRect">
            <a:avLst>
              <a:gd name="adj" fmla="val 54545"/>
            </a:avLst>
          </a:prstGeom>
          <a:solidFill>
            <a:srgbClr val="FB923C">
              <a:alpha val="95000"/>
            </a:srgbClr>
          </a:solidFill>
          <a:ln/>
        </p:spPr>
      </p:sp>
      <p:sp>
        <p:nvSpPr>
          <p:cNvPr id="36" name="Shape 32"/>
          <p:cNvSpPr/>
          <p:nvPr/>
        </p:nvSpPr>
        <p:spPr>
          <a:xfrm>
            <a:off x="7726680" y="4864862"/>
            <a:ext cx="420624" cy="420624"/>
          </a:xfrm>
          <a:prstGeom prst="roundRect">
            <a:avLst>
              <a:gd name="adj" fmla="val 50000"/>
            </a:avLst>
          </a:prstGeom>
          <a:solidFill>
            <a:srgbClr val="04101F">
              <a:alpha val="88000"/>
            </a:srgbClr>
          </a:solidFill>
          <a:ln/>
        </p:spPr>
      </p:sp>
      <p:sp>
        <p:nvSpPr>
          <p:cNvPr id="37" name="Shape 33"/>
          <p:cNvSpPr/>
          <p:nvPr/>
        </p:nvSpPr>
        <p:spPr>
          <a:xfrm>
            <a:off x="7726680" y="4864862"/>
            <a:ext cx="420624" cy="420624"/>
          </a:xfrm>
          <a:prstGeom prst="roundRect">
            <a:avLst>
              <a:gd name="adj" fmla="val 50000"/>
            </a:avLst>
          </a:prstGeom>
          <a:solidFill>
            <a:srgbClr val="FB923C">
              <a:alpha val="20000"/>
            </a:srgbClr>
          </a:solidFill>
          <a:ln w="15240">
            <a:solidFill>
              <a:srgbClr val="FB923C">
                <a:alpha val="70000"/>
              </a:srgbClr>
            </a:solidFill>
            <a:prstDash val="solid"/>
          </a:ln>
        </p:spPr>
      </p:sp>
      <p:sp>
        <p:nvSpPr>
          <p:cNvPr id="38" name="Text 34"/>
          <p:cNvSpPr/>
          <p:nvPr/>
        </p:nvSpPr>
        <p:spPr>
          <a:xfrm>
            <a:off x="7680960" y="4938014"/>
            <a:ext cx="512064" cy="330327"/>
          </a:xfrm>
          <a:prstGeom prst="rect">
            <a:avLst/>
          </a:prstGeom>
          <a:noFill/>
          <a:ln/>
        </p:spPr>
        <p:txBody>
          <a:bodyPr wrap="square" lIns="0" tIns="0" rIns="0" bIns="0" rtlCol="0" anchor="t"/>
          <a:lstStyle/>
          <a:p>
            <a:pPr algn="ctr" indent="0" marL="0">
              <a:lnSpc>
                <a:spcPts val="2025"/>
              </a:lnSpc>
              <a:buNone/>
            </a:pPr>
            <a:r>
              <a:rPr lang="en-US" sz="1500" b="1" dirty="0">
                <a:solidFill>
                  <a:srgbClr val="FB923C"/>
                </a:solidFill>
                <a:latin typeface="Be Vietnam Pro" pitchFamily="34" charset="0"/>
                <a:ea typeface="Be Vietnam Pro" pitchFamily="34" charset="-122"/>
                <a:cs typeface="Be Vietnam Pro" pitchFamily="34" charset="-120"/>
              </a:rPr>
              <a:t>04</a:t>
            </a:r>
            <a:endParaRPr lang="en-US" sz="1500" dirty="0"/>
          </a:p>
        </p:txBody>
      </p:sp>
      <p:sp>
        <p:nvSpPr>
          <p:cNvPr id="39" name="Text 35"/>
          <p:cNvSpPr/>
          <p:nvPr/>
        </p:nvSpPr>
        <p:spPr>
          <a:xfrm>
            <a:off x="8275320" y="4910582"/>
            <a:ext cx="3017520" cy="347472"/>
          </a:xfrm>
          <a:prstGeom prst="rect">
            <a:avLst/>
          </a:prstGeom>
          <a:noFill/>
          <a:ln/>
        </p:spPr>
        <p:txBody>
          <a:bodyPr wrap="square" lIns="0" tIns="0" rIns="0" bIns="0" rtlCol="0" anchor="t"/>
          <a:lstStyle/>
          <a:p>
            <a:pPr algn="l" indent="0" marL="0">
              <a:lnSpc>
                <a:spcPts val="2160"/>
              </a:lnSpc>
              <a:buNone/>
            </a:pPr>
            <a:r>
              <a:rPr lang="en-US" sz="1600" b="1" dirty="0">
                <a:solidFill>
                  <a:srgbClr val="FFFFFF"/>
                </a:solidFill>
                <a:latin typeface="Be Vietnam Pro" pitchFamily="34" charset="0"/>
                <a:ea typeface="Be Vietnam Pro" pitchFamily="34" charset="-122"/>
                <a:cs typeface="Be Vietnam Pro" pitchFamily="34" charset="-120"/>
              </a:rPr>
              <a:t>Đội cứu hộ</a:t>
            </a:r>
            <a:endParaRPr lang="en-US" sz="1600" dirty="0"/>
          </a:p>
        </p:txBody>
      </p:sp>
      <p:sp>
        <p:nvSpPr>
          <p:cNvPr id="40" name="Text 36"/>
          <p:cNvSpPr/>
          <p:nvPr/>
        </p:nvSpPr>
        <p:spPr>
          <a:xfrm>
            <a:off x="7726680" y="5450078"/>
            <a:ext cx="3566160" cy="515112"/>
          </a:xfrm>
          <a:prstGeom prst="rect">
            <a:avLst/>
          </a:prstGeom>
          <a:noFill/>
          <a:ln/>
        </p:spPr>
        <p:txBody>
          <a:bodyPr wrap="square" lIns="0" tIns="0" rIns="0" bIns="0" rtlCol="0" anchor="t"/>
          <a:lstStyle/>
          <a:p>
            <a:pPr algn="l" indent="0" marL="0">
              <a:lnSpc>
                <a:spcPts val="1740"/>
              </a:lnSpc>
              <a:buNone/>
            </a:pPr>
            <a:r>
              <a:rPr lang="en-US" sz="1200" dirty="0">
                <a:solidFill>
                  <a:srgbClr val="D9E6F2"/>
                </a:solidFill>
                <a:latin typeface="Be Vietnam Pro" pitchFamily="34" charset="0"/>
                <a:ea typeface="Be Vietnam Pro" pitchFamily="34" charset="-122"/>
                <a:cs typeface="Be Vietnam Pro" pitchFamily="34" charset="-120"/>
              </a:rPr>
              <a:t>Nhận nhiệm vụ, danh sách vật tư và vị trí kho</a:t>
            </a:r>
            <a:endParaRPr lang="en-US" sz="1200" dirty="0"/>
          </a:p>
          <a:p>
            <a:pPr algn="l" indent="0" marL="0">
              <a:lnSpc>
                <a:spcPts val="1740"/>
              </a:lnSpc>
              <a:buNone/>
            </a:pPr>
            <a:r>
              <a:rPr lang="en-US" sz="1200" dirty="0">
                <a:solidFill>
                  <a:srgbClr val="D9E6F2"/>
                </a:solidFill>
                <a:latin typeface="Be Vietnam Pro" pitchFamily="34" charset="0"/>
                <a:ea typeface="Be Vietnam Pro" pitchFamily="34" charset="-122"/>
                <a:cs typeface="Be Vietnam Pro" pitchFamily="34" charset="-120"/>
              </a:rPr>
              <a:t>trên bản đồ.</a:t>
            </a:r>
            <a:endParaRPr lang="en-US" sz="1200" dirty="0"/>
          </a:p>
        </p:txBody>
      </p:sp>
      <p:sp>
        <p:nvSpPr>
          <p:cNvPr id="41" name="Shape 37"/>
          <p:cNvSpPr/>
          <p:nvPr/>
        </p:nvSpPr>
        <p:spPr>
          <a:xfrm rot="5400000">
            <a:off x="3589020" y="4371086"/>
            <a:ext cx="237744" cy="237744"/>
          </a:xfrm>
          <a:prstGeom prst="triangle">
            <a:avLst/>
          </a:prstGeom>
          <a:solidFill>
            <a:srgbClr val="22C55E">
              <a:alpha val="80000"/>
            </a:srgbClr>
          </a:solidFill>
          <a:ln/>
        </p:spPr>
      </p:sp>
      <p:sp>
        <p:nvSpPr>
          <p:cNvPr id="42" name="Shape 38"/>
          <p:cNvSpPr/>
          <p:nvPr/>
        </p:nvSpPr>
        <p:spPr>
          <a:xfrm>
            <a:off x="6940296" y="4479900"/>
            <a:ext cx="219456" cy="20117"/>
          </a:xfrm>
          <a:prstGeom prst="rect">
            <a:avLst/>
          </a:prstGeom>
          <a:solidFill>
            <a:srgbClr val="2E7D55">
              <a:alpha val="85000"/>
            </a:srgbClr>
          </a:solidFill>
          <a:ln/>
        </p:spPr>
      </p:sp>
      <p:sp>
        <p:nvSpPr>
          <p:cNvPr id="43" name="Shape 39"/>
          <p:cNvSpPr/>
          <p:nvPr/>
        </p:nvSpPr>
        <p:spPr>
          <a:xfrm>
            <a:off x="7149694" y="3593846"/>
            <a:ext cx="20117" cy="1792224"/>
          </a:xfrm>
          <a:prstGeom prst="rect">
            <a:avLst/>
          </a:prstGeom>
          <a:solidFill>
            <a:srgbClr val="2E7D55">
              <a:alpha val="85000"/>
            </a:srgbClr>
          </a:solidFill>
          <a:ln/>
        </p:spPr>
      </p:sp>
      <p:sp>
        <p:nvSpPr>
          <p:cNvPr id="44" name="Shape 40"/>
          <p:cNvSpPr/>
          <p:nvPr/>
        </p:nvSpPr>
        <p:spPr>
          <a:xfrm>
            <a:off x="7159752" y="3583788"/>
            <a:ext cx="73152" cy="20117"/>
          </a:xfrm>
          <a:prstGeom prst="rect">
            <a:avLst/>
          </a:prstGeom>
          <a:solidFill>
            <a:srgbClr val="2E7D55">
              <a:alpha val="85000"/>
            </a:srgbClr>
          </a:solidFill>
          <a:ln/>
        </p:spPr>
      </p:sp>
      <p:sp>
        <p:nvSpPr>
          <p:cNvPr id="45" name="Shape 41"/>
          <p:cNvSpPr/>
          <p:nvPr/>
        </p:nvSpPr>
        <p:spPr>
          <a:xfrm rot="5400000">
            <a:off x="7205472" y="3474974"/>
            <a:ext cx="237744" cy="237744"/>
          </a:xfrm>
          <a:prstGeom prst="triangle">
            <a:avLst/>
          </a:prstGeom>
          <a:solidFill>
            <a:srgbClr val="22C55E">
              <a:alpha val="80000"/>
            </a:srgbClr>
          </a:solidFill>
          <a:ln/>
        </p:spPr>
      </p:sp>
      <p:sp>
        <p:nvSpPr>
          <p:cNvPr id="46" name="Shape 42"/>
          <p:cNvSpPr/>
          <p:nvPr/>
        </p:nvSpPr>
        <p:spPr>
          <a:xfrm>
            <a:off x="7159752" y="5376012"/>
            <a:ext cx="73152" cy="20117"/>
          </a:xfrm>
          <a:prstGeom prst="rect">
            <a:avLst/>
          </a:prstGeom>
          <a:solidFill>
            <a:srgbClr val="2E7D55">
              <a:alpha val="85000"/>
            </a:srgbClr>
          </a:solidFill>
          <a:ln/>
        </p:spPr>
      </p:sp>
      <p:sp>
        <p:nvSpPr>
          <p:cNvPr id="47" name="Shape 43"/>
          <p:cNvSpPr/>
          <p:nvPr/>
        </p:nvSpPr>
        <p:spPr>
          <a:xfrm rot="5400000">
            <a:off x="7205472" y="5267198"/>
            <a:ext cx="237744" cy="237744"/>
          </a:xfrm>
          <a:prstGeom prst="triangle">
            <a:avLst/>
          </a:prstGeom>
          <a:solidFill>
            <a:srgbClr val="22C55E">
              <a:alpha val="80000"/>
            </a:srgbClr>
          </a:solidFill>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4101F"/>
        </a:solidFill>
      </p:bgPr>
    </p:bg>
    <p:spTree>
      <p:nvGrpSpPr>
        <p:cNvPr id="1" name=""/>
        <p:cNvGrpSpPr/>
        <p:nvPr/>
      </p:nvGrpSpPr>
      <p:grpSpPr>
        <a:xfrm>
          <a:off x="0" y="0"/>
          <a:ext cx="0" cy="0"/>
          <a:chOff x="0" y="0"/>
          <a:chExt cx="0" cy="0"/>
        </a:xfrm>
      </p:grpSpPr>
      <p:pic>
        <p:nvPicPr>
          <p:cNvPr id="2" name="Image 0" descr="bg-content.jp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4101F">
              <a:alpha val="34000"/>
            </a:srgbClr>
          </a:solidFill>
          <a:ln/>
        </p:spPr>
      </p:sp>
      <p:pic>
        <p:nvPicPr>
          <p:cNvPr id="4" name="Image 1" descr="mark-sm.png">    </p:cNvPr>
          <p:cNvPicPr>
            <a:picLocks noChangeAspect="1"/>
          </p:cNvPicPr>
          <p:nvPr/>
        </p:nvPicPr>
        <p:blipFill>
          <a:blip r:embed="rId2"/>
          <a:stretch>
            <a:fillRect/>
          </a:stretch>
        </p:blipFill>
        <p:spPr>
          <a:xfrm>
            <a:off x="713232" y="365760"/>
            <a:ext cx="310896" cy="310896"/>
          </a:xfrm>
          <a:prstGeom prst="rect">
            <a:avLst/>
          </a:prstGeom>
        </p:spPr>
      </p:pic>
      <p:sp>
        <p:nvSpPr>
          <p:cNvPr id="5" name="Text 1"/>
          <p:cNvSpPr/>
          <p:nvPr/>
        </p:nvSpPr>
        <p:spPr>
          <a:xfrm>
            <a:off x="1170432" y="384048"/>
            <a:ext cx="3749040" cy="261747"/>
          </a:xfrm>
          <a:prstGeom prst="rect">
            <a:avLst/>
          </a:prstGeom>
          <a:noFill/>
          <a:ln/>
        </p:spPr>
        <p:txBody>
          <a:bodyPr wrap="square" lIns="0" tIns="0" rIns="0" bIns="0" rtlCol="0" anchor="t"/>
          <a:lstStyle/>
          <a:p>
            <a:pPr algn="l" indent="0" marL="0">
              <a:lnSpc>
                <a:spcPts val="1485"/>
              </a:lnSpc>
              <a:buNone/>
            </a:pPr>
            <a:r>
              <a:rPr lang="en-US" sz="1100" b="1" spc="160" kern="0" dirty="0">
                <a:solidFill>
                  <a:srgbClr val="6EE7A8"/>
                </a:solidFill>
                <a:latin typeface="Be Vietnam Pro" pitchFamily="34" charset="0"/>
                <a:ea typeface="Be Vietnam Pro" pitchFamily="34" charset="-122"/>
                <a:cs typeface="Be Vietnam Pro" pitchFamily="34" charset="-120"/>
              </a:rPr>
              <a:t>ỨNG PHÓ NHANH</a:t>
            </a:r>
            <a:endParaRPr lang="en-US" sz="1100" dirty="0"/>
          </a:p>
        </p:txBody>
      </p:sp>
      <p:sp>
        <p:nvSpPr>
          <p:cNvPr id="6" name="Text 2"/>
          <p:cNvSpPr/>
          <p:nvPr/>
        </p:nvSpPr>
        <p:spPr>
          <a:xfrm>
            <a:off x="8643823" y="384048"/>
            <a:ext cx="2834640" cy="261747"/>
          </a:xfrm>
          <a:prstGeom prst="rect">
            <a:avLst/>
          </a:prstGeom>
          <a:noFill/>
          <a:ln/>
        </p:spPr>
        <p:txBody>
          <a:bodyPr wrap="square" lIns="0" tIns="0" rIns="0" bIns="0" rtlCol="0" anchor="t"/>
          <a:lstStyle/>
          <a:p>
            <a:pPr algn="r" indent="0" marL="0">
              <a:lnSpc>
                <a:spcPts val="1485"/>
              </a:lnSpc>
              <a:buNone/>
            </a:pPr>
            <a:r>
              <a:rPr lang="en-US" sz="1100" b="1" dirty="0">
                <a:solidFill>
                  <a:srgbClr val="7189A2"/>
                </a:solidFill>
                <a:latin typeface="Be Vietnam Pro" pitchFamily="34" charset="0"/>
                <a:ea typeface="Be Vietnam Pro" pitchFamily="34" charset="-122"/>
                <a:cs typeface="Be Vietnam Pro" pitchFamily="34" charset="-120"/>
              </a:rPr>
              <a:t>05 / 24</a:t>
            </a:r>
            <a:endParaRPr lang="en-US" sz="1100" dirty="0"/>
          </a:p>
        </p:txBody>
      </p:sp>
      <p:sp>
        <p:nvSpPr>
          <p:cNvPr id="7" name="Shape 3"/>
          <p:cNvSpPr/>
          <p:nvPr/>
        </p:nvSpPr>
        <p:spPr>
          <a:xfrm>
            <a:off x="713232" y="868680"/>
            <a:ext cx="10765231" cy="10973"/>
          </a:xfrm>
          <a:prstGeom prst="rect">
            <a:avLst/>
          </a:prstGeom>
          <a:solidFill>
            <a:srgbClr val="FFFFFF">
              <a:alpha val="16000"/>
            </a:srgbClr>
          </a:solidFill>
          <a:ln/>
        </p:spPr>
      </p:sp>
      <p:sp>
        <p:nvSpPr>
          <p:cNvPr id="8" name="Text 4"/>
          <p:cNvSpPr/>
          <p:nvPr/>
        </p:nvSpPr>
        <p:spPr>
          <a:xfrm>
            <a:off x="713232" y="1133856"/>
            <a:ext cx="8321040" cy="270320"/>
          </a:xfrm>
          <a:prstGeom prst="rect">
            <a:avLst/>
          </a:prstGeom>
          <a:noFill/>
          <a:ln/>
        </p:spPr>
        <p:txBody>
          <a:bodyPr wrap="square" lIns="0" tIns="0" rIns="0" bIns="0" rtlCol="0" anchor="t"/>
          <a:lstStyle/>
          <a:p>
            <a:pPr algn="l" indent="0" marL="0">
              <a:lnSpc>
                <a:spcPts val="1553"/>
              </a:lnSpc>
              <a:buNone/>
            </a:pPr>
            <a:r>
              <a:rPr lang="en-US" sz="1150" b="1" spc="220" kern="0" dirty="0">
                <a:solidFill>
                  <a:srgbClr val="22C55E"/>
                </a:solidFill>
                <a:latin typeface="Be Vietnam Pro" pitchFamily="34" charset="0"/>
                <a:ea typeface="Be Vietnam Pro" pitchFamily="34" charset="-122"/>
                <a:cs typeface="Be Vietnam Pro" pitchFamily="34" charset="-120"/>
              </a:rPr>
              <a:t>QUY TRÌNH ĐIỀU PHỐI CỨU HỘ · TOÀN BỘ 6 BƯỚC</a:t>
            </a:r>
            <a:endParaRPr lang="en-US" sz="1150" dirty="0"/>
          </a:p>
        </p:txBody>
      </p:sp>
      <p:sp>
        <p:nvSpPr>
          <p:cNvPr id="9" name="Text 5"/>
          <p:cNvSpPr/>
          <p:nvPr/>
        </p:nvSpPr>
        <p:spPr>
          <a:xfrm>
            <a:off x="713232" y="1426464"/>
            <a:ext cx="10490911" cy="537718"/>
          </a:xfrm>
          <a:prstGeom prst="rect">
            <a:avLst/>
          </a:prstGeom>
          <a:noFill/>
          <a:ln/>
        </p:spPr>
        <p:txBody>
          <a:bodyPr wrap="square" lIns="0" tIns="0" rIns="0" bIns="0" rtlCol="0" anchor="t"/>
          <a:lstStyle/>
          <a:p>
            <a:pPr algn="l" indent="0" marL="0">
              <a:lnSpc>
                <a:spcPts val="3658"/>
              </a:lnSpc>
              <a:buNone/>
            </a:pPr>
            <a:r>
              <a:rPr lang="en-US" sz="3100" b="1" dirty="0">
                <a:solidFill>
                  <a:srgbClr val="FFFFFF"/>
                </a:solidFill>
                <a:latin typeface="Be Vietnam Pro" pitchFamily="34" charset="0"/>
                <a:ea typeface="Be Vietnam Pro" pitchFamily="34" charset="-122"/>
                <a:cs typeface="Be Vietnam Pro" pitchFamily="34" charset="-120"/>
              </a:rPr>
              <a:t>Nhiệm vụ được theo dõi minh bạch từ đầu đến cuối</a:t>
            </a:r>
            <a:endParaRPr lang="en-US" sz="3100" dirty="0"/>
          </a:p>
        </p:txBody>
      </p:sp>
      <p:sp>
        <p:nvSpPr>
          <p:cNvPr id="10" name="Shape 6"/>
          <p:cNvSpPr/>
          <p:nvPr/>
        </p:nvSpPr>
        <p:spPr>
          <a:xfrm>
            <a:off x="713232" y="6272784"/>
            <a:ext cx="10765231" cy="9144"/>
          </a:xfrm>
          <a:prstGeom prst="rect">
            <a:avLst/>
          </a:prstGeom>
          <a:solidFill>
            <a:srgbClr val="FFFFFF">
              <a:alpha val="10000"/>
            </a:srgbClr>
          </a:solidFill>
          <a:ln/>
        </p:spPr>
      </p:sp>
      <p:sp>
        <p:nvSpPr>
          <p:cNvPr id="11" name="Text 7"/>
          <p:cNvSpPr/>
          <p:nvPr/>
        </p:nvSpPr>
        <p:spPr>
          <a:xfrm>
            <a:off x="8643823" y="6382512"/>
            <a:ext cx="2834640" cy="236030"/>
          </a:xfrm>
          <a:prstGeom prst="rect">
            <a:avLst/>
          </a:prstGeom>
          <a:noFill/>
          <a:ln/>
        </p:spPr>
        <p:txBody>
          <a:bodyPr wrap="square" lIns="0" tIns="0" rIns="0" bIns="0" rtlCol="0" anchor="t"/>
          <a:lstStyle/>
          <a:p>
            <a:pPr algn="r" indent="0" marL="0">
              <a:lnSpc>
                <a:spcPts val="1283"/>
              </a:lnSpc>
              <a:buNone/>
            </a:pPr>
            <a:r>
              <a:rPr lang="en-US" sz="950" dirty="0">
                <a:solidFill>
                  <a:srgbClr val="7189A2"/>
                </a:solidFill>
                <a:latin typeface="Be Vietnam Pro" pitchFamily="34" charset="0"/>
                <a:ea typeface="Be Vietnam Pro" pitchFamily="34" charset="-122"/>
                <a:cs typeface="Be Vietnam Pro" pitchFamily="34" charset="-120"/>
              </a:rPr>
              <a:t>ungphonhanh.life</a:t>
            </a:r>
            <a:endParaRPr lang="en-US" sz="950" dirty="0"/>
          </a:p>
        </p:txBody>
      </p:sp>
      <p:sp>
        <p:nvSpPr>
          <p:cNvPr id="12" name="Shape 8"/>
          <p:cNvSpPr/>
          <p:nvPr/>
        </p:nvSpPr>
        <p:spPr>
          <a:xfrm rot="5400000">
            <a:off x="4144670" y="2979166"/>
            <a:ext cx="219456" cy="219456"/>
          </a:xfrm>
          <a:prstGeom prst="triangle">
            <a:avLst/>
          </a:prstGeom>
          <a:solidFill>
            <a:srgbClr val="22C55E">
              <a:alpha val="75000"/>
            </a:srgbClr>
          </a:solidFill>
          <a:ln/>
        </p:spPr>
      </p:sp>
      <p:sp>
        <p:nvSpPr>
          <p:cNvPr id="13" name="Shape 9"/>
          <p:cNvSpPr/>
          <p:nvPr/>
        </p:nvSpPr>
        <p:spPr>
          <a:xfrm rot="16200000">
            <a:off x="4135526" y="5118862"/>
            <a:ext cx="219456" cy="219456"/>
          </a:xfrm>
          <a:prstGeom prst="triangle">
            <a:avLst/>
          </a:prstGeom>
          <a:solidFill>
            <a:srgbClr val="22C55E">
              <a:alpha val="75000"/>
            </a:srgbClr>
          </a:solidFill>
          <a:ln/>
        </p:spPr>
      </p:sp>
      <p:sp>
        <p:nvSpPr>
          <p:cNvPr id="14" name="Shape 10"/>
          <p:cNvSpPr/>
          <p:nvPr/>
        </p:nvSpPr>
        <p:spPr>
          <a:xfrm rot="5400000">
            <a:off x="7836713" y="2979166"/>
            <a:ext cx="219456" cy="219456"/>
          </a:xfrm>
          <a:prstGeom prst="triangle">
            <a:avLst/>
          </a:prstGeom>
          <a:solidFill>
            <a:srgbClr val="22C55E">
              <a:alpha val="75000"/>
            </a:srgbClr>
          </a:solidFill>
          <a:ln/>
        </p:spPr>
      </p:sp>
      <p:sp>
        <p:nvSpPr>
          <p:cNvPr id="15" name="Shape 11"/>
          <p:cNvSpPr/>
          <p:nvPr/>
        </p:nvSpPr>
        <p:spPr>
          <a:xfrm rot="16200000">
            <a:off x="7827569" y="5118862"/>
            <a:ext cx="219456" cy="219456"/>
          </a:xfrm>
          <a:prstGeom prst="triangle">
            <a:avLst/>
          </a:prstGeom>
          <a:solidFill>
            <a:srgbClr val="22C55E">
              <a:alpha val="75000"/>
            </a:srgbClr>
          </a:solidFill>
          <a:ln/>
        </p:spPr>
      </p:sp>
      <p:sp>
        <p:nvSpPr>
          <p:cNvPr id="16" name="Shape 12"/>
          <p:cNvSpPr/>
          <p:nvPr/>
        </p:nvSpPr>
        <p:spPr>
          <a:xfrm>
            <a:off x="9777832" y="3957574"/>
            <a:ext cx="20117" cy="246888"/>
          </a:xfrm>
          <a:prstGeom prst="rect">
            <a:avLst/>
          </a:prstGeom>
          <a:solidFill>
            <a:srgbClr val="2E7D55">
              <a:alpha val="85000"/>
            </a:srgbClr>
          </a:solidFill>
          <a:ln/>
        </p:spPr>
      </p:sp>
      <p:sp>
        <p:nvSpPr>
          <p:cNvPr id="17" name="Shape 13"/>
          <p:cNvSpPr/>
          <p:nvPr/>
        </p:nvSpPr>
        <p:spPr>
          <a:xfrm rot="10800000">
            <a:off x="9696450" y="4181602"/>
            <a:ext cx="182880" cy="182880"/>
          </a:xfrm>
          <a:prstGeom prst="triangle">
            <a:avLst/>
          </a:prstGeom>
          <a:solidFill>
            <a:srgbClr val="22C55E">
              <a:alpha val="75000"/>
            </a:srgbClr>
          </a:solidFill>
          <a:ln/>
        </p:spPr>
      </p:sp>
      <p:sp>
        <p:nvSpPr>
          <p:cNvPr id="18" name="Shape 14"/>
          <p:cNvSpPr/>
          <p:nvPr/>
        </p:nvSpPr>
        <p:spPr>
          <a:xfrm>
            <a:off x="713232" y="2220214"/>
            <a:ext cx="3381146" cy="1737360"/>
          </a:xfrm>
          <a:prstGeom prst="roundRect">
            <a:avLst>
              <a:gd name="adj" fmla="val 6316"/>
            </a:avLst>
          </a:prstGeom>
          <a:solidFill>
            <a:srgbClr val="091B2D">
              <a:alpha val="78000"/>
            </a:srgbClr>
          </a:solidFill>
          <a:ln w="12700">
            <a:solidFill>
              <a:srgbClr val="FFFFFF">
                <a:alpha val="16000"/>
              </a:srgbClr>
            </a:solidFill>
            <a:prstDash val="solid"/>
          </a:ln>
        </p:spPr>
      </p:sp>
      <p:sp>
        <p:nvSpPr>
          <p:cNvPr id="19" name="Shape 15"/>
          <p:cNvSpPr/>
          <p:nvPr/>
        </p:nvSpPr>
        <p:spPr>
          <a:xfrm>
            <a:off x="713232" y="2220214"/>
            <a:ext cx="50292" cy="1737360"/>
          </a:xfrm>
          <a:prstGeom prst="roundRect">
            <a:avLst>
              <a:gd name="adj" fmla="val 54545"/>
            </a:avLst>
          </a:prstGeom>
          <a:solidFill>
            <a:srgbClr val="22C55E">
              <a:alpha val="95000"/>
            </a:srgbClr>
          </a:solidFill>
          <a:ln/>
        </p:spPr>
      </p:sp>
      <p:sp>
        <p:nvSpPr>
          <p:cNvPr id="20" name="Shape 16"/>
          <p:cNvSpPr/>
          <p:nvPr/>
        </p:nvSpPr>
        <p:spPr>
          <a:xfrm>
            <a:off x="987552" y="2439670"/>
            <a:ext cx="420624" cy="420624"/>
          </a:xfrm>
          <a:prstGeom prst="roundRect">
            <a:avLst>
              <a:gd name="adj" fmla="val 50000"/>
            </a:avLst>
          </a:prstGeom>
          <a:solidFill>
            <a:srgbClr val="04101F">
              <a:alpha val="88000"/>
            </a:srgbClr>
          </a:solidFill>
          <a:ln/>
        </p:spPr>
      </p:sp>
      <p:sp>
        <p:nvSpPr>
          <p:cNvPr id="21" name="Shape 17"/>
          <p:cNvSpPr/>
          <p:nvPr/>
        </p:nvSpPr>
        <p:spPr>
          <a:xfrm>
            <a:off x="987552" y="2439670"/>
            <a:ext cx="420624" cy="420624"/>
          </a:xfrm>
          <a:prstGeom prst="roundRect">
            <a:avLst>
              <a:gd name="adj" fmla="val 50000"/>
            </a:avLst>
          </a:prstGeom>
          <a:solidFill>
            <a:srgbClr val="22C55E">
              <a:alpha val="20000"/>
            </a:srgbClr>
          </a:solidFill>
          <a:ln w="15240">
            <a:solidFill>
              <a:srgbClr val="22C55E">
                <a:alpha val="70000"/>
              </a:srgbClr>
            </a:solidFill>
            <a:prstDash val="solid"/>
          </a:ln>
        </p:spPr>
      </p:sp>
      <p:sp>
        <p:nvSpPr>
          <p:cNvPr id="22" name="Text 18"/>
          <p:cNvSpPr/>
          <p:nvPr/>
        </p:nvSpPr>
        <p:spPr>
          <a:xfrm>
            <a:off x="941832" y="2512822"/>
            <a:ext cx="512064" cy="330327"/>
          </a:xfrm>
          <a:prstGeom prst="rect">
            <a:avLst/>
          </a:prstGeom>
          <a:noFill/>
          <a:ln/>
        </p:spPr>
        <p:txBody>
          <a:bodyPr wrap="square" lIns="0" tIns="0" rIns="0" bIns="0" rtlCol="0" anchor="t"/>
          <a:lstStyle/>
          <a:p>
            <a:pPr algn="ctr" indent="0" marL="0">
              <a:lnSpc>
                <a:spcPts val="2025"/>
              </a:lnSpc>
              <a:buNone/>
            </a:pPr>
            <a:r>
              <a:rPr lang="en-US" sz="1500" b="1" dirty="0">
                <a:solidFill>
                  <a:srgbClr val="22C55E"/>
                </a:solidFill>
                <a:latin typeface="Be Vietnam Pro" pitchFamily="34" charset="0"/>
                <a:ea typeface="Be Vietnam Pro" pitchFamily="34" charset="-122"/>
                <a:cs typeface="Be Vietnam Pro" pitchFamily="34" charset="-120"/>
              </a:rPr>
              <a:t>1</a:t>
            </a:r>
            <a:endParaRPr lang="en-US" sz="1500" dirty="0"/>
          </a:p>
        </p:txBody>
      </p:sp>
      <p:sp>
        <p:nvSpPr>
          <p:cNvPr id="23" name="Text 19"/>
          <p:cNvSpPr/>
          <p:nvPr/>
        </p:nvSpPr>
        <p:spPr>
          <a:xfrm>
            <a:off x="1536192" y="2485390"/>
            <a:ext cx="2393594" cy="295402"/>
          </a:xfrm>
          <a:prstGeom prst="rect">
            <a:avLst/>
          </a:prstGeom>
          <a:noFill/>
          <a:ln/>
        </p:spPr>
        <p:txBody>
          <a:bodyPr wrap="square" lIns="0" tIns="0" rIns="0" bIns="0" rtlCol="0" anchor="t"/>
          <a:lstStyle/>
          <a:p>
            <a:pPr algn="l" indent="0" marL="0">
              <a:lnSpc>
                <a:spcPts val="1750"/>
              </a:lnSpc>
              <a:buNone/>
            </a:pPr>
            <a:r>
              <a:rPr lang="en-US" sz="1400" b="1" dirty="0">
                <a:solidFill>
                  <a:srgbClr val="FFFFFF"/>
                </a:solidFill>
                <a:latin typeface="Be Vietnam Pro" pitchFamily="34" charset="0"/>
                <a:ea typeface="Be Vietnam Pro" pitchFamily="34" charset="-122"/>
                <a:cs typeface="Be Vietnam Pro" pitchFamily="34" charset="-120"/>
              </a:rPr>
              <a:t>Ghi nhận tình huống</a:t>
            </a:r>
            <a:endParaRPr lang="en-US" sz="1400" dirty="0"/>
          </a:p>
        </p:txBody>
      </p:sp>
      <p:sp>
        <p:nvSpPr>
          <p:cNvPr id="24" name="Text 20"/>
          <p:cNvSpPr/>
          <p:nvPr/>
        </p:nvSpPr>
        <p:spPr>
          <a:xfrm>
            <a:off x="987552" y="3098038"/>
            <a:ext cx="2923946" cy="487934"/>
          </a:xfrm>
          <a:prstGeom prst="rect">
            <a:avLst/>
          </a:prstGeom>
          <a:noFill/>
          <a:ln/>
        </p:spPr>
        <p:txBody>
          <a:bodyPr wrap="square" lIns="0" tIns="0" rIns="0" bIns="0" rtlCol="0" anchor="t"/>
          <a:lstStyle/>
          <a:p>
            <a:pPr algn="l" indent="0" marL="0">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Trưởng thôn báo cáo và ghim điểm gặp</a:t>
            </a:r>
            <a:endParaRPr lang="en-US" sz="1150" dirty="0"/>
          </a:p>
          <a:p>
            <a:pPr algn="l" indent="0" marL="0">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nạn lên bản đồ.</a:t>
            </a:r>
            <a:endParaRPr lang="en-US" sz="1150" dirty="0"/>
          </a:p>
        </p:txBody>
      </p:sp>
      <p:sp>
        <p:nvSpPr>
          <p:cNvPr id="25" name="Shape 21"/>
          <p:cNvSpPr/>
          <p:nvPr/>
        </p:nvSpPr>
        <p:spPr>
          <a:xfrm>
            <a:off x="4405274" y="2220214"/>
            <a:ext cx="3381146" cy="1737360"/>
          </a:xfrm>
          <a:prstGeom prst="roundRect">
            <a:avLst>
              <a:gd name="adj" fmla="val 6316"/>
            </a:avLst>
          </a:prstGeom>
          <a:solidFill>
            <a:srgbClr val="091B2D">
              <a:alpha val="78000"/>
            </a:srgbClr>
          </a:solidFill>
          <a:ln w="12700">
            <a:solidFill>
              <a:srgbClr val="FFFFFF">
                <a:alpha val="16000"/>
              </a:srgbClr>
            </a:solidFill>
            <a:prstDash val="solid"/>
          </a:ln>
        </p:spPr>
      </p:sp>
      <p:sp>
        <p:nvSpPr>
          <p:cNvPr id="26" name="Shape 22"/>
          <p:cNvSpPr/>
          <p:nvPr/>
        </p:nvSpPr>
        <p:spPr>
          <a:xfrm>
            <a:off x="4405274" y="2220214"/>
            <a:ext cx="50292" cy="1737360"/>
          </a:xfrm>
          <a:prstGeom prst="roundRect">
            <a:avLst>
              <a:gd name="adj" fmla="val 54545"/>
            </a:avLst>
          </a:prstGeom>
          <a:solidFill>
            <a:srgbClr val="22C55E">
              <a:alpha val="95000"/>
            </a:srgbClr>
          </a:solidFill>
          <a:ln/>
        </p:spPr>
      </p:sp>
      <p:sp>
        <p:nvSpPr>
          <p:cNvPr id="27" name="Shape 23"/>
          <p:cNvSpPr/>
          <p:nvPr/>
        </p:nvSpPr>
        <p:spPr>
          <a:xfrm>
            <a:off x="4679594" y="2439670"/>
            <a:ext cx="420624" cy="420624"/>
          </a:xfrm>
          <a:prstGeom prst="roundRect">
            <a:avLst>
              <a:gd name="adj" fmla="val 50000"/>
            </a:avLst>
          </a:prstGeom>
          <a:solidFill>
            <a:srgbClr val="04101F">
              <a:alpha val="88000"/>
            </a:srgbClr>
          </a:solidFill>
          <a:ln/>
        </p:spPr>
      </p:sp>
      <p:sp>
        <p:nvSpPr>
          <p:cNvPr id="28" name="Shape 24"/>
          <p:cNvSpPr/>
          <p:nvPr/>
        </p:nvSpPr>
        <p:spPr>
          <a:xfrm>
            <a:off x="4679594" y="2439670"/>
            <a:ext cx="420624" cy="420624"/>
          </a:xfrm>
          <a:prstGeom prst="roundRect">
            <a:avLst>
              <a:gd name="adj" fmla="val 50000"/>
            </a:avLst>
          </a:prstGeom>
          <a:solidFill>
            <a:srgbClr val="22C55E">
              <a:alpha val="20000"/>
            </a:srgbClr>
          </a:solidFill>
          <a:ln w="15240">
            <a:solidFill>
              <a:srgbClr val="22C55E">
                <a:alpha val="70000"/>
              </a:srgbClr>
            </a:solidFill>
            <a:prstDash val="solid"/>
          </a:ln>
        </p:spPr>
      </p:sp>
      <p:sp>
        <p:nvSpPr>
          <p:cNvPr id="29" name="Text 25"/>
          <p:cNvSpPr/>
          <p:nvPr/>
        </p:nvSpPr>
        <p:spPr>
          <a:xfrm>
            <a:off x="4633874" y="2512822"/>
            <a:ext cx="512064" cy="330327"/>
          </a:xfrm>
          <a:prstGeom prst="rect">
            <a:avLst/>
          </a:prstGeom>
          <a:noFill/>
          <a:ln/>
        </p:spPr>
        <p:txBody>
          <a:bodyPr wrap="square" lIns="0" tIns="0" rIns="0" bIns="0" rtlCol="0" anchor="t"/>
          <a:lstStyle/>
          <a:p>
            <a:pPr algn="ctr" indent="0" marL="0">
              <a:lnSpc>
                <a:spcPts val="2025"/>
              </a:lnSpc>
              <a:buNone/>
            </a:pPr>
            <a:r>
              <a:rPr lang="en-US" sz="1500" b="1" dirty="0">
                <a:solidFill>
                  <a:srgbClr val="22C55E"/>
                </a:solidFill>
                <a:latin typeface="Be Vietnam Pro" pitchFamily="34" charset="0"/>
                <a:ea typeface="Be Vietnam Pro" pitchFamily="34" charset="-122"/>
                <a:cs typeface="Be Vietnam Pro" pitchFamily="34" charset="-120"/>
              </a:rPr>
              <a:t>2</a:t>
            </a:r>
            <a:endParaRPr lang="en-US" sz="1500" dirty="0"/>
          </a:p>
        </p:txBody>
      </p:sp>
      <p:sp>
        <p:nvSpPr>
          <p:cNvPr id="30" name="Text 26"/>
          <p:cNvSpPr/>
          <p:nvPr/>
        </p:nvSpPr>
        <p:spPr>
          <a:xfrm>
            <a:off x="5228234" y="2485390"/>
            <a:ext cx="2393594" cy="517652"/>
          </a:xfrm>
          <a:prstGeom prst="rect">
            <a:avLst/>
          </a:prstGeom>
          <a:noFill/>
          <a:ln/>
        </p:spPr>
        <p:txBody>
          <a:bodyPr wrap="square" lIns="0" tIns="0" rIns="0" bIns="0" rtlCol="0" anchor="t"/>
          <a:lstStyle/>
          <a:p>
            <a:pPr algn="l" indent="0" marL="0">
              <a:lnSpc>
                <a:spcPts val="1750"/>
              </a:lnSpc>
              <a:buNone/>
            </a:pPr>
            <a:r>
              <a:rPr lang="en-US" sz="1400" b="1" dirty="0">
                <a:solidFill>
                  <a:srgbClr val="FFFFFF"/>
                </a:solidFill>
                <a:latin typeface="Be Vietnam Pro" pitchFamily="34" charset="0"/>
                <a:ea typeface="Be Vietnam Pro" pitchFamily="34" charset="-122"/>
                <a:cs typeface="Be Vietnam Pro" pitchFamily="34" charset="-120"/>
              </a:rPr>
              <a:t>AI phân tích và con người</a:t>
            </a:r>
            <a:endParaRPr lang="en-US" sz="1400" dirty="0"/>
          </a:p>
          <a:p>
            <a:pPr algn="l" indent="0" marL="0">
              <a:lnSpc>
                <a:spcPts val="1750"/>
              </a:lnSpc>
              <a:buNone/>
            </a:pPr>
            <a:r>
              <a:rPr lang="en-US" sz="1400" b="1" dirty="0">
                <a:solidFill>
                  <a:srgbClr val="FFFFFF"/>
                </a:solidFill>
                <a:latin typeface="Be Vietnam Pro" pitchFamily="34" charset="0"/>
                <a:ea typeface="Be Vietnam Pro" pitchFamily="34" charset="-122"/>
                <a:cs typeface="Be Vietnam Pro" pitchFamily="34" charset="-120"/>
              </a:rPr>
              <a:t>điều phối</a:t>
            </a:r>
            <a:endParaRPr lang="en-US" sz="1400" dirty="0"/>
          </a:p>
        </p:txBody>
      </p:sp>
      <p:sp>
        <p:nvSpPr>
          <p:cNvPr id="31" name="Text 27"/>
          <p:cNvSpPr/>
          <p:nvPr/>
        </p:nvSpPr>
        <p:spPr>
          <a:xfrm>
            <a:off x="4679594" y="3098038"/>
            <a:ext cx="2923946" cy="695325"/>
          </a:xfrm>
          <a:prstGeom prst="rect">
            <a:avLst/>
          </a:prstGeom>
          <a:noFill/>
          <a:ln/>
        </p:spPr>
        <p:txBody>
          <a:bodyPr wrap="square" lIns="0" tIns="0" rIns="0" bIns="0" rtlCol="0" anchor="t"/>
          <a:lstStyle/>
          <a:p>
            <a:pPr algn="l" indent="0" marL="0">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AI đọc mô tả bằng lời thành số liệu và</a:t>
            </a:r>
            <a:endParaRPr lang="en-US" sz="1150" dirty="0"/>
          </a:p>
          <a:p>
            <a:pPr algn="l" indent="0" marL="0">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đề xuất vật tư, người điều phối sẽ chốt</a:t>
            </a:r>
            <a:endParaRPr lang="en-US" sz="1150" dirty="0"/>
          </a:p>
          <a:p>
            <a:pPr algn="l" indent="0" marL="0">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phương án.</a:t>
            </a:r>
            <a:endParaRPr lang="en-US" sz="1150" dirty="0"/>
          </a:p>
        </p:txBody>
      </p:sp>
      <p:sp>
        <p:nvSpPr>
          <p:cNvPr id="32" name="Shape 28"/>
          <p:cNvSpPr/>
          <p:nvPr/>
        </p:nvSpPr>
        <p:spPr>
          <a:xfrm>
            <a:off x="8097317" y="2220214"/>
            <a:ext cx="3381146" cy="1737360"/>
          </a:xfrm>
          <a:prstGeom prst="roundRect">
            <a:avLst>
              <a:gd name="adj" fmla="val 6316"/>
            </a:avLst>
          </a:prstGeom>
          <a:solidFill>
            <a:srgbClr val="091B2D">
              <a:alpha val="78000"/>
            </a:srgbClr>
          </a:solidFill>
          <a:ln w="12700">
            <a:solidFill>
              <a:srgbClr val="FFFFFF">
                <a:alpha val="16000"/>
              </a:srgbClr>
            </a:solidFill>
            <a:prstDash val="solid"/>
          </a:ln>
        </p:spPr>
      </p:sp>
      <p:sp>
        <p:nvSpPr>
          <p:cNvPr id="33" name="Shape 29"/>
          <p:cNvSpPr/>
          <p:nvPr/>
        </p:nvSpPr>
        <p:spPr>
          <a:xfrm>
            <a:off x="8097317" y="2220214"/>
            <a:ext cx="50292" cy="1737360"/>
          </a:xfrm>
          <a:prstGeom prst="roundRect">
            <a:avLst>
              <a:gd name="adj" fmla="val 54545"/>
            </a:avLst>
          </a:prstGeom>
          <a:solidFill>
            <a:srgbClr val="22C55E">
              <a:alpha val="95000"/>
            </a:srgbClr>
          </a:solidFill>
          <a:ln/>
        </p:spPr>
      </p:sp>
      <p:sp>
        <p:nvSpPr>
          <p:cNvPr id="34" name="Shape 30"/>
          <p:cNvSpPr/>
          <p:nvPr/>
        </p:nvSpPr>
        <p:spPr>
          <a:xfrm>
            <a:off x="8371637" y="2439670"/>
            <a:ext cx="420624" cy="420624"/>
          </a:xfrm>
          <a:prstGeom prst="roundRect">
            <a:avLst>
              <a:gd name="adj" fmla="val 50000"/>
            </a:avLst>
          </a:prstGeom>
          <a:solidFill>
            <a:srgbClr val="04101F">
              <a:alpha val="88000"/>
            </a:srgbClr>
          </a:solidFill>
          <a:ln/>
        </p:spPr>
      </p:sp>
      <p:sp>
        <p:nvSpPr>
          <p:cNvPr id="35" name="Shape 31"/>
          <p:cNvSpPr/>
          <p:nvPr/>
        </p:nvSpPr>
        <p:spPr>
          <a:xfrm>
            <a:off x="8371637" y="2439670"/>
            <a:ext cx="420624" cy="420624"/>
          </a:xfrm>
          <a:prstGeom prst="roundRect">
            <a:avLst>
              <a:gd name="adj" fmla="val 50000"/>
            </a:avLst>
          </a:prstGeom>
          <a:solidFill>
            <a:srgbClr val="22C55E">
              <a:alpha val="20000"/>
            </a:srgbClr>
          </a:solidFill>
          <a:ln w="15240">
            <a:solidFill>
              <a:srgbClr val="22C55E">
                <a:alpha val="70000"/>
              </a:srgbClr>
            </a:solidFill>
            <a:prstDash val="solid"/>
          </a:ln>
        </p:spPr>
      </p:sp>
      <p:sp>
        <p:nvSpPr>
          <p:cNvPr id="36" name="Text 32"/>
          <p:cNvSpPr/>
          <p:nvPr/>
        </p:nvSpPr>
        <p:spPr>
          <a:xfrm>
            <a:off x="8325917" y="2512822"/>
            <a:ext cx="512064" cy="330327"/>
          </a:xfrm>
          <a:prstGeom prst="rect">
            <a:avLst/>
          </a:prstGeom>
          <a:noFill/>
          <a:ln/>
        </p:spPr>
        <p:txBody>
          <a:bodyPr wrap="square" lIns="0" tIns="0" rIns="0" bIns="0" rtlCol="0" anchor="t"/>
          <a:lstStyle/>
          <a:p>
            <a:pPr algn="ctr" indent="0" marL="0">
              <a:lnSpc>
                <a:spcPts val="2025"/>
              </a:lnSpc>
              <a:buNone/>
            </a:pPr>
            <a:r>
              <a:rPr lang="en-US" sz="1500" b="1" dirty="0">
                <a:solidFill>
                  <a:srgbClr val="22C55E"/>
                </a:solidFill>
                <a:latin typeface="Be Vietnam Pro" pitchFamily="34" charset="0"/>
                <a:ea typeface="Be Vietnam Pro" pitchFamily="34" charset="-122"/>
                <a:cs typeface="Be Vietnam Pro" pitchFamily="34" charset="-120"/>
              </a:rPr>
              <a:t>3</a:t>
            </a:r>
            <a:endParaRPr lang="en-US" sz="1500" dirty="0"/>
          </a:p>
        </p:txBody>
      </p:sp>
      <p:sp>
        <p:nvSpPr>
          <p:cNvPr id="37" name="Text 33"/>
          <p:cNvSpPr/>
          <p:nvPr/>
        </p:nvSpPr>
        <p:spPr>
          <a:xfrm>
            <a:off x="8920277" y="2485390"/>
            <a:ext cx="2393594" cy="517652"/>
          </a:xfrm>
          <a:prstGeom prst="rect">
            <a:avLst/>
          </a:prstGeom>
          <a:noFill/>
          <a:ln/>
        </p:spPr>
        <p:txBody>
          <a:bodyPr wrap="square" lIns="0" tIns="0" rIns="0" bIns="0" rtlCol="0" anchor="t"/>
          <a:lstStyle/>
          <a:p>
            <a:pPr algn="l" indent="0" marL="0">
              <a:lnSpc>
                <a:spcPts val="1750"/>
              </a:lnSpc>
              <a:buNone/>
            </a:pPr>
            <a:r>
              <a:rPr lang="en-US" sz="1400" b="1" dirty="0">
                <a:solidFill>
                  <a:srgbClr val="FFFFFF"/>
                </a:solidFill>
                <a:latin typeface="Be Vietnam Pro" pitchFamily="34" charset="0"/>
                <a:ea typeface="Be Vietnam Pro" pitchFamily="34" charset="-122"/>
                <a:cs typeface="Be Vietnam Pro" pitchFamily="34" charset="-120"/>
              </a:rPr>
              <a:t>Chọn kho tiếp tế gần</a:t>
            </a:r>
            <a:endParaRPr lang="en-US" sz="1400" dirty="0"/>
          </a:p>
          <a:p>
            <a:pPr algn="l" indent="0" marL="0">
              <a:lnSpc>
                <a:spcPts val="1750"/>
              </a:lnSpc>
              <a:buNone/>
            </a:pPr>
            <a:r>
              <a:rPr lang="en-US" sz="1400" b="1" dirty="0">
                <a:solidFill>
                  <a:srgbClr val="FFFFFF"/>
                </a:solidFill>
                <a:latin typeface="Be Vietnam Pro" pitchFamily="34" charset="0"/>
                <a:ea typeface="Be Vietnam Pro" pitchFamily="34" charset="-122"/>
                <a:cs typeface="Be Vietnam Pro" pitchFamily="34" charset="-120"/>
              </a:rPr>
              <a:t>điểm gặp nạn nhất</a:t>
            </a:r>
            <a:endParaRPr lang="en-US" sz="1400" dirty="0"/>
          </a:p>
        </p:txBody>
      </p:sp>
      <p:sp>
        <p:nvSpPr>
          <p:cNvPr id="38" name="Text 34"/>
          <p:cNvSpPr/>
          <p:nvPr/>
        </p:nvSpPr>
        <p:spPr>
          <a:xfrm>
            <a:off x="8371637" y="3098038"/>
            <a:ext cx="2923946" cy="487934"/>
          </a:xfrm>
          <a:prstGeom prst="rect">
            <a:avLst/>
          </a:prstGeom>
          <a:noFill/>
          <a:ln/>
        </p:spPr>
        <p:txBody>
          <a:bodyPr wrap="square" lIns="0" tIns="0" rIns="0" bIns="0" rtlCol="0" anchor="t"/>
          <a:lstStyle/>
          <a:p>
            <a:pPr algn="l" indent="0" marL="0">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Hệ thống cân nhắc vị trí, tồn kho và khả</a:t>
            </a:r>
            <a:endParaRPr lang="en-US" sz="1150" dirty="0"/>
          </a:p>
          <a:p>
            <a:pPr algn="l" indent="0" marL="0">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năng đáp ứng của từng kho.</a:t>
            </a:r>
            <a:endParaRPr lang="en-US" sz="1150" dirty="0"/>
          </a:p>
        </p:txBody>
      </p:sp>
      <p:sp>
        <p:nvSpPr>
          <p:cNvPr id="39" name="Shape 35"/>
          <p:cNvSpPr/>
          <p:nvPr/>
        </p:nvSpPr>
        <p:spPr>
          <a:xfrm>
            <a:off x="8097317" y="4359910"/>
            <a:ext cx="3381146" cy="1737360"/>
          </a:xfrm>
          <a:prstGeom prst="roundRect">
            <a:avLst>
              <a:gd name="adj" fmla="val 6316"/>
            </a:avLst>
          </a:prstGeom>
          <a:solidFill>
            <a:srgbClr val="091B2D">
              <a:alpha val="78000"/>
            </a:srgbClr>
          </a:solidFill>
          <a:ln w="12700">
            <a:solidFill>
              <a:srgbClr val="FFFFFF">
                <a:alpha val="16000"/>
              </a:srgbClr>
            </a:solidFill>
            <a:prstDash val="solid"/>
          </a:ln>
        </p:spPr>
      </p:sp>
      <p:sp>
        <p:nvSpPr>
          <p:cNvPr id="40" name="Shape 36"/>
          <p:cNvSpPr/>
          <p:nvPr/>
        </p:nvSpPr>
        <p:spPr>
          <a:xfrm>
            <a:off x="8097317" y="4359910"/>
            <a:ext cx="50292" cy="1737360"/>
          </a:xfrm>
          <a:prstGeom prst="roundRect">
            <a:avLst>
              <a:gd name="adj" fmla="val 54545"/>
            </a:avLst>
          </a:prstGeom>
          <a:solidFill>
            <a:srgbClr val="22C55E">
              <a:alpha val="95000"/>
            </a:srgbClr>
          </a:solidFill>
          <a:ln/>
        </p:spPr>
      </p:sp>
      <p:sp>
        <p:nvSpPr>
          <p:cNvPr id="41" name="Shape 37"/>
          <p:cNvSpPr/>
          <p:nvPr/>
        </p:nvSpPr>
        <p:spPr>
          <a:xfrm>
            <a:off x="8371637" y="4579366"/>
            <a:ext cx="420624" cy="420624"/>
          </a:xfrm>
          <a:prstGeom prst="roundRect">
            <a:avLst>
              <a:gd name="adj" fmla="val 50000"/>
            </a:avLst>
          </a:prstGeom>
          <a:solidFill>
            <a:srgbClr val="04101F">
              <a:alpha val="88000"/>
            </a:srgbClr>
          </a:solidFill>
          <a:ln/>
        </p:spPr>
      </p:sp>
      <p:sp>
        <p:nvSpPr>
          <p:cNvPr id="42" name="Shape 38"/>
          <p:cNvSpPr/>
          <p:nvPr/>
        </p:nvSpPr>
        <p:spPr>
          <a:xfrm>
            <a:off x="8371637" y="4579366"/>
            <a:ext cx="420624" cy="420624"/>
          </a:xfrm>
          <a:prstGeom prst="roundRect">
            <a:avLst>
              <a:gd name="adj" fmla="val 50000"/>
            </a:avLst>
          </a:prstGeom>
          <a:solidFill>
            <a:srgbClr val="22C55E">
              <a:alpha val="20000"/>
            </a:srgbClr>
          </a:solidFill>
          <a:ln w="15240">
            <a:solidFill>
              <a:srgbClr val="22C55E">
                <a:alpha val="70000"/>
              </a:srgbClr>
            </a:solidFill>
            <a:prstDash val="solid"/>
          </a:ln>
        </p:spPr>
      </p:sp>
      <p:sp>
        <p:nvSpPr>
          <p:cNvPr id="43" name="Text 39"/>
          <p:cNvSpPr/>
          <p:nvPr/>
        </p:nvSpPr>
        <p:spPr>
          <a:xfrm>
            <a:off x="8325917" y="4652518"/>
            <a:ext cx="512064" cy="330327"/>
          </a:xfrm>
          <a:prstGeom prst="rect">
            <a:avLst/>
          </a:prstGeom>
          <a:noFill/>
          <a:ln/>
        </p:spPr>
        <p:txBody>
          <a:bodyPr wrap="square" lIns="0" tIns="0" rIns="0" bIns="0" rtlCol="0" anchor="t"/>
          <a:lstStyle/>
          <a:p>
            <a:pPr algn="ctr" indent="0" marL="0">
              <a:lnSpc>
                <a:spcPts val="2025"/>
              </a:lnSpc>
              <a:buNone/>
            </a:pPr>
            <a:r>
              <a:rPr lang="en-US" sz="1500" b="1" dirty="0">
                <a:solidFill>
                  <a:srgbClr val="22C55E"/>
                </a:solidFill>
                <a:latin typeface="Be Vietnam Pro" pitchFamily="34" charset="0"/>
                <a:ea typeface="Be Vietnam Pro" pitchFamily="34" charset="-122"/>
                <a:cs typeface="Be Vietnam Pro" pitchFamily="34" charset="-120"/>
              </a:rPr>
              <a:t>4</a:t>
            </a:r>
            <a:endParaRPr lang="en-US" sz="1500" dirty="0"/>
          </a:p>
        </p:txBody>
      </p:sp>
      <p:sp>
        <p:nvSpPr>
          <p:cNvPr id="44" name="Text 40"/>
          <p:cNvSpPr/>
          <p:nvPr/>
        </p:nvSpPr>
        <p:spPr>
          <a:xfrm>
            <a:off x="8920277" y="4625086"/>
            <a:ext cx="2393594" cy="295402"/>
          </a:xfrm>
          <a:prstGeom prst="rect">
            <a:avLst/>
          </a:prstGeom>
          <a:noFill/>
          <a:ln/>
        </p:spPr>
        <p:txBody>
          <a:bodyPr wrap="square" lIns="0" tIns="0" rIns="0" bIns="0" rtlCol="0" anchor="t"/>
          <a:lstStyle/>
          <a:p>
            <a:pPr algn="l" indent="0" marL="0">
              <a:lnSpc>
                <a:spcPts val="1750"/>
              </a:lnSpc>
              <a:buNone/>
            </a:pPr>
            <a:r>
              <a:rPr lang="en-US" sz="1400" b="1" dirty="0">
                <a:solidFill>
                  <a:srgbClr val="FFFFFF"/>
                </a:solidFill>
                <a:latin typeface="Be Vietnam Pro" pitchFamily="34" charset="0"/>
                <a:ea typeface="Be Vietnam Pro" pitchFamily="34" charset="-122"/>
                <a:cs typeface="Be Vietnam Pro" pitchFamily="34" charset="-120"/>
              </a:rPr>
              <a:t>Xác nhận &amp; thông báo</a:t>
            </a:r>
            <a:endParaRPr lang="en-US" sz="1400" dirty="0"/>
          </a:p>
        </p:txBody>
      </p:sp>
      <p:sp>
        <p:nvSpPr>
          <p:cNvPr id="45" name="Text 41"/>
          <p:cNvSpPr/>
          <p:nvPr/>
        </p:nvSpPr>
        <p:spPr>
          <a:xfrm>
            <a:off x="8371637" y="5237734"/>
            <a:ext cx="2923946" cy="487934"/>
          </a:xfrm>
          <a:prstGeom prst="rect">
            <a:avLst/>
          </a:prstGeom>
          <a:noFill/>
          <a:ln/>
        </p:spPr>
        <p:txBody>
          <a:bodyPr wrap="square" lIns="0" tIns="0" rIns="0" bIns="0" rtlCol="0" anchor="t"/>
          <a:lstStyle/>
          <a:p>
            <a:pPr algn="l" indent="0" marL="0">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Kho nhận lệnh chuẩn bị, xuất vật tư; đội</a:t>
            </a:r>
            <a:endParaRPr lang="en-US" sz="1150" dirty="0"/>
          </a:p>
          <a:p>
            <a:pPr algn="l" indent="0" marL="0">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cứu hộ nhận nhiệm vụ cùng lúc.</a:t>
            </a:r>
            <a:endParaRPr lang="en-US" sz="1150" dirty="0"/>
          </a:p>
        </p:txBody>
      </p:sp>
      <p:sp>
        <p:nvSpPr>
          <p:cNvPr id="46" name="Shape 42"/>
          <p:cNvSpPr/>
          <p:nvPr/>
        </p:nvSpPr>
        <p:spPr>
          <a:xfrm>
            <a:off x="4405274" y="4359910"/>
            <a:ext cx="3381146" cy="1737360"/>
          </a:xfrm>
          <a:prstGeom prst="roundRect">
            <a:avLst>
              <a:gd name="adj" fmla="val 6316"/>
            </a:avLst>
          </a:prstGeom>
          <a:solidFill>
            <a:srgbClr val="091B2D">
              <a:alpha val="78000"/>
            </a:srgbClr>
          </a:solidFill>
          <a:ln w="12700">
            <a:solidFill>
              <a:srgbClr val="FFFFFF">
                <a:alpha val="16000"/>
              </a:srgbClr>
            </a:solidFill>
            <a:prstDash val="solid"/>
          </a:ln>
        </p:spPr>
      </p:sp>
      <p:sp>
        <p:nvSpPr>
          <p:cNvPr id="47" name="Shape 43"/>
          <p:cNvSpPr/>
          <p:nvPr/>
        </p:nvSpPr>
        <p:spPr>
          <a:xfrm>
            <a:off x="4405274" y="4359910"/>
            <a:ext cx="50292" cy="1737360"/>
          </a:xfrm>
          <a:prstGeom prst="roundRect">
            <a:avLst>
              <a:gd name="adj" fmla="val 54545"/>
            </a:avLst>
          </a:prstGeom>
          <a:solidFill>
            <a:srgbClr val="22C55E">
              <a:alpha val="95000"/>
            </a:srgbClr>
          </a:solidFill>
          <a:ln/>
        </p:spPr>
      </p:sp>
      <p:sp>
        <p:nvSpPr>
          <p:cNvPr id="48" name="Shape 44"/>
          <p:cNvSpPr/>
          <p:nvPr/>
        </p:nvSpPr>
        <p:spPr>
          <a:xfrm>
            <a:off x="4679594" y="4579366"/>
            <a:ext cx="420624" cy="420624"/>
          </a:xfrm>
          <a:prstGeom prst="roundRect">
            <a:avLst>
              <a:gd name="adj" fmla="val 50000"/>
            </a:avLst>
          </a:prstGeom>
          <a:solidFill>
            <a:srgbClr val="04101F">
              <a:alpha val="88000"/>
            </a:srgbClr>
          </a:solidFill>
          <a:ln/>
        </p:spPr>
      </p:sp>
      <p:sp>
        <p:nvSpPr>
          <p:cNvPr id="49" name="Shape 45"/>
          <p:cNvSpPr/>
          <p:nvPr/>
        </p:nvSpPr>
        <p:spPr>
          <a:xfrm>
            <a:off x="4679594" y="4579366"/>
            <a:ext cx="420624" cy="420624"/>
          </a:xfrm>
          <a:prstGeom prst="roundRect">
            <a:avLst>
              <a:gd name="adj" fmla="val 50000"/>
            </a:avLst>
          </a:prstGeom>
          <a:solidFill>
            <a:srgbClr val="22C55E">
              <a:alpha val="20000"/>
            </a:srgbClr>
          </a:solidFill>
          <a:ln w="15240">
            <a:solidFill>
              <a:srgbClr val="22C55E">
                <a:alpha val="70000"/>
              </a:srgbClr>
            </a:solidFill>
            <a:prstDash val="solid"/>
          </a:ln>
        </p:spPr>
      </p:sp>
      <p:sp>
        <p:nvSpPr>
          <p:cNvPr id="50" name="Text 46"/>
          <p:cNvSpPr/>
          <p:nvPr/>
        </p:nvSpPr>
        <p:spPr>
          <a:xfrm>
            <a:off x="4633874" y="4652518"/>
            <a:ext cx="512064" cy="330327"/>
          </a:xfrm>
          <a:prstGeom prst="rect">
            <a:avLst/>
          </a:prstGeom>
          <a:noFill/>
          <a:ln/>
        </p:spPr>
        <p:txBody>
          <a:bodyPr wrap="square" lIns="0" tIns="0" rIns="0" bIns="0" rtlCol="0" anchor="t"/>
          <a:lstStyle/>
          <a:p>
            <a:pPr algn="ctr" indent="0" marL="0">
              <a:lnSpc>
                <a:spcPts val="2025"/>
              </a:lnSpc>
              <a:buNone/>
            </a:pPr>
            <a:r>
              <a:rPr lang="en-US" sz="1500" b="1" dirty="0">
                <a:solidFill>
                  <a:srgbClr val="22C55E"/>
                </a:solidFill>
                <a:latin typeface="Be Vietnam Pro" pitchFamily="34" charset="0"/>
                <a:ea typeface="Be Vietnam Pro" pitchFamily="34" charset="-122"/>
                <a:cs typeface="Be Vietnam Pro" pitchFamily="34" charset="-120"/>
              </a:rPr>
              <a:t>5</a:t>
            </a:r>
            <a:endParaRPr lang="en-US" sz="1500" dirty="0"/>
          </a:p>
        </p:txBody>
      </p:sp>
      <p:sp>
        <p:nvSpPr>
          <p:cNvPr id="51" name="Text 47"/>
          <p:cNvSpPr/>
          <p:nvPr/>
        </p:nvSpPr>
        <p:spPr>
          <a:xfrm>
            <a:off x="5228234" y="4625086"/>
            <a:ext cx="2393594" cy="517652"/>
          </a:xfrm>
          <a:prstGeom prst="rect">
            <a:avLst/>
          </a:prstGeom>
          <a:noFill/>
          <a:ln/>
        </p:spPr>
        <p:txBody>
          <a:bodyPr wrap="square" lIns="0" tIns="0" rIns="0" bIns="0" rtlCol="0" anchor="t"/>
          <a:lstStyle/>
          <a:p>
            <a:pPr algn="l" indent="0" marL="0">
              <a:lnSpc>
                <a:spcPts val="1750"/>
              </a:lnSpc>
              <a:buNone/>
            </a:pPr>
            <a:r>
              <a:rPr lang="en-US" sz="1400" b="1" dirty="0">
                <a:solidFill>
                  <a:srgbClr val="FFFFFF"/>
                </a:solidFill>
                <a:latin typeface="Be Vietnam Pro" pitchFamily="34" charset="0"/>
                <a:ea typeface="Be Vietnam Pro" pitchFamily="34" charset="-122"/>
                <a:cs typeface="Be Vietnam Pro" pitchFamily="34" charset="-120"/>
              </a:rPr>
              <a:t>Đội cứu hộ xác nhận hoàn</a:t>
            </a:r>
            <a:endParaRPr lang="en-US" sz="1400" dirty="0"/>
          </a:p>
          <a:p>
            <a:pPr algn="l" indent="0" marL="0">
              <a:lnSpc>
                <a:spcPts val="1750"/>
              </a:lnSpc>
              <a:buNone/>
            </a:pPr>
            <a:r>
              <a:rPr lang="en-US" sz="1400" b="1" dirty="0">
                <a:solidFill>
                  <a:srgbClr val="FFFFFF"/>
                </a:solidFill>
                <a:latin typeface="Be Vietnam Pro" pitchFamily="34" charset="0"/>
                <a:ea typeface="Be Vietnam Pro" pitchFamily="34" charset="-122"/>
                <a:cs typeface="Be Vietnam Pro" pitchFamily="34" charset="-120"/>
              </a:rPr>
              <a:t>thành</a:t>
            </a:r>
            <a:endParaRPr lang="en-US" sz="1400" dirty="0"/>
          </a:p>
        </p:txBody>
      </p:sp>
      <p:sp>
        <p:nvSpPr>
          <p:cNvPr id="52" name="Text 48"/>
          <p:cNvSpPr/>
          <p:nvPr/>
        </p:nvSpPr>
        <p:spPr>
          <a:xfrm>
            <a:off x="4679594" y="5237734"/>
            <a:ext cx="2923946" cy="487934"/>
          </a:xfrm>
          <a:prstGeom prst="rect">
            <a:avLst/>
          </a:prstGeom>
          <a:noFill/>
          <a:ln/>
        </p:spPr>
        <p:txBody>
          <a:bodyPr wrap="square" lIns="0" tIns="0" rIns="0" bIns="0" rtlCol="0" anchor="t"/>
          <a:lstStyle/>
          <a:p>
            <a:pPr algn="l" indent="0" marL="0">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Báo cáo kết quả nhiệm vụ kèm hình ảnh</a:t>
            </a:r>
            <a:endParaRPr lang="en-US" sz="1150" dirty="0"/>
          </a:p>
          <a:p>
            <a:pPr algn="l" indent="0" marL="0">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tại hiện trường.</a:t>
            </a:r>
            <a:endParaRPr lang="en-US" sz="1150" dirty="0"/>
          </a:p>
        </p:txBody>
      </p:sp>
      <p:sp>
        <p:nvSpPr>
          <p:cNvPr id="53" name="Shape 49"/>
          <p:cNvSpPr/>
          <p:nvPr/>
        </p:nvSpPr>
        <p:spPr>
          <a:xfrm>
            <a:off x="713232" y="4359910"/>
            <a:ext cx="3381146" cy="1737360"/>
          </a:xfrm>
          <a:prstGeom prst="roundRect">
            <a:avLst>
              <a:gd name="adj" fmla="val 6316"/>
            </a:avLst>
          </a:prstGeom>
          <a:solidFill>
            <a:srgbClr val="091B2D">
              <a:alpha val="78000"/>
            </a:srgbClr>
          </a:solidFill>
          <a:ln w="12700">
            <a:solidFill>
              <a:srgbClr val="FFFFFF">
                <a:alpha val="16000"/>
              </a:srgbClr>
            </a:solidFill>
            <a:prstDash val="solid"/>
          </a:ln>
        </p:spPr>
      </p:sp>
      <p:sp>
        <p:nvSpPr>
          <p:cNvPr id="54" name="Shape 50"/>
          <p:cNvSpPr/>
          <p:nvPr/>
        </p:nvSpPr>
        <p:spPr>
          <a:xfrm>
            <a:off x="713232" y="4359910"/>
            <a:ext cx="50292" cy="1737360"/>
          </a:xfrm>
          <a:prstGeom prst="roundRect">
            <a:avLst>
              <a:gd name="adj" fmla="val 54545"/>
            </a:avLst>
          </a:prstGeom>
          <a:solidFill>
            <a:srgbClr val="22C55E">
              <a:alpha val="95000"/>
            </a:srgbClr>
          </a:solidFill>
          <a:ln/>
        </p:spPr>
      </p:sp>
      <p:sp>
        <p:nvSpPr>
          <p:cNvPr id="55" name="Shape 51"/>
          <p:cNvSpPr/>
          <p:nvPr/>
        </p:nvSpPr>
        <p:spPr>
          <a:xfrm>
            <a:off x="987552" y="4579366"/>
            <a:ext cx="420624" cy="420624"/>
          </a:xfrm>
          <a:prstGeom prst="roundRect">
            <a:avLst>
              <a:gd name="adj" fmla="val 50000"/>
            </a:avLst>
          </a:prstGeom>
          <a:solidFill>
            <a:srgbClr val="04101F">
              <a:alpha val="88000"/>
            </a:srgbClr>
          </a:solidFill>
          <a:ln/>
        </p:spPr>
      </p:sp>
      <p:sp>
        <p:nvSpPr>
          <p:cNvPr id="56" name="Shape 52"/>
          <p:cNvSpPr/>
          <p:nvPr/>
        </p:nvSpPr>
        <p:spPr>
          <a:xfrm>
            <a:off x="987552" y="4579366"/>
            <a:ext cx="420624" cy="420624"/>
          </a:xfrm>
          <a:prstGeom prst="roundRect">
            <a:avLst>
              <a:gd name="adj" fmla="val 50000"/>
            </a:avLst>
          </a:prstGeom>
          <a:solidFill>
            <a:srgbClr val="22C55E">
              <a:alpha val="20000"/>
            </a:srgbClr>
          </a:solidFill>
          <a:ln w="15240">
            <a:solidFill>
              <a:srgbClr val="22C55E">
                <a:alpha val="70000"/>
              </a:srgbClr>
            </a:solidFill>
            <a:prstDash val="solid"/>
          </a:ln>
        </p:spPr>
      </p:sp>
      <p:sp>
        <p:nvSpPr>
          <p:cNvPr id="57" name="Text 53"/>
          <p:cNvSpPr/>
          <p:nvPr/>
        </p:nvSpPr>
        <p:spPr>
          <a:xfrm>
            <a:off x="941832" y="4652518"/>
            <a:ext cx="512064" cy="330327"/>
          </a:xfrm>
          <a:prstGeom prst="rect">
            <a:avLst/>
          </a:prstGeom>
          <a:noFill/>
          <a:ln/>
        </p:spPr>
        <p:txBody>
          <a:bodyPr wrap="square" lIns="0" tIns="0" rIns="0" bIns="0" rtlCol="0" anchor="t"/>
          <a:lstStyle/>
          <a:p>
            <a:pPr algn="ctr" indent="0" marL="0">
              <a:lnSpc>
                <a:spcPts val="2025"/>
              </a:lnSpc>
              <a:buNone/>
            </a:pPr>
            <a:r>
              <a:rPr lang="en-US" sz="1500" b="1" dirty="0">
                <a:solidFill>
                  <a:srgbClr val="22C55E"/>
                </a:solidFill>
                <a:latin typeface="Be Vietnam Pro" pitchFamily="34" charset="0"/>
                <a:ea typeface="Be Vietnam Pro" pitchFamily="34" charset="-122"/>
                <a:cs typeface="Be Vietnam Pro" pitchFamily="34" charset="-120"/>
              </a:rPr>
              <a:t>6</a:t>
            </a:r>
            <a:endParaRPr lang="en-US" sz="1500" dirty="0"/>
          </a:p>
        </p:txBody>
      </p:sp>
      <p:sp>
        <p:nvSpPr>
          <p:cNvPr id="58" name="Text 54"/>
          <p:cNvSpPr/>
          <p:nvPr/>
        </p:nvSpPr>
        <p:spPr>
          <a:xfrm>
            <a:off x="1536192" y="4625086"/>
            <a:ext cx="2393594" cy="517652"/>
          </a:xfrm>
          <a:prstGeom prst="rect">
            <a:avLst/>
          </a:prstGeom>
          <a:noFill/>
          <a:ln/>
        </p:spPr>
        <p:txBody>
          <a:bodyPr wrap="square" lIns="0" tIns="0" rIns="0" bIns="0" rtlCol="0" anchor="t"/>
          <a:lstStyle/>
          <a:p>
            <a:pPr algn="l" indent="0" marL="0">
              <a:lnSpc>
                <a:spcPts val="1750"/>
              </a:lnSpc>
              <a:buNone/>
            </a:pPr>
            <a:r>
              <a:rPr lang="en-US" sz="1400" b="1" dirty="0">
                <a:solidFill>
                  <a:srgbClr val="FFFFFF"/>
                </a:solidFill>
                <a:latin typeface="Be Vietnam Pro" pitchFamily="34" charset="0"/>
                <a:ea typeface="Be Vietnam Pro" pitchFamily="34" charset="-122"/>
                <a:cs typeface="Be Vietnam Pro" pitchFamily="34" charset="-120"/>
              </a:rPr>
              <a:t>Kho xác nhận hoàn trả</a:t>
            </a:r>
            <a:endParaRPr lang="en-US" sz="1400" dirty="0"/>
          </a:p>
          <a:p>
            <a:pPr algn="l" indent="0" marL="0">
              <a:lnSpc>
                <a:spcPts val="1750"/>
              </a:lnSpc>
              <a:buNone/>
            </a:pPr>
            <a:r>
              <a:rPr lang="en-US" sz="1400" b="1" dirty="0">
                <a:solidFill>
                  <a:srgbClr val="FFFFFF"/>
                </a:solidFill>
                <a:latin typeface="Be Vietnam Pro" pitchFamily="34" charset="0"/>
                <a:ea typeface="Be Vietnam Pro" pitchFamily="34" charset="-122"/>
                <a:cs typeface="Be Vietnam Pro" pitchFamily="34" charset="-120"/>
              </a:rPr>
              <a:t>vật tư</a:t>
            </a:r>
            <a:endParaRPr lang="en-US" sz="1400" dirty="0"/>
          </a:p>
        </p:txBody>
      </p:sp>
      <p:sp>
        <p:nvSpPr>
          <p:cNvPr id="59" name="Text 55"/>
          <p:cNvSpPr/>
          <p:nvPr/>
        </p:nvSpPr>
        <p:spPr>
          <a:xfrm>
            <a:off x="987552" y="5237734"/>
            <a:ext cx="2923946" cy="487934"/>
          </a:xfrm>
          <a:prstGeom prst="rect">
            <a:avLst/>
          </a:prstGeom>
          <a:noFill/>
          <a:ln/>
        </p:spPr>
        <p:txBody>
          <a:bodyPr wrap="square" lIns="0" tIns="0" rIns="0" bIns="0" rtlCol="0" anchor="t"/>
          <a:lstStyle/>
          <a:p>
            <a:pPr algn="l" indent="0" marL="0">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Đối chiếu vật tư đã cấp phát và phần</a:t>
            </a:r>
            <a:endParaRPr lang="en-US" sz="1150" dirty="0"/>
          </a:p>
          <a:p>
            <a:pPr algn="l" indent="0" marL="0">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thu hồi, khép lại nhiệm vụ.</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4101F"/>
        </a:solidFill>
      </p:bgPr>
    </p:bg>
    <p:spTree>
      <p:nvGrpSpPr>
        <p:cNvPr id="1" name=""/>
        <p:cNvGrpSpPr/>
        <p:nvPr/>
      </p:nvGrpSpPr>
      <p:grpSpPr>
        <a:xfrm>
          <a:off x="0" y="0"/>
          <a:ext cx="0" cy="0"/>
          <a:chOff x="0" y="0"/>
          <a:chExt cx="0" cy="0"/>
        </a:xfrm>
      </p:grpSpPr>
      <p:pic>
        <p:nvPicPr>
          <p:cNvPr id="2" name="Image 0" descr="bg-content.jp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4101F">
              <a:alpha val="34000"/>
            </a:srgbClr>
          </a:solidFill>
          <a:ln/>
        </p:spPr>
      </p:sp>
      <p:pic>
        <p:nvPicPr>
          <p:cNvPr id="4" name="Image 1" descr="mark-sm.png">    </p:cNvPr>
          <p:cNvPicPr>
            <a:picLocks noChangeAspect="1"/>
          </p:cNvPicPr>
          <p:nvPr/>
        </p:nvPicPr>
        <p:blipFill>
          <a:blip r:embed="rId2"/>
          <a:stretch>
            <a:fillRect/>
          </a:stretch>
        </p:blipFill>
        <p:spPr>
          <a:xfrm>
            <a:off x="713232" y="365760"/>
            <a:ext cx="310896" cy="310896"/>
          </a:xfrm>
          <a:prstGeom prst="rect">
            <a:avLst/>
          </a:prstGeom>
        </p:spPr>
      </p:pic>
      <p:sp>
        <p:nvSpPr>
          <p:cNvPr id="5" name="Text 1"/>
          <p:cNvSpPr/>
          <p:nvPr/>
        </p:nvSpPr>
        <p:spPr>
          <a:xfrm>
            <a:off x="1170432" y="384048"/>
            <a:ext cx="3749040" cy="261747"/>
          </a:xfrm>
          <a:prstGeom prst="rect">
            <a:avLst/>
          </a:prstGeom>
          <a:noFill/>
          <a:ln/>
        </p:spPr>
        <p:txBody>
          <a:bodyPr wrap="square" lIns="0" tIns="0" rIns="0" bIns="0" rtlCol="0" anchor="t"/>
          <a:lstStyle/>
          <a:p>
            <a:pPr algn="l" indent="0" marL="0">
              <a:lnSpc>
                <a:spcPts val="1485"/>
              </a:lnSpc>
              <a:buNone/>
            </a:pPr>
            <a:r>
              <a:rPr lang="en-US" sz="1100" b="1" spc="160" kern="0" dirty="0">
                <a:solidFill>
                  <a:srgbClr val="6EE7A8"/>
                </a:solidFill>
                <a:latin typeface="Be Vietnam Pro" pitchFamily="34" charset="0"/>
                <a:ea typeface="Be Vietnam Pro" pitchFamily="34" charset="-122"/>
                <a:cs typeface="Be Vietnam Pro" pitchFamily="34" charset="-120"/>
              </a:rPr>
              <a:t>ỨNG PHÓ NHANH</a:t>
            </a:r>
            <a:endParaRPr lang="en-US" sz="1100" dirty="0"/>
          </a:p>
        </p:txBody>
      </p:sp>
      <p:sp>
        <p:nvSpPr>
          <p:cNvPr id="6" name="Text 2"/>
          <p:cNvSpPr/>
          <p:nvPr/>
        </p:nvSpPr>
        <p:spPr>
          <a:xfrm>
            <a:off x="8643823" y="384048"/>
            <a:ext cx="2834640" cy="261747"/>
          </a:xfrm>
          <a:prstGeom prst="rect">
            <a:avLst/>
          </a:prstGeom>
          <a:noFill/>
          <a:ln/>
        </p:spPr>
        <p:txBody>
          <a:bodyPr wrap="square" lIns="0" tIns="0" rIns="0" bIns="0" rtlCol="0" anchor="t"/>
          <a:lstStyle/>
          <a:p>
            <a:pPr algn="r" indent="0" marL="0">
              <a:lnSpc>
                <a:spcPts val="1485"/>
              </a:lnSpc>
              <a:buNone/>
            </a:pPr>
            <a:r>
              <a:rPr lang="en-US" sz="1100" b="1" dirty="0">
                <a:solidFill>
                  <a:srgbClr val="7189A2"/>
                </a:solidFill>
                <a:latin typeface="Be Vietnam Pro" pitchFamily="34" charset="0"/>
                <a:ea typeface="Be Vietnam Pro" pitchFamily="34" charset="-122"/>
                <a:cs typeface="Be Vietnam Pro" pitchFamily="34" charset="-120"/>
              </a:rPr>
              <a:t>06 / 24</a:t>
            </a:r>
            <a:endParaRPr lang="en-US" sz="1100" dirty="0"/>
          </a:p>
        </p:txBody>
      </p:sp>
      <p:sp>
        <p:nvSpPr>
          <p:cNvPr id="7" name="Shape 3"/>
          <p:cNvSpPr/>
          <p:nvPr/>
        </p:nvSpPr>
        <p:spPr>
          <a:xfrm>
            <a:off x="713232" y="868680"/>
            <a:ext cx="10765231" cy="10973"/>
          </a:xfrm>
          <a:prstGeom prst="rect">
            <a:avLst/>
          </a:prstGeom>
          <a:solidFill>
            <a:srgbClr val="FFFFFF">
              <a:alpha val="16000"/>
            </a:srgbClr>
          </a:solidFill>
          <a:ln/>
        </p:spPr>
      </p:sp>
      <p:sp>
        <p:nvSpPr>
          <p:cNvPr id="8" name="Text 4"/>
          <p:cNvSpPr/>
          <p:nvPr/>
        </p:nvSpPr>
        <p:spPr>
          <a:xfrm>
            <a:off x="713232" y="1133856"/>
            <a:ext cx="8321040" cy="270320"/>
          </a:xfrm>
          <a:prstGeom prst="rect">
            <a:avLst/>
          </a:prstGeom>
          <a:noFill/>
          <a:ln/>
        </p:spPr>
        <p:txBody>
          <a:bodyPr wrap="square" lIns="0" tIns="0" rIns="0" bIns="0" rtlCol="0" anchor="t"/>
          <a:lstStyle/>
          <a:p>
            <a:pPr algn="l" indent="0" marL="0">
              <a:lnSpc>
                <a:spcPts val="1553"/>
              </a:lnSpc>
              <a:buNone/>
            </a:pPr>
            <a:r>
              <a:rPr lang="en-US" sz="1150" b="1" spc="220" kern="0" dirty="0">
                <a:solidFill>
                  <a:srgbClr val="22C55E"/>
                </a:solidFill>
                <a:latin typeface="Be Vietnam Pro" pitchFamily="34" charset="0"/>
                <a:ea typeface="Be Vietnam Pro" pitchFamily="34" charset="-122"/>
                <a:cs typeface="Be Vietnam Pro" pitchFamily="34" charset="-120"/>
              </a:rPr>
              <a:t>QUY TRÌNH ĐIỀU PHỐI CỨU HỘ · BƯỚC 1 → 2 / 6</a:t>
            </a:r>
            <a:endParaRPr lang="en-US" sz="1150" dirty="0"/>
          </a:p>
        </p:txBody>
      </p:sp>
      <p:sp>
        <p:nvSpPr>
          <p:cNvPr id="9" name="Text 5"/>
          <p:cNvSpPr/>
          <p:nvPr/>
        </p:nvSpPr>
        <p:spPr>
          <a:xfrm>
            <a:off x="713232" y="1426464"/>
            <a:ext cx="10490911" cy="537718"/>
          </a:xfrm>
          <a:prstGeom prst="rect">
            <a:avLst/>
          </a:prstGeom>
          <a:noFill/>
          <a:ln/>
        </p:spPr>
        <p:txBody>
          <a:bodyPr wrap="square" lIns="0" tIns="0" rIns="0" bIns="0" rtlCol="0" anchor="t"/>
          <a:lstStyle/>
          <a:p>
            <a:pPr algn="l" indent="0" marL="0">
              <a:lnSpc>
                <a:spcPts val="3658"/>
              </a:lnSpc>
              <a:buNone/>
            </a:pPr>
            <a:r>
              <a:rPr lang="en-US" sz="3100" b="1" dirty="0">
                <a:solidFill>
                  <a:srgbClr val="FFFFFF"/>
                </a:solidFill>
                <a:latin typeface="Be Vietnam Pro" pitchFamily="34" charset="0"/>
                <a:ea typeface="Be Vietnam Pro" pitchFamily="34" charset="-122"/>
                <a:cs typeface="Be Vietnam Pro" pitchFamily="34" charset="-120"/>
              </a:rPr>
              <a:t>Ghi nhận đúng chỗ, phân tích đúng nhu cầu</a:t>
            </a:r>
            <a:endParaRPr lang="en-US" sz="3100" dirty="0"/>
          </a:p>
        </p:txBody>
      </p:sp>
      <p:sp>
        <p:nvSpPr>
          <p:cNvPr id="10" name="Shape 6"/>
          <p:cNvSpPr/>
          <p:nvPr/>
        </p:nvSpPr>
        <p:spPr>
          <a:xfrm>
            <a:off x="713232" y="6272784"/>
            <a:ext cx="10765231" cy="9144"/>
          </a:xfrm>
          <a:prstGeom prst="rect">
            <a:avLst/>
          </a:prstGeom>
          <a:solidFill>
            <a:srgbClr val="FFFFFF">
              <a:alpha val="10000"/>
            </a:srgbClr>
          </a:solidFill>
          <a:ln/>
        </p:spPr>
      </p:sp>
      <p:sp>
        <p:nvSpPr>
          <p:cNvPr id="11" name="Text 7"/>
          <p:cNvSpPr/>
          <p:nvPr/>
        </p:nvSpPr>
        <p:spPr>
          <a:xfrm>
            <a:off x="8643823" y="6382512"/>
            <a:ext cx="2834640" cy="236030"/>
          </a:xfrm>
          <a:prstGeom prst="rect">
            <a:avLst/>
          </a:prstGeom>
          <a:noFill/>
          <a:ln/>
        </p:spPr>
        <p:txBody>
          <a:bodyPr wrap="square" lIns="0" tIns="0" rIns="0" bIns="0" rtlCol="0" anchor="t"/>
          <a:lstStyle/>
          <a:p>
            <a:pPr algn="r" indent="0" marL="0">
              <a:lnSpc>
                <a:spcPts val="1283"/>
              </a:lnSpc>
              <a:buNone/>
            </a:pPr>
            <a:r>
              <a:rPr lang="en-US" sz="950" dirty="0">
                <a:solidFill>
                  <a:srgbClr val="7189A2"/>
                </a:solidFill>
                <a:latin typeface="Be Vietnam Pro" pitchFamily="34" charset="0"/>
                <a:ea typeface="Be Vietnam Pro" pitchFamily="34" charset="-122"/>
                <a:cs typeface="Be Vietnam Pro" pitchFamily="34" charset="-120"/>
              </a:rPr>
              <a:t>ungphonhanh.life</a:t>
            </a:r>
            <a:endParaRPr lang="en-US" sz="950" dirty="0"/>
          </a:p>
        </p:txBody>
      </p:sp>
      <p:sp>
        <p:nvSpPr>
          <p:cNvPr id="12" name="Shape 8"/>
          <p:cNvSpPr/>
          <p:nvPr/>
        </p:nvSpPr>
        <p:spPr>
          <a:xfrm rot="5400000">
            <a:off x="4144670" y="2979166"/>
            <a:ext cx="219456" cy="219456"/>
          </a:xfrm>
          <a:prstGeom prst="triangle">
            <a:avLst/>
          </a:prstGeom>
          <a:solidFill>
            <a:srgbClr val="22C55E">
              <a:alpha val="75000"/>
            </a:srgbClr>
          </a:solidFill>
          <a:ln/>
        </p:spPr>
      </p:sp>
      <p:sp>
        <p:nvSpPr>
          <p:cNvPr id="13" name="Shape 9"/>
          <p:cNvSpPr/>
          <p:nvPr/>
        </p:nvSpPr>
        <p:spPr>
          <a:xfrm rot="16200000">
            <a:off x="4135526" y="5118862"/>
            <a:ext cx="219456" cy="219456"/>
          </a:xfrm>
          <a:prstGeom prst="triangle">
            <a:avLst/>
          </a:prstGeom>
          <a:solidFill>
            <a:srgbClr val="22C55E">
              <a:alpha val="75000"/>
            </a:srgbClr>
          </a:solidFill>
          <a:ln/>
        </p:spPr>
      </p:sp>
      <p:sp>
        <p:nvSpPr>
          <p:cNvPr id="14" name="Shape 10"/>
          <p:cNvSpPr/>
          <p:nvPr/>
        </p:nvSpPr>
        <p:spPr>
          <a:xfrm rot="5400000">
            <a:off x="7836713" y="2979166"/>
            <a:ext cx="219456" cy="219456"/>
          </a:xfrm>
          <a:prstGeom prst="triangle">
            <a:avLst/>
          </a:prstGeom>
          <a:solidFill>
            <a:srgbClr val="22C55E">
              <a:alpha val="75000"/>
            </a:srgbClr>
          </a:solidFill>
          <a:ln/>
        </p:spPr>
      </p:sp>
      <p:sp>
        <p:nvSpPr>
          <p:cNvPr id="15" name="Shape 11"/>
          <p:cNvSpPr/>
          <p:nvPr/>
        </p:nvSpPr>
        <p:spPr>
          <a:xfrm rot="16200000">
            <a:off x="7827569" y="5118862"/>
            <a:ext cx="219456" cy="219456"/>
          </a:xfrm>
          <a:prstGeom prst="triangle">
            <a:avLst/>
          </a:prstGeom>
          <a:solidFill>
            <a:srgbClr val="22C55E">
              <a:alpha val="75000"/>
            </a:srgbClr>
          </a:solidFill>
          <a:ln/>
        </p:spPr>
      </p:sp>
      <p:sp>
        <p:nvSpPr>
          <p:cNvPr id="16" name="Shape 12"/>
          <p:cNvSpPr/>
          <p:nvPr/>
        </p:nvSpPr>
        <p:spPr>
          <a:xfrm>
            <a:off x="9777832" y="3957574"/>
            <a:ext cx="20117" cy="246888"/>
          </a:xfrm>
          <a:prstGeom prst="rect">
            <a:avLst/>
          </a:prstGeom>
          <a:solidFill>
            <a:srgbClr val="2E7D55">
              <a:alpha val="85000"/>
            </a:srgbClr>
          </a:solidFill>
          <a:ln/>
        </p:spPr>
      </p:sp>
      <p:sp>
        <p:nvSpPr>
          <p:cNvPr id="17" name="Shape 13"/>
          <p:cNvSpPr/>
          <p:nvPr/>
        </p:nvSpPr>
        <p:spPr>
          <a:xfrm rot="10800000">
            <a:off x="9696450" y="4181602"/>
            <a:ext cx="182880" cy="182880"/>
          </a:xfrm>
          <a:prstGeom prst="triangle">
            <a:avLst/>
          </a:prstGeom>
          <a:solidFill>
            <a:srgbClr val="22C55E">
              <a:alpha val="75000"/>
            </a:srgbClr>
          </a:solidFill>
          <a:ln/>
        </p:spPr>
      </p:sp>
      <p:sp>
        <p:nvSpPr>
          <p:cNvPr id="18" name="Shape 14"/>
          <p:cNvSpPr/>
          <p:nvPr/>
        </p:nvSpPr>
        <p:spPr>
          <a:xfrm>
            <a:off x="658368" y="2165350"/>
            <a:ext cx="3490874" cy="1847088"/>
          </a:xfrm>
          <a:prstGeom prst="roundRect">
            <a:avLst>
              <a:gd name="adj" fmla="val 7921"/>
            </a:avLst>
          </a:prstGeom>
          <a:solidFill>
            <a:srgbClr val="22C55E">
              <a:alpha val="18000"/>
            </a:srgbClr>
          </a:solidFill>
          <a:ln/>
        </p:spPr>
      </p:sp>
      <p:sp>
        <p:nvSpPr>
          <p:cNvPr id="19" name="Shape 15"/>
          <p:cNvSpPr/>
          <p:nvPr/>
        </p:nvSpPr>
        <p:spPr>
          <a:xfrm>
            <a:off x="713232" y="2220214"/>
            <a:ext cx="3381146" cy="1737360"/>
          </a:xfrm>
          <a:prstGeom prst="roundRect">
            <a:avLst>
              <a:gd name="adj" fmla="val 6316"/>
            </a:avLst>
          </a:prstGeom>
          <a:solidFill>
            <a:srgbClr val="091B2D">
              <a:alpha val="78000"/>
            </a:srgbClr>
          </a:solidFill>
          <a:ln w="19050">
            <a:solidFill>
              <a:srgbClr val="22C55E">
                <a:alpha val="50000"/>
              </a:srgbClr>
            </a:solidFill>
            <a:prstDash val="solid"/>
          </a:ln>
        </p:spPr>
      </p:sp>
      <p:sp>
        <p:nvSpPr>
          <p:cNvPr id="20" name="Shape 16"/>
          <p:cNvSpPr/>
          <p:nvPr/>
        </p:nvSpPr>
        <p:spPr>
          <a:xfrm>
            <a:off x="713232" y="2220214"/>
            <a:ext cx="50292" cy="1737360"/>
          </a:xfrm>
          <a:prstGeom prst="roundRect">
            <a:avLst>
              <a:gd name="adj" fmla="val 54545"/>
            </a:avLst>
          </a:prstGeom>
          <a:solidFill>
            <a:srgbClr val="22C55E">
              <a:alpha val="95000"/>
            </a:srgbClr>
          </a:solidFill>
          <a:ln/>
        </p:spPr>
      </p:sp>
      <p:sp>
        <p:nvSpPr>
          <p:cNvPr id="21" name="Shape 17"/>
          <p:cNvSpPr/>
          <p:nvPr/>
        </p:nvSpPr>
        <p:spPr>
          <a:xfrm>
            <a:off x="987552" y="2439670"/>
            <a:ext cx="420624" cy="420624"/>
          </a:xfrm>
          <a:prstGeom prst="roundRect">
            <a:avLst>
              <a:gd name="adj" fmla="val 50000"/>
            </a:avLst>
          </a:prstGeom>
          <a:solidFill>
            <a:srgbClr val="04101F">
              <a:alpha val="88000"/>
            </a:srgbClr>
          </a:solidFill>
          <a:ln/>
        </p:spPr>
      </p:sp>
      <p:sp>
        <p:nvSpPr>
          <p:cNvPr id="22" name="Shape 18"/>
          <p:cNvSpPr/>
          <p:nvPr/>
        </p:nvSpPr>
        <p:spPr>
          <a:xfrm>
            <a:off x="987552" y="2439670"/>
            <a:ext cx="420624" cy="420624"/>
          </a:xfrm>
          <a:prstGeom prst="roundRect">
            <a:avLst>
              <a:gd name="adj" fmla="val 50000"/>
            </a:avLst>
          </a:prstGeom>
          <a:solidFill>
            <a:srgbClr val="22C55E">
              <a:alpha val="20000"/>
            </a:srgbClr>
          </a:solidFill>
          <a:ln w="15240">
            <a:solidFill>
              <a:srgbClr val="22C55E">
                <a:alpha val="70000"/>
              </a:srgbClr>
            </a:solidFill>
            <a:prstDash val="solid"/>
          </a:ln>
        </p:spPr>
      </p:sp>
      <p:sp>
        <p:nvSpPr>
          <p:cNvPr id="23" name="Text 19"/>
          <p:cNvSpPr/>
          <p:nvPr/>
        </p:nvSpPr>
        <p:spPr>
          <a:xfrm>
            <a:off x="941832" y="2512822"/>
            <a:ext cx="512064" cy="330327"/>
          </a:xfrm>
          <a:prstGeom prst="rect">
            <a:avLst/>
          </a:prstGeom>
          <a:noFill/>
          <a:ln/>
        </p:spPr>
        <p:txBody>
          <a:bodyPr wrap="square" lIns="0" tIns="0" rIns="0" bIns="0" rtlCol="0" anchor="t"/>
          <a:lstStyle/>
          <a:p>
            <a:pPr algn="ctr" indent="0" marL="0">
              <a:lnSpc>
                <a:spcPts val="2025"/>
              </a:lnSpc>
              <a:buNone/>
            </a:pPr>
            <a:r>
              <a:rPr lang="en-US" sz="1500" b="1" dirty="0">
                <a:solidFill>
                  <a:srgbClr val="22C55E"/>
                </a:solidFill>
                <a:latin typeface="Be Vietnam Pro" pitchFamily="34" charset="0"/>
                <a:ea typeface="Be Vietnam Pro" pitchFamily="34" charset="-122"/>
                <a:cs typeface="Be Vietnam Pro" pitchFamily="34" charset="-120"/>
              </a:rPr>
              <a:t>1</a:t>
            </a:r>
            <a:endParaRPr lang="en-US" sz="1500" dirty="0"/>
          </a:p>
        </p:txBody>
      </p:sp>
      <p:sp>
        <p:nvSpPr>
          <p:cNvPr id="24" name="Text 20"/>
          <p:cNvSpPr/>
          <p:nvPr/>
        </p:nvSpPr>
        <p:spPr>
          <a:xfrm>
            <a:off x="1536192" y="2485390"/>
            <a:ext cx="2393594" cy="295402"/>
          </a:xfrm>
          <a:prstGeom prst="rect">
            <a:avLst/>
          </a:prstGeom>
          <a:noFill/>
          <a:ln/>
        </p:spPr>
        <p:txBody>
          <a:bodyPr wrap="square" lIns="0" tIns="0" rIns="0" bIns="0" rtlCol="0" anchor="t"/>
          <a:lstStyle/>
          <a:p>
            <a:pPr algn="l" indent="0" marL="0">
              <a:lnSpc>
                <a:spcPts val="1750"/>
              </a:lnSpc>
              <a:buNone/>
            </a:pPr>
            <a:r>
              <a:rPr lang="en-US" sz="1400" b="1" dirty="0">
                <a:solidFill>
                  <a:srgbClr val="FFFFFF"/>
                </a:solidFill>
                <a:latin typeface="Be Vietnam Pro" pitchFamily="34" charset="0"/>
                <a:ea typeface="Be Vietnam Pro" pitchFamily="34" charset="-122"/>
                <a:cs typeface="Be Vietnam Pro" pitchFamily="34" charset="-120"/>
              </a:rPr>
              <a:t>Ghi nhận tình huống</a:t>
            </a:r>
            <a:endParaRPr lang="en-US" sz="1400" dirty="0"/>
          </a:p>
        </p:txBody>
      </p:sp>
      <p:sp>
        <p:nvSpPr>
          <p:cNvPr id="25" name="Text 21"/>
          <p:cNvSpPr/>
          <p:nvPr/>
        </p:nvSpPr>
        <p:spPr>
          <a:xfrm>
            <a:off x="987552" y="3098038"/>
            <a:ext cx="2923946" cy="487934"/>
          </a:xfrm>
          <a:prstGeom prst="rect">
            <a:avLst/>
          </a:prstGeom>
          <a:noFill/>
          <a:ln/>
        </p:spPr>
        <p:txBody>
          <a:bodyPr wrap="square" lIns="0" tIns="0" rIns="0" bIns="0" rtlCol="0" anchor="t"/>
          <a:lstStyle/>
          <a:p>
            <a:pPr algn="l" indent="0" marL="0">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Trưởng thôn báo cáo và ghim điểm gặp</a:t>
            </a:r>
            <a:endParaRPr lang="en-US" sz="1150" dirty="0"/>
          </a:p>
          <a:p>
            <a:pPr algn="l" indent="0" marL="0">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nạn lên bản đồ.</a:t>
            </a:r>
            <a:endParaRPr lang="en-US" sz="1150" dirty="0"/>
          </a:p>
        </p:txBody>
      </p:sp>
      <p:sp>
        <p:nvSpPr>
          <p:cNvPr id="26" name="Shape 22"/>
          <p:cNvSpPr/>
          <p:nvPr/>
        </p:nvSpPr>
        <p:spPr>
          <a:xfrm>
            <a:off x="4350410" y="2165350"/>
            <a:ext cx="3490874" cy="1847088"/>
          </a:xfrm>
          <a:prstGeom prst="roundRect">
            <a:avLst>
              <a:gd name="adj" fmla="val 7921"/>
            </a:avLst>
          </a:prstGeom>
          <a:solidFill>
            <a:srgbClr val="22C55E">
              <a:alpha val="18000"/>
            </a:srgbClr>
          </a:solidFill>
          <a:ln/>
        </p:spPr>
      </p:sp>
      <p:sp>
        <p:nvSpPr>
          <p:cNvPr id="27" name="Shape 23"/>
          <p:cNvSpPr/>
          <p:nvPr/>
        </p:nvSpPr>
        <p:spPr>
          <a:xfrm>
            <a:off x="4405274" y="2220214"/>
            <a:ext cx="3381146" cy="1737360"/>
          </a:xfrm>
          <a:prstGeom prst="roundRect">
            <a:avLst>
              <a:gd name="adj" fmla="val 6316"/>
            </a:avLst>
          </a:prstGeom>
          <a:solidFill>
            <a:srgbClr val="091B2D">
              <a:alpha val="78000"/>
            </a:srgbClr>
          </a:solidFill>
          <a:ln w="19050">
            <a:solidFill>
              <a:srgbClr val="22C55E">
                <a:alpha val="50000"/>
              </a:srgbClr>
            </a:solidFill>
            <a:prstDash val="solid"/>
          </a:ln>
        </p:spPr>
      </p:sp>
      <p:sp>
        <p:nvSpPr>
          <p:cNvPr id="28" name="Shape 24"/>
          <p:cNvSpPr/>
          <p:nvPr/>
        </p:nvSpPr>
        <p:spPr>
          <a:xfrm>
            <a:off x="4405274" y="2220214"/>
            <a:ext cx="50292" cy="1737360"/>
          </a:xfrm>
          <a:prstGeom prst="roundRect">
            <a:avLst>
              <a:gd name="adj" fmla="val 54545"/>
            </a:avLst>
          </a:prstGeom>
          <a:solidFill>
            <a:srgbClr val="22C55E">
              <a:alpha val="95000"/>
            </a:srgbClr>
          </a:solidFill>
          <a:ln/>
        </p:spPr>
      </p:sp>
      <p:sp>
        <p:nvSpPr>
          <p:cNvPr id="29" name="Shape 25"/>
          <p:cNvSpPr/>
          <p:nvPr/>
        </p:nvSpPr>
        <p:spPr>
          <a:xfrm>
            <a:off x="4679594" y="2439670"/>
            <a:ext cx="420624" cy="420624"/>
          </a:xfrm>
          <a:prstGeom prst="roundRect">
            <a:avLst>
              <a:gd name="adj" fmla="val 50000"/>
            </a:avLst>
          </a:prstGeom>
          <a:solidFill>
            <a:srgbClr val="04101F">
              <a:alpha val="88000"/>
            </a:srgbClr>
          </a:solidFill>
          <a:ln/>
        </p:spPr>
      </p:sp>
      <p:sp>
        <p:nvSpPr>
          <p:cNvPr id="30" name="Shape 26"/>
          <p:cNvSpPr/>
          <p:nvPr/>
        </p:nvSpPr>
        <p:spPr>
          <a:xfrm>
            <a:off x="4679594" y="2439670"/>
            <a:ext cx="420624" cy="420624"/>
          </a:xfrm>
          <a:prstGeom prst="roundRect">
            <a:avLst>
              <a:gd name="adj" fmla="val 50000"/>
            </a:avLst>
          </a:prstGeom>
          <a:solidFill>
            <a:srgbClr val="22C55E">
              <a:alpha val="20000"/>
            </a:srgbClr>
          </a:solidFill>
          <a:ln w="15240">
            <a:solidFill>
              <a:srgbClr val="22C55E">
                <a:alpha val="70000"/>
              </a:srgbClr>
            </a:solidFill>
            <a:prstDash val="solid"/>
          </a:ln>
        </p:spPr>
      </p:sp>
      <p:sp>
        <p:nvSpPr>
          <p:cNvPr id="31" name="Text 27"/>
          <p:cNvSpPr/>
          <p:nvPr/>
        </p:nvSpPr>
        <p:spPr>
          <a:xfrm>
            <a:off x="4633874" y="2512822"/>
            <a:ext cx="512064" cy="330327"/>
          </a:xfrm>
          <a:prstGeom prst="rect">
            <a:avLst/>
          </a:prstGeom>
          <a:noFill/>
          <a:ln/>
        </p:spPr>
        <p:txBody>
          <a:bodyPr wrap="square" lIns="0" tIns="0" rIns="0" bIns="0" rtlCol="0" anchor="t"/>
          <a:lstStyle/>
          <a:p>
            <a:pPr algn="ctr" indent="0" marL="0">
              <a:lnSpc>
                <a:spcPts val="2025"/>
              </a:lnSpc>
              <a:buNone/>
            </a:pPr>
            <a:r>
              <a:rPr lang="en-US" sz="1500" b="1" dirty="0">
                <a:solidFill>
                  <a:srgbClr val="22C55E"/>
                </a:solidFill>
                <a:latin typeface="Be Vietnam Pro" pitchFamily="34" charset="0"/>
                <a:ea typeface="Be Vietnam Pro" pitchFamily="34" charset="-122"/>
                <a:cs typeface="Be Vietnam Pro" pitchFamily="34" charset="-120"/>
              </a:rPr>
              <a:t>2</a:t>
            </a:r>
            <a:endParaRPr lang="en-US" sz="1500" dirty="0"/>
          </a:p>
        </p:txBody>
      </p:sp>
      <p:sp>
        <p:nvSpPr>
          <p:cNvPr id="32" name="Text 28"/>
          <p:cNvSpPr/>
          <p:nvPr/>
        </p:nvSpPr>
        <p:spPr>
          <a:xfrm>
            <a:off x="5228234" y="2485390"/>
            <a:ext cx="2393594" cy="517652"/>
          </a:xfrm>
          <a:prstGeom prst="rect">
            <a:avLst/>
          </a:prstGeom>
          <a:noFill/>
          <a:ln/>
        </p:spPr>
        <p:txBody>
          <a:bodyPr wrap="square" lIns="0" tIns="0" rIns="0" bIns="0" rtlCol="0" anchor="t"/>
          <a:lstStyle/>
          <a:p>
            <a:pPr algn="l" indent="0" marL="0">
              <a:lnSpc>
                <a:spcPts val="1750"/>
              </a:lnSpc>
              <a:buNone/>
            </a:pPr>
            <a:r>
              <a:rPr lang="en-US" sz="1400" b="1" dirty="0">
                <a:solidFill>
                  <a:srgbClr val="FFFFFF"/>
                </a:solidFill>
                <a:latin typeface="Be Vietnam Pro" pitchFamily="34" charset="0"/>
                <a:ea typeface="Be Vietnam Pro" pitchFamily="34" charset="-122"/>
                <a:cs typeface="Be Vietnam Pro" pitchFamily="34" charset="-120"/>
              </a:rPr>
              <a:t>AI phân tích và con người</a:t>
            </a:r>
            <a:endParaRPr lang="en-US" sz="1400" dirty="0"/>
          </a:p>
          <a:p>
            <a:pPr algn="l" indent="0" marL="0">
              <a:lnSpc>
                <a:spcPts val="1750"/>
              </a:lnSpc>
              <a:buNone/>
            </a:pPr>
            <a:r>
              <a:rPr lang="en-US" sz="1400" b="1" dirty="0">
                <a:solidFill>
                  <a:srgbClr val="FFFFFF"/>
                </a:solidFill>
                <a:latin typeface="Be Vietnam Pro" pitchFamily="34" charset="0"/>
                <a:ea typeface="Be Vietnam Pro" pitchFamily="34" charset="-122"/>
                <a:cs typeface="Be Vietnam Pro" pitchFamily="34" charset="-120"/>
              </a:rPr>
              <a:t>điều phối</a:t>
            </a:r>
            <a:endParaRPr lang="en-US" sz="1400" dirty="0"/>
          </a:p>
        </p:txBody>
      </p:sp>
      <p:sp>
        <p:nvSpPr>
          <p:cNvPr id="33" name="Text 29"/>
          <p:cNvSpPr/>
          <p:nvPr/>
        </p:nvSpPr>
        <p:spPr>
          <a:xfrm>
            <a:off x="4679594" y="3098038"/>
            <a:ext cx="2923946" cy="695325"/>
          </a:xfrm>
          <a:prstGeom prst="rect">
            <a:avLst/>
          </a:prstGeom>
          <a:noFill/>
          <a:ln/>
        </p:spPr>
        <p:txBody>
          <a:bodyPr wrap="square" lIns="0" tIns="0" rIns="0" bIns="0" rtlCol="0" anchor="t"/>
          <a:lstStyle/>
          <a:p>
            <a:pPr algn="l" indent="0" marL="0">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AI đọc mô tả bằng lời thành số liệu và</a:t>
            </a:r>
            <a:endParaRPr lang="en-US" sz="1150" dirty="0"/>
          </a:p>
          <a:p>
            <a:pPr algn="l" indent="0" marL="0">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đề xuất vật tư, người điều phối sẽ chốt</a:t>
            </a:r>
            <a:endParaRPr lang="en-US" sz="1150" dirty="0"/>
          </a:p>
          <a:p>
            <a:pPr algn="l" indent="0" marL="0">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phương án.</a:t>
            </a:r>
            <a:endParaRPr lang="en-US" sz="1150" dirty="0"/>
          </a:p>
        </p:txBody>
      </p:sp>
      <p:sp>
        <p:nvSpPr>
          <p:cNvPr id="34" name="Shape 30"/>
          <p:cNvSpPr/>
          <p:nvPr/>
        </p:nvSpPr>
        <p:spPr>
          <a:xfrm>
            <a:off x="8097317" y="2220214"/>
            <a:ext cx="3381146" cy="1737360"/>
          </a:xfrm>
          <a:prstGeom prst="roundRect">
            <a:avLst>
              <a:gd name="adj" fmla="val 6316"/>
            </a:avLst>
          </a:prstGeom>
          <a:solidFill>
            <a:srgbClr val="091B2D">
              <a:alpha val="55000"/>
            </a:srgbClr>
          </a:solidFill>
          <a:ln w="12700">
            <a:solidFill>
              <a:srgbClr val="FFFFFF">
                <a:alpha val="10000"/>
              </a:srgbClr>
            </a:solidFill>
            <a:prstDash val="solid"/>
          </a:ln>
        </p:spPr>
      </p:sp>
      <p:sp>
        <p:nvSpPr>
          <p:cNvPr id="35" name="Shape 31"/>
          <p:cNvSpPr/>
          <p:nvPr/>
        </p:nvSpPr>
        <p:spPr>
          <a:xfrm>
            <a:off x="8097317" y="2220214"/>
            <a:ext cx="50292" cy="1737360"/>
          </a:xfrm>
          <a:prstGeom prst="roundRect">
            <a:avLst>
              <a:gd name="adj" fmla="val 54545"/>
            </a:avLst>
          </a:prstGeom>
          <a:solidFill>
            <a:srgbClr val="3C5468">
              <a:alpha val="95000"/>
            </a:srgbClr>
          </a:solidFill>
          <a:ln/>
        </p:spPr>
      </p:sp>
      <p:sp>
        <p:nvSpPr>
          <p:cNvPr id="36" name="Shape 32"/>
          <p:cNvSpPr/>
          <p:nvPr/>
        </p:nvSpPr>
        <p:spPr>
          <a:xfrm>
            <a:off x="8371637" y="2439670"/>
            <a:ext cx="420624" cy="420624"/>
          </a:xfrm>
          <a:prstGeom prst="roundRect">
            <a:avLst>
              <a:gd name="adj" fmla="val 50000"/>
            </a:avLst>
          </a:prstGeom>
          <a:solidFill>
            <a:srgbClr val="04101F">
              <a:alpha val="88000"/>
            </a:srgbClr>
          </a:solidFill>
          <a:ln/>
        </p:spPr>
      </p:sp>
      <p:sp>
        <p:nvSpPr>
          <p:cNvPr id="37" name="Shape 33"/>
          <p:cNvSpPr/>
          <p:nvPr/>
        </p:nvSpPr>
        <p:spPr>
          <a:xfrm>
            <a:off x="8371637" y="2439670"/>
            <a:ext cx="420624" cy="420624"/>
          </a:xfrm>
          <a:prstGeom prst="roundRect">
            <a:avLst>
              <a:gd name="adj" fmla="val 50000"/>
            </a:avLst>
          </a:prstGeom>
          <a:solidFill>
            <a:srgbClr val="3C5468">
              <a:alpha val="20000"/>
            </a:srgbClr>
          </a:solidFill>
          <a:ln w="15240">
            <a:solidFill>
              <a:srgbClr val="3C5468">
                <a:alpha val="70000"/>
              </a:srgbClr>
            </a:solidFill>
            <a:prstDash val="solid"/>
          </a:ln>
        </p:spPr>
      </p:sp>
      <p:sp>
        <p:nvSpPr>
          <p:cNvPr id="38" name="Text 34"/>
          <p:cNvSpPr/>
          <p:nvPr/>
        </p:nvSpPr>
        <p:spPr>
          <a:xfrm>
            <a:off x="8325917" y="2512822"/>
            <a:ext cx="512064" cy="330327"/>
          </a:xfrm>
          <a:prstGeom prst="rect">
            <a:avLst/>
          </a:prstGeom>
          <a:noFill/>
          <a:ln/>
        </p:spPr>
        <p:txBody>
          <a:bodyPr wrap="square" lIns="0" tIns="0" rIns="0" bIns="0" rtlCol="0" anchor="t"/>
          <a:lstStyle/>
          <a:p>
            <a:pPr algn="ctr" indent="0" marL="0">
              <a:lnSpc>
                <a:spcPts val="2025"/>
              </a:lnSpc>
              <a:buNone/>
            </a:pPr>
            <a:r>
              <a:rPr lang="en-US" sz="1500" b="1" dirty="0">
                <a:solidFill>
                  <a:srgbClr val="3C5468"/>
                </a:solidFill>
                <a:latin typeface="Be Vietnam Pro" pitchFamily="34" charset="0"/>
                <a:ea typeface="Be Vietnam Pro" pitchFamily="34" charset="-122"/>
                <a:cs typeface="Be Vietnam Pro" pitchFamily="34" charset="-120"/>
              </a:rPr>
              <a:t>3</a:t>
            </a:r>
            <a:endParaRPr lang="en-US" sz="1500" dirty="0"/>
          </a:p>
        </p:txBody>
      </p:sp>
      <p:sp>
        <p:nvSpPr>
          <p:cNvPr id="39" name="Text 35"/>
          <p:cNvSpPr/>
          <p:nvPr/>
        </p:nvSpPr>
        <p:spPr>
          <a:xfrm>
            <a:off x="8920277" y="2485390"/>
            <a:ext cx="2393594" cy="517652"/>
          </a:xfrm>
          <a:prstGeom prst="rect">
            <a:avLst/>
          </a:prstGeom>
          <a:noFill/>
          <a:ln/>
        </p:spPr>
        <p:txBody>
          <a:bodyPr wrap="square" lIns="0" tIns="0" rIns="0" bIns="0" rtlCol="0" anchor="t"/>
          <a:lstStyle/>
          <a:p>
            <a:pPr algn="l" indent="0" marL="0">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Chọn kho tiếp tế gần</a:t>
            </a:r>
            <a:endParaRPr lang="en-US" sz="1400" dirty="0"/>
          </a:p>
          <a:p>
            <a:pPr algn="l" indent="0" marL="0">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điểm gặp nạn nhất</a:t>
            </a:r>
            <a:endParaRPr lang="en-US" sz="1400" dirty="0"/>
          </a:p>
        </p:txBody>
      </p:sp>
      <p:sp>
        <p:nvSpPr>
          <p:cNvPr id="40" name="Text 36"/>
          <p:cNvSpPr/>
          <p:nvPr/>
        </p:nvSpPr>
        <p:spPr>
          <a:xfrm>
            <a:off x="8371637" y="3098038"/>
            <a:ext cx="2923946" cy="487934"/>
          </a:xfrm>
          <a:prstGeom prst="rect">
            <a:avLst/>
          </a:prstGeom>
          <a:noFill/>
          <a:ln/>
        </p:spPr>
        <p:txBody>
          <a:bodyPr wrap="square" lIns="0" tIns="0" rIns="0" bIns="0" rtlCol="0" anchor="t"/>
          <a:lstStyle/>
          <a:p>
            <a:pPr algn="l" indent="0" marL="0">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Hệ thống cân nhắc vị trí, tồn kho và khả</a:t>
            </a:r>
            <a:endParaRPr lang="en-US" sz="1150" dirty="0"/>
          </a:p>
          <a:p>
            <a:pPr algn="l" indent="0" marL="0">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năng đáp ứng của từng kho.</a:t>
            </a:r>
            <a:endParaRPr lang="en-US" sz="1150" dirty="0"/>
          </a:p>
        </p:txBody>
      </p:sp>
      <p:sp>
        <p:nvSpPr>
          <p:cNvPr id="41" name="Shape 37"/>
          <p:cNvSpPr/>
          <p:nvPr/>
        </p:nvSpPr>
        <p:spPr>
          <a:xfrm>
            <a:off x="8097317" y="4359910"/>
            <a:ext cx="3381146" cy="1737360"/>
          </a:xfrm>
          <a:prstGeom prst="roundRect">
            <a:avLst>
              <a:gd name="adj" fmla="val 6316"/>
            </a:avLst>
          </a:prstGeom>
          <a:solidFill>
            <a:srgbClr val="091B2D">
              <a:alpha val="55000"/>
            </a:srgbClr>
          </a:solidFill>
          <a:ln w="12700">
            <a:solidFill>
              <a:srgbClr val="FFFFFF">
                <a:alpha val="10000"/>
              </a:srgbClr>
            </a:solidFill>
            <a:prstDash val="solid"/>
          </a:ln>
        </p:spPr>
      </p:sp>
      <p:sp>
        <p:nvSpPr>
          <p:cNvPr id="42" name="Shape 38"/>
          <p:cNvSpPr/>
          <p:nvPr/>
        </p:nvSpPr>
        <p:spPr>
          <a:xfrm>
            <a:off x="8097317" y="4359910"/>
            <a:ext cx="50292" cy="1737360"/>
          </a:xfrm>
          <a:prstGeom prst="roundRect">
            <a:avLst>
              <a:gd name="adj" fmla="val 54545"/>
            </a:avLst>
          </a:prstGeom>
          <a:solidFill>
            <a:srgbClr val="3C5468">
              <a:alpha val="95000"/>
            </a:srgbClr>
          </a:solidFill>
          <a:ln/>
        </p:spPr>
      </p:sp>
      <p:sp>
        <p:nvSpPr>
          <p:cNvPr id="43" name="Shape 39"/>
          <p:cNvSpPr/>
          <p:nvPr/>
        </p:nvSpPr>
        <p:spPr>
          <a:xfrm>
            <a:off x="8371637" y="4579366"/>
            <a:ext cx="420624" cy="420624"/>
          </a:xfrm>
          <a:prstGeom prst="roundRect">
            <a:avLst>
              <a:gd name="adj" fmla="val 50000"/>
            </a:avLst>
          </a:prstGeom>
          <a:solidFill>
            <a:srgbClr val="04101F">
              <a:alpha val="88000"/>
            </a:srgbClr>
          </a:solidFill>
          <a:ln/>
        </p:spPr>
      </p:sp>
      <p:sp>
        <p:nvSpPr>
          <p:cNvPr id="44" name="Shape 40"/>
          <p:cNvSpPr/>
          <p:nvPr/>
        </p:nvSpPr>
        <p:spPr>
          <a:xfrm>
            <a:off x="8371637" y="4579366"/>
            <a:ext cx="420624" cy="420624"/>
          </a:xfrm>
          <a:prstGeom prst="roundRect">
            <a:avLst>
              <a:gd name="adj" fmla="val 50000"/>
            </a:avLst>
          </a:prstGeom>
          <a:solidFill>
            <a:srgbClr val="3C5468">
              <a:alpha val="20000"/>
            </a:srgbClr>
          </a:solidFill>
          <a:ln w="15240">
            <a:solidFill>
              <a:srgbClr val="3C5468">
                <a:alpha val="70000"/>
              </a:srgbClr>
            </a:solidFill>
            <a:prstDash val="solid"/>
          </a:ln>
        </p:spPr>
      </p:sp>
      <p:sp>
        <p:nvSpPr>
          <p:cNvPr id="45" name="Text 41"/>
          <p:cNvSpPr/>
          <p:nvPr/>
        </p:nvSpPr>
        <p:spPr>
          <a:xfrm>
            <a:off x="8325917" y="4652518"/>
            <a:ext cx="512064" cy="330327"/>
          </a:xfrm>
          <a:prstGeom prst="rect">
            <a:avLst/>
          </a:prstGeom>
          <a:noFill/>
          <a:ln/>
        </p:spPr>
        <p:txBody>
          <a:bodyPr wrap="square" lIns="0" tIns="0" rIns="0" bIns="0" rtlCol="0" anchor="t"/>
          <a:lstStyle/>
          <a:p>
            <a:pPr algn="ctr" indent="0" marL="0">
              <a:lnSpc>
                <a:spcPts val="2025"/>
              </a:lnSpc>
              <a:buNone/>
            </a:pPr>
            <a:r>
              <a:rPr lang="en-US" sz="1500" b="1" dirty="0">
                <a:solidFill>
                  <a:srgbClr val="3C5468"/>
                </a:solidFill>
                <a:latin typeface="Be Vietnam Pro" pitchFamily="34" charset="0"/>
                <a:ea typeface="Be Vietnam Pro" pitchFamily="34" charset="-122"/>
                <a:cs typeface="Be Vietnam Pro" pitchFamily="34" charset="-120"/>
              </a:rPr>
              <a:t>4</a:t>
            </a:r>
            <a:endParaRPr lang="en-US" sz="1500" dirty="0"/>
          </a:p>
        </p:txBody>
      </p:sp>
      <p:sp>
        <p:nvSpPr>
          <p:cNvPr id="46" name="Text 42"/>
          <p:cNvSpPr/>
          <p:nvPr/>
        </p:nvSpPr>
        <p:spPr>
          <a:xfrm>
            <a:off x="8920277" y="4625086"/>
            <a:ext cx="2393594" cy="295402"/>
          </a:xfrm>
          <a:prstGeom prst="rect">
            <a:avLst/>
          </a:prstGeom>
          <a:noFill/>
          <a:ln/>
        </p:spPr>
        <p:txBody>
          <a:bodyPr wrap="square" lIns="0" tIns="0" rIns="0" bIns="0" rtlCol="0" anchor="t"/>
          <a:lstStyle/>
          <a:p>
            <a:pPr algn="l" indent="0" marL="0">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Xác nhận &amp; thông báo</a:t>
            </a:r>
            <a:endParaRPr lang="en-US" sz="1400" dirty="0"/>
          </a:p>
        </p:txBody>
      </p:sp>
      <p:sp>
        <p:nvSpPr>
          <p:cNvPr id="47" name="Text 43"/>
          <p:cNvSpPr/>
          <p:nvPr/>
        </p:nvSpPr>
        <p:spPr>
          <a:xfrm>
            <a:off x="8371637" y="5237734"/>
            <a:ext cx="2923946" cy="487934"/>
          </a:xfrm>
          <a:prstGeom prst="rect">
            <a:avLst/>
          </a:prstGeom>
          <a:noFill/>
          <a:ln/>
        </p:spPr>
        <p:txBody>
          <a:bodyPr wrap="square" lIns="0" tIns="0" rIns="0" bIns="0" rtlCol="0" anchor="t"/>
          <a:lstStyle/>
          <a:p>
            <a:pPr algn="l" indent="0" marL="0">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Kho nhận lệnh chuẩn bị, xuất vật tư; đội</a:t>
            </a:r>
            <a:endParaRPr lang="en-US" sz="1150" dirty="0"/>
          </a:p>
          <a:p>
            <a:pPr algn="l" indent="0" marL="0">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cứu hộ nhận nhiệm vụ cùng lúc.</a:t>
            </a:r>
            <a:endParaRPr lang="en-US" sz="1150" dirty="0"/>
          </a:p>
        </p:txBody>
      </p:sp>
      <p:sp>
        <p:nvSpPr>
          <p:cNvPr id="48" name="Shape 44"/>
          <p:cNvSpPr/>
          <p:nvPr/>
        </p:nvSpPr>
        <p:spPr>
          <a:xfrm>
            <a:off x="4405274" y="4359910"/>
            <a:ext cx="3381146" cy="1737360"/>
          </a:xfrm>
          <a:prstGeom prst="roundRect">
            <a:avLst>
              <a:gd name="adj" fmla="val 6316"/>
            </a:avLst>
          </a:prstGeom>
          <a:solidFill>
            <a:srgbClr val="091B2D">
              <a:alpha val="55000"/>
            </a:srgbClr>
          </a:solidFill>
          <a:ln w="12700">
            <a:solidFill>
              <a:srgbClr val="FFFFFF">
                <a:alpha val="10000"/>
              </a:srgbClr>
            </a:solidFill>
            <a:prstDash val="solid"/>
          </a:ln>
        </p:spPr>
      </p:sp>
      <p:sp>
        <p:nvSpPr>
          <p:cNvPr id="49" name="Shape 45"/>
          <p:cNvSpPr/>
          <p:nvPr/>
        </p:nvSpPr>
        <p:spPr>
          <a:xfrm>
            <a:off x="4405274" y="4359910"/>
            <a:ext cx="50292" cy="1737360"/>
          </a:xfrm>
          <a:prstGeom prst="roundRect">
            <a:avLst>
              <a:gd name="adj" fmla="val 54545"/>
            </a:avLst>
          </a:prstGeom>
          <a:solidFill>
            <a:srgbClr val="3C5468">
              <a:alpha val="95000"/>
            </a:srgbClr>
          </a:solidFill>
          <a:ln/>
        </p:spPr>
      </p:sp>
      <p:sp>
        <p:nvSpPr>
          <p:cNvPr id="50" name="Shape 46"/>
          <p:cNvSpPr/>
          <p:nvPr/>
        </p:nvSpPr>
        <p:spPr>
          <a:xfrm>
            <a:off x="4679594" y="4579366"/>
            <a:ext cx="420624" cy="420624"/>
          </a:xfrm>
          <a:prstGeom prst="roundRect">
            <a:avLst>
              <a:gd name="adj" fmla="val 50000"/>
            </a:avLst>
          </a:prstGeom>
          <a:solidFill>
            <a:srgbClr val="04101F">
              <a:alpha val="88000"/>
            </a:srgbClr>
          </a:solidFill>
          <a:ln/>
        </p:spPr>
      </p:sp>
      <p:sp>
        <p:nvSpPr>
          <p:cNvPr id="51" name="Shape 47"/>
          <p:cNvSpPr/>
          <p:nvPr/>
        </p:nvSpPr>
        <p:spPr>
          <a:xfrm>
            <a:off x="4679594" y="4579366"/>
            <a:ext cx="420624" cy="420624"/>
          </a:xfrm>
          <a:prstGeom prst="roundRect">
            <a:avLst>
              <a:gd name="adj" fmla="val 50000"/>
            </a:avLst>
          </a:prstGeom>
          <a:solidFill>
            <a:srgbClr val="3C5468">
              <a:alpha val="20000"/>
            </a:srgbClr>
          </a:solidFill>
          <a:ln w="15240">
            <a:solidFill>
              <a:srgbClr val="3C5468">
                <a:alpha val="70000"/>
              </a:srgbClr>
            </a:solidFill>
            <a:prstDash val="solid"/>
          </a:ln>
        </p:spPr>
      </p:sp>
      <p:sp>
        <p:nvSpPr>
          <p:cNvPr id="52" name="Text 48"/>
          <p:cNvSpPr/>
          <p:nvPr/>
        </p:nvSpPr>
        <p:spPr>
          <a:xfrm>
            <a:off x="4633874" y="4652518"/>
            <a:ext cx="512064" cy="330327"/>
          </a:xfrm>
          <a:prstGeom prst="rect">
            <a:avLst/>
          </a:prstGeom>
          <a:noFill/>
          <a:ln/>
        </p:spPr>
        <p:txBody>
          <a:bodyPr wrap="square" lIns="0" tIns="0" rIns="0" bIns="0" rtlCol="0" anchor="t"/>
          <a:lstStyle/>
          <a:p>
            <a:pPr algn="ctr" indent="0" marL="0">
              <a:lnSpc>
                <a:spcPts val="2025"/>
              </a:lnSpc>
              <a:buNone/>
            </a:pPr>
            <a:r>
              <a:rPr lang="en-US" sz="1500" b="1" dirty="0">
                <a:solidFill>
                  <a:srgbClr val="3C5468"/>
                </a:solidFill>
                <a:latin typeface="Be Vietnam Pro" pitchFamily="34" charset="0"/>
                <a:ea typeface="Be Vietnam Pro" pitchFamily="34" charset="-122"/>
                <a:cs typeface="Be Vietnam Pro" pitchFamily="34" charset="-120"/>
              </a:rPr>
              <a:t>5</a:t>
            </a:r>
            <a:endParaRPr lang="en-US" sz="1500" dirty="0"/>
          </a:p>
        </p:txBody>
      </p:sp>
      <p:sp>
        <p:nvSpPr>
          <p:cNvPr id="53" name="Text 49"/>
          <p:cNvSpPr/>
          <p:nvPr/>
        </p:nvSpPr>
        <p:spPr>
          <a:xfrm>
            <a:off x="5228234" y="4625086"/>
            <a:ext cx="2393594" cy="517652"/>
          </a:xfrm>
          <a:prstGeom prst="rect">
            <a:avLst/>
          </a:prstGeom>
          <a:noFill/>
          <a:ln/>
        </p:spPr>
        <p:txBody>
          <a:bodyPr wrap="square" lIns="0" tIns="0" rIns="0" bIns="0" rtlCol="0" anchor="t"/>
          <a:lstStyle/>
          <a:p>
            <a:pPr algn="l" indent="0" marL="0">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Đội cứu hộ xác nhận hoàn</a:t>
            </a:r>
            <a:endParaRPr lang="en-US" sz="1400" dirty="0"/>
          </a:p>
          <a:p>
            <a:pPr algn="l" indent="0" marL="0">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thành</a:t>
            </a:r>
            <a:endParaRPr lang="en-US" sz="1400" dirty="0"/>
          </a:p>
        </p:txBody>
      </p:sp>
      <p:sp>
        <p:nvSpPr>
          <p:cNvPr id="54" name="Text 50"/>
          <p:cNvSpPr/>
          <p:nvPr/>
        </p:nvSpPr>
        <p:spPr>
          <a:xfrm>
            <a:off x="4679594" y="5237734"/>
            <a:ext cx="2923946" cy="487934"/>
          </a:xfrm>
          <a:prstGeom prst="rect">
            <a:avLst/>
          </a:prstGeom>
          <a:noFill/>
          <a:ln/>
        </p:spPr>
        <p:txBody>
          <a:bodyPr wrap="square" lIns="0" tIns="0" rIns="0" bIns="0" rtlCol="0" anchor="t"/>
          <a:lstStyle/>
          <a:p>
            <a:pPr algn="l" indent="0" marL="0">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Báo cáo kết quả nhiệm vụ kèm hình ảnh</a:t>
            </a:r>
            <a:endParaRPr lang="en-US" sz="1150" dirty="0"/>
          </a:p>
          <a:p>
            <a:pPr algn="l" indent="0" marL="0">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tại hiện trường.</a:t>
            </a:r>
            <a:endParaRPr lang="en-US" sz="1150" dirty="0"/>
          </a:p>
        </p:txBody>
      </p:sp>
      <p:sp>
        <p:nvSpPr>
          <p:cNvPr id="55" name="Shape 51"/>
          <p:cNvSpPr/>
          <p:nvPr/>
        </p:nvSpPr>
        <p:spPr>
          <a:xfrm>
            <a:off x="713232" y="4359910"/>
            <a:ext cx="3381146" cy="1737360"/>
          </a:xfrm>
          <a:prstGeom prst="roundRect">
            <a:avLst>
              <a:gd name="adj" fmla="val 6316"/>
            </a:avLst>
          </a:prstGeom>
          <a:solidFill>
            <a:srgbClr val="091B2D">
              <a:alpha val="55000"/>
            </a:srgbClr>
          </a:solidFill>
          <a:ln w="12700">
            <a:solidFill>
              <a:srgbClr val="FFFFFF">
                <a:alpha val="10000"/>
              </a:srgbClr>
            </a:solidFill>
            <a:prstDash val="solid"/>
          </a:ln>
        </p:spPr>
      </p:sp>
      <p:sp>
        <p:nvSpPr>
          <p:cNvPr id="56" name="Shape 52"/>
          <p:cNvSpPr/>
          <p:nvPr/>
        </p:nvSpPr>
        <p:spPr>
          <a:xfrm>
            <a:off x="713232" y="4359910"/>
            <a:ext cx="50292" cy="1737360"/>
          </a:xfrm>
          <a:prstGeom prst="roundRect">
            <a:avLst>
              <a:gd name="adj" fmla="val 54545"/>
            </a:avLst>
          </a:prstGeom>
          <a:solidFill>
            <a:srgbClr val="3C5468">
              <a:alpha val="95000"/>
            </a:srgbClr>
          </a:solidFill>
          <a:ln/>
        </p:spPr>
      </p:sp>
      <p:sp>
        <p:nvSpPr>
          <p:cNvPr id="57" name="Shape 53"/>
          <p:cNvSpPr/>
          <p:nvPr/>
        </p:nvSpPr>
        <p:spPr>
          <a:xfrm>
            <a:off x="987552" y="4579366"/>
            <a:ext cx="420624" cy="420624"/>
          </a:xfrm>
          <a:prstGeom prst="roundRect">
            <a:avLst>
              <a:gd name="adj" fmla="val 50000"/>
            </a:avLst>
          </a:prstGeom>
          <a:solidFill>
            <a:srgbClr val="04101F">
              <a:alpha val="88000"/>
            </a:srgbClr>
          </a:solidFill>
          <a:ln/>
        </p:spPr>
      </p:sp>
      <p:sp>
        <p:nvSpPr>
          <p:cNvPr id="58" name="Shape 54"/>
          <p:cNvSpPr/>
          <p:nvPr/>
        </p:nvSpPr>
        <p:spPr>
          <a:xfrm>
            <a:off x="987552" y="4579366"/>
            <a:ext cx="420624" cy="420624"/>
          </a:xfrm>
          <a:prstGeom prst="roundRect">
            <a:avLst>
              <a:gd name="adj" fmla="val 50000"/>
            </a:avLst>
          </a:prstGeom>
          <a:solidFill>
            <a:srgbClr val="3C5468">
              <a:alpha val="20000"/>
            </a:srgbClr>
          </a:solidFill>
          <a:ln w="15240">
            <a:solidFill>
              <a:srgbClr val="3C5468">
                <a:alpha val="70000"/>
              </a:srgbClr>
            </a:solidFill>
            <a:prstDash val="solid"/>
          </a:ln>
        </p:spPr>
      </p:sp>
      <p:sp>
        <p:nvSpPr>
          <p:cNvPr id="59" name="Text 55"/>
          <p:cNvSpPr/>
          <p:nvPr/>
        </p:nvSpPr>
        <p:spPr>
          <a:xfrm>
            <a:off x="941832" y="4652518"/>
            <a:ext cx="512064" cy="330327"/>
          </a:xfrm>
          <a:prstGeom prst="rect">
            <a:avLst/>
          </a:prstGeom>
          <a:noFill/>
          <a:ln/>
        </p:spPr>
        <p:txBody>
          <a:bodyPr wrap="square" lIns="0" tIns="0" rIns="0" bIns="0" rtlCol="0" anchor="t"/>
          <a:lstStyle/>
          <a:p>
            <a:pPr algn="ctr" indent="0" marL="0">
              <a:lnSpc>
                <a:spcPts val="2025"/>
              </a:lnSpc>
              <a:buNone/>
            </a:pPr>
            <a:r>
              <a:rPr lang="en-US" sz="1500" b="1" dirty="0">
                <a:solidFill>
                  <a:srgbClr val="3C5468"/>
                </a:solidFill>
                <a:latin typeface="Be Vietnam Pro" pitchFamily="34" charset="0"/>
                <a:ea typeface="Be Vietnam Pro" pitchFamily="34" charset="-122"/>
                <a:cs typeface="Be Vietnam Pro" pitchFamily="34" charset="-120"/>
              </a:rPr>
              <a:t>6</a:t>
            </a:r>
            <a:endParaRPr lang="en-US" sz="1500" dirty="0"/>
          </a:p>
        </p:txBody>
      </p:sp>
      <p:sp>
        <p:nvSpPr>
          <p:cNvPr id="60" name="Text 56"/>
          <p:cNvSpPr/>
          <p:nvPr/>
        </p:nvSpPr>
        <p:spPr>
          <a:xfrm>
            <a:off x="1536192" y="4625086"/>
            <a:ext cx="2393594" cy="517652"/>
          </a:xfrm>
          <a:prstGeom prst="rect">
            <a:avLst/>
          </a:prstGeom>
          <a:noFill/>
          <a:ln/>
        </p:spPr>
        <p:txBody>
          <a:bodyPr wrap="square" lIns="0" tIns="0" rIns="0" bIns="0" rtlCol="0" anchor="t"/>
          <a:lstStyle/>
          <a:p>
            <a:pPr algn="l" indent="0" marL="0">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Kho xác nhận hoàn trả</a:t>
            </a:r>
            <a:endParaRPr lang="en-US" sz="1400" dirty="0"/>
          </a:p>
          <a:p>
            <a:pPr algn="l" indent="0" marL="0">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vật tư</a:t>
            </a:r>
            <a:endParaRPr lang="en-US" sz="1400" dirty="0"/>
          </a:p>
        </p:txBody>
      </p:sp>
      <p:sp>
        <p:nvSpPr>
          <p:cNvPr id="61" name="Text 57"/>
          <p:cNvSpPr/>
          <p:nvPr/>
        </p:nvSpPr>
        <p:spPr>
          <a:xfrm>
            <a:off x="987552" y="5237734"/>
            <a:ext cx="2923946" cy="487934"/>
          </a:xfrm>
          <a:prstGeom prst="rect">
            <a:avLst/>
          </a:prstGeom>
          <a:noFill/>
          <a:ln/>
        </p:spPr>
        <p:txBody>
          <a:bodyPr wrap="square" lIns="0" tIns="0" rIns="0" bIns="0" rtlCol="0" anchor="t"/>
          <a:lstStyle/>
          <a:p>
            <a:pPr algn="l" indent="0" marL="0">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Đối chiếu vật tư đã cấp phát và phần</a:t>
            </a:r>
            <a:endParaRPr lang="en-US" sz="1150" dirty="0"/>
          </a:p>
          <a:p>
            <a:pPr algn="l" indent="0" marL="0">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thu hồi, khép lại nhiệm vụ.</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4101F"/>
        </a:solidFill>
      </p:bgPr>
    </p:bg>
    <p:spTree>
      <p:nvGrpSpPr>
        <p:cNvPr id="1" name=""/>
        <p:cNvGrpSpPr/>
        <p:nvPr/>
      </p:nvGrpSpPr>
      <p:grpSpPr>
        <a:xfrm>
          <a:off x="0" y="0"/>
          <a:ext cx="0" cy="0"/>
          <a:chOff x="0" y="0"/>
          <a:chExt cx="0" cy="0"/>
        </a:xfrm>
      </p:grpSpPr>
      <p:pic>
        <p:nvPicPr>
          <p:cNvPr id="2" name="Image 0" descr="bg-content.jp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4101F">
              <a:alpha val="34000"/>
            </a:srgbClr>
          </a:solidFill>
          <a:ln/>
        </p:spPr>
      </p:sp>
      <p:pic>
        <p:nvPicPr>
          <p:cNvPr id="4" name="Image 1" descr="mark-sm.png">    </p:cNvPr>
          <p:cNvPicPr>
            <a:picLocks noChangeAspect="1"/>
          </p:cNvPicPr>
          <p:nvPr/>
        </p:nvPicPr>
        <p:blipFill>
          <a:blip r:embed="rId2"/>
          <a:stretch>
            <a:fillRect/>
          </a:stretch>
        </p:blipFill>
        <p:spPr>
          <a:xfrm>
            <a:off x="713232" y="365760"/>
            <a:ext cx="310896" cy="310896"/>
          </a:xfrm>
          <a:prstGeom prst="rect">
            <a:avLst/>
          </a:prstGeom>
        </p:spPr>
      </p:pic>
      <p:sp>
        <p:nvSpPr>
          <p:cNvPr id="5" name="Text 1"/>
          <p:cNvSpPr/>
          <p:nvPr/>
        </p:nvSpPr>
        <p:spPr>
          <a:xfrm>
            <a:off x="1170432" y="384048"/>
            <a:ext cx="3749040" cy="261747"/>
          </a:xfrm>
          <a:prstGeom prst="rect">
            <a:avLst/>
          </a:prstGeom>
          <a:noFill/>
          <a:ln/>
        </p:spPr>
        <p:txBody>
          <a:bodyPr wrap="square" lIns="0" tIns="0" rIns="0" bIns="0" rtlCol="0" anchor="t"/>
          <a:lstStyle/>
          <a:p>
            <a:pPr algn="l" indent="0" marL="0">
              <a:lnSpc>
                <a:spcPts val="1485"/>
              </a:lnSpc>
              <a:buNone/>
            </a:pPr>
            <a:r>
              <a:rPr lang="en-US" sz="1100" b="1" spc="160" kern="0" dirty="0">
                <a:solidFill>
                  <a:srgbClr val="6EE7A8"/>
                </a:solidFill>
                <a:latin typeface="Be Vietnam Pro" pitchFamily="34" charset="0"/>
                <a:ea typeface="Be Vietnam Pro" pitchFamily="34" charset="-122"/>
                <a:cs typeface="Be Vietnam Pro" pitchFamily="34" charset="-120"/>
              </a:rPr>
              <a:t>ỨNG PHÓ NHANH</a:t>
            </a:r>
            <a:endParaRPr lang="en-US" sz="1100" dirty="0"/>
          </a:p>
        </p:txBody>
      </p:sp>
      <p:sp>
        <p:nvSpPr>
          <p:cNvPr id="6" name="Text 2"/>
          <p:cNvSpPr/>
          <p:nvPr/>
        </p:nvSpPr>
        <p:spPr>
          <a:xfrm>
            <a:off x="8643823" y="384048"/>
            <a:ext cx="2834640" cy="261747"/>
          </a:xfrm>
          <a:prstGeom prst="rect">
            <a:avLst/>
          </a:prstGeom>
          <a:noFill/>
          <a:ln/>
        </p:spPr>
        <p:txBody>
          <a:bodyPr wrap="square" lIns="0" tIns="0" rIns="0" bIns="0" rtlCol="0" anchor="t"/>
          <a:lstStyle/>
          <a:p>
            <a:pPr algn="r" indent="0" marL="0">
              <a:lnSpc>
                <a:spcPts val="1485"/>
              </a:lnSpc>
              <a:buNone/>
            </a:pPr>
            <a:r>
              <a:rPr lang="en-US" sz="1100" b="1" dirty="0">
                <a:solidFill>
                  <a:srgbClr val="7189A2"/>
                </a:solidFill>
                <a:latin typeface="Be Vietnam Pro" pitchFamily="34" charset="0"/>
                <a:ea typeface="Be Vietnam Pro" pitchFamily="34" charset="-122"/>
                <a:cs typeface="Be Vietnam Pro" pitchFamily="34" charset="-120"/>
              </a:rPr>
              <a:t>07 / 24</a:t>
            </a:r>
            <a:endParaRPr lang="en-US" sz="1100" dirty="0"/>
          </a:p>
        </p:txBody>
      </p:sp>
      <p:sp>
        <p:nvSpPr>
          <p:cNvPr id="7" name="Shape 3"/>
          <p:cNvSpPr/>
          <p:nvPr/>
        </p:nvSpPr>
        <p:spPr>
          <a:xfrm>
            <a:off x="713232" y="868680"/>
            <a:ext cx="10765231" cy="10973"/>
          </a:xfrm>
          <a:prstGeom prst="rect">
            <a:avLst/>
          </a:prstGeom>
          <a:solidFill>
            <a:srgbClr val="FFFFFF">
              <a:alpha val="16000"/>
            </a:srgbClr>
          </a:solidFill>
          <a:ln/>
        </p:spPr>
      </p:sp>
      <p:sp>
        <p:nvSpPr>
          <p:cNvPr id="8" name="Text 4"/>
          <p:cNvSpPr/>
          <p:nvPr/>
        </p:nvSpPr>
        <p:spPr>
          <a:xfrm>
            <a:off x="713232" y="1133856"/>
            <a:ext cx="8321040" cy="270320"/>
          </a:xfrm>
          <a:prstGeom prst="rect">
            <a:avLst/>
          </a:prstGeom>
          <a:noFill/>
          <a:ln/>
        </p:spPr>
        <p:txBody>
          <a:bodyPr wrap="square" lIns="0" tIns="0" rIns="0" bIns="0" rtlCol="0" anchor="t"/>
          <a:lstStyle/>
          <a:p>
            <a:pPr algn="l" indent="0" marL="0">
              <a:lnSpc>
                <a:spcPts val="1553"/>
              </a:lnSpc>
              <a:buNone/>
            </a:pPr>
            <a:r>
              <a:rPr lang="en-US" sz="1150" b="1" spc="220" kern="0" dirty="0">
                <a:solidFill>
                  <a:srgbClr val="22C55E"/>
                </a:solidFill>
                <a:latin typeface="Be Vietnam Pro" pitchFamily="34" charset="0"/>
                <a:ea typeface="Be Vietnam Pro" pitchFamily="34" charset="-122"/>
                <a:cs typeface="Be Vietnam Pro" pitchFamily="34" charset="-120"/>
              </a:rPr>
              <a:t>AI THAM MƯU</a:t>
            </a:r>
            <a:endParaRPr lang="en-US" sz="1150" dirty="0"/>
          </a:p>
        </p:txBody>
      </p:sp>
      <p:sp>
        <p:nvSpPr>
          <p:cNvPr id="9" name="Text 5"/>
          <p:cNvSpPr/>
          <p:nvPr/>
        </p:nvSpPr>
        <p:spPr>
          <a:xfrm>
            <a:off x="713232" y="1426464"/>
            <a:ext cx="10490911" cy="537718"/>
          </a:xfrm>
          <a:prstGeom prst="rect">
            <a:avLst/>
          </a:prstGeom>
          <a:noFill/>
          <a:ln/>
        </p:spPr>
        <p:txBody>
          <a:bodyPr wrap="square" lIns="0" tIns="0" rIns="0" bIns="0" rtlCol="0" anchor="t"/>
          <a:lstStyle/>
          <a:p>
            <a:pPr algn="l" indent="0" marL="0">
              <a:lnSpc>
                <a:spcPts val="3658"/>
              </a:lnSpc>
              <a:buNone/>
            </a:pPr>
            <a:r>
              <a:rPr lang="en-US" sz="3100" b="1" dirty="0">
                <a:solidFill>
                  <a:srgbClr val="FFFFFF"/>
                </a:solidFill>
                <a:latin typeface="Be Vietnam Pro" pitchFamily="34" charset="0"/>
                <a:ea typeface="Be Vietnam Pro" pitchFamily="34" charset="-122"/>
                <a:cs typeface="Be Vietnam Pro" pitchFamily="34" charset="-120"/>
              </a:rPr>
              <a:t>Kể bằng lời — AI lập bản tham mưu</a:t>
            </a:r>
            <a:endParaRPr lang="en-US" sz="3100" dirty="0"/>
          </a:p>
        </p:txBody>
      </p:sp>
      <p:sp>
        <p:nvSpPr>
          <p:cNvPr id="10" name="Shape 6"/>
          <p:cNvSpPr/>
          <p:nvPr/>
        </p:nvSpPr>
        <p:spPr>
          <a:xfrm>
            <a:off x="713232" y="6272784"/>
            <a:ext cx="10765231" cy="9144"/>
          </a:xfrm>
          <a:prstGeom prst="rect">
            <a:avLst/>
          </a:prstGeom>
          <a:solidFill>
            <a:srgbClr val="FFFFFF">
              <a:alpha val="10000"/>
            </a:srgbClr>
          </a:solidFill>
          <a:ln/>
        </p:spPr>
      </p:sp>
      <p:sp>
        <p:nvSpPr>
          <p:cNvPr id="11" name="Text 7"/>
          <p:cNvSpPr/>
          <p:nvPr/>
        </p:nvSpPr>
        <p:spPr>
          <a:xfrm>
            <a:off x="8643823" y="6382512"/>
            <a:ext cx="2834640" cy="236030"/>
          </a:xfrm>
          <a:prstGeom prst="rect">
            <a:avLst/>
          </a:prstGeom>
          <a:noFill/>
          <a:ln/>
        </p:spPr>
        <p:txBody>
          <a:bodyPr wrap="square" lIns="0" tIns="0" rIns="0" bIns="0" rtlCol="0" anchor="t"/>
          <a:lstStyle/>
          <a:p>
            <a:pPr algn="r" indent="0" marL="0">
              <a:lnSpc>
                <a:spcPts val="1283"/>
              </a:lnSpc>
              <a:buNone/>
            </a:pPr>
            <a:r>
              <a:rPr lang="en-US" sz="950" dirty="0">
                <a:solidFill>
                  <a:srgbClr val="7189A2"/>
                </a:solidFill>
                <a:latin typeface="Be Vietnam Pro" pitchFamily="34" charset="0"/>
                <a:ea typeface="Be Vietnam Pro" pitchFamily="34" charset="-122"/>
                <a:cs typeface="Be Vietnam Pro" pitchFamily="34" charset="-120"/>
              </a:rPr>
              <a:t>ungphonhanh.life</a:t>
            </a:r>
            <a:endParaRPr lang="en-US" sz="950" dirty="0"/>
          </a:p>
        </p:txBody>
      </p:sp>
      <p:sp>
        <p:nvSpPr>
          <p:cNvPr id="12" name="Shape 8"/>
          <p:cNvSpPr/>
          <p:nvPr/>
        </p:nvSpPr>
        <p:spPr>
          <a:xfrm>
            <a:off x="713232" y="2220214"/>
            <a:ext cx="4663440" cy="3803904"/>
          </a:xfrm>
          <a:prstGeom prst="roundRect">
            <a:avLst>
              <a:gd name="adj" fmla="val 2885"/>
            </a:avLst>
          </a:prstGeom>
          <a:solidFill>
            <a:srgbClr val="091B2D">
              <a:alpha val="66000"/>
            </a:srgbClr>
          </a:solidFill>
          <a:ln w="12700">
            <a:solidFill>
              <a:srgbClr val="FFFFFF">
                <a:alpha val="12000"/>
              </a:srgbClr>
            </a:solidFill>
            <a:prstDash val="solid"/>
          </a:ln>
        </p:spPr>
      </p:sp>
      <p:sp>
        <p:nvSpPr>
          <p:cNvPr id="13" name="Shape 9"/>
          <p:cNvSpPr/>
          <p:nvPr/>
        </p:nvSpPr>
        <p:spPr>
          <a:xfrm>
            <a:off x="713232" y="2220214"/>
            <a:ext cx="50292" cy="3803904"/>
          </a:xfrm>
          <a:prstGeom prst="roundRect">
            <a:avLst>
              <a:gd name="adj" fmla="val 54545"/>
            </a:avLst>
          </a:prstGeom>
          <a:solidFill>
            <a:srgbClr val="38BDF8">
              <a:alpha val="95000"/>
            </a:srgbClr>
          </a:solidFill>
          <a:ln/>
        </p:spPr>
      </p:sp>
      <p:sp>
        <p:nvSpPr>
          <p:cNvPr id="14" name="Text 10"/>
          <p:cNvSpPr/>
          <p:nvPr/>
        </p:nvSpPr>
        <p:spPr>
          <a:xfrm>
            <a:off x="1024128" y="2476246"/>
            <a:ext cx="4133088" cy="253175"/>
          </a:xfrm>
          <a:prstGeom prst="rect">
            <a:avLst/>
          </a:prstGeom>
          <a:noFill/>
          <a:ln/>
        </p:spPr>
        <p:txBody>
          <a:bodyPr wrap="square" lIns="0" tIns="0" rIns="0" bIns="0" rtlCol="0" anchor="t"/>
          <a:lstStyle/>
          <a:p>
            <a:pPr algn="l" indent="0" marL="0">
              <a:lnSpc>
                <a:spcPts val="1418"/>
              </a:lnSpc>
              <a:buNone/>
            </a:pPr>
            <a:r>
              <a:rPr lang="en-US" sz="1050" b="1" spc="180" kern="0" dirty="0">
                <a:solidFill>
                  <a:srgbClr val="38BDF8"/>
                </a:solidFill>
                <a:latin typeface="Be Vietnam Pro" pitchFamily="34" charset="0"/>
                <a:ea typeface="Be Vietnam Pro" pitchFamily="34" charset="-122"/>
                <a:cs typeface="Be Vietnam Pro" pitchFamily="34" charset="-120"/>
              </a:rPr>
              <a:t>NGƯỜI ĐIỀU PHỐI NHẬP</a:t>
            </a:r>
            <a:endParaRPr lang="en-US" sz="1050" dirty="0"/>
          </a:p>
        </p:txBody>
      </p:sp>
      <p:sp>
        <p:nvSpPr>
          <p:cNvPr id="15" name="Shape 11"/>
          <p:cNvSpPr/>
          <p:nvPr/>
        </p:nvSpPr>
        <p:spPr>
          <a:xfrm>
            <a:off x="1024128" y="2906014"/>
            <a:ext cx="4041648" cy="1371600"/>
          </a:xfrm>
          <a:prstGeom prst="roundRect">
            <a:avLst>
              <a:gd name="adj" fmla="val 6667"/>
            </a:avLst>
          </a:prstGeom>
          <a:solidFill>
            <a:srgbClr val="FFFFFF">
              <a:alpha val="8000"/>
            </a:srgbClr>
          </a:solidFill>
          <a:ln w="12700">
            <a:solidFill>
              <a:srgbClr val="FFFFFF">
                <a:alpha val="18000"/>
              </a:srgbClr>
            </a:solidFill>
            <a:prstDash val="solid"/>
          </a:ln>
        </p:spPr>
      </p:sp>
      <p:sp>
        <p:nvSpPr>
          <p:cNvPr id="16" name="Text 12"/>
          <p:cNvSpPr/>
          <p:nvPr/>
        </p:nvSpPr>
        <p:spPr>
          <a:xfrm>
            <a:off x="1225296" y="3098038"/>
            <a:ext cx="3730752" cy="846582"/>
          </a:xfrm>
          <a:prstGeom prst="rect">
            <a:avLst/>
          </a:prstGeom>
          <a:noFill/>
          <a:ln/>
        </p:spPr>
        <p:txBody>
          <a:bodyPr wrap="square" lIns="0" tIns="0" rIns="0" bIns="0" rtlCol="0" anchor="t"/>
          <a:lstStyle/>
          <a:p>
            <a:pPr algn="l" indent="0" marL="0">
              <a:lnSpc>
                <a:spcPts val="2030"/>
              </a:lnSpc>
              <a:buNone/>
            </a:pPr>
            <a:r>
              <a:rPr lang="en-US" sz="1400" dirty="0">
                <a:solidFill>
                  <a:srgbClr val="FFFFFF"/>
                </a:solidFill>
                <a:latin typeface="Be Vietnam Pro" pitchFamily="34" charset="0"/>
                <a:ea typeface="Be Vietnam Pro" pitchFamily="34" charset="-122"/>
                <a:cs typeface="Be Vietnam Pro" pitchFamily="34" charset="-120"/>
              </a:rPr>
              <a:t>“Lũ quét xã Đồng Xuân, khoảng 200</a:t>
            </a:r>
            <a:endParaRPr lang="en-US" sz="1400" dirty="0"/>
          </a:p>
          <a:p>
            <a:pPr algn="l" indent="0" marL="0">
              <a:lnSpc>
                <a:spcPts val="2030"/>
              </a:lnSpc>
              <a:buNone/>
            </a:pPr>
            <a:r>
              <a:rPr lang="en-US" sz="1400" dirty="0">
                <a:solidFill>
                  <a:srgbClr val="FFFFFF"/>
                </a:solidFill>
                <a:latin typeface="Be Vietnam Pro" pitchFamily="34" charset="0"/>
                <a:ea typeface="Be Vietnam Pro" pitchFamily="34" charset="-122"/>
                <a:cs typeface="Be Vietnam Pro" pitchFamily="34" charset="-120"/>
              </a:rPr>
              <a:t>người mắc kẹt, có 10 cháu nhỏ, 3 ngày</a:t>
            </a:r>
            <a:endParaRPr lang="en-US" sz="1400" dirty="0"/>
          </a:p>
          <a:p>
            <a:pPr algn="l" indent="0" marL="0">
              <a:lnSpc>
                <a:spcPts val="2030"/>
              </a:lnSpc>
              <a:buNone/>
            </a:pPr>
            <a:r>
              <a:rPr lang="en-US" sz="1400" dirty="0">
                <a:solidFill>
                  <a:srgbClr val="FFFFFF"/>
                </a:solidFill>
                <a:latin typeface="Be Vietnam Pro" pitchFamily="34" charset="0"/>
                <a:ea typeface="Be Vietnam Pro" pitchFamily="34" charset="-122"/>
                <a:cs typeface="Be Vietnam Pro" pitchFamily="34" charset="-120"/>
              </a:rPr>
              <a:t>chưa có nước sạch.”</a:t>
            </a:r>
            <a:endParaRPr lang="en-US" sz="1400" dirty="0"/>
          </a:p>
        </p:txBody>
      </p:sp>
      <p:sp>
        <p:nvSpPr>
          <p:cNvPr id="17" name="Text 13"/>
          <p:cNvSpPr/>
          <p:nvPr/>
        </p:nvSpPr>
        <p:spPr>
          <a:xfrm>
            <a:off x="1024128" y="4597654"/>
            <a:ext cx="4133088" cy="515112"/>
          </a:xfrm>
          <a:prstGeom prst="rect">
            <a:avLst/>
          </a:prstGeom>
          <a:noFill/>
          <a:ln/>
        </p:spPr>
        <p:txBody>
          <a:bodyPr wrap="square" lIns="0" tIns="0" rIns="0" bIns="0" rtlCol="0" anchor="t"/>
          <a:lstStyle/>
          <a:p>
            <a:pPr algn="l" indent="0" marL="0">
              <a:lnSpc>
                <a:spcPts val="1740"/>
              </a:lnSpc>
              <a:buNone/>
            </a:pPr>
            <a:r>
              <a:rPr lang="en-US" sz="1200" dirty="0">
                <a:solidFill>
                  <a:srgbClr val="9BB0C6"/>
                </a:solidFill>
                <a:latin typeface="Be Vietnam Pro" pitchFamily="34" charset="0"/>
                <a:ea typeface="Be Vietnam Pro" pitchFamily="34" charset="-122"/>
                <a:cs typeface="Be Vietnam Pro" pitchFamily="34" charset="-120"/>
              </a:rPr>
              <a:t>Gõ hoặc bấm “Nói để nhập” — không phải điền form</a:t>
            </a:r>
            <a:endParaRPr lang="en-US" sz="1200" dirty="0"/>
          </a:p>
          <a:p>
            <a:pPr algn="l" indent="0" marL="0">
              <a:lnSpc>
                <a:spcPts val="1740"/>
              </a:lnSpc>
              <a:buNone/>
            </a:pPr>
            <a:r>
              <a:rPr lang="en-US" sz="1200" dirty="0">
                <a:solidFill>
                  <a:srgbClr val="9BB0C6"/>
                </a:solidFill>
                <a:latin typeface="Be Vietnam Pro" pitchFamily="34" charset="0"/>
                <a:ea typeface="Be Vietnam Pro" pitchFamily="34" charset="-122"/>
                <a:cs typeface="Be Vietnam Pro" pitchFamily="34" charset="-120"/>
              </a:rPr>
              <a:t>trong lúc khẩn cấp.</a:t>
            </a:r>
            <a:endParaRPr lang="en-US" sz="1200" dirty="0"/>
          </a:p>
        </p:txBody>
      </p:sp>
      <p:sp>
        <p:nvSpPr>
          <p:cNvPr id="18" name="Shape 14"/>
          <p:cNvSpPr/>
          <p:nvPr/>
        </p:nvSpPr>
        <p:spPr>
          <a:xfrm>
            <a:off x="1024128" y="5292598"/>
            <a:ext cx="1680858" cy="329184"/>
          </a:xfrm>
          <a:prstGeom prst="roundRect">
            <a:avLst>
              <a:gd name="adj" fmla="val 50000"/>
            </a:avLst>
          </a:prstGeom>
          <a:solidFill>
            <a:srgbClr val="6EE7A8">
              <a:alpha val="18000"/>
            </a:srgbClr>
          </a:solidFill>
          <a:ln w="12700">
            <a:solidFill>
              <a:srgbClr val="6EE7A8">
                <a:alpha val="55000"/>
              </a:srgbClr>
            </a:solidFill>
            <a:prstDash val="solid"/>
          </a:ln>
        </p:spPr>
      </p:sp>
      <p:sp>
        <p:nvSpPr>
          <p:cNvPr id="19" name="Text 15"/>
          <p:cNvSpPr/>
          <p:nvPr/>
        </p:nvSpPr>
        <p:spPr>
          <a:xfrm>
            <a:off x="978408" y="5352034"/>
            <a:ext cx="1772298" cy="270320"/>
          </a:xfrm>
          <a:prstGeom prst="rect">
            <a:avLst/>
          </a:prstGeom>
          <a:noFill/>
          <a:ln/>
        </p:spPr>
        <p:txBody>
          <a:bodyPr wrap="square" lIns="0" tIns="0" rIns="0" bIns="0" rtlCol="0" anchor="t"/>
          <a:lstStyle/>
          <a:p>
            <a:pPr algn="ctr" indent="0" marL="0">
              <a:lnSpc>
                <a:spcPts val="1553"/>
              </a:lnSpc>
              <a:buNone/>
            </a:pPr>
            <a:r>
              <a:rPr lang="en-US" sz="1150" b="1" dirty="0">
                <a:solidFill>
                  <a:srgbClr val="6EE7A8"/>
                </a:solidFill>
                <a:latin typeface="Be Vietnam Pro" pitchFamily="34" charset="0"/>
                <a:ea typeface="Be Vietnam Pro" pitchFamily="34" charset="-122"/>
                <a:cs typeface="Be Vietnam Pro" pitchFamily="34" charset="-120"/>
              </a:rPr>
              <a:t>Phân tích bằng AI</a:t>
            </a:r>
            <a:endParaRPr lang="en-US" sz="1150" dirty="0"/>
          </a:p>
        </p:txBody>
      </p:sp>
      <p:sp>
        <p:nvSpPr>
          <p:cNvPr id="20" name="Shape 16"/>
          <p:cNvSpPr/>
          <p:nvPr/>
        </p:nvSpPr>
        <p:spPr>
          <a:xfrm rot="5400000">
            <a:off x="5577840" y="3985006"/>
            <a:ext cx="274320" cy="274320"/>
          </a:xfrm>
          <a:prstGeom prst="triangle">
            <a:avLst/>
          </a:prstGeom>
          <a:solidFill>
            <a:srgbClr val="6EE7A8">
              <a:alpha val="90000"/>
            </a:srgbClr>
          </a:solidFill>
          <a:ln/>
        </p:spPr>
      </p:sp>
      <p:sp>
        <p:nvSpPr>
          <p:cNvPr id="21" name="Shape 17"/>
          <p:cNvSpPr/>
          <p:nvPr/>
        </p:nvSpPr>
        <p:spPr>
          <a:xfrm>
            <a:off x="6053328" y="2220214"/>
            <a:ext cx="5425135" cy="868680"/>
          </a:xfrm>
          <a:prstGeom prst="roundRect">
            <a:avLst>
              <a:gd name="adj" fmla="val 12632"/>
            </a:avLst>
          </a:prstGeom>
          <a:solidFill>
            <a:srgbClr val="091B2D">
              <a:alpha val="66000"/>
            </a:srgbClr>
          </a:solidFill>
          <a:ln w="12700">
            <a:solidFill>
              <a:srgbClr val="FFFFFF">
                <a:alpha val="12000"/>
              </a:srgbClr>
            </a:solidFill>
            <a:prstDash val="solid"/>
          </a:ln>
        </p:spPr>
      </p:sp>
      <p:sp>
        <p:nvSpPr>
          <p:cNvPr id="22" name="Shape 18"/>
          <p:cNvSpPr/>
          <p:nvPr/>
        </p:nvSpPr>
        <p:spPr>
          <a:xfrm>
            <a:off x="6053328" y="2220214"/>
            <a:ext cx="50292" cy="868680"/>
          </a:xfrm>
          <a:prstGeom prst="roundRect">
            <a:avLst>
              <a:gd name="adj" fmla="val 54545"/>
            </a:avLst>
          </a:prstGeom>
          <a:solidFill>
            <a:srgbClr val="22C55E">
              <a:alpha val="95000"/>
            </a:srgbClr>
          </a:solidFill>
          <a:ln/>
        </p:spPr>
      </p:sp>
      <p:sp>
        <p:nvSpPr>
          <p:cNvPr id="23" name="Text 19"/>
          <p:cNvSpPr/>
          <p:nvPr/>
        </p:nvSpPr>
        <p:spPr>
          <a:xfrm>
            <a:off x="6327648" y="2384806"/>
            <a:ext cx="4967935" cy="304610"/>
          </a:xfrm>
          <a:prstGeom prst="rect">
            <a:avLst/>
          </a:prstGeom>
          <a:noFill/>
          <a:ln/>
        </p:spPr>
        <p:txBody>
          <a:bodyPr wrap="square" lIns="0" tIns="0" rIns="0" bIns="0" rtlCol="0" anchor="t"/>
          <a:lstStyle/>
          <a:p>
            <a:pPr algn="l" indent="0" marL="0">
              <a:lnSpc>
                <a:spcPts val="1823"/>
              </a:lnSpc>
              <a:buNone/>
            </a:pPr>
            <a:r>
              <a:rPr lang="en-US" sz="1350" b="1" dirty="0">
                <a:solidFill>
                  <a:srgbClr val="FFFFFF"/>
                </a:solidFill>
                <a:latin typeface="Be Vietnam Pro" pitchFamily="34" charset="0"/>
                <a:ea typeface="Be Vietnam Pro" pitchFamily="34" charset="-122"/>
                <a:cs typeface="Be Vietnam Pro" pitchFamily="34" charset="-120"/>
              </a:rPr>
              <a:t>Số liệu ngay lập tức điền sẵn để người điều phối kiểm tra</a:t>
            </a:r>
            <a:endParaRPr lang="en-US" sz="1350" dirty="0"/>
          </a:p>
        </p:txBody>
      </p:sp>
      <p:sp>
        <p:nvSpPr>
          <p:cNvPr id="24" name="Text 20"/>
          <p:cNvSpPr/>
          <p:nvPr/>
        </p:nvSpPr>
        <p:spPr>
          <a:xfrm>
            <a:off x="6327648" y="2677414"/>
            <a:ext cx="4967935" cy="263017"/>
          </a:xfrm>
          <a:prstGeom prst="rect">
            <a:avLst/>
          </a:prstGeom>
          <a:noFill/>
          <a:ln/>
        </p:spPr>
        <p:txBody>
          <a:bodyPr wrap="square" lIns="0" tIns="0" rIns="0" bIns="0" rtlCol="0" anchor="t"/>
          <a:lstStyle/>
          <a:p>
            <a:pPr algn="l" indent="0" marL="0">
              <a:lnSpc>
                <a:spcPts val="1495"/>
              </a:lnSpc>
              <a:buNone/>
            </a:pPr>
            <a:r>
              <a:rPr lang="en-US" sz="1150" dirty="0">
                <a:solidFill>
                  <a:srgbClr val="9BB0C6"/>
                </a:solidFill>
                <a:latin typeface="Be Vietnam Pro" pitchFamily="34" charset="0"/>
                <a:ea typeface="Be Vietnam Pro" pitchFamily="34" charset="-122"/>
                <a:cs typeface="Be Vietnam Pro" pitchFamily="34" charset="-120"/>
              </a:rPr>
              <a:t>Loại tình huống, số người, số giờ cô lập, trẻ em, người già, ca y tế.</a:t>
            </a:r>
            <a:endParaRPr lang="en-US" sz="1150" dirty="0"/>
          </a:p>
        </p:txBody>
      </p:sp>
      <p:sp>
        <p:nvSpPr>
          <p:cNvPr id="25" name="Shape 21"/>
          <p:cNvSpPr/>
          <p:nvPr/>
        </p:nvSpPr>
        <p:spPr>
          <a:xfrm>
            <a:off x="6053328" y="3198622"/>
            <a:ext cx="5425135" cy="868680"/>
          </a:xfrm>
          <a:prstGeom prst="roundRect">
            <a:avLst>
              <a:gd name="adj" fmla="val 12632"/>
            </a:avLst>
          </a:prstGeom>
          <a:solidFill>
            <a:srgbClr val="091B2D">
              <a:alpha val="66000"/>
            </a:srgbClr>
          </a:solidFill>
          <a:ln w="12700">
            <a:solidFill>
              <a:srgbClr val="FFFFFF">
                <a:alpha val="12000"/>
              </a:srgbClr>
            </a:solidFill>
            <a:prstDash val="solid"/>
          </a:ln>
        </p:spPr>
      </p:sp>
      <p:sp>
        <p:nvSpPr>
          <p:cNvPr id="26" name="Shape 22"/>
          <p:cNvSpPr/>
          <p:nvPr/>
        </p:nvSpPr>
        <p:spPr>
          <a:xfrm>
            <a:off x="6053328" y="3198622"/>
            <a:ext cx="50292" cy="868680"/>
          </a:xfrm>
          <a:prstGeom prst="roundRect">
            <a:avLst>
              <a:gd name="adj" fmla="val 54545"/>
            </a:avLst>
          </a:prstGeom>
          <a:solidFill>
            <a:srgbClr val="FBBF24">
              <a:alpha val="95000"/>
            </a:srgbClr>
          </a:solidFill>
          <a:ln/>
        </p:spPr>
      </p:sp>
      <p:sp>
        <p:nvSpPr>
          <p:cNvPr id="27" name="Text 23"/>
          <p:cNvSpPr/>
          <p:nvPr/>
        </p:nvSpPr>
        <p:spPr>
          <a:xfrm>
            <a:off x="6327648" y="3363214"/>
            <a:ext cx="4967935" cy="304610"/>
          </a:xfrm>
          <a:prstGeom prst="rect">
            <a:avLst/>
          </a:prstGeom>
          <a:noFill/>
          <a:ln/>
        </p:spPr>
        <p:txBody>
          <a:bodyPr wrap="square" lIns="0" tIns="0" rIns="0" bIns="0" rtlCol="0" anchor="t"/>
          <a:lstStyle/>
          <a:p>
            <a:pPr algn="l" indent="0" marL="0">
              <a:lnSpc>
                <a:spcPts val="1823"/>
              </a:lnSpc>
              <a:buNone/>
            </a:pPr>
            <a:r>
              <a:rPr lang="en-US" sz="1350" b="1" dirty="0">
                <a:solidFill>
                  <a:srgbClr val="FFFFFF"/>
                </a:solidFill>
                <a:latin typeface="Be Vietnam Pro" pitchFamily="34" charset="0"/>
                <a:ea typeface="Be Vietnam Pro" pitchFamily="34" charset="-122"/>
                <a:cs typeface="Be Vietnam Pro" pitchFamily="34" charset="-120"/>
              </a:rPr>
              <a:t>Danh mục vật tư đề xuất</a:t>
            </a:r>
            <a:endParaRPr lang="en-US" sz="1350" dirty="0"/>
          </a:p>
        </p:txBody>
      </p:sp>
      <p:sp>
        <p:nvSpPr>
          <p:cNvPr id="28" name="Text 24"/>
          <p:cNvSpPr/>
          <p:nvPr/>
        </p:nvSpPr>
        <p:spPr>
          <a:xfrm>
            <a:off x="6327648" y="3655822"/>
            <a:ext cx="4967935" cy="263017"/>
          </a:xfrm>
          <a:prstGeom prst="rect">
            <a:avLst/>
          </a:prstGeom>
          <a:noFill/>
          <a:ln/>
        </p:spPr>
        <p:txBody>
          <a:bodyPr wrap="square" lIns="0" tIns="0" rIns="0" bIns="0" rtlCol="0" anchor="t"/>
          <a:lstStyle/>
          <a:p>
            <a:pPr algn="l" indent="0" marL="0">
              <a:lnSpc>
                <a:spcPts val="1495"/>
              </a:lnSpc>
              <a:buNone/>
            </a:pPr>
            <a:r>
              <a:rPr lang="en-US" sz="1150" dirty="0">
                <a:solidFill>
                  <a:srgbClr val="9BB0C6"/>
                </a:solidFill>
                <a:latin typeface="Be Vietnam Pro" pitchFamily="34" charset="0"/>
                <a:ea typeface="Be Vietnam Pro" pitchFamily="34" charset="-122"/>
                <a:cs typeface="Be Vietnam Pro" pitchFamily="34" charset="-120"/>
              </a:rPr>
              <a:t>Vật tư, thiết bị và nguồn lực cần thiết cho nhiệm vụ.</a:t>
            </a:r>
            <a:endParaRPr lang="en-US" sz="1150" dirty="0"/>
          </a:p>
        </p:txBody>
      </p:sp>
      <p:sp>
        <p:nvSpPr>
          <p:cNvPr id="29" name="Shape 25"/>
          <p:cNvSpPr/>
          <p:nvPr/>
        </p:nvSpPr>
        <p:spPr>
          <a:xfrm>
            <a:off x="6053328" y="4177030"/>
            <a:ext cx="5425135" cy="868680"/>
          </a:xfrm>
          <a:prstGeom prst="roundRect">
            <a:avLst>
              <a:gd name="adj" fmla="val 12632"/>
            </a:avLst>
          </a:prstGeom>
          <a:solidFill>
            <a:srgbClr val="091B2D">
              <a:alpha val="66000"/>
            </a:srgbClr>
          </a:solidFill>
          <a:ln w="12700">
            <a:solidFill>
              <a:srgbClr val="FFFFFF">
                <a:alpha val="12000"/>
              </a:srgbClr>
            </a:solidFill>
            <a:prstDash val="solid"/>
          </a:ln>
        </p:spPr>
      </p:sp>
      <p:sp>
        <p:nvSpPr>
          <p:cNvPr id="30" name="Shape 26"/>
          <p:cNvSpPr/>
          <p:nvPr/>
        </p:nvSpPr>
        <p:spPr>
          <a:xfrm>
            <a:off x="6053328" y="4177030"/>
            <a:ext cx="50292" cy="868680"/>
          </a:xfrm>
          <a:prstGeom prst="roundRect">
            <a:avLst>
              <a:gd name="adj" fmla="val 54545"/>
            </a:avLst>
          </a:prstGeom>
          <a:solidFill>
            <a:srgbClr val="38BDF8">
              <a:alpha val="95000"/>
            </a:srgbClr>
          </a:solidFill>
          <a:ln/>
        </p:spPr>
      </p:sp>
      <p:sp>
        <p:nvSpPr>
          <p:cNvPr id="31" name="Text 27"/>
          <p:cNvSpPr/>
          <p:nvPr/>
        </p:nvSpPr>
        <p:spPr>
          <a:xfrm>
            <a:off x="6327648" y="4341622"/>
            <a:ext cx="4967935" cy="304610"/>
          </a:xfrm>
          <a:prstGeom prst="rect">
            <a:avLst/>
          </a:prstGeom>
          <a:noFill/>
          <a:ln/>
        </p:spPr>
        <p:txBody>
          <a:bodyPr wrap="square" lIns="0" tIns="0" rIns="0" bIns="0" rtlCol="0" anchor="t"/>
          <a:lstStyle/>
          <a:p>
            <a:pPr algn="l" indent="0" marL="0">
              <a:lnSpc>
                <a:spcPts val="1823"/>
              </a:lnSpc>
              <a:buNone/>
            </a:pPr>
            <a:r>
              <a:rPr lang="en-US" sz="1350" b="1" dirty="0">
                <a:solidFill>
                  <a:srgbClr val="FFFFFF"/>
                </a:solidFill>
                <a:latin typeface="Be Vietnam Pro" pitchFamily="34" charset="0"/>
                <a:ea typeface="Be Vietnam Pro" pitchFamily="34" charset="-122"/>
                <a:cs typeface="Be Vietnam Pro" pitchFamily="34" charset="-120"/>
              </a:rPr>
              <a:t>Kho xuất hàng tối ưu</a:t>
            </a:r>
            <a:endParaRPr lang="en-US" sz="1350" dirty="0"/>
          </a:p>
        </p:txBody>
      </p:sp>
      <p:sp>
        <p:nvSpPr>
          <p:cNvPr id="32" name="Text 28"/>
          <p:cNvSpPr/>
          <p:nvPr/>
        </p:nvSpPr>
        <p:spPr>
          <a:xfrm>
            <a:off x="6327648" y="4634230"/>
            <a:ext cx="4967935" cy="263017"/>
          </a:xfrm>
          <a:prstGeom prst="rect">
            <a:avLst/>
          </a:prstGeom>
          <a:noFill/>
          <a:ln/>
        </p:spPr>
        <p:txBody>
          <a:bodyPr wrap="square" lIns="0" tIns="0" rIns="0" bIns="0" rtlCol="0" anchor="t"/>
          <a:lstStyle/>
          <a:p>
            <a:pPr algn="l" indent="0" marL="0">
              <a:lnSpc>
                <a:spcPts val="1495"/>
              </a:lnSpc>
              <a:buNone/>
            </a:pPr>
            <a:r>
              <a:rPr lang="en-US" sz="1150" dirty="0">
                <a:solidFill>
                  <a:srgbClr val="9BB0C6"/>
                </a:solidFill>
                <a:latin typeface="Be Vietnam Pro" pitchFamily="34" charset="0"/>
                <a:ea typeface="Be Vietnam Pro" pitchFamily="34" charset="-122"/>
                <a:cs typeface="Be Vietnam Pro" pitchFamily="34" charset="-120"/>
              </a:rPr>
              <a:t>Dựa trên vị trí, tồn kho và khả năng đáp ứng của từng kho.</a:t>
            </a:r>
            <a:endParaRPr lang="en-US" sz="1150" dirty="0"/>
          </a:p>
        </p:txBody>
      </p:sp>
      <p:sp>
        <p:nvSpPr>
          <p:cNvPr id="33" name="Shape 29"/>
          <p:cNvSpPr/>
          <p:nvPr/>
        </p:nvSpPr>
        <p:spPr>
          <a:xfrm>
            <a:off x="6053328" y="5155438"/>
            <a:ext cx="5425135" cy="868680"/>
          </a:xfrm>
          <a:prstGeom prst="roundRect">
            <a:avLst>
              <a:gd name="adj" fmla="val 12632"/>
            </a:avLst>
          </a:prstGeom>
          <a:solidFill>
            <a:srgbClr val="091B2D">
              <a:alpha val="66000"/>
            </a:srgbClr>
          </a:solidFill>
          <a:ln w="12700">
            <a:solidFill>
              <a:srgbClr val="FFFFFF">
                <a:alpha val="12000"/>
              </a:srgbClr>
            </a:solidFill>
            <a:prstDash val="solid"/>
          </a:ln>
        </p:spPr>
      </p:sp>
      <p:sp>
        <p:nvSpPr>
          <p:cNvPr id="34" name="Shape 30"/>
          <p:cNvSpPr/>
          <p:nvPr/>
        </p:nvSpPr>
        <p:spPr>
          <a:xfrm>
            <a:off x="6053328" y="5155438"/>
            <a:ext cx="50292" cy="868680"/>
          </a:xfrm>
          <a:prstGeom prst="roundRect">
            <a:avLst>
              <a:gd name="adj" fmla="val 54545"/>
            </a:avLst>
          </a:prstGeom>
          <a:solidFill>
            <a:srgbClr val="FB923C">
              <a:alpha val="95000"/>
            </a:srgbClr>
          </a:solidFill>
          <a:ln/>
        </p:spPr>
      </p:sp>
      <p:sp>
        <p:nvSpPr>
          <p:cNvPr id="35" name="Text 31"/>
          <p:cNvSpPr/>
          <p:nvPr/>
        </p:nvSpPr>
        <p:spPr>
          <a:xfrm>
            <a:off x="6327648" y="5320030"/>
            <a:ext cx="4967935" cy="304610"/>
          </a:xfrm>
          <a:prstGeom prst="rect">
            <a:avLst/>
          </a:prstGeom>
          <a:noFill/>
          <a:ln/>
        </p:spPr>
        <p:txBody>
          <a:bodyPr wrap="square" lIns="0" tIns="0" rIns="0" bIns="0" rtlCol="0" anchor="t"/>
          <a:lstStyle/>
          <a:p>
            <a:pPr algn="l" indent="0" marL="0">
              <a:lnSpc>
                <a:spcPts val="1823"/>
              </a:lnSpc>
              <a:buNone/>
            </a:pPr>
            <a:r>
              <a:rPr lang="en-US" sz="1350" b="1" dirty="0">
                <a:solidFill>
                  <a:srgbClr val="FFFFFF"/>
                </a:solidFill>
                <a:latin typeface="Be Vietnam Pro" pitchFamily="34" charset="0"/>
                <a:ea typeface="Be Vietnam Pro" pitchFamily="34" charset="-122"/>
                <a:cs typeface="Be Vietnam Pro" pitchFamily="34" charset="-120"/>
              </a:rPr>
              <a:t>Bản tham mưu sẵn sàng duyệt</a:t>
            </a:r>
            <a:endParaRPr lang="en-US" sz="1350" dirty="0"/>
          </a:p>
        </p:txBody>
      </p:sp>
      <p:sp>
        <p:nvSpPr>
          <p:cNvPr id="36" name="Text 32"/>
          <p:cNvSpPr/>
          <p:nvPr/>
        </p:nvSpPr>
        <p:spPr>
          <a:xfrm>
            <a:off x="6327648" y="5612638"/>
            <a:ext cx="4967935" cy="263017"/>
          </a:xfrm>
          <a:prstGeom prst="rect">
            <a:avLst/>
          </a:prstGeom>
          <a:noFill/>
          <a:ln/>
        </p:spPr>
        <p:txBody>
          <a:bodyPr wrap="square" lIns="0" tIns="0" rIns="0" bIns="0" rtlCol="0" anchor="t"/>
          <a:lstStyle/>
          <a:p>
            <a:pPr algn="l" indent="0" marL="0">
              <a:lnSpc>
                <a:spcPts val="1495"/>
              </a:lnSpc>
              <a:buNone/>
            </a:pPr>
            <a:r>
              <a:rPr lang="en-US" sz="1150" dirty="0">
                <a:solidFill>
                  <a:srgbClr val="9BB0C6"/>
                </a:solidFill>
                <a:latin typeface="Be Vietnam Pro" pitchFamily="34" charset="0"/>
                <a:ea typeface="Be Vietnam Pro" pitchFamily="34" charset="-122"/>
                <a:cs typeface="Be Vietnam Pro" pitchFamily="34" charset="-120"/>
              </a:rPr>
              <a:t>Người điều phối chỉ cần kiểm tra, chỉnh sửa và xác nhận phương án.</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4101F"/>
        </a:solidFill>
      </p:bgPr>
    </p:bg>
    <p:spTree>
      <p:nvGrpSpPr>
        <p:cNvPr id="1" name=""/>
        <p:cNvGrpSpPr/>
        <p:nvPr/>
      </p:nvGrpSpPr>
      <p:grpSpPr>
        <a:xfrm>
          <a:off x="0" y="0"/>
          <a:ext cx="0" cy="0"/>
          <a:chOff x="0" y="0"/>
          <a:chExt cx="0" cy="0"/>
        </a:xfrm>
      </p:grpSpPr>
      <p:pic>
        <p:nvPicPr>
          <p:cNvPr id="2" name="Image 0" descr="bg-content.jp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4101F">
              <a:alpha val="34000"/>
            </a:srgbClr>
          </a:solidFill>
          <a:ln/>
        </p:spPr>
      </p:sp>
      <p:pic>
        <p:nvPicPr>
          <p:cNvPr id="4" name="Image 1" descr="mark-sm.png">    </p:cNvPr>
          <p:cNvPicPr>
            <a:picLocks noChangeAspect="1"/>
          </p:cNvPicPr>
          <p:nvPr/>
        </p:nvPicPr>
        <p:blipFill>
          <a:blip r:embed="rId2"/>
          <a:stretch>
            <a:fillRect/>
          </a:stretch>
        </p:blipFill>
        <p:spPr>
          <a:xfrm>
            <a:off x="713232" y="365760"/>
            <a:ext cx="310896" cy="310896"/>
          </a:xfrm>
          <a:prstGeom prst="rect">
            <a:avLst/>
          </a:prstGeom>
        </p:spPr>
      </p:pic>
      <p:sp>
        <p:nvSpPr>
          <p:cNvPr id="5" name="Text 1"/>
          <p:cNvSpPr/>
          <p:nvPr/>
        </p:nvSpPr>
        <p:spPr>
          <a:xfrm>
            <a:off x="1170432" y="384048"/>
            <a:ext cx="3749040" cy="261747"/>
          </a:xfrm>
          <a:prstGeom prst="rect">
            <a:avLst/>
          </a:prstGeom>
          <a:noFill/>
          <a:ln/>
        </p:spPr>
        <p:txBody>
          <a:bodyPr wrap="square" lIns="0" tIns="0" rIns="0" bIns="0" rtlCol="0" anchor="t"/>
          <a:lstStyle/>
          <a:p>
            <a:pPr algn="l" indent="0" marL="0">
              <a:lnSpc>
                <a:spcPts val="1485"/>
              </a:lnSpc>
              <a:buNone/>
            </a:pPr>
            <a:r>
              <a:rPr lang="en-US" sz="1100" b="1" spc="160" kern="0" dirty="0">
                <a:solidFill>
                  <a:srgbClr val="6EE7A8"/>
                </a:solidFill>
                <a:latin typeface="Be Vietnam Pro" pitchFamily="34" charset="0"/>
                <a:ea typeface="Be Vietnam Pro" pitchFamily="34" charset="-122"/>
                <a:cs typeface="Be Vietnam Pro" pitchFamily="34" charset="-120"/>
              </a:rPr>
              <a:t>ỨNG PHÓ NHANH</a:t>
            </a:r>
            <a:endParaRPr lang="en-US" sz="1100" dirty="0"/>
          </a:p>
        </p:txBody>
      </p:sp>
      <p:sp>
        <p:nvSpPr>
          <p:cNvPr id="6" name="Text 2"/>
          <p:cNvSpPr/>
          <p:nvPr/>
        </p:nvSpPr>
        <p:spPr>
          <a:xfrm>
            <a:off x="8643823" y="384048"/>
            <a:ext cx="2834640" cy="261747"/>
          </a:xfrm>
          <a:prstGeom prst="rect">
            <a:avLst/>
          </a:prstGeom>
          <a:noFill/>
          <a:ln/>
        </p:spPr>
        <p:txBody>
          <a:bodyPr wrap="square" lIns="0" tIns="0" rIns="0" bIns="0" rtlCol="0" anchor="t"/>
          <a:lstStyle/>
          <a:p>
            <a:pPr algn="r" indent="0" marL="0">
              <a:lnSpc>
                <a:spcPts val="1485"/>
              </a:lnSpc>
              <a:buNone/>
            </a:pPr>
            <a:r>
              <a:rPr lang="en-US" sz="1100" b="1" dirty="0">
                <a:solidFill>
                  <a:srgbClr val="7189A2"/>
                </a:solidFill>
                <a:latin typeface="Be Vietnam Pro" pitchFamily="34" charset="0"/>
                <a:ea typeface="Be Vietnam Pro" pitchFamily="34" charset="-122"/>
                <a:cs typeface="Be Vietnam Pro" pitchFamily="34" charset="-120"/>
              </a:rPr>
              <a:t>08 / 24</a:t>
            </a:r>
            <a:endParaRPr lang="en-US" sz="1100" dirty="0"/>
          </a:p>
        </p:txBody>
      </p:sp>
      <p:sp>
        <p:nvSpPr>
          <p:cNvPr id="7" name="Shape 3"/>
          <p:cNvSpPr/>
          <p:nvPr/>
        </p:nvSpPr>
        <p:spPr>
          <a:xfrm>
            <a:off x="713232" y="868680"/>
            <a:ext cx="10765231" cy="10973"/>
          </a:xfrm>
          <a:prstGeom prst="rect">
            <a:avLst/>
          </a:prstGeom>
          <a:solidFill>
            <a:srgbClr val="FFFFFF">
              <a:alpha val="16000"/>
            </a:srgbClr>
          </a:solidFill>
          <a:ln/>
        </p:spPr>
      </p:sp>
      <p:sp>
        <p:nvSpPr>
          <p:cNvPr id="8" name="Text 4"/>
          <p:cNvSpPr/>
          <p:nvPr/>
        </p:nvSpPr>
        <p:spPr>
          <a:xfrm>
            <a:off x="713232" y="1133856"/>
            <a:ext cx="8321040" cy="270320"/>
          </a:xfrm>
          <a:prstGeom prst="rect">
            <a:avLst/>
          </a:prstGeom>
          <a:noFill/>
          <a:ln/>
        </p:spPr>
        <p:txBody>
          <a:bodyPr wrap="square" lIns="0" tIns="0" rIns="0" bIns="0" rtlCol="0" anchor="t"/>
          <a:lstStyle/>
          <a:p>
            <a:pPr algn="l" indent="0" marL="0">
              <a:lnSpc>
                <a:spcPts val="1553"/>
              </a:lnSpc>
              <a:buNone/>
            </a:pPr>
            <a:r>
              <a:rPr lang="en-US" sz="1150" b="1" spc="220" kern="0" dirty="0">
                <a:solidFill>
                  <a:srgbClr val="22C55E"/>
                </a:solidFill>
                <a:latin typeface="Be Vietnam Pro" pitchFamily="34" charset="0"/>
                <a:ea typeface="Be Vietnam Pro" pitchFamily="34" charset="-122"/>
                <a:cs typeface="Be Vietnam Pro" pitchFamily="34" charset="-120"/>
              </a:rPr>
              <a:t>QUY TRÌNH ĐIỀU PHỐI CỨU HỘ · BƯỚC 3 / 6</a:t>
            </a:r>
            <a:endParaRPr lang="en-US" sz="1150" dirty="0"/>
          </a:p>
        </p:txBody>
      </p:sp>
      <p:sp>
        <p:nvSpPr>
          <p:cNvPr id="9" name="Text 5"/>
          <p:cNvSpPr/>
          <p:nvPr/>
        </p:nvSpPr>
        <p:spPr>
          <a:xfrm>
            <a:off x="713232" y="1426464"/>
            <a:ext cx="10490911" cy="537718"/>
          </a:xfrm>
          <a:prstGeom prst="rect">
            <a:avLst/>
          </a:prstGeom>
          <a:noFill/>
          <a:ln/>
        </p:spPr>
        <p:txBody>
          <a:bodyPr wrap="square" lIns="0" tIns="0" rIns="0" bIns="0" rtlCol="0" anchor="t"/>
          <a:lstStyle/>
          <a:p>
            <a:pPr algn="l" indent="0" marL="0">
              <a:lnSpc>
                <a:spcPts val="3658"/>
              </a:lnSpc>
              <a:buNone/>
            </a:pPr>
            <a:r>
              <a:rPr lang="en-US" sz="3100" b="1" dirty="0">
                <a:solidFill>
                  <a:srgbClr val="FFFFFF"/>
                </a:solidFill>
                <a:latin typeface="Be Vietnam Pro" pitchFamily="34" charset="0"/>
                <a:ea typeface="Be Vietnam Pro" pitchFamily="34" charset="-122"/>
                <a:cs typeface="Be Vietnam Pro" pitchFamily="34" charset="-120"/>
              </a:rPr>
              <a:t>Chọn kho theo khoảng cách và khả năng đáp ứng</a:t>
            </a:r>
            <a:endParaRPr lang="en-US" sz="3100" dirty="0"/>
          </a:p>
        </p:txBody>
      </p:sp>
      <p:sp>
        <p:nvSpPr>
          <p:cNvPr id="10" name="Shape 6"/>
          <p:cNvSpPr/>
          <p:nvPr/>
        </p:nvSpPr>
        <p:spPr>
          <a:xfrm>
            <a:off x="713232" y="6272784"/>
            <a:ext cx="10765231" cy="9144"/>
          </a:xfrm>
          <a:prstGeom prst="rect">
            <a:avLst/>
          </a:prstGeom>
          <a:solidFill>
            <a:srgbClr val="FFFFFF">
              <a:alpha val="10000"/>
            </a:srgbClr>
          </a:solidFill>
          <a:ln/>
        </p:spPr>
      </p:sp>
      <p:sp>
        <p:nvSpPr>
          <p:cNvPr id="11" name="Text 7"/>
          <p:cNvSpPr/>
          <p:nvPr/>
        </p:nvSpPr>
        <p:spPr>
          <a:xfrm>
            <a:off x="8643823" y="6382512"/>
            <a:ext cx="2834640" cy="236030"/>
          </a:xfrm>
          <a:prstGeom prst="rect">
            <a:avLst/>
          </a:prstGeom>
          <a:noFill/>
          <a:ln/>
        </p:spPr>
        <p:txBody>
          <a:bodyPr wrap="square" lIns="0" tIns="0" rIns="0" bIns="0" rtlCol="0" anchor="t"/>
          <a:lstStyle/>
          <a:p>
            <a:pPr algn="r" indent="0" marL="0">
              <a:lnSpc>
                <a:spcPts val="1283"/>
              </a:lnSpc>
              <a:buNone/>
            </a:pPr>
            <a:r>
              <a:rPr lang="en-US" sz="950" dirty="0">
                <a:solidFill>
                  <a:srgbClr val="7189A2"/>
                </a:solidFill>
                <a:latin typeface="Be Vietnam Pro" pitchFamily="34" charset="0"/>
                <a:ea typeface="Be Vietnam Pro" pitchFamily="34" charset="-122"/>
                <a:cs typeface="Be Vietnam Pro" pitchFamily="34" charset="-120"/>
              </a:rPr>
              <a:t>ungphonhanh.life</a:t>
            </a:r>
            <a:endParaRPr lang="en-US" sz="950" dirty="0"/>
          </a:p>
        </p:txBody>
      </p:sp>
      <p:sp>
        <p:nvSpPr>
          <p:cNvPr id="12" name="Shape 8"/>
          <p:cNvSpPr/>
          <p:nvPr/>
        </p:nvSpPr>
        <p:spPr>
          <a:xfrm rot="5400000">
            <a:off x="4144670" y="2979166"/>
            <a:ext cx="219456" cy="219456"/>
          </a:xfrm>
          <a:prstGeom prst="triangle">
            <a:avLst/>
          </a:prstGeom>
          <a:solidFill>
            <a:srgbClr val="22C55E">
              <a:alpha val="75000"/>
            </a:srgbClr>
          </a:solidFill>
          <a:ln/>
        </p:spPr>
      </p:sp>
      <p:sp>
        <p:nvSpPr>
          <p:cNvPr id="13" name="Shape 9"/>
          <p:cNvSpPr/>
          <p:nvPr/>
        </p:nvSpPr>
        <p:spPr>
          <a:xfrm rot="16200000">
            <a:off x="4135526" y="5118862"/>
            <a:ext cx="219456" cy="219456"/>
          </a:xfrm>
          <a:prstGeom prst="triangle">
            <a:avLst/>
          </a:prstGeom>
          <a:solidFill>
            <a:srgbClr val="22C55E">
              <a:alpha val="75000"/>
            </a:srgbClr>
          </a:solidFill>
          <a:ln/>
        </p:spPr>
      </p:sp>
      <p:sp>
        <p:nvSpPr>
          <p:cNvPr id="14" name="Shape 10"/>
          <p:cNvSpPr/>
          <p:nvPr/>
        </p:nvSpPr>
        <p:spPr>
          <a:xfrm rot="5400000">
            <a:off x="7836713" y="2979166"/>
            <a:ext cx="219456" cy="219456"/>
          </a:xfrm>
          <a:prstGeom prst="triangle">
            <a:avLst/>
          </a:prstGeom>
          <a:solidFill>
            <a:srgbClr val="22C55E">
              <a:alpha val="75000"/>
            </a:srgbClr>
          </a:solidFill>
          <a:ln/>
        </p:spPr>
      </p:sp>
      <p:sp>
        <p:nvSpPr>
          <p:cNvPr id="15" name="Shape 11"/>
          <p:cNvSpPr/>
          <p:nvPr/>
        </p:nvSpPr>
        <p:spPr>
          <a:xfrm rot="16200000">
            <a:off x="7827569" y="5118862"/>
            <a:ext cx="219456" cy="219456"/>
          </a:xfrm>
          <a:prstGeom prst="triangle">
            <a:avLst/>
          </a:prstGeom>
          <a:solidFill>
            <a:srgbClr val="22C55E">
              <a:alpha val="75000"/>
            </a:srgbClr>
          </a:solidFill>
          <a:ln/>
        </p:spPr>
      </p:sp>
      <p:sp>
        <p:nvSpPr>
          <p:cNvPr id="16" name="Shape 12"/>
          <p:cNvSpPr/>
          <p:nvPr/>
        </p:nvSpPr>
        <p:spPr>
          <a:xfrm>
            <a:off x="9777832" y="3957574"/>
            <a:ext cx="20117" cy="246888"/>
          </a:xfrm>
          <a:prstGeom prst="rect">
            <a:avLst/>
          </a:prstGeom>
          <a:solidFill>
            <a:srgbClr val="2E7D55">
              <a:alpha val="85000"/>
            </a:srgbClr>
          </a:solidFill>
          <a:ln/>
        </p:spPr>
      </p:sp>
      <p:sp>
        <p:nvSpPr>
          <p:cNvPr id="17" name="Shape 13"/>
          <p:cNvSpPr/>
          <p:nvPr/>
        </p:nvSpPr>
        <p:spPr>
          <a:xfrm rot="10800000">
            <a:off x="9696450" y="4181602"/>
            <a:ext cx="182880" cy="182880"/>
          </a:xfrm>
          <a:prstGeom prst="triangle">
            <a:avLst/>
          </a:prstGeom>
          <a:solidFill>
            <a:srgbClr val="22C55E">
              <a:alpha val="75000"/>
            </a:srgbClr>
          </a:solidFill>
          <a:ln/>
        </p:spPr>
      </p:sp>
      <p:sp>
        <p:nvSpPr>
          <p:cNvPr id="18" name="Shape 14"/>
          <p:cNvSpPr/>
          <p:nvPr/>
        </p:nvSpPr>
        <p:spPr>
          <a:xfrm>
            <a:off x="713232" y="2220214"/>
            <a:ext cx="3381146" cy="1737360"/>
          </a:xfrm>
          <a:prstGeom prst="roundRect">
            <a:avLst>
              <a:gd name="adj" fmla="val 6316"/>
            </a:avLst>
          </a:prstGeom>
          <a:solidFill>
            <a:srgbClr val="091B2D">
              <a:alpha val="55000"/>
            </a:srgbClr>
          </a:solidFill>
          <a:ln w="12700">
            <a:solidFill>
              <a:srgbClr val="FFFFFF">
                <a:alpha val="10000"/>
              </a:srgbClr>
            </a:solidFill>
            <a:prstDash val="solid"/>
          </a:ln>
        </p:spPr>
      </p:sp>
      <p:sp>
        <p:nvSpPr>
          <p:cNvPr id="19" name="Shape 15"/>
          <p:cNvSpPr/>
          <p:nvPr/>
        </p:nvSpPr>
        <p:spPr>
          <a:xfrm>
            <a:off x="713232" y="2220214"/>
            <a:ext cx="50292" cy="1737360"/>
          </a:xfrm>
          <a:prstGeom prst="roundRect">
            <a:avLst>
              <a:gd name="adj" fmla="val 54545"/>
            </a:avLst>
          </a:prstGeom>
          <a:solidFill>
            <a:srgbClr val="3C5468">
              <a:alpha val="95000"/>
            </a:srgbClr>
          </a:solidFill>
          <a:ln/>
        </p:spPr>
      </p:sp>
      <p:sp>
        <p:nvSpPr>
          <p:cNvPr id="20" name="Shape 16"/>
          <p:cNvSpPr/>
          <p:nvPr/>
        </p:nvSpPr>
        <p:spPr>
          <a:xfrm>
            <a:off x="987552" y="2439670"/>
            <a:ext cx="420624" cy="420624"/>
          </a:xfrm>
          <a:prstGeom prst="roundRect">
            <a:avLst>
              <a:gd name="adj" fmla="val 50000"/>
            </a:avLst>
          </a:prstGeom>
          <a:solidFill>
            <a:srgbClr val="04101F">
              <a:alpha val="88000"/>
            </a:srgbClr>
          </a:solidFill>
          <a:ln/>
        </p:spPr>
      </p:sp>
      <p:sp>
        <p:nvSpPr>
          <p:cNvPr id="21" name="Shape 17"/>
          <p:cNvSpPr/>
          <p:nvPr/>
        </p:nvSpPr>
        <p:spPr>
          <a:xfrm>
            <a:off x="987552" y="2439670"/>
            <a:ext cx="420624" cy="420624"/>
          </a:xfrm>
          <a:prstGeom prst="roundRect">
            <a:avLst>
              <a:gd name="adj" fmla="val 50000"/>
            </a:avLst>
          </a:prstGeom>
          <a:solidFill>
            <a:srgbClr val="3C5468">
              <a:alpha val="20000"/>
            </a:srgbClr>
          </a:solidFill>
          <a:ln w="15240">
            <a:solidFill>
              <a:srgbClr val="3C5468">
                <a:alpha val="70000"/>
              </a:srgbClr>
            </a:solidFill>
            <a:prstDash val="solid"/>
          </a:ln>
        </p:spPr>
      </p:sp>
      <p:sp>
        <p:nvSpPr>
          <p:cNvPr id="22" name="Text 18"/>
          <p:cNvSpPr/>
          <p:nvPr/>
        </p:nvSpPr>
        <p:spPr>
          <a:xfrm>
            <a:off x="941832" y="2512822"/>
            <a:ext cx="512064" cy="330327"/>
          </a:xfrm>
          <a:prstGeom prst="rect">
            <a:avLst/>
          </a:prstGeom>
          <a:noFill/>
          <a:ln/>
        </p:spPr>
        <p:txBody>
          <a:bodyPr wrap="square" lIns="0" tIns="0" rIns="0" bIns="0" rtlCol="0" anchor="t"/>
          <a:lstStyle/>
          <a:p>
            <a:pPr algn="ctr" indent="0" marL="0">
              <a:lnSpc>
                <a:spcPts val="2025"/>
              </a:lnSpc>
              <a:buNone/>
            </a:pPr>
            <a:r>
              <a:rPr lang="en-US" sz="1500" b="1" dirty="0">
                <a:solidFill>
                  <a:srgbClr val="3C5468"/>
                </a:solidFill>
                <a:latin typeface="Be Vietnam Pro" pitchFamily="34" charset="0"/>
                <a:ea typeface="Be Vietnam Pro" pitchFamily="34" charset="-122"/>
                <a:cs typeface="Be Vietnam Pro" pitchFamily="34" charset="-120"/>
              </a:rPr>
              <a:t>1</a:t>
            </a:r>
            <a:endParaRPr lang="en-US" sz="1500" dirty="0"/>
          </a:p>
        </p:txBody>
      </p:sp>
      <p:sp>
        <p:nvSpPr>
          <p:cNvPr id="23" name="Text 19"/>
          <p:cNvSpPr/>
          <p:nvPr/>
        </p:nvSpPr>
        <p:spPr>
          <a:xfrm>
            <a:off x="1536192" y="2485390"/>
            <a:ext cx="2393594" cy="295402"/>
          </a:xfrm>
          <a:prstGeom prst="rect">
            <a:avLst/>
          </a:prstGeom>
          <a:noFill/>
          <a:ln/>
        </p:spPr>
        <p:txBody>
          <a:bodyPr wrap="square" lIns="0" tIns="0" rIns="0" bIns="0" rtlCol="0" anchor="t"/>
          <a:lstStyle/>
          <a:p>
            <a:pPr algn="l" indent="0" marL="0">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Ghi nhận tình huống</a:t>
            </a:r>
            <a:endParaRPr lang="en-US" sz="1400" dirty="0"/>
          </a:p>
        </p:txBody>
      </p:sp>
      <p:sp>
        <p:nvSpPr>
          <p:cNvPr id="24" name="Text 20"/>
          <p:cNvSpPr/>
          <p:nvPr/>
        </p:nvSpPr>
        <p:spPr>
          <a:xfrm>
            <a:off x="987552" y="3098038"/>
            <a:ext cx="2923946" cy="487934"/>
          </a:xfrm>
          <a:prstGeom prst="rect">
            <a:avLst/>
          </a:prstGeom>
          <a:noFill/>
          <a:ln/>
        </p:spPr>
        <p:txBody>
          <a:bodyPr wrap="square" lIns="0" tIns="0" rIns="0" bIns="0" rtlCol="0" anchor="t"/>
          <a:lstStyle/>
          <a:p>
            <a:pPr algn="l" indent="0" marL="0">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Trưởng thôn báo cáo và ghim điểm gặp</a:t>
            </a:r>
            <a:endParaRPr lang="en-US" sz="1150" dirty="0"/>
          </a:p>
          <a:p>
            <a:pPr algn="l" indent="0" marL="0">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nạn lên bản đồ.</a:t>
            </a:r>
            <a:endParaRPr lang="en-US" sz="1150" dirty="0"/>
          </a:p>
        </p:txBody>
      </p:sp>
      <p:sp>
        <p:nvSpPr>
          <p:cNvPr id="25" name="Shape 21"/>
          <p:cNvSpPr/>
          <p:nvPr/>
        </p:nvSpPr>
        <p:spPr>
          <a:xfrm>
            <a:off x="4405274" y="2220214"/>
            <a:ext cx="3381146" cy="1737360"/>
          </a:xfrm>
          <a:prstGeom prst="roundRect">
            <a:avLst>
              <a:gd name="adj" fmla="val 6316"/>
            </a:avLst>
          </a:prstGeom>
          <a:solidFill>
            <a:srgbClr val="091B2D">
              <a:alpha val="55000"/>
            </a:srgbClr>
          </a:solidFill>
          <a:ln w="12700">
            <a:solidFill>
              <a:srgbClr val="FFFFFF">
                <a:alpha val="10000"/>
              </a:srgbClr>
            </a:solidFill>
            <a:prstDash val="solid"/>
          </a:ln>
        </p:spPr>
      </p:sp>
      <p:sp>
        <p:nvSpPr>
          <p:cNvPr id="26" name="Shape 22"/>
          <p:cNvSpPr/>
          <p:nvPr/>
        </p:nvSpPr>
        <p:spPr>
          <a:xfrm>
            <a:off x="4405274" y="2220214"/>
            <a:ext cx="50292" cy="1737360"/>
          </a:xfrm>
          <a:prstGeom prst="roundRect">
            <a:avLst>
              <a:gd name="adj" fmla="val 54545"/>
            </a:avLst>
          </a:prstGeom>
          <a:solidFill>
            <a:srgbClr val="3C5468">
              <a:alpha val="95000"/>
            </a:srgbClr>
          </a:solidFill>
          <a:ln/>
        </p:spPr>
      </p:sp>
      <p:sp>
        <p:nvSpPr>
          <p:cNvPr id="27" name="Shape 23"/>
          <p:cNvSpPr/>
          <p:nvPr/>
        </p:nvSpPr>
        <p:spPr>
          <a:xfrm>
            <a:off x="4679594" y="2439670"/>
            <a:ext cx="420624" cy="420624"/>
          </a:xfrm>
          <a:prstGeom prst="roundRect">
            <a:avLst>
              <a:gd name="adj" fmla="val 50000"/>
            </a:avLst>
          </a:prstGeom>
          <a:solidFill>
            <a:srgbClr val="04101F">
              <a:alpha val="88000"/>
            </a:srgbClr>
          </a:solidFill>
          <a:ln/>
        </p:spPr>
      </p:sp>
      <p:sp>
        <p:nvSpPr>
          <p:cNvPr id="28" name="Shape 24"/>
          <p:cNvSpPr/>
          <p:nvPr/>
        </p:nvSpPr>
        <p:spPr>
          <a:xfrm>
            <a:off x="4679594" y="2439670"/>
            <a:ext cx="420624" cy="420624"/>
          </a:xfrm>
          <a:prstGeom prst="roundRect">
            <a:avLst>
              <a:gd name="adj" fmla="val 50000"/>
            </a:avLst>
          </a:prstGeom>
          <a:solidFill>
            <a:srgbClr val="3C5468">
              <a:alpha val="20000"/>
            </a:srgbClr>
          </a:solidFill>
          <a:ln w="15240">
            <a:solidFill>
              <a:srgbClr val="3C5468">
                <a:alpha val="70000"/>
              </a:srgbClr>
            </a:solidFill>
            <a:prstDash val="solid"/>
          </a:ln>
        </p:spPr>
      </p:sp>
      <p:sp>
        <p:nvSpPr>
          <p:cNvPr id="29" name="Text 25"/>
          <p:cNvSpPr/>
          <p:nvPr/>
        </p:nvSpPr>
        <p:spPr>
          <a:xfrm>
            <a:off x="4633874" y="2512822"/>
            <a:ext cx="512064" cy="330327"/>
          </a:xfrm>
          <a:prstGeom prst="rect">
            <a:avLst/>
          </a:prstGeom>
          <a:noFill/>
          <a:ln/>
        </p:spPr>
        <p:txBody>
          <a:bodyPr wrap="square" lIns="0" tIns="0" rIns="0" bIns="0" rtlCol="0" anchor="t"/>
          <a:lstStyle/>
          <a:p>
            <a:pPr algn="ctr" indent="0" marL="0">
              <a:lnSpc>
                <a:spcPts val="2025"/>
              </a:lnSpc>
              <a:buNone/>
            </a:pPr>
            <a:r>
              <a:rPr lang="en-US" sz="1500" b="1" dirty="0">
                <a:solidFill>
                  <a:srgbClr val="3C5468"/>
                </a:solidFill>
                <a:latin typeface="Be Vietnam Pro" pitchFamily="34" charset="0"/>
                <a:ea typeface="Be Vietnam Pro" pitchFamily="34" charset="-122"/>
                <a:cs typeface="Be Vietnam Pro" pitchFamily="34" charset="-120"/>
              </a:rPr>
              <a:t>2</a:t>
            </a:r>
            <a:endParaRPr lang="en-US" sz="1500" dirty="0"/>
          </a:p>
        </p:txBody>
      </p:sp>
      <p:sp>
        <p:nvSpPr>
          <p:cNvPr id="30" name="Text 26"/>
          <p:cNvSpPr/>
          <p:nvPr/>
        </p:nvSpPr>
        <p:spPr>
          <a:xfrm>
            <a:off x="5228234" y="2485390"/>
            <a:ext cx="2393594" cy="517652"/>
          </a:xfrm>
          <a:prstGeom prst="rect">
            <a:avLst/>
          </a:prstGeom>
          <a:noFill/>
          <a:ln/>
        </p:spPr>
        <p:txBody>
          <a:bodyPr wrap="square" lIns="0" tIns="0" rIns="0" bIns="0" rtlCol="0" anchor="t"/>
          <a:lstStyle/>
          <a:p>
            <a:pPr algn="l" indent="0" marL="0">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AI phân tích và con người</a:t>
            </a:r>
            <a:endParaRPr lang="en-US" sz="1400" dirty="0"/>
          </a:p>
          <a:p>
            <a:pPr algn="l" indent="0" marL="0">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điều phối</a:t>
            </a:r>
            <a:endParaRPr lang="en-US" sz="1400" dirty="0"/>
          </a:p>
        </p:txBody>
      </p:sp>
      <p:sp>
        <p:nvSpPr>
          <p:cNvPr id="31" name="Text 27"/>
          <p:cNvSpPr/>
          <p:nvPr/>
        </p:nvSpPr>
        <p:spPr>
          <a:xfrm>
            <a:off x="4679594" y="3098038"/>
            <a:ext cx="2923946" cy="695325"/>
          </a:xfrm>
          <a:prstGeom prst="rect">
            <a:avLst/>
          </a:prstGeom>
          <a:noFill/>
          <a:ln/>
        </p:spPr>
        <p:txBody>
          <a:bodyPr wrap="square" lIns="0" tIns="0" rIns="0" bIns="0" rtlCol="0" anchor="t"/>
          <a:lstStyle/>
          <a:p>
            <a:pPr algn="l" indent="0" marL="0">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AI đọc mô tả bằng lời thành số liệu và</a:t>
            </a:r>
            <a:endParaRPr lang="en-US" sz="1150" dirty="0"/>
          </a:p>
          <a:p>
            <a:pPr algn="l" indent="0" marL="0">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đề xuất vật tư, người điều phối sẽ chốt</a:t>
            </a:r>
            <a:endParaRPr lang="en-US" sz="1150" dirty="0"/>
          </a:p>
          <a:p>
            <a:pPr algn="l" indent="0" marL="0">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phương án.</a:t>
            </a:r>
            <a:endParaRPr lang="en-US" sz="1150" dirty="0"/>
          </a:p>
        </p:txBody>
      </p:sp>
      <p:sp>
        <p:nvSpPr>
          <p:cNvPr id="32" name="Shape 28"/>
          <p:cNvSpPr/>
          <p:nvPr/>
        </p:nvSpPr>
        <p:spPr>
          <a:xfrm>
            <a:off x="8042453" y="2165350"/>
            <a:ext cx="3490874" cy="1847088"/>
          </a:xfrm>
          <a:prstGeom prst="roundRect">
            <a:avLst>
              <a:gd name="adj" fmla="val 7921"/>
            </a:avLst>
          </a:prstGeom>
          <a:solidFill>
            <a:srgbClr val="22C55E">
              <a:alpha val="18000"/>
            </a:srgbClr>
          </a:solidFill>
          <a:ln/>
        </p:spPr>
      </p:sp>
      <p:sp>
        <p:nvSpPr>
          <p:cNvPr id="33" name="Shape 29"/>
          <p:cNvSpPr/>
          <p:nvPr/>
        </p:nvSpPr>
        <p:spPr>
          <a:xfrm>
            <a:off x="8097317" y="2220214"/>
            <a:ext cx="3381146" cy="1737360"/>
          </a:xfrm>
          <a:prstGeom prst="roundRect">
            <a:avLst>
              <a:gd name="adj" fmla="val 6316"/>
            </a:avLst>
          </a:prstGeom>
          <a:solidFill>
            <a:srgbClr val="091B2D">
              <a:alpha val="78000"/>
            </a:srgbClr>
          </a:solidFill>
          <a:ln w="19050">
            <a:solidFill>
              <a:srgbClr val="22C55E">
                <a:alpha val="50000"/>
              </a:srgbClr>
            </a:solidFill>
            <a:prstDash val="solid"/>
          </a:ln>
        </p:spPr>
      </p:sp>
      <p:sp>
        <p:nvSpPr>
          <p:cNvPr id="34" name="Shape 30"/>
          <p:cNvSpPr/>
          <p:nvPr/>
        </p:nvSpPr>
        <p:spPr>
          <a:xfrm>
            <a:off x="8097317" y="2220214"/>
            <a:ext cx="50292" cy="1737360"/>
          </a:xfrm>
          <a:prstGeom prst="roundRect">
            <a:avLst>
              <a:gd name="adj" fmla="val 54545"/>
            </a:avLst>
          </a:prstGeom>
          <a:solidFill>
            <a:srgbClr val="22C55E">
              <a:alpha val="95000"/>
            </a:srgbClr>
          </a:solidFill>
          <a:ln/>
        </p:spPr>
      </p:sp>
      <p:sp>
        <p:nvSpPr>
          <p:cNvPr id="35" name="Shape 31"/>
          <p:cNvSpPr/>
          <p:nvPr/>
        </p:nvSpPr>
        <p:spPr>
          <a:xfrm>
            <a:off x="8371637" y="2439670"/>
            <a:ext cx="420624" cy="420624"/>
          </a:xfrm>
          <a:prstGeom prst="roundRect">
            <a:avLst>
              <a:gd name="adj" fmla="val 50000"/>
            </a:avLst>
          </a:prstGeom>
          <a:solidFill>
            <a:srgbClr val="04101F">
              <a:alpha val="88000"/>
            </a:srgbClr>
          </a:solidFill>
          <a:ln/>
        </p:spPr>
      </p:sp>
      <p:sp>
        <p:nvSpPr>
          <p:cNvPr id="36" name="Shape 32"/>
          <p:cNvSpPr/>
          <p:nvPr/>
        </p:nvSpPr>
        <p:spPr>
          <a:xfrm>
            <a:off x="8371637" y="2439670"/>
            <a:ext cx="420624" cy="420624"/>
          </a:xfrm>
          <a:prstGeom prst="roundRect">
            <a:avLst>
              <a:gd name="adj" fmla="val 50000"/>
            </a:avLst>
          </a:prstGeom>
          <a:solidFill>
            <a:srgbClr val="22C55E">
              <a:alpha val="20000"/>
            </a:srgbClr>
          </a:solidFill>
          <a:ln w="15240">
            <a:solidFill>
              <a:srgbClr val="22C55E">
                <a:alpha val="70000"/>
              </a:srgbClr>
            </a:solidFill>
            <a:prstDash val="solid"/>
          </a:ln>
        </p:spPr>
      </p:sp>
      <p:sp>
        <p:nvSpPr>
          <p:cNvPr id="37" name="Text 33"/>
          <p:cNvSpPr/>
          <p:nvPr/>
        </p:nvSpPr>
        <p:spPr>
          <a:xfrm>
            <a:off x="8325917" y="2512822"/>
            <a:ext cx="512064" cy="330327"/>
          </a:xfrm>
          <a:prstGeom prst="rect">
            <a:avLst/>
          </a:prstGeom>
          <a:noFill/>
          <a:ln/>
        </p:spPr>
        <p:txBody>
          <a:bodyPr wrap="square" lIns="0" tIns="0" rIns="0" bIns="0" rtlCol="0" anchor="t"/>
          <a:lstStyle/>
          <a:p>
            <a:pPr algn="ctr" indent="0" marL="0">
              <a:lnSpc>
                <a:spcPts val="2025"/>
              </a:lnSpc>
              <a:buNone/>
            </a:pPr>
            <a:r>
              <a:rPr lang="en-US" sz="1500" b="1" dirty="0">
                <a:solidFill>
                  <a:srgbClr val="22C55E"/>
                </a:solidFill>
                <a:latin typeface="Be Vietnam Pro" pitchFamily="34" charset="0"/>
                <a:ea typeface="Be Vietnam Pro" pitchFamily="34" charset="-122"/>
                <a:cs typeface="Be Vietnam Pro" pitchFamily="34" charset="-120"/>
              </a:rPr>
              <a:t>3</a:t>
            </a:r>
            <a:endParaRPr lang="en-US" sz="1500" dirty="0"/>
          </a:p>
        </p:txBody>
      </p:sp>
      <p:sp>
        <p:nvSpPr>
          <p:cNvPr id="38" name="Text 34"/>
          <p:cNvSpPr/>
          <p:nvPr/>
        </p:nvSpPr>
        <p:spPr>
          <a:xfrm>
            <a:off x="8920277" y="2485390"/>
            <a:ext cx="2393594" cy="517652"/>
          </a:xfrm>
          <a:prstGeom prst="rect">
            <a:avLst/>
          </a:prstGeom>
          <a:noFill/>
          <a:ln/>
        </p:spPr>
        <p:txBody>
          <a:bodyPr wrap="square" lIns="0" tIns="0" rIns="0" bIns="0" rtlCol="0" anchor="t"/>
          <a:lstStyle/>
          <a:p>
            <a:pPr algn="l" indent="0" marL="0">
              <a:lnSpc>
                <a:spcPts val="1750"/>
              </a:lnSpc>
              <a:buNone/>
            </a:pPr>
            <a:r>
              <a:rPr lang="en-US" sz="1400" b="1" dirty="0">
                <a:solidFill>
                  <a:srgbClr val="FFFFFF"/>
                </a:solidFill>
                <a:latin typeface="Be Vietnam Pro" pitchFamily="34" charset="0"/>
                <a:ea typeface="Be Vietnam Pro" pitchFamily="34" charset="-122"/>
                <a:cs typeface="Be Vietnam Pro" pitchFamily="34" charset="-120"/>
              </a:rPr>
              <a:t>Chọn kho tiếp tế gần</a:t>
            </a:r>
            <a:endParaRPr lang="en-US" sz="1400" dirty="0"/>
          </a:p>
          <a:p>
            <a:pPr algn="l" indent="0" marL="0">
              <a:lnSpc>
                <a:spcPts val="1750"/>
              </a:lnSpc>
              <a:buNone/>
            </a:pPr>
            <a:r>
              <a:rPr lang="en-US" sz="1400" b="1" dirty="0">
                <a:solidFill>
                  <a:srgbClr val="FFFFFF"/>
                </a:solidFill>
                <a:latin typeface="Be Vietnam Pro" pitchFamily="34" charset="0"/>
                <a:ea typeface="Be Vietnam Pro" pitchFamily="34" charset="-122"/>
                <a:cs typeface="Be Vietnam Pro" pitchFamily="34" charset="-120"/>
              </a:rPr>
              <a:t>điểm gặp nạn nhất</a:t>
            </a:r>
            <a:endParaRPr lang="en-US" sz="1400" dirty="0"/>
          </a:p>
        </p:txBody>
      </p:sp>
      <p:sp>
        <p:nvSpPr>
          <p:cNvPr id="39" name="Text 35"/>
          <p:cNvSpPr/>
          <p:nvPr/>
        </p:nvSpPr>
        <p:spPr>
          <a:xfrm>
            <a:off x="8371637" y="3098038"/>
            <a:ext cx="2923946" cy="487934"/>
          </a:xfrm>
          <a:prstGeom prst="rect">
            <a:avLst/>
          </a:prstGeom>
          <a:noFill/>
          <a:ln/>
        </p:spPr>
        <p:txBody>
          <a:bodyPr wrap="square" lIns="0" tIns="0" rIns="0" bIns="0" rtlCol="0" anchor="t"/>
          <a:lstStyle/>
          <a:p>
            <a:pPr algn="l" indent="0" marL="0">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Hệ thống cân nhắc vị trí, tồn kho và khả</a:t>
            </a:r>
            <a:endParaRPr lang="en-US" sz="1150" dirty="0"/>
          </a:p>
          <a:p>
            <a:pPr algn="l" indent="0" marL="0">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năng đáp ứng của từng kho.</a:t>
            </a:r>
            <a:endParaRPr lang="en-US" sz="1150" dirty="0"/>
          </a:p>
        </p:txBody>
      </p:sp>
      <p:sp>
        <p:nvSpPr>
          <p:cNvPr id="40" name="Shape 36"/>
          <p:cNvSpPr/>
          <p:nvPr/>
        </p:nvSpPr>
        <p:spPr>
          <a:xfrm>
            <a:off x="8097317" y="4359910"/>
            <a:ext cx="3381146" cy="1737360"/>
          </a:xfrm>
          <a:prstGeom prst="roundRect">
            <a:avLst>
              <a:gd name="adj" fmla="val 6316"/>
            </a:avLst>
          </a:prstGeom>
          <a:solidFill>
            <a:srgbClr val="091B2D">
              <a:alpha val="55000"/>
            </a:srgbClr>
          </a:solidFill>
          <a:ln w="12700">
            <a:solidFill>
              <a:srgbClr val="FFFFFF">
                <a:alpha val="10000"/>
              </a:srgbClr>
            </a:solidFill>
            <a:prstDash val="solid"/>
          </a:ln>
        </p:spPr>
      </p:sp>
      <p:sp>
        <p:nvSpPr>
          <p:cNvPr id="41" name="Shape 37"/>
          <p:cNvSpPr/>
          <p:nvPr/>
        </p:nvSpPr>
        <p:spPr>
          <a:xfrm>
            <a:off x="8097317" y="4359910"/>
            <a:ext cx="50292" cy="1737360"/>
          </a:xfrm>
          <a:prstGeom prst="roundRect">
            <a:avLst>
              <a:gd name="adj" fmla="val 54545"/>
            </a:avLst>
          </a:prstGeom>
          <a:solidFill>
            <a:srgbClr val="3C5468">
              <a:alpha val="95000"/>
            </a:srgbClr>
          </a:solidFill>
          <a:ln/>
        </p:spPr>
      </p:sp>
      <p:sp>
        <p:nvSpPr>
          <p:cNvPr id="42" name="Shape 38"/>
          <p:cNvSpPr/>
          <p:nvPr/>
        </p:nvSpPr>
        <p:spPr>
          <a:xfrm>
            <a:off x="8371637" y="4579366"/>
            <a:ext cx="420624" cy="420624"/>
          </a:xfrm>
          <a:prstGeom prst="roundRect">
            <a:avLst>
              <a:gd name="adj" fmla="val 50000"/>
            </a:avLst>
          </a:prstGeom>
          <a:solidFill>
            <a:srgbClr val="04101F">
              <a:alpha val="88000"/>
            </a:srgbClr>
          </a:solidFill>
          <a:ln/>
        </p:spPr>
      </p:sp>
      <p:sp>
        <p:nvSpPr>
          <p:cNvPr id="43" name="Shape 39"/>
          <p:cNvSpPr/>
          <p:nvPr/>
        </p:nvSpPr>
        <p:spPr>
          <a:xfrm>
            <a:off x="8371637" y="4579366"/>
            <a:ext cx="420624" cy="420624"/>
          </a:xfrm>
          <a:prstGeom prst="roundRect">
            <a:avLst>
              <a:gd name="adj" fmla="val 50000"/>
            </a:avLst>
          </a:prstGeom>
          <a:solidFill>
            <a:srgbClr val="3C5468">
              <a:alpha val="20000"/>
            </a:srgbClr>
          </a:solidFill>
          <a:ln w="15240">
            <a:solidFill>
              <a:srgbClr val="3C5468">
                <a:alpha val="70000"/>
              </a:srgbClr>
            </a:solidFill>
            <a:prstDash val="solid"/>
          </a:ln>
        </p:spPr>
      </p:sp>
      <p:sp>
        <p:nvSpPr>
          <p:cNvPr id="44" name="Text 40"/>
          <p:cNvSpPr/>
          <p:nvPr/>
        </p:nvSpPr>
        <p:spPr>
          <a:xfrm>
            <a:off x="8325917" y="4652518"/>
            <a:ext cx="512064" cy="330327"/>
          </a:xfrm>
          <a:prstGeom prst="rect">
            <a:avLst/>
          </a:prstGeom>
          <a:noFill/>
          <a:ln/>
        </p:spPr>
        <p:txBody>
          <a:bodyPr wrap="square" lIns="0" tIns="0" rIns="0" bIns="0" rtlCol="0" anchor="t"/>
          <a:lstStyle/>
          <a:p>
            <a:pPr algn="ctr" indent="0" marL="0">
              <a:lnSpc>
                <a:spcPts val="2025"/>
              </a:lnSpc>
              <a:buNone/>
            </a:pPr>
            <a:r>
              <a:rPr lang="en-US" sz="1500" b="1" dirty="0">
                <a:solidFill>
                  <a:srgbClr val="3C5468"/>
                </a:solidFill>
                <a:latin typeface="Be Vietnam Pro" pitchFamily="34" charset="0"/>
                <a:ea typeface="Be Vietnam Pro" pitchFamily="34" charset="-122"/>
                <a:cs typeface="Be Vietnam Pro" pitchFamily="34" charset="-120"/>
              </a:rPr>
              <a:t>4</a:t>
            </a:r>
            <a:endParaRPr lang="en-US" sz="1500" dirty="0"/>
          </a:p>
        </p:txBody>
      </p:sp>
      <p:sp>
        <p:nvSpPr>
          <p:cNvPr id="45" name="Text 41"/>
          <p:cNvSpPr/>
          <p:nvPr/>
        </p:nvSpPr>
        <p:spPr>
          <a:xfrm>
            <a:off x="8920277" y="4625086"/>
            <a:ext cx="2393594" cy="295402"/>
          </a:xfrm>
          <a:prstGeom prst="rect">
            <a:avLst/>
          </a:prstGeom>
          <a:noFill/>
          <a:ln/>
        </p:spPr>
        <p:txBody>
          <a:bodyPr wrap="square" lIns="0" tIns="0" rIns="0" bIns="0" rtlCol="0" anchor="t"/>
          <a:lstStyle/>
          <a:p>
            <a:pPr algn="l" indent="0" marL="0">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Xác nhận &amp; thông báo</a:t>
            </a:r>
            <a:endParaRPr lang="en-US" sz="1400" dirty="0"/>
          </a:p>
        </p:txBody>
      </p:sp>
      <p:sp>
        <p:nvSpPr>
          <p:cNvPr id="46" name="Text 42"/>
          <p:cNvSpPr/>
          <p:nvPr/>
        </p:nvSpPr>
        <p:spPr>
          <a:xfrm>
            <a:off x="8371637" y="5237734"/>
            <a:ext cx="2923946" cy="487934"/>
          </a:xfrm>
          <a:prstGeom prst="rect">
            <a:avLst/>
          </a:prstGeom>
          <a:noFill/>
          <a:ln/>
        </p:spPr>
        <p:txBody>
          <a:bodyPr wrap="square" lIns="0" tIns="0" rIns="0" bIns="0" rtlCol="0" anchor="t"/>
          <a:lstStyle/>
          <a:p>
            <a:pPr algn="l" indent="0" marL="0">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Kho nhận lệnh chuẩn bị, xuất vật tư; đội</a:t>
            </a:r>
            <a:endParaRPr lang="en-US" sz="1150" dirty="0"/>
          </a:p>
          <a:p>
            <a:pPr algn="l" indent="0" marL="0">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cứu hộ nhận nhiệm vụ cùng lúc.</a:t>
            </a:r>
            <a:endParaRPr lang="en-US" sz="1150" dirty="0"/>
          </a:p>
        </p:txBody>
      </p:sp>
      <p:sp>
        <p:nvSpPr>
          <p:cNvPr id="47" name="Shape 43"/>
          <p:cNvSpPr/>
          <p:nvPr/>
        </p:nvSpPr>
        <p:spPr>
          <a:xfrm>
            <a:off x="4405274" y="4359910"/>
            <a:ext cx="3381146" cy="1737360"/>
          </a:xfrm>
          <a:prstGeom prst="roundRect">
            <a:avLst>
              <a:gd name="adj" fmla="val 6316"/>
            </a:avLst>
          </a:prstGeom>
          <a:solidFill>
            <a:srgbClr val="091B2D">
              <a:alpha val="55000"/>
            </a:srgbClr>
          </a:solidFill>
          <a:ln w="12700">
            <a:solidFill>
              <a:srgbClr val="FFFFFF">
                <a:alpha val="10000"/>
              </a:srgbClr>
            </a:solidFill>
            <a:prstDash val="solid"/>
          </a:ln>
        </p:spPr>
      </p:sp>
      <p:sp>
        <p:nvSpPr>
          <p:cNvPr id="48" name="Shape 44"/>
          <p:cNvSpPr/>
          <p:nvPr/>
        </p:nvSpPr>
        <p:spPr>
          <a:xfrm>
            <a:off x="4405274" y="4359910"/>
            <a:ext cx="50292" cy="1737360"/>
          </a:xfrm>
          <a:prstGeom prst="roundRect">
            <a:avLst>
              <a:gd name="adj" fmla="val 54545"/>
            </a:avLst>
          </a:prstGeom>
          <a:solidFill>
            <a:srgbClr val="3C5468">
              <a:alpha val="95000"/>
            </a:srgbClr>
          </a:solidFill>
          <a:ln/>
        </p:spPr>
      </p:sp>
      <p:sp>
        <p:nvSpPr>
          <p:cNvPr id="49" name="Shape 45"/>
          <p:cNvSpPr/>
          <p:nvPr/>
        </p:nvSpPr>
        <p:spPr>
          <a:xfrm>
            <a:off x="4679594" y="4579366"/>
            <a:ext cx="420624" cy="420624"/>
          </a:xfrm>
          <a:prstGeom prst="roundRect">
            <a:avLst>
              <a:gd name="adj" fmla="val 50000"/>
            </a:avLst>
          </a:prstGeom>
          <a:solidFill>
            <a:srgbClr val="04101F">
              <a:alpha val="88000"/>
            </a:srgbClr>
          </a:solidFill>
          <a:ln/>
        </p:spPr>
      </p:sp>
      <p:sp>
        <p:nvSpPr>
          <p:cNvPr id="50" name="Shape 46"/>
          <p:cNvSpPr/>
          <p:nvPr/>
        </p:nvSpPr>
        <p:spPr>
          <a:xfrm>
            <a:off x="4679594" y="4579366"/>
            <a:ext cx="420624" cy="420624"/>
          </a:xfrm>
          <a:prstGeom prst="roundRect">
            <a:avLst>
              <a:gd name="adj" fmla="val 50000"/>
            </a:avLst>
          </a:prstGeom>
          <a:solidFill>
            <a:srgbClr val="3C5468">
              <a:alpha val="20000"/>
            </a:srgbClr>
          </a:solidFill>
          <a:ln w="15240">
            <a:solidFill>
              <a:srgbClr val="3C5468">
                <a:alpha val="70000"/>
              </a:srgbClr>
            </a:solidFill>
            <a:prstDash val="solid"/>
          </a:ln>
        </p:spPr>
      </p:sp>
      <p:sp>
        <p:nvSpPr>
          <p:cNvPr id="51" name="Text 47"/>
          <p:cNvSpPr/>
          <p:nvPr/>
        </p:nvSpPr>
        <p:spPr>
          <a:xfrm>
            <a:off x="4633874" y="4652518"/>
            <a:ext cx="512064" cy="330327"/>
          </a:xfrm>
          <a:prstGeom prst="rect">
            <a:avLst/>
          </a:prstGeom>
          <a:noFill/>
          <a:ln/>
        </p:spPr>
        <p:txBody>
          <a:bodyPr wrap="square" lIns="0" tIns="0" rIns="0" bIns="0" rtlCol="0" anchor="t"/>
          <a:lstStyle/>
          <a:p>
            <a:pPr algn="ctr" indent="0" marL="0">
              <a:lnSpc>
                <a:spcPts val="2025"/>
              </a:lnSpc>
              <a:buNone/>
            </a:pPr>
            <a:r>
              <a:rPr lang="en-US" sz="1500" b="1" dirty="0">
                <a:solidFill>
                  <a:srgbClr val="3C5468"/>
                </a:solidFill>
                <a:latin typeface="Be Vietnam Pro" pitchFamily="34" charset="0"/>
                <a:ea typeface="Be Vietnam Pro" pitchFamily="34" charset="-122"/>
                <a:cs typeface="Be Vietnam Pro" pitchFamily="34" charset="-120"/>
              </a:rPr>
              <a:t>5</a:t>
            </a:r>
            <a:endParaRPr lang="en-US" sz="1500" dirty="0"/>
          </a:p>
        </p:txBody>
      </p:sp>
      <p:sp>
        <p:nvSpPr>
          <p:cNvPr id="52" name="Text 48"/>
          <p:cNvSpPr/>
          <p:nvPr/>
        </p:nvSpPr>
        <p:spPr>
          <a:xfrm>
            <a:off x="5228234" y="4625086"/>
            <a:ext cx="2393594" cy="517652"/>
          </a:xfrm>
          <a:prstGeom prst="rect">
            <a:avLst/>
          </a:prstGeom>
          <a:noFill/>
          <a:ln/>
        </p:spPr>
        <p:txBody>
          <a:bodyPr wrap="square" lIns="0" tIns="0" rIns="0" bIns="0" rtlCol="0" anchor="t"/>
          <a:lstStyle/>
          <a:p>
            <a:pPr algn="l" indent="0" marL="0">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Đội cứu hộ xác nhận hoàn</a:t>
            </a:r>
            <a:endParaRPr lang="en-US" sz="1400" dirty="0"/>
          </a:p>
          <a:p>
            <a:pPr algn="l" indent="0" marL="0">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thành</a:t>
            </a:r>
            <a:endParaRPr lang="en-US" sz="1400" dirty="0"/>
          </a:p>
        </p:txBody>
      </p:sp>
      <p:sp>
        <p:nvSpPr>
          <p:cNvPr id="53" name="Text 49"/>
          <p:cNvSpPr/>
          <p:nvPr/>
        </p:nvSpPr>
        <p:spPr>
          <a:xfrm>
            <a:off x="4679594" y="5237734"/>
            <a:ext cx="2923946" cy="487934"/>
          </a:xfrm>
          <a:prstGeom prst="rect">
            <a:avLst/>
          </a:prstGeom>
          <a:noFill/>
          <a:ln/>
        </p:spPr>
        <p:txBody>
          <a:bodyPr wrap="square" lIns="0" tIns="0" rIns="0" bIns="0" rtlCol="0" anchor="t"/>
          <a:lstStyle/>
          <a:p>
            <a:pPr algn="l" indent="0" marL="0">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Báo cáo kết quả nhiệm vụ kèm hình ảnh</a:t>
            </a:r>
            <a:endParaRPr lang="en-US" sz="1150" dirty="0"/>
          </a:p>
          <a:p>
            <a:pPr algn="l" indent="0" marL="0">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tại hiện trường.</a:t>
            </a:r>
            <a:endParaRPr lang="en-US" sz="1150" dirty="0"/>
          </a:p>
        </p:txBody>
      </p:sp>
      <p:sp>
        <p:nvSpPr>
          <p:cNvPr id="54" name="Shape 50"/>
          <p:cNvSpPr/>
          <p:nvPr/>
        </p:nvSpPr>
        <p:spPr>
          <a:xfrm>
            <a:off x="713232" y="4359910"/>
            <a:ext cx="3381146" cy="1737360"/>
          </a:xfrm>
          <a:prstGeom prst="roundRect">
            <a:avLst>
              <a:gd name="adj" fmla="val 6316"/>
            </a:avLst>
          </a:prstGeom>
          <a:solidFill>
            <a:srgbClr val="091B2D">
              <a:alpha val="55000"/>
            </a:srgbClr>
          </a:solidFill>
          <a:ln w="12700">
            <a:solidFill>
              <a:srgbClr val="FFFFFF">
                <a:alpha val="10000"/>
              </a:srgbClr>
            </a:solidFill>
            <a:prstDash val="solid"/>
          </a:ln>
        </p:spPr>
      </p:sp>
      <p:sp>
        <p:nvSpPr>
          <p:cNvPr id="55" name="Shape 51"/>
          <p:cNvSpPr/>
          <p:nvPr/>
        </p:nvSpPr>
        <p:spPr>
          <a:xfrm>
            <a:off x="713232" y="4359910"/>
            <a:ext cx="50292" cy="1737360"/>
          </a:xfrm>
          <a:prstGeom prst="roundRect">
            <a:avLst>
              <a:gd name="adj" fmla="val 54545"/>
            </a:avLst>
          </a:prstGeom>
          <a:solidFill>
            <a:srgbClr val="3C5468">
              <a:alpha val="95000"/>
            </a:srgbClr>
          </a:solidFill>
          <a:ln/>
        </p:spPr>
      </p:sp>
      <p:sp>
        <p:nvSpPr>
          <p:cNvPr id="56" name="Shape 52"/>
          <p:cNvSpPr/>
          <p:nvPr/>
        </p:nvSpPr>
        <p:spPr>
          <a:xfrm>
            <a:off x="987552" y="4579366"/>
            <a:ext cx="420624" cy="420624"/>
          </a:xfrm>
          <a:prstGeom prst="roundRect">
            <a:avLst>
              <a:gd name="adj" fmla="val 50000"/>
            </a:avLst>
          </a:prstGeom>
          <a:solidFill>
            <a:srgbClr val="04101F">
              <a:alpha val="88000"/>
            </a:srgbClr>
          </a:solidFill>
          <a:ln/>
        </p:spPr>
      </p:sp>
      <p:sp>
        <p:nvSpPr>
          <p:cNvPr id="57" name="Shape 53"/>
          <p:cNvSpPr/>
          <p:nvPr/>
        </p:nvSpPr>
        <p:spPr>
          <a:xfrm>
            <a:off x="987552" y="4579366"/>
            <a:ext cx="420624" cy="420624"/>
          </a:xfrm>
          <a:prstGeom prst="roundRect">
            <a:avLst>
              <a:gd name="adj" fmla="val 50000"/>
            </a:avLst>
          </a:prstGeom>
          <a:solidFill>
            <a:srgbClr val="3C5468">
              <a:alpha val="20000"/>
            </a:srgbClr>
          </a:solidFill>
          <a:ln w="15240">
            <a:solidFill>
              <a:srgbClr val="3C5468">
                <a:alpha val="70000"/>
              </a:srgbClr>
            </a:solidFill>
            <a:prstDash val="solid"/>
          </a:ln>
        </p:spPr>
      </p:sp>
      <p:sp>
        <p:nvSpPr>
          <p:cNvPr id="58" name="Text 54"/>
          <p:cNvSpPr/>
          <p:nvPr/>
        </p:nvSpPr>
        <p:spPr>
          <a:xfrm>
            <a:off x="941832" y="4652518"/>
            <a:ext cx="512064" cy="330327"/>
          </a:xfrm>
          <a:prstGeom prst="rect">
            <a:avLst/>
          </a:prstGeom>
          <a:noFill/>
          <a:ln/>
        </p:spPr>
        <p:txBody>
          <a:bodyPr wrap="square" lIns="0" tIns="0" rIns="0" bIns="0" rtlCol="0" anchor="t"/>
          <a:lstStyle/>
          <a:p>
            <a:pPr algn="ctr" indent="0" marL="0">
              <a:lnSpc>
                <a:spcPts val="2025"/>
              </a:lnSpc>
              <a:buNone/>
            </a:pPr>
            <a:r>
              <a:rPr lang="en-US" sz="1500" b="1" dirty="0">
                <a:solidFill>
                  <a:srgbClr val="3C5468"/>
                </a:solidFill>
                <a:latin typeface="Be Vietnam Pro" pitchFamily="34" charset="0"/>
                <a:ea typeface="Be Vietnam Pro" pitchFamily="34" charset="-122"/>
                <a:cs typeface="Be Vietnam Pro" pitchFamily="34" charset="-120"/>
              </a:rPr>
              <a:t>6</a:t>
            </a:r>
            <a:endParaRPr lang="en-US" sz="1500" dirty="0"/>
          </a:p>
        </p:txBody>
      </p:sp>
      <p:sp>
        <p:nvSpPr>
          <p:cNvPr id="59" name="Text 55"/>
          <p:cNvSpPr/>
          <p:nvPr/>
        </p:nvSpPr>
        <p:spPr>
          <a:xfrm>
            <a:off x="1536192" y="4625086"/>
            <a:ext cx="2393594" cy="517652"/>
          </a:xfrm>
          <a:prstGeom prst="rect">
            <a:avLst/>
          </a:prstGeom>
          <a:noFill/>
          <a:ln/>
        </p:spPr>
        <p:txBody>
          <a:bodyPr wrap="square" lIns="0" tIns="0" rIns="0" bIns="0" rtlCol="0" anchor="t"/>
          <a:lstStyle/>
          <a:p>
            <a:pPr algn="l" indent="0" marL="0">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Kho xác nhận hoàn trả</a:t>
            </a:r>
            <a:endParaRPr lang="en-US" sz="1400" dirty="0"/>
          </a:p>
          <a:p>
            <a:pPr algn="l" indent="0" marL="0">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vật tư</a:t>
            </a:r>
            <a:endParaRPr lang="en-US" sz="1400" dirty="0"/>
          </a:p>
        </p:txBody>
      </p:sp>
      <p:sp>
        <p:nvSpPr>
          <p:cNvPr id="60" name="Text 56"/>
          <p:cNvSpPr/>
          <p:nvPr/>
        </p:nvSpPr>
        <p:spPr>
          <a:xfrm>
            <a:off x="987552" y="5237734"/>
            <a:ext cx="2923946" cy="487934"/>
          </a:xfrm>
          <a:prstGeom prst="rect">
            <a:avLst/>
          </a:prstGeom>
          <a:noFill/>
          <a:ln/>
        </p:spPr>
        <p:txBody>
          <a:bodyPr wrap="square" lIns="0" tIns="0" rIns="0" bIns="0" rtlCol="0" anchor="t"/>
          <a:lstStyle/>
          <a:p>
            <a:pPr algn="l" indent="0" marL="0">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Đối chiếu vật tư đã cấp phát và phần</a:t>
            </a:r>
            <a:endParaRPr lang="en-US" sz="1150" dirty="0"/>
          </a:p>
          <a:p>
            <a:pPr algn="l" indent="0" marL="0">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thu hồi, khép lại nhiệm vụ.</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4101F"/>
        </a:solidFill>
      </p:bgPr>
    </p:bg>
    <p:spTree>
      <p:nvGrpSpPr>
        <p:cNvPr id="1" name=""/>
        <p:cNvGrpSpPr/>
        <p:nvPr/>
      </p:nvGrpSpPr>
      <p:grpSpPr>
        <a:xfrm>
          <a:off x="0" y="0"/>
          <a:ext cx="0" cy="0"/>
          <a:chOff x="0" y="0"/>
          <a:chExt cx="0" cy="0"/>
        </a:xfrm>
      </p:grpSpPr>
      <p:pic>
        <p:nvPicPr>
          <p:cNvPr id="2" name="Image 0" descr="bg-content.jp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4101F">
              <a:alpha val="34000"/>
            </a:srgbClr>
          </a:solidFill>
          <a:ln/>
        </p:spPr>
      </p:sp>
      <p:pic>
        <p:nvPicPr>
          <p:cNvPr id="4" name="Image 1" descr="mark-sm.png">    </p:cNvPr>
          <p:cNvPicPr>
            <a:picLocks noChangeAspect="1"/>
          </p:cNvPicPr>
          <p:nvPr/>
        </p:nvPicPr>
        <p:blipFill>
          <a:blip r:embed="rId2"/>
          <a:stretch>
            <a:fillRect/>
          </a:stretch>
        </p:blipFill>
        <p:spPr>
          <a:xfrm>
            <a:off x="713232" y="365760"/>
            <a:ext cx="310896" cy="310896"/>
          </a:xfrm>
          <a:prstGeom prst="rect">
            <a:avLst/>
          </a:prstGeom>
        </p:spPr>
      </p:pic>
      <p:sp>
        <p:nvSpPr>
          <p:cNvPr id="5" name="Text 1"/>
          <p:cNvSpPr/>
          <p:nvPr/>
        </p:nvSpPr>
        <p:spPr>
          <a:xfrm>
            <a:off x="1170432" y="384048"/>
            <a:ext cx="3749040" cy="261747"/>
          </a:xfrm>
          <a:prstGeom prst="rect">
            <a:avLst/>
          </a:prstGeom>
          <a:noFill/>
          <a:ln/>
        </p:spPr>
        <p:txBody>
          <a:bodyPr wrap="square" lIns="0" tIns="0" rIns="0" bIns="0" rtlCol="0" anchor="t"/>
          <a:lstStyle/>
          <a:p>
            <a:pPr algn="l" indent="0" marL="0">
              <a:lnSpc>
                <a:spcPts val="1485"/>
              </a:lnSpc>
              <a:buNone/>
            </a:pPr>
            <a:r>
              <a:rPr lang="en-US" sz="1100" b="1" spc="160" kern="0" dirty="0">
                <a:solidFill>
                  <a:srgbClr val="6EE7A8"/>
                </a:solidFill>
                <a:latin typeface="Be Vietnam Pro" pitchFamily="34" charset="0"/>
                <a:ea typeface="Be Vietnam Pro" pitchFamily="34" charset="-122"/>
                <a:cs typeface="Be Vietnam Pro" pitchFamily="34" charset="-120"/>
              </a:rPr>
              <a:t>ỨNG PHÓ NHANH</a:t>
            </a:r>
            <a:endParaRPr lang="en-US" sz="1100" dirty="0"/>
          </a:p>
        </p:txBody>
      </p:sp>
      <p:sp>
        <p:nvSpPr>
          <p:cNvPr id="6" name="Text 2"/>
          <p:cNvSpPr/>
          <p:nvPr/>
        </p:nvSpPr>
        <p:spPr>
          <a:xfrm>
            <a:off x="8643823" y="384048"/>
            <a:ext cx="2834640" cy="261747"/>
          </a:xfrm>
          <a:prstGeom prst="rect">
            <a:avLst/>
          </a:prstGeom>
          <a:noFill/>
          <a:ln/>
        </p:spPr>
        <p:txBody>
          <a:bodyPr wrap="square" lIns="0" tIns="0" rIns="0" bIns="0" rtlCol="0" anchor="t"/>
          <a:lstStyle/>
          <a:p>
            <a:pPr algn="r" indent="0" marL="0">
              <a:lnSpc>
                <a:spcPts val="1485"/>
              </a:lnSpc>
              <a:buNone/>
            </a:pPr>
            <a:r>
              <a:rPr lang="en-US" sz="1100" b="1" dirty="0">
                <a:solidFill>
                  <a:srgbClr val="7189A2"/>
                </a:solidFill>
                <a:latin typeface="Be Vietnam Pro" pitchFamily="34" charset="0"/>
                <a:ea typeface="Be Vietnam Pro" pitchFamily="34" charset="-122"/>
                <a:cs typeface="Be Vietnam Pro" pitchFamily="34" charset="-120"/>
              </a:rPr>
              <a:t>09 / 24</a:t>
            </a:r>
            <a:endParaRPr lang="en-US" sz="1100" dirty="0"/>
          </a:p>
        </p:txBody>
      </p:sp>
      <p:sp>
        <p:nvSpPr>
          <p:cNvPr id="7" name="Shape 3"/>
          <p:cNvSpPr/>
          <p:nvPr/>
        </p:nvSpPr>
        <p:spPr>
          <a:xfrm>
            <a:off x="713232" y="868680"/>
            <a:ext cx="10765231" cy="10973"/>
          </a:xfrm>
          <a:prstGeom prst="rect">
            <a:avLst/>
          </a:prstGeom>
          <a:solidFill>
            <a:srgbClr val="FFFFFF">
              <a:alpha val="16000"/>
            </a:srgbClr>
          </a:solidFill>
          <a:ln/>
        </p:spPr>
      </p:sp>
      <p:sp>
        <p:nvSpPr>
          <p:cNvPr id="8" name="Text 4"/>
          <p:cNvSpPr/>
          <p:nvPr/>
        </p:nvSpPr>
        <p:spPr>
          <a:xfrm>
            <a:off x="713232" y="1133856"/>
            <a:ext cx="8321040" cy="270320"/>
          </a:xfrm>
          <a:prstGeom prst="rect">
            <a:avLst/>
          </a:prstGeom>
          <a:noFill/>
          <a:ln/>
        </p:spPr>
        <p:txBody>
          <a:bodyPr wrap="square" lIns="0" tIns="0" rIns="0" bIns="0" rtlCol="0" anchor="t"/>
          <a:lstStyle/>
          <a:p>
            <a:pPr algn="l" indent="0" marL="0">
              <a:lnSpc>
                <a:spcPts val="1553"/>
              </a:lnSpc>
              <a:buNone/>
            </a:pPr>
            <a:r>
              <a:rPr lang="en-US" sz="1150" b="1" spc="220" kern="0" dirty="0">
                <a:solidFill>
                  <a:srgbClr val="22C55E"/>
                </a:solidFill>
                <a:latin typeface="Be Vietnam Pro" pitchFamily="34" charset="0"/>
                <a:ea typeface="Be Vietnam Pro" pitchFamily="34" charset="-122"/>
                <a:cs typeface="Be Vietnam Pro" pitchFamily="34" charset="-120"/>
              </a:rPr>
              <a:t>BƯỚC 3 · CHỌN KHO TIẾP TẾ</a:t>
            </a:r>
            <a:endParaRPr lang="en-US" sz="1150" dirty="0"/>
          </a:p>
        </p:txBody>
      </p:sp>
      <p:sp>
        <p:nvSpPr>
          <p:cNvPr id="9" name="Text 5"/>
          <p:cNvSpPr/>
          <p:nvPr/>
        </p:nvSpPr>
        <p:spPr>
          <a:xfrm>
            <a:off x="713232" y="1426464"/>
            <a:ext cx="10490911" cy="537718"/>
          </a:xfrm>
          <a:prstGeom prst="rect">
            <a:avLst/>
          </a:prstGeom>
          <a:noFill/>
          <a:ln/>
        </p:spPr>
        <p:txBody>
          <a:bodyPr wrap="square" lIns="0" tIns="0" rIns="0" bIns="0" rtlCol="0" anchor="t"/>
          <a:lstStyle/>
          <a:p>
            <a:pPr algn="l" indent="0" marL="0">
              <a:lnSpc>
                <a:spcPts val="3658"/>
              </a:lnSpc>
              <a:buNone/>
            </a:pPr>
            <a:r>
              <a:rPr lang="en-US" sz="3100" b="1" dirty="0">
                <a:solidFill>
                  <a:srgbClr val="FFFFFF"/>
                </a:solidFill>
                <a:latin typeface="Be Vietnam Pro" pitchFamily="34" charset="0"/>
                <a:ea typeface="Be Vietnam Pro" pitchFamily="34" charset="-122"/>
                <a:cs typeface="Be Vietnam Pro" pitchFamily="34" charset="-120"/>
              </a:rPr>
              <a:t>Kho nào gần nhất? Không đủ thì lấy tiếp ở đâu?</a:t>
            </a:r>
            <a:endParaRPr lang="en-US" sz="3100" dirty="0"/>
          </a:p>
        </p:txBody>
      </p:sp>
      <p:sp>
        <p:nvSpPr>
          <p:cNvPr id="10" name="Shape 6"/>
          <p:cNvSpPr/>
          <p:nvPr/>
        </p:nvSpPr>
        <p:spPr>
          <a:xfrm>
            <a:off x="713232" y="6272784"/>
            <a:ext cx="10765231" cy="9144"/>
          </a:xfrm>
          <a:prstGeom prst="rect">
            <a:avLst/>
          </a:prstGeom>
          <a:solidFill>
            <a:srgbClr val="FFFFFF">
              <a:alpha val="10000"/>
            </a:srgbClr>
          </a:solidFill>
          <a:ln/>
        </p:spPr>
      </p:sp>
      <p:sp>
        <p:nvSpPr>
          <p:cNvPr id="11" name="Text 7"/>
          <p:cNvSpPr/>
          <p:nvPr/>
        </p:nvSpPr>
        <p:spPr>
          <a:xfrm>
            <a:off x="8643823" y="6382512"/>
            <a:ext cx="2834640" cy="236030"/>
          </a:xfrm>
          <a:prstGeom prst="rect">
            <a:avLst/>
          </a:prstGeom>
          <a:noFill/>
          <a:ln/>
        </p:spPr>
        <p:txBody>
          <a:bodyPr wrap="square" lIns="0" tIns="0" rIns="0" bIns="0" rtlCol="0" anchor="t"/>
          <a:lstStyle/>
          <a:p>
            <a:pPr algn="r" indent="0" marL="0">
              <a:lnSpc>
                <a:spcPts val="1283"/>
              </a:lnSpc>
              <a:buNone/>
            </a:pPr>
            <a:r>
              <a:rPr lang="en-US" sz="950" dirty="0">
                <a:solidFill>
                  <a:srgbClr val="7189A2"/>
                </a:solidFill>
                <a:latin typeface="Be Vietnam Pro" pitchFamily="34" charset="0"/>
                <a:ea typeface="Be Vietnam Pro" pitchFamily="34" charset="-122"/>
                <a:cs typeface="Be Vietnam Pro" pitchFamily="34" charset="-120"/>
              </a:rPr>
              <a:t>ungphonhanh.life</a:t>
            </a:r>
            <a:endParaRPr lang="en-US" sz="950" dirty="0"/>
          </a:p>
        </p:txBody>
      </p:sp>
      <p:sp>
        <p:nvSpPr>
          <p:cNvPr id="12" name="Shape 8"/>
          <p:cNvSpPr/>
          <p:nvPr/>
        </p:nvSpPr>
        <p:spPr>
          <a:xfrm>
            <a:off x="713232" y="2220214"/>
            <a:ext cx="5074920" cy="3931920"/>
          </a:xfrm>
          <a:prstGeom prst="roundRect">
            <a:avLst>
              <a:gd name="adj" fmla="val 2791"/>
            </a:avLst>
          </a:prstGeom>
          <a:solidFill>
            <a:srgbClr val="091B2D">
              <a:alpha val="66000"/>
            </a:srgbClr>
          </a:solidFill>
          <a:ln w="12700">
            <a:solidFill>
              <a:srgbClr val="FFFFFF">
                <a:alpha val="12000"/>
              </a:srgbClr>
            </a:solidFill>
            <a:prstDash val="solid"/>
          </a:ln>
        </p:spPr>
      </p:sp>
      <p:sp>
        <p:nvSpPr>
          <p:cNvPr id="13" name="Shape 9"/>
          <p:cNvSpPr/>
          <p:nvPr/>
        </p:nvSpPr>
        <p:spPr>
          <a:xfrm>
            <a:off x="713232" y="2220214"/>
            <a:ext cx="50292" cy="3931920"/>
          </a:xfrm>
          <a:prstGeom prst="roundRect">
            <a:avLst>
              <a:gd name="adj" fmla="val 54545"/>
            </a:avLst>
          </a:prstGeom>
          <a:solidFill>
            <a:srgbClr val="38BDF8">
              <a:alpha val="95000"/>
            </a:srgbClr>
          </a:solidFill>
          <a:ln/>
        </p:spPr>
      </p:sp>
      <p:sp>
        <p:nvSpPr>
          <p:cNvPr id="14" name="Text 10"/>
          <p:cNvSpPr/>
          <p:nvPr/>
        </p:nvSpPr>
        <p:spPr>
          <a:xfrm>
            <a:off x="1005840" y="2457958"/>
            <a:ext cx="4581144" cy="253175"/>
          </a:xfrm>
          <a:prstGeom prst="rect">
            <a:avLst/>
          </a:prstGeom>
          <a:noFill/>
          <a:ln/>
        </p:spPr>
        <p:txBody>
          <a:bodyPr wrap="square" lIns="0" tIns="0" rIns="0" bIns="0" rtlCol="0" anchor="t"/>
          <a:lstStyle/>
          <a:p>
            <a:pPr algn="l" indent="0" marL="0">
              <a:lnSpc>
                <a:spcPts val="1418"/>
              </a:lnSpc>
              <a:buNone/>
            </a:pPr>
            <a:r>
              <a:rPr lang="en-US" sz="1050" b="1" spc="160" kern="0" dirty="0">
                <a:solidFill>
                  <a:srgbClr val="38BDF8"/>
                </a:solidFill>
                <a:latin typeface="Be Vietnam Pro" pitchFamily="34" charset="0"/>
                <a:ea typeface="Be Vietnam Pro" pitchFamily="34" charset="-122"/>
                <a:cs typeface="Be Vietnam Pro" pitchFamily="34" charset="-120"/>
              </a:rPr>
              <a:t>VÍ DỤ: NHIỆM VỤ CẦN 100 ÁO PHAO</a:t>
            </a:r>
            <a:endParaRPr lang="en-US" sz="1050" dirty="0"/>
          </a:p>
        </p:txBody>
      </p:sp>
      <p:sp>
        <p:nvSpPr>
          <p:cNvPr id="15" name="Shape 11"/>
          <p:cNvSpPr/>
          <p:nvPr/>
        </p:nvSpPr>
        <p:spPr>
          <a:xfrm>
            <a:off x="1005840" y="2970022"/>
            <a:ext cx="4489704" cy="749808"/>
          </a:xfrm>
          <a:prstGeom prst="roundRect">
            <a:avLst>
              <a:gd name="adj" fmla="val 12195"/>
            </a:avLst>
          </a:prstGeom>
          <a:solidFill>
            <a:srgbClr val="FFFFFF">
              <a:alpha val="6000"/>
            </a:srgbClr>
          </a:solidFill>
          <a:ln w="12700">
            <a:solidFill>
              <a:srgbClr val="22C55E">
                <a:alpha val="30000"/>
              </a:srgbClr>
            </a:solidFill>
            <a:prstDash val="solid"/>
          </a:ln>
        </p:spPr>
      </p:sp>
      <p:sp>
        <p:nvSpPr>
          <p:cNvPr id="16" name="Text 12"/>
          <p:cNvSpPr/>
          <p:nvPr/>
        </p:nvSpPr>
        <p:spPr>
          <a:xfrm>
            <a:off x="1170432" y="3079750"/>
            <a:ext cx="3063240" cy="304610"/>
          </a:xfrm>
          <a:prstGeom prst="rect">
            <a:avLst/>
          </a:prstGeom>
          <a:noFill/>
          <a:ln/>
        </p:spPr>
        <p:txBody>
          <a:bodyPr wrap="square" lIns="0" tIns="0" rIns="0" bIns="0" rtlCol="0" anchor="t"/>
          <a:lstStyle/>
          <a:p>
            <a:pPr algn="l" indent="0" marL="0">
              <a:lnSpc>
                <a:spcPts val="1823"/>
              </a:lnSpc>
              <a:buNone/>
            </a:pPr>
            <a:r>
              <a:rPr lang="en-US" sz="1350" b="1" dirty="0">
                <a:solidFill>
                  <a:srgbClr val="FFFFFF"/>
                </a:solidFill>
                <a:latin typeface="Be Vietnam Pro" pitchFamily="34" charset="0"/>
                <a:ea typeface="Be Vietnam Pro" pitchFamily="34" charset="-122"/>
                <a:cs typeface="Be Vietnam Pro" pitchFamily="34" charset="-120"/>
              </a:rPr>
              <a:t>Kho thôn Long Bình</a:t>
            </a:r>
            <a:endParaRPr lang="en-US" sz="1350" dirty="0"/>
          </a:p>
        </p:txBody>
      </p:sp>
      <p:sp>
        <p:nvSpPr>
          <p:cNvPr id="17" name="Text 13"/>
          <p:cNvSpPr/>
          <p:nvPr/>
        </p:nvSpPr>
        <p:spPr>
          <a:xfrm>
            <a:off x="1170432" y="3372358"/>
            <a:ext cx="3063240" cy="270320"/>
          </a:xfrm>
          <a:prstGeom prst="rect">
            <a:avLst/>
          </a:prstGeom>
          <a:noFill/>
          <a:ln/>
        </p:spPr>
        <p:txBody>
          <a:bodyPr wrap="square" lIns="0" tIns="0" rIns="0" bIns="0" rtlCol="0" anchor="t"/>
          <a:lstStyle/>
          <a:p>
            <a:pPr algn="l" indent="0" marL="0">
              <a:lnSpc>
                <a:spcPts val="1553"/>
              </a:lnSpc>
              <a:buNone/>
            </a:pPr>
            <a:r>
              <a:rPr lang="en-US" sz="1150" dirty="0">
                <a:solidFill>
                  <a:srgbClr val="9BB0C6"/>
                </a:solidFill>
                <a:latin typeface="Be Vietnam Pro" pitchFamily="34" charset="0"/>
                <a:ea typeface="Be Vietnam Pro" pitchFamily="34" charset="-122"/>
                <a:cs typeface="Be Vietnam Pro" pitchFamily="34" charset="-120"/>
              </a:rPr>
              <a:t>1,2 km · còn 40 áo phao</a:t>
            </a:r>
            <a:endParaRPr lang="en-US" sz="1150" dirty="0"/>
          </a:p>
        </p:txBody>
      </p:sp>
      <p:sp>
        <p:nvSpPr>
          <p:cNvPr id="18" name="Text 14"/>
          <p:cNvSpPr/>
          <p:nvPr/>
        </p:nvSpPr>
        <p:spPr>
          <a:xfrm>
            <a:off x="4096512" y="3189478"/>
            <a:ext cx="1371600" cy="330327"/>
          </a:xfrm>
          <a:prstGeom prst="rect">
            <a:avLst/>
          </a:prstGeom>
          <a:noFill/>
          <a:ln/>
        </p:spPr>
        <p:txBody>
          <a:bodyPr wrap="square" lIns="0" tIns="0" rIns="0" bIns="0" rtlCol="0" anchor="t"/>
          <a:lstStyle/>
          <a:p>
            <a:pPr algn="r" indent="0" marL="0">
              <a:lnSpc>
                <a:spcPts val="2025"/>
              </a:lnSpc>
              <a:buNone/>
            </a:pPr>
            <a:r>
              <a:rPr lang="en-US" sz="1500" b="1" dirty="0">
                <a:solidFill>
                  <a:srgbClr val="22C55E"/>
                </a:solidFill>
                <a:latin typeface="Be Vietnam Pro" pitchFamily="34" charset="0"/>
                <a:ea typeface="Be Vietnam Pro" pitchFamily="34" charset="-122"/>
                <a:cs typeface="Be Vietnam Pro" pitchFamily="34" charset="-120"/>
              </a:rPr>
              <a:t>lấy 40</a:t>
            </a:r>
            <a:endParaRPr lang="en-US" sz="1500" dirty="0"/>
          </a:p>
        </p:txBody>
      </p:sp>
      <p:sp>
        <p:nvSpPr>
          <p:cNvPr id="19" name="Shape 15"/>
          <p:cNvSpPr/>
          <p:nvPr/>
        </p:nvSpPr>
        <p:spPr>
          <a:xfrm>
            <a:off x="1005840" y="3838702"/>
            <a:ext cx="4489704" cy="749808"/>
          </a:xfrm>
          <a:prstGeom prst="roundRect">
            <a:avLst>
              <a:gd name="adj" fmla="val 12195"/>
            </a:avLst>
          </a:prstGeom>
          <a:solidFill>
            <a:srgbClr val="FFFFFF">
              <a:alpha val="6000"/>
            </a:srgbClr>
          </a:solidFill>
          <a:ln w="12700">
            <a:solidFill>
              <a:srgbClr val="22C55E">
                <a:alpha val="30000"/>
              </a:srgbClr>
            </a:solidFill>
            <a:prstDash val="solid"/>
          </a:ln>
        </p:spPr>
      </p:sp>
      <p:sp>
        <p:nvSpPr>
          <p:cNvPr id="20" name="Text 16"/>
          <p:cNvSpPr/>
          <p:nvPr/>
        </p:nvSpPr>
        <p:spPr>
          <a:xfrm>
            <a:off x="1170432" y="3948430"/>
            <a:ext cx="3063240" cy="304610"/>
          </a:xfrm>
          <a:prstGeom prst="rect">
            <a:avLst/>
          </a:prstGeom>
          <a:noFill/>
          <a:ln/>
        </p:spPr>
        <p:txBody>
          <a:bodyPr wrap="square" lIns="0" tIns="0" rIns="0" bIns="0" rtlCol="0" anchor="t"/>
          <a:lstStyle/>
          <a:p>
            <a:pPr algn="l" indent="0" marL="0">
              <a:lnSpc>
                <a:spcPts val="1823"/>
              </a:lnSpc>
              <a:buNone/>
            </a:pPr>
            <a:r>
              <a:rPr lang="en-US" sz="1350" b="1" dirty="0">
                <a:solidFill>
                  <a:srgbClr val="FFFFFF"/>
                </a:solidFill>
                <a:latin typeface="Be Vietnam Pro" pitchFamily="34" charset="0"/>
                <a:ea typeface="Be Vietnam Pro" pitchFamily="34" charset="-122"/>
                <a:cs typeface="Be Vietnam Pro" pitchFamily="34" charset="-120"/>
              </a:rPr>
              <a:t>Kho thôn Long Mỹ</a:t>
            </a:r>
            <a:endParaRPr lang="en-US" sz="1350" dirty="0"/>
          </a:p>
        </p:txBody>
      </p:sp>
      <p:sp>
        <p:nvSpPr>
          <p:cNvPr id="21" name="Text 17"/>
          <p:cNvSpPr/>
          <p:nvPr/>
        </p:nvSpPr>
        <p:spPr>
          <a:xfrm>
            <a:off x="1170432" y="4241038"/>
            <a:ext cx="3063240" cy="270320"/>
          </a:xfrm>
          <a:prstGeom prst="rect">
            <a:avLst/>
          </a:prstGeom>
          <a:noFill/>
          <a:ln/>
        </p:spPr>
        <p:txBody>
          <a:bodyPr wrap="square" lIns="0" tIns="0" rIns="0" bIns="0" rtlCol="0" anchor="t"/>
          <a:lstStyle/>
          <a:p>
            <a:pPr algn="l" indent="0" marL="0">
              <a:lnSpc>
                <a:spcPts val="1553"/>
              </a:lnSpc>
              <a:buNone/>
            </a:pPr>
            <a:r>
              <a:rPr lang="en-US" sz="1150" dirty="0">
                <a:solidFill>
                  <a:srgbClr val="9BB0C6"/>
                </a:solidFill>
                <a:latin typeface="Be Vietnam Pro" pitchFamily="34" charset="0"/>
                <a:ea typeface="Be Vietnam Pro" pitchFamily="34" charset="-122"/>
                <a:cs typeface="Be Vietnam Pro" pitchFamily="34" charset="-120"/>
              </a:rPr>
              <a:t>1,6 km · còn 35 áo phao</a:t>
            </a:r>
            <a:endParaRPr lang="en-US" sz="1150" dirty="0"/>
          </a:p>
        </p:txBody>
      </p:sp>
      <p:sp>
        <p:nvSpPr>
          <p:cNvPr id="22" name="Text 18"/>
          <p:cNvSpPr/>
          <p:nvPr/>
        </p:nvSpPr>
        <p:spPr>
          <a:xfrm>
            <a:off x="4096512" y="4058158"/>
            <a:ext cx="1371600" cy="330327"/>
          </a:xfrm>
          <a:prstGeom prst="rect">
            <a:avLst/>
          </a:prstGeom>
          <a:noFill/>
          <a:ln/>
        </p:spPr>
        <p:txBody>
          <a:bodyPr wrap="square" lIns="0" tIns="0" rIns="0" bIns="0" rtlCol="0" anchor="t"/>
          <a:lstStyle/>
          <a:p>
            <a:pPr algn="r" indent="0" marL="0">
              <a:lnSpc>
                <a:spcPts val="2025"/>
              </a:lnSpc>
              <a:buNone/>
            </a:pPr>
            <a:r>
              <a:rPr lang="en-US" sz="1500" b="1" dirty="0">
                <a:solidFill>
                  <a:srgbClr val="22C55E"/>
                </a:solidFill>
                <a:latin typeface="Be Vietnam Pro" pitchFamily="34" charset="0"/>
                <a:ea typeface="Be Vietnam Pro" pitchFamily="34" charset="-122"/>
                <a:cs typeface="Be Vietnam Pro" pitchFamily="34" charset="-120"/>
              </a:rPr>
              <a:t>lấy 35</a:t>
            </a:r>
            <a:endParaRPr lang="en-US" sz="1500" dirty="0"/>
          </a:p>
        </p:txBody>
      </p:sp>
      <p:sp>
        <p:nvSpPr>
          <p:cNvPr id="23" name="Shape 19"/>
          <p:cNvSpPr/>
          <p:nvPr/>
        </p:nvSpPr>
        <p:spPr>
          <a:xfrm>
            <a:off x="1005840" y="4707382"/>
            <a:ext cx="4489704" cy="749808"/>
          </a:xfrm>
          <a:prstGeom prst="roundRect">
            <a:avLst>
              <a:gd name="adj" fmla="val 12195"/>
            </a:avLst>
          </a:prstGeom>
          <a:solidFill>
            <a:srgbClr val="FFFFFF">
              <a:alpha val="6000"/>
            </a:srgbClr>
          </a:solidFill>
          <a:ln w="12700">
            <a:solidFill>
              <a:srgbClr val="22C55E">
                <a:alpha val="30000"/>
              </a:srgbClr>
            </a:solidFill>
            <a:prstDash val="solid"/>
          </a:ln>
        </p:spPr>
      </p:sp>
      <p:sp>
        <p:nvSpPr>
          <p:cNvPr id="24" name="Text 20"/>
          <p:cNvSpPr/>
          <p:nvPr/>
        </p:nvSpPr>
        <p:spPr>
          <a:xfrm>
            <a:off x="1170432" y="4817110"/>
            <a:ext cx="3063240" cy="304610"/>
          </a:xfrm>
          <a:prstGeom prst="rect">
            <a:avLst/>
          </a:prstGeom>
          <a:noFill/>
          <a:ln/>
        </p:spPr>
        <p:txBody>
          <a:bodyPr wrap="square" lIns="0" tIns="0" rIns="0" bIns="0" rtlCol="0" anchor="t"/>
          <a:lstStyle/>
          <a:p>
            <a:pPr algn="l" indent="0" marL="0">
              <a:lnSpc>
                <a:spcPts val="1823"/>
              </a:lnSpc>
              <a:buNone/>
            </a:pPr>
            <a:r>
              <a:rPr lang="en-US" sz="1350" b="1" dirty="0">
                <a:solidFill>
                  <a:srgbClr val="FFFFFF"/>
                </a:solidFill>
                <a:latin typeface="Be Vietnam Pro" pitchFamily="34" charset="0"/>
                <a:ea typeface="Be Vietnam Pro" pitchFamily="34" charset="-122"/>
                <a:cs typeface="Be Vietnam Pro" pitchFamily="34" charset="-120"/>
              </a:rPr>
              <a:t>Kho thôn Long Thạnh</a:t>
            </a:r>
            <a:endParaRPr lang="en-US" sz="1350" dirty="0"/>
          </a:p>
        </p:txBody>
      </p:sp>
      <p:sp>
        <p:nvSpPr>
          <p:cNvPr id="25" name="Text 21"/>
          <p:cNvSpPr/>
          <p:nvPr/>
        </p:nvSpPr>
        <p:spPr>
          <a:xfrm>
            <a:off x="1170432" y="5109718"/>
            <a:ext cx="3063240" cy="270320"/>
          </a:xfrm>
          <a:prstGeom prst="rect">
            <a:avLst/>
          </a:prstGeom>
          <a:noFill/>
          <a:ln/>
        </p:spPr>
        <p:txBody>
          <a:bodyPr wrap="square" lIns="0" tIns="0" rIns="0" bIns="0" rtlCol="0" anchor="t"/>
          <a:lstStyle/>
          <a:p>
            <a:pPr algn="l" indent="0" marL="0">
              <a:lnSpc>
                <a:spcPts val="1553"/>
              </a:lnSpc>
              <a:buNone/>
            </a:pPr>
            <a:r>
              <a:rPr lang="en-US" sz="1150" dirty="0">
                <a:solidFill>
                  <a:srgbClr val="9BB0C6"/>
                </a:solidFill>
                <a:latin typeface="Be Vietnam Pro" pitchFamily="34" charset="0"/>
                <a:ea typeface="Be Vietnam Pro" pitchFamily="34" charset="-122"/>
                <a:cs typeface="Be Vietnam Pro" pitchFamily="34" charset="-120"/>
              </a:rPr>
              <a:t>2,0 km · còn 60 áo phao</a:t>
            </a:r>
            <a:endParaRPr lang="en-US" sz="1150" dirty="0"/>
          </a:p>
        </p:txBody>
      </p:sp>
      <p:sp>
        <p:nvSpPr>
          <p:cNvPr id="26" name="Text 22"/>
          <p:cNvSpPr/>
          <p:nvPr/>
        </p:nvSpPr>
        <p:spPr>
          <a:xfrm>
            <a:off x="4096512" y="4926838"/>
            <a:ext cx="1371600" cy="330327"/>
          </a:xfrm>
          <a:prstGeom prst="rect">
            <a:avLst/>
          </a:prstGeom>
          <a:noFill/>
          <a:ln/>
        </p:spPr>
        <p:txBody>
          <a:bodyPr wrap="square" lIns="0" tIns="0" rIns="0" bIns="0" rtlCol="0" anchor="t"/>
          <a:lstStyle/>
          <a:p>
            <a:pPr algn="r" indent="0" marL="0">
              <a:lnSpc>
                <a:spcPts val="2025"/>
              </a:lnSpc>
              <a:buNone/>
            </a:pPr>
            <a:r>
              <a:rPr lang="en-US" sz="1500" b="1" dirty="0">
                <a:solidFill>
                  <a:srgbClr val="22C55E"/>
                </a:solidFill>
                <a:latin typeface="Be Vietnam Pro" pitchFamily="34" charset="0"/>
                <a:ea typeface="Be Vietnam Pro" pitchFamily="34" charset="-122"/>
                <a:cs typeface="Be Vietnam Pro" pitchFamily="34" charset="-120"/>
              </a:rPr>
              <a:t>lấy 25</a:t>
            </a:r>
            <a:endParaRPr lang="en-US" sz="1500" dirty="0"/>
          </a:p>
        </p:txBody>
      </p:sp>
      <p:sp>
        <p:nvSpPr>
          <p:cNvPr id="27" name="Shape 23"/>
          <p:cNvSpPr/>
          <p:nvPr/>
        </p:nvSpPr>
        <p:spPr>
          <a:xfrm>
            <a:off x="1005840" y="5713222"/>
            <a:ext cx="4489704" cy="9144"/>
          </a:xfrm>
          <a:prstGeom prst="rect">
            <a:avLst/>
          </a:prstGeom>
          <a:solidFill>
            <a:srgbClr val="FFFFFF">
              <a:alpha val="14000"/>
            </a:srgbClr>
          </a:solidFill>
          <a:ln/>
        </p:spPr>
      </p:sp>
      <p:sp>
        <p:nvSpPr>
          <p:cNvPr id="28" name="Text 24"/>
          <p:cNvSpPr/>
          <p:nvPr/>
        </p:nvSpPr>
        <p:spPr>
          <a:xfrm>
            <a:off x="1005840" y="5822950"/>
            <a:ext cx="4581144" cy="287465"/>
          </a:xfrm>
          <a:prstGeom prst="rect">
            <a:avLst/>
          </a:prstGeom>
          <a:noFill/>
          <a:ln/>
        </p:spPr>
        <p:txBody>
          <a:bodyPr wrap="square" lIns="0" tIns="0" rIns="0" bIns="0" rtlCol="0" anchor="t"/>
          <a:lstStyle/>
          <a:p>
            <a:pPr algn="l" indent="0" marL="0">
              <a:lnSpc>
                <a:spcPts val="1688"/>
              </a:lnSpc>
              <a:buNone/>
            </a:pPr>
            <a:r>
              <a:rPr lang="en-US" sz="1250" b="1" dirty="0">
                <a:solidFill>
                  <a:srgbClr val="6EE7A8"/>
                </a:solidFill>
                <a:latin typeface="Be Vietnam Pro" pitchFamily="34" charset="0"/>
                <a:ea typeface="Be Vietnam Pro" pitchFamily="34" charset="-122"/>
                <a:cs typeface="Be Vietnam Pro" pitchFamily="34" charset="-120"/>
              </a:rPr>
              <a:t>Đủ 100 áo phao từ 3 kho, gần trước — xa sau.</a:t>
            </a:r>
            <a:endParaRPr lang="en-US" sz="1250" dirty="0"/>
          </a:p>
        </p:txBody>
      </p:sp>
      <p:sp>
        <p:nvSpPr>
          <p:cNvPr id="29" name="Shape 25"/>
          <p:cNvSpPr/>
          <p:nvPr/>
        </p:nvSpPr>
        <p:spPr>
          <a:xfrm>
            <a:off x="6135624" y="2220214"/>
            <a:ext cx="5342839" cy="713232"/>
          </a:xfrm>
          <a:prstGeom prst="roundRect">
            <a:avLst>
              <a:gd name="adj" fmla="val 15385"/>
            </a:avLst>
          </a:prstGeom>
          <a:solidFill>
            <a:srgbClr val="091B2D">
              <a:alpha val="66000"/>
            </a:srgbClr>
          </a:solidFill>
          <a:ln w="12700">
            <a:solidFill>
              <a:srgbClr val="FFFFFF">
                <a:alpha val="12000"/>
              </a:srgbClr>
            </a:solidFill>
            <a:prstDash val="solid"/>
          </a:ln>
        </p:spPr>
      </p:sp>
      <p:sp>
        <p:nvSpPr>
          <p:cNvPr id="30" name="Shape 26"/>
          <p:cNvSpPr/>
          <p:nvPr/>
        </p:nvSpPr>
        <p:spPr>
          <a:xfrm>
            <a:off x="6135624" y="2220214"/>
            <a:ext cx="50292" cy="713232"/>
          </a:xfrm>
          <a:prstGeom prst="roundRect">
            <a:avLst>
              <a:gd name="adj" fmla="val 54545"/>
            </a:avLst>
          </a:prstGeom>
          <a:solidFill>
            <a:srgbClr val="22C55E">
              <a:alpha val="95000"/>
            </a:srgbClr>
          </a:solidFill>
          <a:ln/>
        </p:spPr>
      </p:sp>
      <p:sp>
        <p:nvSpPr>
          <p:cNvPr id="31" name="Text 27"/>
          <p:cNvSpPr/>
          <p:nvPr/>
        </p:nvSpPr>
        <p:spPr>
          <a:xfrm>
            <a:off x="6409944" y="2320798"/>
            <a:ext cx="4885639" cy="296037"/>
          </a:xfrm>
          <a:prstGeom prst="rect">
            <a:avLst/>
          </a:prstGeom>
          <a:noFill/>
          <a:ln/>
        </p:spPr>
        <p:txBody>
          <a:bodyPr wrap="square" lIns="0" tIns="0" rIns="0" bIns="0" rtlCol="0" anchor="t"/>
          <a:lstStyle/>
          <a:p>
            <a:pPr algn="l" indent="0" marL="0">
              <a:lnSpc>
                <a:spcPts val="1755"/>
              </a:lnSpc>
              <a:buNone/>
            </a:pPr>
            <a:r>
              <a:rPr lang="en-US" sz="1300" b="1" dirty="0">
                <a:solidFill>
                  <a:srgbClr val="FFFFFF"/>
                </a:solidFill>
                <a:latin typeface="Be Vietnam Pro" pitchFamily="34" charset="0"/>
                <a:ea typeface="Be Vietnam Pro" pitchFamily="34" charset="-122"/>
                <a:cs typeface="Be Vietnam Pro" pitchFamily="34" charset="-120"/>
              </a:rPr>
              <a:t>Đường đi thực tế, không phải đường chim bay</a:t>
            </a:r>
            <a:endParaRPr lang="en-US" sz="1300" dirty="0"/>
          </a:p>
        </p:txBody>
      </p:sp>
      <p:sp>
        <p:nvSpPr>
          <p:cNvPr id="32" name="Text 28"/>
          <p:cNvSpPr/>
          <p:nvPr/>
        </p:nvSpPr>
        <p:spPr>
          <a:xfrm>
            <a:off x="6409944" y="2585974"/>
            <a:ext cx="4885639" cy="263017"/>
          </a:xfrm>
          <a:prstGeom prst="rect">
            <a:avLst/>
          </a:prstGeom>
          <a:noFill/>
          <a:ln/>
        </p:spPr>
        <p:txBody>
          <a:bodyPr wrap="square" lIns="0" tIns="0" rIns="0" bIns="0" rtlCol="0" anchor="t"/>
          <a:lstStyle/>
          <a:p>
            <a:pPr algn="l" indent="0" marL="0">
              <a:lnSpc>
                <a:spcPts val="1495"/>
              </a:lnSpc>
              <a:buNone/>
            </a:pPr>
            <a:r>
              <a:rPr lang="en-US" sz="1150" dirty="0">
                <a:solidFill>
                  <a:srgbClr val="9BB0C6"/>
                </a:solidFill>
                <a:latin typeface="Be Vietnam Pro" pitchFamily="34" charset="0"/>
                <a:ea typeface="Be Vietnam Pro" pitchFamily="34" charset="-122"/>
                <a:cs typeface="Be Vietnam Pro" pitchFamily="34" charset="-120"/>
              </a:rPr>
              <a:t>Hệ thống định tuyến theo đường sá thật, không đo đường thẳng.</a:t>
            </a:r>
            <a:endParaRPr lang="en-US" sz="1150" dirty="0"/>
          </a:p>
        </p:txBody>
      </p:sp>
      <p:sp>
        <p:nvSpPr>
          <p:cNvPr id="33" name="Shape 29"/>
          <p:cNvSpPr/>
          <p:nvPr/>
        </p:nvSpPr>
        <p:spPr>
          <a:xfrm>
            <a:off x="6135624" y="3029458"/>
            <a:ext cx="5342839" cy="713232"/>
          </a:xfrm>
          <a:prstGeom prst="roundRect">
            <a:avLst>
              <a:gd name="adj" fmla="val 15385"/>
            </a:avLst>
          </a:prstGeom>
          <a:solidFill>
            <a:srgbClr val="091B2D">
              <a:alpha val="66000"/>
            </a:srgbClr>
          </a:solidFill>
          <a:ln w="12700">
            <a:solidFill>
              <a:srgbClr val="FFFFFF">
                <a:alpha val="12000"/>
              </a:srgbClr>
            </a:solidFill>
            <a:prstDash val="solid"/>
          </a:ln>
        </p:spPr>
      </p:sp>
      <p:sp>
        <p:nvSpPr>
          <p:cNvPr id="34" name="Shape 30"/>
          <p:cNvSpPr/>
          <p:nvPr/>
        </p:nvSpPr>
        <p:spPr>
          <a:xfrm>
            <a:off x="6135624" y="3029458"/>
            <a:ext cx="50292" cy="713232"/>
          </a:xfrm>
          <a:prstGeom prst="roundRect">
            <a:avLst>
              <a:gd name="adj" fmla="val 54545"/>
            </a:avLst>
          </a:prstGeom>
          <a:solidFill>
            <a:srgbClr val="FBBF24">
              <a:alpha val="95000"/>
            </a:srgbClr>
          </a:solidFill>
          <a:ln/>
        </p:spPr>
      </p:sp>
      <p:sp>
        <p:nvSpPr>
          <p:cNvPr id="35" name="Text 31"/>
          <p:cNvSpPr/>
          <p:nvPr/>
        </p:nvSpPr>
        <p:spPr>
          <a:xfrm>
            <a:off x="6409944" y="3130042"/>
            <a:ext cx="4885639" cy="296037"/>
          </a:xfrm>
          <a:prstGeom prst="rect">
            <a:avLst/>
          </a:prstGeom>
          <a:noFill/>
          <a:ln/>
        </p:spPr>
        <p:txBody>
          <a:bodyPr wrap="square" lIns="0" tIns="0" rIns="0" bIns="0" rtlCol="0" anchor="t"/>
          <a:lstStyle/>
          <a:p>
            <a:pPr algn="l" indent="0" marL="0">
              <a:lnSpc>
                <a:spcPts val="1755"/>
              </a:lnSpc>
              <a:buNone/>
            </a:pPr>
            <a:r>
              <a:rPr lang="en-US" sz="1300" b="1" dirty="0">
                <a:solidFill>
                  <a:srgbClr val="FFFFFF"/>
                </a:solidFill>
                <a:latin typeface="Be Vietnam Pro" pitchFamily="34" charset="0"/>
                <a:ea typeface="Be Vietnam Pro" pitchFamily="34" charset="-122"/>
                <a:cs typeface="Be Vietnam Pro" pitchFamily="34" charset="-120"/>
              </a:rPr>
              <a:t>Gần trước, hạn dùng gần hết trước</a:t>
            </a:r>
            <a:endParaRPr lang="en-US" sz="1300" dirty="0"/>
          </a:p>
        </p:txBody>
      </p:sp>
      <p:sp>
        <p:nvSpPr>
          <p:cNvPr id="36" name="Text 32"/>
          <p:cNvSpPr/>
          <p:nvPr/>
        </p:nvSpPr>
        <p:spPr>
          <a:xfrm>
            <a:off x="6409944" y="3395218"/>
            <a:ext cx="4885639" cy="263017"/>
          </a:xfrm>
          <a:prstGeom prst="rect">
            <a:avLst/>
          </a:prstGeom>
          <a:noFill/>
          <a:ln/>
        </p:spPr>
        <p:txBody>
          <a:bodyPr wrap="square" lIns="0" tIns="0" rIns="0" bIns="0" rtlCol="0" anchor="t"/>
          <a:lstStyle/>
          <a:p>
            <a:pPr algn="l" indent="0" marL="0">
              <a:lnSpc>
                <a:spcPts val="1495"/>
              </a:lnSpc>
              <a:buNone/>
            </a:pPr>
            <a:r>
              <a:rPr lang="en-US" sz="1150" dirty="0">
                <a:solidFill>
                  <a:srgbClr val="9BB0C6"/>
                </a:solidFill>
                <a:latin typeface="Be Vietnam Pro" pitchFamily="34" charset="0"/>
                <a:ea typeface="Be Vietnam Pro" pitchFamily="34" charset="-122"/>
                <a:cs typeface="Be Vietnam Pro" pitchFamily="34" charset="-120"/>
              </a:rPr>
              <a:t>Cùng khoảng cách thì ưu tiên lô sắp hết hạn, tránh lãng phí.</a:t>
            </a:r>
            <a:endParaRPr lang="en-US" sz="1150" dirty="0"/>
          </a:p>
        </p:txBody>
      </p:sp>
      <p:sp>
        <p:nvSpPr>
          <p:cNvPr id="37" name="Shape 33"/>
          <p:cNvSpPr/>
          <p:nvPr/>
        </p:nvSpPr>
        <p:spPr>
          <a:xfrm>
            <a:off x="6135624" y="3838702"/>
            <a:ext cx="5342839" cy="713232"/>
          </a:xfrm>
          <a:prstGeom prst="roundRect">
            <a:avLst>
              <a:gd name="adj" fmla="val 15385"/>
            </a:avLst>
          </a:prstGeom>
          <a:solidFill>
            <a:srgbClr val="091B2D">
              <a:alpha val="66000"/>
            </a:srgbClr>
          </a:solidFill>
          <a:ln w="12700">
            <a:solidFill>
              <a:srgbClr val="FFFFFF">
                <a:alpha val="12000"/>
              </a:srgbClr>
            </a:solidFill>
            <a:prstDash val="solid"/>
          </a:ln>
        </p:spPr>
      </p:sp>
      <p:sp>
        <p:nvSpPr>
          <p:cNvPr id="38" name="Shape 34"/>
          <p:cNvSpPr/>
          <p:nvPr/>
        </p:nvSpPr>
        <p:spPr>
          <a:xfrm>
            <a:off x="6135624" y="3838702"/>
            <a:ext cx="50292" cy="713232"/>
          </a:xfrm>
          <a:prstGeom prst="roundRect">
            <a:avLst>
              <a:gd name="adj" fmla="val 54545"/>
            </a:avLst>
          </a:prstGeom>
          <a:solidFill>
            <a:srgbClr val="38BDF8">
              <a:alpha val="95000"/>
            </a:srgbClr>
          </a:solidFill>
          <a:ln/>
        </p:spPr>
      </p:sp>
      <p:sp>
        <p:nvSpPr>
          <p:cNvPr id="39" name="Text 35"/>
          <p:cNvSpPr/>
          <p:nvPr/>
        </p:nvSpPr>
        <p:spPr>
          <a:xfrm>
            <a:off x="6409944" y="3939286"/>
            <a:ext cx="4885639" cy="296037"/>
          </a:xfrm>
          <a:prstGeom prst="rect">
            <a:avLst/>
          </a:prstGeom>
          <a:noFill/>
          <a:ln/>
        </p:spPr>
        <p:txBody>
          <a:bodyPr wrap="square" lIns="0" tIns="0" rIns="0" bIns="0" rtlCol="0" anchor="t"/>
          <a:lstStyle/>
          <a:p>
            <a:pPr algn="l" indent="0" marL="0">
              <a:lnSpc>
                <a:spcPts val="1755"/>
              </a:lnSpc>
              <a:buNone/>
            </a:pPr>
            <a:r>
              <a:rPr lang="en-US" sz="1300" b="1" dirty="0">
                <a:solidFill>
                  <a:srgbClr val="FFFFFF"/>
                </a:solidFill>
                <a:latin typeface="Be Vietnam Pro" pitchFamily="34" charset="0"/>
                <a:ea typeface="Be Vietnam Pro" pitchFamily="34" charset="-122"/>
                <a:cs typeface="Be Vietnam Pro" pitchFamily="34" charset="-120"/>
              </a:rPr>
              <a:t>Thiếu thì tràn sang kho kế tiếp</a:t>
            </a:r>
            <a:endParaRPr lang="en-US" sz="1300" dirty="0"/>
          </a:p>
        </p:txBody>
      </p:sp>
      <p:sp>
        <p:nvSpPr>
          <p:cNvPr id="40" name="Text 36"/>
          <p:cNvSpPr/>
          <p:nvPr/>
        </p:nvSpPr>
        <p:spPr>
          <a:xfrm>
            <a:off x="6409944" y="4204462"/>
            <a:ext cx="4885639" cy="263017"/>
          </a:xfrm>
          <a:prstGeom prst="rect">
            <a:avLst/>
          </a:prstGeom>
          <a:noFill/>
          <a:ln/>
        </p:spPr>
        <p:txBody>
          <a:bodyPr wrap="square" lIns="0" tIns="0" rIns="0" bIns="0" rtlCol="0" anchor="t"/>
          <a:lstStyle/>
          <a:p>
            <a:pPr algn="l" indent="0" marL="0">
              <a:lnSpc>
                <a:spcPts val="1495"/>
              </a:lnSpc>
              <a:buNone/>
            </a:pPr>
            <a:r>
              <a:rPr lang="en-US" sz="1150" dirty="0">
                <a:solidFill>
                  <a:srgbClr val="9BB0C6"/>
                </a:solidFill>
                <a:latin typeface="Be Vietnam Pro" pitchFamily="34" charset="0"/>
                <a:ea typeface="Be Vietnam Pro" pitchFamily="34" charset="-122"/>
                <a:cs typeface="Be Vietnam Pro" pitchFamily="34" charset="-120"/>
              </a:rPr>
              <a:t>Lấy hết phần kho gần có, phần thiếu chuyển sang kho gần kế tiếp.</a:t>
            </a:r>
            <a:endParaRPr lang="en-US" sz="1150" dirty="0"/>
          </a:p>
        </p:txBody>
      </p:sp>
      <p:sp>
        <p:nvSpPr>
          <p:cNvPr id="41" name="Shape 37"/>
          <p:cNvSpPr/>
          <p:nvPr/>
        </p:nvSpPr>
        <p:spPr>
          <a:xfrm>
            <a:off x="6135624" y="4647946"/>
            <a:ext cx="5342839" cy="713232"/>
          </a:xfrm>
          <a:prstGeom prst="roundRect">
            <a:avLst>
              <a:gd name="adj" fmla="val 15385"/>
            </a:avLst>
          </a:prstGeom>
          <a:solidFill>
            <a:srgbClr val="091B2D">
              <a:alpha val="66000"/>
            </a:srgbClr>
          </a:solidFill>
          <a:ln w="12700">
            <a:solidFill>
              <a:srgbClr val="FFFFFF">
                <a:alpha val="12000"/>
              </a:srgbClr>
            </a:solidFill>
            <a:prstDash val="solid"/>
          </a:ln>
        </p:spPr>
      </p:sp>
      <p:sp>
        <p:nvSpPr>
          <p:cNvPr id="42" name="Shape 38"/>
          <p:cNvSpPr/>
          <p:nvPr/>
        </p:nvSpPr>
        <p:spPr>
          <a:xfrm>
            <a:off x="6135624" y="4647946"/>
            <a:ext cx="50292" cy="713232"/>
          </a:xfrm>
          <a:prstGeom prst="roundRect">
            <a:avLst>
              <a:gd name="adj" fmla="val 54545"/>
            </a:avLst>
          </a:prstGeom>
          <a:solidFill>
            <a:srgbClr val="FB923C">
              <a:alpha val="95000"/>
            </a:srgbClr>
          </a:solidFill>
          <a:ln/>
        </p:spPr>
      </p:sp>
      <p:sp>
        <p:nvSpPr>
          <p:cNvPr id="43" name="Text 39"/>
          <p:cNvSpPr/>
          <p:nvPr/>
        </p:nvSpPr>
        <p:spPr>
          <a:xfrm>
            <a:off x="6409944" y="4748530"/>
            <a:ext cx="4885639" cy="296037"/>
          </a:xfrm>
          <a:prstGeom prst="rect">
            <a:avLst/>
          </a:prstGeom>
          <a:noFill/>
          <a:ln/>
        </p:spPr>
        <p:txBody>
          <a:bodyPr wrap="square" lIns="0" tIns="0" rIns="0" bIns="0" rtlCol="0" anchor="t"/>
          <a:lstStyle/>
          <a:p>
            <a:pPr algn="l" indent="0" marL="0">
              <a:lnSpc>
                <a:spcPts val="1755"/>
              </a:lnSpc>
              <a:buNone/>
            </a:pPr>
            <a:r>
              <a:rPr lang="en-US" sz="1300" b="1" dirty="0">
                <a:solidFill>
                  <a:srgbClr val="FFFFFF"/>
                </a:solidFill>
                <a:latin typeface="Be Vietnam Pro" pitchFamily="34" charset="0"/>
                <a:ea typeface="Be Vietnam Pro" pitchFamily="34" charset="-122"/>
                <a:cs typeface="Be Vietnam Pro" pitchFamily="34" charset="-120"/>
              </a:rPr>
              <a:t>Tự loại kho không thể xuất</a:t>
            </a:r>
            <a:endParaRPr lang="en-US" sz="1300" dirty="0"/>
          </a:p>
        </p:txBody>
      </p:sp>
      <p:sp>
        <p:nvSpPr>
          <p:cNvPr id="44" name="Text 40"/>
          <p:cNvSpPr/>
          <p:nvPr/>
        </p:nvSpPr>
        <p:spPr>
          <a:xfrm>
            <a:off x="6409944" y="5013706"/>
            <a:ext cx="4885639" cy="263017"/>
          </a:xfrm>
          <a:prstGeom prst="rect">
            <a:avLst/>
          </a:prstGeom>
          <a:noFill/>
          <a:ln/>
        </p:spPr>
        <p:txBody>
          <a:bodyPr wrap="square" lIns="0" tIns="0" rIns="0" bIns="0" rtlCol="0" anchor="t"/>
          <a:lstStyle/>
          <a:p>
            <a:pPr algn="l" indent="0" marL="0">
              <a:lnSpc>
                <a:spcPts val="1495"/>
              </a:lnSpc>
              <a:buNone/>
            </a:pPr>
            <a:r>
              <a:rPr lang="en-US" sz="1150" dirty="0">
                <a:solidFill>
                  <a:srgbClr val="9BB0C6"/>
                </a:solidFill>
                <a:latin typeface="Be Vietnam Pro" pitchFamily="34" charset="0"/>
                <a:ea typeface="Be Vietnam Pro" pitchFamily="34" charset="-122"/>
                <a:cs typeface="Be Vietnam Pro" pitchFamily="34" charset="-120"/>
              </a:rPr>
              <a:t>Kho đang có sự cố, vật tư hỏng hoặc hết hạn đều bị loại.</a:t>
            </a:r>
            <a:endParaRPr lang="en-US" sz="1150" dirty="0"/>
          </a:p>
        </p:txBody>
      </p:sp>
      <p:sp>
        <p:nvSpPr>
          <p:cNvPr id="45" name="Shape 41"/>
          <p:cNvSpPr/>
          <p:nvPr/>
        </p:nvSpPr>
        <p:spPr>
          <a:xfrm>
            <a:off x="6135624" y="5457190"/>
            <a:ext cx="5342839" cy="713232"/>
          </a:xfrm>
          <a:prstGeom prst="roundRect">
            <a:avLst>
              <a:gd name="adj" fmla="val 15385"/>
            </a:avLst>
          </a:prstGeom>
          <a:solidFill>
            <a:srgbClr val="091B2D">
              <a:alpha val="66000"/>
            </a:srgbClr>
          </a:solidFill>
          <a:ln w="12700">
            <a:solidFill>
              <a:srgbClr val="FFFFFF">
                <a:alpha val="12000"/>
              </a:srgbClr>
            </a:solidFill>
            <a:prstDash val="solid"/>
          </a:ln>
        </p:spPr>
      </p:sp>
      <p:sp>
        <p:nvSpPr>
          <p:cNvPr id="46" name="Shape 42"/>
          <p:cNvSpPr/>
          <p:nvPr/>
        </p:nvSpPr>
        <p:spPr>
          <a:xfrm>
            <a:off x="6135624" y="5457190"/>
            <a:ext cx="50292" cy="713232"/>
          </a:xfrm>
          <a:prstGeom prst="roundRect">
            <a:avLst>
              <a:gd name="adj" fmla="val 54545"/>
            </a:avLst>
          </a:prstGeom>
          <a:solidFill>
            <a:srgbClr val="F87171">
              <a:alpha val="95000"/>
            </a:srgbClr>
          </a:solidFill>
          <a:ln/>
        </p:spPr>
      </p:sp>
      <p:sp>
        <p:nvSpPr>
          <p:cNvPr id="47" name="Text 43"/>
          <p:cNvSpPr/>
          <p:nvPr/>
        </p:nvSpPr>
        <p:spPr>
          <a:xfrm>
            <a:off x="6409944" y="5557774"/>
            <a:ext cx="4885639" cy="296037"/>
          </a:xfrm>
          <a:prstGeom prst="rect">
            <a:avLst/>
          </a:prstGeom>
          <a:noFill/>
          <a:ln/>
        </p:spPr>
        <p:txBody>
          <a:bodyPr wrap="square" lIns="0" tIns="0" rIns="0" bIns="0" rtlCol="0" anchor="t"/>
          <a:lstStyle/>
          <a:p>
            <a:pPr algn="l" indent="0" marL="0">
              <a:lnSpc>
                <a:spcPts val="1755"/>
              </a:lnSpc>
              <a:buNone/>
            </a:pPr>
            <a:r>
              <a:rPr lang="en-US" sz="1300" b="1" dirty="0">
                <a:solidFill>
                  <a:srgbClr val="FFFFFF"/>
                </a:solidFill>
                <a:latin typeface="Be Vietnam Pro" pitchFamily="34" charset="0"/>
                <a:ea typeface="Be Vietnam Pro" pitchFamily="34" charset="-122"/>
                <a:cs typeface="Be Vietnam Pro" pitchFamily="34" charset="-120"/>
              </a:rPr>
              <a:t>Cả xã vẫn không đủ?</a:t>
            </a:r>
            <a:endParaRPr lang="en-US" sz="1300" dirty="0"/>
          </a:p>
        </p:txBody>
      </p:sp>
      <p:sp>
        <p:nvSpPr>
          <p:cNvPr id="48" name="Text 44"/>
          <p:cNvSpPr/>
          <p:nvPr/>
        </p:nvSpPr>
        <p:spPr>
          <a:xfrm>
            <a:off x="6409944" y="5822950"/>
            <a:ext cx="4885639" cy="263017"/>
          </a:xfrm>
          <a:prstGeom prst="rect">
            <a:avLst/>
          </a:prstGeom>
          <a:noFill/>
          <a:ln/>
        </p:spPr>
        <p:txBody>
          <a:bodyPr wrap="square" lIns="0" tIns="0" rIns="0" bIns="0" rtlCol="0" anchor="t"/>
          <a:lstStyle/>
          <a:p>
            <a:pPr algn="l" indent="0" marL="0">
              <a:lnSpc>
                <a:spcPts val="1495"/>
              </a:lnSpc>
              <a:buNone/>
            </a:pPr>
            <a:r>
              <a:rPr lang="en-US" sz="1150" dirty="0">
                <a:solidFill>
                  <a:srgbClr val="9BB0C6"/>
                </a:solidFill>
                <a:latin typeface="Be Vietnam Pro" pitchFamily="34" charset="0"/>
                <a:ea typeface="Be Vietnam Pro" pitchFamily="34" charset="-122"/>
                <a:cs typeface="Be Vietnam Pro" pitchFamily="34" charset="-120"/>
              </a:rPr>
              <a:t>Hệ thống gợi ý kho của xã lân cận để người điều phối liên hệ.</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4101F"/>
        </a:solidFill>
      </p:bgPr>
    </p:bg>
    <p:spTree>
      <p:nvGrpSpPr>
        <p:cNvPr id="1" name=""/>
        <p:cNvGrpSpPr/>
        <p:nvPr/>
      </p:nvGrpSpPr>
      <p:grpSpPr>
        <a:xfrm>
          <a:off x="0" y="0"/>
          <a:ext cx="0" cy="0"/>
          <a:chOff x="0" y="0"/>
          <a:chExt cx="0" cy="0"/>
        </a:xfrm>
      </p:grpSpPr>
      <p:pic>
        <p:nvPicPr>
          <p:cNvPr id="2" name="Image 0" descr="bg-content.jp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4101F">
              <a:alpha val="34000"/>
            </a:srgbClr>
          </a:solidFill>
          <a:ln/>
        </p:spPr>
      </p:sp>
      <p:pic>
        <p:nvPicPr>
          <p:cNvPr id="4" name="Image 1" descr="mark-sm.png">    </p:cNvPr>
          <p:cNvPicPr>
            <a:picLocks noChangeAspect="1"/>
          </p:cNvPicPr>
          <p:nvPr/>
        </p:nvPicPr>
        <p:blipFill>
          <a:blip r:embed="rId2"/>
          <a:stretch>
            <a:fillRect/>
          </a:stretch>
        </p:blipFill>
        <p:spPr>
          <a:xfrm>
            <a:off x="713232" y="365760"/>
            <a:ext cx="310896" cy="310896"/>
          </a:xfrm>
          <a:prstGeom prst="rect">
            <a:avLst/>
          </a:prstGeom>
        </p:spPr>
      </p:pic>
      <p:sp>
        <p:nvSpPr>
          <p:cNvPr id="5" name="Text 1"/>
          <p:cNvSpPr/>
          <p:nvPr/>
        </p:nvSpPr>
        <p:spPr>
          <a:xfrm>
            <a:off x="1170432" y="384048"/>
            <a:ext cx="3749040" cy="261747"/>
          </a:xfrm>
          <a:prstGeom prst="rect">
            <a:avLst/>
          </a:prstGeom>
          <a:noFill/>
          <a:ln/>
        </p:spPr>
        <p:txBody>
          <a:bodyPr wrap="square" lIns="0" tIns="0" rIns="0" bIns="0" rtlCol="0" anchor="t"/>
          <a:lstStyle/>
          <a:p>
            <a:pPr algn="l" indent="0" marL="0">
              <a:lnSpc>
                <a:spcPts val="1485"/>
              </a:lnSpc>
              <a:buNone/>
            </a:pPr>
            <a:r>
              <a:rPr lang="en-US" sz="1100" b="1" spc="160" kern="0" dirty="0">
                <a:solidFill>
                  <a:srgbClr val="6EE7A8"/>
                </a:solidFill>
                <a:latin typeface="Be Vietnam Pro" pitchFamily="34" charset="0"/>
                <a:ea typeface="Be Vietnam Pro" pitchFamily="34" charset="-122"/>
                <a:cs typeface="Be Vietnam Pro" pitchFamily="34" charset="-120"/>
              </a:rPr>
              <a:t>ỨNG PHÓ NHANH</a:t>
            </a:r>
            <a:endParaRPr lang="en-US" sz="1100" dirty="0"/>
          </a:p>
        </p:txBody>
      </p:sp>
      <p:sp>
        <p:nvSpPr>
          <p:cNvPr id="6" name="Text 2"/>
          <p:cNvSpPr/>
          <p:nvPr/>
        </p:nvSpPr>
        <p:spPr>
          <a:xfrm>
            <a:off x="8643823" y="384048"/>
            <a:ext cx="2834640" cy="261747"/>
          </a:xfrm>
          <a:prstGeom prst="rect">
            <a:avLst/>
          </a:prstGeom>
          <a:noFill/>
          <a:ln/>
        </p:spPr>
        <p:txBody>
          <a:bodyPr wrap="square" lIns="0" tIns="0" rIns="0" bIns="0" rtlCol="0" anchor="t"/>
          <a:lstStyle/>
          <a:p>
            <a:pPr algn="r" indent="0" marL="0">
              <a:lnSpc>
                <a:spcPts val="1485"/>
              </a:lnSpc>
              <a:buNone/>
            </a:pPr>
            <a:r>
              <a:rPr lang="en-US" sz="1100" b="1" dirty="0">
                <a:solidFill>
                  <a:srgbClr val="7189A2"/>
                </a:solidFill>
                <a:latin typeface="Be Vietnam Pro" pitchFamily="34" charset="0"/>
                <a:ea typeface="Be Vietnam Pro" pitchFamily="34" charset="-122"/>
                <a:cs typeface="Be Vietnam Pro" pitchFamily="34" charset="-120"/>
              </a:rPr>
              <a:t>10 / 24</a:t>
            </a:r>
            <a:endParaRPr lang="en-US" sz="1100" dirty="0"/>
          </a:p>
        </p:txBody>
      </p:sp>
      <p:sp>
        <p:nvSpPr>
          <p:cNvPr id="7" name="Shape 3"/>
          <p:cNvSpPr/>
          <p:nvPr/>
        </p:nvSpPr>
        <p:spPr>
          <a:xfrm>
            <a:off x="713232" y="868680"/>
            <a:ext cx="10765231" cy="10973"/>
          </a:xfrm>
          <a:prstGeom prst="rect">
            <a:avLst/>
          </a:prstGeom>
          <a:solidFill>
            <a:srgbClr val="FFFFFF">
              <a:alpha val="16000"/>
            </a:srgbClr>
          </a:solidFill>
          <a:ln/>
        </p:spPr>
      </p:sp>
      <p:sp>
        <p:nvSpPr>
          <p:cNvPr id="8" name="Text 4"/>
          <p:cNvSpPr/>
          <p:nvPr/>
        </p:nvSpPr>
        <p:spPr>
          <a:xfrm>
            <a:off x="713232" y="1133856"/>
            <a:ext cx="8321040" cy="270320"/>
          </a:xfrm>
          <a:prstGeom prst="rect">
            <a:avLst/>
          </a:prstGeom>
          <a:noFill/>
          <a:ln/>
        </p:spPr>
        <p:txBody>
          <a:bodyPr wrap="square" lIns="0" tIns="0" rIns="0" bIns="0" rtlCol="0" anchor="t"/>
          <a:lstStyle/>
          <a:p>
            <a:pPr algn="l" indent="0" marL="0">
              <a:lnSpc>
                <a:spcPts val="1553"/>
              </a:lnSpc>
              <a:buNone/>
            </a:pPr>
            <a:r>
              <a:rPr lang="en-US" sz="1150" b="1" spc="220" kern="0" dirty="0">
                <a:solidFill>
                  <a:srgbClr val="22C55E"/>
                </a:solidFill>
                <a:latin typeface="Be Vietnam Pro" pitchFamily="34" charset="0"/>
                <a:ea typeface="Be Vietnam Pro" pitchFamily="34" charset="-122"/>
                <a:cs typeface="Be Vietnam Pro" pitchFamily="34" charset="-120"/>
              </a:rPr>
              <a:t>QUY TRÌNH ĐIỀU PHỐI CỨU HỘ · BƯỚC 4 / 6</a:t>
            </a:r>
            <a:endParaRPr lang="en-US" sz="1150" dirty="0"/>
          </a:p>
        </p:txBody>
      </p:sp>
      <p:sp>
        <p:nvSpPr>
          <p:cNvPr id="9" name="Text 5"/>
          <p:cNvSpPr/>
          <p:nvPr/>
        </p:nvSpPr>
        <p:spPr>
          <a:xfrm>
            <a:off x="713232" y="1426464"/>
            <a:ext cx="10490911" cy="537718"/>
          </a:xfrm>
          <a:prstGeom prst="rect">
            <a:avLst/>
          </a:prstGeom>
          <a:noFill/>
          <a:ln/>
        </p:spPr>
        <p:txBody>
          <a:bodyPr wrap="square" lIns="0" tIns="0" rIns="0" bIns="0" rtlCol="0" anchor="t"/>
          <a:lstStyle/>
          <a:p>
            <a:pPr algn="l" indent="0" marL="0">
              <a:lnSpc>
                <a:spcPts val="3658"/>
              </a:lnSpc>
              <a:buNone/>
            </a:pPr>
            <a:r>
              <a:rPr lang="en-US" sz="3100" b="1" dirty="0">
                <a:solidFill>
                  <a:srgbClr val="FFFFFF"/>
                </a:solidFill>
                <a:latin typeface="Be Vietnam Pro" pitchFamily="34" charset="0"/>
                <a:ea typeface="Be Vietnam Pro" pitchFamily="34" charset="-122"/>
                <a:cs typeface="Be Vietnam Pro" pitchFamily="34" charset="-120"/>
              </a:rPr>
              <a:t>Phương án được duyệt, thông tin đầy đủ</a:t>
            </a:r>
            <a:endParaRPr lang="en-US" sz="3100" dirty="0"/>
          </a:p>
        </p:txBody>
      </p:sp>
      <p:sp>
        <p:nvSpPr>
          <p:cNvPr id="10" name="Shape 6"/>
          <p:cNvSpPr/>
          <p:nvPr/>
        </p:nvSpPr>
        <p:spPr>
          <a:xfrm>
            <a:off x="713232" y="6272784"/>
            <a:ext cx="10765231" cy="9144"/>
          </a:xfrm>
          <a:prstGeom prst="rect">
            <a:avLst/>
          </a:prstGeom>
          <a:solidFill>
            <a:srgbClr val="FFFFFF">
              <a:alpha val="10000"/>
            </a:srgbClr>
          </a:solidFill>
          <a:ln/>
        </p:spPr>
      </p:sp>
      <p:sp>
        <p:nvSpPr>
          <p:cNvPr id="11" name="Text 7"/>
          <p:cNvSpPr/>
          <p:nvPr/>
        </p:nvSpPr>
        <p:spPr>
          <a:xfrm>
            <a:off x="8643823" y="6382512"/>
            <a:ext cx="2834640" cy="236030"/>
          </a:xfrm>
          <a:prstGeom prst="rect">
            <a:avLst/>
          </a:prstGeom>
          <a:noFill/>
          <a:ln/>
        </p:spPr>
        <p:txBody>
          <a:bodyPr wrap="square" lIns="0" tIns="0" rIns="0" bIns="0" rtlCol="0" anchor="t"/>
          <a:lstStyle/>
          <a:p>
            <a:pPr algn="r" indent="0" marL="0">
              <a:lnSpc>
                <a:spcPts val="1283"/>
              </a:lnSpc>
              <a:buNone/>
            </a:pPr>
            <a:r>
              <a:rPr lang="en-US" sz="950" dirty="0">
                <a:solidFill>
                  <a:srgbClr val="7189A2"/>
                </a:solidFill>
                <a:latin typeface="Be Vietnam Pro" pitchFamily="34" charset="0"/>
                <a:ea typeface="Be Vietnam Pro" pitchFamily="34" charset="-122"/>
                <a:cs typeface="Be Vietnam Pro" pitchFamily="34" charset="-120"/>
              </a:rPr>
              <a:t>ungphonhanh.life</a:t>
            </a:r>
            <a:endParaRPr lang="en-US" sz="950" dirty="0"/>
          </a:p>
        </p:txBody>
      </p:sp>
      <p:sp>
        <p:nvSpPr>
          <p:cNvPr id="12" name="Shape 8"/>
          <p:cNvSpPr/>
          <p:nvPr/>
        </p:nvSpPr>
        <p:spPr>
          <a:xfrm rot="5400000">
            <a:off x="4144670" y="2979166"/>
            <a:ext cx="219456" cy="219456"/>
          </a:xfrm>
          <a:prstGeom prst="triangle">
            <a:avLst/>
          </a:prstGeom>
          <a:solidFill>
            <a:srgbClr val="22C55E">
              <a:alpha val="75000"/>
            </a:srgbClr>
          </a:solidFill>
          <a:ln/>
        </p:spPr>
      </p:sp>
      <p:sp>
        <p:nvSpPr>
          <p:cNvPr id="13" name="Shape 9"/>
          <p:cNvSpPr/>
          <p:nvPr/>
        </p:nvSpPr>
        <p:spPr>
          <a:xfrm rot="16200000">
            <a:off x="4135526" y="5118862"/>
            <a:ext cx="219456" cy="219456"/>
          </a:xfrm>
          <a:prstGeom prst="triangle">
            <a:avLst/>
          </a:prstGeom>
          <a:solidFill>
            <a:srgbClr val="22C55E">
              <a:alpha val="75000"/>
            </a:srgbClr>
          </a:solidFill>
          <a:ln/>
        </p:spPr>
      </p:sp>
      <p:sp>
        <p:nvSpPr>
          <p:cNvPr id="14" name="Shape 10"/>
          <p:cNvSpPr/>
          <p:nvPr/>
        </p:nvSpPr>
        <p:spPr>
          <a:xfrm rot="5400000">
            <a:off x="7836713" y="2979166"/>
            <a:ext cx="219456" cy="219456"/>
          </a:xfrm>
          <a:prstGeom prst="triangle">
            <a:avLst/>
          </a:prstGeom>
          <a:solidFill>
            <a:srgbClr val="22C55E">
              <a:alpha val="75000"/>
            </a:srgbClr>
          </a:solidFill>
          <a:ln/>
        </p:spPr>
      </p:sp>
      <p:sp>
        <p:nvSpPr>
          <p:cNvPr id="15" name="Shape 11"/>
          <p:cNvSpPr/>
          <p:nvPr/>
        </p:nvSpPr>
        <p:spPr>
          <a:xfrm rot="16200000">
            <a:off x="7827569" y="5118862"/>
            <a:ext cx="219456" cy="219456"/>
          </a:xfrm>
          <a:prstGeom prst="triangle">
            <a:avLst/>
          </a:prstGeom>
          <a:solidFill>
            <a:srgbClr val="22C55E">
              <a:alpha val="75000"/>
            </a:srgbClr>
          </a:solidFill>
          <a:ln/>
        </p:spPr>
      </p:sp>
      <p:sp>
        <p:nvSpPr>
          <p:cNvPr id="16" name="Shape 12"/>
          <p:cNvSpPr/>
          <p:nvPr/>
        </p:nvSpPr>
        <p:spPr>
          <a:xfrm>
            <a:off x="9777832" y="3957574"/>
            <a:ext cx="20117" cy="246888"/>
          </a:xfrm>
          <a:prstGeom prst="rect">
            <a:avLst/>
          </a:prstGeom>
          <a:solidFill>
            <a:srgbClr val="2E7D55">
              <a:alpha val="85000"/>
            </a:srgbClr>
          </a:solidFill>
          <a:ln/>
        </p:spPr>
      </p:sp>
      <p:sp>
        <p:nvSpPr>
          <p:cNvPr id="17" name="Shape 13"/>
          <p:cNvSpPr/>
          <p:nvPr/>
        </p:nvSpPr>
        <p:spPr>
          <a:xfrm rot="10800000">
            <a:off x="9696450" y="4181602"/>
            <a:ext cx="182880" cy="182880"/>
          </a:xfrm>
          <a:prstGeom prst="triangle">
            <a:avLst/>
          </a:prstGeom>
          <a:solidFill>
            <a:srgbClr val="22C55E">
              <a:alpha val="75000"/>
            </a:srgbClr>
          </a:solidFill>
          <a:ln/>
        </p:spPr>
      </p:sp>
      <p:sp>
        <p:nvSpPr>
          <p:cNvPr id="18" name="Shape 14"/>
          <p:cNvSpPr/>
          <p:nvPr/>
        </p:nvSpPr>
        <p:spPr>
          <a:xfrm>
            <a:off x="713232" y="2220214"/>
            <a:ext cx="3381146" cy="1737360"/>
          </a:xfrm>
          <a:prstGeom prst="roundRect">
            <a:avLst>
              <a:gd name="adj" fmla="val 6316"/>
            </a:avLst>
          </a:prstGeom>
          <a:solidFill>
            <a:srgbClr val="091B2D">
              <a:alpha val="55000"/>
            </a:srgbClr>
          </a:solidFill>
          <a:ln w="12700">
            <a:solidFill>
              <a:srgbClr val="FFFFFF">
                <a:alpha val="10000"/>
              </a:srgbClr>
            </a:solidFill>
            <a:prstDash val="solid"/>
          </a:ln>
        </p:spPr>
      </p:sp>
      <p:sp>
        <p:nvSpPr>
          <p:cNvPr id="19" name="Shape 15"/>
          <p:cNvSpPr/>
          <p:nvPr/>
        </p:nvSpPr>
        <p:spPr>
          <a:xfrm>
            <a:off x="713232" y="2220214"/>
            <a:ext cx="50292" cy="1737360"/>
          </a:xfrm>
          <a:prstGeom prst="roundRect">
            <a:avLst>
              <a:gd name="adj" fmla="val 54545"/>
            </a:avLst>
          </a:prstGeom>
          <a:solidFill>
            <a:srgbClr val="3C5468">
              <a:alpha val="95000"/>
            </a:srgbClr>
          </a:solidFill>
          <a:ln/>
        </p:spPr>
      </p:sp>
      <p:sp>
        <p:nvSpPr>
          <p:cNvPr id="20" name="Shape 16"/>
          <p:cNvSpPr/>
          <p:nvPr/>
        </p:nvSpPr>
        <p:spPr>
          <a:xfrm>
            <a:off x="987552" y="2439670"/>
            <a:ext cx="420624" cy="420624"/>
          </a:xfrm>
          <a:prstGeom prst="roundRect">
            <a:avLst>
              <a:gd name="adj" fmla="val 50000"/>
            </a:avLst>
          </a:prstGeom>
          <a:solidFill>
            <a:srgbClr val="04101F">
              <a:alpha val="88000"/>
            </a:srgbClr>
          </a:solidFill>
          <a:ln/>
        </p:spPr>
      </p:sp>
      <p:sp>
        <p:nvSpPr>
          <p:cNvPr id="21" name="Shape 17"/>
          <p:cNvSpPr/>
          <p:nvPr/>
        </p:nvSpPr>
        <p:spPr>
          <a:xfrm>
            <a:off x="987552" y="2439670"/>
            <a:ext cx="420624" cy="420624"/>
          </a:xfrm>
          <a:prstGeom prst="roundRect">
            <a:avLst>
              <a:gd name="adj" fmla="val 50000"/>
            </a:avLst>
          </a:prstGeom>
          <a:solidFill>
            <a:srgbClr val="3C5468">
              <a:alpha val="20000"/>
            </a:srgbClr>
          </a:solidFill>
          <a:ln w="15240">
            <a:solidFill>
              <a:srgbClr val="3C5468">
                <a:alpha val="70000"/>
              </a:srgbClr>
            </a:solidFill>
            <a:prstDash val="solid"/>
          </a:ln>
        </p:spPr>
      </p:sp>
      <p:sp>
        <p:nvSpPr>
          <p:cNvPr id="22" name="Text 18"/>
          <p:cNvSpPr/>
          <p:nvPr/>
        </p:nvSpPr>
        <p:spPr>
          <a:xfrm>
            <a:off x="941832" y="2512822"/>
            <a:ext cx="512064" cy="330327"/>
          </a:xfrm>
          <a:prstGeom prst="rect">
            <a:avLst/>
          </a:prstGeom>
          <a:noFill/>
          <a:ln/>
        </p:spPr>
        <p:txBody>
          <a:bodyPr wrap="square" lIns="0" tIns="0" rIns="0" bIns="0" rtlCol="0" anchor="t"/>
          <a:lstStyle/>
          <a:p>
            <a:pPr algn="ctr" indent="0" marL="0">
              <a:lnSpc>
                <a:spcPts val="2025"/>
              </a:lnSpc>
              <a:buNone/>
            </a:pPr>
            <a:r>
              <a:rPr lang="en-US" sz="1500" b="1" dirty="0">
                <a:solidFill>
                  <a:srgbClr val="3C5468"/>
                </a:solidFill>
                <a:latin typeface="Be Vietnam Pro" pitchFamily="34" charset="0"/>
                <a:ea typeface="Be Vietnam Pro" pitchFamily="34" charset="-122"/>
                <a:cs typeface="Be Vietnam Pro" pitchFamily="34" charset="-120"/>
              </a:rPr>
              <a:t>1</a:t>
            </a:r>
            <a:endParaRPr lang="en-US" sz="1500" dirty="0"/>
          </a:p>
        </p:txBody>
      </p:sp>
      <p:sp>
        <p:nvSpPr>
          <p:cNvPr id="23" name="Text 19"/>
          <p:cNvSpPr/>
          <p:nvPr/>
        </p:nvSpPr>
        <p:spPr>
          <a:xfrm>
            <a:off x="1536192" y="2485390"/>
            <a:ext cx="2393594" cy="295402"/>
          </a:xfrm>
          <a:prstGeom prst="rect">
            <a:avLst/>
          </a:prstGeom>
          <a:noFill/>
          <a:ln/>
        </p:spPr>
        <p:txBody>
          <a:bodyPr wrap="square" lIns="0" tIns="0" rIns="0" bIns="0" rtlCol="0" anchor="t"/>
          <a:lstStyle/>
          <a:p>
            <a:pPr algn="l" indent="0" marL="0">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Ghi nhận tình huống</a:t>
            </a:r>
            <a:endParaRPr lang="en-US" sz="1400" dirty="0"/>
          </a:p>
        </p:txBody>
      </p:sp>
      <p:sp>
        <p:nvSpPr>
          <p:cNvPr id="24" name="Text 20"/>
          <p:cNvSpPr/>
          <p:nvPr/>
        </p:nvSpPr>
        <p:spPr>
          <a:xfrm>
            <a:off x="987552" y="3098038"/>
            <a:ext cx="2923946" cy="487934"/>
          </a:xfrm>
          <a:prstGeom prst="rect">
            <a:avLst/>
          </a:prstGeom>
          <a:noFill/>
          <a:ln/>
        </p:spPr>
        <p:txBody>
          <a:bodyPr wrap="square" lIns="0" tIns="0" rIns="0" bIns="0" rtlCol="0" anchor="t"/>
          <a:lstStyle/>
          <a:p>
            <a:pPr algn="l" indent="0" marL="0">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Trưởng thôn báo cáo và ghim điểm gặp</a:t>
            </a:r>
            <a:endParaRPr lang="en-US" sz="1150" dirty="0"/>
          </a:p>
          <a:p>
            <a:pPr algn="l" indent="0" marL="0">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nạn lên bản đồ.</a:t>
            </a:r>
            <a:endParaRPr lang="en-US" sz="1150" dirty="0"/>
          </a:p>
        </p:txBody>
      </p:sp>
      <p:sp>
        <p:nvSpPr>
          <p:cNvPr id="25" name="Shape 21"/>
          <p:cNvSpPr/>
          <p:nvPr/>
        </p:nvSpPr>
        <p:spPr>
          <a:xfrm>
            <a:off x="4405274" y="2220214"/>
            <a:ext cx="3381146" cy="1737360"/>
          </a:xfrm>
          <a:prstGeom prst="roundRect">
            <a:avLst>
              <a:gd name="adj" fmla="val 6316"/>
            </a:avLst>
          </a:prstGeom>
          <a:solidFill>
            <a:srgbClr val="091B2D">
              <a:alpha val="55000"/>
            </a:srgbClr>
          </a:solidFill>
          <a:ln w="12700">
            <a:solidFill>
              <a:srgbClr val="FFFFFF">
                <a:alpha val="10000"/>
              </a:srgbClr>
            </a:solidFill>
            <a:prstDash val="solid"/>
          </a:ln>
        </p:spPr>
      </p:sp>
      <p:sp>
        <p:nvSpPr>
          <p:cNvPr id="26" name="Shape 22"/>
          <p:cNvSpPr/>
          <p:nvPr/>
        </p:nvSpPr>
        <p:spPr>
          <a:xfrm>
            <a:off x="4405274" y="2220214"/>
            <a:ext cx="50292" cy="1737360"/>
          </a:xfrm>
          <a:prstGeom prst="roundRect">
            <a:avLst>
              <a:gd name="adj" fmla="val 54545"/>
            </a:avLst>
          </a:prstGeom>
          <a:solidFill>
            <a:srgbClr val="3C5468">
              <a:alpha val="95000"/>
            </a:srgbClr>
          </a:solidFill>
          <a:ln/>
        </p:spPr>
      </p:sp>
      <p:sp>
        <p:nvSpPr>
          <p:cNvPr id="27" name="Shape 23"/>
          <p:cNvSpPr/>
          <p:nvPr/>
        </p:nvSpPr>
        <p:spPr>
          <a:xfrm>
            <a:off x="4679594" y="2439670"/>
            <a:ext cx="420624" cy="420624"/>
          </a:xfrm>
          <a:prstGeom prst="roundRect">
            <a:avLst>
              <a:gd name="adj" fmla="val 50000"/>
            </a:avLst>
          </a:prstGeom>
          <a:solidFill>
            <a:srgbClr val="04101F">
              <a:alpha val="88000"/>
            </a:srgbClr>
          </a:solidFill>
          <a:ln/>
        </p:spPr>
      </p:sp>
      <p:sp>
        <p:nvSpPr>
          <p:cNvPr id="28" name="Shape 24"/>
          <p:cNvSpPr/>
          <p:nvPr/>
        </p:nvSpPr>
        <p:spPr>
          <a:xfrm>
            <a:off x="4679594" y="2439670"/>
            <a:ext cx="420624" cy="420624"/>
          </a:xfrm>
          <a:prstGeom prst="roundRect">
            <a:avLst>
              <a:gd name="adj" fmla="val 50000"/>
            </a:avLst>
          </a:prstGeom>
          <a:solidFill>
            <a:srgbClr val="3C5468">
              <a:alpha val="20000"/>
            </a:srgbClr>
          </a:solidFill>
          <a:ln w="15240">
            <a:solidFill>
              <a:srgbClr val="3C5468">
                <a:alpha val="70000"/>
              </a:srgbClr>
            </a:solidFill>
            <a:prstDash val="solid"/>
          </a:ln>
        </p:spPr>
      </p:sp>
      <p:sp>
        <p:nvSpPr>
          <p:cNvPr id="29" name="Text 25"/>
          <p:cNvSpPr/>
          <p:nvPr/>
        </p:nvSpPr>
        <p:spPr>
          <a:xfrm>
            <a:off x="4633874" y="2512822"/>
            <a:ext cx="512064" cy="330327"/>
          </a:xfrm>
          <a:prstGeom prst="rect">
            <a:avLst/>
          </a:prstGeom>
          <a:noFill/>
          <a:ln/>
        </p:spPr>
        <p:txBody>
          <a:bodyPr wrap="square" lIns="0" tIns="0" rIns="0" bIns="0" rtlCol="0" anchor="t"/>
          <a:lstStyle/>
          <a:p>
            <a:pPr algn="ctr" indent="0" marL="0">
              <a:lnSpc>
                <a:spcPts val="2025"/>
              </a:lnSpc>
              <a:buNone/>
            </a:pPr>
            <a:r>
              <a:rPr lang="en-US" sz="1500" b="1" dirty="0">
                <a:solidFill>
                  <a:srgbClr val="3C5468"/>
                </a:solidFill>
                <a:latin typeface="Be Vietnam Pro" pitchFamily="34" charset="0"/>
                <a:ea typeface="Be Vietnam Pro" pitchFamily="34" charset="-122"/>
                <a:cs typeface="Be Vietnam Pro" pitchFamily="34" charset="-120"/>
              </a:rPr>
              <a:t>2</a:t>
            </a:r>
            <a:endParaRPr lang="en-US" sz="1500" dirty="0"/>
          </a:p>
        </p:txBody>
      </p:sp>
      <p:sp>
        <p:nvSpPr>
          <p:cNvPr id="30" name="Text 26"/>
          <p:cNvSpPr/>
          <p:nvPr/>
        </p:nvSpPr>
        <p:spPr>
          <a:xfrm>
            <a:off x="5228234" y="2485390"/>
            <a:ext cx="2393594" cy="517652"/>
          </a:xfrm>
          <a:prstGeom prst="rect">
            <a:avLst/>
          </a:prstGeom>
          <a:noFill/>
          <a:ln/>
        </p:spPr>
        <p:txBody>
          <a:bodyPr wrap="square" lIns="0" tIns="0" rIns="0" bIns="0" rtlCol="0" anchor="t"/>
          <a:lstStyle/>
          <a:p>
            <a:pPr algn="l" indent="0" marL="0">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AI phân tích và con người</a:t>
            </a:r>
            <a:endParaRPr lang="en-US" sz="1400" dirty="0"/>
          </a:p>
          <a:p>
            <a:pPr algn="l" indent="0" marL="0">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điều phối</a:t>
            </a:r>
            <a:endParaRPr lang="en-US" sz="1400" dirty="0"/>
          </a:p>
        </p:txBody>
      </p:sp>
      <p:sp>
        <p:nvSpPr>
          <p:cNvPr id="31" name="Text 27"/>
          <p:cNvSpPr/>
          <p:nvPr/>
        </p:nvSpPr>
        <p:spPr>
          <a:xfrm>
            <a:off x="4679594" y="3098038"/>
            <a:ext cx="2923946" cy="695325"/>
          </a:xfrm>
          <a:prstGeom prst="rect">
            <a:avLst/>
          </a:prstGeom>
          <a:noFill/>
          <a:ln/>
        </p:spPr>
        <p:txBody>
          <a:bodyPr wrap="square" lIns="0" tIns="0" rIns="0" bIns="0" rtlCol="0" anchor="t"/>
          <a:lstStyle/>
          <a:p>
            <a:pPr algn="l" indent="0" marL="0">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AI đọc mô tả bằng lời thành số liệu và</a:t>
            </a:r>
            <a:endParaRPr lang="en-US" sz="1150" dirty="0"/>
          </a:p>
          <a:p>
            <a:pPr algn="l" indent="0" marL="0">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đề xuất vật tư, người điều phối sẽ chốt</a:t>
            </a:r>
            <a:endParaRPr lang="en-US" sz="1150" dirty="0"/>
          </a:p>
          <a:p>
            <a:pPr algn="l" indent="0" marL="0">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phương án.</a:t>
            </a:r>
            <a:endParaRPr lang="en-US" sz="1150" dirty="0"/>
          </a:p>
        </p:txBody>
      </p:sp>
      <p:sp>
        <p:nvSpPr>
          <p:cNvPr id="32" name="Shape 28"/>
          <p:cNvSpPr/>
          <p:nvPr/>
        </p:nvSpPr>
        <p:spPr>
          <a:xfrm>
            <a:off x="8097317" y="2220214"/>
            <a:ext cx="3381146" cy="1737360"/>
          </a:xfrm>
          <a:prstGeom prst="roundRect">
            <a:avLst>
              <a:gd name="adj" fmla="val 6316"/>
            </a:avLst>
          </a:prstGeom>
          <a:solidFill>
            <a:srgbClr val="091B2D">
              <a:alpha val="55000"/>
            </a:srgbClr>
          </a:solidFill>
          <a:ln w="12700">
            <a:solidFill>
              <a:srgbClr val="FFFFFF">
                <a:alpha val="10000"/>
              </a:srgbClr>
            </a:solidFill>
            <a:prstDash val="solid"/>
          </a:ln>
        </p:spPr>
      </p:sp>
      <p:sp>
        <p:nvSpPr>
          <p:cNvPr id="33" name="Shape 29"/>
          <p:cNvSpPr/>
          <p:nvPr/>
        </p:nvSpPr>
        <p:spPr>
          <a:xfrm>
            <a:off x="8097317" y="2220214"/>
            <a:ext cx="50292" cy="1737360"/>
          </a:xfrm>
          <a:prstGeom prst="roundRect">
            <a:avLst>
              <a:gd name="adj" fmla="val 54545"/>
            </a:avLst>
          </a:prstGeom>
          <a:solidFill>
            <a:srgbClr val="3C5468">
              <a:alpha val="95000"/>
            </a:srgbClr>
          </a:solidFill>
          <a:ln/>
        </p:spPr>
      </p:sp>
      <p:sp>
        <p:nvSpPr>
          <p:cNvPr id="34" name="Shape 30"/>
          <p:cNvSpPr/>
          <p:nvPr/>
        </p:nvSpPr>
        <p:spPr>
          <a:xfrm>
            <a:off x="8371637" y="2439670"/>
            <a:ext cx="420624" cy="420624"/>
          </a:xfrm>
          <a:prstGeom prst="roundRect">
            <a:avLst>
              <a:gd name="adj" fmla="val 50000"/>
            </a:avLst>
          </a:prstGeom>
          <a:solidFill>
            <a:srgbClr val="04101F">
              <a:alpha val="88000"/>
            </a:srgbClr>
          </a:solidFill>
          <a:ln/>
        </p:spPr>
      </p:sp>
      <p:sp>
        <p:nvSpPr>
          <p:cNvPr id="35" name="Shape 31"/>
          <p:cNvSpPr/>
          <p:nvPr/>
        </p:nvSpPr>
        <p:spPr>
          <a:xfrm>
            <a:off x="8371637" y="2439670"/>
            <a:ext cx="420624" cy="420624"/>
          </a:xfrm>
          <a:prstGeom prst="roundRect">
            <a:avLst>
              <a:gd name="adj" fmla="val 50000"/>
            </a:avLst>
          </a:prstGeom>
          <a:solidFill>
            <a:srgbClr val="3C5468">
              <a:alpha val="20000"/>
            </a:srgbClr>
          </a:solidFill>
          <a:ln w="15240">
            <a:solidFill>
              <a:srgbClr val="3C5468">
                <a:alpha val="70000"/>
              </a:srgbClr>
            </a:solidFill>
            <a:prstDash val="solid"/>
          </a:ln>
        </p:spPr>
      </p:sp>
      <p:sp>
        <p:nvSpPr>
          <p:cNvPr id="36" name="Text 32"/>
          <p:cNvSpPr/>
          <p:nvPr/>
        </p:nvSpPr>
        <p:spPr>
          <a:xfrm>
            <a:off x="8325917" y="2512822"/>
            <a:ext cx="512064" cy="330327"/>
          </a:xfrm>
          <a:prstGeom prst="rect">
            <a:avLst/>
          </a:prstGeom>
          <a:noFill/>
          <a:ln/>
        </p:spPr>
        <p:txBody>
          <a:bodyPr wrap="square" lIns="0" tIns="0" rIns="0" bIns="0" rtlCol="0" anchor="t"/>
          <a:lstStyle/>
          <a:p>
            <a:pPr algn="ctr" indent="0" marL="0">
              <a:lnSpc>
                <a:spcPts val="2025"/>
              </a:lnSpc>
              <a:buNone/>
            </a:pPr>
            <a:r>
              <a:rPr lang="en-US" sz="1500" b="1" dirty="0">
                <a:solidFill>
                  <a:srgbClr val="3C5468"/>
                </a:solidFill>
                <a:latin typeface="Be Vietnam Pro" pitchFamily="34" charset="0"/>
                <a:ea typeface="Be Vietnam Pro" pitchFamily="34" charset="-122"/>
                <a:cs typeface="Be Vietnam Pro" pitchFamily="34" charset="-120"/>
              </a:rPr>
              <a:t>3</a:t>
            </a:r>
            <a:endParaRPr lang="en-US" sz="1500" dirty="0"/>
          </a:p>
        </p:txBody>
      </p:sp>
      <p:sp>
        <p:nvSpPr>
          <p:cNvPr id="37" name="Text 33"/>
          <p:cNvSpPr/>
          <p:nvPr/>
        </p:nvSpPr>
        <p:spPr>
          <a:xfrm>
            <a:off x="8920277" y="2485390"/>
            <a:ext cx="2393594" cy="517652"/>
          </a:xfrm>
          <a:prstGeom prst="rect">
            <a:avLst/>
          </a:prstGeom>
          <a:noFill/>
          <a:ln/>
        </p:spPr>
        <p:txBody>
          <a:bodyPr wrap="square" lIns="0" tIns="0" rIns="0" bIns="0" rtlCol="0" anchor="t"/>
          <a:lstStyle/>
          <a:p>
            <a:pPr algn="l" indent="0" marL="0">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Chọn kho tiếp tế gần</a:t>
            </a:r>
            <a:endParaRPr lang="en-US" sz="1400" dirty="0"/>
          </a:p>
          <a:p>
            <a:pPr algn="l" indent="0" marL="0">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điểm gặp nạn nhất</a:t>
            </a:r>
            <a:endParaRPr lang="en-US" sz="1400" dirty="0"/>
          </a:p>
        </p:txBody>
      </p:sp>
      <p:sp>
        <p:nvSpPr>
          <p:cNvPr id="38" name="Text 34"/>
          <p:cNvSpPr/>
          <p:nvPr/>
        </p:nvSpPr>
        <p:spPr>
          <a:xfrm>
            <a:off x="8371637" y="3098038"/>
            <a:ext cx="2923946" cy="487934"/>
          </a:xfrm>
          <a:prstGeom prst="rect">
            <a:avLst/>
          </a:prstGeom>
          <a:noFill/>
          <a:ln/>
        </p:spPr>
        <p:txBody>
          <a:bodyPr wrap="square" lIns="0" tIns="0" rIns="0" bIns="0" rtlCol="0" anchor="t"/>
          <a:lstStyle/>
          <a:p>
            <a:pPr algn="l" indent="0" marL="0">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Hệ thống cân nhắc vị trí, tồn kho và khả</a:t>
            </a:r>
            <a:endParaRPr lang="en-US" sz="1150" dirty="0"/>
          </a:p>
          <a:p>
            <a:pPr algn="l" indent="0" marL="0">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năng đáp ứng của từng kho.</a:t>
            </a:r>
            <a:endParaRPr lang="en-US" sz="1150" dirty="0"/>
          </a:p>
        </p:txBody>
      </p:sp>
      <p:sp>
        <p:nvSpPr>
          <p:cNvPr id="39" name="Shape 35"/>
          <p:cNvSpPr/>
          <p:nvPr/>
        </p:nvSpPr>
        <p:spPr>
          <a:xfrm>
            <a:off x="8042453" y="4305046"/>
            <a:ext cx="3490874" cy="1847088"/>
          </a:xfrm>
          <a:prstGeom prst="roundRect">
            <a:avLst>
              <a:gd name="adj" fmla="val 7921"/>
            </a:avLst>
          </a:prstGeom>
          <a:solidFill>
            <a:srgbClr val="22C55E">
              <a:alpha val="18000"/>
            </a:srgbClr>
          </a:solidFill>
          <a:ln/>
        </p:spPr>
      </p:sp>
      <p:sp>
        <p:nvSpPr>
          <p:cNvPr id="40" name="Shape 36"/>
          <p:cNvSpPr/>
          <p:nvPr/>
        </p:nvSpPr>
        <p:spPr>
          <a:xfrm>
            <a:off x="8097317" y="4359910"/>
            <a:ext cx="3381146" cy="1737360"/>
          </a:xfrm>
          <a:prstGeom prst="roundRect">
            <a:avLst>
              <a:gd name="adj" fmla="val 6316"/>
            </a:avLst>
          </a:prstGeom>
          <a:solidFill>
            <a:srgbClr val="091B2D">
              <a:alpha val="78000"/>
            </a:srgbClr>
          </a:solidFill>
          <a:ln w="19050">
            <a:solidFill>
              <a:srgbClr val="22C55E">
                <a:alpha val="50000"/>
              </a:srgbClr>
            </a:solidFill>
            <a:prstDash val="solid"/>
          </a:ln>
        </p:spPr>
      </p:sp>
      <p:sp>
        <p:nvSpPr>
          <p:cNvPr id="41" name="Shape 37"/>
          <p:cNvSpPr/>
          <p:nvPr/>
        </p:nvSpPr>
        <p:spPr>
          <a:xfrm>
            <a:off x="8097317" y="4359910"/>
            <a:ext cx="50292" cy="1737360"/>
          </a:xfrm>
          <a:prstGeom prst="roundRect">
            <a:avLst>
              <a:gd name="adj" fmla="val 54545"/>
            </a:avLst>
          </a:prstGeom>
          <a:solidFill>
            <a:srgbClr val="22C55E">
              <a:alpha val="95000"/>
            </a:srgbClr>
          </a:solidFill>
          <a:ln/>
        </p:spPr>
      </p:sp>
      <p:sp>
        <p:nvSpPr>
          <p:cNvPr id="42" name="Shape 38"/>
          <p:cNvSpPr/>
          <p:nvPr/>
        </p:nvSpPr>
        <p:spPr>
          <a:xfrm>
            <a:off x="8371637" y="4579366"/>
            <a:ext cx="420624" cy="420624"/>
          </a:xfrm>
          <a:prstGeom prst="roundRect">
            <a:avLst>
              <a:gd name="adj" fmla="val 50000"/>
            </a:avLst>
          </a:prstGeom>
          <a:solidFill>
            <a:srgbClr val="04101F">
              <a:alpha val="88000"/>
            </a:srgbClr>
          </a:solidFill>
          <a:ln/>
        </p:spPr>
      </p:sp>
      <p:sp>
        <p:nvSpPr>
          <p:cNvPr id="43" name="Shape 39"/>
          <p:cNvSpPr/>
          <p:nvPr/>
        </p:nvSpPr>
        <p:spPr>
          <a:xfrm>
            <a:off x="8371637" y="4579366"/>
            <a:ext cx="420624" cy="420624"/>
          </a:xfrm>
          <a:prstGeom prst="roundRect">
            <a:avLst>
              <a:gd name="adj" fmla="val 50000"/>
            </a:avLst>
          </a:prstGeom>
          <a:solidFill>
            <a:srgbClr val="22C55E">
              <a:alpha val="20000"/>
            </a:srgbClr>
          </a:solidFill>
          <a:ln w="15240">
            <a:solidFill>
              <a:srgbClr val="22C55E">
                <a:alpha val="70000"/>
              </a:srgbClr>
            </a:solidFill>
            <a:prstDash val="solid"/>
          </a:ln>
        </p:spPr>
      </p:sp>
      <p:sp>
        <p:nvSpPr>
          <p:cNvPr id="44" name="Text 40"/>
          <p:cNvSpPr/>
          <p:nvPr/>
        </p:nvSpPr>
        <p:spPr>
          <a:xfrm>
            <a:off x="8325917" y="4652518"/>
            <a:ext cx="512064" cy="330327"/>
          </a:xfrm>
          <a:prstGeom prst="rect">
            <a:avLst/>
          </a:prstGeom>
          <a:noFill/>
          <a:ln/>
        </p:spPr>
        <p:txBody>
          <a:bodyPr wrap="square" lIns="0" tIns="0" rIns="0" bIns="0" rtlCol="0" anchor="t"/>
          <a:lstStyle/>
          <a:p>
            <a:pPr algn="ctr" indent="0" marL="0">
              <a:lnSpc>
                <a:spcPts val="2025"/>
              </a:lnSpc>
              <a:buNone/>
            </a:pPr>
            <a:r>
              <a:rPr lang="en-US" sz="1500" b="1" dirty="0">
                <a:solidFill>
                  <a:srgbClr val="22C55E"/>
                </a:solidFill>
                <a:latin typeface="Be Vietnam Pro" pitchFamily="34" charset="0"/>
                <a:ea typeface="Be Vietnam Pro" pitchFamily="34" charset="-122"/>
                <a:cs typeface="Be Vietnam Pro" pitchFamily="34" charset="-120"/>
              </a:rPr>
              <a:t>4</a:t>
            </a:r>
            <a:endParaRPr lang="en-US" sz="1500" dirty="0"/>
          </a:p>
        </p:txBody>
      </p:sp>
      <p:sp>
        <p:nvSpPr>
          <p:cNvPr id="45" name="Text 41"/>
          <p:cNvSpPr/>
          <p:nvPr/>
        </p:nvSpPr>
        <p:spPr>
          <a:xfrm>
            <a:off x="8920277" y="4625086"/>
            <a:ext cx="2393594" cy="295402"/>
          </a:xfrm>
          <a:prstGeom prst="rect">
            <a:avLst/>
          </a:prstGeom>
          <a:noFill/>
          <a:ln/>
        </p:spPr>
        <p:txBody>
          <a:bodyPr wrap="square" lIns="0" tIns="0" rIns="0" bIns="0" rtlCol="0" anchor="t"/>
          <a:lstStyle/>
          <a:p>
            <a:pPr algn="l" indent="0" marL="0">
              <a:lnSpc>
                <a:spcPts val="1750"/>
              </a:lnSpc>
              <a:buNone/>
            </a:pPr>
            <a:r>
              <a:rPr lang="en-US" sz="1400" b="1" dirty="0">
                <a:solidFill>
                  <a:srgbClr val="FFFFFF"/>
                </a:solidFill>
                <a:latin typeface="Be Vietnam Pro" pitchFamily="34" charset="0"/>
                <a:ea typeface="Be Vietnam Pro" pitchFamily="34" charset="-122"/>
                <a:cs typeface="Be Vietnam Pro" pitchFamily="34" charset="-120"/>
              </a:rPr>
              <a:t>Xác nhận &amp; thông báo</a:t>
            </a:r>
            <a:endParaRPr lang="en-US" sz="1400" dirty="0"/>
          </a:p>
        </p:txBody>
      </p:sp>
      <p:sp>
        <p:nvSpPr>
          <p:cNvPr id="46" name="Text 42"/>
          <p:cNvSpPr/>
          <p:nvPr/>
        </p:nvSpPr>
        <p:spPr>
          <a:xfrm>
            <a:off x="8371637" y="5237734"/>
            <a:ext cx="2923946" cy="487934"/>
          </a:xfrm>
          <a:prstGeom prst="rect">
            <a:avLst/>
          </a:prstGeom>
          <a:noFill/>
          <a:ln/>
        </p:spPr>
        <p:txBody>
          <a:bodyPr wrap="square" lIns="0" tIns="0" rIns="0" bIns="0" rtlCol="0" anchor="t"/>
          <a:lstStyle/>
          <a:p>
            <a:pPr algn="l" indent="0" marL="0">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Kho nhận lệnh chuẩn bị, xuất vật tư; đội</a:t>
            </a:r>
            <a:endParaRPr lang="en-US" sz="1150" dirty="0"/>
          </a:p>
          <a:p>
            <a:pPr algn="l" indent="0" marL="0">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cứu hộ nhận nhiệm vụ cùng lúc.</a:t>
            </a:r>
            <a:endParaRPr lang="en-US" sz="1150" dirty="0"/>
          </a:p>
        </p:txBody>
      </p:sp>
      <p:sp>
        <p:nvSpPr>
          <p:cNvPr id="47" name="Shape 43"/>
          <p:cNvSpPr/>
          <p:nvPr/>
        </p:nvSpPr>
        <p:spPr>
          <a:xfrm>
            <a:off x="4405274" y="4359910"/>
            <a:ext cx="3381146" cy="1737360"/>
          </a:xfrm>
          <a:prstGeom prst="roundRect">
            <a:avLst>
              <a:gd name="adj" fmla="val 6316"/>
            </a:avLst>
          </a:prstGeom>
          <a:solidFill>
            <a:srgbClr val="091B2D">
              <a:alpha val="55000"/>
            </a:srgbClr>
          </a:solidFill>
          <a:ln w="12700">
            <a:solidFill>
              <a:srgbClr val="FFFFFF">
                <a:alpha val="10000"/>
              </a:srgbClr>
            </a:solidFill>
            <a:prstDash val="solid"/>
          </a:ln>
        </p:spPr>
      </p:sp>
      <p:sp>
        <p:nvSpPr>
          <p:cNvPr id="48" name="Shape 44"/>
          <p:cNvSpPr/>
          <p:nvPr/>
        </p:nvSpPr>
        <p:spPr>
          <a:xfrm>
            <a:off x="4405274" y="4359910"/>
            <a:ext cx="50292" cy="1737360"/>
          </a:xfrm>
          <a:prstGeom prst="roundRect">
            <a:avLst>
              <a:gd name="adj" fmla="val 54545"/>
            </a:avLst>
          </a:prstGeom>
          <a:solidFill>
            <a:srgbClr val="3C5468">
              <a:alpha val="95000"/>
            </a:srgbClr>
          </a:solidFill>
          <a:ln/>
        </p:spPr>
      </p:sp>
      <p:sp>
        <p:nvSpPr>
          <p:cNvPr id="49" name="Shape 45"/>
          <p:cNvSpPr/>
          <p:nvPr/>
        </p:nvSpPr>
        <p:spPr>
          <a:xfrm>
            <a:off x="4679594" y="4579366"/>
            <a:ext cx="420624" cy="420624"/>
          </a:xfrm>
          <a:prstGeom prst="roundRect">
            <a:avLst>
              <a:gd name="adj" fmla="val 50000"/>
            </a:avLst>
          </a:prstGeom>
          <a:solidFill>
            <a:srgbClr val="04101F">
              <a:alpha val="88000"/>
            </a:srgbClr>
          </a:solidFill>
          <a:ln/>
        </p:spPr>
      </p:sp>
      <p:sp>
        <p:nvSpPr>
          <p:cNvPr id="50" name="Shape 46"/>
          <p:cNvSpPr/>
          <p:nvPr/>
        </p:nvSpPr>
        <p:spPr>
          <a:xfrm>
            <a:off x="4679594" y="4579366"/>
            <a:ext cx="420624" cy="420624"/>
          </a:xfrm>
          <a:prstGeom prst="roundRect">
            <a:avLst>
              <a:gd name="adj" fmla="val 50000"/>
            </a:avLst>
          </a:prstGeom>
          <a:solidFill>
            <a:srgbClr val="3C5468">
              <a:alpha val="20000"/>
            </a:srgbClr>
          </a:solidFill>
          <a:ln w="15240">
            <a:solidFill>
              <a:srgbClr val="3C5468">
                <a:alpha val="70000"/>
              </a:srgbClr>
            </a:solidFill>
            <a:prstDash val="solid"/>
          </a:ln>
        </p:spPr>
      </p:sp>
      <p:sp>
        <p:nvSpPr>
          <p:cNvPr id="51" name="Text 47"/>
          <p:cNvSpPr/>
          <p:nvPr/>
        </p:nvSpPr>
        <p:spPr>
          <a:xfrm>
            <a:off x="4633874" y="4652518"/>
            <a:ext cx="512064" cy="330327"/>
          </a:xfrm>
          <a:prstGeom prst="rect">
            <a:avLst/>
          </a:prstGeom>
          <a:noFill/>
          <a:ln/>
        </p:spPr>
        <p:txBody>
          <a:bodyPr wrap="square" lIns="0" tIns="0" rIns="0" bIns="0" rtlCol="0" anchor="t"/>
          <a:lstStyle/>
          <a:p>
            <a:pPr algn="ctr" indent="0" marL="0">
              <a:lnSpc>
                <a:spcPts val="2025"/>
              </a:lnSpc>
              <a:buNone/>
            </a:pPr>
            <a:r>
              <a:rPr lang="en-US" sz="1500" b="1" dirty="0">
                <a:solidFill>
                  <a:srgbClr val="3C5468"/>
                </a:solidFill>
                <a:latin typeface="Be Vietnam Pro" pitchFamily="34" charset="0"/>
                <a:ea typeface="Be Vietnam Pro" pitchFamily="34" charset="-122"/>
                <a:cs typeface="Be Vietnam Pro" pitchFamily="34" charset="-120"/>
              </a:rPr>
              <a:t>5</a:t>
            </a:r>
            <a:endParaRPr lang="en-US" sz="1500" dirty="0"/>
          </a:p>
        </p:txBody>
      </p:sp>
      <p:sp>
        <p:nvSpPr>
          <p:cNvPr id="52" name="Text 48"/>
          <p:cNvSpPr/>
          <p:nvPr/>
        </p:nvSpPr>
        <p:spPr>
          <a:xfrm>
            <a:off x="5228234" y="4625086"/>
            <a:ext cx="2393594" cy="517652"/>
          </a:xfrm>
          <a:prstGeom prst="rect">
            <a:avLst/>
          </a:prstGeom>
          <a:noFill/>
          <a:ln/>
        </p:spPr>
        <p:txBody>
          <a:bodyPr wrap="square" lIns="0" tIns="0" rIns="0" bIns="0" rtlCol="0" anchor="t"/>
          <a:lstStyle/>
          <a:p>
            <a:pPr algn="l" indent="0" marL="0">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Đội cứu hộ xác nhận hoàn</a:t>
            </a:r>
            <a:endParaRPr lang="en-US" sz="1400" dirty="0"/>
          </a:p>
          <a:p>
            <a:pPr algn="l" indent="0" marL="0">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thành</a:t>
            </a:r>
            <a:endParaRPr lang="en-US" sz="1400" dirty="0"/>
          </a:p>
        </p:txBody>
      </p:sp>
      <p:sp>
        <p:nvSpPr>
          <p:cNvPr id="53" name="Text 49"/>
          <p:cNvSpPr/>
          <p:nvPr/>
        </p:nvSpPr>
        <p:spPr>
          <a:xfrm>
            <a:off x="4679594" y="5237734"/>
            <a:ext cx="2923946" cy="487934"/>
          </a:xfrm>
          <a:prstGeom prst="rect">
            <a:avLst/>
          </a:prstGeom>
          <a:noFill/>
          <a:ln/>
        </p:spPr>
        <p:txBody>
          <a:bodyPr wrap="square" lIns="0" tIns="0" rIns="0" bIns="0" rtlCol="0" anchor="t"/>
          <a:lstStyle/>
          <a:p>
            <a:pPr algn="l" indent="0" marL="0">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Báo cáo kết quả nhiệm vụ kèm hình ảnh</a:t>
            </a:r>
            <a:endParaRPr lang="en-US" sz="1150" dirty="0"/>
          </a:p>
          <a:p>
            <a:pPr algn="l" indent="0" marL="0">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tại hiện trường.</a:t>
            </a:r>
            <a:endParaRPr lang="en-US" sz="1150" dirty="0"/>
          </a:p>
        </p:txBody>
      </p:sp>
      <p:sp>
        <p:nvSpPr>
          <p:cNvPr id="54" name="Shape 50"/>
          <p:cNvSpPr/>
          <p:nvPr/>
        </p:nvSpPr>
        <p:spPr>
          <a:xfrm>
            <a:off x="713232" y="4359910"/>
            <a:ext cx="3381146" cy="1737360"/>
          </a:xfrm>
          <a:prstGeom prst="roundRect">
            <a:avLst>
              <a:gd name="adj" fmla="val 6316"/>
            </a:avLst>
          </a:prstGeom>
          <a:solidFill>
            <a:srgbClr val="091B2D">
              <a:alpha val="55000"/>
            </a:srgbClr>
          </a:solidFill>
          <a:ln w="12700">
            <a:solidFill>
              <a:srgbClr val="FFFFFF">
                <a:alpha val="10000"/>
              </a:srgbClr>
            </a:solidFill>
            <a:prstDash val="solid"/>
          </a:ln>
        </p:spPr>
      </p:sp>
      <p:sp>
        <p:nvSpPr>
          <p:cNvPr id="55" name="Shape 51"/>
          <p:cNvSpPr/>
          <p:nvPr/>
        </p:nvSpPr>
        <p:spPr>
          <a:xfrm>
            <a:off x="713232" y="4359910"/>
            <a:ext cx="50292" cy="1737360"/>
          </a:xfrm>
          <a:prstGeom prst="roundRect">
            <a:avLst>
              <a:gd name="adj" fmla="val 54545"/>
            </a:avLst>
          </a:prstGeom>
          <a:solidFill>
            <a:srgbClr val="3C5468">
              <a:alpha val="95000"/>
            </a:srgbClr>
          </a:solidFill>
          <a:ln/>
        </p:spPr>
      </p:sp>
      <p:sp>
        <p:nvSpPr>
          <p:cNvPr id="56" name="Shape 52"/>
          <p:cNvSpPr/>
          <p:nvPr/>
        </p:nvSpPr>
        <p:spPr>
          <a:xfrm>
            <a:off x="987552" y="4579366"/>
            <a:ext cx="420624" cy="420624"/>
          </a:xfrm>
          <a:prstGeom prst="roundRect">
            <a:avLst>
              <a:gd name="adj" fmla="val 50000"/>
            </a:avLst>
          </a:prstGeom>
          <a:solidFill>
            <a:srgbClr val="04101F">
              <a:alpha val="88000"/>
            </a:srgbClr>
          </a:solidFill>
          <a:ln/>
        </p:spPr>
      </p:sp>
      <p:sp>
        <p:nvSpPr>
          <p:cNvPr id="57" name="Shape 53"/>
          <p:cNvSpPr/>
          <p:nvPr/>
        </p:nvSpPr>
        <p:spPr>
          <a:xfrm>
            <a:off x="987552" y="4579366"/>
            <a:ext cx="420624" cy="420624"/>
          </a:xfrm>
          <a:prstGeom prst="roundRect">
            <a:avLst>
              <a:gd name="adj" fmla="val 50000"/>
            </a:avLst>
          </a:prstGeom>
          <a:solidFill>
            <a:srgbClr val="3C5468">
              <a:alpha val="20000"/>
            </a:srgbClr>
          </a:solidFill>
          <a:ln w="15240">
            <a:solidFill>
              <a:srgbClr val="3C5468">
                <a:alpha val="70000"/>
              </a:srgbClr>
            </a:solidFill>
            <a:prstDash val="solid"/>
          </a:ln>
        </p:spPr>
      </p:sp>
      <p:sp>
        <p:nvSpPr>
          <p:cNvPr id="58" name="Text 54"/>
          <p:cNvSpPr/>
          <p:nvPr/>
        </p:nvSpPr>
        <p:spPr>
          <a:xfrm>
            <a:off x="941832" y="4652518"/>
            <a:ext cx="512064" cy="330327"/>
          </a:xfrm>
          <a:prstGeom prst="rect">
            <a:avLst/>
          </a:prstGeom>
          <a:noFill/>
          <a:ln/>
        </p:spPr>
        <p:txBody>
          <a:bodyPr wrap="square" lIns="0" tIns="0" rIns="0" bIns="0" rtlCol="0" anchor="t"/>
          <a:lstStyle/>
          <a:p>
            <a:pPr algn="ctr" indent="0" marL="0">
              <a:lnSpc>
                <a:spcPts val="2025"/>
              </a:lnSpc>
              <a:buNone/>
            </a:pPr>
            <a:r>
              <a:rPr lang="en-US" sz="1500" b="1" dirty="0">
                <a:solidFill>
                  <a:srgbClr val="3C5468"/>
                </a:solidFill>
                <a:latin typeface="Be Vietnam Pro" pitchFamily="34" charset="0"/>
                <a:ea typeface="Be Vietnam Pro" pitchFamily="34" charset="-122"/>
                <a:cs typeface="Be Vietnam Pro" pitchFamily="34" charset="-120"/>
              </a:rPr>
              <a:t>6</a:t>
            </a:r>
            <a:endParaRPr lang="en-US" sz="1500" dirty="0"/>
          </a:p>
        </p:txBody>
      </p:sp>
      <p:sp>
        <p:nvSpPr>
          <p:cNvPr id="59" name="Text 55"/>
          <p:cNvSpPr/>
          <p:nvPr/>
        </p:nvSpPr>
        <p:spPr>
          <a:xfrm>
            <a:off x="1536192" y="4625086"/>
            <a:ext cx="2393594" cy="517652"/>
          </a:xfrm>
          <a:prstGeom prst="rect">
            <a:avLst/>
          </a:prstGeom>
          <a:noFill/>
          <a:ln/>
        </p:spPr>
        <p:txBody>
          <a:bodyPr wrap="square" lIns="0" tIns="0" rIns="0" bIns="0" rtlCol="0" anchor="t"/>
          <a:lstStyle/>
          <a:p>
            <a:pPr algn="l" indent="0" marL="0">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Kho xác nhận hoàn trả</a:t>
            </a:r>
            <a:endParaRPr lang="en-US" sz="1400" dirty="0"/>
          </a:p>
          <a:p>
            <a:pPr algn="l" indent="0" marL="0">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vật tư</a:t>
            </a:r>
            <a:endParaRPr lang="en-US" sz="1400" dirty="0"/>
          </a:p>
        </p:txBody>
      </p:sp>
      <p:sp>
        <p:nvSpPr>
          <p:cNvPr id="60" name="Text 56"/>
          <p:cNvSpPr/>
          <p:nvPr/>
        </p:nvSpPr>
        <p:spPr>
          <a:xfrm>
            <a:off x="987552" y="5237734"/>
            <a:ext cx="2923946" cy="487934"/>
          </a:xfrm>
          <a:prstGeom prst="rect">
            <a:avLst/>
          </a:prstGeom>
          <a:noFill/>
          <a:ln/>
        </p:spPr>
        <p:txBody>
          <a:bodyPr wrap="square" lIns="0" tIns="0" rIns="0" bIns="0" rtlCol="0" anchor="t"/>
          <a:lstStyle/>
          <a:p>
            <a:pPr algn="l" indent="0" marL="0">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Đối chiếu vật tư đã cấp phát và phần</a:t>
            </a:r>
            <a:endParaRPr lang="en-US" sz="1150" dirty="0"/>
          </a:p>
          <a:p>
            <a:pPr algn="l" indent="0" marL="0">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thu hồi, khép lại nhiệm vụ.</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4101F"/>
        </a:solidFill>
      </p:bgPr>
    </p:bg>
    <p:spTree>
      <p:nvGrpSpPr>
        <p:cNvPr id="1" name=""/>
        <p:cNvGrpSpPr/>
        <p:nvPr/>
      </p:nvGrpSpPr>
      <p:grpSpPr>
        <a:xfrm>
          <a:off x="0" y="0"/>
          <a:ext cx="0" cy="0"/>
          <a:chOff x="0" y="0"/>
          <a:chExt cx="0" cy="0"/>
        </a:xfrm>
      </p:grpSpPr>
      <p:pic>
        <p:nvPicPr>
          <p:cNvPr id="2" name="Image 0" descr="bg-content.jp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4101F">
              <a:alpha val="34000"/>
            </a:srgbClr>
          </a:solidFill>
          <a:ln/>
        </p:spPr>
      </p:sp>
      <p:pic>
        <p:nvPicPr>
          <p:cNvPr id="4" name="Image 1" descr="mark-sm.png">    </p:cNvPr>
          <p:cNvPicPr>
            <a:picLocks noChangeAspect="1"/>
          </p:cNvPicPr>
          <p:nvPr/>
        </p:nvPicPr>
        <p:blipFill>
          <a:blip r:embed="rId2"/>
          <a:stretch>
            <a:fillRect/>
          </a:stretch>
        </p:blipFill>
        <p:spPr>
          <a:xfrm>
            <a:off x="713232" y="365760"/>
            <a:ext cx="310896" cy="310896"/>
          </a:xfrm>
          <a:prstGeom prst="rect">
            <a:avLst/>
          </a:prstGeom>
        </p:spPr>
      </p:pic>
      <p:sp>
        <p:nvSpPr>
          <p:cNvPr id="5" name="Text 1"/>
          <p:cNvSpPr/>
          <p:nvPr/>
        </p:nvSpPr>
        <p:spPr>
          <a:xfrm>
            <a:off x="1170432" y="384048"/>
            <a:ext cx="3749040" cy="261747"/>
          </a:xfrm>
          <a:prstGeom prst="rect">
            <a:avLst/>
          </a:prstGeom>
          <a:noFill/>
          <a:ln/>
        </p:spPr>
        <p:txBody>
          <a:bodyPr wrap="square" lIns="0" tIns="0" rIns="0" bIns="0" rtlCol="0" anchor="t"/>
          <a:lstStyle/>
          <a:p>
            <a:pPr algn="l" indent="0" marL="0">
              <a:lnSpc>
                <a:spcPts val="1485"/>
              </a:lnSpc>
              <a:buNone/>
            </a:pPr>
            <a:r>
              <a:rPr lang="en-US" sz="1100" b="1" spc="160" kern="0" dirty="0">
                <a:solidFill>
                  <a:srgbClr val="6EE7A8"/>
                </a:solidFill>
                <a:latin typeface="Be Vietnam Pro" pitchFamily="34" charset="0"/>
                <a:ea typeface="Be Vietnam Pro" pitchFamily="34" charset="-122"/>
                <a:cs typeface="Be Vietnam Pro" pitchFamily="34" charset="-120"/>
              </a:rPr>
              <a:t>ỨNG PHÓ NHANH</a:t>
            </a:r>
            <a:endParaRPr lang="en-US" sz="1100" dirty="0"/>
          </a:p>
        </p:txBody>
      </p:sp>
      <p:sp>
        <p:nvSpPr>
          <p:cNvPr id="6" name="Text 2"/>
          <p:cNvSpPr/>
          <p:nvPr/>
        </p:nvSpPr>
        <p:spPr>
          <a:xfrm>
            <a:off x="8643823" y="384048"/>
            <a:ext cx="2834640" cy="261747"/>
          </a:xfrm>
          <a:prstGeom prst="rect">
            <a:avLst/>
          </a:prstGeom>
          <a:noFill/>
          <a:ln/>
        </p:spPr>
        <p:txBody>
          <a:bodyPr wrap="square" lIns="0" tIns="0" rIns="0" bIns="0" rtlCol="0" anchor="t"/>
          <a:lstStyle/>
          <a:p>
            <a:pPr algn="r" indent="0" marL="0">
              <a:lnSpc>
                <a:spcPts val="1485"/>
              </a:lnSpc>
              <a:buNone/>
            </a:pPr>
            <a:r>
              <a:rPr lang="en-US" sz="1100" b="1" dirty="0">
                <a:solidFill>
                  <a:srgbClr val="7189A2"/>
                </a:solidFill>
                <a:latin typeface="Be Vietnam Pro" pitchFamily="34" charset="0"/>
                <a:ea typeface="Be Vietnam Pro" pitchFamily="34" charset="-122"/>
                <a:cs typeface="Be Vietnam Pro" pitchFamily="34" charset="-120"/>
              </a:rPr>
              <a:t>11 / 24</a:t>
            </a:r>
            <a:endParaRPr lang="en-US" sz="1100" dirty="0"/>
          </a:p>
        </p:txBody>
      </p:sp>
      <p:sp>
        <p:nvSpPr>
          <p:cNvPr id="7" name="Shape 3"/>
          <p:cNvSpPr/>
          <p:nvPr/>
        </p:nvSpPr>
        <p:spPr>
          <a:xfrm>
            <a:off x="713232" y="868680"/>
            <a:ext cx="10765231" cy="10973"/>
          </a:xfrm>
          <a:prstGeom prst="rect">
            <a:avLst/>
          </a:prstGeom>
          <a:solidFill>
            <a:srgbClr val="FFFFFF">
              <a:alpha val="16000"/>
            </a:srgbClr>
          </a:solidFill>
          <a:ln/>
        </p:spPr>
      </p:sp>
      <p:sp>
        <p:nvSpPr>
          <p:cNvPr id="8" name="Text 4"/>
          <p:cNvSpPr/>
          <p:nvPr/>
        </p:nvSpPr>
        <p:spPr>
          <a:xfrm>
            <a:off x="713232" y="1133856"/>
            <a:ext cx="8321040" cy="270320"/>
          </a:xfrm>
          <a:prstGeom prst="rect">
            <a:avLst/>
          </a:prstGeom>
          <a:noFill/>
          <a:ln/>
        </p:spPr>
        <p:txBody>
          <a:bodyPr wrap="square" lIns="0" tIns="0" rIns="0" bIns="0" rtlCol="0" anchor="t"/>
          <a:lstStyle/>
          <a:p>
            <a:pPr algn="l" indent="0" marL="0">
              <a:lnSpc>
                <a:spcPts val="1553"/>
              </a:lnSpc>
              <a:buNone/>
            </a:pPr>
            <a:r>
              <a:rPr lang="en-US" sz="1150" b="1" spc="220" kern="0" dirty="0">
                <a:solidFill>
                  <a:srgbClr val="22C55E"/>
                </a:solidFill>
                <a:latin typeface="Be Vietnam Pro" pitchFamily="34" charset="0"/>
                <a:ea typeface="Be Vietnam Pro" pitchFamily="34" charset="-122"/>
                <a:cs typeface="Be Vietnam Pro" pitchFamily="34" charset="-120"/>
              </a:rPr>
              <a:t>BƯỚC 4 · XÁC NHẬN &amp; THÔNG BÁO</a:t>
            </a:r>
            <a:endParaRPr lang="en-US" sz="1150" dirty="0"/>
          </a:p>
        </p:txBody>
      </p:sp>
      <p:sp>
        <p:nvSpPr>
          <p:cNvPr id="9" name="Text 5"/>
          <p:cNvSpPr/>
          <p:nvPr/>
        </p:nvSpPr>
        <p:spPr>
          <a:xfrm>
            <a:off x="713232" y="1426464"/>
            <a:ext cx="10490911" cy="537718"/>
          </a:xfrm>
          <a:prstGeom prst="rect">
            <a:avLst/>
          </a:prstGeom>
          <a:noFill/>
          <a:ln/>
        </p:spPr>
        <p:txBody>
          <a:bodyPr wrap="square" lIns="0" tIns="0" rIns="0" bIns="0" rtlCol="0" anchor="t"/>
          <a:lstStyle/>
          <a:p>
            <a:pPr algn="l" indent="0" marL="0">
              <a:lnSpc>
                <a:spcPts val="3658"/>
              </a:lnSpc>
              <a:buNone/>
            </a:pPr>
            <a:r>
              <a:rPr lang="en-US" sz="3100" b="1" dirty="0">
                <a:solidFill>
                  <a:srgbClr val="FFFFFF"/>
                </a:solidFill>
                <a:latin typeface="Be Vietnam Pro" pitchFamily="34" charset="0"/>
                <a:ea typeface="Be Vietnam Pro" pitchFamily="34" charset="-122"/>
                <a:cs typeface="Be Vietnam Pro" pitchFamily="34" charset="-120"/>
              </a:rPr>
              <a:t>Xác nhận một lần, hai bộ phận cùng nhận thông tin</a:t>
            </a:r>
            <a:endParaRPr lang="en-US" sz="3100" dirty="0"/>
          </a:p>
        </p:txBody>
      </p:sp>
      <p:sp>
        <p:nvSpPr>
          <p:cNvPr id="10" name="Shape 6"/>
          <p:cNvSpPr/>
          <p:nvPr/>
        </p:nvSpPr>
        <p:spPr>
          <a:xfrm>
            <a:off x="713232" y="6272784"/>
            <a:ext cx="10765231" cy="9144"/>
          </a:xfrm>
          <a:prstGeom prst="rect">
            <a:avLst/>
          </a:prstGeom>
          <a:solidFill>
            <a:srgbClr val="FFFFFF">
              <a:alpha val="10000"/>
            </a:srgbClr>
          </a:solidFill>
          <a:ln/>
        </p:spPr>
      </p:sp>
      <p:sp>
        <p:nvSpPr>
          <p:cNvPr id="11" name="Text 7"/>
          <p:cNvSpPr/>
          <p:nvPr/>
        </p:nvSpPr>
        <p:spPr>
          <a:xfrm>
            <a:off x="8643823" y="6382512"/>
            <a:ext cx="2834640" cy="236030"/>
          </a:xfrm>
          <a:prstGeom prst="rect">
            <a:avLst/>
          </a:prstGeom>
          <a:noFill/>
          <a:ln/>
        </p:spPr>
        <p:txBody>
          <a:bodyPr wrap="square" lIns="0" tIns="0" rIns="0" bIns="0" rtlCol="0" anchor="t"/>
          <a:lstStyle/>
          <a:p>
            <a:pPr algn="r" indent="0" marL="0">
              <a:lnSpc>
                <a:spcPts val="1283"/>
              </a:lnSpc>
              <a:buNone/>
            </a:pPr>
            <a:r>
              <a:rPr lang="en-US" sz="950" dirty="0">
                <a:solidFill>
                  <a:srgbClr val="7189A2"/>
                </a:solidFill>
                <a:latin typeface="Be Vietnam Pro" pitchFamily="34" charset="0"/>
                <a:ea typeface="Be Vietnam Pro" pitchFamily="34" charset="-122"/>
                <a:cs typeface="Be Vietnam Pro" pitchFamily="34" charset="-120"/>
              </a:rPr>
              <a:t>ungphonhanh.life</a:t>
            </a:r>
            <a:endParaRPr lang="en-US" sz="950" dirty="0"/>
          </a:p>
        </p:txBody>
      </p:sp>
      <p:sp>
        <p:nvSpPr>
          <p:cNvPr id="12" name="Shape 8"/>
          <p:cNvSpPr/>
          <p:nvPr/>
        </p:nvSpPr>
        <p:spPr>
          <a:xfrm>
            <a:off x="713232" y="2220214"/>
            <a:ext cx="5218024" cy="3154680"/>
          </a:xfrm>
          <a:prstGeom prst="roundRect">
            <a:avLst>
              <a:gd name="adj" fmla="val 3478"/>
            </a:avLst>
          </a:prstGeom>
          <a:solidFill>
            <a:srgbClr val="091B2D">
              <a:alpha val="66000"/>
            </a:srgbClr>
          </a:solidFill>
          <a:ln w="12700">
            <a:solidFill>
              <a:srgbClr val="FFFFFF">
                <a:alpha val="12000"/>
              </a:srgbClr>
            </a:solidFill>
            <a:prstDash val="solid"/>
          </a:ln>
        </p:spPr>
      </p:sp>
      <p:sp>
        <p:nvSpPr>
          <p:cNvPr id="13" name="Shape 9"/>
          <p:cNvSpPr/>
          <p:nvPr/>
        </p:nvSpPr>
        <p:spPr>
          <a:xfrm>
            <a:off x="713232" y="2220214"/>
            <a:ext cx="50292" cy="3154680"/>
          </a:xfrm>
          <a:prstGeom prst="roundRect">
            <a:avLst>
              <a:gd name="adj" fmla="val 54545"/>
            </a:avLst>
          </a:prstGeom>
          <a:solidFill>
            <a:srgbClr val="FBBF24">
              <a:alpha val="95000"/>
            </a:srgbClr>
          </a:solidFill>
          <a:ln/>
        </p:spPr>
      </p:sp>
      <p:sp>
        <p:nvSpPr>
          <p:cNvPr id="14" name="Text 10"/>
          <p:cNvSpPr/>
          <p:nvPr/>
        </p:nvSpPr>
        <p:spPr>
          <a:xfrm>
            <a:off x="1042416" y="2476246"/>
            <a:ext cx="4651096" cy="253175"/>
          </a:xfrm>
          <a:prstGeom prst="rect">
            <a:avLst/>
          </a:prstGeom>
          <a:noFill/>
          <a:ln/>
        </p:spPr>
        <p:txBody>
          <a:bodyPr wrap="square" lIns="0" tIns="0" rIns="0" bIns="0" rtlCol="0" anchor="t"/>
          <a:lstStyle/>
          <a:p>
            <a:pPr algn="l" indent="0" marL="0">
              <a:lnSpc>
                <a:spcPts val="1418"/>
              </a:lnSpc>
              <a:buNone/>
            </a:pPr>
            <a:r>
              <a:rPr lang="en-US" sz="1050" b="1" spc="180" kern="0" dirty="0">
                <a:solidFill>
                  <a:srgbClr val="FBBF24"/>
                </a:solidFill>
                <a:latin typeface="Be Vietnam Pro" pitchFamily="34" charset="0"/>
                <a:ea typeface="Be Vietnam Pro" pitchFamily="34" charset="-122"/>
                <a:cs typeface="Be Vietnam Pro" pitchFamily="34" charset="-120"/>
              </a:rPr>
              <a:t>BỘ PHẬN KHO</a:t>
            </a:r>
            <a:endParaRPr lang="en-US" sz="1050" dirty="0"/>
          </a:p>
        </p:txBody>
      </p:sp>
      <p:sp>
        <p:nvSpPr>
          <p:cNvPr id="15" name="Text 11"/>
          <p:cNvSpPr/>
          <p:nvPr/>
        </p:nvSpPr>
        <p:spPr>
          <a:xfrm>
            <a:off x="1042416" y="2750566"/>
            <a:ext cx="4651096" cy="364617"/>
          </a:xfrm>
          <a:prstGeom prst="rect">
            <a:avLst/>
          </a:prstGeom>
          <a:noFill/>
          <a:ln/>
        </p:spPr>
        <p:txBody>
          <a:bodyPr wrap="square" lIns="0" tIns="0" rIns="0" bIns="0" rtlCol="0" anchor="t"/>
          <a:lstStyle/>
          <a:p>
            <a:pPr algn="l" indent="0" marL="0">
              <a:lnSpc>
                <a:spcPts val="2295"/>
              </a:lnSpc>
              <a:buNone/>
            </a:pPr>
            <a:r>
              <a:rPr lang="en-US" sz="1700" b="1" dirty="0">
                <a:solidFill>
                  <a:srgbClr val="FFFFFF"/>
                </a:solidFill>
                <a:latin typeface="Be Vietnam Pro" pitchFamily="34" charset="0"/>
                <a:ea typeface="Be Vietnam Pro" pitchFamily="34" charset="-122"/>
                <a:cs typeface="Be Vietnam Pro" pitchFamily="34" charset="-120"/>
              </a:rPr>
              <a:t>Chuẩn bị và xuất vật tư</a:t>
            </a:r>
            <a:endParaRPr lang="en-US" sz="1700" dirty="0"/>
          </a:p>
        </p:txBody>
      </p:sp>
      <p:sp>
        <p:nvSpPr>
          <p:cNvPr id="16" name="Shape 12"/>
          <p:cNvSpPr/>
          <p:nvPr/>
        </p:nvSpPr>
        <p:spPr>
          <a:xfrm>
            <a:off x="1042416" y="3244342"/>
            <a:ext cx="4559656" cy="9144"/>
          </a:xfrm>
          <a:prstGeom prst="rect">
            <a:avLst/>
          </a:prstGeom>
          <a:solidFill>
            <a:srgbClr val="FFFFFF">
              <a:alpha val="14000"/>
            </a:srgbClr>
          </a:solidFill>
          <a:ln/>
        </p:spPr>
      </p:sp>
      <p:sp>
        <p:nvSpPr>
          <p:cNvPr id="17" name="Shape 13"/>
          <p:cNvSpPr/>
          <p:nvPr/>
        </p:nvSpPr>
        <p:spPr>
          <a:xfrm>
            <a:off x="1060704" y="3518662"/>
            <a:ext cx="82296" cy="82296"/>
          </a:xfrm>
          <a:prstGeom prst="roundRect">
            <a:avLst>
              <a:gd name="adj" fmla="val 50000"/>
            </a:avLst>
          </a:prstGeom>
          <a:solidFill>
            <a:srgbClr val="FBBF24">
              <a:alpha val="95000"/>
            </a:srgbClr>
          </a:solidFill>
          <a:ln/>
        </p:spPr>
      </p:sp>
      <p:sp>
        <p:nvSpPr>
          <p:cNvPr id="18" name="Text 14"/>
          <p:cNvSpPr/>
          <p:nvPr/>
        </p:nvSpPr>
        <p:spPr>
          <a:xfrm>
            <a:off x="1298448" y="3427222"/>
            <a:ext cx="4395064" cy="517652"/>
          </a:xfrm>
          <a:prstGeom prst="rect">
            <a:avLst/>
          </a:prstGeom>
          <a:noFill/>
          <a:ln/>
        </p:spPr>
        <p:txBody>
          <a:bodyPr wrap="square" lIns="0" tIns="0" rIns="0" bIns="0" rtlCol="0" anchor="t"/>
          <a:lstStyle/>
          <a:p>
            <a:pPr algn="l" indent="0" marL="0">
              <a:lnSpc>
                <a:spcPts val="1750"/>
              </a:lnSpc>
              <a:buNone/>
            </a:pPr>
            <a:r>
              <a:rPr lang="en-US" sz="1250" dirty="0">
                <a:solidFill>
                  <a:srgbClr val="D9E6F2"/>
                </a:solidFill>
                <a:latin typeface="Be Vietnam Pro" pitchFamily="34" charset="0"/>
                <a:ea typeface="Be Vietnam Pro" pitchFamily="34" charset="-122"/>
                <a:cs typeface="Be Vietnam Pro" pitchFamily="34" charset="-120"/>
              </a:rPr>
              <a:t>Nhận thông báo ngay khi người điều phối xác nhận</a:t>
            </a:r>
            <a:endParaRPr lang="en-US" sz="1250" dirty="0"/>
          </a:p>
          <a:p>
            <a:pPr algn="l" indent="0" marL="0">
              <a:lnSpc>
                <a:spcPts val="1750"/>
              </a:lnSpc>
              <a:buNone/>
            </a:pPr>
            <a:r>
              <a:rPr lang="en-US" sz="1250" dirty="0">
                <a:solidFill>
                  <a:srgbClr val="D9E6F2"/>
                </a:solidFill>
                <a:latin typeface="Be Vietnam Pro" pitchFamily="34" charset="0"/>
                <a:ea typeface="Be Vietnam Pro" pitchFamily="34" charset="-122"/>
                <a:cs typeface="Be Vietnam Pro" pitchFamily="34" charset="-120"/>
              </a:rPr>
              <a:t>phương án.</a:t>
            </a:r>
            <a:endParaRPr lang="en-US" sz="1250" dirty="0"/>
          </a:p>
        </p:txBody>
      </p:sp>
      <p:sp>
        <p:nvSpPr>
          <p:cNvPr id="19" name="Shape 15"/>
          <p:cNvSpPr/>
          <p:nvPr/>
        </p:nvSpPr>
        <p:spPr>
          <a:xfrm>
            <a:off x="1060704" y="4109466"/>
            <a:ext cx="82296" cy="82296"/>
          </a:xfrm>
          <a:prstGeom prst="roundRect">
            <a:avLst>
              <a:gd name="adj" fmla="val 50000"/>
            </a:avLst>
          </a:prstGeom>
          <a:solidFill>
            <a:srgbClr val="FBBF24">
              <a:alpha val="95000"/>
            </a:srgbClr>
          </a:solidFill>
          <a:ln/>
        </p:spPr>
      </p:sp>
      <p:sp>
        <p:nvSpPr>
          <p:cNvPr id="20" name="Text 16"/>
          <p:cNvSpPr/>
          <p:nvPr/>
        </p:nvSpPr>
        <p:spPr>
          <a:xfrm>
            <a:off x="1298448" y="4018026"/>
            <a:ext cx="4395064" cy="517652"/>
          </a:xfrm>
          <a:prstGeom prst="rect">
            <a:avLst/>
          </a:prstGeom>
          <a:noFill/>
          <a:ln/>
        </p:spPr>
        <p:txBody>
          <a:bodyPr wrap="square" lIns="0" tIns="0" rIns="0" bIns="0" rtlCol="0" anchor="t"/>
          <a:lstStyle/>
          <a:p>
            <a:pPr algn="l" indent="0" marL="0">
              <a:lnSpc>
                <a:spcPts val="1750"/>
              </a:lnSpc>
              <a:buNone/>
            </a:pPr>
            <a:r>
              <a:rPr lang="en-US" sz="1250" dirty="0">
                <a:solidFill>
                  <a:srgbClr val="D9E6F2"/>
                </a:solidFill>
                <a:latin typeface="Be Vietnam Pro" pitchFamily="34" charset="0"/>
                <a:ea typeface="Be Vietnam Pro" pitchFamily="34" charset="-122"/>
                <a:cs typeface="Be Vietnam Pro" pitchFamily="34" charset="-120"/>
              </a:rPr>
              <a:t>Nhận thông tin xong là soạn vật tư theo danh sách và</a:t>
            </a:r>
            <a:endParaRPr lang="en-US" sz="1250" dirty="0"/>
          </a:p>
          <a:p>
            <a:pPr algn="l" indent="0" marL="0">
              <a:lnSpc>
                <a:spcPts val="1750"/>
              </a:lnSpc>
              <a:buNone/>
            </a:pPr>
            <a:r>
              <a:rPr lang="en-US" sz="1250" dirty="0">
                <a:solidFill>
                  <a:srgbClr val="D9E6F2"/>
                </a:solidFill>
                <a:latin typeface="Be Vietnam Pro" pitchFamily="34" charset="0"/>
                <a:ea typeface="Be Vietnam Pro" pitchFamily="34" charset="-122"/>
                <a:cs typeface="Be Vietnam Pro" pitchFamily="34" charset="-120"/>
              </a:rPr>
              <a:t>xuất kho, tồn kho trừ ngay lúc xuất.</a:t>
            </a:r>
            <a:endParaRPr lang="en-US" sz="1250" dirty="0"/>
          </a:p>
        </p:txBody>
      </p:sp>
      <p:sp>
        <p:nvSpPr>
          <p:cNvPr id="21" name="Shape 17"/>
          <p:cNvSpPr/>
          <p:nvPr/>
        </p:nvSpPr>
        <p:spPr>
          <a:xfrm>
            <a:off x="6260440" y="2220214"/>
            <a:ext cx="5218024" cy="3154680"/>
          </a:xfrm>
          <a:prstGeom prst="roundRect">
            <a:avLst>
              <a:gd name="adj" fmla="val 3478"/>
            </a:avLst>
          </a:prstGeom>
          <a:solidFill>
            <a:srgbClr val="091B2D">
              <a:alpha val="66000"/>
            </a:srgbClr>
          </a:solidFill>
          <a:ln w="12700">
            <a:solidFill>
              <a:srgbClr val="FFFFFF">
                <a:alpha val="12000"/>
              </a:srgbClr>
            </a:solidFill>
            <a:prstDash val="solid"/>
          </a:ln>
        </p:spPr>
      </p:sp>
      <p:sp>
        <p:nvSpPr>
          <p:cNvPr id="22" name="Shape 18"/>
          <p:cNvSpPr/>
          <p:nvPr/>
        </p:nvSpPr>
        <p:spPr>
          <a:xfrm>
            <a:off x="6260440" y="2220214"/>
            <a:ext cx="50292" cy="3154680"/>
          </a:xfrm>
          <a:prstGeom prst="roundRect">
            <a:avLst>
              <a:gd name="adj" fmla="val 54545"/>
            </a:avLst>
          </a:prstGeom>
          <a:solidFill>
            <a:srgbClr val="38BDF8">
              <a:alpha val="95000"/>
            </a:srgbClr>
          </a:solidFill>
          <a:ln/>
        </p:spPr>
      </p:sp>
      <p:sp>
        <p:nvSpPr>
          <p:cNvPr id="23" name="Text 19"/>
          <p:cNvSpPr/>
          <p:nvPr/>
        </p:nvSpPr>
        <p:spPr>
          <a:xfrm>
            <a:off x="6589624" y="2476246"/>
            <a:ext cx="4651096" cy="253175"/>
          </a:xfrm>
          <a:prstGeom prst="rect">
            <a:avLst/>
          </a:prstGeom>
          <a:noFill/>
          <a:ln/>
        </p:spPr>
        <p:txBody>
          <a:bodyPr wrap="square" lIns="0" tIns="0" rIns="0" bIns="0" rtlCol="0" anchor="t"/>
          <a:lstStyle/>
          <a:p>
            <a:pPr algn="l" indent="0" marL="0">
              <a:lnSpc>
                <a:spcPts val="1418"/>
              </a:lnSpc>
              <a:buNone/>
            </a:pPr>
            <a:r>
              <a:rPr lang="en-US" sz="1050" b="1" spc="180" kern="0" dirty="0">
                <a:solidFill>
                  <a:srgbClr val="38BDF8"/>
                </a:solidFill>
                <a:latin typeface="Be Vietnam Pro" pitchFamily="34" charset="0"/>
                <a:ea typeface="Be Vietnam Pro" pitchFamily="34" charset="-122"/>
                <a:cs typeface="Be Vietnam Pro" pitchFamily="34" charset="-120"/>
              </a:rPr>
              <a:t>ĐỘI CỨU HỘ</a:t>
            </a:r>
            <a:endParaRPr lang="en-US" sz="1050" dirty="0"/>
          </a:p>
        </p:txBody>
      </p:sp>
      <p:sp>
        <p:nvSpPr>
          <p:cNvPr id="24" name="Text 20"/>
          <p:cNvSpPr/>
          <p:nvPr/>
        </p:nvSpPr>
        <p:spPr>
          <a:xfrm>
            <a:off x="6589624" y="2750566"/>
            <a:ext cx="4651096" cy="364617"/>
          </a:xfrm>
          <a:prstGeom prst="rect">
            <a:avLst/>
          </a:prstGeom>
          <a:noFill/>
          <a:ln/>
        </p:spPr>
        <p:txBody>
          <a:bodyPr wrap="square" lIns="0" tIns="0" rIns="0" bIns="0" rtlCol="0" anchor="t"/>
          <a:lstStyle/>
          <a:p>
            <a:pPr algn="l" indent="0" marL="0">
              <a:lnSpc>
                <a:spcPts val="2295"/>
              </a:lnSpc>
              <a:buNone/>
            </a:pPr>
            <a:r>
              <a:rPr lang="en-US" sz="1700" b="1" dirty="0">
                <a:solidFill>
                  <a:srgbClr val="FFFFFF"/>
                </a:solidFill>
                <a:latin typeface="Be Vietnam Pro" pitchFamily="34" charset="0"/>
                <a:ea typeface="Be Vietnam Pro" pitchFamily="34" charset="-122"/>
                <a:cs typeface="Be Vietnam Pro" pitchFamily="34" charset="-120"/>
              </a:rPr>
              <a:t>Biết đi đâu, nhận gì, ở kho nào</a:t>
            </a:r>
            <a:endParaRPr lang="en-US" sz="1700" dirty="0"/>
          </a:p>
        </p:txBody>
      </p:sp>
      <p:sp>
        <p:nvSpPr>
          <p:cNvPr id="25" name="Shape 21"/>
          <p:cNvSpPr/>
          <p:nvPr/>
        </p:nvSpPr>
        <p:spPr>
          <a:xfrm>
            <a:off x="6589624" y="3244342"/>
            <a:ext cx="4559656" cy="9144"/>
          </a:xfrm>
          <a:prstGeom prst="rect">
            <a:avLst/>
          </a:prstGeom>
          <a:solidFill>
            <a:srgbClr val="FFFFFF">
              <a:alpha val="14000"/>
            </a:srgbClr>
          </a:solidFill>
          <a:ln/>
        </p:spPr>
      </p:sp>
      <p:sp>
        <p:nvSpPr>
          <p:cNvPr id="26" name="Shape 22"/>
          <p:cNvSpPr/>
          <p:nvPr/>
        </p:nvSpPr>
        <p:spPr>
          <a:xfrm>
            <a:off x="6607912" y="3518662"/>
            <a:ext cx="82296" cy="82296"/>
          </a:xfrm>
          <a:prstGeom prst="roundRect">
            <a:avLst>
              <a:gd name="adj" fmla="val 50000"/>
            </a:avLst>
          </a:prstGeom>
          <a:solidFill>
            <a:srgbClr val="38BDF8">
              <a:alpha val="95000"/>
            </a:srgbClr>
          </a:solidFill>
          <a:ln/>
        </p:spPr>
      </p:sp>
      <p:sp>
        <p:nvSpPr>
          <p:cNvPr id="27" name="Text 23"/>
          <p:cNvSpPr/>
          <p:nvPr/>
        </p:nvSpPr>
        <p:spPr>
          <a:xfrm>
            <a:off x="6845656" y="3427222"/>
            <a:ext cx="4395064" cy="295402"/>
          </a:xfrm>
          <a:prstGeom prst="rect">
            <a:avLst/>
          </a:prstGeom>
          <a:noFill/>
          <a:ln/>
        </p:spPr>
        <p:txBody>
          <a:bodyPr wrap="square" lIns="0" tIns="0" rIns="0" bIns="0" rtlCol="0" anchor="t"/>
          <a:lstStyle/>
          <a:p>
            <a:pPr algn="l" indent="0" marL="0">
              <a:lnSpc>
                <a:spcPts val="1750"/>
              </a:lnSpc>
              <a:buNone/>
            </a:pPr>
            <a:r>
              <a:rPr lang="en-US" sz="1250" dirty="0">
                <a:solidFill>
                  <a:srgbClr val="D9E6F2"/>
                </a:solidFill>
                <a:latin typeface="Be Vietnam Pro" pitchFamily="34" charset="0"/>
                <a:ea typeface="Be Vietnam Pro" pitchFamily="34" charset="-122"/>
                <a:cs typeface="Be Vietnam Pro" pitchFamily="34" charset="-120"/>
              </a:rPr>
              <a:t>Điểm gặp nạn hiển thị trực tiếp trên bản đồ.</a:t>
            </a:r>
            <a:endParaRPr lang="en-US" sz="1250" dirty="0"/>
          </a:p>
        </p:txBody>
      </p:sp>
      <p:sp>
        <p:nvSpPr>
          <p:cNvPr id="28" name="Shape 24"/>
          <p:cNvSpPr/>
          <p:nvPr/>
        </p:nvSpPr>
        <p:spPr>
          <a:xfrm>
            <a:off x="6607912" y="3887216"/>
            <a:ext cx="82296" cy="82296"/>
          </a:xfrm>
          <a:prstGeom prst="roundRect">
            <a:avLst>
              <a:gd name="adj" fmla="val 50000"/>
            </a:avLst>
          </a:prstGeom>
          <a:solidFill>
            <a:srgbClr val="38BDF8">
              <a:alpha val="95000"/>
            </a:srgbClr>
          </a:solidFill>
          <a:ln/>
        </p:spPr>
      </p:sp>
      <p:sp>
        <p:nvSpPr>
          <p:cNvPr id="29" name="Text 25"/>
          <p:cNvSpPr/>
          <p:nvPr/>
        </p:nvSpPr>
        <p:spPr>
          <a:xfrm>
            <a:off x="6845656" y="3795776"/>
            <a:ext cx="4395064" cy="295402"/>
          </a:xfrm>
          <a:prstGeom prst="rect">
            <a:avLst/>
          </a:prstGeom>
          <a:noFill/>
          <a:ln/>
        </p:spPr>
        <p:txBody>
          <a:bodyPr wrap="square" lIns="0" tIns="0" rIns="0" bIns="0" rtlCol="0" anchor="t"/>
          <a:lstStyle/>
          <a:p>
            <a:pPr algn="l" indent="0" marL="0">
              <a:lnSpc>
                <a:spcPts val="1750"/>
              </a:lnSpc>
              <a:buNone/>
            </a:pPr>
            <a:r>
              <a:rPr lang="en-US" sz="1250" dirty="0">
                <a:solidFill>
                  <a:srgbClr val="D9E6F2"/>
                </a:solidFill>
                <a:latin typeface="Be Vietnam Pro" pitchFamily="34" charset="0"/>
                <a:ea typeface="Be Vietnam Pro" pitchFamily="34" charset="-122"/>
                <a:cs typeface="Be Vietnam Pro" pitchFamily="34" charset="-120"/>
              </a:rPr>
              <a:t>Danh sách vật tư cần nhận cho nhiệm vụ của mình.</a:t>
            </a:r>
            <a:endParaRPr lang="en-US" sz="1250" dirty="0"/>
          </a:p>
        </p:txBody>
      </p:sp>
      <p:sp>
        <p:nvSpPr>
          <p:cNvPr id="30" name="Shape 26"/>
          <p:cNvSpPr/>
          <p:nvPr/>
        </p:nvSpPr>
        <p:spPr>
          <a:xfrm>
            <a:off x="6607912" y="4255770"/>
            <a:ext cx="82296" cy="82296"/>
          </a:xfrm>
          <a:prstGeom prst="roundRect">
            <a:avLst>
              <a:gd name="adj" fmla="val 50000"/>
            </a:avLst>
          </a:prstGeom>
          <a:solidFill>
            <a:srgbClr val="38BDF8">
              <a:alpha val="95000"/>
            </a:srgbClr>
          </a:solidFill>
          <a:ln/>
        </p:spPr>
      </p:sp>
      <p:sp>
        <p:nvSpPr>
          <p:cNvPr id="31" name="Text 27"/>
          <p:cNvSpPr/>
          <p:nvPr/>
        </p:nvSpPr>
        <p:spPr>
          <a:xfrm>
            <a:off x="6845656" y="4164330"/>
            <a:ext cx="4395064" cy="295402"/>
          </a:xfrm>
          <a:prstGeom prst="rect">
            <a:avLst/>
          </a:prstGeom>
          <a:noFill/>
          <a:ln/>
        </p:spPr>
        <p:txBody>
          <a:bodyPr wrap="square" lIns="0" tIns="0" rIns="0" bIns="0" rtlCol="0" anchor="t"/>
          <a:lstStyle/>
          <a:p>
            <a:pPr algn="l" indent="0" marL="0">
              <a:lnSpc>
                <a:spcPts val="1750"/>
              </a:lnSpc>
              <a:buNone/>
            </a:pPr>
            <a:r>
              <a:rPr lang="en-US" sz="1250" dirty="0">
                <a:solidFill>
                  <a:srgbClr val="D9E6F2"/>
                </a:solidFill>
                <a:latin typeface="Be Vietnam Pro" pitchFamily="34" charset="0"/>
                <a:ea typeface="Be Vietnam Pro" pitchFamily="34" charset="-122"/>
                <a:cs typeface="Be Vietnam Pro" pitchFamily="34" charset="-120"/>
              </a:rPr>
              <a:t>Danh sách kho cần đến kèm vị trí từng kho trên bản đồ.</a:t>
            </a:r>
            <a:endParaRPr lang="en-US" sz="1250" dirty="0"/>
          </a:p>
        </p:txBody>
      </p:sp>
      <p:sp>
        <p:nvSpPr>
          <p:cNvPr id="32" name="Shape 28"/>
          <p:cNvSpPr/>
          <p:nvPr/>
        </p:nvSpPr>
        <p:spPr>
          <a:xfrm>
            <a:off x="6607912" y="4624324"/>
            <a:ext cx="82296" cy="82296"/>
          </a:xfrm>
          <a:prstGeom prst="roundRect">
            <a:avLst>
              <a:gd name="adj" fmla="val 50000"/>
            </a:avLst>
          </a:prstGeom>
          <a:solidFill>
            <a:srgbClr val="38BDF8">
              <a:alpha val="95000"/>
            </a:srgbClr>
          </a:solidFill>
          <a:ln/>
        </p:spPr>
      </p:sp>
      <p:sp>
        <p:nvSpPr>
          <p:cNvPr id="33" name="Text 29"/>
          <p:cNvSpPr/>
          <p:nvPr/>
        </p:nvSpPr>
        <p:spPr>
          <a:xfrm>
            <a:off x="6845656" y="4532884"/>
            <a:ext cx="4395064" cy="295402"/>
          </a:xfrm>
          <a:prstGeom prst="rect">
            <a:avLst/>
          </a:prstGeom>
          <a:noFill/>
          <a:ln/>
        </p:spPr>
        <p:txBody>
          <a:bodyPr wrap="square" lIns="0" tIns="0" rIns="0" bIns="0" rtlCol="0" anchor="t"/>
          <a:lstStyle/>
          <a:p>
            <a:pPr algn="l" indent="0" marL="0">
              <a:lnSpc>
                <a:spcPts val="1750"/>
              </a:lnSpc>
              <a:buNone/>
            </a:pPr>
            <a:r>
              <a:rPr lang="en-US" sz="1250" dirty="0">
                <a:solidFill>
                  <a:srgbClr val="D9E6F2"/>
                </a:solidFill>
                <a:latin typeface="Be Vietnam Pro" pitchFamily="34" charset="0"/>
                <a:ea typeface="Be Vietnam Pro" pitchFamily="34" charset="-122"/>
                <a:cs typeface="Be Vietnam Pro" pitchFamily="34" charset="-120"/>
              </a:rPr>
              <a:t>Đường đi từ các kho đến điểm gặp nạn</a:t>
            </a:r>
            <a:endParaRPr lang="en-US" sz="1250" dirty="0"/>
          </a:p>
        </p:txBody>
      </p:sp>
      <p:sp>
        <p:nvSpPr>
          <p:cNvPr id="34" name="Shape 30"/>
          <p:cNvSpPr/>
          <p:nvPr/>
        </p:nvSpPr>
        <p:spPr>
          <a:xfrm>
            <a:off x="713232" y="5630926"/>
            <a:ext cx="10765231" cy="566928"/>
          </a:xfrm>
          <a:prstGeom prst="roundRect">
            <a:avLst>
              <a:gd name="adj" fmla="val 16129"/>
            </a:avLst>
          </a:prstGeom>
          <a:solidFill>
            <a:srgbClr val="22C55E">
              <a:alpha val="12000"/>
            </a:srgbClr>
          </a:solidFill>
          <a:ln w="12700">
            <a:solidFill>
              <a:srgbClr val="22C55E">
                <a:alpha val="40000"/>
              </a:srgbClr>
            </a:solidFill>
            <a:prstDash val="solid"/>
          </a:ln>
        </p:spPr>
      </p:sp>
      <p:sp>
        <p:nvSpPr>
          <p:cNvPr id="35" name="Text 31"/>
          <p:cNvSpPr/>
          <p:nvPr/>
        </p:nvSpPr>
        <p:spPr>
          <a:xfrm>
            <a:off x="1042416" y="5768086"/>
            <a:ext cx="10198303" cy="296037"/>
          </a:xfrm>
          <a:prstGeom prst="rect">
            <a:avLst/>
          </a:prstGeom>
          <a:noFill/>
          <a:ln/>
        </p:spPr>
        <p:txBody>
          <a:bodyPr wrap="square" lIns="0" tIns="0" rIns="0" bIns="0" rtlCol="0" anchor="t"/>
          <a:lstStyle/>
          <a:p>
            <a:pPr algn="l" indent="0" marL="0">
              <a:lnSpc>
                <a:spcPts val="1755"/>
              </a:lnSpc>
              <a:buNone/>
            </a:pPr>
            <a:r>
              <a:rPr lang="en-US" sz="1300" b="1" dirty="0">
                <a:solidFill>
                  <a:srgbClr val="FFFFFF"/>
                </a:solidFill>
                <a:latin typeface="Be Vietnam Pro" pitchFamily="34" charset="0"/>
                <a:ea typeface="Be Vietnam Pro" pitchFamily="34" charset="-122"/>
                <a:cs typeface="Be Vietnam Pro" pitchFamily="34" charset="-120"/>
              </a:rPr>
              <a:t>Không ai phải gọi điện hỏi lại: kho biết chuẩn bị gì, đội cứu hộ biết đi đâu và nhận ở đâu.</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4101F"/>
        </a:solidFill>
      </p:bgPr>
    </p:bg>
    <p:spTree>
      <p:nvGrpSpPr>
        <p:cNvPr id="1" name=""/>
        <p:cNvGrpSpPr/>
        <p:nvPr/>
      </p:nvGrpSpPr>
      <p:grpSpPr>
        <a:xfrm>
          <a:off x="0" y="0"/>
          <a:ext cx="0" cy="0"/>
          <a:chOff x="0" y="0"/>
          <a:chExt cx="0" cy="0"/>
        </a:xfrm>
      </p:grpSpPr>
      <p:pic>
        <p:nvPicPr>
          <p:cNvPr id="2" name="Image 0" descr="bg-content.jp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4101F">
              <a:alpha val="34000"/>
            </a:srgbClr>
          </a:solidFill>
          <a:ln/>
        </p:spPr>
      </p:sp>
      <p:pic>
        <p:nvPicPr>
          <p:cNvPr id="4" name="Image 1" descr="mark-sm.png">    </p:cNvPr>
          <p:cNvPicPr>
            <a:picLocks noChangeAspect="1"/>
          </p:cNvPicPr>
          <p:nvPr/>
        </p:nvPicPr>
        <p:blipFill>
          <a:blip r:embed="rId2"/>
          <a:stretch>
            <a:fillRect/>
          </a:stretch>
        </p:blipFill>
        <p:spPr>
          <a:xfrm>
            <a:off x="713232" y="365760"/>
            <a:ext cx="310896" cy="310896"/>
          </a:xfrm>
          <a:prstGeom prst="rect">
            <a:avLst/>
          </a:prstGeom>
        </p:spPr>
      </p:pic>
      <p:sp>
        <p:nvSpPr>
          <p:cNvPr id="5" name="Text 1"/>
          <p:cNvSpPr/>
          <p:nvPr/>
        </p:nvSpPr>
        <p:spPr>
          <a:xfrm>
            <a:off x="1170432" y="384048"/>
            <a:ext cx="3749040" cy="261747"/>
          </a:xfrm>
          <a:prstGeom prst="rect">
            <a:avLst/>
          </a:prstGeom>
          <a:noFill/>
          <a:ln/>
        </p:spPr>
        <p:txBody>
          <a:bodyPr wrap="square" lIns="0" tIns="0" rIns="0" bIns="0" rtlCol="0" anchor="t"/>
          <a:lstStyle/>
          <a:p>
            <a:pPr algn="l" indent="0" marL="0">
              <a:lnSpc>
                <a:spcPts val="1485"/>
              </a:lnSpc>
              <a:buNone/>
            </a:pPr>
            <a:r>
              <a:rPr lang="en-US" sz="1100" b="1" spc="160" kern="0" dirty="0">
                <a:solidFill>
                  <a:srgbClr val="6EE7A8"/>
                </a:solidFill>
                <a:latin typeface="Be Vietnam Pro" pitchFamily="34" charset="0"/>
                <a:ea typeface="Be Vietnam Pro" pitchFamily="34" charset="-122"/>
                <a:cs typeface="Be Vietnam Pro" pitchFamily="34" charset="-120"/>
              </a:rPr>
              <a:t>ỨNG PHÓ NHANH</a:t>
            </a:r>
            <a:endParaRPr lang="en-US" sz="1100" dirty="0"/>
          </a:p>
        </p:txBody>
      </p:sp>
      <p:sp>
        <p:nvSpPr>
          <p:cNvPr id="6" name="Text 2"/>
          <p:cNvSpPr/>
          <p:nvPr/>
        </p:nvSpPr>
        <p:spPr>
          <a:xfrm>
            <a:off x="8643823" y="384048"/>
            <a:ext cx="2834640" cy="261747"/>
          </a:xfrm>
          <a:prstGeom prst="rect">
            <a:avLst/>
          </a:prstGeom>
          <a:noFill/>
          <a:ln/>
        </p:spPr>
        <p:txBody>
          <a:bodyPr wrap="square" lIns="0" tIns="0" rIns="0" bIns="0" rtlCol="0" anchor="t"/>
          <a:lstStyle/>
          <a:p>
            <a:pPr algn="r" indent="0" marL="0">
              <a:lnSpc>
                <a:spcPts val="1485"/>
              </a:lnSpc>
              <a:buNone/>
            </a:pPr>
            <a:r>
              <a:rPr lang="en-US" sz="1100" b="1" dirty="0">
                <a:solidFill>
                  <a:srgbClr val="7189A2"/>
                </a:solidFill>
                <a:latin typeface="Be Vietnam Pro" pitchFamily="34" charset="0"/>
                <a:ea typeface="Be Vietnam Pro" pitchFamily="34" charset="-122"/>
                <a:cs typeface="Be Vietnam Pro" pitchFamily="34" charset="-120"/>
              </a:rPr>
              <a:t>12 / 24</a:t>
            </a:r>
            <a:endParaRPr lang="en-US" sz="1100" dirty="0"/>
          </a:p>
        </p:txBody>
      </p:sp>
      <p:sp>
        <p:nvSpPr>
          <p:cNvPr id="7" name="Shape 3"/>
          <p:cNvSpPr/>
          <p:nvPr/>
        </p:nvSpPr>
        <p:spPr>
          <a:xfrm>
            <a:off x="713232" y="868680"/>
            <a:ext cx="10765231" cy="10973"/>
          </a:xfrm>
          <a:prstGeom prst="rect">
            <a:avLst/>
          </a:prstGeom>
          <a:solidFill>
            <a:srgbClr val="FFFFFF">
              <a:alpha val="16000"/>
            </a:srgbClr>
          </a:solidFill>
          <a:ln/>
        </p:spPr>
      </p:sp>
      <p:sp>
        <p:nvSpPr>
          <p:cNvPr id="8" name="Text 4"/>
          <p:cNvSpPr/>
          <p:nvPr/>
        </p:nvSpPr>
        <p:spPr>
          <a:xfrm>
            <a:off x="713232" y="1133856"/>
            <a:ext cx="8321040" cy="270320"/>
          </a:xfrm>
          <a:prstGeom prst="rect">
            <a:avLst/>
          </a:prstGeom>
          <a:noFill/>
          <a:ln/>
        </p:spPr>
        <p:txBody>
          <a:bodyPr wrap="square" lIns="0" tIns="0" rIns="0" bIns="0" rtlCol="0" anchor="t"/>
          <a:lstStyle/>
          <a:p>
            <a:pPr algn="l" indent="0" marL="0">
              <a:lnSpc>
                <a:spcPts val="1553"/>
              </a:lnSpc>
              <a:buNone/>
            </a:pPr>
            <a:r>
              <a:rPr lang="en-US" sz="1150" b="1" spc="220" kern="0" dirty="0">
                <a:solidFill>
                  <a:srgbClr val="22C55E"/>
                </a:solidFill>
                <a:latin typeface="Be Vietnam Pro" pitchFamily="34" charset="0"/>
                <a:ea typeface="Be Vietnam Pro" pitchFamily="34" charset="-122"/>
                <a:cs typeface="Be Vietnam Pro" pitchFamily="34" charset="-120"/>
              </a:rPr>
              <a:t>QUY TRÌNH ĐIỀU PHỐI CỨU HỘ · BƯỚC 5 / 6</a:t>
            </a:r>
            <a:endParaRPr lang="en-US" sz="1150" dirty="0"/>
          </a:p>
        </p:txBody>
      </p:sp>
      <p:sp>
        <p:nvSpPr>
          <p:cNvPr id="9" name="Text 5"/>
          <p:cNvSpPr/>
          <p:nvPr/>
        </p:nvSpPr>
        <p:spPr>
          <a:xfrm>
            <a:off x="713232" y="1426464"/>
            <a:ext cx="10490911" cy="537718"/>
          </a:xfrm>
          <a:prstGeom prst="rect">
            <a:avLst/>
          </a:prstGeom>
          <a:noFill/>
          <a:ln/>
        </p:spPr>
        <p:txBody>
          <a:bodyPr wrap="square" lIns="0" tIns="0" rIns="0" bIns="0" rtlCol="0" anchor="t"/>
          <a:lstStyle/>
          <a:p>
            <a:pPr algn="l" indent="0" marL="0">
              <a:lnSpc>
                <a:spcPts val="3658"/>
              </a:lnSpc>
              <a:buNone/>
            </a:pPr>
            <a:r>
              <a:rPr lang="en-US" sz="3100" b="1" dirty="0">
                <a:solidFill>
                  <a:srgbClr val="FFFFFF"/>
                </a:solidFill>
                <a:latin typeface="Be Vietnam Pro" pitchFamily="34" charset="0"/>
                <a:ea typeface="Be Vietnam Pro" pitchFamily="34" charset="-122"/>
                <a:cs typeface="Be Vietnam Pro" pitchFamily="34" charset="-120"/>
              </a:rPr>
              <a:t>Hoàn thành nhiệm vụ và gửi bằng chứng</a:t>
            </a:r>
            <a:endParaRPr lang="en-US" sz="3100" dirty="0"/>
          </a:p>
        </p:txBody>
      </p:sp>
      <p:sp>
        <p:nvSpPr>
          <p:cNvPr id="10" name="Shape 6"/>
          <p:cNvSpPr/>
          <p:nvPr/>
        </p:nvSpPr>
        <p:spPr>
          <a:xfrm>
            <a:off x="713232" y="6272784"/>
            <a:ext cx="10765231" cy="9144"/>
          </a:xfrm>
          <a:prstGeom prst="rect">
            <a:avLst/>
          </a:prstGeom>
          <a:solidFill>
            <a:srgbClr val="FFFFFF">
              <a:alpha val="10000"/>
            </a:srgbClr>
          </a:solidFill>
          <a:ln/>
        </p:spPr>
      </p:sp>
      <p:sp>
        <p:nvSpPr>
          <p:cNvPr id="11" name="Text 7"/>
          <p:cNvSpPr/>
          <p:nvPr/>
        </p:nvSpPr>
        <p:spPr>
          <a:xfrm>
            <a:off x="8643823" y="6382512"/>
            <a:ext cx="2834640" cy="236030"/>
          </a:xfrm>
          <a:prstGeom prst="rect">
            <a:avLst/>
          </a:prstGeom>
          <a:noFill/>
          <a:ln/>
        </p:spPr>
        <p:txBody>
          <a:bodyPr wrap="square" lIns="0" tIns="0" rIns="0" bIns="0" rtlCol="0" anchor="t"/>
          <a:lstStyle/>
          <a:p>
            <a:pPr algn="r" indent="0" marL="0">
              <a:lnSpc>
                <a:spcPts val="1283"/>
              </a:lnSpc>
              <a:buNone/>
            </a:pPr>
            <a:r>
              <a:rPr lang="en-US" sz="950" dirty="0">
                <a:solidFill>
                  <a:srgbClr val="7189A2"/>
                </a:solidFill>
                <a:latin typeface="Be Vietnam Pro" pitchFamily="34" charset="0"/>
                <a:ea typeface="Be Vietnam Pro" pitchFamily="34" charset="-122"/>
                <a:cs typeface="Be Vietnam Pro" pitchFamily="34" charset="-120"/>
              </a:rPr>
              <a:t>ungphonhanh.life</a:t>
            </a:r>
            <a:endParaRPr lang="en-US" sz="950" dirty="0"/>
          </a:p>
        </p:txBody>
      </p:sp>
      <p:sp>
        <p:nvSpPr>
          <p:cNvPr id="12" name="Shape 8"/>
          <p:cNvSpPr/>
          <p:nvPr/>
        </p:nvSpPr>
        <p:spPr>
          <a:xfrm rot="5400000">
            <a:off x="4144670" y="2979166"/>
            <a:ext cx="219456" cy="219456"/>
          </a:xfrm>
          <a:prstGeom prst="triangle">
            <a:avLst/>
          </a:prstGeom>
          <a:solidFill>
            <a:srgbClr val="22C55E">
              <a:alpha val="75000"/>
            </a:srgbClr>
          </a:solidFill>
          <a:ln/>
        </p:spPr>
      </p:sp>
      <p:sp>
        <p:nvSpPr>
          <p:cNvPr id="13" name="Shape 9"/>
          <p:cNvSpPr/>
          <p:nvPr/>
        </p:nvSpPr>
        <p:spPr>
          <a:xfrm rot="16200000">
            <a:off x="4135526" y="5118862"/>
            <a:ext cx="219456" cy="219456"/>
          </a:xfrm>
          <a:prstGeom prst="triangle">
            <a:avLst/>
          </a:prstGeom>
          <a:solidFill>
            <a:srgbClr val="22C55E">
              <a:alpha val="75000"/>
            </a:srgbClr>
          </a:solidFill>
          <a:ln/>
        </p:spPr>
      </p:sp>
      <p:sp>
        <p:nvSpPr>
          <p:cNvPr id="14" name="Shape 10"/>
          <p:cNvSpPr/>
          <p:nvPr/>
        </p:nvSpPr>
        <p:spPr>
          <a:xfrm rot="5400000">
            <a:off x="7836713" y="2979166"/>
            <a:ext cx="219456" cy="219456"/>
          </a:xfrm>
          <a:prstGeom prst="triangle">
            <a:avLst/>
          </a:prstGeom>
          <a:solidFill>
            <a:srgbClr val="22C55E">
              <a:alpha val="75000"/>
            </a:srgbClr>
          </a:solidFill>
          <a:ln/>
        </p:spPr>
      </p:sp>
      <p:sp>
        <p:nvSpPr>
          <p:cNvPr id="15" name="Shape 11"/>
          <p:cNvSpPr/>
          <p:nvPr/>
        </p:nvSpPr>
        <p:spPr>
          <a:xfrm rot="16200000">
            <a:off x="7827569" y="5118862"/>
            <a:ext cx="219456" cy="219456"/>
          </a:xfrm>
          <a:prstGeom prst="triangle">
            <a:avLst/>
          </a:prstGeom>
          <a:solidFill>
            <a:srgbClr val="22C55E">
              <a:alpha val="75000"/>
            </a:srgbClr>
          </a:solidFill>
          <a:ln/>
        </p:spPr>
      </p:sp>
      <p:sp>
        <p:nvSpPr>
          <p:cNvPr id="16" name="Shape 12"/>
          <p:cNvSpPr/>
          <p:nvPr/>
        </p:nvSpPr>
        <p:spPr>
          <a:xfrm>
            <a:off x="9777832" y="3957574"/>
            <a:ext cx="20117" cy="246888"/>
          </a:xfrm>
          <a:prstGeom prst="rect">
            <a:avLst/>
          </a:prstGeom>
          <a:solidFill>
            <a:srgbClr val="2E7D55">
              <a:alpha val="85000"/>
            </a:srgbClr>
          </a:solidFill>
          <a:ln/>
        </p:spPr>
      </p:sp>
      <p:sp>
        <p:nvSpPr>
          <p:cNvPr id="17" name="Shape 13"/>
          <p:cNvSpPr/>
          <p:nvPr/>
        </p:nvSpPr>
        <p:spPr>
          <a:xfrm rot="10800000">
            <a:off x="9696450" y="4181602"/>
            <a:ext cx="182880" cy="182880"/>
          </a:xfrm>
          <a:prstGeom prst="triangle">
            <a:avLst/>
          </a:prstGeom>
          <a:solidFill>
            <a:srgbClr val="22C55E">
              <a:alpha val="75000"/>
            </a:srgbClr>
          </a:solidFill>
          <a:ln/>
        </p:spPr>
      </p:sp>
      <p:sp>
        <p:nvSpPr>
          <p:cNvPr id="18" name="Shape 14"/>
          <p:cNvSpPr/>
          <p:nvPr/>
        </p:nvSpPr>
        <p:spPr>
          <a:xfrm>
            <a:off x="713232" y="2220214"/>
            <a:ext cx="3381146" cy="1737360"/>
          </a:xfrm>
          <a:prstGeom prst="roundRect">
            <a:avLst>
              <a:gd name="adj" fmla="val 6316"/>
            </a:avLst>
          </a:prstGeom>
          <a:solidFill>
            <a:srgbClr val="091B2D">
              <a:alpha val="55000"/>
            </a:srgbClr>
          </a:solidFill>
          <a:ln w="12700">
            <a:solidFill>
              <a:srgbClr val="FFFFFF">
                <a:alpha val="10000"/>
              </a:srgbClr>
            </a:solidFill>
            <a:prstDash val="solid"/>
          </a:ln>
        </p:spPr>
      </p:sp>
      <p:sp>
        <p:nvSpPr>
          <p:cNvPr id="19" name="Shape 15"/>
          <p:cNvSpPr/>
          <p:nvPr/>
        </p:nvSpPr>
        <p:spPr>
          <a:xfrm>
            <a:off x="713232" y="2220214"/>
            <a:ext cx="50292" cy="1737360"/>
          </a:xfrm>
          <a:prstGeom prst="roundRect">
            <a:avLst>
              <a:gd name="adj" fmla="val 54545"/>
            </a:avLst>
          </a:prstGeom>
          <a:solidFill>
            <a:srgbClr val="3C5468">
              <a:alpha val="95000"/>
            </a:srgbClr>
          </a:solidFill>
          <a:ln/>
        </p:spPr>
      </p:sp>
      <p:sp>
        <p:nvSpPr>
          <p:cNvPr id="20" name="Shape 16"/>
          <p:cNvSpPr/>
          <p:nvPr/>
        </p:nvSpPr>
        <p:spPr>
          <a:xfrm>
            <a:off x="987552" y="2439670"/>
            <a:ext cx="420624" cy="420624"/>
          </a:xfrm>
          <a:prstGeom prst="roundRect">
            <a:avLst>
              <a:gd name="adj" fmla="val 50000"/>
            </a:avLst>
          </a:prstGeom>
          <a:solidFill>
            <a:srgbClr val="04101F">
              <a:alpha val="88000"/>
            </a:srgbClr>
          </a:solidFill>
          <a:ln/>
        </p:spPr>
      </p:sp>
      <p:sp>
        <p:nvSpPr>
          <p:cNvPr id="21" name="Shape 17"/>
          <p:cNvSpPr/>
          <p:nvPr/>
        </p:nvSpPr>
        <p:spPr>
          <a:xfrm>
            <a:off x="987552" y="2439670"/>
            <a:ext cx="420624" cy="420624"/>
          </a:xfrm>
          <a:prstGeom prst="roundRect">
            <a:avLst>
              <a:gd name="adj" fmla="val 50000"/>
            </a:avLst>
          </a:prstGeom>
          <a:solidFill>
            <a:srgbClr val="3C5468">
              <a:alpha val="20000"/>
            </a:srgbClr>
          </a:solidFill>
          <a:ln w="15240">
            <a:solidFill>
              <a:srgbClr val="3C5468">
                <a:alpha val="70000"/>
              </a:srgbClr>
            </a:solidFill>
            <a:prstDash val="solid"/>
          </a:ln>
        </p:spPr>
      </p:sp>
      <p:sp>
        <p:nvSpPr>
          <p:cNvPr id="22" name="Text 18"/>
          <p:cNvSpPr/>
          <p:nvPr/>
        </p:nvSpPr>
        <p:spPr>
          <a:xfrm>
            <a:off x="941832" y="2512822"/>
            <a:ext cx="512064" cy="330327"/>
          </a:xfrm>
          <a:prstGeom prst="rect">
            <a:avLst/>
          </a:prstGeom>
          <a:noFill/>
          <a:ln/>
        </p:spPr>
        <p:txBody>
          <a:bodyPr wrap="square" lIns="0" tIns="0" rIns="0" bIns="0" rtlCol="0" anchor="t"/>
          <a:lstStyle/>
          <a:p>
            <a:pPr algn="ctr" indent="0" marL="0">
              <a:lnSpc>
                <a:spcPts val="2025"/>
              </a:lnSpc>
              <a:buNone/>
            </a:pPr>
            <a:r>
              <a:rPr lang="en-US" sz="1500" b="1" dirty="0">
                <a:solidFill>
                  <a:srgbClr val="3C5468"/>
                </a:solidFill>
                <a:latin typeface="Be Vietnam Pro" pitchFamily="34" charset="0"/>
                <a:ea typeface="Be Vietnam Pro" pitchFamily="34" charset="-122"/>
                <a:cs typeface="Be Vietnam Pro" pitchFamily="34" charset="-120"/>
              </a:rPr>
              <a:t>1</a:t>
            </a:r>
            <a:endParaRPr lang="en-US" sz="1500" dirty="0"/>
          </a:p>
        </p:txBody>
      </p:sp>
      <p:sp>
        <p:nvSpPr>
          <p:cNvPr id="23" name="Text 19"/>
          <p:cNvSpPr/>
          <p:nvPr/>
        </p:nvSpPr>
        <p:spPr>
          <a:xfrm>
            <a:off x="1536192" y="2485390"/>
            <a:ext cx="2393594" cy="295402"/>
          </a:xfrm>
          <a:prstGeom prst="rect">
            <a:avLst/>
          </a:prstGeom>
          <a:noFill/>
          <a:ln/>
        </p:spPr>
        <p:txBody>
          <a:bodyPr wrap="square" lIns="0" tIns="0" rIns="0" bIns="0" rtlCol="0" anchor="t"/>
          <a:lstStyle/>
          <a:p>
            <a:pPr algn="l" indent="0" marL="0">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Ghi nhận tình huống</a:t>
            </a:r>
            <a:endParaRPr lang="en-US" sz="1400" dirty="0"/>
          </a:p>
        </p:txBody>
      </p:sp>
      <p:sp>
        <p:nvSpPr>
          <p:cNvPr id="24" name="Text 20"/>
          <p:cNvSpPr/>
          <p:nvPr/>
        </p:nvSpPr>
        <p:spPr>
          <a:xfrm>
            <a:off x="987552" y="3098038"/>
            <a:ext cx="2923946" cy="487934"/>
          </a:xfrm>
          <a:prstGeom prst="rect">
            <a:avLst/>
          </a:prstGeom>
          <a:noFill/>
          <a:ln/>
        </p:spPr>
        <p:txBody>
          <a:bodyPr wrap="square" lIns="0" tIns="0" rIns="0" bIns="0" rtlCol="0" anchor="t"/>
          <a:lstStyle/>
          <a:p>
            <a:pPr algn="l" indent="0" marL="0">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Trưởng thôn báo cáo và ghim điểm gặp</a:t>
            </a:r>
            <a:endParaRPr lang="en-US" sz="1150" dirty="0"/>
          </a:p>
          <a:p>
            <a:pPr algn="l" indent="0" marL="0">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nạn lên bản đồ.</a:t>
            </a:r>
            <a:endParaRPr lang="en-US" sz="1150" dirty="0"/>
          </a:p>
        </p:txBody>
      </p:sp>
      <p:sp>
        <p:nvSpPr>
          <p:cNvPr id="25" name="Shape 21"/>
          <p:cNvSpPr/>
          <p:nvPr/>
        </p:nvSpPr>
        <p:spPr>
          <a:xfrm>
            <a:off x="4405274" y="2220214"/>
            <a:ext cx="3381146" cy="1737360"/>
          </a:xfrm>
          <a:prstGeom prst="roundRect">
            <a:avLst>
              <a:gd name="adj" fmla="val 6316"/>
            </a:avLst>
          </a:prstGeom>
          <a:solidFill>
            <a:srgbClr val="091B2D">
              <a:alpha val="55000"/>
            </a:srgbClr>
          </a:solidFill>
          <a:ln w="12700">
            <a:solidFill>
              <a:srgbClr val="FFFFFF">
                <a:alpha val="10000"/>
              </a:srgbClr>
            </a:solidFill>
            <a:prstDash val="solid"/>
          </a:ln>
        </p:spPr>
      </p:sp>
      <p:sp>
        <p:nvSpPr>
          <p:cNvPr id="26" name="Shape 22"/>
          <p:cNvSpPr/>
          <p:nvPr/>
        </p:nvSpPr>
        <p:spPr>
          <a:xfrm>
            <a:off x="4405274" y="2220214"/>
            <a:ext cx="50292" cy="1737360"/>
          </a:xfrm>
          <a:prstGeom prst="roundRect">
            <a:avLst>
              <a:gd name="adj" fmla="val 54545"/>
            </a:avLst>
          </a:prstGeom>
          <a:solidFill>
            <a:srgbClr val="3C5468">
              <a:alpha val="95000"/>
            </a:srgbClr>
          </a:solidFill>
          <a:ln/>
        </p:spPr>
      </p:sp>
      <p:sp>
        <p:nvSpPr>
          <p:cNvPr id="27" name="Shape 23"/>
          <p:cNvSpPr/>
          <p:nvPr/>
        </p:nvSpPr>
        <p:spPr>
          <a:xfrm>
            <a:off x="4679594" y="2439670"/>
            <a:ext cx="420624" cy="420624"/>
          </a:xfrm>
          <a:prstGeom prst="roundRect">
            <a:avLst>
              <a:gd name="adj" fmla="val 50000"/>
            </a:avLst>
          </a:prstGeom>
          <a:solidFill>
            <a:srgbClr val="04101F">
              <a:alpha val="88000"/>
            </a:srgbClr>
          </a:solidFill>
          <a:ln/>
        </p:spPr>
      </p:sp>
      <p:sp>
        <p:nvSpPr>
          <p:cNvPr id="28" name="Shape 24"/>
          <p:cNvSpPr/>
          <p:nvPr/>
        </p:nvSpPr>
        <p:spPr>
          <a:xfrm>
            <a:off x="4679594" y="2439670"/>
            <a:ext cx="420624" cy="420624"/>
          </a:xfrm>
          <a:prstGeom prst="roundRect">
            <a:avLst>
              <a:gd name="adj" fmla="val 50000"/>
            </a:avLst>
          </a:prstGeom>
          <a:solidFill>
            <a:srgbClr val="3C5468">
              <a:alpha val="20000"/>
            </a:srgbClr>
          </a:solidFill>
          <a:ln w="15240">
            <a:solidFill>
              <a:srgbClr val="3C5468">
                <a:alpha val="70000"/>
              </a:srgbClr>
            </a:solidFill>
            <a:prstDash val="solid"/>
          </a:ln>
        </p:spPr>
      </p:sp>
      <p:sp>
        <p:nvSpPr>
          <p:cNvPr id="29" name="Text 25"/>
          <p:cNvSpPr/>
          <p:nvPr/>
        </p:nvSpPr>
        <p:spPr>
          <a:xfrm>
            <a:off x="4633874" y="2512822"/>
            <a:ext cx="512064" cy="330327"/>
          </a:xfrm>
          <a:prstGeom prst="rect">
            <a:avLst/>
          </a:prstGeom>
          <a:noFill/>
          <a:ln/>
        </p:spPr>
        <p:txBody>
          <a:bodyPr wrap="square" lIns="0" tIns="0" rIns="0" bIns="0" rtlCol="0" anchor="t"/>
          <a:lstStyle/>
          <a:p>
            <a:pPr algn="ctr" indent="0" marL="0">
              <a:lnSpc>
                <a:spcPts val="2025"/>
              </a:lnSpc>
              <a:buNone/>
            </a:pPr>
            <a:r>
              <a:rPr lang="en-US" sz="1500" b="1" dirty="0">
                <a:solidFill>
                  <a:srgbClr val="3C5468"/>
                </a:solidFill>
                <a:latin typeface="Be Vietnam Pro" pitchFamily="34" charset="0"/>
                <a:ea typeface="Be Vietnam Pro" pitchFamily="34" charset="-122"/>
                <a:cs typeface="Be Vietnam Pro" pitchFamily="34" charset="-120"/>
              </a:rPr>
              <a:t>2</a:t>
            </a:r>
            <a:endParaRPr lang="en-US" sz="1500" dirty="0"/>
          </a:p>
        </p:txBody>
      </p:sp>
      <p:sp>
        <p:nvSpPr>
          <p:cNvPr id="30" name="Text 26"/>
          <p:cNvSpPr/>
          <p:nvPr/>
        </p:nvSpPr>
        <p:spPr>
          <a:xfrm>
            <a:off x="5228234" y="2485390"/>
            <a:ext cx="2393594" cy="517652"/>
          </a:xfrm>
          <a:prstGeom prst="rect">
            <a:avLst/>
          </a:prstGeom>
          <a:noFill/>
          <a:ln/>
        </p:spPr>
        <p:txBody>
          <a:bodyPr wrap="square" lIns="0" tIns="0" rIns="0" bIns="0" rtlCol="0" anchor="t"/>
          <a:lstStyle/>
          <a:p>
            <a:pPr algn="l" indent="0" marL="0">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AI phân tích và con người</a:t>
            </a:r>
            <a:endParaRPr lang="en-US" sz="1400" dirty="0"/>
          </a:p>
          <a:p>
            <a:pPr algn="l" indent="0" marL="0">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điều phối</a:t>
            </a:r>
            <a:endParaRPr lang="en-US" sz="1400" dirty="0"/>
          </a:p>
        </p:txBody>
      </p:sp>
      <p:sp>
        <p:nvSpPr>
          <p:cNvPr id="31" name="Text 27"/>
          <p:cNvSpPr/>
          <p:nvPr/>
        </p:nvSpPr>
        <p:spPr>
          <a:xfrm>
            <a:off x="4679594" y="3098038"/>
            <a:ext cx="2923946" cy="695325"/>
          </a:xfrm>
          <a:prstGeom prst="rect">
            <a:avLst/>
          </a:prstGeom>
          <a:noFill/>
          <a:ln/>
        </p:spPr>
        <p:txBody>
          <a:bodyPr wrap="square" lIns="0" tIns="0" rIns="0" bIns="0" rtlCol="0" anchor="t"/>
          <a:lstStyle/>
          <a:p>
            <a:pPr algn="l" indent="0" marL="0">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AI đọc mô tả bằng lời thành số liệu và</a:t>
            </a:r>
            <a:endParaRPr lang="en-US" sz="1150" dirty="0"/>
          </a:p>
          <a:p>
            <a:pPr algn="l" indent="0" marL="0">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đề xuất vật tư, người điều phối sẽ chốt</a:t>
            </a:r>
            <a:endParaRPr lang="en-US" sz="1150" dirty="0"/>
          </a:p>
          <a:p>
            <a:pPr algn="l" indent="0" marL="0">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phương án.</a:t>
            </a:r>
            <a:endParaRPr lang="en-US" sz="1150" dirty="0"/>
          </a:p>
        </p:txBody>
      </p:sp>
      <p:sp>
        <p:nvSpPr>
          <p:cNvPr id="32" name="Shape 28"/>
          <p:cNvSpPr/>
          <p:nvPr/>
        </p:nvSpPr>
        <p:spPr>
          <a:xfrm>
            <a:off x="8097317" y="2220214"/>
            <a:ext cx="3381146" cy="1737360"/>
          </a:xfrm>
          <a:prstGeom prst="roundRect">
            <a:avLst>
              <a:gd name="adj" fmla="val 6316"/>
            </a:avLst>
          </a:prstGeom>
          <a:solidFill>
            <a:srgbClr val="091B2D">
              <a:alpha val="55000"/>
            </a:srgbClr>
          </a:solidFill>
          <a:ln w="12700">
            <a:solidFill>
              <a:srgbClr val="FFFFFF">
                <a:alpha val="10000"/>
              </a:srgbClr>
            </a:solidFill>
            <a:prstDash val="solid"/>
          </a:ln>
        </p:spPr>
      </p:sp>
      <p:sp>
        <p:nvSpPr>
          <p:cNvPr id="33" name="Shape 29"/>
          <p:cNvSpPr/>
          <p:nvPr/>
        </p:nvSpPr>
        <p:spPr>
          <a:xfrm>
            <a:off x="8097317" y="2220214"/>
            <a:ext cx="50292" cy="1737360"/>
          </a:xfrm>
          <a:prstGeom prst="roundRect">
            <a:avLst>
              <a:gd name="adj" fmla="val 54545"/>
            </a:avLst>
          </a:prstGeom>
          <a:solidFill>
            <a:srgbClr val="3C5468">
              <a:alpha val="95000"/>
            </a:srgbClr>
          </a:solidFill>
          <a:ln/>
        </p:spPr>
      </p:sp>
      <p:sp>
        <p:nvSpPr>
          <p:cNvPr id="34" name="Shape 30"/>
          <p:cNvSpPr/>
          <p:nvPr/>
        </p:nvSpPr>
        <p:spPr>
          <a:xfrm>
            <a:off x="8371637" y="2439670"/>
            <a:ext cx="420624" cy="420624"/>
          </a:xfrm>
          <a:prstGeom prst="roundRect">
            <a:avLst>
              <a:gd name="adj" fmla="val 50000"/>
            </a:avLst>
          </a:prstGeom>
          <a:solidFill>
            <a:srgbClr val="04101F">
              <a:alpha val="88000"/>
            </a:srgbClr>
          </a:solidFill>
          <a:ln/>
        </p:spPr>
      </p:sp>
      <p:sp>
        <p:nvSpPr>
          <p:cNvPr id="35" name="Shape 31"/>
          <p:cNvSpPr/>
          <p:nvPr/>
        </p:nvSpPr>
        <p:spPr>
          <a:xfrm>
            <a:off x="8371637" y="2439670"/>
            <a:ext cx="420624" cy="420624"/>
          </a:xfrm>
          <a:prstGeom prst="roundRect">
            <a:avLst>
              <a:gd name="adj" fmla="val 50000"/>
            </a:avLst>
          </a:prstGeom>
          <a:solidFill>
            <a:srgbClr val="3C5468">
              <a:alpha val="20000"/>
            </a:srgbClr>
          </a:solidFill>
          <a:ln w="15240">
            <a:solidFill>
              <a:srgbClr val="3C5468">
                <a:alpha val="70000"/>
              </a:srgbClr>
            </a:solidFill>
            <a:prstDash val="solid"/>
          </a:ln>
        </p:spPr>
      </p:sp>
      <p:sp>
        <p:nvSpPr>
          <p:cNvPr id="36" name="Text 32"/>
          <p:cNvSpPr/>
          <p:nvPr/>
        </p:nvSpPr>
        <p:spPr>
          <a:xfrm>
            <a:off x="8325917" y="2512822"/>
            <a:ext cx="512064" cy="330327"/>
          </a:xfrm>
          <a:prstGeom prst="rect">
            <a:avLst/>
          </a:prstGeom>
          <a:noFill/>
          <a:ln/>
        </p:spPr>
        <p:txBody>
          <a:bodyPr wrap="square" lIns="0" tIns="0" rIns="0" bIns="0" rtlCol="0" anchor="t"/>
          <a:lstStyle/>
          <a:p>
            <a:pPr algn="ctr" indent="0" marL="0">
              <a:lnSpc>
                <a:spcPts val="2025"/>
              </a:lnSpc>
              <a:buNone/>
            </a:pPr>
            <a:r>
              <a:rPr lang="en-US" sz="1500" b="1" dirty="0">
                <a:solidFill>
                  <a:srgbClr val="3C5468"/>
                </a:solidFill>
                <a:latin typeface="Be Vietnam Pro" pitchFamily="34" charset="0"/>
                <a:ea typeface="Be Vietnam Pro" pitchFamily="34" charset="-122"/>
                <a:cs typeface="Be Vietnam Pro" pitchFamily="34" charset="-120"/>
              </a:rPr>
              <a:t>3</a:t>
            </a:r>
            <a:endParaRPr lang="en-US" sz="1500" dirty="0"/>
          </a:p>
        </p:txBody>
      </p:sp>
      <p:sp>
        <p:nvSpPr>
          <p:cNvPr id="37" name="Text 33"/>
          <p:cNvSpPr/>
          <p:nvPr/>
        </p:nvSpPr>
        <p:spPr>
          <a:xfrm>
            <a:off x="8920277" y="2485390"/>
            <a:ext cx="2393594" cy="517652"/>
          </a:xfrm>
          <a:prstGeom prst="rect">
            <a:avLst/>
          </a:prstGeom>
          <a:noFill/>
          <a:ln/>
        </p:spPr>
        <p:txBody>
          <a:bodyPr wrap="square" lIns="0" tIns="0" rIns="0" bIns="0" rtlCol="0" anchor="t"/>
          <a:lstStyle/>
          <a:p>
            <a:pPr algn="l" indent="0" marL="0">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Chọn kho tiếp tế gần</a:t>
            </a:r>
            <a:endParaRPr lang="en-US" sz="1400" dirty="0"/>
          </a:p>
          <a:p>
            <a:pPr algn="l" indent="0" marL="0">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điểm gặp nạn nhất</a:t>
            </a:r>
            <a:endParaRPr lang="en-US" sz="1400" dirty="0"/>
          </a:p>
        </p:txBody>
      </p:sp>
      <p:sp>
        <p:nvSpPr>
          <p:cNvPr id="38" name="Text 34"/>
          <p:cNvSpPr/>
          <p:nvPr/>
        </p:nvSpPr>
        <p:spPr>
          <a:xfrm>
            <a:off x="8371637" y="3098038"/>
            <a:ext cx="2923946" cy="487934"/>
          </a:xfrm>
          <a:prstGeom prst="rect">
            <a:avLst/>
          </a:prstGeom>
          <a:noFill/>
          <a:ln/>
        </p:spPr>
        <p:txBody>
          <a:bodyPr wrap="square" lIns="0" tIns="0" rIns="0" bIns="0" rtlCol="0" anchor="t"/>
          <a:lstStyle/>
          <a:p>
            <a:pPr algn="l" indent="0" marL="0">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Hệ thống cân nhắc vị trí, tồn kho và khả</a:t>
            </a:r>
            <a:endParaRPr lang="en-US" sz="1150" dirty="0"/>
          </a:p>
          <a:p>
            <a:pPr algn="l" indent="0" marL="0">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năng đáp ứng của từng kho.</a:t>
            </a:r>
            <a:endParaRPr lang="en-US" sz="1150" dirty="0"/>
          </a:p>
        </p:txBody>
      </p:sp>
      <p:sp>
        <p:nvSpPr>
          <p:cNvPr id="39" name="Shape 35"/>
          <p:cNvSpPr/>
          <p:nvPr/>
        </p:nvSpPr>
        <p:spPr>
          <a:xfrm>
            <a:off x="8097317" y="4359910"/>
            <a:ext cx="3381146" cy="1737360"/>
          </a:xfrm>
          <a:prstGeom prst="roundRect">
            <a:avLst>
              <a:gd name="adj" fmla="val 6316"/>
            </a:avLst>
          </a:prstGeom>
          <a:solidFill>
            <a:srgbClr val="091B2D">
              <a:alpha val="55000"/>
            </a:srgbClr>
          </a:solidFill>
          <a:ln w="12700">
            <a:solidFill>
              <a:srgbClr val="FFFFFF">
                <a:alpha val="10000"/>
              </a:srgbClr>
            </a:solidFill>
            <a:prstDash val="solid"/>
          </a:ln>
        </p:spPr>
      </p:sp>
      <p:sp>
        <p:nvSpPr>
          <p:cNvPr id="40" name="Shape 36"/>
          <p:cNvSpPr/>
          <p:nvPr/>
        </p:nvSpPr>
        <p:spPr>
          <a:xfrm>
            <a:off x="8097317" y="4359910"/>
            <a:ext cx="50292" cy="1737360"/>
          </a:xfrm>
          <a:prstGeom prst="roundRect">
            <a:avLst>
              <a:gd name="adj" fmla="val 54545"/>
            </a:avLst>
          </a:prstGeom>
          <a:solidFill>
            <a:srgbClr val="3C5468">
              <a:alpha val="95000"/>
            </a:srgbClr>
          </a:solidFill>
          <a:ln/>
        </p:spPr>
      </p:sp>
      <p:sp>
        <p:nvSpPr>
          <p:cNvPr id="41" name="Shape 37"/>
          <p:cNvSpPr/>
          <p:nvPr/>
        </p:nvSpPr>
        <p:spPr>
          <a:xfrm>
            <a:off x="8371637" y="4579366"/>
            <a:ext cx="420624" cy="420624"/>
          </a:xfrm>
          <a:prstGeom prst="roundRect">
            <a:avLst>
              <a:gd name="adj" fmla="val 50000"/>
            </a:avLst>
          </a:prstGeom>
          <a:solidFill>
            <a:srgbClr val="04101F">
              <a:alpha val="88000"/>
            </a:srgbClr>
          </a:solidFill>
          <a:ln/>
        </p:spPr>
      </p:sp>
      <p:sp>
        <p:nvSpPr>
          <p:cNvPr id="42" name="Shape 38"/>
          <p:cNvSpPr/>
          <p:nvPr/>
        </p:nvSpPr>
        <p:spPr>
          <a:xfrm>
            <a:off x="8371637" y="4579366"/>
            <a:ext cx="420624" cy="420624"/>
          </a:xfrm>
          <a:prstGeom prst="roundRect">
            <a:avLst>
              <a:gd name="adj" fmla="val 50000"/>
            </a:avLst>
          </a:prstGeom>
          <a:solidFill>
            <a:srgbClr val="3C5468">
              <a:alpha val="20000"/>
            </a:srgbClr>
          </a:solidFill>
          <a:ln w="15240">
            <a:solidFill>
              <a:srgbClr val="3C5468">
                <a:alpha val="70000"/>
              </a:srgbClr>
            </a:solidFill>
            <a:prstDash val="solid"/>
          </a:ln>
        </p:spPr>
      </p:sp>
      <p:sp>
        <p:nvSpPr>
          <p:cNvPr id="43" name="Text 39"/>
          <p:cNvSpPr/>
          <p:nvPr/>
        </p:nvSpPr>
        <p:spPr>
          <a:xfrm>
            <a:off x="8325917" y="4652518"/>
            <a:ext cx="512064" cy="330327"/>
          </a:xfrm>
          <a:prstGeom prst="rect">
            <a:avLst/>
          </a:prstGeom>
          <a:noFill/>
          <a:ln/>
        </p:spPr>
        <p:txBody>
          <a:bodyPr wrap="square" lIns="0" tIns="0" rIns="0" bIns="0" rtlCol="0" anchor="t"/>
          <a:lstStyle/>
          <a:p>
            <a:pPr algn="ctr" indent="0" marL="0">
              <a:lnSpc>
                <a:spcPts val="2025"/>
              </a:lnSpc>
              <a:buNone/>
            </a:pPr>
            <a:r>
              <a:rPr lang="en-US" sz="1500" b="1" dirty="0">
                <a:solidFill>
                  <a:srgbClr val="3C5468"/>
                </a:solidFill>
                <a:latin typeface="Be Vietnam Pro" pitchFamily="34" charset="0"/>
                <a:ea typeface="Be Vietnam Pro" pitchFamily="34" charset="-122"/>
                <a:cs typeface="Be Vietnam Pro" pitchFamily="34" charset="-120"/>
              </a:rPr>
              <a:t>4</a:t>
            </a:r>
            <a:endParaRPr lang="en-US" sz="1500" dirty="0"/>
          </a:p>
        </p:txBody>
      </p:sp>
      <p:sp>
        <p:nvSpPr>
          <p:cNvPr id="44" name="Text 40"/>
          <p:cNvSpPr/>
          <p:nvPr/>
        </p:nvSpPr>
        <p:spPr>
          <a:xfrm>
            <a:off x="8920277" y="4625086"/>
            <a:ext cx="2393594" cy="295402"/>
          </a:xfrm>
          <a:prstGeom prst="rect">
            <a:avLst/>
          </a:prstGeom>
          <a:noFill/>
          <a:ln/>
        </p:spPr>
        <p:txBody>
          <a:bodyPr wrap="square" lIns="0" tIns="0" rIns="0" bIns="0" rtlCol="0" anchor="t"/>
          <a:lstStyle/>
          <a:p>
            <a:pPr algn="l" indent="0" marL="0">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Xác nhận &amp; thông báo</a:t>
            </a:r>
            <a:endParaRPr lang="en-US" sz="1400" dirty="0"/>
          </a:p>
        </p:txBody>
      </p:sp>
      <p:sp>
        <p:nvSpPr>
          <p:cNvPr id="45" name="Text 41"/>
          <p:cNvSpPr/>
          <p:nvPr/>
        </p:nvSpPr>
        <p:spPr>
          <a:xfrm>
            <a:off x="8371637" y="5237734"/>
            <a:ext cx="2923946" cy="487934"/>
          </a:xfrm>
          <a:prstGeom prst="rect">
            <a:avLst/>
          </a:prstGeom>
          <a:noFill/>
          <a:ln/>
        </p:spPr>
        <p:txBody>
          <a:bodyPr wrap="square" lIns="0" tIns="0" rIns="0" bIns="0" rtlCol="0" anchor="t"/>
          <a:lstStyle/>
          <a:p>
            <a:pPr algn="l" indent="0" marL="0">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Kho nhận lệnh chuẩn bị, xuất vật tư; đội</a:t>
            </a:r>
            <a:endParaRPr lang="en-US" sz="1150" dirty="0"/>
          </a:p>
          <a:p>
            <a:pPr algn="l" indent="0" marL="0">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cứu hộ nhận nhiệm vụ cùng lúc.</a:t>
            </a:r>
            <a:endParaRPr lang="en-US" sz="1150" dirty="0"/>
          </a:p>
        </p:txBody>
      </p:sp>
      <p:sp>
        <p:nvSpPr>
          <p:cNvPr id="46" name="Shape 42"/>
          <p:cNvSpPr/>
          <p:nvPr/>
        </p:nvSpPr>
        <p:spPr>
          <a:xfrm>
            <a:off x="4350410" y="4305046"/>
            <a:ext cx="3490874" cy="1847088"/>
          </a:xfrm>
          <a:prstGeom prst="roundRect">
            <a:avLst>
              <a:gd name="adj" fmla="val 7921"/>
            </a:avLst>
          </a:prstGeom>
          <a:solidFill>
            <a:srgbClr val="22C55E">
              <a:alpha val="18000"/>
            </a:srgbClr>
          </a:solidFill>
          <a:ln/>
        </p:spPr>
      </p:sp>
      <p:sp>
        <p:nvSpPr>
          <p:cNvPr id="47" name="Shape 43"/>
          <p:cNvSpPr/>
          <p:nvPr/>
        </p:nvSpPr>
        <p:spPr>
          <a:xfrm>
            <a:off x="4405274" y="4359910"/>
            <a:ext cx="3381146" cy="1737360"/>
          </a:xfrm>
          <a:prstGeom prst="roundRect">
            <a:avLst>
              <a:gd name="adj" fmla="val 6316"/>
            </a:avLst>
          </a:prstGeom>
          <a:solidFill>
            <a:srgbClr val="091B2D">
              <a:alpha val="78000"/>
            </a:srgbClr>
          </a:solidFill>
          <a:ln w="19050">
            <a:solidFill>
              <a:srgbClr val="22C55E">
                <a:alpha val="50000"/>
              </a:srgbClr>
            </a:solidFill>
            <a:prstDash val="solid"/>
          </a:ln>
        </p:spPr>
      </p:sp>
      <p:sp>
        <p:nvSpPr>
          <p:cNvPr id="48" name="Shape 44"/>
          <p:cNvSpPr/>
          <p:nvPr/>
        </p:nvSpPr>
        <p:spPr>
          <a:xfrm>
            <a:off x="4405274" y="4359910"/>
            <a:ext cx="50292" cy="1737360"/>
          </a:xfrm>
          <a:prstGeom prst="roundRect">
            <a:avLst>
              <a:gd name="adj" fmla="val 54545"/>
            </a:avLst>
          </a:prstGeom>
          <a:solidFill>
            <a:srgbClr val="22C55E">
              <a:alpha val="95000"/>
            </a:srgbClr>
          </a:solidFill>
          <a:ln/>
        </p:spPr>
      </p:sp>
      <p:sp>
        <p:nvSpPr>
          <p:cNvPr id="49" name="Shape 45"/>
          <p:cNvSpPr/>
          <p:nvPr/>
        </p:nvSpPr>
        <p:spPr>
          <a:xfrm>
            <a:off x="4679594" y="4579366"/>
            <a:ext cx="420624" cy="420624"/>
          </a:xfrm>
          <a:prstGeom prst="roundRect">
            <a:avLst>
              <a:gd name="adj" fmla="val 50000"/>
            </a:avLst>
          </a:prstGeom>
          <a:solidFill>
            <a:srgbClr val="04101F">
              <a:alpha val="88000"/>
            </a:srgbClr>
          </a:solidFill>
          <a:ln/>
        </p:spPr>
      </p:sp>
      <p:sp>
        <p:nvSpPr>
          <p:cNvPr id="50" name="Shape 46"/>
          <p:cNvSpPr/>
          <p:nvPr/>
        </p:nvSpPr>
        <p:spPr>
          <a:xfrm>
            <a:off x="4679594" y="4579366"/>
            <a:ext cx="420624" cy="420624"/>
          </a:xfrm>
          <a:prstGeom prst="roundRect">
            <a:avLst>
              <a:gd name="adj" fmla="val 50000"/>
            </a:avLst>
          </a:prstGeom>
          <a:solidFill>
            <a:srgbClr val="22C55E">
              <a:alpha val="20000"/>
            </a:srgbClr>
          </a:solidFill>
          <a:ln w="15240">
            <a:solidFill>
              <a:srgbClr val="22C55E">
                <a:alpha val="70000"/>
              </a:srgbClr>
            </a:solidFill>
            <a:prstDash val="solid"/>
          </a:ln>
        </p:spPr>
      </p:sp>
      <p:sp>
        <p:nvSpPr>
          <p:cNvPr id="51" name="Text 47"/>
          <p:cNvSpPr/>
          <p:nvPr/>
        </p:nvSpPr>
        <p:spPr>
          <a:xfrm>
            <a:off x="4633874" y="4652518"/>
            <a:ext cx="512064" cy="330327"/>
          </a:xfrm>
          <a:prstGeom prst="rect">
            <a:avLst/>
          </a:prstGeom>
          <a:noFill/>
          <a:ln/>
        </p:spPr>
        <p:txBody>
          <a:bodyPr wrap="square" lIns="0" tIns="0" rIns="0" bIns="0" rtlCol="0" anchor="t"/>
          <a:lstStyle/>
          <a:p>
            <a:pPr algn="ctr" indent="0" marL="0">
              <a:lnSpc>
                <a:spcPts val="2025"/>
              </a:lnSpc>
              <a:buNone/>
            </a:pPr>
            <a:r>
              <a:rPr lang="en-US" sz="1500" b="1" dirty="0">
                <a:solidFill>
                  <a:srgbClr val="22C55E"/>
                </a:solidFill>
                <a:latin typeface="Be Vietnam Pro" pitchFamily="34" charset="0"/>
                <a:ea typeface="Be Vietnam Pro" pitchFamily="34" charset="-122"/>
                <a:cs typeface="Be Vietnam Pro" pitchFamily="34" charset="-120"/>
              </a:rPr>
              <a:t>5</a:t>
            </a:r>
            <a:endParaRPr lang="en-US" sz="1500" dirty="0"/>
          </a:p>
        </p:txBody>
      </p:sp>
      <p:sp>
        <p:nvSpPr>
          <p:cNvPr id="52" name="Text 48"/>
          <p:cNvSpPr/>
          <p:nvPr/>
        </p:nvSpPr>
        <p:spPr>
          <a:xfrm>
            <a:off x="5228234" y="4625086"/>
            <a:ext cx="2393594" cy="517652"/>
          </a:xfrm>
          <a:prstGeom prst="rect">
            <a:avLst/>
          </a:prstGeom>
          <a:noFill/>
          <a:ln/>
        </p:spPr>
        <p:txBody>
          <a:bodyPr wrap="square" lIns="0" tIns="0" rIns="0" bIns="0" rtlCol="0" anchor="t"/>
          <a:lstStyle/>
          <a:p>
            <a:pPr algn="l" indent="0" marL="0">
              <a:lnSpc>
                <a:spcPts val="1750"/>
              </a:lnSpc>
              <a:buNone/>
            </a:pPr>
            <a:r>
              <a:rPr lang="en-US" sz="1400" b="1" dirty="0">
                <a:solidFill>
                  <a:srgbClr val="FFFFFF"/>
                </a:solidFill>
                <a:latin typeface="Be Vietnam Pro" pitchFamily="34" charset="0"/>
                <a:ea typeface="Be Vietnam Pro" pitchFamily="34" charset="-122"/>
                <a:cs typeface="Be Vietnam Pro" pitchFamily="34" charset="-120"/>
              </a:rPr>
              <a:t>Đội cứu hộ xác nhận hoàn</a:t>
            </a:r>
            <a:endParaRPr lang="en-US" sz="1400" dirty="0"/>
          </a:p>
          <a:p>
            <a:pPr algn="l" indent="0" marL="0">
              <a:lnSpc>
                <a:spcPts val="1750"/>
              </a:lnSpc>
              <a:buNone/>
            </a:pPr>
            <a:r>
              <a:rPr lang="en-US" sz="1400" b="1" dirty="0">
                <a:solidFill>
                  <a:srgbClr val="FFFFFF"/>
                </a:solidFill>
                <a:latin typeface="Be Vietnam Pro" pitchFamily="34" charset="0"/>
                <a:ea typeface="Be Vietnam Pro" pitchFamily="34" charset="-122"/>
                <a:cs typeface="Be Vietnam Pro" pitchFamily="34" charset="-120"/>
              </a:rPr>
              <a:t>thành</a:t>
            </a:r>
            <a:endParaRPr lang="en-US" sz="1400" dirty="0"/>
          </a:p>
        </p:txBody>
      </p:sp>
      <p:sp>
        <p:nvSpPr>
          <p:cNvPr id="53" name="Text 49"/>
          <p:cNvSpPr/>
          <p:nvPr/>
        </p:nvSpPr>
        <p:spPr>
          <a:xfrm>
            <a:off x="4679594" y="5237734"/>
            <a:ext cx="2923946" cy="487934"/>
          </a:xfrm>
          <a:prstGeom prst="rect">
            <a:avLst/>
          </a:prstGeom>
          <a:noFill/>
          <a:ln/>
        </p:spPr>
        <p:txBody>
          <a:bodyPr wrap="square" lIns="0" tIns="0" rIns="0" bIns="0" rtlCol="0" anchor="t"/>
          <a:lstStyle/>
          <a:p>
            <a:pPr algn="l" indent="0" marL="0">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Báo cáo kết quả nhiệm vụ kèm hình ảnh</a:t>
            </a:r>
            <a:endParaRPr lang="en-US" sz="1150" dirty="0"/>
          </a:p>
          <a:p>
            <a:pPr algn="l" indent="0" marL="0">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tại hiện trường.</a:t>
            </a:r>
            <a:endParaRPr lang="en-US" sz="1150" dirty="0"/>
          </a:p>
        </p:txBody>
      </p:sp>
      <p:sp>
        <p:nvSpPr>
          <p:cNvPr id="54" name="Shape 50"/>
          <p:cNvSpPr/>
          <p:nvPr/>
        </p:nvSpPr>
        <p:spPr>
          <a:xfrm>
            <a:off x="713232" y="4359910"/>
            <a:ext cx="3381146" cy="1737360"/>
          </a:xfrm>
          <a:prstGeom prst="roundRect">
            <a:avLst>
              <a:gd name="adj" fmla="val 6316"/>
            </a:avLst>
          </a:prstGeom>
          <a:solidFill>
            <a:srgbClr val="091B2D">
              <a:alpha val="55000"/>
            </a:srgbClr>
          </a:solidFill>
          <a:ln w="12700">
            <a:solidFill>
              <a:srgbClr val="FFFFFF">
                <a:alpha val="10000"/>
              </a:srgbClr>
            </a:solidFill>
            <a:prstDash val="solid"/>
          </a:ln>
        </p:spPr>
      </p:sp>
      <p:sp>
        <p:nvSpPr>
          <p:cNvPr id="55" name="Shape 51"/>
          <p:cNvSpPr/>
          <p:nvPr/>
        </p:nvSpPr>
        <p:spPr>
          <a:xfrm>
            <a:off x="713232" y="4359910"/>
            <a:ext cx="50292" cy="1737360"/>
          </a:xfrm>
          <a:prstGeom prst="roundRect">
            <a:avLst>
              <a:gd name="adj" fmla="val 54545"/>
            </a:avLst>
          </a:prstGeom>
          <a:solidFill>
            <a:srgbClr val="3C5468">
              <a:alpha val="95000"/>
            </a:srgbClr>
          </a:solidFill>
          <a:ln/>
        </p:spPr>
      </p:sp>
      <p:sp>
        <p:nvSpPr>
          <p:cNvPr id="56" name="Shape 52"/>
          <p:cNvSpPr/>
          <p:nvPr/>
        </p:nvSpPr>
        <p:spPr>
          <a:xfrm>
            <a:off x="987552" y="4579366"/>
            <a:ext cx="420624" cy="420624"/>
          </a:xfrm>
          <a:prstGeom prst="roundRect">
            <a:avLst>
              <a:gd name="adj" fmla="val 50000"/>
            </a:avLst>
          </a:prstGeom>
          <a:solidFill>
            <a:srgbClr val="04101F">
              <a:alpha val="88000"/>
            </a:srgbClr>
          </a:solidFill>
          <a:ln/>
        </p:spPr>
      </p:sp>
      <p:sp>
        <p:nvSpPr>
          <p:cNvPr id="57" name="Shape 53"/>
          <p:cNvSpPr/>
          <p:nvPr/>
        </p:nvSpPr>
        <p:spPr>
          <a:xfrm>
            <a:off x="987552" y="4579366"/>
            <a:ext cx="420624" cy="420624"/>
          </a:xfrm>
          <a:prstGeom prst="roundRect">
            <a:avLst>
              <a:gd name="adj" fmla="val 50000"/>
            </a:avLst>
          </a:prstGeom>
          <a:solidFill>
            <a:srgbClr val="3C5468">
              <a:alpha val="20000"/>
            </a:srgbClr>
          </a:solidFill>
          <a:ln w="15240">
            <a:solidFill>
              <a:srgbClr val="3C5468">
                <a:alpha val="70000"/>
              </a:srgbClr>
            </a:solidFill>
            <a:prstDash val="solid"/>
          </a:ln>
        </p:spPr>
      </p:sp>
      <p:sp>
        <p:nvSpPr>
          <p:cNvPr id="58" name="Text 54"/>
          <p:cNvSpPr/>
          <p:nvPr/>
        </p:nvSpPr>
        <p:spPr>
          <a:xfrm>
            <a:off x="941832" y="4652518"/>
            <a:ext cx="512064" cy="330327"/>
          </a:xfrm>
          <a:prstGeom prst="rect">
            <a:avLst/>
          </a:prstGeom>
          <a:noFill/>
          <a:ln/>
        </p:spPr>
        <p:txBody>
          <a:bodyPr wrap="square" lIns="0" tIns="0" rIns="0" bIns="0" rtlCol="0" anchor="t"/>
          <a:lstStyle/>
          <a:p>
            <a:pPr algn="ctr" indent="0" marL="0">
              <a:lnSpc>
                <a:spcPts val="2025"/>
              </a:lnSpc>
              <a:buNone/>
            </a:pPr>
            <a:r>
              <a:rPr lang="en-US" sz="1500" b="1" dirty="0">
                <a:solidFill>
                  <a:srgbClr val="3C5468"/>
                </a:solidFill>
                <a:latin typeface="Be Vietnam Pro" pitchFamily="34" charset="0"/>
                <a:ea typeface="Be Vietnam Pro" pitchFamily="34" charset="-122"/>
                <a:cs typeface="Be Vietnam Pro" pitchFamily="34" charset="-120"/>
              </a:rPr>
              <a:t>6</a:t>
            </a:r>
            <a:endParaRPr lang="en-US" sz="1500" dirty="0"/>
          </a:p>
        </p:txBody>
      </p:sp>
      <p:sp>
        <p:nvSpPr>
          <p:cNvPr id="59" name="Text 55"/>
          <p:cNvSpPr/>
          <p:nvPr/>
        </p:nvSpPr>
        <p:spPr>
          <a:xfrm>
            <a:off x="1536192" y="4625086"/>
            <a:ext cx="2393594" cy="517652"/>
          </a:xfrm>
          <a:prstGeom prst="rect">
            <a:avLst/>
          </a:prstGeom>
          <a:noFill/>
          <a:ln/>
        </p:spPr>
        <p:txBody>
          <a:bodyPr wrap="square" lIns="0" tIns="0" rIns="0" bIns="0" rtlCol="0" anchor="t"/>
          <a:lstStyle/>
          <a:p>
            <a:pPr algn="l" indent="0" marL="0">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Kho xác nhận hoàn trả</a:t>
            </a:r>
            <a:endParaRPr lang="en-US" sz="1400" dirty="0"/>
          </a:p>
          <a:p>
            <a:pPr algn="l" indent="0" marL="0">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vật tư</a:t>
            </a:r>
            <a:endParaRPr lang="en-US" sz="1400" dirty="0"/>
          </a:p>
        </p:txBody>
      </p:sp>
      <p:sp>
        <p:nvSpPr>
          <p:cNvPr id="60" name="Text 56"/>
          <p:cNvSpPr/>
          <p:nvPr/>
        </p:nvSpPr>
        <p:spPr>
          <a:xfrm>
            <a:off x="987552" y="5237734"/>
            <a:ext cx="2923946" cy="487934"/>
          </a:xfrm>
          <a:prstGeom prst="rect">
            <a:avLst/>
          </a:prstGeom>
          <a:noFill/>
          <a:ln/>
        </p:spPr>
        <p:txBody>
          <a:bodyPr wrap="square" lIns="0" tIns="0" rIns="0" bIns="0" rtlCol="0" anchor="t"/>
          <a:lstStyle/>
          <a:p>
            <a:pPr algn="l" indent="0" marL="0">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Đối chiếu vật tư đã cấp phát và phần</a:t>
            </a:r>
            <a:endParaRPr lang="en-US" sz="1150" dirty="0"/>
          </a:p>
          <a:p>
            <a:pPr algn="l" indent="0" marL="0">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thu hồi, khép lại nhiệm vụ.</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4101F"/>
        </a:solidFill>
      </p:bgPr>
    </p:bg>
    <p:spTree>
      <p:nvGrpSpPr>
        <p:cNvPr id="1" name=""/>
        <p:cNvGrpSpPr/>
        <p:nvPr/>
      </p:nvGrpSpPr>
      <p:grpSpPr>
        <a:xfrm>
          <a:off x="0" y="0"/>
          <a:ext cx="0" cy="0"/>
          <a:chOff x="0" y="0"/>
          <a:chExt cx="0" cy="0"/>
        </a:xfrm>
      </p:grpSpPr>
      <p:pic>
        <p:nvPicPr>
          <p:cNvPr id="2" name="Image 0" descr="bg-content.jp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4101F">
              <a:alpha val="34000"/>
            </a:srgbClr>
          </a:solidFill>
          <a:ln/>
        </p:spPr>
      </p:sp>
      <p:pic>
        <p:nvPicPr>
          <p:cNvPr id="4" name="Image 1" descr="mark-sm.png">    </p:cNvPr>
          <p:cNvPicPr>
            <a:picLocks noChangeAspect="1"/>
          </p:cNvPicPr>
          <p:nvPr/>
        </p:nvPicPr>
        <p:blipFill>
          <a:blip r:embed="rId2"/>
          <a:stretch>
            <a:fillRect/>
          </a:stretch>
        </p:blipFill>
        <p:spPr>
          <a:xfrm>
            <a:off x="713232" y="365760"/>
            <a:ext cx="310896" cy="310896"/>
          </a:xfrm>
          <a:prstGeom prst="rect">
            <a:avLst/>
          </a:prstGeom>
        </p:spPr>
      </p:pic>
      <p:sp>
        <p:nvSpPr>
          <p:cNvPr id="5" name="Text 1"/>
          <p:cNvSpPr/>
          <p:nvPr/>
        </p:nvSpPr>
        <p:spPr>
          <a:xfrm>
            <a:off x="1170432" y="384048"/>
            <a:ext cx="3749040" cy="261747"/>
          </a:xfrm>
          <a:prstGeom prst="rect">
            <a:avLst/>
          </a:prstGeom>
          <a:noFill/>
          <a:ln/>
        </p:spPr>
        <p:txBody>
          <a:bodyPr wrap="square" lIns="0" tIns="0" rIns="0" bIns="0" rtlCol="0" anchor="t"/>
          <a:lstStyle/>
          <a:p>
            <a:pPr algn="l" indent="0" marL="0">
              <a:lnSpc>
                <a:spcPts val="1485"/>
              </a:lnSpc>
              <a:buNone/>
            </a:pPr>
            <a:r>
              <a:rPr lang="en-US" sz="1100" b="1" spc="160" kern="0" dirty="0">
                <a:solidFill>
                  <a:srgbClr val="6EE7A8"/>
                </a:solidFill>
                <a:latin typeface="Be Vietnam Pro" pitchFamily="34" charset="0"/>
                <a:ea typeface="Be Vietnam Pro" pitchFamily="34" charset="-122"/>
                <a:cs typeface="Be Vietnam Pro" pitchFamily="34" charset="-120"/>
              </a:rPr>
              <a:t>ỨNG PHÓ NHANH</a:t>
            </a:r>
            <a:endParaRPr lang="en-US" sz="1100" dirty="0"/>
          </a:p>
        </p:txBody>
      </p:sp>
      <p:sp>
        <p:nvSpPr>
          <p:cNvPr id="6" name="Text 2"/>
          <p:cNvSpPr/>
          <p:nvPr/>
        </p:nvSpPr>
        <p:spPr>
          <a:xfrm>
            <a:off x="8643823" y="384048"/>
            <a:ext cx="2834640" cy="261747"/>
          </a:xfrm>
          <a:prstGeom prst="rect">
            <a:avLst/>
          </a:prstGeom>
          <a:noFill/>
          <a:ln/>
        </p:spPr>
        <p:txBody>
          <a:bodyPr wrap="square" lIns="0" tIns="0" rIns="0" bIns="0" rtlCol="0" anchor="t"/>
          <a:lstStyle/>
          <a:p>
            <a:pPr algn="r" indent="0" marL="0">
              <a:lnSpc>
                <a:spcPts val="1485"/>
              </a:lnSpc>
              <a:buNone/>
            </a:pPr>
            <a:r>
              <a:rPr lang="en-US" sz="1100" b="1" dirty="0">
                <a:solidFill>
                  <a:srgbClr val="7189A2"/>
                </a:solidFill>
                <a:latin typeface="Be Vietnam Pro" pitchFamily="34" charset="0"/>
                <a:ea typeface="Be Vietnam Pro" pitchFamily="34" charset="-122"/>
                <a:cs typeface="Be Vietnam Pro" pitchFamily="34" charset="-120"/>
              </a:rPr>
              <a:t>13 / 24</a:t>
            </a:r>
            <a:endParaRPr lang="en-US" sz="1100" dirty="0"/>
          </a:p>
        </p:txBody>
      </p:sp>
      <p:sp>
        <p:nvSpPr>
          <p:cNvPr id="7" name="Shape 3"/>
          <p:cNvSpPr/>
          <p:nvPr/>
        </p:nvSpPr>
        <p:spPr>
          <a:xfrm>
            <a:off x="713232" y="868680"/>
            <a:ext cx="10765231" cy="10973"/>
          </a:xfrm>
          <a:prstGeom prst="rect">
            <a:avLst/>
          </a:prstGeom>
          <a:solidFill>
            <a:srgbClr val="FFFFFF">
              <a:alpha val="16000"/>
            </a:srgbClr>
          </a:solidFill>
          <a:ln/>
        </p:spPr>
      </p:sp>
      <p:sp>
        <p:nvSpPr>
          <p:cNvPr id="8" name="Text 4"/>
          <p:cNvSpPr/>
          <p:nvPr/>
        </p:nvSpPr>
        <p:spPr>
          <a:xfrm>
            <a:off x="713232" y="1133856"/>
            <a:ext cx="8321040" cy="270320"/>
          </a:xfrm>
          <a:prstGeom prst="rect">
            <a:avLst/>
          </a:prstGeom>
          <a:noFill/>
          <a:ln/>
        </p:spPr>
        <p:txBody>
          <a:bodyPr wrap="square" lIns="0" tIns="0" rIns="0" bIns="0" rtlCol="0" anchor="t"/>
          <a:lstStyle/>
          <a:p>
            <a:pPr algn="l" indent="0" marL="0">
              <a:lnSpc>
                <a:spcPts val="1553"/>
              </a:lnSpc>
              <a:buNone/>
            </a:pPr>
            <a:r>
              <a:rPr lang="en-US" sz="1150" b="1" spc="220" kern="0" dirty="0">
                <a:solidFill>
                  <a:srgbClr val="22C55E"/>
                </a:solidFill>
                <a:latin typeface="Be Vietnam Pro" pitchFamily="34" charset="0"/>
                <a:ea typeface="Be Vietnam Pro" pitchFamily="34" charset="-122"/>
                <a:cs typeface="Be Vietnam Pro" pitchFamily="34" charset="-120"/>
              </a:rPr>
              <a:t>QUY TRÌNH ĐIỀU PHỐI CỨU HỘ · BƯỚC 6 / 6 · KHÉP VÒNG</a:t>
            </a:r>
            <a:endParaRPr lang="en-US" sz="1150" dirty="0"/>
          </a:p>
        </p:txBody>
      </p:sp>
      <p:sp>
        <p:nvSpPr>
          <p:cNvPr id="9" name="Text 5"/>
          <p:cNvSpPr/>
          <p:nvPr/>
        </p:nvSpPr>
        <p:spPr>
          <a:xfrm>
            <a:off x="713232" y="1426464"/>
            <a:ext cx="10490911" cy="537718"/>
          </a:xfrm>
          <a:prstGeom prst="rect">
            <a:avLst/>
          </a:prstGeom>
          <a:noFill/>
          <a:ln/>
        </p:spPr>
        <p:txBody>
          <a:bodyPr wrap="square" lIns="0" tIns="0" rIns="0" bIns="0" rtlCol="0" anchor="t"/>
          <a:lstStyle/>
          <a:p>
            <a:pPr algn="l" indent="0" marL="0">
              <a:lnSpc>
                <a:spcPts val="3658"/>
              </a:lnSpc>
              <a:buNone/>
            </a:pPr>
            <a:r>
              <a:rPr lang="en-US" sz="3100" b="1" dirty="0">
                <a:solidFill>
                  <a:srgbClr val="FFFFFF"/>
                </a:solidFill>
                <a:latin typeface="Be Vietnam Pro" pitchFamily="34" charset="0"/>
                <a:ea typeface="Be Vietnam Pro" pitchFamily="34" charset="-122"/>
                <a:cs typeface="Be Vietnam Pro" pitchFamily="34" charset="-120"/>
              </a:rPr>
              <a:t>Vật tư hoàn trả xong, nhiệm vụ khép lại</a:t>
            </a:r>
            <a:endParaRPr lang="en-US" sz="3100" dirty="0"/>
          </a:p>
        </p:txBody>
      </p:sp>
      <p:sp>
        <p:nvSpPr>
          <p:cNvPr id="10" name="Shape 6"/>
          <p:cNvSpPr/>
          <p:nvPr/>
        </p:nvSpPr>
        <p:spPr>
          <a:xfrm>
            <a:off x="713232" y="6272784"/>
            <a:ext cx="10765231" cy="9144"/>
          </a:xfrm>
          <a:prstGeom prst="rect">
            <a:avLst/>
          </a:prstGeom>
          <a:solidFill>
            <a:srgbClr val="FFFFFF">
              <a:alpha val="10000"/>
            </a:srgbClr>
          </a:solidFill>
          <a:ln/>
        </p:spPr>
      </p:sp>
      <p:sp>
        <p:nvSpPr>
          <p:cNvPr id="11" name="Text 7"/>
          <p:cNvSpPr/>
          <p:nvPr/>
        </p:nvSpPr>
        <p:spPr>
          <a:xfrm>
            <a:off x="8643823" y="6382512"/>
            <a:ext cx="2834640" cy="236030"/>
          </a:xfrm>
          <a:prstGeom prst="rect">
            <a:avLst/>
          </a:prstGeom>
          <a:noFill/>
          <a:ln/>
        </p:spPr>
        <p:txBody>
          <a:bodyPr wrap="square" lIns="0" tIns="0" rIns="0" bIns="0" rtlCol="0" anchor="t"/>
          <a:lstStyle/>
          <a:p>
            <a:pPr algn="r" indent="0" marL="0">
              <a:lnSpc>
                <a:spcPts val="1283"/>
              </a:lnSpc>
              <a:buNone/>
            </a:pPr>
            <a:r>
              <a:rPr lang="en-US" sz="950" dirty="0">
                <a:solidFill>
                  <a:srgbClr val="7189A2"/>
                </a:solidFill>
                <a:latin typeface="Be Vietnam Pro" pitchFamily="34" charset="0"/>
                <a:ea typeface="Be Vietnam Pro" pitchFamily="34" charset="-122"/>
                <a:cs typeface="Be Vietnam Pro" pitchFamily="34" charset="-120"/>
              </a:rPr>
              <a:t>ungphonhanh.life</a:t>
            </a:r>
            <a:endParaRPr lang="en-US" sz="950" dirty="0"/>
          </a:p>
        </p:txBody>
      </p:sp>
      <p:sp>
        <p:nvSpPr>
          <p:cNvPr id="12" name="Shape 8"/>
          <p:cNvSpPr/>
          <p:nvPr/>
        </p:nvSpPr>
        <p:spPr>
          <a:xfrm rot="5400000">
            <a:off x="4144670" y="2979166"/>
            <a:ext cx="219456" cy="219456"/>
          </a:xfrm>
          <a:prstGeom prst="triangle">
            <a:avLst/>
          </a:prstGeom>
          <a:solidFill>
            <a:srgbClr val="22C55E">
              <a:alpha val="75000"/>
            </a:srgbClr>
          </a:solidFill>
          <a:ln/>
        </p:spPr>
      </p:sp>
      <p:sp>
        <p:nvSpPr>
          <p:cNvPr id="13" name="Shape 9"/>
          <p:cNvSpPr/>
          <p:nvPr/>
        </p:nvSpPr>
        <p:spPr>
          <a:xfrm rot="16200000">
            <a:off x="4135526" y="5118862"/>
            <a:ext cx="219456" cy="219456"/>
          </a:xfrm>
          <a:prstGeom prst="triangle">
            <a:avLst/>
          </a:prstGeom>
          <a:solidFill>
            <a:srgbClr val="22C55E">
              <a:alpha val="75000"/>
            </a:srgbClr>
          </a:solidFill>
          <a:ln/>
        </p:spPr>
      </p:sp>
      <p:sp>
        <p:nvSpPr>
          <p:cNvPr id="14" name="Shape 10"/>
          <p:cNvSpPr/>
          <p:nvPr/>
        </p:nvSpPr>
        <p:spPr>
          <a:xfrm rot="5400000">
            <a:off x="7836713" y="2979166"/>
            <a:ext cx="219456" cy="219456"/>
          </a:xfrm>
          <a:prstGeom prst="triangle">
            <a:avLst/>
          </a:prstGeom>
          <a:solidFill>
            <a:srgbClr val="22C55E">
              <a:alpha val="75000"/>
            </a:srgbClr>
          </a:solidFill>
          <a:ln/>
        </p:spPr>
      </p:sp>
      <p:sp>
        <p:nvSpPr>
          <p:cNvPr id="15" name="Shape 11"/>
          <p:cNvSpPr/>
          <p:nvPr/>
        </p:nvSpPr>
        <p:spPr>
          <a:xfrm rot="16200000">
            <a:off x="7827569" y="5118862"/>
            <a:ext cx="219456" cy="219456"/>
          </a:xfrm>
          <a:prstGeom prst="triangle">
            <a:avLst/>
          </a:prstGeom>
          <a:solidFill>
            <a:srgbClr val="22C55E">
              <a:alpha val="75000"/>
            </a:srgbClr>
          </a:solidFill>
          <a:ln/>
        </p:spPr>
      </p:sp>
      <p:sp>
        <p:nvSpPr>
          <p:cNvPr id="16" name="Shape 12"/>
          <p:cNvSpPr/>
          <p:nvPr/>
        </p:nvSpPr>
        <p:spPr>
          <a:xfrm>
            <a:off x="9777832" y="3957574"/>
            <a:ext cx="20117" cy="246888"/>
          </a:xfrm>
          <a:prstGeom prst="rect">
            <a:avLst/>
          </a:prstGeom>
          <a:solidFill>
            <a:srgbClr val="2E7D55">
              <a:alpha val="85000"/>
            </a:srgbClr>
          </a:solidFill>
          <a:ln/>
        </p:spPr>
      </p:sp>
      <p:sp>
        <p:nvSpPr>
          <p:cNvPr id="17" name="Shape 13"/>
          <p:cNvSpPr/>
          <p:nvPr/>
        </p:nvSpPr>
        <p:spPr>
          <a:xfrm rot="10800000">
            <a:off x="9696450" y="4181602"/>
            <a:ext cx="182880" cy="182880"/>
          </a:xfrm>
          <a:prstGeom prst="triangle">
            <a:avLst/>
          </a:prstGeom>
          <a:solidFill>
            <a:srgbClr val="22C55E">
              <a:alpha val="75000"/>
            </a:srgbClr>
          </a:solidFill>
          <a:ln/>
        </p:spPr>
      </p:sp>
      <p:sp>
        <p:nvSpPr>
          <p:cNvPr id="18" name="Shape 14"/>
          <p:cNvSpPr/>
          <p:nvPr/>
        </p:nvSpPr>
        <p:spPr>
          <a:xfrm>
            <a:off x="713232" y="2220214"/>
            <a:ext cx="3381146" cy="1737360"/>
          </a:xfrm>
          <a:prstGeom prst="roundRect">
            <a:avLst>
              <a:gd name="adj" fmla="val 6316"/>
            </a:avLst>
          </a:prstGeom>
          <a:solidFill>
            <a:srgbClr val="091B2D">
              <a:alpha val="55000"/>
            </a:srgbClr>
          </a:solidFill>
          <a:ln w="12700">
            <a:solidFill>
              <a:srgbClr val="FFFFFF">
                <a:alpha val="10000"/>
              </a:srgbClr>
            </a:solidFill>
            <a:prstDash val="solid"/>
          </a:ln>
        </p:spPr>
      </p:sp>
      <p:sp>
        <p:nvSpPr>
          <p:cNvPr id="19" name="Shape 15"/>
          <p:cNvSpPr/>
          <p:nvPr/>
        </p:nvSpPr>
        <p:spPr>
          <a:xfrm>
            <a:off x="713232" y="2220214"/>
            <a:ext cx="50292" cy="1737360"/>
          </a:xfrm>
          <a:prstGeom prst="roundRect">
            <a:avLst>
              <a:gd name="adj" fmla="val 54545"/>
            </a:avLst>
          </a:prstGeom>
          <a:solidFill>
            <a:srgbClr val="3C5468">
              <a:alpha val="95000"/>
            </a:srgbClr>
          </a:solidFill>
          <a:ln/>
        </p:spPr>
      </p:sp>
      <p:sp>
        <p:nvSpPr>
          <p:cNvPr id="20" name="Shape 16"/>
          <p:cNvSpPr/>
          <p:nvPr/>
        </p:nvSpPr>
        <p:spPr>
          <a:xfrm>
            <a:off x="987552" y="2439670"/>
            <a:ext cx="420624" cy="420624"/>
          </a:xfrm>
          <a:prstGeom prst="roundRect">
            <a:avLst>
              <a:gd name="adj" fmla="val 50000"/>
            </a:avLst>
          </a:prstGeom>
          <a:solidFill>
            <a:srgbClr val="04101F">
              <a:alpha val="88000"/>
            </a:srgbClr>
          </a:solidFill>
          <a:ln/>
        </p:spPr>
      </p:sp>
      <p:sp>
        <p:nvSpPr>
          <p:cNvPr id="21" name="Shape 17"/>
          <p:cNvSpPr/>
          <p:nvPr/>
        </p:nvSpPr>
        <p:spPr>
          <a:xfrm>
            <a:off x="987552" y="2439670"/>
            <a:ext cx="420624" cy="420624"/>
          </a:xfrm>
          <a:prstGeom prst="roundRect">
            <a:avLst>
              <a:gd name="adj" fmla="val 50000"/>
            </a:avLst>
          </a:prstGeom>
          <a:solidFill>
            <a:srgbClr val="3C5468">
              <a:alpha val="20000"/>
            </a:srgbClr>
          </a:solidFill>
          <a:ln w="15240">
            <a:solidFill>
              <a:srgbClr val="3C5468">
                <a:alpha val="70000"/>
              </a:srgbClr>
            </a:solidFill>
            <a:prstDash val="solid"/>
          </a:ln>
        </p:spPr>
      </p:sp>
      <p:sp>
        <p:nvSpPr>
          <p:cNvPr id="22" name="Text 18"/>
          <p:cNvSpPr/>
          <p:nvPr/>
        </p:nvSpPr>
        <p:spPr>
          <a:xfrm>
            <a:off x="941832" y="2512822"/>
            <a:ext cx="512064" cy="330327"/>
          </a:xfrm>
          <a:prstGeom prst="rect">
            <a:avLst/>
          </a:prstGeom>
          <a:noFill/>
          <a:ln/>
        </p:spPr>
        <p:txBody>
          <a:bodyPr wrap="square" lIns="0" tIns="0" rIns="0" bIns="0" rtlCol="0" anchor="t"/>
          <a:lstStyle/>
          <a:p>
            <a:pPr algn="ctr" indent="0" marL="0">
              <a:lnSpc>
                <a:spcPts val="2025"/>
              </a:lnSpc>
              <a:buNone/>
            </a:pPr>
            <a:r>
              <a:rPr lang="en-US" sz="1500" b="1" dirty="0">
                <a:solidFill>
                  <a:srgbClr val="3C5468"/>
                </a:solidFill>
                <a:latin typeface="Be Vietnam Pro" pitchFamily="34" charset="0"/>
                <a:ea typeface="Be Vietnam Pro" pitchFamily="34" charset="-122"/>
                <a:cs typeface="Be Vietnam Pro" pitchFamily="34" charset="-120"/>
              </a:rPr>
              <a:t>1</a:t>
            </a:r>
            <a:endParaRPr lang="en-US" sz="1500" dirty="0"/>
          </a:p>
        </p:txBody>
      </p:sp>
      <p:sp>
        <p:nvSpPr>
          <p:cNvPr id="23" name="Text 19"/>
          <p:cNvSpPr/>
          <p:nvPr/>
        </p:nvSpPr>
        <p:spPr>
          <a:xfrm>
            <a:off x="1536192" y="2485390"/>
            <a:ext cx="2393594" cy="295402"/>
          </a:xfrm>
          <a:prstGeom prst="rect">
            <a:avLst/>
          </a:prstGeom>
          <a:noFill/>
          <a:ln/>
        </p:spPr>
        <p:txBody>
          <a:bodyPr wrap="square" lIns="0" tIns="0" rIns="0" bIns="0" rtlCol="0" anchor="t"/>
          <a:lstStyle/>
          <a:p>
            <a:pPr algn="l" indent="0" marL="0">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Ghi nhận tình huống</a:t>
            </a:r>
            <a:endParaRPr lang="en-US" sz="1400" dirty="0"/>
          </a:p>
        </p:txBody>
      </p:sp>
      <p:sp>
        <p:nvSpPr>
          <p:cNvPr id="24" name="Text 20"/>
          <p:cNvSpPr/>
          <p:nvPr/>
        </p:nvSpPr>
        <p:spPr>
          <a:xfrm>
            <a:off x="987552" y="3098038"/>
            <a:ext cx="2923946" cy="487934"/>
          </a:xfrm>
          <a:prstGeom prst="rect">
            <a:avLst/>
          </a:prstGeom>
          <a:noFill/>
          <a:ln/>
        </p:spPr>
        <p:txBody>
          <a:bodyPr wrap="square" lIns="0" tIns="0" rIns="0" bIns="0" rtlCol="0" anchor="t"/>
          <a:lstStyle/>
          <a:p>
            <a:pPr algn="l" indent="0" marL="0">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Trưởng thôn báo cáo và ghim điểm gặp</a:t>
            </a:r>
            <a:endParaRPr lang="en-US" sz="1150" dirty="0"/>
          </a:p>
          <a:p>
            <a:pPr algn="l" indent="0" marL="0">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nạn lên bản đồ.</a:t>
            </a:r>
            <a:endParaRPr lang="en-US" sz="1150" dirty="0"/>
          </a:p>
        </p:txBody>
      </p:sp>
      <p:sp>
        <p:nvSpPr>
          <p:cNvPr id="25" name="Shape 21"/>
          <p:cNvSpPr/>
          <p:nvPr/>
        </p:nvSpPr>
        <p:spPr>
          <a:xfrm>
            <a:off x="4405274" y="2220214"/>
            <a:ext cx="3381146" cy="1737360"/>
          </a:xfrm>
          <a:prstGeom prst="roundRect">
            <a:avLst>
              <a:gd name="adj" fmla="val 6316"/>
            </a:avLst>
          </a:prstGeom>
          <a:solidFill>
            <a:srgbClr val="091B2D">
              <a:alpha val="55000"/>
            </a:srgbClr>
          </a:solidFill>
          <a:ln w="12700">
            <a:solidFill>
              <a:srgbClr val="FFFFFF">
                <a:alpha val="10000"/>
              </a:srgbClr>
            </a:solidFill>
            <a:prstDash val="solid"/>
          </a:ln>
        </p:spPr>
      </p:sp>
      <p:sp>
        <p:nvSpPr>
          <p:cNvPr id="26" name="Shape 22"/>
          <p:cNvSpPr/>
          <p:nvPr/>
        </p:nvSpPr>
        <p:spPr>
          <a:xfrm>
            <a:off x="4405274" y="2220214"/>
            <a:ext cx="50292" cy="1737360"/>
          </a:xfrm>
          <a:prstGeom prst="roundRect">
            <a:avLst>
              <a:gd name="adj" fmla="val 54545"/>
            </a:avLst>
          </a:prstGeom>
          <a:solidFill>
            <a:srgbClr val="3C5468">
              <a:alpha val="95000"/>
            </a:srgbClr>
          </a:solidFill>
          <a:ln/>
        </p:spPr>
      </p:sp>
      <p:sp>
        <p:nvSpPr>
          <p:cNvPr id="27" name="Shape 23"/>
          <p:cNvSpPr/>
          <p:nvPr/>
        </p:nvSpPr>
        <p:spPr>
          <a:xfrm>
            <a:off x="4679594" y="2439670"/>
            <a:ext cx="420624" cy="420624"/>
          </a:xfrm>
          <a:prstGeom prst="roundRect">
            <a:avLst>
              <a:gd name="adj" fmla="val 50000"/>
            </a:avLst>
          </a:prstGeom>
          <a:solidFill>
            <a:srgbClr val="04101F">
              <a:alpha val="88000"/>
            </a:srgbClr>
          </a:solidFill>
          <a:ln/>
        </p:spPr>
      </p:sp>
      <p:sp>
        <p:nvSpPr>
          <p:cNvPr id="28" name="Shape 24"/>
          <p:cNvSpPr/>
          <p:nvPr/>
        </p:nvSpPr>
        <p:spPr>
          <a:xfrm>
            <a:off x="4679594" y="2439670"/>
            <a:ext cx="420624" cy="420624"/>
          </a:xfrm>
          <a:prstGeom prst="roundRect">
            <a:avLst>
              <a:gd name="adj" fmla="val 50000"/>
            </a:avLst>
          </a:prstGeom>
          <a:solidFill>
            <a:srgbClr val="3C5468">
              <a:alpha val="20000"/>
            </a:srgbClr>
          </a:solidFill>
          <a:ln w="15240">
            <a:solidFill>
              <a:srgbClr val="3C5468">
                <a:alpha val="70000"/>
              </a:srgbClr>
            </a:solidFill>
            <a:prstDash val="solid"/>
          </a:ln>
        </p:spPr>
      </p:sp>
      <p:sp>
        <p:nvSpPr>
          <p:cNvPr id="29" name="Text 25"/>
          <p:cNvSpPr/>
          <p:nvPr/>
        </p:nvSpPr>
        <p:spPr>
          <a:xfrm>
            <a:off x="4633874" y="2512822"/>
            <a:ext cx="512064" cy="330327"/>
          </a:xfrm>
          <a:prstGeom prst="rect">
            <a:avLst/>
          </a:prstGeom>
          <a:noFill/>
          <a:ln/>
        </p:spPr>
        <p:txBody>
          <a:bodyPr wrap="square" lIns="0" tIns="0" rIns="0" bIns="0" rtlCol="0" anchor="t"/>
          <a:lstStyle/>
          <a:p>
            <a:pPr algn="ctr" indent="0" marL="0">
              <a:lnSpc>
                <a:spcPts val="2025"/>
              </a:lnSpc>
              <a:buNone/>
            </a:pPr>
            <a:r>
              <a:rPr lang="en-US" sz="1500" b="1" dirty="0">
                <a:solidFill>
                  <a:srgbClr val="3C5468"/>
                </a:solidFill>
                <a:latin typeface="Be Vietnam Pro" pitchFamily="34" charset="0"/>
                <a:ea typeface="Be Vietnam Pro" pitchFamily="34" charset="-122"/>
                <a:cs typeface="Be Vietnam Pro" pitchFamily="34" charset="-120"/>
              </a:rPr>
              <a:t>2</a:t>
            </a:r>
            <a:endParaRPr lang="en-US" sz="1500" dirty="0"/>
          </a:p>
        </p:txBody>
      </p:sp>
      <p:sp>
        <p:nvSpPr>
          <p:cNvPr id="30" name="Text 26"/>
          <p:cNvSpPr/>
          <p:nvPr/>
        </p:nvSpPr>
        <p:spPr>
          <a:xfrm>
            <a:off x="5228234" y="2485390"/>
            <a:ext cx="2393594" cy="517652"/>
          </a:xfrm>
          <a:prstGeom prst="rect">
            <a:avLst/>
          </a:prstGeom>
          <a:noFill/>
          <a:ln/>
        </p:spPr>
        <p:txBody>
          <a:bodyPr wrap="square" lIns="0" tIns="0" rIns="0" bIns="0" rtlCol="0" anchor="t"/>
          <a:lstStyle/>
          <a:p>
            <a:pPr algn="l" indent="0" marL="0">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AI phân tích và con người</a:t>
            </a:r>
            <a:endParaRPr lang="en-US" sz="1400" dirty="0"/>
          </a:p>
          <a:p>
            <a:pPr algn="l" indent="0" marL="0">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điều phối</a:t>
            </a:r>
            <a:endParaRPr lang="en-US" sz="1400" dirty="0"/>
          </a:p>
        </p:txBody>
      </p:sp>
      <p:sp>
        <p:nvSpPr>
          <p:cNvPr id="31" name="Text 27"/>
          <p:cNvSpPr/>
          <p:nvPr/>
        </p:nvSpPr>
        <p:spPr>
          <a:xfrm>
            <a:off x="4679594" y="3098038"/>
            <a:ext cx="2923946" cy="695325"/>
          </a:xfrm>
          <a:prstGeom prst="rect">
            <a:avLst/>
          </a:prstGeom>
          <a:noFill/>
          <a:ln/>
        </p:spPr>
        <p:txBody>
          <a:bodyPr wrap="square" lIns="0" tIns="0" rIns="0" bIns="0" rtlCol="0" anchor="t"/>
          <a:lstStyle/>
          <a:p>
            <a:pPr algn="l" indent="0" marL="0">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AI đọc mô tả bằng lời thành số liệu và</a:t>
            </a:r>
            <a:endParaRPr lang="en-US" sz="1150" dirty="0"/>
          </a:p>
          <a:p>
            <a:pPr algn="l" indent="0" marL="0">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đề xuất vật tư, người điều phối sẽ chốt</a:t>
            </a:r>
            <a:endParaRPr lang="en-US" sz="1150" dirty="0"/>
          </a:p>
          <a:p>
            <a:pPr algn="l" indent="0" marL="0">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phương án.</a:t>
            </a:r>
            <a:endParaRPr lang="en-US" sz="1150" dirty="0"/>
          </a:p>
        </p:txBody>
      </p:sp>
      <p:sp>
        <p:nvSpPr>
          <p:cNvPr id="32" name="Shape 28"/>
          <p:cNvSpPr/>
          <p:nvPr/>
        </p:nvSpPr>
        <p:spPr>
          <a:xfrm>
            <a:off x="8097317" y="2220214"/>
            <a:ext cx="3381146" cy="1737360"/>
          </a:xfrm>
          <a:prstGeom prst="roundRect">
            <a:avLst>
              <a:gd name="adj" fmla="val 6316"/>
            </a:avLst>
          </a:prstGeom>
          <a:solidFill>
            <a:srgbClr val="091B2D">
              <a:alpha val="55000"/>
            </a:srgbClr>
          </a:solidFill>
          <a:ln w="12700">
            <a:solidFill>
              <a:srgbClr val="FFFFFF">
                <a:alpha val="10000"/>
              </a:srgbClr>
            </a:solidFill>
            <a:prstDash val="solid"/>
          </a:ln>
        </p:spPr>
      </p:sp>
      <p:sp>
        <p:nvSpPr>
          <p:cNvPr id="33" name="Shape 29"/>
          <p:cNvSpPr/>
          <p:nvPr/>
        </p:nvSpPr>
        <p:spPr>
          <a:xfrm>
            <a:off x="8097317" y="2220214"/>
            <a:ext cx="50292" cy="1737360"/>
          </a:xfrm>
          <a:prstGeom prst="roundRect">
            <a:avLst>
              <a:gd name="adj" fmla="val 54545"/>
            </a:avLst>
          </a:prstGeom>
          <a:solidFill>
            <a:srgbClr val="3C5468">
              <a:alpha val="95000"/>
            </a:srgbClr>
          </a:solidFill>
          <a:ln/>
        </p:spPr>
      </p:sp>
      <p:sp>
        <p:nvSpPr>
          <p:cNvPr id="34" name="Shape 30"/>
          <p:cNvSpPr/>
          <p:nvPr/>
        </p:nvSpPr>
        <p:spPr>
          <a:xfrm>
            <a:off x="8371637" y="2439670"/>
            <a:ext cx="420624" cy="420624"/>
          </a:xfrm>
          <a:prstGeom prst="roundRect">
            <a:avLst>
              <a:gd name="adj" fmla="val 50000"/>
            </a:avLst>
          </a:prstGeom>
          <a:solidFill>
            <a:srgbClr val="04101F">
              <a:alpha val="88000"/>
            </a:srgbClr>
          </a:solidFill>
          <a:ln/>
        </p:spPr>
      </p:sp>
      <p:sp>
        <p:nvSpPr>
          <p:cNvPr id="35" name="Shape 31"/>
          <p:cNvSpPr/>
          <p:nvPr/>
        </p:nvSpPr>
        <p:spPr>
          <a:xfrm>
            <a:off x="8371637" y="2439670"/>
            <a:ext cx="420624" cy="420624"/>
          </a:xfrm>
          <a:prstGeom prst="roundRect">
            <a:avLst>
              <a:gd name="adj" fmla="val 50000"/>
            </a:avLst>
          </a:prstGeom>
          <a:solidFill>
            <a:srgbClr val="3C5468">
              <a:alpha val="20000"/>
            </a:srgbClr>
          </a:solidFill>
          <a:ln w="15240">
            <a:solidFill>
              <a:srgbClr val="3C5468">
                <a:alpha val="70000"/>
              </a:srgbClr>
            </a:solidFill>
            <a:prstDash val="solid"/>
          </a:ln>
        </p:spPr>
      </p:sp>
      <p:sp>
        <p:nvSpPr>
          <p:cNvPr id="36" name="Text 32"/>
          <p:cNvSpPr/>
          <p:nvPr/>
        </p:nvSpPr>
        <p:spPr>
          <a:xfrm>
            <a:off x="8325917" y="2512822"/>
            <a:ext cx="512064" cy="330327"/>
          </a:xfrm>
          <a:prstGeom prst="rect">
            <a:avLst/>
          </a:prstGeom>
          <a:noFill/>
          <a:ln/>
        </p:spPr>
        <p:txBody>
          <a:bodyPr wrap="square" lIns="0" tIns="0" rIns="0" bIns="0" rtlCol="0" anchor="t"/>
          <a:lstStyle/>
          <a:p>
            <a:pPr algn="ctr" indent="0" marL="0">
              <a:lnSpc>
                <a:spcPts val="2025"/>
              </a:lnSpc>
              <a:buNone/>
            </a:pPr>
            <a:r>
              <a:rPr lang="en-US" sz="1500" b="1" dirty="0">
                <a:solidFill>
                  <a:srgbClr val="3C5468"/>
                </a:solidFill>
                <a:latin typeface="Be Vietnam Pro" pitchFamily="34" charset="0"/>
                <a:ea typeface="Be Vietnam Pro" pitchFamily="34" charset="-122"/>
                <a:cs typeface="Be Vietnam Pro" pitchFamily="34" charset="-120"/>
              </a:rPr>
              <a:t>3</a:t>
            </a:r>
            <a:endParaRPr lang="en-US" sz="1500" dirty="0"/>
          </a:p>
        </p:txBody>
      </p:sp>
      <p:sp>
        <p:nvSpPr>
          <p:cNvPr id="37" name="Text 33"/>
          <p:cNvSpPr/>
          <p:nvPr/>
        </p:nvSpPr>
        <p:spPr>
          <a:xfrm>
            <a:off x="8920277" y="2485390"/>
            <a:ext cx="2393594" cy="517652"/>
          </a:xfrm>
          <a:prstGeom prst="rect">
            <a:avLst/>
          </a:prstGeom>
          <a:noFill/>
          <a:ln/>
        </p:spPr>
        <p:txBody>
          <a:bodyPr wrap="square" lIns="0" tIns="0" rIns="0" bIns="0" rtlCol="0" anchor="t"/>
          <a:lstStyle/>
          <a:p>
            <a:pPr algn="l" indent="0" marL="0">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Chọn kho tiếp tế gần</a:t>
            </a:r>
            <a:endParaRPr lang="en-US" sz="1400" dirty="0"/>
          </a:p>
          <a:p>
            <a:pPr algn="l" indent="0" marL="0">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điểm gặp nạn nhất</a:t>
            </a:r>
            <a:endParaRPr lang="en-US" sz="1400" dirty="0"/>
          </a:p>
        </p:txBody>
      </p:sp>
      <p:sp>
        <p:nvSpPr>
          <p:cNvPr id="38" name="Text 34"/>
          <p:cNvSpPr/>
          <p:nvPr/>
        </p:nvSpPr>
        <p:spPr>
          <a:xfrm>
            <a:off x="8371637" y="3098038"/>
            <a:ext cx="2923946" cy="487934"/>
          </a:xfrm>
          <a:prstGeom prst="rect">
            <a:avLst/>
          </a:prstGeom>
          <a:noFill/>
          <a:ln/>
        </p:spPr>
        <p:txBody>
          <a:bodyPr wrap="square" lIns="0" tIns="0" rIns="0" bIns="0" rtlCol="0" anchor="t"/>
          <a:lstStyle/>
          <a:p>
            <a:pPr algn="l" indent="0" marL="0">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Hệ thống cân nhắc vị trí, tồn kho và khả</a:t>
            </a:r>
            <a:endParaRPr lang="en-US" sz="1150" dirty="0"/>
          </a:p>
          <a:p>
            <a:pPr algn="l" indent="0" marL="0">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năng đáp ứng của từng kho.</a:t>
            </a:r>
            <a:endParaRPr lang="en-US" sz="1150" dirty="0"/>
          </a:p>
        </p:txBody>
      </p:sp>
      <p:sp>
        <p:nvSpPr>
          <p:cNvPr id="39" name="Shape 35"/>
          <p:cNvSpPr/>
          <p:nvPr/>
        </p:nvSpPr>
        <p:spPr>
          <a:xfrm>
            <a:off x="8097317" y="4359910"/>
            <a:ext cx="3381146" cy="1737360"/>
          </a:xfrm>
          <a:prstGeom prst="roundRect">
            <a:avLst>
              <a:gd name="adj" fmla="val 6316"/>
            </a:avLst>
          </a:prstGeom>
          <a:solidFill>
            <a:srgbClr val="091B2D">
              <a:alpha val="55000"/>
            </a:srgbClr>
          </a:solidFill>
          <a:ln w="12700">
            <a:solidFill>
              <a:srgbClr val="FFFFFF">
                <a:alpha val="10000"/>
              </a:srgbClr>
            </a:solidFill>
            <a:prstDash val="solid"/>
          </a:ln>
        </p:spPr>
      </p:sp>
      <p:sp>
        <p:nvSpPr>
          <p:cNvPr id="40" name="Shape 36"/>
          <p:cNvSpPr/>
          <p:nvPr/>
        </p:nvSpPr>
        <p:spPr>
          <a:xfrm>
            <a:off x="8097317" y="4359910"/>
            <a:ext cx="50292" cy="1737360"/>
          </a:xfrm>
          <a:prstGeom prst="roundRect">
            <a:avLst>
              <a:gd name="adj" fmla="val 54545"/>
            </a:avLst>
          </a:prstGeom>
          <a:solidFill>
            <a:srgbClr val="3C5468">
              <a:alpha val="95000"/>
            </a:srgbClr>
          </a:solidFill>
          <a:ln/>
        </p:spPr>
      </p:sp>
      <p:sp>
        <p:nvSpPr>
          <p:cNvPr id="41" name="Shape 37"/>
          <p:cNvSpPr/>
          <p:nvPr/>
        </p:nvSpPr>
        <p:spPr>
          <a:xfrm>
            <a:off x="8371637" y="4579366"/>
            <a:ext cx="420624" cy="420624"/>
          </a:xfrm>
          <a:prstGeom prst="roundRect">
            <a:avLst>
              <a:gd name="adj" fmla="val 50000"/>
            </a:avLst>
          </a:prstGeom>
          <a:solidFill>
            <a:srgbClr val="04101F">
              <a:alpha val="88000"/>
            </a:srgbClr>
          </a:solidFill>
          <a:ln/>
        </p:spPr>
      </p:sp>
      <p:sp>
        <p:nvSpPr>
          <p:cNvPr id="42" name="Shape 38"/>
          <p:cNvSpPr/>
          <p:nvPr/>
        </p:nvSpPr>
        <p:spPr>
          <a:xfrm>
            <a:off x="8371637" y="4579366"/>
            <a:ext cx="420624" cy="420624"/>
          </a:xfrm>
          <a:prstGeom prst="roundRect">
            <a:avLst>
              <a:gd name="adj" fmla="val 50000"/>
            </a:avLst>
          </a:prstGeom>
          <a:solidFill>
            <a:srgbClr val="3C5468">
              <a:alpha val="20000"/>
            </a:srgbClr>
          </a:solidFill>
          <a:ln w="15240">
            <a:solidFill>
              <a:srgbClr val="3C5468">
                <a:alpha val="70000"/>
              </a:srgbClr>
            </a:solidFill>
            <a:prstDash val="solid"/>
          </a:ln>
        </p:spPr>
      </p:sp>
      <p:sp>
        <p:nvSpPr>
          <p:cNvPr id="43" name="Text 39"/>
          <p:cNvSpPr/>
          <p:nvPr/>
        </p:nvSpPr>
        <p:spPr>
          <a:xfrm>
            <a:off x="8325917" y="4652518"/>
            <a:ext cx="512064" cy="330327"/>
          </a:xfrm>
          <a:prstGeom prst="rect">
            <a:avLst/>
          </a:prstGeom>
          <a:noFill/>
          <a:ln/>
        </p:spPr>
        <p:txBody>
          <a:bodyPr wrap="square" lIns="0" tIns="0" rIns="0" bIns="0" rtlCol="0" anchor="t"/>
          <a:lstStyle/>
          <a:p>
            <a:pPr algn="ctr" indent="0" marL="0">
              <a:lnSpc>
                <a:spcPts val="2025"/>
              </a:lnSpc>
              <a:buNone/>
            </a:pPr>
            <a:r>
              <a:rPr lang="en-US" sz="1500" b="1" dirty="0">
                <a:solidFill>
                  <a:srgbClr val="3C5468"/>
                </a:solidFill>
                <a:latin typeface="Be Vietnam Pro" pitchFamily="34" charset="0"/>
                <a:ea typeface="Be Vietnam Pro" pitchFamily="34" charset="-122"/>
                <a:cs typeface="Be Vietnam Pro" pitchFamily="34" charset="-120"/>
              </a:rPr>
              <a:t>4</a:t>
            </a:r>
            <a:endParaRPr lang="en-US" sz="1500" dirty="0"/>
          </a:p>
        </p:txBody>
      </p:sp>
      <p:sp>
        <p:nvSpPr>
          <p:cNvPr id="44" name="Text 40"/>
          <p:cNvSpPr/>
          <p:nvPr/>
        </p:nvSpPr>
        <p:spPr>
          <a:xfrm>
            <a:off x="8920277" y="4625086"/>
            <a:ext cx="2393594" cy="295402"/>
          </a:xfrm>
          <a:prstGeom prst="rect">
            <a:avLst/>
          </a:prstGeom>
          <a:noFill/>
          <a:ln/>
        </p:spPr>
        <p:txBody>
          <a:bodyPr wrap="square" lIns="0" tIns="0" rIns="0" bIns="0" rtlCol="0" anchor="t"/>
          <a:lstStyle/>
          <a:p>
            <a:pPr algn="l" indent="0" marL="0">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Xác nhận &amp; thông báo</a:t>
            </a:r>
            <a:endParaRPr lang="en-US" sz="1400" dirty="0"/>
          </a:p>
        </p:txBody>
      </p:sp>
      <p:sp>
        <p:nvSpPr>
          <p:cNvPr id="45" name="Text 41"/>
          <p:cNvSpPr/>
          <p:nvPr/>
        </p:nvSpPr>
        <p:spPr>
          <a:xfrm>
            <a:off x="8371637" y="5237734"/>
            <a:ext cx="2923946" cy="487934"/>
          </a:xfrm>
          <a:prstGeom prst="rect">
            <a:avLst/>
          </a:prstGeom>
          <a:noFill/>
          <a:ln/>
        </p:spPr>
        <p:txBody>
          <a:bodyPr wrap="square" lIns="0" tIns="0" rIns="0" bIns="0" rtlCol="0" anchor="t"/>
          <a:lstStyle/>
          <a:p>
            <a:pPr algn="l" indent="0" marL="0">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Kho nhận lệnh chuẩn bị, xuất vật tư; đội</a:t>
            </a:r>
            <a:endParaRPr lang="en-US" sz="1150" dirty="0"/>
          </a:p>
          <a:p>
            <a:pPr algn="l" indent="0" marL="0">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cứu hộ nhận nhiệm vụ cùng lúc.</a:t>
            </a:r>
            <a:endParaRPr lang="en-US" sz="1150" dirty="0"/>
          </a:p>
        </p:txBody>
      </p:sp>
      <p:sp>
        <p:nvSpPr>
          <p:cNvPr id="46" name="Shape 42"/>
          <p:cNvSpPr/>
          <p:nvPr/>
        </p:nvSpPr>
        <p:spPr>
          <a:xfrm>
            <a:off x="4405274" y="4359910"/>
            <a:ext cx="3381146" cy="1737360"/>
          </a:xfrm>
          <a:prstGeom prst="roundRect">
            <a:avLst>
              <a:gd name="adj" fmla="val 6316"/>
            </a:avLst>
          </a:prstGeom>
          <a:solidFill>
            <a:srgbClr val="091B2D">
              <a:alpha val="55000"/>
            </a:srgbClr>
          </a:solidFill>
          <a:ln w="12700">
            <a:solidFill>
              <a:srgbClr val="FFFFFF">
                <a:alpha val="10000"/>
              </a:srgbClr>
            </a:solidFill>
            <a:prstDash val="solid"/>
          </a:ln>
        </p:spPr>
      </p:sp>
      <p:sp>
        <p:nvSpPr>
          <p:cNvPr id="47" name="Shape 43"/>
          <p:cNvSpPr/>
          <p:nvPr/>
        </p:nvSpPr>
        <p:spPr>
          <a:xfrm>
            <a:off x="4405274" y="4359910"/>
            <a:ext cx="50292" cy="1737360"/>
          </a:xfrm>
          <a:prstGeom prst="roundRect">
            <a:avLst>
              <a:gd name="adj" fmla="val 54545"/>
            </a:avLst>
          </a:prstGeom>
          <a:solidFill>
            <a:srgbClr val="3C5468">
              <a:alpha val="95000"/>
            </a:srgbClr>
          </a:solidFill>
          <a:ln/>
        </p:spPr>
      </p:sp>
      <p:sp>
        <p:nvSpPr>
          <p:cNvPr id="48" name="Shape 44"/>
          <p:cNvSpPr/>
          <p:nvPr/>
        </p:nvSpPr>
        <p:spPr>
          <a:xfrm>
            <a:off x="4679594" y="4579366"/>
            <a:ext cx="420624" cy="420624"/>
          </a:xfrm>
          <a:prstGeom prst="roundRect">
            <a:avLst>
              <a:gd name="adj" fmla="val 50000"/>
            </a:avLst>
          </a:prstGeom>
          <a:solidFill>
            <a:srgbClr val="04101F">
              <a:alpha val="88000"/>
            </a:srgbClr>
          </a:solidFill>
          <a:ln/>
        </p:spPr>
      </p:sp>
      <p:sp>
        <p:nvSpPr>
          <p:cNvPr id="49" name="Shape 45"/>
          <p:cNvSpPr/>
          <p:nvPr/>
        </p:nvSpPr>
        <p:spPr>
          <a:xfrm>
            <a:off x="4679594" y="4579366"/>
            <a:ext cx="420624" cy="420624"/>
          </a:xfrm>
          <a:prstGeom prst="roundRect">
            <a:avLst>
              <a:gd name="adj" fmla="val 50000"/>
            </a:avLst>
          </a:prstGeom>
          <a:solidFill>
            <a:srgbClr val="3C5468">
              <a:alpha val="20000"/>
            </a:srgbClr>
          </a:solidFill>
          <a:ln w="15240">
            <a:solidFill>
              <a:srgbClr val="3C5468">
                <a:alpha val="70000"/>
              </a:srgbClr>
            </a:solidFill>
            <a:prstDash val="solid"/>
          </a:ln>
        </p:spPr>
      </p:sp>
      <p:sp>
        <p:nvSpPr>
          <p:cNvPr id="50" name="Text 46"/>
          <p:cNvSpPr/>
          <p:nvPr/>
        </p:nvSpPr>
        <p:spPr>
          <a:xfrm>
            <a:off x="4633874" y="4652518"/>
            <a:ext cx="512064" cy="330327"/>
          </a:xfrm>
          <a:prstGeom prst="rect">
            <a:avLst/>
          </a:prstGeom>
          <a:noFill/>
          <a:ln/>
        </p:spPr>
        <p:txBody>
          <a:bodyPr wrap="square" lIns="0" tIns="0" rIns="0" bIns="0" rtlCol="0" anchor="t"/>
          <a:lstStyle/>
          <a:p>
            <a:pPr algn="ctr" indent="0" marL="0">
              <a:lnSpc>
                <a:spcPts val="2025"/>
              </a:lnSpc>
              <a:buNone/>
            </a:pPr>
            <a:r>
              <a:rPr lang="en-US" sz="1500" b="1" dirty="0">
                <a:solidFill>
                  <a:srgbClr val="3C5468"/>
                </a:solidFill>
                <a:latin typeface="Be Vietnam Pro" pitchFamily="34" charset="0"/>
                <a:ea typeface="Be Vietnam Pro" pitchFamily="34" charset="-122"/>
                <a:cs typeface="Be Vietnam Pro" pitchFamily="34" charset="-120"/>
              </a:rPr>
              <a:t>5</a:t>
            </a:r>
            <a:endParaRPr lang="en-US" sz="1500" dirty="0"/>
          </a:p>
        </p:txBody>
      </p:sp>
      <p:sp>
        <p:nvSpPr>
          <p:cNvPr id="51" name="Text 47"/>
          <p:cNvSpPr/>
          <p:nvPr/>
        </p:nvSpPr>
        <p:spPr>
          <a:xfrm>
            <a:off x="5228234" y="4625086"/>
            <a:ext cx="2393594" cy="517652"/>
          </a:xfrm>
          <a:prstGeom prst="rect">
            <a:avLst/>
          </a:prstGeom>
          <a:noFill/>
          <a:ln/>
        </p:spPr>
        <p:txBody>
          <a:bodyPr wrap="square" lIns="0" tIns="0" rIns="0" bIns="0" rtlCol="0" anchor="t"/>
          <a:lstStyle/>
          <a:p>
            <a:pPr algn="l" indent="0" marL="0">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Đội cứu hộ xác nhận hoàn</a:t>
            </a:r>
            <a:endParaRPr lang="en-US" sz="1400" dirty="0"/>
          </a:p>
          <a:p>
            <a:pPr algn="l" indent="0" marL="0">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thành</a:t>
            </a:r>
            <a:endParaRPr lang="en-US" sz="1400" dirty="0"/>
          </a:p>
        </p:txBody>
      </p:sp>
      <p:sp>
        <p:nvSpPr>
          <p:cNvPr id="52" name="Text 48"/>
          <p:cNvSpPr/>
          <p:nvPr/>
        </p:nvSpPr>
        <p:spPr>
          <a:xfrm>
            <a:off x="4679594" y="5237734"/>
            <a:ext cx="2923946" cy="487934"/>
          </a:xfrm>
          <a:prstGeom prst="rect">
            <a:avLst/>
          </a:prstGeom>
          <a:noFill/>
          <a:ln/>
        </p:spPr>
        <p:txBody>
          <a:bodyPr wrap="square" lIns="0" tIns="0" rIns="0" bIns="0" rtlCol="0" anchor="t"/>
          <a:lstStyle/>
          <a:p>
            <a:pPr algn="l" indent="0" marL="0">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Báo cáo kết quả nhiệm vụ kèm hình ảnh</a:t>
            </a:r>
            <a:endParaRPr lang="en-US" sz="1150" dirty="0"/>
          </a:p>
          <a:p>
            <a:pPr algn="l" indent="0" marL="0">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tại hiện trường.</a:t>
            </a:r>
            <a:endParaRPr lang="en-US" sz="1150" dirty="0"/>
          </a:p>
        </p:txBody>
      </p:sp>
      <p:sp>
        <p:nvSpPr>
          <p:cNvPr id="53" name="Shape 49"/>
          <p:cNvSpPr/>
          <p:nvPr/>
        </p:nvSpPr>
        <p:spPr>
          <a:xfrm>
            <a:off x="658368" y="4305046"/>
            <a:ext cx="3490874" cy="1847088"/>
          </a:xfrm>
          <a:prstGeom prst="roundRect">
            <a:avLst>
              <a:gd name="adj" fmla="val 7921"/>
            </a:avLst>
          </a:prstGeom>
          <a:solidFill>
            <a:srgbClr val="22C55E">
              <a:alpha val="18000"/>
            </a:srgbClr>
          </a:solidFill>
          <a:ln/>
        </p:spPr>
      </p:sp>
      <p:sp>
        <p:nvSpPr>
          <p:cNvPr id="54" name="Shape 50"/>
          <p:cNvSpPr/>
          <p:nvPr/>
        </p:nvSpPr>
        <p:spPr>
          <a:xfrm>
            <a:off x="713232" y="4359910"/>
            <a:ext cx="3381146" cy="1737360"/>
          </a:xfrm>
          <a:prstGeom prst="roundRect">
            <a:avLst>
              <a:gd name="adj" fmla="val 6316"/>
            </a:avLst>
          </a:prstGeom>
          <a:solidFill>
            <a:srgbClr val="091B2D">
              <a:alpha val="78000"/>
            </a:srgbClr>
          </a:solidFill>
          <a:ln w="19050">
            <a:solidFill>
              <a:srgbClr val="22C55E">
                <a:alpha val="50000"/>
              </a:srgbClr>
            </a:solidFill>
            <a:prstDash val="solid"/>
          </a:ln>
        </p:spPr>
      </p:sp>
      <p:sp>
        <p:nvSpPr>
          <p:cNvPr id="55" name="Shape 51"/>
          <p:cNvSpPr/>
          <p:nvPr/>
        </p:nvSpPr>
        <p:spPr>
          <a:xfrm>
            <a:off x="713232" y="4359910"/>
            <a:ext cx="50292" cy="1737360"/>
          </a:xfrm>
          <a:prstGeom prst="roundRect">
            <a:avLst>
              <a:gd name="adj" fmla="val 54545"/>
            </a:avLst>
          </a:prstGeom>
          <a:solidFill>
            <a:srgbClr val="22C55E">
              <a:alpha val="95000"/>
            </a:srgbClr>
          </a:solidFill>
          <a:ln/>
        </p:spPr>
      </p:sp>
      <p:sp>
        <p:nvSpPr>
          <p:cNvPr id="56" name="Shape 52"/>
          <p:cNvSpPr/>
          <p:nvPr/>
        </p:nvSpPr>
        <p:spPr>
          <a:xfrm>
            <a:off x="987552" y="4579366"/>
            <a:ext cx="420624" cy="420624"/>
          </a:xfrm>
          <a:prstGeom prst="roundRect">
            <a:avLst>
              <a:gd name="adj" fmla="val 50000"/>
            </a:avLst>
          </a:prstGeom>
          <a:solidFill>
            <a:srgbClr val="04101F">
              <a:alpha val="88000"/>
            </a:srgbClr>
          </a:solidFill>
          <a:ln/>
        </p:spPr>
      </p:sp>
      <p:sp>
        <p:nvSpPr>
          <p:cNvPr id="57" name="Shape 53"/>
          <p:cNvSpPr/>
          <p:nvPr/>
        </p:nvSpPr>
        <p:spPr>
          <a:xfrm>
            <a:off x="987552" y="4579366"/>
            <a:ext cx="420624" cy="420624"/>
          </a:xfrm>
          <a:prstGeom prst="roundRect">
            <a:avLst>
              <a:gd name="adj" fmla="val 50000"/>
            </a:avLst>
          </a:prstGeom>
          <a:solidFill>
            <a:srgbClr val="22C55E">
              <a:alpha val="20000"/>
            </a:srgbClr>
          </a:solidFill>
          <a:ln w="15240">
            <a:solidFill>
              <a:srgbClr val="22C55E">
                <a:alpha val="70000"/>
              </a:srgbClr>
            </a:solidFill>
            <a:prstDash val="solid"/>
          </a:ln>
        </p:spPr>
      </p:sp>
      <p:sp>
        <p:nvSpPr>
          <p:cNvPr id="58" name="Text 54"/>
          <p:cNvSpPr/>
          <p:nvPr/>
        </p:nvSpPr>
        <p:spPr>
          <a:xfrm>
            <a:off x="941832" y="4652518"/>
            <a:ext cx="512064" cy="330327"/>
          </a:xfrm>
          <a:prstGeom prst="rect">
            <a:avLst/>
          </a:prstGeom>
          <a:noFill/>
          <a:ln/>
        </p:spPr>
        <p:txBody>
          <a:bodyPr wrap="square" lIns="0" tIns="0" rIns="0" bIns="0" rtlCol="0" anchor="t"/>
          <a:lstStyle/>
          <a:p>
            <a:pPr algn="ctr" indent="0" marL="0">
              <a:lnSpc>
                <a:spcPts val="2025"/>
              </a:lnSpc>
              <a:buNone/>
            </a:pPr>
            <a:r>
              <a:rPr lang="en-US" sz="1500" b="1" dirty="0">
                <a:solidFill>
                  <a:srgbClr val="22C55E"/>
                </a:solidFill>
                <a:latin typeface="Be Vietnam Pro" pitchFamily="34" charset="0"/>
                <a:ea typeface="Be Vietnam Pro" pitchFamily="34" charset="-122"/>
                <a:cs typeface="Be Vietnam Pro" pitchFamily="34" charset="-120"/>
              </a:rPr>
              <a:t>6</a:t>
            </a:r>
            <a:endParaRPr lang="en-US" sz="1500" dirty="0"/>
          </a:p>
        </p:txBody>
      </p:sp>
      <p:sp>
        <p:nvSpPr>
          <p:cNvPr id="59" name="Text 55"/>
          <p:cNvSpPr/>
          <p:nvPr/>
        </p:nvSpPr>
        <p:spPr>
          <a:xfrm>
            <a:off x="1536192" y="4625086"/>
            <a:ext cx="2393594" cy="517652"/>
          </a:xfrm>
          <a:prstGeom prst="rect">
            <a:avLst/>
          </a:prstGeom>
          <a:noFill/>
          <a:ln/>
        </p:spPr>
        <p:txBody>
          <a:bodyPr wrap="square" lIns="0" tIns="0" rIns="0" bIns="0" rtlCol="0" anchor="t"/>
          <a:lstStyle/>
          <a:p>
            <a:pPr algn="l" indent="0" marL="0">
              <a:lnSpc>
                <a:spcPts val="1750"/>
              </a:lnSpc>
              <a:buNone/>
            </a:pPr>
            <a:r>
              <a:rPr lang="en-US" sz="1400" b="1" dirty="0">
                <a:solidFill>
                  <a:srgbClr val="FFFFFF"/>
                </a:solidFill>
                <a:latin typeface="Be Vietnam Pro" pitchFamily="34" charset="0"/>
                <a:ea typeface="Be Vietnam Pro" pitchFamily="34" charset="-122"/>
                <a:cs typeface="Be Vietnam Pro" pitchFamily="34" charset="-120"/>
              </a:rPr>
              <a:t>Kho xác nhận hoàn trả</a:t>
            </a:r>
            <a:endParaRPr lang="en-US" sz="1400" dirty="0"/>
          </a:p>
          <a:p>
            <a:pPr algn="l" indent="0" marL="0">
              <a:lnSpc>
                <a:spcPts val="1750"/>
              </a:lnSpc>
              <a:buNone/>
            </a:pPr>
            <a:r>
              <a:rPr lang="en-US" sz="1400" b="1" dirty="0">
                <a:solidFill>
                  <a:srgbClr val="FFFFFF"/>
                </a:solidFill>
                <a:latin typeface="Be Vietnam Pro" pitchFamily="34" charset="0"/>
                <a:ea typeface="Be Vietnam Pro" pitchFamily="34" charset="-122"/>
                <a:cs typeface="Be Vietnam Pro" pitchFamily="34" charset="-120"/>
              </a:rPr>
              <a:t>vật tư</a:t>
            </a:r>
            <a:endParaRPr lang="en-US" sz="1400" dirty="0"/>
          </a:p>
        </p:txBody>
      </p:sp>
      <p:sp>
        <p:nvSpPr>
          <p:cNvPr id="60" name="Text 56"/>
          <p:cNvSpPr/>
          <p:nvPr/>
        </p:nvSpPr>
        <p:spPr>
          <a:xfrm>
            <a:off x="987552" y="5237734"/>
            <a:ext cx="2923946" cy="487934"/>
          </a:xfrm>
          <a:prstGeom prst="rect">
            <a:avLst/>
          </a:prstGeom>
          <a:noFill/>
          <a:ln/>
        </p:spPr>
        <p:txBody>
          <a:bodyPr wrap="square" lIns="0" tIns="0" rIns="0" bIns="0" rtlCol="0" anchor="t"/>
          <a:lstStyle/>
          <a:p>
            <a:pPr algn="l" indent="0" marL="0">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Đối chiếu vật tư đã cấp phát và phần</a:t>
            </a:r>
            <a:endParaRPr lang="en-US" sz="1150" dirty="0"/>
          </a:p>
          <a:p>
            <a:pPr algn="l" indent="0" marL="0">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thu hồi, khép lại nhiệm vụ.</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4101F"/>
        </a:solidFill>
      </p:bgPr>
    </p:bg>
    <p:spTree>
      <p:nvGrpSpPr>
        <p:cNvPr id="1" name=""/>
        <p:cNvGrpSpPr/>
        <p:nvPr/>
      </p:nvGrpSpPr>
      <p:grpSpPr>
        <a:xfrm>
          <a:off x="0" y="0"/>
          <a:ext cx="0" cy="0"/>
          <a:chOff x="0" y="0"/>
          <a:chExt cx="0" cy="0"/>
        </a:xfrm>
      </p:grpSpPr>
      <p:pic>
        <p:nvPicPr>
          <p:cNvPr id="2" name="Image 0" descr="bg-content.jp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4101F">
              <a:alpha val="34000"/>
            </a:srgbClr>
          </a:solidFill>
          <a:ln/>
        </p:spPr>
      </p:sp>
      <p:pic>
        <p:nvPicPr>
          <p:cNvPr id="4" name="Image 1" descr="mark-sm.png">    </p:cNvPr>
          <p:cNvPicPr>
            <a:picLocks noChangeAspect="1"/>
          </p:cNvPicPr>
          <p:nvPr/>
        </p:nvPicPr>
        <p:blipFill>
          <a:blip r:embed="rId2"/>
          <a:stretch>
            <a:fillRect/>
          </a:stretch>
        </p:blipFill>
        <p:spPr>
          <a:xfrm>
            <a:off x="713232" y="365760"/>
            <a:ext cx="310896" cy="310896"/>
          </a:xfrm>
          <a:prstGeom prst="rect">
            <a:avLst/>
          </a:prstGeom>
        </p:spPr>
      </p:pic>
      <p:sp>
        <p:nvSpPr>
          <p:cNvPr id="5" name="Text 1"/>
          <p:cNvSpPr/>
          <p:nvPr/>
        </p:nvSpPr>
        <p:spPr>
          <a:xfrm>
            <a:off x="1170432" y="384048"/>
            <a:ext cx="3749040" cy="261747"/>
          </a:xfrm>
          <a:prstGeom prst="rect">
            <a:avLst/>
          </a:prstGeom>
          <a:noFill/>
          <a:ln/>
        </p:spPr>
        <p:txBody>
          <a:bodyPr wrap="square" lIns="0" tIns="0" rIns="0" bIns="0" rtlCol="0" anchor="t"/>
          <a:lstStyle/>
          <a:p>
            <a:pPr algn="l" indent="0" marL="0">
              <a:lnSpc>
                <a:spcPts val="1485"/>
              </a:lnSpc>
              <a:buNone/>
            </a:pPr>
            <a:r>
              <a:rPr lang="en-US" sz="1100" b="1" spc="160" kern="0" dirty="0">
                <a:solidFill>
                  <a:srgbClr val="6EE7A8"/>
                </a:solidFill>
                <a:latin typeface="Be Vietnam Pro" pitchFamily="34" charset="0"/>
                <a:ea typeface="Be Vietnam Pro" pitchFamily="34" charset="-122"/>
                <a:cs typeface="Be Vietnam Pro" pitchFamily="34" charset="-120"/>
              </a:rPr>
              <a:t>ỨNG PHÓ NHANH</a:t>
            </a:r>
            <a:endParaRPr lang="en-US" sz="1100" dirty="0"/>
          </a:p>
        </p:txBody>
      </p:sp>
      <p:sp>
        <p:nvSpPr>
          <p:cNvPr id="6" name="Text 2"/>
          <p:cNvSpPr/>
          <p:nvPr/>
        </p:nvSpPr>
        <p:spPr>
          <a:xfrm>
            <a:off x="8643823" y="384048"/>
            <a:ext cx="2834640" cy="261747"/>
          </a:xfrm>
          <a:prstGeom prst="rect">
            <a:avLst/>
          </a:prstGeom>
          <a:noFill/>
          <a:ln/>
        </p:spPr>
        <p:txBody>
          <a:bodyPr wrap="square" lIns="0" tIns="0" rIns="0" bIns="0" rtlCol="0" anchor="t"/>
          <a:lstStyle/>
          <a:p>
            <a:pPr algn="r" indent="0" marL="0">
              <a:lnSpc>
                <a:spcPts val="1485"/>
              </a:lnSpc>
              <a:buNone/>
            </a:pPr>
            <a:r>
              <a:rPr lang="en-US" sz="1100" b="1" dirty="0">
                <a:solidFill>
                  <a:srgbClr val="7189A2"/>
                </a:solidFill>
                <a:latin typeface="Be Vietnam Pro" pitchFamily="34" charset="0"/>
                <a:ea typeface="Be Vietnam Pro" pitchFamily="34" charset="-122"/>
                <a:cs typeface="Be Vietnam Pro" pitchFamily="34" charset="-120"/>
              </a:rPr>
              <a:t>14 / 24</a:t>
            </a:r>
            <a:endParaRPr lang="en-US" sz="1100" dirty="0"/>
          </a:p>
        </p:txBody>
      </p:sp>
      <p:sp>
        <p:nvSpPr>
          <p:cNvPr id="7" name="Shape 3"/>
          <p:cNvSpPr/>
          <p:nvPr/>
        </p:nvSpPr>
        <p:spPr>
          <a:xfrm>
            <a:off x="713232" y="868680"/>
            <a:ext cx="10765231" cy="10973"/>
          </a:xfrm>
          <a:prstGeom prst="rect">
            <a:avLst/>
          </a:prstGeom>
          <a:solidFill>
            <a:srgbClr val="FFFFFF">
              <a:alpha val="16000"/>
            </a:srgbClr>
          </a:solidFill>
          <a:ln/>
        </p:spPr>
      </p:sp>
      <p:sp>
        <p:nvSpPr>
          <p:cNvPr id="8" name="Text 4"/>
          <p:cNvSpPr/>
          <p:nvPr/>
        </p:nvSpPr>
        <p:spPr>
          <a:xfrm>
            <a:off x="713232" y="1133856"/>
            <a:ext cx="8321040" cy="270320"/>
          </a:xfrm>
          <a:prstGeom prst="rect">
            <a:avLst/>
          </a:prstGeom>
          <a:noFill/>
          <a:ln/>
        </p:spPr>
        <p:txBody>
          <a:bodyPr wrap="square" lIns="0" tIns="0" rIns="0" bIns="0" rtlCol="0" anchor="t"/>
          <a:lstStyle/>
          <a:p>
            <a:pPr algn="l" indent="0" marL="0">
              <a:lnSpc>
                <a:spcPts val="1553"/>
              </a:lnSpc>
              <a:buNone/>
            </a:pPr>
            <a:r>
              <a:rPr lang="en-US" sz="1150" b="1" spc="220" kern="0" dirty="0">
                <a:solidFill>
                  <a:srgbClr val="22C55E"/>
                </a:solidFill>
                <a:latin typeface="Be Vietnam Pro" pitchFamily="34" charset="0"/>
                <a:ea typeface="Be Vietnam Pro" pitchFamily="34" charset="-122"/>
                <a:cs typeface="Be Vietnam Pro" pitchFamily="34" charset="-120"/>
              </a:rPr>
              <a:t>DỮ LIỆU &amp; DỰ BÁO</a:t>
            </a:r>
            <a:endParaRPr lang="en-US" sz="1150" dirty="0"/>
          </a:p>
        </p:txBody>
      </p:sp>
      <p:sp>
        <p:nvSpPr>
          <p:cNvPr id="9" name="Text 5"/>
          <p:cNvSpPr/>
          <p:nvPr/>
        </p:nvSpPr>
        <p:spPr>
          <a:xfrm>
            <a:off x="713232" y="1426464"/>
            <a:ext cx="10490911" cy="537718"/>
          </a:xfrm>
          <a:prstGeom prst="rect">
            <a:avLst/>
          </a:prstGeom>
          <a:noFill/>
          <a:ln/>
        </p:spPr>
        <p:txBody>
          <a:bodyPr wrap="square" lIns="0" tIns="0" rIns="0" bIns="0" rtlCol="0" anchor="t"/>
          <a:lstStyle/>
          <a:p>
            <a:pPr algn="l" indent="0" marL="0">
              <a:lnSpc>
                <a:spcPts val="3658"/>
              </a:lnSpc>
              <a:buNone/>
            </a:pPr>
            <a:r>
              <a:rPr lang="en-US" sz="3100" b="1" dirty="0">
                <a:solidFill>
                  <a:srgbClr val="FFFFFF"/>
                </a:solidFill>
                <a:latin typeface="Be Vietnam Pro" pitchFamily="34" charset="0"/>
                <a:ea typeface="Be Vietnam Pro" pitchFamily="34" charset="-122"/>
                <a:cs typeface="Be Vietnam Pro" pitchFamily="34" charset="-120"/>
              </a:rPr>
              <a:t>Mỗi đợt thiên tai để lại dữ liệu cho đợt sau</a:t>
            </a:r>
            <a:endParaRPr lang="en-US" sz="3100" dirty="0"/>
          </a:p>
        </p:txBody>
      </p:sp>
      <p:sp>
        <p:nvSpPr>
          <p:cNvPr id="10" name="Shape 6"/>
          <p:cNvSpPr/>
          <p:nvPr/>
        </p:nvSpPr>
        <p:spPr>
          <a:xfrm>
            <a:off x="713232" y="6272784"/>
            <a:ext cx="10765231" cy="9144"/>
          </a:xfrm>
          <a:prstGeom prst="rect">
            <a:avLst/>
          </a:prstGeom>
          <a:solidFill>
            <a:srgbClr val="FFFFFF">
              <a:alpha val="10000"/>
            </a:srgbClr>
          </a:solidFill>
          <a:ln/>
        </p:spPr>
      </p:sp>
      <p:sp>
        <p:nvSpPr>
          <p:cNvPr id="11" name="Text 7"/>
          <p:cNvSpPr/>
          <p:nvPr/>
        </p:nvSpPr>
        <p:spPr>
          <a:xfrm>
            <a:off x="8643823" y="6382512"/>
            <a:ext cx="2834640" cy="236030"/>
          </a:xfrm>
          <a:prstGeom prst="rect">
            <a:avLst/>
          </a:prstGeom>
          <a:noFill/>
          <a:ln/>
        </p:spPr>
        <p:txBody>
          <a:bodyPr wrap="square" lIns="0" tIns="0" rIns="0" bIns="0" rtlCol="0" anchor="t"/>
          <a:lstStyle/>
          <a:p>
            <a:pPr algn="r" indent="0" marL="0">
              <a:lnSpc>
                <a:spcPts val="1283"/>
              </a:lnSpc>
              <a:buNone/>
            </a:pPr>
            <a:r>
              <a:rPr lang="en-US" sz="950" dirty="0">
                <a:solidFill>
                  <a:srgbClr val="7189A2"/>
                </a:solidFill>
                <a:latin typeface="Be Vietnam Pro" pitchFamily="34" charset="0"/>
                <a:ea typeface="Be Vietnam Pro" pitchFamily="34" charset="-122"/>
                <a:cs typeface="Be Vietnam Pro" pitchFamily="34" charset="-120"/>
              </a:rPr>
              <a:t>ungphonhanh.life</a:t>
            </a:r>
            <a:endParaRPr lang="en-US" sz="950" dirty="0"/>
          </a:p>
        </p:txBody>
      </p:sp>
      <p:sp>
        <p:nvSpPr>
          <p:cNvPr id="12" name="Shape 8"/>
          <p:cNvSpPr/>
          <p:nvPr/>
        </p:nvSpPr>
        <p:spPr>
          <a:xfrm>
            <a:off x="713232" y="2220214"/>
            <a:ext cx="2485568" cy="2148840"/>
          </a:xfrm>
          <a:prstGeom prst="roundRect">
            <a:avLst>
              <a:gd name="adj" fmla="val 5106"/>
            </a:avLst>
          </a:prstGeom>
          <a:solidFill>
            <a:srgbClr val="091B2D">
              <a:alpha val="66000"/>
            </a:srgbClr>
          </a:solidFill>
          <a:ln w="12700">
            <a:solidFill>
              <a:srgbClr val="FFFFFF">
                <a:alpha val="12000"/>
              </a:srgbClr>
            </a:solidFill>
            <a:prstDash val="solid"/>
          </a:ln>
        </p:spPr>
      </p:sp>
      <p:sp>
        <p:nvSpPr>
          <p:cNvPr id="13" name="Shape 9"/>
          <p:cNvSpPr/>
          <p:nvPr/>
        </p:nvSpPr>
        <p:spPr>
          <a:xfrm>
            <a:off x="713232" y="2220214"/>
            <a:ext cx="50292" cy="2148840"/>
          </a:xfrm>
          <a:prstGeom prst="roundRect">
            <a:avLst>
              <a:gd name="adj" fmla="val 54545"/>
            </a:avLst>
          </a:prstGeom>
          <a:solidFill>
            <a:srgbClr val="22C55E">
              <a:alpha val="95000"/>
            </a:srgbClr>
          </a:solidFill>
          <a:ln/>
        </p:spPr>
      </p:sp>
      <p:sp>
        <p:nvSpPr>
          <p:cNvPr id="14" name="Text 10"/>
          <p:cNvSpPr/>
          <p:nvPr/>
        </p:nvSpPr>
        <p:spPr>
          <a:xfrm>
            <a:off x="1005840" y="2476246"/>
            <a:ext cx="1991792" cy="549402"/>
          </a:xfrm>
          <a:prstGeom prst="rect">
            <a:avLst/>
          </a:prstGeom>
          <a:noFill/>
          <a:ln/>
        </p:spPr>
        <p:txBody>
          <a:bodyPr wrap="square" lIns="0" tIns="0" rIns="0" bIns="0" rtlCol="0" anchor="t"/>
          <a:lstStyle/>
          <a:p>
            <a:pPr algn="l" indent="0" marL="0">
              <a:lnSpc>
                <a:spcPts val="1875"/>
              </a:lnSpc>
              <a:buNone/>
            </a:pPr>
            <a:r>
              <a:rPr lang="en-US" sz="1500" b="1" dirty="0">
                <a:solidFill>
                  <a:srgbClr val="FFFFFF"/>
                </a:solidFill>
                <a:latin typeface="Be Vietnam Pro" pitchFamily="34" charset="0"/>
                <a:ea typeface="Be Vietnam Pro" pitchFamily="34" charset="-122"/>
                <a:cs typeface="Be Vietnam Pro" pitchFamily="34" charset="-120"/>
              </a:rPr>
              <a:t>Nhiệm vụ đã hoàn</a:t>
            </a:r>
            <a:endParaRPr lang="en-US" sz="1500" dirty="0"/>
          </a:p>
          <a:p>
            <a:pPr algn="l" indent="0" marL="0">
              <a:lnSpc>
                <a:spcPts val="1875"/>
              </a:lnSpc>
              <a:buNone/>
            </a:pPr>
            <a:r>
              <a:rPr lang="en-US" sz="1500" b="1" dirty="0">
                <a:solidFill>
                  <a:srgbClr val="FFFFFF"/>
                </a:solidFill>
                <a:latin typeface="Be Vietnam Pro" pitchFamily="34" charset="0"/>
                <a:ea typeface="Be Vietnam Pro" pitchFamily="34" charset="-122"/>
                <a:cs typeface="Be Vietnam Pro" pitchFamily="34" charset="-120"/>
              </a:rPr>
              <a:t>thành</a:t>
            </a:r>
            <a:endParaRPr lang="en-US" sz="1500" dirty="0"/>
          </a:p>
        </p:txBody>
      </p:sp>
      <p:sp>
        <p:nvSpPr>
          <p:cNvPr id="15" name="Text 11"/>
          <p:cNvSpPr/>
          <p:nvPr/>
        </p:nvSpPr>
        <p:spPr>
          <a:xfrm>
            <a:off x="1005840" y="3244342"/>
            <a:ext cx="1991792" cy="736092"/>
          </a:xfrm>
          <a:prstGeom prst="rect">
            <a:avLst/>
          </a:prstGeom>
          <a:noFill/>
          <a:ln/>
        </p:spPr>
        <p:txBody>
          <a:bodyPr wrap="square" lIns="0" tIns="0" rIns="0" bIns="0" rtlCol="0" anchor="t"/>
          <a:lstStyle/>
          <a:p>
            <a:pPr algn="l" indent="0" marL="0">
              <a:lnSpc>
                <a:spcPts val="1740"/>
              </a:lnSpc>
              <a:buNone/>
            </a:pPr>
            <a:r>
              <a:rPr lang="en-US" sz="1200" dirty="0">
                <a:solidFill>
                  <a:srgbClr val="D9E6F2"/>
                </a:solidFill>
                <a:latin typeface="Be Vietnam Pro" pitchFamily="34" charset="0"/>
                <a:ea typeface="Be Vietnam Pro" pitchFamily="34" charset="-122"/>
                <a:cs typeface="Be Vietnam Pro" pitchFamily="34" charset="-120"/>
              </a:rPr>
              <a:t>Bao nhiêu nhiệm vụ hoàn</a:t>
            </a:r>
            <a:endParaRPr lang="en-US" sz="1200" dirty="0"/>
          </a:p>
          <a:p>
            <a:pPr algn="l" indent="0" marL="0">
              <a:lnSpc>
                <a:spcPts val="1740"/>
              </a:lnSpc>
              <a:buNone/>
            </a:pPr>
            <a:r>
              <a:rPr lang="en-US" sz="1200" dirty="0">
                <a:solidFill>
                  <a:srgbClr val="D9E6F2"/>
                </a:solidFill>
                <a:latin typeface="Be Vietnam Pro" pitchFamily="34" charset="0"/>
                <a:ea typeface="Be Vietnam Pro" pitchFamily="34" charset="-122"/>
                <a:cs typeface="Be Vietnam Pro" pitchFamily="34" charset="-120"/>
              </a:rPr>
              <a:t>thành, bao nhiêu còn</a:t>
            </a:r>
            <a:endParaRPr lang="en-US" sz="1200" dirty="0"/>
          </a:p>
          <a:p>
            <a:pPr algn="l" indent="0" marL="0">
              <a:lnSpc>
                <a:spcPts val="1740"/>
              </a:lnSpc>
              <a:buNone/>
            </a:pPr>
            <a:r>
              <a:rPr lang="en-US" sz="1200" dirty="0">
                <a:solidFill>
                  <a:srgbClr val="D9E6F2"/>
                </a:solidFill>
                <a:latin typeface="Be Vietnam Pro" pitchFamily="34" charset="0"/>
                <a:ea typeface="Be Vietnam Pro" pitchFamily="34" charset="-122"/>
                <a:cs typeface="Be Vietnam Pro" pitchFamily="34" charset="-120"/>
              </a:rPr>
              <a:t>dang dở sau mỗi đợt.</a:t>
            </a:r>
            <a:endParaRPr lang="en-US" sz="1200" dirty="0"/>
          </a:p>
        </p:txBody>
      </p:sp>
      <p:sp>
        <p:nvSpPr>
          <p:cNvPr id="16" name="Shape 12"/>
          <p:cNvSpPr/>
          <p:nvPr/>
        </p:nvSpPr>
        <p:spPr>
          <a:xfrm>
            <a:off x="3473120" y="2220214"/>
            <a:ext cx="2485568" cy="2148840"/>
          </a:xfrm>
          <a:prstGeom prst="roundRect">
            <a:avLst>
              <a:gd name="adj" fmla="val 5106"/>
            </a:avLst>
          </a:prstGeom>
          <a:solidFill>
            <a:srgbClr val="091B2D">
              <a:alpha val="66000"/>
            </a:srgbClr>
          </a:solidFill>
          <a:ln w="12700">
            <a:solidFill>
              <a:srgbClr val="FFFFFF">
                <a:alpha val="12000"/>
              </a:srgbClr>
            </a:solidFill>
            <a:prstDash val="solid"/>
          </a:ln>
        </p:spPr>
      </p:sp>
      <p:sp>
        <p:nvSpPr>
          <p:cNvPr id="17" name="Shape 13"/>
          <p:cNvSpPr/>
          <p:nvPr/>
        </p:nvSpPr>
        <p:spPr>
          <a:xfrm>
            <a:off x="3473120" y="2220214"/>
            <a:ext cx="50292" cy="2148840"/>
          </a:xfrm>
          <a:prstGeom prst="roundRect">
            <a:avLst>
              <a:gd name="adj" fmla="val 54545"/>
            </a:avLst>
          </a:prstGeom>
          <a:solidFill>
            <a:srgbClr val="38BDF8">
              <a:alpha val="95000"/>
            </a:srgbClr>
          </a:solidFill>
          <a:ln/>
        </p:spPr>
      </p:sp>
      <p:sp>
        <p:nvSpPr>
          <p:cNvPr id="18" name="Text 14"/>
          <p:cNvSpPr/>
          <p:nvPr/>
        </p:nvSpPr>
        <p:spPr>
          <a:xfrm>
            <a:off x="3765728" y="2476246"/>
            <a:ext cx="1991792" cy="311277"/>
          </a:xfrm>
          <a:prstGeom prst="rect">
            <a:avLst/>
          </a:prstGeom>
          <a:noFill/>
          <a:ln/>
        </p:spPr>
        <p:txBody>
          <a:bodyPr wrap="square" lIns="0" tIns="0" rIns="0" bIns="0" rtlCol="0" anchor="t"/>
          <a:lstStyle/>
          <a:p>
            <a:pPr algn="l" indent="0" marL="0">
              <a:lnSpc>
                <a:spcPts val="1875"/>
              </a:lnSpc>
              <a:buNone/>
            </a:pPr>
            <a:r>
              <a:rPr lang="en-US" sz="1500" b="1" dirty="0">
                <a:solidFill>
                  <a:srgbClr val="FFFFFF"/>
                </a:solidFill>
                <a:latin typeface="Be Vietnam Pro" pitchFamily="34" charset="0"/>
                <a:ea typeface="Be Vietnam Pro" pitchFamily="34" charset="-122"/>
                <a:cs typeface="Be Vietnam Pro" pitchFamily="34" charset="-120"/>
              </a:rPr>
              <a:t>Vật tư đã sử dụng</a:t>
            </a:r>
            <a:endParaRPr lang="en-US" sz="1500" dirty="0"/>
          </a:p>
        </p:txBody>
      </p:sp>
      <p:sp>
        <p:nvSpPr>
          <p:cNvPr id="19" name="Text 15"/>
          <p:cNvSpPr/>
          <p:nvPr/>
        </p:nvSpPr>
        <p:spPr>
          <a:xfrm>
            <a:off x="3765728" y="3244342"/>
            <a:ext cx="1991792" cy="736092"/>
          </a:xfrm>
          <a:prstGeom prst="rect">
            <a:avLst/>
          </a:prstGeom>
          <a:noFill/>
          <a:ln/>
        </p:spPr>
        <p:txBody>
          <a:bodyPr wrap="square" lIns="0" tIns="0" rIns="0" bIns="0" rtlCol="0" anchor="t"/>
          <a:lstStyle/>
          <a:p>
            <a:pPr algn="l" indent="0" marL="0">
              <a:lnSpc>
                <a:spcPts val="1740"/>
              </a:lnSpc>
              <a:buNone/>
            </a:pPr>
            <a:r>
              <a:rPr lang="en-US" sz="1200" dirty="0">
                <a:solidFill>
                  <a:srgbClr val="D9E6F2"/>
                </a:solidFill>
                <a:latin typeface="Be Vietnam Pro" pitchFamily="34" charset="0"/>
                <a:ea typeface="Be Vietnam Pro" pitchFamily="34" charset="-122"/>
                <a:cs typeface="Be Vietnam Pro" pitchFamily="34" charset="-120"/>
              </a:rPr>
              <a:t>Thống kê chính xác lượng</a:t>
            </a:r>
            <a:endParaRPr lang="en-US" sz="1200" dirty="0"/>
          </a:p>
          <a:p>
            <a:pPr algn="l" indent="0" marL="0">
              <a:lnSpc>
                <a:spcPts val="1740"/>
              </a:lnSpc>
              <a:buNone/>
            </a:pPr>
            <a:r>
              <a:rPr lang="en-US" sz="1200" dirty="0">
                <a:solidFill>
                  <a:srgbClr val="D9E6F2"/>
                </a:solidFill>
                <a:latin typeface="Be Vietnam Pro" pitchFamily="34" charset="0"/>
                <a:ea typeface="Be Vietnam Pro" pitchFamily="34" charset="-122"/>
                <a:cs typeface="Be Vietnam Pro" pitchFamily="34" charset="-120"/>
              </a:rPr>
              <a:t>vật tư đã cấp phát cho</a:t>
            </a:r>
            <a:endParaRPr lang="en-US" sz="1200" dirty="0"/>
          </a:p>
          <a:p>
            <a:pPr algn="l" indent="0" marL="0">
              <a:lnSpc>
                <a:spcPts val="1740"/>
              </a:lnSpc>
              <a:buNone/>
            </a:pPr>
            <a:r>
              <a:rPr lang="en-US" sz="1200" dirty="0">
                <a:solidFill>
                  <a:srgbClr val="D9E6F2"/>
                </a:solidFill>
                <a:latin typeface="Be Vietnam Pro" pitchFamily="34" charset="0"/>
                <a:ea typeface="Be Vietnam Pro" pitchFamily="34" charset="-122"/>
                <a:cs typeface="Be Vietnam Pro" pitchFamily="34" charset="-120"/>
              </a:rPr>
              <a:t>từng nhiệm vụ.</a:t>
            </a:r>
            <a:endParaRPr lang="en-US" sz="1200" dirty="0"/>
          </a:p>
        </p:txBody>
      </p:sp>
      <p:sp>
        <p:nvSpPr>
          <p:cNvPr id="20" name="Shape 16"/>
          <p:cNvSpPr/>
          <p:nvPr/>
        </p:nvSpPr>
        <p:spPr>
          <a:xfrm>
            <a:off x="6233008" y="2220214"/>
            <a:ext cx="2485568" cy="2148840"/>
          </a:xfrm>
          <a:prstGeom prst="roundRect">
            <a:avLst>
              <a:gd name="adj" fmla="val 5106"/>
            </a:avLst>
          </a:prstGeom>
          <a:solidFill>
            <a:srgbClr val="091B2D">
              <a:alpha val="66000"/>
            </a:srgbClr>
          </a:solidFill>
          <a:ln w="12700">
            <a:solidFill>
              <a:srgbClr val="FFFFFF">
                <a:alpha val="12000"/>
              </a:srgbClr>
            </a:solidFill>
            <a:prstDash val="solid"/>
          </a:ln>
        </p:spPr>
      </p:sp>
      <p:sp>
        <p:nvSpPr>
          <p:cNvPr id="21" name="Shape 17"/>
          <p:cNvSpPr/>
          <p:nvPr/>
        </p:nvSpPr>
        <p:spPr>
          <a:xfrm>
            <a:off x="6233008" y="2220214"/>
            <a:ext cx="50292" cy="2148840"/>
          </a:xfrm>
          <a:prstGeom prst="roundRect">
            <a:avLst>
              <a:gd name="adj" fmla="val 54545"/>
            </a:avLst>
          </a:prstGeom>
          <a:solidFill>
            <a:srgbClr val="F87171">
              <a:alpha val="95000"/>
            </a:srgbClr>
          </a:solidFill>
          <a:ln/>
        </p:spPr>
      </p:sp>
      <p:sp>
        <p:nvSpPr>
          <p:cNvPr id="22" name="Text 18"/>
          <p:cNvSpPr/>
          <p:nvPr/>
        </p:nvSpPr>
        <p:spPr>
          <a:xfrm>
            <a:off x="6525616" y="2476246"/>
            <a:ext cx="1991792" cy="311277"/>
          </a:xfrm>
          <a:prstGeom prst="rect">
            <a:avLst/>
          </a:prstGeom>
          <a:noFill/>
          <a:ln/>
        </p:spPr>
        <p:txBody>
          <a:bodyPr wrap="square" lIns="0" tIns="0" rIns="0" bIns="0" rtlCol="0" anchor="t"/>
          <a:lstStyle/>
          <a:p>
            <a:pPr algn="l" indent="0" marL="0">
              <a:lnSpc>
                <a:spcPts val="1875"/>
              </a:lnSpc>
              <a:buNone/>
            </a:pPr>
            <a:r>
              <a:rPr lang="en-US" sz="1500" b="1" dirty="0">
                <a:solidFill>
                  <a:srgbClr val="FFFFFF"/>
                </a:solidFill>
                <a:latin typeface="Be Vietnam Pro" pitchFamily="34" charset="0"/>
                <a:ea typeface="Be Vietnam Pro" pitchFamily="34" charset="-122"/>
                <a:cs typeface="Be Vietnam Pro" pitchFamily="34" charset="-120"/>
              </a:rPr>
              <a:t>Vật tư thất thoát</a:t>
            </a:r>
            <a:endParaRPr lang="en-US" sz="1500" dirty="0"/>
          </a:p>
        </p:txBody>
      </p:sp>
      <p:sp>
        <p:nvSpPr>
          <p:cNvPr id="23" name="Text 19"/>
          <p:cNvSpPr/>
          <p:nvPr/>
        </p:nvSpPr>
        <p:spPr>
          <a:xfrm>
            <a:off x="6525616" y="3244342"/>
            <a:ext cx="1991792" cy="736092"/>
          </a:xfrm>
          <a:prstGeom prst="rect">
            <a:avLst/>
          </a:prstGeom>
          <a:noFill/>
          <a:ln/>
        </p:spPr>
        <p:txBody>
          <a:bodyPr wrap="square" lIns="0" tIns="0" rIns="0" bIns="0" rtlCol="0" anchor="t"/>
          <a:lstStyle/>
          <a:p>
            <a:pPr algn="l" indent="0" marL="0">
              <a:lnSpc>
                <a:spcPts val="1740"/>
              </a:lnSpc>
              <a:buNone/>
            </a:pPr>
            <a:r>
              <a:rPr lang="en-US" sz="1200" dirty="0">
                <a:solidFill>
                  <a:srgbClr val="D9E6F2"/>
                </a:solidFill>
                <a:latin typeface="Be Vietnam Pro" pitchFamily="34" charset="0"/>
                <a:ea typeface="Be Vietnam Pro" pitchFamily="34" charset="-122"/>
                <a:cs typeface="Be Vietnam Pro" pitchFamily="34" charset="-120"/>
              </a:rPr>
              <a:t>Ghi nhận phần thất thoát</a:t>
            </a:r>
            <a:endParaRPr lang="en-US" sz="1200" dirty="0"/>
          </a:p>
          <a:p>
            <a:pPr algn="l" indent="0" marL="0">
              <a:lnSpc>
                <a:spcPts val="1740"/>
              </a:lnSpc>
              <a:buNone/>
            </a:pPr>
            <a:r>
              <a:rPr lang="en-US" sz="1200" dirty="0">
                <a:solidFill>
                  <a:srgbClr val="D9E6F2"/>
                </a:solidFill>
                <a:latin typeface="Be Vietnam Pro" pitchFamily="34" charset="0"/>
                <a:ea typeface="Be Vietnam Pro" pitchFamily="34" charset="-122"/>
                <a:cs typeface="Be Vietnam Pro" pitchFamily="34" charset="-120"/>
              </a:rPr>
              <a:t>trong quá trình cứu hộ để</a:t>
            </a:r>
            <a:endParaRPr lang="en-US" sz="1200" dirty="0"/>
          </a:p>
          <a:p>
            <a:pPr algn="l" indent="0" marL="0">
              <a:lnSpc>
                <a:spcPts val="1740"/>
              </a:lnSpc>
              <a:buNone/>
            </a:pPr>
            <a:r>
              <a:rPr lang="en-US" sz="1200" dirty="0">
                <a:solidFill>
                  <a:srgbClr val="D9E6F2"/>
                </a:solidFill>
                <a:latin typeface="Be Vietnam Pro" pitchFamily="34" charset="0"/>
                <a:ea typeface="Be Vietnam Pro" pitchFamily="34" charset="-122"/>
                <a:cs typeface="Be Vietnam Pro" pitchFamily="34" charset="-120"/>
              </a:rPr>
              <a:t>rút kinh nghiệm.</a:t>
            </a:r>
            <a:endParaRPr lang="en-US" sz="1200" dirty="0"/>
          </a:p>
        </p:txBody>
      </p:sp>
      <p:sp>
        <p:nvSpPr>
          <p:cNvPr id="24" name="Shape 20"/>
          <p:cNvSpPr/>
          <p:nvPr/>
        </p:nvSpPr>
        <p:spPr>
          <a:xfrm>
            <a:off x="8992895" y="2220214"/>
            <a:ext cx="2485568" cy="2148840"/>
          </a:xfrm>
          <a:prstGeom prst="roundRect">
            <a:avLst>
              <a:gd name="adj" fmla="val 5106"/>
            </a:avLst>
          </a:prstGeom>
          <a:solidFill>
            <a:srgbClr val="091B2D">
              <a:alpha val="66000"/>
            </a:srgbClr>
          </a:solidFill>
          <a:ln w="12700">
            <a:solidFill>
              <a:srgbClr val="FFFFFF">
                <a:alpha val="12000"/>
              </a:srgbClr>
            </a:solidFill>
            <a:prstDash val="solid"/>
          </a:ln>
        </p:spPr>
      </p:sp>
      <p:sp>
        <p:nvSpPr>
          <p:cNvPr id="25" name="Shape 21"/>
          <p:cNvSpPr/>
          <p:nvPr/>
        </p:nvSpPr>
        <p:spPr>
          <a:xfrm>
            <a:off x="8992895" y="2220214"/>
            <a:ext cx="50292" cy="2148840"/>
          </a:xfrm>
          <a:prstGeom prst="roundRect">
            <a:avLst>
              <a:gd name="adj" fmla="val 54545"/>
            </a:avLst>
          </a:prstGeom>
          <a:solidFill>
            <a:srgbClr val="FBBF24">
              <a:alpha val="95000"/>
            </a:srgbClr>
          </a:solidFill>
          <a:ln/>
        </p:spPr>
      </p:sp>
      <p:sp>
        <p:nvSpPr>
          <p:cNvPr id="26" name="Text 22"/>
          <p:cNvSpPr/>
          <p:nvPr/>
        </p:nvSpPr>
        <p:spPr>
          <a:xfrm>
            <a:off x="9285503" y="2476246"/>
            <a:ext cx="1991792" cy="311277"/>
          </a:xfrm>
          <a:prstGeom prst="rect">
            <a:avLst/>
          </a:prstGeom>
          <a:noFill/>
          <a:ln/>
        </p:spPr>
        <p:txBody>
          <a:bodyPr wrap="square" lIns="0" tIns="0" rIns="0" bIns="0" rtlCol="0" anchor="t"/>
          <a:lstStyle/>
          <a:p>
            <a:pPr algn="l" indent="0" marL="0">
              <a:lnSpc>
                <a:spcPts val="1875"/>
              </a:lnSpc>
              <a:buNone/>
            </a:pPr>
            <a:r>
              <a:rPr lang="en-US" sz="1500" b="1" dirty="0">
                <a:solidFill>
                  <a:srgbClr val="FFFFFF"/>
                </a:solidFill>
                <a:latin typeface="Be Vietnam Pro" pitchFamily="34" charset="0"/>
                <a:ea typeface="Be Vietnam Pro" pitchFamily="34" charset="-122"/>
                <a:cs typeface="Be Vietnam Pro" pitchFamily="34" charset="-120"/>
              </a:rPr>
              <a:t>Lưu trữ lâu dài</a:t>
            </a:r>
            <a:endParaRPr lang="en-US" sz="1500" dirty="0"/>
          </a:p>
        </p:txBody>
      </p:sp>
      <p:sp>
        <p:nvSpPr>
          <p:cNvPr id="27" name="Text 23"/>
          <p:cNvSpPr/>
          <p:nvPr/>
        </p:nvSpPr>
        <p:spPr>
          <a:xfrm>
            <a:off x="9285503" y="3244342"/>
            <a:ext cx="1991792" cy="736092"/>
          </a:xfrm>
          <a:prstGeom prst="rect">
            <a:avLst/>
          </a:prstGeom>
          <a:noFill/>
          <a:ln/>
        </p:spPr>
        <p:txBody>
          <a:bodyPr wrap="square" lIns="0" tIns="0" rIns="0" bIns="0" rtlCol="0" anchor="t"/>
          <a:lstStyle/>
          <a:p>
            <a:pPr algn="l" indent="0" marL="0">
              <a:lnSpc>
                <a:spcPts val="1740"/>
              </a:lnSpc>
              <a:buNone/>
            </a:pPr>
            <a:r>
              <a:rPr lang="en-US" sz="1200" dirty="0">
                <a:solidFill>
                  <a:srgbClr val="D9E6F2"/>
                </a:solidFill>
                <a:latin typeface="Be Vietnam Pro" pitchFamily="34" charset="0"/>
                <a:ea typeface="Be Vietnam Pro" pitchFamily="34" charset="-122"/>
                <a:cs typeface="Be Vietnam Pro" pitchFamily="34" charset="-120"/>
              </a:rPr>
              <a:t>Tra cứu dữ liệu của nhiều</a:t>
            </a:r>
            <a:endParaRPr lang="en-US" sz="1200" dirty="0"/>
          </a:p>
          <a:p>
            <a:pPr algn="l" indent="0" marL="0">
              <a:lnSpc>
                <a:spcPts val="1740"/>
              </a:lnSpc>
              <a:buNone/>
            </a:pPr>
            <a:r>
              <a:rPr lang="en-US" sz="1200" dirty="0">
                <a:solidFill>
                  <a:srgbClr val="D9E6F2"/>
                </a:solidFill>
                <a:latin typeface="Be Vietnam Pro" pitchFamily="34" charset="0"/>
                <a:ea typeface="Be Vietnam Pro" pitchFamily="34" charset="-122"/>
                <a:cs typeface="Be Vietnam Pro" pitchFamily="34" charset="-120"/>
              </a:rPr>
              <a:t>năm trước chỉ trong vài</a:t>
            </a:r>
            <a:endParaRPr lang="en-US" sz="1200" dirty="0"/>
          </a:p>
          <a:p>
            <a:pPr algn="l" indent="0" marL="0">
              <a:lnSpc>
                <a:spcPts val="1740"/>
              </a:lnSpc>
              <a:buNone/>
            </a:pPr>
            <a:r>
              <a:rPr lang="en-US" sz="1200" dirty="0">
                <a:solidFill>
                  <a:srgbClr val="D9E6F2"/>
                </a:solidFill>
                <a:latin typeface="Be Vietnam Pro" pitchFamily="34" charset="0"/>
                <a:ea typeface="Be Vietnam Pro" pitchFamily="34" charset="-122"/>
                <a:cs typeface="Be Vietnam Pro" pitchFamily="34" charset="-120"/>
              </a:rPr>
              <a:t>giây.</a:t>
            </a:r>
            <a:endParaRPr lang="en-US" sz="1200" dirty="0"/>
          </a:p>
        </p:txBody>
      </p:sp>
      <p:sp>
        <p:nvSpPr>
          <p:cNvPr id="28" name="Shape 24"/>
          <p:cNvSpPr/>
          <p:nvPr/>
        </p:nvSpPr>
        <p:spPr>
          <a:xfrm>
            <a:off x="713232" y="4753102"/>
            <a:ext cx="10765231" cy="1051560"/>
          </a:xfrm>
          <a:prstGeom prst="roundRect">
            <a:avLst>
              <a:gd name="adj" fmla="val 10435"/>
            </a:avLst>
          </a:prstGeom>
          <a:solidFill>
            <a:srgbClr val="22C55E">
              <a:alpha val="12000"/>
            </a:srgbClr>
          </a:solidFill>
          <a:ln w="12700">
            <a:solidFill>
              <a:srgbClr val="22C55E">
                <a:alpha val="45000"/>
              </a:srgbClr>
            </a:solidFill>
            <a:prstDash val="solid"/>
          </a:ln>
        </p:spPr>
      </p:sp>
      <p:sp>
        <p:nvSpPr>
          <p:cNvPr id="29" name="Shape 25"/>
          <p:cNvSpPr/>
          <p:nvPr/>
        </p:nvSpPr>
        <p:spPr>
          <a:xfrm>
            <a:off x="713232" y="4753102"/>
            <a:ext cx="54864" cy="1051560"/>
          </a:xfrm>
          <a:prstGeom prst="roundRect">
            <a:avLst>
              <a:gd name="adj" fmla="val 50000"/>
            </a:avLst>
          </a:prstGeom>
          <a:solidFill>
            <a:srgbClr val="22C55E"/>
          </a:solidFill>
          <a:ln/>
        </p:spPr>
      </p:sp>
      <p:sp>
        <p:nvSpPr>
          <p:cNvPr id="30" name="Text 26"/>
          <p:cNvSpPr/>
          <p:nvPr/>
        </p:nvSpPr>
        <p:spPr>
          <a:xfrm>
            <a:off x="1097280" y="4954270"/>
            <a:ext cx="10088575" cy="607187"/>
          </a:xfrm>
          <a:prstGeom prst="rect">
            <a:avLst/>
          </a:prstGeom>
          <a:noFill/>
          <a:ln/>
        </p:spPr>
        <p:txBody>
          <a:bodyPr wrap="square" lIns="0" tIns="0" rIns="0" bIns="0" rtlCol="0" anchor="t"/>
          <a:lstStyle/>
          <a:p>
            <a:pPr algn="l" indent="0" marL="0">
              <a:lnSpc>
                <a:spcPts val="2103"/>
              </a:lnSpc>
              <a:buNone/>
            </a:pPr>
            <a:r>
              <a:rPr lang="en-US" sz="1450" b="1" dirty="0">
                <a:solidFill>
                  <a:srgbClr val="FFFFFF"/>
                </a:solidFill>
                <a:latin typeface="Be Vietnam Pro" pitchFamily="34" charset="0"/>
                <a:ea typeface="Be Vietnam Pro" pitchFamily="34" charset="-122"/>
                <a:cs typeface="Be Vietnam Pro" pitchFamily="34" charset="-120"/>
              </a:rPr>
              <a:t>Dựa trên dữ liệu thực tế của những năm trước, người quản lý lập kế hoạch dự trữ sát với nhu cầu hơn — chuẩn</a:t>
            </a:r>
            <a:endParaRPr lang="en-US" sz="1450" dirty="0"/>
          </a:p>
          <a:p>
            <a:pPr algn="l" indent="0" marL="0">
              <a:lnSpc>
                <a:spcPts val="2103"/>
              </a:lnSpc>
              <a:buNone/>
            </a:pPr>
            <a:r>
              <a:rPr lang="en-US" sz="1450" b="1" dirty="0">
                <a:solidFill>
                  <a:srgbClr val="FFFFFF"/>
                </a:solidFill>
                <a:latin typeface="Be Vietnam Pro" pitchFamily="34" charset="0"/>
                <a:ea typeface="Be Vietnam Pro" pitchFamily="34" charset="-122"/>
                <a:cs typeface="Be Vietnam Pro" pitchFamily="34" charset="-120"/>
              </a:rPr>
              <a:t>bị trước khi thiên tai đến, thay vì xoay xở khi đã xảy ra.</a:t>
            </a:r>
            <a:endParaRPr lang="en-US" sz="14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4101F"/>
        </a:solidFill>
      </p:bgPr>
    </p:bg>
    <p:spTree>
      <p:nvGrpSpPr>
        <p:cNvPr id="1" name=""/>
        <p:cNvGrpSpPr/>
        <p:nvPr/>
      </p:nvGrpSpPr>
      <p:grpSpPr>
        <a:xfrm>
          <a:off x="0" y="0"/>
          <a:ext cx="0" cy="0"/>
          <a:chOff x="0" y="0"/>
          <a:chExt cx="0" cy="0"/>
        </a:xfrm>
      </p:grpSpPr>
      <p:pic>
        <p:nvPicPr>
          <p:cNvPr id="2" name="Image 0" descr="bg-content.jp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4101F">
              <a:alpha val="34000"/>
            </a:srgbClr>
          </a:solidFill>
          <a:ln/>
        </p:spPr>
      </p:sp>
      <p:pic>
        <p:nvPicPr>
          <p:cNvPr id="4" name="Image 1" descr="mark-sm.png">    </p:cNvPr>
          <p:cNvPicPr>
            <a:picLocks noChangeAspect="1"/>
          </p:cNvPicPr>
          <p:nvPr/>
        </p:nvPicPr>
        <p:blipFill>
          <a:blip r:embed="rId2"/>
          <a:stretch>
            <a:fillRect/>
          </a:stretch>
        </p:blipFill>
        <p:spPr>
          <a:xfrm>
            <a:off x="713232" y="365760"/>
            <a:ext cx="310896" cy="310896"/>
          </a:xfrm>
          <a:prstGeom prst="rect">
            <a:avLst/>
          </a:prstGeom>
        </p:spPr>
      </p:pic>
      <p:sp>
        <p:nvSpPr>
          <p:cNvPr id="5" name="Text 1"/>
          <p:cNvSpPr/>
          <p:nvPr/>
        </p:nvSpPr>
        <p:spPr>
          <a:xfrm>
            <a:off x="1170432" y="384048"/>
            <a:ext cx="3749040" cy="261747"/>
          </a:xfrm>
          <a:prstGeom prst="rect">
            <a:avLst/>
          </a:prstGeom>
          <a:noFill/>
          <a:ln/>
        </p:spPr>
        <p:txBody>
          <a:bodyPr wrap="square" lIns="0" tIns="0" rIns="0" bIns="0" rtlCol="0" anchor="t"/>
          <a:lstStyle/>
          <a:p>
            <a:pPr algn="l" indent="0" marL="0">
              <a:lnSpc>
                <a:spcPts val="1485"/>
              </a:lnSpc>
              <a:buNone/>
            </a:pPr>
            <a:r>
              <a:rPr lang="en-US" sz="1100" b="1" spc="160" kern="0" dirty="0">
                <a:solidFill>
                  <a:srgbClr val="6EE7A8"/>
                </a:solidFill>
                <a:latin typeface="Be Vietnam Pro" pitchFamily="34" charset="0"/>
                <a:ea typeface="Be Vietnam Pro" pitchFamily="34" charset="-122"/>
                <a:cs typeface="Be Vietnam Pro" pitchFamily="34" charset="-120"/>
              </a:rPr>
              <a:t>ỨNG PHÓ NHANH</a:t>
            </a:r>
            <a:endParaRPr lang="en-US" sz="1100" dirty="0"/>
          </a:p>
        </p:txBody>
      </p:sp>
      <p:sp>
        <p:nvSpPr>
          <p:cNvPr id="6" name="Text 2"/>
          <p:cNvSpPr/>
          <p:nvPr/>
        </p:nvSpPr>
        <p:spPr>
          <a:xfrm>
            <a:off x="8643823" y="384048"/>
            <a:ext cx="2834640" cy="261747"/>
          </a:xfrm>
          <a:prstGeom prst="rect">
            <a:avLst/>
          </a:prstGeom>
          <a:noFill/>
          <a:ln/>
        </p:spPr>
        <p:txBody>
          <a:bodyPr wrap="square" lIns="0" tIns="0" rIns="0" bIns="0" rtlCol="0" anchor="t"/>
          <a:lstStyle/>
          <a:p>
            <a:pPr algn="r" indent="0" marL="0">
              <a:lnSpc>
                <a:spcPts val="1485"/>
              </a:lnSpc>
              <a:buNone/>
            </a:pPr>
            <a:r>
              <a:rPr lang="en-US" sz="1100" b="1" dirty="0">
                <a:solidFill>
                  <a:srgbClr val="7189A2"/>
                </a:solidFill>
                <a:latin typeface="Be Vietnam Pro" pitchFamily="34" charset="0"/>
                <a:ea typeface="Be Vietnam Pro" pitchFamily="34" charset="-122"/>
                <a:cs typeface="Be Vietnam Pro" pitchFamily="34" charset="-120"/>
              </a:rPr>
              <a:t>15 / 24</a:t>
            </a:r>
            <a:endParaRPr lang="en-US" sz="1100" dirty="0"/>
          </a:p>
        </p:txBody>
      </p:sp>
      <p:sp>
        <p:nvSpPr>
          <p:cNvPr id="7" name="Shape 3"/>
          <p:cNvSpPr/>
          <p:nvPr/>
        </p:nvSpPr>
        <p:spPr>
          <a:xfrm>
            <a:off x="713232" y="868680"/>
            <a:ext cx="10765231" cy="10973"/>
          </a:xfrm>
          <a:prstGeom prst="rect">
            <a:avLst/>
          </a:prstGeom>
          <a:solidFill>
            <a:srgbClr val="FFFFFF">
              <a:alpha val="16000"/>
            </a:srgbClr>
          </a:solidFill>
          <a:ln/>
        </p:spPr>
      </p:sp>
      <p:sp>
        <p:nvSpPr>
          <p:cNvPr id="8" name="Text 4"/>
          <p:cNvSpPr/>
          <p:nvPr/>
        </p:nvSpPr>
        <p:spPr>
          <a:xfrm>
            <a:off x="713232" y="1133856"/>
            <a:ext cx="8321040" cy="270320"/>
          </a:xfrm>
          <a:prstGeom prst="rect">
            <a:avLst/>
          </a:prstGeom>
          <a:noFill/>
          <a:ln/>
        </p:spPr>
        <p:txBody>
          <a:bodyPr wrap="square" lIns="0" tIns="0" rIns="0" bIns="0" rtlCol="0" anchor="t"/>
          <a:lstStyle/>
          <a:p>
            <a:pPr algn="l" indent="0" marL="0">
              <a:lnSpc>
                <a:spcPts val="1553"/>
              </a:lnSpc>
              <a:buNone/>
            </a:pPr>
            <a:r>
              <a:rPr lang="en-US" sz="1150" b="1" spc="220" kern="0" dirty="0">
                <a:solidFill>
                  <a:srgbClr val="22C55E"/>
                </a:solidFill>
                <a:latin typeface="Be Vietnam Pro" pitchFamily="34" charset="0"/>
                <a:ea typeface="Be Vietnam Pro" pitchFamily="34" charset="-122"/>
                <a:cs typeface="Be Vietnam Pro" pitchFamily="34" charset="-120"/>
              </a:rPr>
              <a:t>VẬN HÀNH THƯỜNG NGÀY</a:t>
            </a:r>
            <a:endParaRPr lang="en-US" sz="1150" dirty="0"/>
          </a:p>
        </p:txBody>
      </p:sp>
      <p:sp>
        <p:nvSpPr>
          <p:cNvPr id="9" name="Text 5"/>
          <p:cNvSpPr/>
          <p:nvPr/>
        </p:nvSpPr>
        <p:spPr>
          <a:xfrm>
            <a:off x="713232" y="1426464"/>
            <a:ext cx="10490911" cy="537718"/>
          </a:xfrm>
          <a:prstGeom prst="rect">
            <a:avLst/>
          </a:prstGeom>
          <a:noFill/>
          <a:ln/>
        </p:spPr>
        <p:txBody>
          <a:bodyPr wrap="square" lIns="0" tIns="0" rIns="0" bIns="0" rtlCol="0" anchor="t"/>
          <a:lstStyle/>
          <a:p>
            <a:pPr algn="l" indent="0" marL="0">
              <a:lnSpc>
                <a:spcPts val="3658"/>
              </a:lnSpc>
              <a:buNone/>
            </a:pPr>
            <a:r>
              <a:rPr lang="en-US" sz="3100" b="1" dirty="0">
                <a:solidFill>
                  <a:srgbClr val="FFFFFF"/>
                </a:solidFill>
                <a:latin typeface="Be Vietnam Pro" pitchFamily="34" charset="0"/>
                <a:ea typeface="Be Vietnam Pro" pitchFamily="34" charset="-122"/>
                <a:cs typeface="Be Vietnam Pro" pitchFamily="34" charset="-120"/>
              </a:rPr>
              <a:t>Khi không có thiên tai, hệ thống vẫn tạo ra giá trị</a:t>
            </a:r>
            <a:endParaRPr lang="en-US" sz="3100" dirty="0"/>
          </a:p>
        </p:txBody>
      </p:sp>
      <p:sp>
        <p:nvSpPr>
          <p:cNvPr id="10" name="Shape 6"/>
          <p:cNvSpPr/>
          <p:nvPr/>
        </p:nvSpPr>
        <p:spPr>
          <a:xfrm>
            <a:off x="713232" y="6272784"/>
            <a:ext cx="10765231" cy="9144"/>
          </a:xfrm>
          <a:prstGeom prst="rect">
            <a:avLst/>
          </a:prstGeom>
          <a:solidFill>
            <a:srgbClr val="FFFFFF">
              <a:alpha val="10000"/>
            </a:srgbClr>
          </a:solidFill>
          <a:ln/>
        </p:spPr>
      </p:sp>
      <p:sp>
        <p:nvSpPr>
          <p:cNvPr id="11" name="Text 7"/>
          <p:cNvSpPr/>
          <p:nvPr/>
        </p:nvSpPr>
        <p:spPr>
          <a:xfrm>
            <a:off x="8643823" y="6382512"/>
            <a:ext cx="2834640" cy="236030"/>
          </a:xfrm>
          <a:prstGeom prst="rect">
            <a:avLst/>
          </a:prstGeom>
          <a:noFill/>
          <a:ln/>
        </p:spPr>
        <p:txBody>
          <a:bodyPr wrap="square" lIns="0" tIns="0" rIns="0" bIns="0" rtlCol="0" anchor="t"/>
          <a:lstStyle/>
          <a:p>
            <a:pPr algn="r" indent="0" marL="0">
              <a:lnSpc>
                <a:spcPts val="1283"/>
              </a:lnSpc>
              <a:buNone/>
            </a:pPr>
            <a:r>
              <a:rPr lang="en-US" sz="950" dirty="0">
                <a:solidFill>
                  <a:srgbClr val="7189A2"/>
                </a:solidFill>
                <a:latin typeface="Be Vietnam Pro" pitchFamily="34" charset="0"/>
                <a:ea typeface="Be Vietnam Pro" pitchFamily="34" charset="-122"/>
                <a:cs typeface="Be Vietnam Pro" pitchFamily="34" charset="-120"/>
              </a:rPr>
              <a:t>ungphonhanh.life</a:t>
            </a:r>
            <a:endParaRPr lang="en-US" sz="950" dirty="0"/>
          </a:p>
        </p:txBody>
      </p:sp>
      <p:sp>
        <p:nvSpPr>
          <p:cNvPr id="12" name="Shape 8"/>
          <p:cNvSpPr/>
          <p:nvPr/>
        </p:nvSpPr>
        <p:spPr>
          <a:xfrm>
            <a:off x="713232" y="2220214"/>
            <a:ext cx="5486400" cy="3931920"/>
          </a:xfrm>
          <a:prstGeom prst="roundRect">
            <a:avLst>
              <a:gd name="adj" fmla="val 2791"/>
            </a:avLst>
          </a:prstGeom>
          <a:solidFill>
            <a:srgbClr val="091B2D">
              <a:alpha val="66000"/>
            </a:srgbClr>
          </a:solidFill>
          <a:ln w="12700">
            <a:solidFill>
              <a:srgbClr val="FFFFFF">
                <a:alpha val="12000"/>
              </a:srgbClr>
            </a:solidFill>
            <a:prstDash val="solid"/>
          </a:ln>
        </p:spPr>
      </p:sp>
      <p:sp>
        <p:nvSpPr>
          <p:cNvPr id="13" name="Shape 9"/>
          <p:cNvSpPr/>
          <p:nvPr/>
        </p:nvSpPr>
        <p:spPr>
          <a:xfrm>
            <a:off x="713232" y="2220214"/>
            <a:ext cx="50292" cy="3931920"/>
          </a:xfrm>
          <a:prstGeom prst="roundRect">
            <a:avLst>
              <a:gd name="adj" fmla="val 54545"/>
            </a:avLst>
          </a:prstGeom>
          <a:solidFill>
            <a:srgbClr val="22C55E">
              <a:alpha val="95000"/>
            </a:srgbClr>
          </a:solidFill>
          <a:ln/>
        </p:spPr>
      </p:sp>
      <p:sp>
        <p:nvSpPr>
          <p:cNvPr id="14" name="Text 10"/>
          <p:cNvSpPr/>
          <p:nvPr/>
        </p:nvSpPr>
        <p:spPr>
          <a:xfrm>
            <a:off x="1042416" y="2476246"/>
            <a:ext cx="4919472" cy="253175"/>
          </a:xfrm>
          <a:prstGeom prst="rect">
            <a:avLst/>
          </a:prstGeom>
          <a:noFill/>
          <a:ln/>
        </p:spPr>
        <p:txBody>
          <a:bodyPr wrap="square" lIns="0" tIns="0" rIns="0" bIns="0" rtlCol="0" anchor="t"/>
          <a:lstStyle/>
          <a:p>
            <a:pPr algn="l" indent="0" marL="0">
              <a:lnSpc>
                <a:spcPts val="1418"/>
              </a:lnSpc>
              <a:buNone/>
            </a:pPr>
            <a:r>
              <a:rPr lang="en-US" sz="1050" b="1" spc="180" kern="0" dirty="0">
                <a:solidFill>
                  <a:srgbClr val="22C55E"/>
                </a:solidFill>
                <a:latin typeface="Be Vietnam Pro" pitchFamily="34" charset="0"/>
                <a:ea typeface="Be Vietnam Pro" pitchFamily="34" charset="-122"/>
                <a:cs typeface="Be Vietnam Pro" pitchFamily="34" charset="-120"/>
              </a:rPr>
              <a:t>QUẢN LÝ TẬP TRUNG MỘT NƠI</a:t>
            </a:r>
            <a:endParaRPr lang="en-US" sz="1050" dirty="0"/>
          </a:p>
        </p:txBody>
      </p:sp>
      <p:sp>
        <p:nvSpPr>
          <p:cNvPr id="15" name="Shape 11"/>
          <p:cNvSpPr/>
          <p:nvPr/>
        </p:nvSpPr>
        <p:spPr>
          <a:xfrm>
            <a:off x="1042416" y="2878582"/>
            <a:ext cx="2194560" cy="960120"/>
          </a:xfrm>
          <a:prstGeom prst="roundRect">
            <a:avLst>
              <a:gd name="adj" fmla="val 9524"/>
            </a:avLst>
          </a:prstGeom>
          <a:solidFill>
            <a:srgbClr val="FFFFFF">
              <a:alpha val="7000"/>
            </a:srgbClr>
          </a:solidFill>
          <a:ln w="12700">
            <a:solidFill>
              <a:srgbClr val="FFFFFF">
                <a:alpha val="14000"/>
              </a:srgbClr>
            </a:solidFill>
            <a:prstDash val="solid"/>
          </a:ln>
        </p:spPr>
      </p:sp>
      <p:sp>
        <p:nvSpPr>
          <p:cNvPr id="16" name="Text 12"/>
          <p:cNvSpPr/>
          <p:nvPr/>
        </p:nvSpPr>
        <p:spPr>
          <a:xfrm>
            <a:off x="1261872" y="2970022"/>
            <a:ext cx="1828800" cy="587502"/>
          </a:xfrm>
          <a:prstGeom prst="rect">
            <a:avLst/>
          </a:prstGeom>
          <a:noFill/>
          <a:ln/>
        </p:spPr>
        <p:txBody>
          <a:bodyPr wrap="square" lIns="0" tIns="0" rIns="0" bIns="0" rtlCol="0" anchor="t"/>
          <a:lstStyle/>
          <a:p>
            <a:pPr algn="l" indent="0" marL="0">
              <a:lnSpc>
                <a:spcPts val="4050"/>
              </a:lnSpc>
              <a:buNone/>
            </a:pPr>
            <a:r>
              <a:rPr lang="en-US" sz="3000" b="1" dirty="0">
                <a:solidFill>
                  <a:srgbClr val="6EE7A8"/>
                </a:solidFill>
                <a:latin typeface="Be Vietnam Pro" pitchFamily="34" charset="0"/>
                <a:ea typeface="Be Vietnam Pro" pitchFamily="34" charset="-122"/>
                <a:cs typeface="Be Vietnam Pro" pitchFamily="34" charset="-120"/>
              </a:rPr>
              <a:t>01</a:t>
            </a:r>
            <a:endParaRPr lang="en-US" sz="3000" dirty="0"/>
          </a:p>
        </p:txBody>
      </p:sp>
      <p:sp>
        <p:nvSpPr>
          <p:cNvPr id="17" name="Text 13"/>
          <p:cNvSpPr/>
          <p:nvPr/>
        </p:nvSpPr>
        <p:spPr>
          <a:xfrm>
            <a:off x="2002536" y="3354070"/>
            <a:ext cx="1188720" cy="296037"/>
          </a:xfrm>
          <a:prstGeom prst="rect">
            <a:avLst/>
          </a:prstGeom>
          <a:noFill/>
          <a:ln/>
        </p:spPr>
        <p:txBody>
          <a:bodyPr wrap="square" lIns="0" tIns="0" rIns="0" bIns="0" rtlCol="0" anchor="t"/>
          <a:lstStyle/>
          <a:p>
            <a:pPr algn="l" indent="0" marL="0">
              <a:lnSpc>
                <a:spcPts val="1755"/>
              </a:lnSpc>
              <a:buNone/>
            </a:pPr>
            <a:r>
              <a:rPr lang="en-US" sz="1300" b="1" dirty="0">
                <a:solidFill>
                  <a:srgbClr val="D9E6F2"/>
                </a:solidFill>
                <a:latin typeface="Be Vietnam Pro" pitchFamily="34" charset="0"/>
                <a:ea typeface="Be Vietnam Pro" pitchFamily="34" charset="-122"/>
                <a:cs typeface="Be Vietnam Pro" pitchFamily="34" charset="-120"/>
              </a:rPr>
              <a:t>kho tổng</a:t>
            </a:r>
            <a:endParaRPr lang="en-US" sz="1300" dirty="0"/>
          </a:p>
        </p:txBody>
      </p:sp>
      <p:sp>
        <p:nvSpPr>
          <p:cNvPr id="18" name="Shape 14"/>
          <p:cNvSpPr/>
          <p:nvPr/>
        </p:nvSpPr>
        <p:spPr>
          <a:xfrm>
            <a:off x="3511296" y="2878582"/>
            <a:ext cx="2194560" cy="960120"/>
          </a:xfrm>
          <a:prstGeom prst="roundRect">
            <a:avLst>
              <a:gd name="adj" fmla="val 9524"/>
            </a:avLst>
          </a:prstGeom>
          <a:solidFill>
            <a:srgbClr val="FFFFFF">
              <a:alpha val="7000"/>
            </a:srgbClr>
          </a:solidFill>
          <a:ln w="12700">
            <a:solidFill>
              <a:srgbClr val="FFFFFF">
                <a:alpha val="14000"/>
              </a:srgbClr>
            </a:solidFill>
            <a:prstDash val="solid"/>
          </a:ln>
        </p:spPr>
      </p:sp>
      <p:sp>
        <p:nvSpPr>
          <p:cNvPr id="19" name="Text 15"/>
          <p:cNvSpPr/>
          <p:nvPr/>
        </p:nvSpPr>
        <p:spPr>
          <a:xfrm>
            <a:off x="3730752" y="2970022"/>
            <a:ext cx="1828800" cy="587502"/>
          </a:xfrm>
          <a:prstGeom prst="rect">
            <a:avLst/>
          </a:prstGeom>
          <a:noFill/>
          <a:ln/>
        </p:spPr>
        <p:txBody>
          <a:bodyPr wrap="square" lIns="0" tIns="0" rIns="0" bIns="0" rtlCol="0" anchor="t"/>
          <a:lstStyle/>
          <a:p>
            <a:pPr algn="l" indent="0" marL="0">
              <a:lnSpc>
                <a:spcPts val="4050"/>
              </a:lnSpc>
              <a:buNone/>
            </a:pPr>
            <a:r>
              <a:rPr lang="en-US" sz="3000" b="1" dirty="0">
                <a:solidFill>
                  <a:srgbClr val="6EE7A8"/>
                </a:solidFill>
                <a:latin typeface="Be Vietnam Pro" pitchFamily="34" charset="0"/>
                <a:ea typeface="Be Vietnam Pro" pitchFamily="34" charset="-122"/>
                <a:cs typeface="Be Vietnam Pro" pitchFamily="34" charset="-120"/>
              </a:rPr>
              <a:t>17</a:t>
            </a:r>
            <a:endParaRPr lang="en-US" sz="3000" dirty="0"/>
          </a:p>
        </p:txBody>
      </p:sp>
      <p:sp>
        <p:nvSpPr>
          <p:cNvPr id="20" name="Text 16"/>
          <p:cNvSpPr/>
          <p:nvPr/>
        </p:nvSpPr>
        <p:spPr>
          <a:xfrm>
            <a:off x="4471416" y="3354070"/>
            <a:ext cx="1188720" cy="296037"/>
          </a:xfrm>
          <a:prstGeom prst="rect">
            <a:avLst/>
          </a:prstGeom>
          <a:noFill/>
          <a:ln/>
        </p:spPr>
        <p:txBody>
          <a:bodyPr wrap="square" lIns="0" tIns="0" rIns="0" bIns="0" rtlCol="0" anchor="t"/>
          <a:lstStyle/>
          <a:p>
            <a:pPr algn="l" indent="0" marL="0">
              <a:lnSpc>
                <a:spcPts val="1755"/>
              </a:lnSpc>
              <a:buNone/>
            </a:pPr>
            <a:r>
              <a:rPr lang="en-US" sz="1300" b="1" dirty="0">
                <a:solidFill>
                  <a:srgbClr val="D9E6F2"/>
                </a:solidFill>
                <a:latin typeface="Be Vietnam Pro" pitchFamily="34" charset="0"/>
                <a:ea typeface="Be Vietnam Pro" pitchFamily="34" charset="-122"/>
                <a:cs typeface="Be Vietnam Pro" pitchFamily="34" charset="-120"/>
              </a:rPr>
              <a:t>kho thôn</a:t>
            </a:r>
            <a:endParaRPr lang="en-US" sz="1300" dirty="0"/>
          </a:p>
        </p:txBody>
      </p:sp>
      <p:sp>
        <p:nvSpPr>
          <p:cNvPr id="21" name="Text 17"/>
          <p:cNvSpPr/>
          <p:nvPr/>
        </p:nvSpPr>
        <p:spPr>
          <a:xfrm>
            <a:off x="1042416" y="4085590"/>
            <a:ext cx="4919472" cy="551942"/>
          </a:xfrm>
          <a:prstGeom prst="rect">
            <a:avLst/>
          </a:prstGeom>
          <a:noFill/>
          <a:ln/>
        </p:spPr>
        <p:txBody>
          <a:bodyPr wrap="square" lIns="0" tIns="0" rIns="0" bIns="0" rtlCol="0" anchor="t"/>
          <a:lstStyle/>
          <a:p>
            <a:pPr algn="l" indent="0" marL="0">
              <a:lnSpc>
                <a:spcPts val="1885"/>
              </a:lnSpc>
              <a:buNone/>
            </a:pPr>
            <a:r>
              <a:rPr lang="en-US" sz="1300" dirty="0">
                <a:solidFill>
                  <a:srgbClr val="D9E6F2"/>
                </a:solidFill>
                <a:latin typeface="Be Vietnam Pro" pitchFamily="34" charset="0"/>
                <a:ea typeface="Be Vietnam Pro" pitchFamily="34" charset="-122"/>
                <a:cs typeface="Be Vietnam Pro" pitchFamily="34" charset="-120"/>
              </a:rPr>
              <a:t>Số lượng vật tư, lịch sử nhập — xuất và thông tin của từng</a:t>
            </a:r>
            <a:endParaRPr lang="en-US" sz="1300" dirty="0"/>
          </a:p>
          <a:p>
            <a:pPr algn="l" indent="0" marL="0">
              <a:lnSpc>
                <a:spcPts val="1885"/>
              </a:lnSpc>
              <a:buNone/>
            </a:pPr>
            <a:r>
              <a:rPr lang="en-US" sz="1300" dirty="0">
                <a:solidFill>
                  <a:srgbClr val="D9E6F2"/>
                </a:solidFill>
                <a:latin typeface="Be Vietnam Pro" pitchFamily="34" charset="0"/>
                <a:ea typeface="Be Vietnam Pro" pitchFamily="34" charset="-122"/>
                <a:cs typeface="Be Vietnam Pro" pitchFamily="34" charset="-120"/>
              </a:rPr>
              <a:t>kho đều nằm trên một hệ thống.</a:t>
            </a:r>
            <a:endParaRPr lang="en-US" sz="1300" dirty="0"/>
          </a:p>
        </p:txBody>
      </p:sp>
      <p:sp>
        <p:nvSpPr>
          <p:cNvPr id="22" name="Shape 18"/>
          <p:cNvSpPr/>
          <p:nvPr/>
        </p:nvSpPr>
        <p:spPr>
          <a:xfrm>
            <a:off x="1042416" y="4835398"/>
            <a:ext cx="4828032" cy="9144"/>
          </a:xfrm>
          <a:prstGeom prst="rect">
            <a:avLst/>
          </a:prstGeom>
          <a:solidFill>
            <a:srgbClr val="FFFFFF">
              <a:alpha val="16000"/>
            </a:srgbClr>
          </a:solidFill>
          <a:ln/>
        </p:spPr>
      </p:sp>
      <p:sp>
        <p:nvSpPr>
          <p:cNvPr id="23" name="Text 19"/>
          <p:cNvSpPr/>
          <p:nvPr/>
        </p:nvSpPr>
        <p:spPr>
          <a:xfrm>
            <a:off x="1042416" y="4999990"/>
            <a:ext cx="4919472" cy="791337"/>
          </a:xfrm>
          <a:prstGeom prst="rect">
            <a:avLst/>
          </a:prstGeom>
          <a:noFill/>
          <a:ln/>
        </p:spPr>
        <p:txBody>
          <a:bodyPr wrap="square" lIns="0" tIns="0" rIns="0" bIns="0" rtlCol="0" anchor="t"/>
          <a:lstStyle/>
          <a:p>
            <a:pPr algn="l" indent="0" marL="0">
              <a:lnSpc>
                <a:spcPts val="1885"/>
              </a:lnSpc>
              <a:buNone/>
            </a:pPr>
            <a:r>
              <a:rPr lang="en-US" sz="1300" b="1" dirty="0">
                <a:solidFill>
                  <a:srgbClr val="6EE7A8"/>
                </a:solidFill>
                <a:latin typeface="Be Vietnam Pro" pitchFamily="34" charset="0"/>
                <a:ea typeface="Be Vietnam Pro" pitchFamily="34" charset="-122"/>
                <a:cs typeface="Be Vietnam Pro" pitchFamily="34" charset="-120"/>
              </a:rPr>
              <a:t>Cần kiểm tra một loại vật tư, người quản lý tra thẳng trên</a:t>
            </a:r>
            <a:endParaRPr lang="en-US" sz="1300" dirty="0"/>
          </a:p>
          <a:p>
            <a:pPr algn="l" indent="0" marL="0">
              <a:lnSpc>
                <a:spcPts val="1885"/>
              </a:lnSpc>
              <a:buNone/>
            </a:pPr>
            <a:r>
              <a:rPr lang="en-US" sz="1300" b="1" dirty="0">
                <a:solidFill>
                  <a:srgbClr val="6EE7A8"/>
                </a:solidFill>
                <a:latin typeface="Be Vietnam Pro" pitchFamily="34" charset="0"/>
                <a:ea typeface="Be Vietnam Pro" pitchFamily="34" charset="-122"/>
                <a:cs typeface="Be Vietnam Pro" pitchFamily="34" charset="-120"/>
              </a:rPr>
              <a:t>hệ thống thay vì gọi điện hỏi từng thôn — mỗi cuộc gọi vài</a:t>
            </a:r>
            <a:endParaRPr lang="en-US" sz="1300" dirty="0"/>
          </a:p>
          <a:p>
            <a:pPr algn="l" indent="0" marL="0">
              <a:lnSpc>
                <a:spcPts val="1885"/>
              </a:lnSpc>
              <a:buNone/>
            </a:pPr>
            <a:r>
              <a:rPr lang="en-US" sz="1300" b="1" dirty="0">
                <a:solidFill>
                  <a:srgbClr val="6EE7A8"/>
                </a:solidFill>
                <a:latin typeface="Be Vietnam Pro" pitchFamily="34" charset="0"/>
                <a:ea typeface="Be Vietnam Pro" pitchFamily="34" charset="-122"/>
                <a:cs typeface="Be Vietnam Pro" pitchFamily="34" charset="-120"/>
              </a:rPr>
              <a:t>phút, giữa lúc nước đang lên.</a:t>
            </a:r>
            <a:endParaRPr lang="en-US" sz="1300" dirty="0"/>
          </a:p>
        </p:txBody>
      </p:sp>
      <p:sp>
        <p:nvSpPr>
          <p:cNvPr id="24" name="Shape 20"/>
          <p:cNvSpPr/>
          <p:nvPr/>
        </p:nvSpPr>
        <p:spPr>
          <a:xfrm>
            <a:off x="6537960" y="2220214"/>
            <a:ext cx="4940503" cy="3931920"/>
          </a:xfrm>
          <a:prstGeom prst="roundRect">
            <a:avLst>
              <a:gd name="adj" fmla="val 2791"/>
            </a:avLst>
          </a:prstGeom>
          <a:solidFill>
            <a:srgbClr val="091B2D">
              <a:alpha val="66000"/>
            </a:srgbClr>
          </a:solidFill>
          <a:ln w="12700">
            <a:solidFill>
              <a:srgbClr val="FFFFFF">
                <a:alpha val="12000"/>
              </a:srgbClr>
            </a:solidFill>
            <a:prstDash val="solid"/>
          </a:ln>
        </p:spPr>
      </p:sp>
      <p:sp>
        <p:nvSpPr>
          <p:cNvPr id="25" name="Shape 21"/>
          <p:cNvSpPr/>
          <p:nvPr/>
        </p:nvSpPr>
        <p:spPr>
          <a:xfrm>
            <a:off x="6537960" y="2220214"/>
            <a:ext cx="50292" cy="3931920"/>
          </a:xfrm>
          <a:prstGeom prst="roundRect">
            <a:avLst>
              <a:gd name="adj" fmla="val 54545"/>
            </a:avLst>
          </a:prstGeom>
          <a:solidFill>
            <a:srgbClr val="FBBF24">
              <a:alpha val="95000"/>
            </a:srgbClr>
          </a:solidFill>
          <a:ln/>
        </p:spPr>
      </p:sp>
      <p:sp>
        <p:nvSpPr>
          <p:cNvPr id="26" name="Text 22"/>
          <p:cNvSpPr/>
          <p:nvPr/>
        </p:nvSpPr>
        <p:spPr>
          <a:xfrm>
            <a:off x="6848856" y="2476246"/>
            <a:ext cx="4410151" cy="253175"/>
          </a:xfrm>
          <a:prstGeom prst="rect">
            <a:avLst/>
          </a:prstGeom>
          <a:noFill/>
          <a:ln/>
        </p:spPr>
        <p:txBody>
          <a:bodyPr wrap="square" lIns="0" tIns="0" rIns="0" bIns="0" rtlCol="0" anchor="t"/>
          <a:lstStyle/>
          <a:p>
            <a:pPr algn="l" indent="0" marL="0">
              <a:lnSpc>
                <a:spcPts val="1418"/>
              </a:lnSpc>
              <a:buNone/>
            </a:pPr>
            <a:r>
              <a:rPr lang="en-US" sz="1050" b="1" spc="180" kern="0" dirty="0">
                <a:solidFill>
                  <a:srgbClr val="FBBF24"/>
                </a:solidFill>
                <a:latin typeface="Be Vietnam Pro" pitchFamily="34" charset="0"/>
                <a:ea typeface="Be Vietnam Pro" pitchFamily="34" charset="-122"/>
                <a:cs typeface="Be Vietnam Pro" pitchFamily="34" charset="-120"/>
              </a:rPr>
              <a:t>MỘT SAI LẦM HỆ THỐNG NGĂN ĐƯỢC</a:t>
            </a:r>
            <a:endParaRPr lang="en-US" sz="1050" dirty="0"/>
          </a:p>
        </p:txBody>
      </p:sp>
      <p:sp>
        <p:nvSpPr>
          <p:cNvPr id="27" name="Text 23"/>
          <p:cNvSpPr/>
          <p:nvPr/>
        </p:nvSpPr>
        <p:spPr>
          <a:xfrm>
            <a:off x="6848856" y="2860294"/>
            <a:ext cx="4410151" cy="791337"/>
          </a:xfrm>
          <a:prstGeom prst="rect">
            <a:avLst/>
          </a:prstGeom>
          <a:noFill/>
          <a:ln/>
        </p:spPr>
        <p:txBody>
          <a:bodyPr wrap="square" lIns="0" tIns="0" rIns="0" bIns="0" rtlCol="0" anchor="t"/>
          <a:lstStyle/>
          <a:p>
            <a:pPr algn="l" indent="0" marL="0">
              <a:lnSpc>
                <a:spcPts val="1885"/>
              </a:lnSpc>
              <a:buNone/>
            </a:pPr>
            <a:r>
              <a:rPr lang="en-US" sz="1300" dirty="0">
                <a:solidFill>
                  <a:srgbClr val="D9E6F2"/>
                </a:solidFill>
                <a:latin typeface="Be Vietnam Pro" pitchFamily="34" charset="0"/>
                <a:ea typeface="Be Vietnam Pro" pitchFamily="34" charset="-122"/>
                <a:cs typeface="Be Vietnam Pro" pitchFamily="34" charset="-120"/>
              </a:rPr>
              <a:t>Nhìn con số ở kho tổng rồi kết luận cả xã hết hàng, đi</a:t>
            </a:r>
            <a:endParaRPr lang="en-US" sz="1300" dirty="0"/>
          </a:p>
          <a:p>
            <a:pPr algn="l" indent="0" marL="0">
              <a:lnSpc>
                <a:spcPts val="1885"/>
              </a:lnSpc>
              <a:buNone/>
            </a:pPr>
            <a:r>
              <a:rPr lang="en-US" sz="1300" dirty="0">
                <a:solidFill>
                  <a:srgbClr val="D9E6F2"/>
                </a:solidFill>
                <a:latin typeface="Be Vietnam Pro" pitchFamily="34" charset="0"/>
                <a:ea typeface="Be Vietnam Pro" pitchFamily="34" charset="-122"/>
                <a:cs typeface="Be Vietnam Pro" pitchFamily="34" charset="-120"/>
              </a:rPr>
              <a:t>xin chi viện — trong khi thứ mình cần đang nằm ở thôn</a:t>
            </a:r>
            <a:endParaRPr lang="en-US" sz="1300" dirty="0"/>
          </a:p>
          <a:p>
            <a:pPr algn="l" indent="0" marL="0">
              <a:lnSpc>
                <a:spcPts val="1885"/>
              </a:lnSpc>
              <a:buNone/>
            </a:pPr>
            <a:r>
              <a:rPr lang="en-US" sz="1300" dirty="0">
                <a:solidFill>
                  <a:srgbClr val="D9E6F2"/>
                </a:solidFill>
                <a:latin typeface="Be Vietnam Pro" pitchFamily="34" charset="0"/>
                <a:ea typeface="Be Vietnam Pro" pitchFamily="34" charset="-122"/>
                <a:cs typeface="Be Vietnam Pro" pitchFamily="34" charset="-120"/>
              </a:rPr>
              <a:t>bên cạnh.</a:t>
            </a:r>
            <a:endParaRPr lang="en-US" sz="1300" dirty="0"/>
          </a:p>
        </p:txBody>
      </p:sp>
      <p:sp>
        <p:nvSpPr>
          <p:cNvPr id="28" name="Shape 24"/>
          <p:cNvSpPr/>
          <p:nvPr/>
        </p:nvSpPr>
        <p:spPr>
          <a:xfrm>
            <a:off x="6848856" y="4003294"/>
            <a:ext cx="4318711" cy="713232"/>
          </a:xfrm>
          <a:prstGeom prst="roundRect">
            <a:avLst>
              <a:gd name="adj" fmla="val 12821"/>
            </a:avLst>
          </a:prstGeom>
          <a:solidFill>
            <a:srgbClr val="FFFFFF">
              <a:alpha val="6000"/>
            </a:srgbClr>
          </a:solidFill>
          <a:ln w="12700">
            <a:solidFill>
              <a:srgbClr val="F87171">
                <a:alpha val="32000"/>
              </a:srgbClr>
            </a:solidFill>
            <a:prstDash val="solid"/>
          </a:ln>
        </p:spPr>
      </p:sp>
      <p:sp>
        <p:nvSpPr>
          <p:cNvPr id="29" name="Text 25"/>
          <p:cNvSpPr/>
          <p:nvPr/>
        </p:nvSpPr>
        <p:spPr>
          <a:xfrm>
            <a:off x="7013448" y="4094734"/>
            <a:ext cx="4080967" cy="296037"/>
          </a:xfrm>
          <a:prstGeom prst="rect">
            <a:avLst/>
          </a:prstGeom>
          <a:noFill/>
          <a:ln/>
        </p:spPr>
        <p:txBody>
          <a:bodyPr wrap="square" lIns="0" tIns="0" rIns="0" bIns="0" rtlCol="0" anchor="t"/>
          <a:lstStyle/>
          <a:p>
            <a:pPr algn="l" indent="0" marL="0">
              <a:lnSpc>
                <a:spcPts val="1755"/>
              </a:lnSpc>
              <a:buNone/>
            </a:pPr>
            <a:r>
              <a:rPr lang="en-US" sz="1300" b="1" dirty="0">
                <a:solidFill>
                  <a:srgbClr val="FFFFFF"/>
                </a:solidFill>
                <a:latin typeface="Be Vietnam Pro" pitchFamily="34" charset="0"/>
                <a:ea typeface="Be Vietnam Pro" pitchFamily="34" charset="-122"/>
                <a:cs typeface="Be Vietnam Pro" pitchFamily="34" charset="-120"/>
              </a:rPr>
              <a:t>Kho tổng</a:t>
            </a:r>
            <a:endParaRPr lang="en-US" sz="1300" dirty="0"/>
          </a:p>
        </p:txBody>
      </p:sp>
      <p:sp>
        <p:nvSpPr>
          <p:cNvPr id="30" name="Text 26"/>
          <p:cNvSpPr/>
          <p:nvPr/>
        </p:nvSpPr>
        <p:spPr>
          <a:xfrm>
            <a:off x="7013448" y="4378198"/>
            <a:ext cx="4080967" cy="270320"/>
          </a:xfrm>
          <a:prstGeom prst="rect">
            <a:avLst/>
          </a:prstGeom>
          <a:noFill/>
          <a:ln/>
        </p:spPr>
        <p:txBody>
          <a:bodyPr wrap="square" lIns="0" tIns="0" rIns="0" bIns="0" rtlCol="0" anchor="t"/>
          <a:lstStyle/>
          <a:p>
            <a:pPr algn="l" indent="0" marL="0">
              <a:lnSpc>
                <a:spcPts val="1553"/>
              </a:lnSpc>
              <a:buNone/>
            </a:pPr>
            <a:r>
              <a:rPr lang="en-US" sz="1150" dirty="0">
                <a:solidFill>
                  <a:srgbClr val="F87171"/>
                </a:solidFill>
                <a:latin typeface="Be Vietnam Pro" pitchFamily="34" charset="0"/>
                <a:ea typeface="Be Vietnam Pro" pitchFamily="34" charset="-122"/>
                <a:cs typeface="Be Vietnam Pro" pitchFamily="34" charset="-120"/>
              </a:rPr>
              <a:t>còn rất ít bộ sơ cứu</a:t>
            </a:r>
            <a:endParaRPr lang="en-US" sz="1150" dirty="0"/>
          </a:p>
        </p:txBody>
      </p:sp>
      <p:sp>
        <p:nvSpPr>
          <p:cNvPr id="31" name="Shape 27"/>
          <p:cNvSpPr/>
          <p:nvPr/>
        </p:nvSpPr>
        <p:spPr>
          <a:xfrm>
            <a:off x="6848856" y="4826254"/>
            <a:ext cx="4318711" cy="713232"/>
          </a:xfrm>
          <a:prstGeom prst="roundRect">
            <a:avLst>
              <a:gd name="adj" fmla="val 12821"/>
            </a:avLst>
          </a:prstGeom>
          <a:solidFill>
            <a:srgbClr val="FFFFFF">
              <a:alpha val="6000"/>
            </a:srgbClr>
          </a:solidFill>
          <a:ln w="12700">
            <a:solidFill>
              <a:srgbClr val="22C55E">
                <a:alpha val="32000"/>
              </a:srgbClr>
            </a:solidFill>
            <a:prstDash val="solid"/>
          </a:ln>
        </p:spPr>
      </p:sp>
      <p:sp>
        <p:nvSpPr>
          <p:cNvPr id="32" name="Text 28"/>
          <p:cNvSpPr/>
          <p:nvPr/>
        </p:nvSpPr>
        <p:spPr>
          <a:xfrm>
            <a:off x="7013448" y="4917694"/>
            <a:ext cx="4080967" cy="296037"/>
          </a:xfrm>
          <a:prstGeom prst="rect">
            <a:avLst/>
          </a:prstGeom>
          <a:noFill/>
          <a:ln/>
        </p:spPr>
        <p:txBody>
          <a:bodyPr wrap="square" lIns="0" tIns="0" rIns="0" bIns="0" rtlCol="0" anchor="t"/>
          <a:lstStyle/>
          <a:p>
            <a:pPr algn="l" indent="0" marL="0">
              <a:lnSpc>
                <a:spcPts val="1755"/>
              </a:lnSpc>
              <a:buNone/>
            </a:pPr>
            <a:r>
              <a:rPr lang="en-US" sz="1300" b="1" dirty="0">
                <a:solidFill>
                  <a:srgbClr val="FFFFFF"/>
                </a:solidFill>
                <a:latin typeface="Be Vietnam Pro" pitchFamily="34" charset="0"/>
                <a:ea typeface="Be Vietnam Pro" pitchFamily="34" charset="-122"/>
                <a:cs typeface="Be Vietnam Pro" pitchFamily="34" charset="-120"/>
              </a:rPr>
              <a:t>Kho thôn Long Châu</a:t>
            </a:r>
            <a:endParaRPr lang="en-US" sz="1300" dirty="0"/>
          </a:p>
        </p:txBody>
      </p:sp>
      <p:sp>
        <p:nvSpPr>
          <p:cNvPr id="33" name="Text 29"/>
          <p:cNvSpPr/>
          <p:nvPr/>
        </p:nvSpPr>
        <p:spPr>
          <a:xfrm>
            <a:off x="7013448" y="5201158"/>
            <a:ext cx="4080967" cy="270320"/>
          </a:xfrm>
          <a:prstGeom prst="rect">
            <a:avLst/>
          </a:prstGeom>
          <a:noFill/>
          <a:ln/>
        </p:spPr>
        <p:txBody>
          <a:bodyPr wrap="square" lIns="0" tIns="0" rIns="0" bIns="0" rtlCol="0" anchor="t"/>
          <a:lstStyle/>
          <a:p>
            <a:pPr algn="l" indent="0" marL="0">
              <a:lnSpc>
                <a:spcPts val="1553"/>
              </a:lnSpc>
              <a:buNone/>
            </a:pPr>
            <a:r>
              <a:rPr lang="en-US" sz="1150" dirty="0">
                <a:solidFill>
                  <a:srgbClr val="22C55E"/>
                </a:solidFill>
                <a:latin typeface="Be Vietnam Pro" pitchFamily="34" charset="0"/>
                <a:ea typeface="Be Vietnam Pro" pitchFamily="34" charset="-122"/>
                <a:cs typeface="Be Vietnam Pro" pitchFamily="34" charset="-120"/>
              </a:rPr>
              <a:t>hơn 1.600 bộ, cách 4 km</a:t>
            </a:r>
            <a:endParaRPr lang="en-US" sz="1150" dirty="0"/>
          </a:p>
        </p:txBody>
      </p:sp>
      <p:sp>
        <p:nvSpPr>
          <p:cNvPr id="34" name="Text 30"/>
          <p:cNvSpPr/>
          <p:nvPr/>
        </p:nvSpPr>
        <p:spPr>
          <a:xfrm>
            <a:off x="6848856" y="5722366"/>
            <a:ext cx="4410151" cy="287465"/>
          </a:xfrm>
          <a:prstGeom prst="rect">
            <a:avLst/>
          </a:prstGeom>
          <a:noFill/>
          <a:ln/>
        </p:spPr>
        <p:txBody>
          <a:bodyPr wrap="square" lIns="0" tIns="0" rIns="0" bIns="0" rtlCol="0" anchor="t"/>
          <a:lstStyle/>
          <a:p>
            <a:pPr algn="l" indent="0" marL="0">
              <a:lnSpc>
                <a:spcPts val="1688"/>
              </a:lnSpc>
              <a:buNone/>
            </a:pPr>
            <a:r>
              <a:rPr lang="en-US" sz="1250" b="1" dirty="0">
                <a:solidFill>
                  <a:srgbClr val="6EE7A8"/>
                </a:solidFill>
                <a:latin typeface="Be Vietnam Pro" pitchFamily="34" charset="0"/>
                <a:ea typeface="Be Vietnam Pro" pitchFamily="34" charset="-122"/>
                <a:cs typeface="Be Vietnam Pro" pitchFamily="34" charset="-120"/>
              </a:rPr>
              <a:t>Xe chạy 4 ki-lô-mét, thay vì gọi xin xã bên.</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4101F"/>
        </a:solidFill>
      </p:bgPr>
    </p:bg>
    <p:spTree>
      <p:nvGrpSpPr>
        <p:cNvPr id="1" name=""/>
        <p:cNvGrpSpPr/>
        <p:nvPr/>
      </p:nvGrpSpPr>
      <p:grpSpPr>
        <a:xfrm>
          <a:off x="0" y="0"/>
          <a:ext cx="0" cy="0"/>
          <a:chOff x="0" y="0"/>
          <a:chExt cx="0" cy="0"/>
        </a:xfrm>
      </p:grpSpPr>
      <p:pic>
        <p:nvPicPr>
          <p:cNvPr id="2" name="Image 0" descr="bg-content.jp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4101F">
              <a:alpha val="34000"/>
            </a:srgbClr>
          </a:solidFill>
          <a:ln/>
        </p:spPr>
      </p:sp>
      <p:pic>
        <p:nvPicPr>
          <p:cNvPr id="4" name="Image 1" descr="mark-sm.png">    </p:cNvPr>
          <p:cNvPicPr>
            <a:picLocks noChangeAspect="1"/>
          </p:cNvPicPr>
          <p:nvPr/>
        </p:nvPicPr>
        <p:blipFill>
          <a:blip r:embed="rId2"/>
          <a:stretch>
            <a:fillRect/>
          </a:stretch>
        </p:blipFill>
        <p:spPr>
          <a:xfrm>
            <a:off x="713232" y="365760"/>
            <a:ext cx="310896" cy="310896"/>
          </a:xfrm>
          <a:prstGeom prst="rect">
            <a:avLst/>
          </a:prstGeom>
        </p:spPr>
      </p:pic>
      <p:sp>
        <p:nvSpPr>
          <p:cNvPr id="5" name="Text 1"/>
          <p:cNvSpPr/>
          <p:nvPr/>
        </p:nvSpPr>
        <p:spPr>
          <a:xfrm>
            <a:off x="1170432" y="384048"/>
            <a:ext cx="3749040" cy="261747"/>
          </a:xfrm>
          <a:prstGeom prst="rect">
            <a:avLst/>
          </a:prstGeom>
          <a:noFill/>
          <a:ln/>
        </p:spPr>
        <p:txBody>
          <a:bodyPr wrap="square" lIns="0" tIns="0" rIns="0" bIns="0" rtlCol="0" anchor="t"/>
          <a:lstStyle/>
          <a:p>
            <a:pPr algn="l" indent="0" marL="0">
              <a:lnSpc>
                <a:spcPts val="1485"/>
              </a:lnSpc>
              <a:buNone/>
            </a:pPr>
            <a:r>
              <a:rPr lang="en-US" sz="1100" b="1" spc="160" kern="0" dirty="0">
                <a:solidFill>
                  <a:srgbClr val="6EE7A8"/>
                </a:solidFill>
                <a:latin typeface="Be Vietnam Pro" pitchFamily="34" charset="0"/>
                <a:ea typeface="Be Vietnam Pro" pitchFamily="34" charset="-122"/>
                <a:cs typeface="Be Vietnam Pro" pitchFamily="34" charset="-120"/>
              </a:rPr>
              <a:t>ỨNG PHÓ NHANH</a:t>
            </a:r>
            <a:endParaRPr lang="en-US" sz="1100" dirty="0"/>
          </a:p>
        </p:txBody>
      </p:sp>
      <p:sp>
        <p:nvSpPr>
          <p:cNvPr id="6" name="Text 2"/>
          <p:cNvSpPr/>
          <p:nvPr/>
        </p:nvSpPr>
        <p:spPr>
          <a:xfrm>
            <a:off x="8643823" y="384048"/>
            <a:ext cx="2834640" cy="261747"/>
          </a:xfrm>
          <a:prstGeom prst="rect">
            <a:avLst/>
          </a:prstGeom>
          <a:noFill/>
          <a:ln/>
        </p:spPr>
        <p:txBody>
          <a:bodyPr wrap="square" lIns="0" tIns="0" rIns="0" bIns="0" rtlCol="0" anchor="t"/>
          <a:lstStyle/>
          <a:p>
            <a:pPr algn="r" indent="0" marL="0">
              <a:lnSpc>
                <a:spcPts val="1485"/>
              </a:lnSpc>
              <a:buNone/>
            </a:pPr>
            <a:r>
              <a:rPr lang="en-US" sz="1100" b="1" dirty="0">
                <a:solidFill>
                  <a:srgbClr val="7189A2"/>
                </a:solidFill>
                <a:latin typeface="Be Vietnam Pro" pitchFamily="34" charset="0"/>
                <a:ea typeface="Be Vietnam Pro" pitchFamily="34" charset="-122"/>
                <a:cs typeface="Be Vietnam Pro" pitchFamily="34" charset="-120"/>
              </a:rPr>
              <a:t>16 / 24</a:t>
            </a:r>
            <a:endParaRPr lang="en-US" sz="1100" dirty="0"/>
          </a:p>
        </p:txBody>
      </p:sp>
      <p:sp>
        <p:nvSpPr>
          <p:cNvPr id="7" name="Shape 3"/>
          <p:cNvSpPr/>
          <p:nvPr/>
        </p:nvSpPr>
        <p:spPr>
          <a:xfrm>
            <a:off x="713232" y="868680"/>
            <a:ext cx="10765231" cy="10973"/>
          </a:xfrm>
          <a:prstGeom prst="rect">
            <a:avLst/>
          </a:prstGeom>
          <a:solidFill>
            <a:srgbClr val="FFFFFF">
              <a:alpha val="16000"/>
            </a:srgbClr>
          </a:solidFill>
          <a:ln/>
        </p:spPr>
      </p:sp>
      <p:sp>
        <p:nvSpPr>
          <p:cNvPr id="8" name="Text 4"/>
          <p:cNvSpPr/>
          <p:nvPr/>
        </p:nvSpPr>
        <p:spPr>
          <a:xfrm>
            <a:off x="713232" y="1133856"/>
            <a:ext cx="8321040" cy="270320"/>
          </a:xfrm>
          <a:prstGeom prst="rect">
            <a:avLst/>
          </a:prstGeom>
          <a:noFill/>
          <a:ln/>
        </p:spPr>
        <p:txBody>
          <a:bodyPr wrap="square" lIns="0" tIns="0" rIns="0" bIns="0" rtlCol="0" anchor="t"/>
          <a:lstStyle/>
          <a:p>
            <a:pPr algn="l" indent="0" marL="0">
              <a:lnSpc>
                <a:spcPts val="1553"/>
              </a:lnSpc>
              <a:buNone/>
            </a:pPr>
            <a:r>
              <a:rPr lang="en-US" sz="1150" b="1" spc="220" kern="0" dirty="0">
                <a:solidFill>
                  <a:srgbClr val="22C55E"/>
                </a:solidFill>
                <a:latin typeface="Be Vietnam Pro" pitchFamily="34" charset="0"/>
                <a:ea typeface="Be Vietnam Pro" pitchFamily="34" charset="-122"/>
                <a:cs typeface="Be Vietnam Pro" pitchFamily="34" charset="-120"/>
              </a:rPr>
              <a:t>TỒN KHO KHẢ DỤNG</a:t>
            </a:r>
            <a:endParaRPr lang="en-US" sz="1150" dirty="0"/>
          </a:p>
        </p:txBody>
      </p:sp>
      <p:sp>
        <p:nvSpPr>
          <p:cNvPr id="9" name="Text 5"/>
          <p:cNvSpPr/>
          <p:nvPr/>
        </p:nvSpPr>
        <p:spPr>
          <a:xfrm>
            <a:off x="713232" y="1426464"/>
            <a:ext cx="10490911" cy="537718"/>
          </a:xfrm>
          <a:prstGeom prst="rect">
            <a:avLst/>
          </a:prstGeom>
          <a:noFill/>
          <a:ln/>
        </p:spPr>
        <p:txBody>
          <a:bodyPr wrap="square" lIns="0" tIns="0" rIns="0" bIns="0" rtlCol="0" anchor="t"/>
          <a:lstStyle/>
          <a:p>
            <a:pPr algn="l" indent="0" marL="0">
              <a:lnSpc>
                <a:spcPts val="3658"/>
              </a:lnSpc>
              <a:buNone/>
            </a:pPr>
            <a:r>
              <a:rPr lang="en-US" sz="3100" b="1" dirty="0">
                <a:solidFill>
                  <a:srgbClr val="FFFFFF"/>
                </a:solidFill>
                <a:latin typeface="Be Vietnam Pro" pitchFamily="34" charset="0"/>
                <a:ea typeface="Be Vietnam Pro" pitchFamily="34" charset="-122"/>
                <a:cs typeface="Be Vietnam Pro" pitchFamily="34" charset="-120"/>
              </a:rPr>
              <a:t>“Còn bao nhiêu” chưa phải là câu hỏi đúng</a:t>
            </a:r>
            <a:endParaRPr lang="en-US" sz="3100" dirty="0"/>
          </a:p>
        </p:txBody>
      </p:sp>
      <p:sp>
        <p:nvSpPr>
          <p:cNvPr id="10" name="Shape 6"/>
          <p:cNvSpPr/>
          <p:nvPr/>
        </p:nvSpPr>
        <p:spPr>
          <a:xfrm>
            <a:off x="713232" y="6272784"/>
            <a:ext cx="10765231" cy="9144"/>
          </a:xfrm>
          <a:prstGeom prst="rect">
            <a:avLst/>
          </a:prstGeom>
          <a:solidFill>
            <a:srgbClr val="FFFFFF">
              <a:alpha val="10000"/>
            </a:srgbClr>
          </a:solidFill>
          <a:ln/>
        </p:spPr>
      </p:sp>
      <p:sp>
        <p:nvSpPr>
          <p:cNvPr id="11" name="Text 7"/>
          <p:cNvSpPr/>
          <p:nvPr/>
        </p:nvSpPr>
        <p:spPr>
          <a:xfrm>
            <a:off x="8643823" y="6382512"/>
            <a:ext cx="2834640" cy="236030"/>
          </a:xfrm>
          <a:prstGeom prst="rect">
            <a:avLst/>
          </a:prstGeom>
          <a:noFill/>
          <a:ln/>
        </p:spPr>
        <p:txBody>
          <a:bodyPr wrap="square" lIns="0" tIns="0" rIns="0" bIns="0" rtlCol="0" anchor="t"/>
          <a:lstStyle/>
          <a:p>
            <a:pPr algn="r" indent="0" marL="0">
              <a:lnSpc>
                <a:spcPts val="1283"/>
              </a:lnSpc>
              <a:buNone/>
            </a:pPr>
            <a:r>
              <a:rPr lang="en-US" sz="950" dirty="0">
                <a:solidFill>
                  <a:srgbClr val="7189A2"/>
                </a:solidFill>
                <a:latin typeface="Be Vietnam Pro" pitchFamily="34" charset="0"/>
                <a:ea typeface="Be Vietnam Pro" pitchFamily="34" charset="-122"/>
                <a:cs typeface="Be Vietnam Pro" pitchFamily="34" charset="-120"/>
              </a:rPr>
              <a:t>ungphonhanh.life</a:t>
            </a:r>
            <a:endParaRPr lang="en-US" sz="950" dirty="0"/>
          </a:p>
        </p:txBody>
      </p:sp>
      <p:sp>
        <p:nvSpPr>
          <p:cNvPr id="12" name="Shape 8"/>
          <p:cNvSpPr/>
          <p:nvPr/>
        </p:nvSpPr>
        <p:spPr>
          <a:xfrm>
            <a:off x="713232" y="2220214"/>
            <a:ext cx="4206240" cy="3017520"/>
          </a:xfrm>
          <a:prstGeom prst="roundRect">
            <a:avLst>
              <a:gd name="adj" fmla="val 3636"/>
            </a:avLst>
          </a:prstGeom>
          <a:solidFill>
            <a:srgbClr val="091B2D">
              <a:alpha val="66000"/>
            </a:srgbClr>
          </a:solidFill>
          <a:ln w="12700">
            <a:solidFill>
              <a:srgbClr val="FFFFFF">
                <a:alpha val="12000"/>
              </a:srgbClr>
            </a:solidFill>
            <a:prstDash val="solid"/>
          </a:ln>
        </p:spPr>
      </p:sp>
      <p:sp>
        <p:nvSpPr>
          <p:cNvPr id="13" name="Shape 9"/>
          <p:cNvSpPr/>
          <p:nvPr/>
        </p:nvSpPr>
        <p:spPr>
          <a:xfrm>
            <a:off x="713232" y="2220214"/>
            <a:ext cx="50292" cy="3017520"/>
          </a:xfrm>
          <a:prstGeom prst="roundRect">
            <a:avLst>
              <a:gd name="adj" fmla="val 54545"/>
            </a:avLst>
          </a:prstGeom>
          <a:solidFill>
            <a:srgbClr val="38BDF8">
              <a:alpha val="95000"/>
            </a:srgbClr>
          </a:solidFill>
          <a:ln/>
        </p:spPr>
      </p:sp>
      <p:sp>
        <p:nvSpPr>
          <p:cNvPr id="14" name="Text 10"/>
          <p:cNvSpPr/>
          <p:nvPr/>
        </p:nvSpPr>
        <p:spPr>
          <a:xfrm>
            <a:off x="1042416" y="2512822"/>
            <a:ext cx="3639312" cy="253175"/>
          </a:xfrm>
          <a:prstGeom prst="rect">
            <a:avLst/>
          </a:prstGeom>
          <a:noFill/>
          <a:ln/>
        </p:spPr>
        <p:txBody>
          <a:bodyPr wrap="square" lIns="0" tIns="0" rIns="0" bIns="0" rtlCol="0" anchor="t"/>
          <a:lstStyle/>
          <a:p>
            <a:pPr algn="l" indent="0" marL="0">
              <a:lnSpc>
                <a:spcPts val="1418"/>
              </a:lnSpc>
              <a:buNone/>
            </a:pPr>
            <a:r>
              <a:rPr lang="en-US" sz="1050" b="1" spc="180" kern="0" dirty="0">
                <a:solidFill>
                  <a:srgbClr val="38BDF8"/>
                </a:solidFill>
                <a:latin typeface="Be Vietnam Pro" pitchFamily="34" charset="0"/>
                <a:ea typeface="Be Vietnam Pro" pitchFamily="34" charset="-122"/>
                <a:cs typeface="Be Vietnam Pro" pitchFamily="34" charset="-120"/>
              </a:rPr>
              <a:t>CÂU HỎI THẬT SỰ TRONG CỨU HỘ</a:t>
            </a:r>
            <a:endParaRPr lang="en-US" sz="1050" dirty="0"/>
          </a:p>
        </p:txBody>
      </p:sp>
      <p:sp>
        <p:nvSpPr>
          <p:cNvPr id="15" name="Text 11"/>
          <p:cNvSpPr/>
          <p:nvPr/>
        </p:nvSpPr>
        <p:spPr>
          <a:xfrm>
            <a:off x="1042416" y="2988310"/>
            <a:ext cx="3639312" cy="777240"/>
          </a:xfrm>
          <a:prstGeom prst="rect">
            <a:avLst/>
          </a:prstGeom>
          <a:noFill/>
          <a:ln/>
        </p:spPr>
        <p:txBody>
          <a:bodyPr wrap="square" lIns="0" tIns="0" rIns="0" bIns="0" rtlCol="0" anchor="t"/>
          <a:lstStyle/>
          <a:p>
            <a:pPr algn="l" indent="0" marL="0">
              <a:lnSpc>
                <a:spcPts val="2772"/>
              </a:lnSpc>
              <a:buNone/>
            </a:pPr>
            <a:r>
              <a:rPr lang="en-US" sz="2100" b="1" dirty="0">
                <a:solidFill>
                  <a:srgbClr val="FFFFFF"/>
                </a:solidFill>
                <a:latin typeface="Be Vietnam Pro" pitchFamily="34" charset="0"/>
                <a:ea typeface="Be Vietnam Pro" pitchFamily="34" charset="-122"/>
                <a:cs typeface="Be Vietnam Pro" pitchFamily="34" charset="-120"/>
              </a:rPr>
              <a:t>Bao nhiêu trong số đó</a:t>
            </a:r>
            <a:endParaRPr lang="en-US" sz="2100" dirty="0"/>
          </a:p>
          <a:p>
            <a:pPr algn="l" indent="0" marL="0">
              <a:lnSpc>
                <a:spcPts val="2772"/>
              </a:lnSpc>
              <a:buNone/>
            </a:pPr>
            <a:r>
              <a:rPr lang="en-US" sz="2100" b="1" dirty="0">
                <a:solidFill>
                  <a:srgbClr val="FFFFFF"/>
                </a:solidFill>
                <a:latin typeface="Be Vietnam Pro" pitchFamily="34" charset="0"/>
                <a:ea typeface="Be Vietnam Pro" pitchFamily="34" charset="-122"/>
                <a:cs typeface="Be Vietnam Pro" pitchFamily="34" charset="-120"/>
              </a:rPr>
              <a:t>dùng được ngay bây giờ?</a:t>
            </a:r>
            <a:endParaRPr lang="en-US" sz="2100" dirty="0"/>
          </a:p>
        </p:txBody>
      </p:sp>
      <p:sp>
        <p:nvSpPr>
          <p:cNvPr id="16" name="Text 12"/>
          <p:cNvSpPr/>
          <p:nvPr/>
        </p:nvSpPr>
        <p:spPr>
          <a:xfrm>
            <a:off x="1042416" y="4305046"/>
            <a:ext cx="3639312" cy="517652"/>
          </a:xfrm>
          <a:prstGeom prst="rect">
            <a:avLst/>
          </a:prstGeom>
          <a:noFill/>
          <a:ln/>
        </p:spPr>
        <p:txBody>
          <a:bodyPr wrap="square" lIns="0" tIns="0" rIns="0" bIns="0" rtlCol="0" anchor="t"/>
          <a:lstStyle/>
          <a:p>
            <a:pPr algn="l" indent="0" marL="0">
              <a:lnSpc>
                <a:spcPts val="1750"/>
              </a:lnSpc>
              <a:buNone/>
            </a:pPr>
            <a:r>
              <a:rPr lang="en-US" sz="1250" dirty="0">
                <a:solidFill>
                  <a:srgbClr val="9BB0C6"/>
                </a:solidFill>
                <a:latin typeface="Be Vietnam Pro" pitchFamily="34" charset="0"/>
                <a:ea typeface="Be Vietnam Pro" pitchFamily="34" charset="-122"/>
                <a:cs typeface="Be Vietnam Pro" pitchFamily="34" charset="-120"/>
              </a:rPr>
              <a:t>Vì vậy mỗi lô hàng mang hai chiều trạng thái</a:t>
            </a:r>
            <a:endParaRPr lang="en-US" sz="1250" dirty="0"/>
          </a:p>
          <a:p>
            <a:pPr algn="l" indent="0" marL="0">
              <a:lnSpc>
                <a:spcPts val="1750"/>
              </a:lnSpc>
              <a:buNone/>
            </a:pPr>
            <a:r>
              <a:rPr lang="en-US" sz="1250" dirty="0">
                <a:solidFill>
                  <a:srgbClr val="9BB0C6"/>
                </a:solidFill>
                <a:latin typeface="Be Vietnam Pro" pitchFamily="34" charset="0"/>
                <a:ea typeface="Be Vietnam Pro" pitchFamily="34" charset="-122"/>
                <a:cs typeface="Be Vietnam Pro" pitchFamily="34" charset="-120"/>
              </a:rPr>
              <a:t>tách rời nhau.</a:t>
            </a:r>
            <a:endParaRPr lang="en-US" sz="1250" dirty="0"/>
          </a:p>
        </p:txBody>
      </p:sp>
      <p:sp>
        <p:nvSpPr>
          <p:cNvPr id="17" name="Shape 13"/>
          <p:cNvSpPr/>
          <p:nvPr/>
        </p:nvSpPr>
        <p:spPr>
          <a:xfrm>
            <a:off x="5266944" y="2220214"/>
            <a:ext cx="2968600" cy="3017520"/>
          </a:xfrm>
          <a:prstGeom prst="roundRect">
            <a:avLst>
              <a:gd name="adj" fmla="val 3696"/>
            </a:avLst>
          </a:prstGeom>
          <a:solidFill>
            <a:srgbClr val="091B2D">
              <a:alpha val="66000"/>
            </a:srgbClr>
          </a:solidFill>
          <a:ln w="12700">
            <a:solidFill>
              <a:srgbClr val="FFFFFF">
                <a:alpha val="12000"/>
              </a:srgbClr>
            </a:solidFill>
            <a:prstDash val="solid"/>
          </a:ln>
        </p:spPr>
      </p:sp>
      <p:sp>
        <p:nvSpPr>
          <p:cNvPr id="18" name="Shape 14"/>
          <p:cNvSpPr/>
          <p:nvPr/>
        </p:nvSpPr>
        <p:spPr>
          <a:xfrm>
            <a:off x="5266944" y="2220214"/>
            <a:ext cx="50292" cy="3017520"/>
          </a:xfrm>
          <a:prstGeom prst="roundRect">
            <a:avLst>
              <a:gd name="adj" fmla="val 54545"/>
            </a:avLst>
          </a:prstGeom>
          <a:solidFill>
            <a:srgbClr val="22C55E">
              <a:alpha val="95000"/>
            </a:srgbClr>
          </a:solidFill>
          <a:ln/>
        </p:spPr>
      </p:sp>
      <p:sp>
        <p:nvSpPr>
          <p:cNvPr id="19" name="Text 15"/>
          <p:cNvSpPr/>
          <p:nvPr/>
        </p:nvSpPr>
        <p:spPr>
          <a:xfrm>
            <a:off x="5559552" y="2512822"/>
            <a:ext cx="2474824" cy="253175"/>
          </a:xfrm>
          <a:prstGeom prst="rect">
            <a:avLst/>
          </a:prstGeom>
          <a:noFill/>
          <a:ln/>
        </p:spPr>
        <p:txBody>
          <a:bodyPr wrap="square" lIns="0" tIns="0" rIns="0" bIns="0" rtlCol="0" anchor="t"/>
          <a:lstStyle/>
          <a:p>
            <a:pPr algn="l" indent="0" marL="0">
              <a:lnSpc>
                <a:spcPts val="1418"/>
              </a:lnSpc>
              <a:buNone/>
            </a:pPr>
            <a:r>
              <a:rPr lang="en-US" sz="1050" b="1" spc="160" kern="0" dirty="0">
                <a:solidFill>
                  <a:srgbClr val="22C55E"/>
                </a:solidFill>
                <a:latin typeface="Be Vietnam Pro" pitchFamily="34" charset="0"/>
                <a:ea typeface="Be Vietnam Pro" pitchFamily="34" charset="-122"/>
                <a:cs typeface="Be Vietnam Pro" pitchFamily="34" charset="-120"/>
              </a:rPr>
              <a:t>TÌNH TRẠNG VẬT LÝ</a:t>
            </a:r>
            <a:endParaRPr lang="en-US" sz="1050" dirty="0"/>
          </a:p>
        </p:txBody>
      </p:sp>
      <p:sp>
        <p:nvSpPr>
          <p:cNvPr id="20" name="Shape 16"/>
          <p:cNvSpPr/>
          <p:nvPr/>
        </p:nvSpPr>
        <p:spPr>
          <a:xfrm>
            <a:off x="5559552" y="3052318"/>
            <a:ext cx="82296" cy="82296"/>
          </a:xfrm>
          <a:prstGeom prst="roundRect">
            <a:avLst>
              <a:gd name="adj" fmla="val 50000"/>
            </a:avLst>
          </a:prstGeom>
          <a:solidFill>
            <a:srgbClr val="22C55E">
              <a:alpha val="95000"/>
            </a:srgbClr>
          </a:solidFill>
          <a:ln/>
        </p:spPr>
      </p:sp>
      <p:sp>
        <p:nvSpPr>
          <p:cNvPr id="21" name="Text 17"/>
          <p:cNvSpPr/>
          <p:nvPr/>
        </p:nvSpPr>
        <p:spPr>
          <a:xfrm>
            <a:off x="5797296" y="2951734"/>
            <a:ext cx="2237080" cy="304610"/>
          </a:xfrm>
          <a:prstGeom prst="rect">
            <a:avLst/>
          </a:prstGeom>
          <a:noFill/>
          <a:ln/>
        </p:spPr>
        <p:txBody>
          <a:bodyPr wrap="square" lIns="0" tIns="0" rIns="0" bIns="0" rtlCol="0" anchor="t"/>
          <a:lstStyle/>
          <a:p>
            <a:pPr algn="l" indent="0" marL="0">
              <a:lnSpc>
                <a:spcPts val="1823"/>
              </a:lnSpc>
              <a:buNone/>
            </a:pPr>
            <a:r>
              <a:rPr lang="en-US" sz="1350" b="1" dirty="0">
                <a:solidFill>
                  <a:srgbClr val="FFFFFF"/>
                </a:solidFill>
                <a:latin typeface="Be Vietnam Pro" pitchFamily="34" charset="0"/>
                <a:ea typeface="Be Vietnam Pro" pitchFamily="34" charset="-122"/>
                <a:cs typeface="Be Vietnam Pro" pitchFamily="34" charset="-120"/>
              </a:rPr>
              <a:t>Mới</a:t>
            </a:r>
            <a:endParaRPr lang="en-US" sz="1350" dirty="0"/>
          </a:p>
        </p:txBody>
      </p:sp>
      <p:sp>
        <p:nvSpPr>
          <p:cNvPr id="22" name="Shape 18"/>
          <p:cNvSpPr/>
          <p:nvPr/>
        </p:nvSpPr>
        <p:spPr>
          <a:xfrm>
            <a:off x="5559552" y="3564382"/>
            <a:ext cx="82296" cy="82296"/>
          </a:xfrm>
          <a:prstGeom prst="roundRect">
            <a:avLst>
              <a:gd name="adj" fmla="val 50000"/>
            </a:avLst>
          </a:prstGeom>
          <a:solidFill>
            <a:srgbClr val="22C55E">
              <a:alpha val="95000"/>
            </a:srgbClr>
          </a:solidFill>
          <a:ln/>
        </p:spPr>
      </p:sp>
      <p:sp>
        <p:nvSpPr>
          <p:cNvPr id="23" name="Text 19"/>
          <p:cNvSpPr/>
          <p:nvPr/>
        </p:nvSpPr>
        <p:spPr>
          <a:xfrm>
            <a:off x="5797296" y="3463798"/>
            <a:ext cx="2237080" cy="304610"/>
          </a:xfrm>
          <a:prstGeom prst="rect">
            <a:avLst/>
          </a:prstGeom>
          <a:noFill/>
          <a:ln/>
        </p:spPr>
        <p:txBody>
          <a:bodyPr wrap="square" lIns="0" tIns="0" rIns="0" bIns="0" rtlCol="0" anchor="t"/>
          <a:lstStyle/>
          <a:p>
            <a:pPr algn="l" indent="0" marL="0">
              <a:lnSpc>
                <a:spcPts val="1823"/>
              </a:lnSpc>
              <a:buNone/>
            </a:pPr>
            <a:r>
              <a:rPr lang="en-US" sz="1350" b="1" dirty="0">
                <a:solidFill>
                  <a:srgbClr val="FFFFFF"/>
                </a:solidFill>
                <a:latin typeface="Be Vietnam Pro" pitchFamily="34" charset="0"/>
                <a:ea typeface="Be Vietnam Pro" pitchFamily="34" charset="-122"/>
                <a:cs typeface="Be Vietnam Pro" pitchFamily="34" charset="-120"/>
              </a:rPr>
              <a:t>Đã dùng</a:t>
            </a:r>
            <a:endParaRPr lang="en-US" sz="1350" dirty="0"/>
          </a:p>
        </p:txBody>
      </p:sp>
      <p:sp>
        <p:nvSpPr>
          <p:cNvPr id="24" name="Shape 20"/>
          <p:cNvSpPr/>
          <p:nvPr/>
        </p:nvSpPr>
        <p:spPr>
          <a:xfrm>
            <a:off x="5559552" y="4076446"/>
            <a:ext cx="82296" cy="82296"/>
          </a:xfrm>
          <a:prstGeom prst="roundRect">
            <a:avLst>
              <a:gd name="adj" fmla="val 50000"/>
            </a:avLst>
          </a:prstGeom>
          <a:solidFill>
            <a:srgbClr val="22C55E">
              <a:alpha val="95000"/>
            </a:srgbClr>
          </a:solidFill>
          <a:ln/>
        </p:spPr>
      </p:sp>
      <p:sp>
        <p:nvSpPr>
          <p:cNvPr id="25" name="Text 21"/>
          <p:cNvSpPr/>
          <p:nvPr/>
        </p:nvSpPr>
        <p:spPr>
          <a:xfrm>
            <a:off x="5797296" y="3975862"/>
            <a:ext cx="2237080" cy="304610"/>
          </a:xfrm>
          <a:prstGeom prst="rect">
            <a:avLst/>
          </a:prstGeom>
          <a:noFill/>
          <a:ln/>
        </p:spPr>
        <p:txBody>
          <a:bodyPr wrap="square" lIns="0" tIns="0" rIns="0" bIns="0" rtlCol="0" anchor="t"/>
          <a:lstStyle/>
          <a:p>
            <a:pPr algn="l" indent="0" marL="0">
              <a:lnSpc>
                <a:spcPts val="1823"/>
              </a:lnSpc>
              <a:buNone/>
            </a:pPr>
            <a:r>
              <a:rPr lang="en-US" sz="1350" b="1" dirty="0">
                <a:solidFill>
                  <a:srgbClr val="FFFFFF"/>
                </a:solidFill>
                <a:latin typeface="Be Vietnam Pro" pitchFamily="34" charset="0"/>
                <a:ea typeface="Be Vietnam Pro" pitchFamily="34" charset="-122"/>
                <a:cs typeface="Be Vietnam Pro" pitchFamily="34" charset="-120"/>
              </a:rPr>
              <a:t>Cần kiểm tra</a:t>
            </a:r>
            <a:endParaRPr lang="en-US" sz="1350" dirty="0"/>
          </a:p>
        </p:txBody>
      </p:sp>
      <p:sp>
        <p:nvSpPr>
          <p:cNvPr id="26" name="Shape 22"/>
          <p:cNvSpPr/>
          <p:nvPr/>
        </p:nvSpPr>
        <p:spPr>
          <a:xfrm>
            <a:off x="5559552" y="4588510"/>
            <a:ext cx="82296" cy="82296"/>
          </a:xfrm>
          <a:prstGeom prst="roundRect">
            <a:avLst>
              <a:gd name="adj" fmla="val 50000"/>
            </a:avLst>
          </a:prstGeom>
          <a:solidFill>
            <a:srgbClr val="22C55E">
              <a:alpha val="95000"/>
            </a:srgbClr>
          </a:solidFill>
          <a:ln/>
        </p:spPr>
      </p:sp>
      <p:sp>
        <p:nvSpPr>
          <p:cNvPr id="27" name="Text 23"/>
          <p:cNvSpPr/>
          <p:nvPr/>
        </p:nvSpPr>
        <p:spPr>
          <a:xfrm>
            <a:off x="5797296" y="4487926"/>
            <a:ext cx="2237080" cy="304610"/>
          </a:xfrm>
          <a:prstGeom prst="rect">
            <a:avLst/>
          </a:prstGeom>
          <a:noFill/>
          <a:ln/>
        </p:spPr>
        <p:txBody>
          <a:bodyPr wrap="square" lIns="0" tIns="0" rIns="0" bIns="0" rtlCol="0" anchor="t"/>
          <a:lstStyle/>
          <a:p>
            <a:pPr algn="l" indent="0" marL="0">
              <a:lnSpc>
                <a:spcPts val="1823"/>
              </a:lnSpc>
              <a:buNone/>
            </a:pPr>
            <a:r>
              <a:rPr lang="en-US" sz="1350" b="1" dirty="0">
                <a:solidFill>
                  <a:srgbClr val="FFFFFF"/>
                </a:solidFill>
                <a:latin typeface="Be Vietnam Pro" pitchFamily="34" charset="0"/>
                <a:ea typeface="Be Vietnam Pro" pitchFamily="34" charset="-122"/>
                <a:cs typeface="Be Vietnam Pro" pitchFamily="34" charset="-120"/>
              </a:rPr>
              <a:t>Hỏng</a:t>
            </a:r>
            <a:endParaRPr lang="en-US" sz="1350" dirty="0"/>
          </a:p>
        </p:txBody>
      </p:sp>
      <p:sp>
        <p:nvSpPr>
          <p:cNvPr id="28" name="Shape 24"/>
          <p:cNvSpPr/>
          <p:nvPr/>
        </p:nvSpPr>
        <p:spPr>
          <a:xfrm>
            <a:off x="8509864" y="2220214"/>
            <a:ext cx="2968600" cy="3017520"/>
          </a:xfrm>
          <a:prstGeom prst="roundRect">
            <a:avLst>
              <a:gd name="adj" fmla="val 3696"/>
            </a:avLst>
          </a:prstGeom>
          <a:solidFill>
            <a:srgbClr val="091B2D">
              <a:alpha val="66000"/>
            </a:srgbClr>
          </a:solidFill>
          <a:ln w="12700">
            <a:solidFill>
              <a:srgbClr val="FFFFFF">
                <a:alpha val="12000"/>
              </a:srgbClr>
            </a:solidFill>
            <a:prstDash val="solid"/>
          </a:ln>
        </p:spPr>
      </p:sp>
      <p:sp>
        <p:nvSpPr>
          <p:cNvPr id="29" name="Shape 25"/>
          <p:cNvSpPr/>
          <p:nvPr/>
        </p:nvSpPr>
        <p:spPr>
          <a:xfrm>
            <a:off x="8509864" y="2220214"/>
            <a:ext cx="50292" cy="3017520"/>
          </a:xfrm>
          <a:prstGeom prst="roundRect">
            <a:avLst>
              <a:gd name="adj" fmla="val 54545"/>
            </a:avLst>
          </a:prstGeom>
          <a:solidFill>
            <a:srgbClr val="FBBF24">
              <a:alpha val="95000"/>
            </a:srgbClr>
          </a:solidFill>
          <a:ln/>
        </p:spPr>
      </p:sp>
      <p:sp>
        <p:nvSpPr>
          <p:cNvPr id="30" name="Text 26"/>
          <p:cNvSpPr/>
          <p:nvPr/>
        </p:nvSpPr>
        <p:spPr>
          <a:xfrm>
            <a:off x="8802472" y="2512822"/>
            <a:ext cx="2474824" cy="253175"/>
          </a:xfrm>
          <a:prstGeom prst="rect">
            <a:avLst/>
          </a:prstGeom>
          <a:noFill/>
          <a:ln/>
        </p:spPr>
        <p:txBody>
          <a:bodyPr wrap="square" lIns="0" tIns="0" rIns="0" bIns="0" rtlCol="0" anchor="t"/>
          <a:lstStyle/>
          <a:p>
            <a:pPr algn="l" indent="0" marL="0">
              <a:lnSpc>
                <a:spcPts val="1418"/>
              </a:lnSpc>
              <a:buNone/>
            </a:pPr>
            <a:r>
              <a:rPr lang="en-US" sz="1050" b="1" spc="160" kern="0" dirty="0">
                <a:solidFill>
                  <a:srgbClr val="FBBF24"/>
                </a:solidFill>
                <a:latin typeface="Be Vietnam Pro" pitchFamily="34" charset="0"/>
                <a:ea typeface="Be Vietnam Pro" pitchFamily="34" charset="-122"/>
                <a:cs typeface="Be Vietnam Pro" pitchFamily="34" charset="-120"/>
              </a:rPr>
              <a:t>TRẠNG THÁI LƯU HÀNH</a:t>
            </a:r>
            <a:endParaRPr lang="en-US" sz="1050" dirty="0"/>
          </a:p>
        </p:txBody>
      </p:sp>
      <p:sp>
        <p:nvSpPr>
          <p:cNvPr id="31" name="Shape 27"/>
          <p:cNvSpPr/>
          <p:nvPr/>
        </p:nvSpPr>
        <p:spPr>
          <a:xfrm>
            <a:off x="8802472" y="3052318"/>
            <a:ext cx="82296" cy="82296"/>
          </a:xfrm>
          <a:prstGeom prst="roundRect">
            <a:avLst>
              <a:gd name="adj" fmla="val 50000"/>
            </a:avLst>
          </a:prstGeom>
          <a:solidFill>
            <a:srgbClr val="FBBF24">
              <a:alpha val="95000"/>
            </a:srgbClr>
          </a:solidFill>
          <a:ln/>
        </p:spPr>
      </p:sp>
      <p:sp>
        <p:nvSpPr>
          <p:cNvPr id="32" name="Text 28"/>
          <p:cNvSpPr/>
          <p:nvPr/>
        </p:nvSpPr>
        <p:spPr>
          <a:xfrm>
            <a:off x="9040216" y="2951734"/>
            <a:ext cx="2237080" cy="304610"/>
          </a:xfrm>
          <a:prstGeom prst="rect">
            <a:avLst/>
          </a:prstGeom>
          <a:noFill/>
          <a:ln/>
        </p:spPr>
        <p:txBody>
          <a:bodyPr wrap="square" lIns="0" tIns="0" rIns="0" bIns="0" rtlCol="0" anchor="t"/>
          <a:lstStyle/>
          <a:p>
            <a:pPr algn="l" indent="0" marL="0">
              <a:lnSpc>
                <a:spcPts val="1823"/>
              </a:lnSpc>
              <a:buNone/>
            </a:pPr>
            <a:r>
              <a:rPr lang="en-US" sz="1350" b="1" dirty="0">
                <a:solidFill>
                  <a:srgbClr val="FFFFFF"/>
                </a:solidFill>
                <a:latin typeface="Be Vietnam Pro" pitchFamily="34" charset="0"/>
                <a:ea typeface="Be Vietnam Pro" pitchFamily="34" charset="-122"/>
                <a:cs typeface="Be Vietnam Pro" pitchFamily="34" charset="-120"/>
              </a:rPr>
              <a:t>Đang trong kho</a:t>
            </a:r>
            <a:endParaRPr lang="en-US" sz="1350" dirty="0"/>
          </a:p>
        </p:txBody>
      </p:sp>
      <p:sp>
        <p:nvSpPr>
          <p:cNvPr id="33" name="Shape 29"/>
          <p:cNvSpPr/>
          <p:nvPr/>
        </p:nvSpPr>
        <p:spPr>
          <a:xfrm>
            <a:off x="8802472" y="3564382"/>
            <a:ext cx="82296" cy="82296"/>
          </a:xfrm>
          <a:prstGeom prst="roundRect">
            <a:avLst>
              <a:gd name="adj" fmla="val 50000"/>
            </a:avLst>
          </a:prstGeom>
          <a:solidFill>
            <a:srgbClr val="FBBF24">
              <a:alpha val="95000"/>
            </a:srgbClr>
          </a:solidFill>
          <a:ln/>
        </p:spPr>
      </p:sp>
      <p:sp>
        <p:nvSpPr>
          <p:cNvPr id="34" name="Text 30"/>
          <p:cNvSpPr/>
          <p:nvPr/>
        </p:nvSpPr>
        <p:spPr>
          <a:xfrm>
            <a:off x="9040216" y="3463798"/>
            <a:ext cx="2237080" cy="304610"/>
          </a:xfrm>
          <a:prstGeom prst="rect">
            <a:avLst/>
          </a:prstGeom>
          <a:noFill/>
          <a:ln/>
        </p:spPr>
        <p:txBody>
          <a:bodyPr wrap="square" lIns="0" tIns="0" rIns="0" bIns="0" rtlCol="0" anchor="t"/>
          <a:lstStyle/>
          <a:p>
            <a:pPr algn="l" indent="0" marL="0">
              <a:lnSpc>
                <a:spcPts val="1823"/>
              </a:lnSpc>
              <a:buNone/>
            </a:pPr>
            <a:r>
              <a:rPr lang="en-US" sz="1350" b="1" dirty="0">
                <a:solidFill>
                  <a:srgbClr val="FFFFFF"/>
                </a:solidFill>
                <a:latin typeface="Be Vietnam Pro" pitchFamily="34" charset="0"/>
                <a:ea typeface="Be Vietnam Pro" pitchFamily="34" charset="-122"/>
                <a:cs typeface="Be Vietnam Pro" pitchFamily="34" charset="-120"/>
              </a:rPr>
              <a:t>Đang cho mượn</a:t>
            </a:r>
            <a:endParaRPr lang="en-US" sz="1350" dirty="0"/>
          </a:p>
        </p:txBody>
      </p:sp>
      <p:sp>
        <p:nvSpPr>
          <p:cNvPr id="35" name="Shape 31"/>
          <p:cNvSpPr/>
          <p:nvPr/>
        </p:nvSpPr>
        <p:spPr>
          <a:xfrm>
            <a:off x="8802472" y="4076446"/>
            <a:ext cx="82296" cy="82296"/>
          </a:xfrm>
          <a:prstGeom prst="roundRect">
            <a:avLst>
              <a:gd name="adj" fmla="val 50000"/>
            </a:avLst>
          </a:prstGeom>
          <a:solidFill>
            <a:srgbClr val="FBBF24">
              <a:alpha val="95000"/>
            </a:srgbClr>
          </a:solidFill>
          <a:ln/>
        </p:spPr>
      </p:sp>
      <p:sp>
        <p:nvSpPr>
          <p:cNvPr id="36" name="Text 32"/>
          <p:cNvSpPr/>
          <p:nvPr/>
        </p:nvSpPr>
        <p:spPr>
          <a:xfrm>
            <a:off x="9040216" y="3975862"/>
            <a:ext cx="2237080" cy="304610"/>
          </a:xfrm>
          <a:prstGeom prst="rect">
            <a:avLst/>
          </a:prstGeom>
          <a:noFill/>
          <a:ln/>
        </p:spPr>
        <p:txBody>
          <a:bodyPr wrap="square" lIns="0" tIns="0" rIns="0" bIns="0" rtlCol="0" anchor="t"/>
          <a:lstStyle/>
          <a:p>
            <a:pPr algn="l" indent="0" marL="0">
              <a:lnSpc>
                <a:spcPts val="1823"/>
              </a:lnSpc>
              <a:buNone/>
            </a:pPr>
            <a:r>
              <a:rPr lang="en-US" sz="1350" b="1" dirty="0">
                <a:solidFill>
                  <a:srgbClr val="FFFFFF"/>
                </a:solidFill>
                <a:latin typeface="Be Vietnam Pro" pitchFamily="34" charset="0"/>
                <a:ea typeface="Be Vietnam Pro" pitchFamily="34" charset="-122"/>
                <a:cs typeface="Be Vietnam Pro" pitchFamily="34" charset="-120"/>
              </a:rPr>
              <a:t>Đã xuất</a:t>
            </a:r>
            <a:endParaRPr lang="en-US" sz="1350" dirty="0"/>
          </a:p>
        </p:txBody>
      </p:sp>
      <p:sp>
        <p:nvSpPr>
          <p:cNvPr id="37" name="Shape 33"/>
          <p:cNvSpPr/>
          <p:nvPr/>
        </p:nvSpPr>
        <p:spPr>
          <a:xfrm>
            <a:off x="713232" y="5512054"/>
            <a:ext cx="10765231" cy="804672"/>
          </a:xfrm>
          <a:prstGeom prst="roundRect">
            <a:avLst>
              <a:gd name="adj" fmla="val 11364"/>
            </a:avLst>
          </a:prstGeom>
          <a:solidFill>
            <a:srgbClr val="F87171">
              <a:alpha val="12000"/>
            </a:srgbClr>
          </a:solidFill>
          <a:ln w="12700">
            <a:solidFill>
              <a:srgbClr val="F87171">
                <a:alpha val="40000"/>
              </a:srgbClr>
            </a:solidFill>
            <a:prstDash val="solid"/>
          </a:ln>
        </p:spPr>
      </p:sp>
      <p:sp>
        <p:nvSpPr>
          <p:cNvPr id="38" name="Shape 34"/>
          <p:cNvSpPr/>
          <p:nvPr/>
        </p:nvSpPr>
        <p:spPr>
          <a:xfrm>
            <a:off x="713232" y="5512054"/>
            <a:ext cx="50292" cy="804672"/>
          </a:xfrm>
          <a:prstGeom prst="roundRect">
            <a:avLst>
              <a:gd name="adj" fmla="val 54545"/>
            </a:avLst>
          </a:prstGeom>
          <a:solidFill>
            <a:srgbClr val="F87171">
              <a:alpha val="95000"/>
            </a:srgbClr>
          </a:solidFill>
          <a:ln/>
        </p:spPr>
      </p:sp>
      <p:sp>
        <p:nvSpPr>
          <p:cNvPr id="39" name="Text 35"/>
          <p:cNvSpPr/>
          <p:nvPr/>
        </p:nvSpPr>
        <p:spPr>
          <a:xfrm>
            <a:off x="1078992" y="5658358"/>
            <a:ext cx="10125151" cy="535432"/>
          </a:xfrm>
          <a:prstGeom prst="rect">
            <a:avLst/>
          </a:prstGeom>
          <a:noFill/>
          <a:ln/>
        </p:spPr>
        <p:txBody>
          <a:bodyPr wrap="square" lIns="0" tIns="0" rIns="0" bIns="0" rtlCol="0" anchor="t"/>
          <a:lstStyle/>
          <a:p>
            <a:pPr algn="l" indent="0" marL="0">
              <a:lnSpc>
                <a:spcPts val="1820"/>
              </a:lnSpc>
              <a:buNone/>
            </a:pPr>
            <a:r>
              <a:rPr lang="en-US" sz="1300" b="1" dirty="0">
                <a:solidFill>
                  <a:srgbClr val="FFFFFF"/>
                </a:solidFill>
                <a:latin typeface="Be Vietnam Pro" pitchFamily="34" charset="0"/>
                <a:ea typeface="Be Vietnam Pro" pitchFamily="34" charset="-122"/>
                <a:cs typeface="Be Vietnam Pro" pitchFamily="34" charset="-120"/>
              </a:rPr>
              <a:t>30 áo phao còn tốt nhưng đang cho đội xung kích mượn đi diễn tập thì không được tính là khả dụng — đây là chỗ phần mềm</a:t>
            </a:r>
            <a:endParaRPr lang="en-US" sz="1300" dirty="0"/>
          </a:p>
          <a:p>
            <a:pPr algn="l" indent="0" marL="0">
              <a:lnSpc>
                <a:spcPts val="1820"/>
              </a:lnSpc>
              <a:buNone/>
            </a:pPr>
            <a:r>
              <a:rPr lang="en-US" sz="1300" b="1" dirty="0">
                <a:solidFill>
                  <a:srgbClr val="FFFFFF"/>
                </a:solidFill>
                <a:latin typeface="Be Vietnam Pro" pitchFamily="34" charset="0"/>
                <a:ea typeface="Be Vietnam Pro" pitchFamily="34" charset="-122"/>
                <a:cs typeface="Be Vietnam Pro" pitchFamily="34" charset="-120"/>
              </a:rPr>
              <a:t>kho thông thường hay đếm nhầm.</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4101F"/>
        </a:solidFill>
      </p:bgPr>
    </p:bg>
    <p:spTree>
      <p:nvGrpSpPr>
        <p:cNvPr id="1" name=""/>
        <p:cNvGrpSpPr/>
        <p:nvPr/>
      </p:nvGrpSpPr>
      <p:grpSpPr>
        <a:xfrm>
          <a:off x="0" y="0"/>
          <a:ext cx="0" cy="0"/>
          <a:chOff x="0" y="0"/>
          <a:chExt cx="0" cy="0"/>
        </a:xfrm>
      </p:grpSpPr>
      <p:pic>
        <p:nvPicPr>
          <p:cNvPr id="2" name="Image 0" descr="bg-content.jp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4101F">
              <a:alpha val="34000"/>
            </a:srgbClr>
          </a:solidFill>
          <a:ln/>
        </p:spPr>
      </p:sp>
      <p:pic>
        <p:nvPicPr>
          <p:cNvPr id="4" name="Image 1" descr="mark-sm.png">    </p:cNvPr>
          <p:cNvPicPr>
            <a:picLocks noChangeAspect="1"/>
          </p:cNvPicPr>
          <p:nvPr/>
        </p:nvPicPr>
        <p:blipFill>
          <a:blip r:embed="rId2"/>
          <a:stretch>
            <a:fillRect/>
          </a:stretch>
        </p:blipFill>
        <p:spPr>
          <a:xfrm>
            <a:off x="713232" y="365760"/>
            <a:ext cx="310896" cy="310896"/>
          </a:xfrm>
          <a:prstGeom prst="rect">
            <a:avLst/>
          </a:prstGeom>
        </p:spPr>
      </p:pic>
      <p:sp>
        <p:nvSpPr>
          <p:cNvPr id="5" name="Text 1"/>
          <p:cNvSpPr/>
          <p:nvPr/>
        </p:nvSpPr>
        <p:spPr>
          <a:xfrm>
            <a:off x="1170432" y="384048"/>
            <a:ext cx="3749040" cy="261747"/>
          </a:xfrm>
          <a:prstGeom prst="rect">
            <a:avLst/>
          </a:prstGeom>
          <a:noFill/>
          <a:ln/>
        </p:spPr>
        <p:txBody>
          <a:bodyPr wrap="square" lIns="0" tIns="0" rIns="0" bIns="0" rtlCol="0" anchor="t"/>
          <a:lstStyle/>
          <a:p>
            <a:pPr algn="l" indent="0" marL="0">
              <a:lnSpc>
                <a:spcPts val="1485"/>
              </a:lnSpc>
              <a:buNone/>
            </a:pPr>
            <a:r>
              <a:rPr lang="en-US" sz="1100" b="1" spc="160" kern="0" dirty="0">
                <a:solidFill>
                  <a:srgbClr val="6EE7A8"/>
                </a:solidFill>
                <a:latin typeface="Be Vietnam Pro" pitchFamily="34" charset="0"/>
                <a:ea typeface="Be Vietnam Pro" pitchFamily="34" charset="-122"/>
                <a:cs typeface="Be Vietnam Pro" pitchFamily="34" charset="-120"/>
              </a:rPr>
              <a:t>ỨNG PHÓ NHANH</a:t>
            </a:r>
            <a:endParaRPr lang="en-US" sz="1100" dirty="0"/>
          </a:p>
        </p:txBody>
      </p:sp>
      <p:sp>
        <p:nvSpPr>
          <p:cNvPr id="6" name="Text 2"/>
          <p:cNvSpPr/>
          <p:nvPr/>
        </p:nvSpPr>
        <p:spPr>
          <a:xfrm>
            <a:off x="8643823" y="384048"/>
            <a:ext cx="2834640" cy="261747"/>
          </a:xfrm>
          <a:prstGeom prst="rect">
            <a:avLst/>
          </a:prstGeom>
          <a:noFill/>
          <a:ln/>
        </p:spPr>
        <p:txBody>
          <a:bodyPr wrap="square" lIns="0" tIns="0" rIns="0" bIns="0" rtlCol="0" anchor="t"/>
          <a:lstStyle/>
          <a:p>
            <a:pPr algn="r" indent="0" marL="0">
              <a:lnSpc>
                <a:spcPts val="1485"/>
              </a:lnSpc>
              <a:buNone/>
            </a:pPr>
            <a:r>
              <a:rPr lang="en-US" sz="1100" b="1" dirty="0">
                <a:solidFill>
                  <a:srgbClr val="7189A2"/>
                </a:solidFill>
                <a:latin typeface="Be Vietnam Pro" pitchFamily="34" charset="0"/>
                <a:ea typeface="Be Vietnam Pro" pitchFamily="34" charset="-122"/>
                <a:cs typeface="Be Vietnam Pro" pitchFamily="34" charset="-120"/>
              </a:rPr>
              <a:t>17 / 24</a:t>
            </a:r>
            <a:endParaRPr lang="en-US" sz="1100" dirty="0"/>
          </a:p>
        </p:txBody>
      </p:sp>
      <p:sp>
        <p:nvSpPr>
          <p:cNvPr id="7" name="Shape 3"/>
          <p:cNvSpPr/>
          <p:nvPr/>
        </p:nvSpPr>
        <p:spPr>
          <a:xfrm>
            <a:off x="713232" y="868680"/>
            <a:ext cx="10765231" cy="10973"/>
          </a:xfrm>
          <a:prstGeom prst="rect">
            <a:avLst/>
          </a:prstGeom>
          <a:solidFill>
            <a:srgbClr val="FFFFFF">
              <a:alpha val="16000"/>
            </a:srgbClr>
          </a:solidFill>
          <a:ln/>
        </p:spPr>
      </p:sp>
      <p:sp>
        <p:nvSpPr>
          <p:cNvPr id="8" name="Text 4"/>
          <p:cNvSpPr/>
          <p:nvPr/>
        </p:nvSpPr>
        <p:spPr>
          <a:xfrm>
            <a:off x="713232" y="1133856"/>
            <a:ext cx="8321040" cy="270320"/>
          </a:xfrm>
          <a:prstGeom prst="rect">
            <a:avLst/>
          </a:prstGeom>
          <a:noFill/>
          <a:ln/>
        </p:spPr>
        <p:txBody>
          <a:bodyPr wrap="square" lIns="0" tIns="0" rIns="0" bIns="0" rtlCol="0" anchor="t"/>
          <a:lstStyle/>
          <a:p>
            <a:pPr algn="l" indent="0" marL="0">
              <a:lnSpc>
                <a:spcPts val="1553"/>
              </a:lnSpc>
              <a:buNone/>
            </a:pPr>
            <a:r>
              <a:rPr lang="en-US" sz="1150" b="1" spc="220" kern="0" dirty="0">
                <a:solidFill>
                  <a:srgbClr val="22C55E"/>
                </a:solidFill>
                <a:latin typeface="Be Vietnam Pro" pitchFamily="34" charset="0"/>
                <a:ea typeface="Be Vietnam Pro" pitchFamily="34" charset="-122"/>
                <a:cs typeface="Be Vietnam Pro" pitchFamily="34" charset="-120"/>
              </a:rPr>
              <a:t>CHỈ SỐ SẴN SÀNG CỦA KHO</a:t>
            </a:r>
            <a:endParaRPr lang="en-US" sz="1150" dirty="0"/>
          </a:p>
        </p:txBody>
      </p:sp>
      <p:sp>
        <p:nvSpPr>
          <p:cNvPr id="9" name="Text 5"/>
          <p:cNvSpPr/>
          <p:nvPr/>
        </p:nvSpPr>
        <p:spPr>
          <a:xfrm>
            <a:off x="713232" y="1426464"/>
            <a:ext cx="10490911" cy="537718"/>
          </a:xfrm>
          <a:prstGeom prst="rect">
            <a:avLst/>
          </a:prstGeom>
          <a:noFill/>
          <a:ln/>
        </p:spPr>
        <p:txBody>
          <a:bodyPr wrap="square" lIns="0" tIns="0" rIns="0" bIns="0" rtlCol="0" anchor="t"/>
          <a:lstStyle/>
          <a:p>
            <a:pPr algn="l" indent="0" marL="0">
              <a:lnSpc>
                <a:spcPts val="3658"/>
              </a:lnSpc>
              <a:buNone/>
            </a:pPr>
            <a:r>
              <a:rPr lang="en-US" sz="3100" b="1" dirty="0">
                <a:solidFill>
                  <a:srgbClr val="FFFFFF"/>
                </a:solidFill>
                <a:latin typeface="Be Vietnam Pro" pitchFamily="34" charset="0"/>
                <a:ea typeface="Be Vietnam Pro" pitchFamily="34" charset="-122"/>
                <a:cs typeface="Be Vietnam Pro" pitchFamily="34" charset="-120"/>
              </a:rPr>
              <a:t>Một con số đẹp chưa chắc là kho xuất được hàng</a:t>
            </a:r>
            <a:endParaRPr lang="en-US" sz="3100" dirty="0"/>
          </a:p>
        </p:txBody>
      </p:sp>
      <p:sp>
        <p:nvSpPr>
          <p:cNvPr id="10" name="Shape 6"/>
          <p:cNvSpPr/>
          <p:nvPr/>
        </p:nvSpPr>
        <p:spPr>
          <a:xfrm>
            <a:off x="713232" y="6272784"/>
            <a:ext cx="10765231" cy="9144"/>
          </a:xfrm>
          <a:prstGeom prst="rect">
            <a:avLst/>
          </a:prstGeom>
          <a:solidFill>
            <a:srgbClr val="FFFFFF">
              <a:alpha val="10000"/>
            </a:srgbClr>
          </a:solidFill>
          <a:ln/>
        </p:spPr>
      </p:sp>
      <p:sp>
        <p:nvSpPr>
          <p:cNvPr id="11" name="Text 7"/>
          <p:cNvSpPr/>
          <p:nvPr/>
        </p:nvSpPr>
        <p:spPr>
          <a:xfrm>
            <a:off x="8643823" y="6382512"/>
            <a:ext cx="2834640" cy="236030"/>
          </a:xfrm>
          <a:prstGeom prst="rect">
            <a:avLst/>
          </a:prstGeom>
          <a:noFill/>
          <a:ln/>
        </p:spPr>
        <p:txBody>
          <a:bodyPr wrap="square" lIns="0" tIns="0" rIns="0" bIns="0" rtlCol="0" anchor="t"/>
          <a:lstStyle/>
          <a:p>
            <a:pPr algn="r" indent="0" marL="0">
              <a:lnSpc>
                <a:spcPts val="1283"/>
              </a:lnSpc>
              <a:buNone/>
            </a:pPr>
            <a:r>
              <a:rPr lang="en-US" sz="950" dirty="0">
                <a:solidFill>
                  <a:srgbClr val="7189A2"/>
                </a:solidFill>
                <a:latin typeface="Be Vietnam Pro" pitchFamily="34" charset="0"/>
                <a:ea typeface="Be Vietnam Pro" pitchFamily="34" charset="-122"/>
                <a:cs typeface="Be Vietnam Pro" pitchFamily="34" charset="-120"/>
              </a:rPr>
              <a:t>ungphonhanh.life</a:t>
            </a:r>
            <a:endParaRPr lang="en-US" sz="950" dirty="0"/>
          </a:p>
        </p:txBody>
      </p:sp>
      <p:sp>
        <p:nvSpPr>
          <p:cNvPr id="12" name="Shape 8"/>
          <p:cNvSpPr/>
          <p:nvPr/>
        </p:nvSpPr>
        <p:spPr>
          <a:xfrm>
            <a:off x="713232" y="2220214"/>
            <a:ext cx="4480560" cy="3931920"/>
          </a:xfrm>
          <a:prstGeom prst="roundRect">
            <a:avLst>
              <a:gd name="adj" fmla="val 2791"/>
            </a:avLst>
          </a:prstGeom>
          <a:solidFill>
            <a:srgbClr val="091B2D">
              <a:alpha val="66000"/>
            </a:srgbClr>
          </a:solidFill>
          <a:ln w="12700">
            <a:solidFill>
              <a:srgbClr val="FFFFFF">
                <a:alpha val="12000"/>
              </a:srgbClr>
            </a:solidFill>
            <a:prstDash val="solid"/>
          </a:ln>
        </p:spPr>
      </p:sp>
      <p:sp>
        <p:nvSpPr>
          <p:cNvPr id="13" name="Shape 9"/>
          <p:cNvSpPr/>
          <p:nvPr/>
        </p:nvSpPr>
        <p:spPr>
          <a:xfrm>
            <a:off x="713232" y="2220214"/>
            <a:ext cx="50292" cy="3931920"/>
          </a:xfrm>
          <a:prstGeom prst="roundRect">
            <a:avLst>
              <a:gd name="adj" fmla="val 54545"/>
            </a:avLst>
          </a:prstGeom>
          <a:solidFill>
            <a:srgbClr val="22C55E">
              <a:alpha val="95000"/>
            </a:srgbClr>
          </a:solidFill>
          <a:ln/>
        </p:spPr>
      </p:sp>
      <p:sp>
        <p:nvSpPr>
          <p:cNvPr id="14" name="Text 10"/>
          <p:cNvSpPr/>
          <p:nvPr/>
        </p:nvSpPr>
        <p:spPr>
          <a:xfrm>
            <a:off x="1042416" y="2494534"/>
            <a:ext cx="3913632" cy="253175"/>
          </a:xfrm>
          <a:prstGeom prst="rect">
            <a:avLst/>
          </a:prstGeom>
          <a:noFill/>
          <a:ln/>
        </p:spPr>
        <p:txBody>
          <a:bodyPr wrap="square" lIns="0" tIns="0" rIns="0" bIns="0" rtlCol="0" anchor="t"/>
          <a:lstStyle/>
          <a:p>
            <a:pPr algn="l" indent="0" marL="0">
              <a:lnSpc>
                <a:spcPts val="1418"/>
              </a:lnSpc>
              <a:buNone/>
            </a:pPr>
            <a:r>
              <a:rPr lang="en-US" sz="1050" b="1" spc="180" kern="0" dirty="0">
                <a:solidFill>
                  <a:srgbClr val="22C55E"/>
                </a:solidFill>
                <a:latin typeface="Be Vietnam Pro" pitchFamily="34" charset="0"/>
                <a:ea typeface="Be Vietnam Pro" pitchFamily="34" charset="-122"/>
                <a:cs typeface="Be Vietnam Pro" pitchFamily="34" charset="-120"/>
              </a:rPr>
              <a:t>CÁCH CHẤM ĐIỂM</a:t>
            </a:r>
            <a:endParaRPr lang="en-US" sz="1050" dirty="0"/>
          </a:p>
        </p:txBody>
      </p:sp>
      <p:sp>
        <p:nvSpPr>
          <p:cNvPr id="15" name="Shape 11"/>
          <p:cNvSpPr/>
          <p:nvPr/>
        </p:nvSpPr>
        <p:spPr>
          <a:xfrm>
            <a:off x="1042416" y="2915158"/>
            <a:ext cx="3822192" cy="786384"/>
          </a:xfrm>
          <a:prstGeom prst="roundRect">
            <a:avLst>
              <a:gd name="adj" fmla="val 11628"/>
            </a:avLst>
          </a:prstGeom>
          <a:solidFill>
            <a:srgbClr val="FFFFFF">
              <a:alpha val="7000"/>
            </a:srgbClr>
          </a:solidFill>
          <a:ln w="12700">
            <a:solidFill>
              <a:srgbClr val="FFFFFF">
                <a:alpha val="14000"/>
              </a:srgbClr>
            </a:solidFill>
            <a:prstDash val="solid"/>
          </a:ln>
        </p:spPr>
      </p:sp>
      <p:sp>
        <p:nvSpPr>
          <p:cNvPr id="16" name="Text 12"/>
          <p:cNvSpPr/>
          <p:nvPr/>
        </p:nvSpPr>
        <p:spPr>
          <a:xfrm>
            <a:off x="1225296" y="3043174"/>
            <a:ext cx="731520" cy="484632"/>
          </a:xfrm>
          <a:prstGeom prst="rect">
            <a:avLst/>
          </a:prstGeom>
          <a:noFill/>
          <a:ln/>
        </p:spPr>
        <p:txBody>
          <a:bodyPr wrap="square" lIns="0" tIns="0" rIns="0" bIns="0" rtlCol="0" anchor="t"/>
          <a:lstStyle/>
          <a:p>
            <a:pPr algn="l" indent="0" marL="0">
              <a:lnSpc>
                <a:spcPts val="3240"/>
              </a:lnSpc>
              <a:buNone/>
            </a:pPr>
            <a:r>
              <a:rPr lang="en-US" sz="2400" b="1" dirty="0">
                <a:solidFill>
                  <a:srgbClr val="6EE7A8"/>
                </a:solidFill>
                <a:latin typeface="Be Vietnam Pro" pitchFamily="34" charset="0"/>
                <a:ea typeface="Be Vietnam Pro" pitchFamily="34" charset="-122"/>
                <a:cs typeface="Be Vietnam Pro" pitchFamily="34" charset="-120"/>
              </a:rPr>
              <a:t>6</a:t>
            </a:r>
            <a:endParaRPr lang="en-US" sz="2400" dirty="0"/>
          </a:p>
        </p:txBody>
      </p:sp>
      <p:sp>
        <p:nvSpPr>
          <p:cNvPr id="17" name="Text 13"/>
          <p:cNvSpPr/>
          <p:nvPr/>
        </p:nvSpPr>
        <p:spPr>
          <a:xfrm>
            <a:off x="1865376" y="3171190"/>
            <a:ext cx="3017520" cy="287465"/>
          </a:xfrm>
          <a:prstGeom prst="rect">
            <a:avLst/>
          </a:prstGeom>
          <a:noFill/>
          <a:ln/>
        </p:spPr>
        <p:txBody>
          <a:bodyPr wrap="square" lIns="0" tIns="0" rIns="0" bIns="0" rtlCol="0" anchor="t"/>
          <a:lstStyle/>
          <a:p>
            <a:pPr algn="l" indent="0" marL="0">
              <a:lnSpc>
                <a:spcPts val="1688"/>
              </a:lnSpc>
              <a:buNone/>
            </a:pPr>
            <a:r>
              <a:rPr lang="en-US" sz="1250" b="1" dirty="0">
                <a:solidFill>
                  <a:srgbClr val="D9E6F2"/>
                </a:solidFill>
                <a:latin typeface="Be Vietnam Pro" pitchFamily="34" charset="0"/>
                <a:ea typeface="Be Vietnam Pro" pitchFamily="34" charset="-122"/>
                <a:cs typeface="Be Vietnam Pro" pitchFamily="34" charset="-120"/>
              </a:rPr>
              <a:t>chiều đánh giá</a:t>
            </a:r>
            <a:endParaRPr lang="en-US" sz="1250" dirty="0"/>
          </a:p>
        </p:txBody>
      </p:sp>
      <p:sp>
        <p:nvSpPr>
          <p:cNvPr id="18" name="Shape 14"/>
          <p:cNvSpPr/>
          <p:nvPr/>
        </p:nvSpPr>
        <p:spPr>
          <a:xfrm>
            <a:off x="1042416" y="3829558"/>
            <a:ext cx="3822192" cy="786384"/>
          </a:xfrm>
          <a:prstGeom prst="roundRect">
            <a:avLst>
              <a:gd name="adj" fmla="val 11628"/>
            </a:avLst>
          </a:prstGeom>
          <a:solidFill>
            <a:srgbClr val="FFFFFF">
              <a:alpha val="7000"/>
            </a:srgbClr>
          </a:solidFill>
          <a:ln w="12700">
            <a:solidFill>
              <a:srgbClr val="FFFFFF">
                <a:alpha val="14000"/>
              </a:srgbClr>
            </a:solidFill>
            <a:prstDash val="solid"/>
          </a:ln>
        </p:spPr>
      </p:sp>
      <p:sp>
        <p:nvSpPr>
          <p:cNvPr id="19" name="Text 15"/>
          <p:cNvSpPr/>
          <p:nvPr/>
        </p:nvSpPr>
        <p:spPr>
          <a:xfrm>
            <a:off x="1225296" y="3957574"/>
            <a:ext cx="731520" cy="484632"/>
          </a:xfrm>
          <a:prstGeom prst="rect">
            <a:avLst/>
          </a:prstGeom>
          <a:noFill/>
          <a:ln/>
        </p:spPr>
        <p:txBody>
          <a:bodyPr wrap="square" lIns="0" tIns="0" rIns="0" bIns="0" rtlCol="0" anchor="t"/>
          <a:lstStyle/>
          <a:p>
            <a:pPr algn="l" indent="0" marL="0">
              <a:lnSpc>
                <a:spcPts val="3240"/>
              </a:lnSpc>
              <a:buNone/>
            </a:pPr>
            <a:r>
              <a:rPr lang="en-US" sz="2400" b="1" dirty="0">
                <a:solidFill>
                  <a:srgbClr val="6EE7A8"/>
                </a:solidFill>
                <a:latin typeface="Be Vietnam Pro" pitchFamily="34" charset="0"/>
                <a:ea typeface="Be Vietnam Pro" pitchFamily="34" charset="-122"/>
                <a:cs typeface="Be Vietnam Pro" pitchFamily="34" charset="-120"/>
              </a:rPr>
              <a:t>4</a:t>
            </a:r>
            <a:endParaRPr lang="en-US" sz="2400" dirty="0"/>
          </a:p>
        </p:txBody>
      </p:sp>
      <p:sp>
        <p:nvSpPr>
          <p:cNvPr id="20" name="Text 16"/>
          <p:cNvSpPr/>
          <p:nvPr/>
        </p:nvSpPr>
        <p:spPr>
          <a:xfrm>
            <a:off x="1865376" y="4085590"/>
            <a:ext cx="3017520" cy="287465"/>
          </a:xfrm>
          <a:prstGeom prst="rect">
            <a:avLst/>
          </a:prstGeom>
          <a:noFill/>
          <a:ln/>
        </p:spPr>
        <p:txBody>
          <a:bodyPr wrap="square" lIns="0" tIns="0" rIns="0" bIns="0" rtlCol="0" anchor="t"/>
          <a:lstStyle/>
          <a:p>
            <a:pPr algn="l" indent="0" marL="0">
              <a:lnSpc>
                <a:spcPts val="1688"/>
              </a:lnSpc>
              <a:buNone/>
            </a:pPr>
            <a:r>
              <a:rPr lang="en-US" sz="1250" b="1" dirty="0">
                <a:solidFill>
                  <a:srgbClr val="D9E6F2"/>
                </a:solidFill>
                <a:latin typeface="Be Vietnam Pro" pitchFamily="34" charset="0"/>
                <a:ea typeface="Be Vietnam Pro" pitchFamily="34" charset="-122"/>
                <a:cs typeface="Be Vietnam Pro" pitchFamily="34" charset="-120"/>
              </a:rPr>
              <a:t>cấp: lô → kệ → khu → toàn kho</a:t>
            </a:r>
            <a:endParaRPr lang="en-US" sz="1250" dirty="0"/>
          </a:p>
        </p:txBody>
      </p:sp>
      <p:sp>
        <p:nvSpPr>
          <p:cNvPr id="21" name="Text 17"/>
          <p:cNvSpPr/>
          <p:nvPr/>
        </p:nvSpPr>
        <p:spPr>
          <a:xfrm>
            <a:off x="1042416" y="4945126"/>
            <a:ext cx="3913632" cy="791337"/>
          </a:xfrm>
          <a:prstGeom prst="rect">
            <a:avLst/>
          </a:prstGeom>
          <a:noFill/>
          <a:ln/>
        </p:spPr>
        <p:txBody>
          <a:bodyPr wrap="square" lIns="0" tIns="0" rIns="0" bIns="0" rtlCol="0" anchor="t"/>
          <a:lstStyle/>
          <a:p>
            <a:pPr algn="l" indent="0" marL="0">
              <a:lnSpc>
                <a:spcPts val="1885"/>
              </a:lnSpc>
              <a:buNone/>
            </a:pPr>
            <a:r>
              <a:rPr lang="en-US" sz="1300" b="1" dirty="0">
                <a:solidFill>
                  <a:srgbClr val="6EE7A8"/>
                </a:solidFill>
                <a:latin typeface="Be Vietnam Pro" pitchFamily="34" charset="0"/>
                <a:ea typeface="Be Vietnam Pro" pitchFamily="34" charset="-122"/>
                <a:cs typeface="Be Vietnam Pro" pitchFamily="34" charset="-120"/>
              </a:rPr>
              <a:t>Hệ thống không trả về một con số đơn độc, mà</a:t>
            </a:r>
            <a:endParaRPr lang="en-US" sz="1300" dirty="0"/>
          </a:p>
          <a:p>
            <a:pPr algn="l" indent="0" marL="0">
              <a:lnSpc>
                <a:spcPts val="1885"/>
              </a:lnSpc>
              <a:buNone/>
            </a:pPr>
            <a:r>
              <a:rPr lang="en-US" sz="1300" b="1" dirty="0">
                <a:solidFill>
                  <a:srgbClr val="6EE7A8"/>
                </a:solidFill>
                <a:latin typeface="Be Vietnam Pro" pitchFamily="34" charset="0"/>
                <a:ea typeface="Be Vietnam Pro" pitchFamily="34" charset="-122"/>
                <a:cs typeface="Be Vietnam Pro" pitchFamily="34" charset="-120"/>
              </a:rPr>
              <a:t>trả về kết luận vận hành kèm lý do và việc phải</a:t>
            </a:r>
            <a:endParaRPr lang="en-US" sz="1300" dirty="0"/>
          </a:p>
          <a:p>
            <a:pPr algn="l" indent="0" marL="0">
              <a:lnSpc>
                <a:spcPts val="1885"/>
              </a:lnSpc>
              <a:buNone/>
            </a:pPr>
            <a:r>
              <a:rPr lang="en-US" sz="1300" b="1" dirty="0">
                <a:solidFill>
                  <a:srgbClr val="6EE7A8"/>
                </a:solidFill>
                <a:latin typeface="Be Vietnam Pro" pitchFamily="34" charset="0"/>
                <a:ea typeface="Be Vietnam Pro" pitchFamily="34" charset="-122"/>
                <a:cs typeface="Be Vietnam Pro" pitchFamily="34" charset="-120"/>
              </a:rPr>
              <a:t>làm.</a:t>
            </a:r>
            <a:endParaRPr lang="en-US" sz="1300" dirty="0"/>
          </a:p>
        </p:txBody>
      </p:sp>
      <p:sp>
        <p:nvSpPr>
          <p:cNvPr id="22" name="Shape 18"/>
          <p:cNvSpPr/>
          <p:nvPr/>
        </p:nvSpPr>
        <p:spPr>
          <a:xfrm>
            <a:off x="5541264" y="2220214"/>
            <a:ext cx="5937199" cy="1078992"/>
          </a:xfrm>
          <a:prstGeom prst="roundRect">
            <a:avLst>
              <a:gd name="adj" fmla="val 10169"/>
            </a:avLst>
          </a:prstGeom>
          <a:solidFill>
            <a:srgbClr val="091B2D">
              <a:alpha val="66000"/>
            </a:srgbClr>
          </a:solidFill>
          <a:ln w="12700">
            <a:solidFill>
              <a:srgbClr val="FFFFFF">
                <a:alpha val="12000"/>
              </a:srgbClr>
            </a:solidFill>
            <a:prstDash val="solid"/>
          </a:ln>
        </p:spPr>
      </p:sp>
      <p:sp>
        <p:nvSpPr>
          <p:cNvPr id="23" name="Shape 19"/>
          <p:cNvSpPr/>
          <p:nvPr/>
        </p:nvSpPr>
        <p:spPr>
          <a:xfrm>
            <a:off x="5541264" y="2220214"/>
            <a:ext cx="50292" cy="1078992"/>
          </a:xfrm>
          <a:prstGeom prst="roundRect">
            <a:avLst>
              <a:gd name="adj" fmla="val 54545"/>
            </a:avLst>
          </a:prstGeom>
          <a:solidFill>
            <a:srgbClr val="22C55E">
              <a:alpha val="95000"/>
            </a:srgbClr>
          </a:solidFill>
          <a:ln/>
        </p:spPr>
      </p:sp>
      <p:sp>
        <p:nvSpPr>
          <p:cNvPr id="24" name="Text 20"/>
          <p:cNvSpPr/>
          <p:nvPr/>
        </p:nvSpPr>
        <p:spPr>
          <a:xfrm>
            <a:off x="5833872" y="2403094"/>
            <a:ext cx="5443423" cy="330327"/>
          </a:xfrm>
          <a:prstGeom prst="rect">
            <a:avLst/>
          </a:prstGeom>
          <a:noFill/>
          <a:ln/>
        </p:spPr>
        <p:txBody>
          <a:bodyPr wrap="square" lIns="0" tIns="0" rIns="0" bIns="0" rtlCol="0" anchor="t"/>
          <a:lstStyle/>
          <a:p>
            <a:pPr algn="l" indent="0" marL="0">
              <a:lnSpc>
                <a:spcPts val="2025"/>
              </a:lnSpc>
              <a:buNone/>
            </a:pPr>
            <a:r>
              <a:rPr lang="en-US" sz="1500" b="1" dirty="0">
                <a:solidFill>
                  <a:srgbClr val="FFFFFF"/>
                </a:solidFill>
                <a:latin typeface="Be Vietnam Pro" pitchFamily="34" charset="0"/>
                <a:ea typeface="Be Vietnam Pro" pitchFamily="34" charset="-122"/>
                <a:cs typeface="Be Vietnam Pro" pitchFamily="34" charset="-120"/>
              </a:rPr>
              <a:t>Kho trung tâm: 95 / 100 điểm</a:t>
            </a:r>
            <a:endParaRPr lang="en-US" sz="1500" dirty="0"/>
          </a:p>
        </p:txBody>
      </p:sp>
      <p:sp>
        <p:nvSpPr>
          <p:cNvPr id="25" name="Text 21"/>
          <p:cNvSpPr/>
          <p:nvPr/>
        </p:nvSpPr>
        <p:spPr>
          <a:xfrm>
            <a:off x="5833872" y="2805430"/>
            <a:ext cx="5443423" cy="278892"/>
          </a:xfrm>
          <a:prstGeom prst="rect">
            <a:avLst/>
          </a:prstGeom>
          <a:noFill/>
          <a:ln/>
        </p:spPr>
        <p:txBody>
          <a:bodyPr wrap="square" lIns="0" tIns="0" rIns="0" bIns="0" rtlCol="0" anchor="t"/>
          <a:lstStyle/>
          <a:p>
            <a:pPr algn="l" indent="0" marL="0">
              <a:lnSpc>
                <a:spcPts val="1620"/>
              </a:lnSpc>
              <a:buNone/>
            </a:pPr>
            <a:r>
              <a:rPr lang="en-US" sz="1200" dirty="0">
                <a:solidFill>
                  <a:srgbClr val="9BB0C6"/>
                </a:solidFill>
                <a:latin typeface="Be Vietnam Pro" pitchFamily="34" charset="0"/>
                <a:ea typeface="Be Vietnam Pro" pitchFamily="34" charset="-122"/>
                <a:cs typeface="Be Vietnam Pro" pitchFamily="34" charset="-120"/>
              </a:rPr>
              <a:t>Nhìn con số thì rất đẹp.</a:t>
            </a:r>
            <a:endParaRPr lang="en-US" sz="1200" dirty="0"/>
          </a:p>
        </p:txBody>
      </p:sp>
      <p:sp>
        <p:nvSpPr>
          <p:cNvPr id="26" name="Shape 22"/>
          <p:cNvSpPr/>
          <p:nvPr/>
        </p:nvSpPr>
        <p:spPr>
          <a:xfrm rot="10800000">
            <a:off x="8409280" y="3326638"/>
            <a:ext cx="201168" cy="201168"/>
          </a:xfrm>
          <a:prstGeom prst="triangle">
            <a:avLst/>
          </a:prstGeom>
          <a:solidFill>
            <a:srgbClr val="22C55E">
              <a:alpha val="80000"/>
            </a:srgbClr>
          </a:solidFill>
          <a:ln/>
        </p:spPr>
      </p:sp>
      <p:sp>
        <p:nvSpPr>
          <p:cNvPr id="27" name="Shape 23"/>
          <p:cNvSpPr/>
          <p:nvPr/>
        </p:nvSpPr>
        <p:spPr>
          <a:xfrm>
            <a:off x="5541264" y="3555238"/>
            <a:ext cx="5937199" cy="1078992"/>
          </a:xfrm>
          <a:prstGeom prst="roundRect">
            <a:avLst>
              <a:gd name="adj" fmla="val 10169"/>
            </a:avLst>
          </a:prstGeom>
          <a:solidFill>
            <a:srgbClr val="091B2D">
              <a:alpha val="66000"/>
            </a:srgbClr>
          </a:solidFill>
          <a:ln w="12700">
            <a:solidFill>
              <a:srgbClr val="FFFFFF">
                <a:alpha val="12000"/>
              </a:srgbClr>
            </a:solidFill>
            <a:prstDash val="solid"/>
          </a:ln>
        </p:spPr>
      </p:sp>
      <p:sp>
        <p:nvSpPr>
          <p:cNvPr id="28" name="Shape 24"/>
          <p:cNvSpPr/>
          <p:nvPr/>
        </p:nvSpPr>
        <p:spPr>
          <a:xfrm>
            <a:off x="5541264" y="3555238"/>
            <a:ext cx="50292" cy="1078992"/>
          </a:xfrm>
          <a:prstGeom prst="roundRect">
            <a:avLst>
              <a:gd name="adj" fmla="val 54545"/>
            </a:avLst>
          </a:prstGeom>
          <a:solidFill>
            <a:srgbClr val="FBBF24">
              <a:alpha val="95000"/>
            </a:srgbClr>
          </a:solidFill>
          <a:ln/>
        </p:spPr>
      </p:sp>
      <p:sp>
        <p:nvSpPr>
          <p:cNvPr id="29" name="Text 25"/>
          <p:cNvSpPr/>
          <p:nvPr/>
        </p:nvSpPr>
        <p:spPr>
          <a:xfrm>
            <a:off x="5833872" y="3738118"/>
            <a:ext cx="5443423" cy="330327"/>
          </a:xfrm>
          <a:prstGeom prst="rect">
            <a:avLst/>
          </a:prstGeom>
          <a:noFill/>
          <a:ln/>
        </p:spPr>
        <p:txBody>
          <a:bodyPr wrap="square" lIns="0" tIns="0" rIns="0" bIns="0" rtlCol="0" anchor="t"/>
          <a:lstStyle/>
          <a:p>
            <a:pPr algn="l" indent="0" marL="0">
              <a:lnSpc>
                <a:spcPts val="2025"/>
              </a:lnSpc>
              <a:buNone/>
            </a:pPr>
            <a:r>
              <a:rPr lang="en-US" sz="1500" b="1" dirty="0">
                <a:solidFill>
                  <a:srgbClr val="FFFFFF"/>
                </a:solidFill>
                <a:latin typeface="Be Vietnam Pro" pitchFamily="34" charset="0"/>
                <a:ea typeface="Be Vietnam Pro" pitchFamily="34" charset="-122"/>
                <a:cs typeface="Be Vietnam Pro" pitchFamily="34" charset="-120"/>
              </a:rPr>
              <a:t>Cảm biến khói vượt ngưỡng, nhiệt độ tăng vọt</a:t>
            </a:r>
            <a:endParaRPr lang="en-US" sz="1500" dirty="0"/>
          </a:p>
        </p:txBody>
      </p:sp>
      <p:sp>
        <p:nvSpPr>
          <p:cNvPr id="30" name="Text 26"/>
          <p:cNvSpPr/>
          <p:nvPr/>
        </p:nvSpPr>
        <p:spPr>
          <a:xfrm>
            <a:off x="5833872" y="4140454"/>
            <a:ext cx="5443423" cy="278892"/>
          </a:xfrm>
          <a:prstGeom prst="rect">
            <a:avLst/>
          </a:prstGeom>
          <a:noFill/>
          <a:ln/>
        </p:spPr>
        <p:txBody>
          <a:bodyPr wrap="square" lIns="0" tIns="0" rIns="0" bIns="0" rtlCol="0" anchor="t"/>
          <a:lstStyle/>
          <a:p>
            <a:pPr algn="l" indent="0" marL="0">
              <a:lnSpc>
                <a:spcPts val="1620"/>
              </a:lnSpc>
              <a:buNone/>
            </a:pPr>
            <a:r>
              <a:rPr lang="en-US" sz="1200" dirty="0">
                <a:solidFill>
                  <a:srgbClr val="9BB0C6"/>
                </a:solidFill>
                <a:latin typeface="Be Vietnam Pro" pitchFamily="34" charset="0"/>
                <a:ea typeface="Be Vietnam Pro" pitchFamily="34" charset="-122"/>
                <a:cs typeface="Be Vietnam Pro" pitchFamily="34" charset="-120"/>
              </a:rPr>
              <a:t>Hệ thống mở sự cố nguy cơ cháy.</a:t>
            </a:r>
            <a:endParaRPr lang="en-US" sz="1200" dirty="0"/>
          </a:p>
        </p:txBody>
      </p:sp>
      <p:sp>
        <p:nvSpPr>
          <p:cNvPr id="31" name="Shape 27"/>
          <p:cNvSpPr/>
          <p:nvPr/>
        </p:nvSpPr>
        <p:spPr>
          <a:xfrm rot="10800000">
            <a:off x="8409280" y="4661662"/>
            <a:ext cx="201168" cy="201168"/>
          </a:xfrm>
          <a:prstGeom prst="triangle">
            <a:avLst/>
          </a:prstGeom>
          <a:solidFill>
            <a:srgbClr val="22C55E">
              <a:alpha val="80000"/>
            </a:srgbClr>
          </a:solidFill>
          <a:ln/>
        </p:spPr>
      </p:sp>
      <p:sp>
        <p:nvSpPr>
          <p:cNvPr id="32" name="Shape 28"/>
          <p:cNvSpPr/>
          <p:nvPr/>
        </p:nvSpPr>
        <p:spPr>
          <a:xfrm>
            <a:off x="5541264" y="4890262"/>
            <a:ext cx="5937199" cy="1078992"/>
          </a:xfrm>
          <a:prstGeom prst="roundRect">
            <a:avLst>
              <a:gd name="adj" fmla="val 10169"/>
            </a:avLst>
          </a:prstGeom>
          <a:solidFill>
            <a:srgbClr val="091B2D">
              <a:alpha val="66000"/>
            </a:srgbClr>
          </a:solidFill>
          <a:ln w="12700">
            <a:solidFill>
              <a:srgbClr val="FFFFFF">
                <a:alpha val="12000"/>
              </a:srgbClr>
            </a:solidFill>
            <a:prstDash val="solid"/>
          </a:ln>
        </p:spPr>
      </p:sp>
      <p:sp>
        <p:nvSpPr>
          <p:cNvPr id="33" name="Shape 29"/>
          <p:cNvSpPr/>
          <p:nvPr/>
        </p:nvSpPr>
        <p:spPr>
          <a:xfrm>
            <a:off x="5541264" y="4890262"/>
            <a:ext cx="50292" cy="1078992"/>
          </a:xfrm>
          <a:prstGeom prst="roundRect">
            <a:avLst>
              <a:gd name="adj" fmla="val 54545"/>
            </a:avLst>
          </a:prstGeom>
          <a:solidFill>
            <a:srgbClr val="F87171">
              <a:alpha val="95000"/>
            </a:srgbClr>
          </a:solidFill>
          <a:ln/>
        </p:spPr>
      </p:sp>
      <p:sp>
        <p:nvSpPr>
          <p:cNvPr id="34" name="Text 30"/>
          <p:cNvSpPr/>
          <p:nvPr/>
        </p:nvSpPr>
        <p:spPr>
          <a:xfrm>
            <a:off x="5833872" y="5073142"/>
            <a:ext cx="5443423" cy="330327"/>
          </a:xfrm>
          <a:prstGeom prst="rect">
            <a:avLst/>
          </a:prstGeom>
          <a:noFill/>
          <a:ln/>
        </p:spPr>
        <p:txBody>
          <a:bodyPr wrap="square" lIns="0" tIns="0" rIns="0" bIns="0" rtlCol="0" anchor="t"/>
          <a:lstStyle/>
          <a:p>
            <a:pPr algn="l" indent="0" marL="0">
              <a:lnSpc>
                <a:spcPts val="2025"/>
              </a:lnSpc>
              <a:buNone/>
            </a:pPr>
            <a:r>
              <a:rPr lang="en-US" sz="1500" b="1" dirty="0">
                <a:solidFill>
                  <a:srgbClr val="F87171"/>
                </a:solidFill>
                <a:latin typeface="Be Vietnam Pro" pitchFamily="34" charset="0"/>
                <a:ea typeface="Be Vietnam Pro" pitchFamily="34" charset="-122"/>
                <a:cs typeface="Be Vietnam Pro" pitchFamily="34" charset="-120"/>
              </a:rPr>
              <a:t>KHÔNG ĐIỀU PHỐI ĐƯỢC</a:t>
            </a:r>
            <a:endParaRPr lang="en-US" sz="1500" dirty="0"/>
          </a:p>
        </p:txBody>
      </p:sp>
      <p:sp>
        <p:nvSpPr>
          <p:cNvPr id="35" name="Text 31"/>
          <p:cNvSpPr/>
          <p:nvPr/>
        </p:nvSpPr>
        <p:spPr>
          <a:xfrm>
            <a:off x="5833872" y="5475478"/>
            <a:ext cx="5443423" cy="484632"/>
          </a:xfrm>
          <a:prstGeom prst="rect">
            <a:avLst/>
          </a:prstGeom>
          <a:noFill/>
          <a:ln/>
        </p:spPr>
        <p:txBody>
          <a:bodyPr wrap="square" lIns="0" tIns="0" rIns="0" bIns="0" rtlCol="0" anchor="t"/>
          <a:lstStyle/>
          <a:p>
            <a:pPr algn="l" indent="0" marL="0">
              <a:lnSpc>
                <a:spcPts val="1620"/>
              </a:lnSpc>
              <a:buNone/>
            </a:pPr>
            <a:r>
              <a:rPr lang="en-US" sz="1200" dirty="0">
                <a:solidFill>
                  <a:srgbClr val="9BB0C6"/>
                </a:solidFill>
                <a:latin typeface="Be Vietnam Pro" pitchFamily="34" charset="0"/>
                <a:ea typeface="Be Vietnam Pro" pitchFamily="34" charset="-122"/>
                <a:cs typeface="Be Vietnam Pro" pitchFamily="34" charset="-120"/>
              </a:rPr>
              <a:t>Người điều phối biết ngay: không được lên phương án lấy hàng từ kho</a:t>
            </a:r>
            <a:endParaRPr lang="en-US" sz="1200" dirty="0"/>
          </a:p>
          <a:p>
            <a:pPr algn="l" indent="0" marL="0">
              <a:lnSpc>
                <a:spcPts val="1620"/>
              </a:lnSpc>
              <a:buNone/>
            </a:pPr>
            <a:r>
              <a:rPr lang="en-US" sz="1200" dirty="0">
                <a:solidFill>
                  <a:srgbClr val="9BB0C6"/>
                </a:solidFill>
                <a:latin typeface="Be Vietnam Pro" pitchFamily="34" charset="0"/>
                <a:ea typeface="Be Vietnam Pro" pitchFamily="34" charset="-122"/>
                <a:cs typeface="Be Vietnam Pro" pitchFamily="34" charset="-120"/>
              </a:rPr>
              <a:t>này.</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4101F"/>
        </a:solidFill>
      </p:bgPr>
    </p:bg>
    <p:spTree>
      <p:nvGrpSpPr>
        <p:cNvPr id="1" name=""/>
        <p:cNvGrpSpPr/>
        <p:nvPr/>
      </p:nvGrpSpPr>
      <p:grpSpPr>
        <a:xfrm>
          <a:off x="0" y="0"/>
          <a:ext cx="0" cy="0"/>
          <a:chOff x="0" y="0"/>
          <a:chExt cx="0" cy="0"/>
        </a:xfrm>
      </p:grpSpPr>
      <p:pic>
        <p:nvPicPr>
          <p:cNvPr id="2" name="Image 0" descr="bg-content.jp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4101F">
              <a:alpha val="34000"/>
            </a:srgbClr>
          </a:solidFill>
          <a:ln/>
        </p:spPr>
      </p:sp>
      <p:pic>
        <p:nvPicPr>
          <p:cNvPr id="4" name="Image 1" descr="mark-sm.png">    </p:cNvPr>
          <p:cNvPicPr>
            <a:picLocks noChangeAspect="1"/>
          </p:cNvPicPr>
          <p:nvPr/>
        </p:nvPicPr>
        <p:blipFill>
          <a:blip r:embed="rId2"/>
          <a:stretch>
            <a:fillRect/>
          </a:stretch>
        </p:blipFill>
        <p:spPr>
          <a:xfrm>
            <a:off x="713232" y="365760"/>
            <a:ext cx="310896" cy="310896"/>
          </a:xfrm>
          <a:prstGeom prst="rect">
            <a:avLst/>
          </a:prstGeom>
        </p:spPr>
      </p:pic>
      <p:sp>
        <p:nvSpPr>
          <p:cNvPr id="5" name="Text 1"/>
          <p:cNvSpPr/>
          <p:nvPr/>
        </p:nvSpPr>
        <p:spPr>
          <a:xfrm>
            <a:off x="1170432" y="384048"/>
            <a:ext cx="3749040" cy="261747"/>
          </a:xfrm>
          <a:prstGeom prst="rect">
            <a:avLst/>
          </a:prstGeom>
          <a:noFill/>
          <a:ln/>
        </p:spPr>
        <p:txBody>
          <a:bodyPr wrap="square" lIns="0" tIns="0" rIns="0" bIns="0" rtlCol="0" anchor="t"/>
          <a:lstStyle/>
          <a:p>
            <a:pPr algn="l" indent="0" marL="0">
              <a:lnSpc>
                <a:spcPts val="1485"/>
              </a:lnSpc>
              <a:buNone/>
            </a:pPr>
            <a:r>
              <a:rPr lang="en-US" sz="1100" b="1" spc="160" kern="0" dirty="0">
                <a:solidFill>
                  <a:srgbClr val="6EE7A8"/>
                </a:solidFill>
                <a:latin typeface="Be Vietnam Pro" pitchFamily="34" charset="0"/>
                <a:ea typeface="Be Vietnam Pro" pitchFamily="34" charset="-122"/>
                <a:cs typeface="Be Vietnam Pro" pitchFamily="34" charset="-120"/>
              </a:rPr>
              <a:t>ỨNG PHÓ NHANH</a:t>
            </a:r>
            <a:endParaRPr lang="en-US" sz="1100" dirty="0"/>
          </a:p>
        </p:txBody>
      </p:sp>
      <p:sp>
        <p:nvSpPr>
          <p:cNvPr id="6" name="Text 2"/>
          <p:cNvSpPr/>
          <p:nvPr/>
        </p:nvSpPr>
        <p:spPr>
          <a:xfrm>
            <a:off x="8643823" y="384048"/>
            <a:ext cx="2834640" cy="261747"/>
          </a:xfrm>
          <a:prstGeom prst="rect">
            <a:avLst/>
          </a:prstGeom>
          <a:noFill/>
          <a:ln/>
        </p:spPr>
        <p:txBody>
          <a:bodyPr wrap="square" lIns="0" tIns="0" rIns="0" bIns="0" rtlCol="0" anchor="t"/>
          <a:lstStyle/>
          <a:p>
            <a:pPr algn="r" indent="0" marL="0">
              <a:lnSpc>
                <a:spcPts val="1485"/>
              </a:lnSpc>
              <a:buNone/>
            </a:pPr>
            <a:r>
              <a:rPr lang="en-US" sz="1100" b="1" dirty="0">
                <a:solidFill>
                  <a:srgbClr val="7189A2"/>
                </a:solidFill>
                <a:latin typeface="Be Vietnam Pro" pitchFamily="34" charset="0"/>
                <a:ea typeface="Be Vietnam Pro" pitchFamily="34" charset="-122"/>
                <a:cs typeface="Be Vietnam Pro" pitchFamily="34" charset="-120"/>
              </a:rPr>
              <a:t>18 / 24</a:t>
            </a:r>
            <a:endParaRPr lang="en-US" sz="1100" dirty="0"/>
          </a:p>
        </p:txBody>
      </p:sp>
      <p:sp>
        <p:nvSpPr>
          <p:cNvPr id="7" name="Shape 3"/>
          <p:cNvSpPr/>
          <p:nvPr/>
        </p:nvSpPr>
        <p:spPr>
          <a:xfrm>
            <a:off x="713232" y="868680"/>
            <a:ext cx="10765231" cy="10973"/>
          </a:xfrm>
          <a:prstGeom prst="rect">
            <a:avLst/>
          </a:prstGeom>
          <a:solidFill>
            <a:srgbClr val="FFFFFF">
              <a:alpha val="16000"/>
            </a:srgbClr>
          </a:solidFill>
          <a:ln/>
        </p:spPr>
      </p:sp>
      <p:sp>
        <p:nvSpPr>
          <p:cNvPr id="8" name="Text 4"/>
          <p:cNvSpPr/>
          <p:nvPr/>
        </p:nvSpPr>
        <p:spPr>
          <a:xfrm>
            <a:off x="713232" y="1133856"/>
            <a:ext cx="8321040" cy="270320"/>
          </a:xfrm>
          <a:prstGeom prst="rect">
            <a:avLst/>
          </a:prstGeom>
          <a:noFill/>
          <a:ln/>
        </p:spPr>
        <p:txBody>
          <a:bodyPr wrap="square" lIns="0" tIns="0" rIns="0" bIns="0" rtlCol="0" anchor="t"/>
          <a:lstStyle/>
          <a:p>
            <a:pPr algn="l" indent="0" marL="0">
              <a:lnSpc>
                <a:spcPts val="1553"/>
              </a:lnSpc>
              <a:buNone/>
            </a:pPr>
            <a:r>
              <a:rPr lang="en-US" sz="1150" b="1" spc="220" kern="0" dirty="0">
                <a:solidFill>
                  <a:srgbClr val="22C55E"/>
                </a:solidFill>
                <a:latin typeface="Be Vietnam Pro" pitchFamily="34" charset="0"/>
                <a:ea typeface="Be Vietnam Pro" pitchFamily="34" charset="-122"/>
                <a:cs typeface="Be Vietnam Pro" pitchFamily="34" charset="-120"/>
              </a:rPr>
              <a:t>CẢM BIẾN IoT TẠI KHO</a:t>
            </a:r>
            <a:endParaRPr lang="en-US" sz="1150" dirty="0"/>
          </a:p>
        </p:txBody>
      </p:sp>
      <p:sp>
        <p:nvSpPr>
          <p:cNvPr id="9" name="Text 5"/>
          <p:cNvSpPr/>
          <p:nvPr/>
        </p:nvSpPr>
        <p:spPr>
          <a:xfrm>
            <a:off x="713232" y="1426464"/>
            <a:ext cx="10490911" cy="537718"/>
          </a:xfrm>
          <a:prstGeom prst="rect">
            <a:avLst/>
          </a:prstGeom>
          <a:noFill/>
          <a:ln/>
        </p:spPr>
        <p:txBody>
          <a:bodyPr wrap="square" lIns="0" tIns="0" rIns="0" bIns="0" rtlCol="0" anchor="t"/>
          <a:lstStyle/>
          <a:p>
            <a:pPr algn="l" indent="0" marL="0">
              <a:lnSpc>
                <a:spcPts val="3658"/>
              </a:lnSpc>
              <a:buNone/>
            </a:pPr>
            <a:r>
              <a:rPr lang="en-US" sz="3100" b="1" dirty="0">
                <a:solidFill>
                  <a:srgbClr val="FFFFFF"/>
                </a:solidFill>
                <a:latin typeface="Be Vietnam Pro" pitchFamily="34" charset="0"/>
                <a:ea typeface="Be Vietnam Pro" pitchFamily="34" charset="-122"/>
                <a:cs typeface="Be Vietnam Pro" pitchFamily="34" charset="-120"/>
              </a:rPr>
              <a:t>Cảnh báo trước khi mất hàng</a:t>
            </a:r>
            <a:endParaRPr lang="en-US" sz="3100" dirty="0"/>
          </a:p>
        </p:txBody>
      </p:sp>
      <p:sp>
        <p:nvSpPr>
          <p:cNvPr id="10" name="Shape 6"/>
          <p:cNvSpPr/>
          <p:nvPr/>
        </p:nvSpPr>
        <p:spPr>
          <a:xfrm>
            <a:off x="713232" y="6272784"/>
            <a:ext cx="10765231" cy="9144"/>
          </a:xfrm>
          <a:prstGeom prst="rect">
            <a:avLst/>
          </a:prstGeom>
          <a:solidFill>
            <a:srgbClr val="FFFFFF">
              <a:alpha val="10000"/>
            </a:srgbClr>
          </a:solidFill>
          <a:ln/>
        </p:spPr>
      </p:sp>
      <p:sp>
        <p:nvSpPr>
          <p:cNvPr id="11" name="Text 7"/>
          <p:cNvSpPr/>
          <p:nvPr/>
        </p:nvSpPr>
        <p:spPr>
          <a:xfrm>
            <a:off x="8643823" y="6382512"/>
            <a:ext cx="2834640" cy="236030"/>
          </a:xfrm>
          <a:prstGeom prst="rect">
            <a:avLst/>
          </a:prstGeom>
          <a:noFill/>
          <a:ln/>
        </p:spPr>
        <p:txBody>
          <a:bodyPr wrap="square" lIns="0" tIns="0" rIns="0" bIns="0" rtlCol="0" anchor="t"/>
          <a:lstStyle/>
          <a:p>
            <a:pPr algn="r" indent="0" marL="0">
              <a:lnSpc>
                <a:spcPts val="1283"/>
              </a:lnSpc>
              <a:buNone/>
            </a:pPr>
            <a:r>
              <a:rPr lang="en-US" sz="950" dirty="0">
                <a:solidFill>
                  <a:srgbClr val="7189A2"/>
                </a:solidFill>
                <a:latin typeface="Be Vietnam Pro" pitchFamily="34" charset="0"/>
                <a:ea typeface="Be Vietnam Pro" pitchFamily="34" charset="-122"/>
                <a:cs typeface="Be Vietnam Pro" pitchFamily="34" charset="-120"/>
              </a:rPr>
              <a:t>ungphonhanh.life</a:t>
            </a:r>
            <a:endParaRPr lang="en-US" sz="950" dirty="0"/>
          </a:p>
        </p:txBody>
      </p:sp>
      <p:sp>
        <p:nvSpPr>
          <p:cNvPr id="12" name="Shape 8"/>
          <p:cNvSpPr/>
          <p:nvPr/>
        </p:nvSpPr>
        <p:spPr>
          <a:xfrm>
            <a:off x="713232" y="2220214"/>
            <a:ext cx="5245456" cy="868680"/>
          </a:xfrm>
          <a:prstGeom prst="roundRect">
            <a:avLst>
              <a:gd name="adj" fmla="val 12632"/>
            </a:avLst>
          </a:prstGeom>
          <a:solidFill>
            <a:srgbClr val="091B2D">
              <a:alpha val="66000"/>
            </a:srgbClr>
          </a:solidFill>
          <a:ln w="12700">
            <a:solidFill>
              <a:srgbClr val="FFFFFF">
                <a:alpha val="12000"/>
              </a:srgbClr>
            </a:solidFill>
            <a:prstDash val="solid"/>
          </a:ln>
        </p:spPr>
      </p:sp>
      <p:sp>
        <p:nvSpPr>
          <p:cNvPr id="13" name="Shape 9"/>
          <p:cNvSpPr/>
          <p:nvPr/>
        </p:nvSpPr>
        <p:spPr>
          <a:xfrm>
            <a:off x="713232" y="2220214"/>
            <a:ext cx="50292" cy="868680"/>
          </a:xfrm>
          <a:prstGeom prst="roundRect">
            <a:avLst>
              <a:gd name="adj" fmla="val 54545"/>
            </a:avLst>
          </a:prstGeom>
          <a:solidFill>
            <a:srgbClr val="38BDF8">
              <a:alpha val="95000"/>
            </a:srgbClr>
          </a:solidFill>
          <a:ln/>
        </p:spPr>
      </p:sp>
      <p:sp>
        <p:nvSpPr>
          <p:cNvPr id="14" name="Text 10"/>
          <p:cNvSpPr/>
          <p:nvPr/>
        </p:nvSpPr>
        <p:spPr>
          <a:xfrm>
            <a:off x="1005840" y="2329942"/>
            <a:ext cx="4751680" cy="330327"/>
          </a:xfrm>
          <a:prstGeom prst="rect">
            <a:avLst/>
          </a:prstGeom>
          <a:noFill/>
          <a:ln/>
        </p:spPr>
        <p:txBody>
          <a:bodyPr wrap="square" lIns="0" tIns="0" rIns="0" bIns="0" rtlCol="0" anchor="t"/>
          <a:lstStyle/>
          <a:p>
            <a:pPr algn="l" indent="0" marL="0">
              <a:lnSpc>
                <a:spcPts val="2025"/>
              </a:lnSpc>
              <a:buNone/>
            </a:pPr>
            <a:r>
              <a:rPr lang="en-US" sz="1500" b="1" dirty="0">
                <a:solidFill>
                  <a:srgbClr val="FFFFFF"/>
                </a:solidFill>
                <a:latin typeface="Be Vietnam Pro" pitchFamily="34" charset="0"/>
                <a:ea typeface="Be Vietnam Pro" pitchFamily="34" charset="-122"/>
                <a:cs typeface="Be Vietnam Pro" pitchFamily="34" charset="-120"/>
              </a:rPr>
              <a:t>9 loại thiết bị</a:t>
            </a:r>
            <a:endParaRPr lang="en-US" sz="1500" dirty="0"/>
          </a:p>
        </p:txBody>
      </p:sp>
      <p:sp>
        <p:nvSpPr>
          <p:cNvPr id="15" name="Text 11"/>
          <p:cNvSpPr/>
          <p:nvPr/>
        </p:nvSpPr>
        <p:spPr>
          <a:xfrm>
            <a:off x="1005840" y="2677414"/>
            <a:ext cx="4751680" cy="467487"/>
          </a:xfrm>
          <a:prstGeom prst="rect">
            <a:avLst/>
          </a:prstGeom>
          <a:noFill/>
          <a:ln/>
        </p:spPr>
        <p:txBody>
          <a:bodyPr wrap="square" lIns="0" tIns="0" rIns="0" bIns="0" rtlCol="0" anchor="t"/>
          <a:lstStyle/>
          <a:p>
            <a:pPr algn="l" indent="0" marL="0">
              <a:lnSpc>
                <a:spcPts val="1553"/>
              </a:lnSpc>
              <a:buNone/>
            </a:pPr>
            <a:r>
              <a:rPr lang="en-US" sz="1150" dirty="0">
                <a:solidFill>
                  <a:srgbClr val="9BB0C6"/>
                </a:solidFill>
                <a:latin typeface="Be Vietnam Pro" pitchFamily="34" charset="0"/>
                <a:ea typeface="Be Vietnam Pro" pitchFamily="34" charset="-122"/>
                <a:cs typeface="Be Vietnam Pro" pitchFamily="34" charset="-120"/>
              </a:rPr>
              <a:t>Cân kệ, nhiệt độ, độ ẩm, khói, cảm biến cửa, cổng RFID, camera,</a:t>
            </a:r>
            <a:endParaRPr lang="en-US" sz="1150" dirty="0"/>
          </a:p>
          <a:p>
            <a:pPr algn="l" indent="0" marL="0">
              <a:lnSpc>
                <a:spcPts val="1553"/>
              </a:lnSpc>
              <a:buNone/>
            </a:pPr>
            <a:r>
              <a:rPr lang="en-US" sz="1150" dirty="0">
                <a:solidFill>
                  <a:srgbClr val="9BB0C6"/>
                </a:solidFill>
                <a:latin typeface="Be Vietnam Pro" pitchFamily="34" charset="0"/>
                <a:ea typeface="Be Vietnam Pro" pitchFamily="34" charset="-122"/>
                <a:cs typeface="Be Vietnam Pro" pitchFamily="34" charset="-120"/>
              </a:rPr>
              <a:t>nguồn điện…</a:t>
            </a:r>
            <a:endParaRPr lang="en-US" sz="1150" dirty="0"/>
          </a:p>
        </p:txBody>
      </p:sp>
      <p:sp>
        <p:nvSpPr>
          <p:cNvPr id="16" name="Shape 12"/>
          <p:cNvSpPr/>
          <p:nvPr/>
        </p:nvSpPr>
        <p:spPr>
          <a:xfrm>
            <a:off x="6233008" y="2220214"/>
            <a:ext cx="5245456" cy="868680"/>
          </a:xfrm>
          <a:prstGeom prst="roundRect">
            <a:avLst>
              <a:gd name="adj" fmla="val 12632"/>
            </a:avLst>
          </a:prstGeom>
          <a:solidFill>
            <a:srgbClr val="091B2D">
              <a:alpha val="66000"/>
            </a:srgbClr>
          </a:solidFill>
          <a:ln w="12700">
            <a:solidFill>
              <a:srgbClr val="FFFFFF">
                <a:alpha val="12000"/>
              </a:srgbClr>
            </a:solidFill>
            <a:prstDash val="solid"/>
          </a:ln>
        </p:spPr>
      </p:sp>
      <p:sp>
        <p:nvSpPr>
          <p:cNvPr id="17" name="Shape 13"/>
          <p:cNvSpPr/>
          <p:nvPr/>
        </p:nvSpPr>
        <p:spPr>
          <a:xfrm>
            <a:off x="6233008" y="2220214"/>
            <a:ext cx="50292" cy="868680"/>
          </a:xfrm>
          <a:prstGeom prst="roundRect">
            <a:avLst>
              <a:gd name="adj" fmla="val 54545"/>
            </a:avLst>
          </a:prstGeom>
          <a:solidFill>
            <a:srgbClr val="22C55E">
              <a:alpha val="95000"/>
            </a:srgbClr>
          </a:solidFill>
          <a:ln/>
        </p:spPr>
      </p:sp>
      <p:sp>
        <p:nvSpPr>
          <p:cNvPr id="18" name="Text 14"/>
          <p:cNvSpPr/>
          <p:nvPr/>
        </p:nvSpPr>
        <p:spPr>
          <a:xfrm>
            <a:off x="6525616" y="2329942"/>
            <a:ext cx="4751680" cy="330327"/>
          </a:xfrm>
          <a:prstGeom prst="rect">
            <a:avLst/>
          </a:prstGeom>
          <a:noFill/>
          <a:ln/>
        </p:spPr>
        <p:txBody>
          <a:bodyPr wrap="square" lIns="0" tIns="0" rIns="0" bIns="0" rtlCol="0" anchor="t"/>
          <a:lstStyle/>
          <a:p>
            <a:pPr algn="l" indent="0" marL="0">
              <a:lnSpc>
                <a:spcPts val="2025"/>
              </a:lnSpc>
              <a:buNone/>
            </a:pPr>
            <a:r>
              <a:rPr lang="en-US" sz="1500" b="1" dirty="0">
                <a:solidFill>
                  <a:srgbClr val="FFFFFF"/>
                </a:solidFill>
                <a:latin typeface="Be Vietnam Pro" pitchFamily="34" charset="0"/>
                <a:ea typeface="Be Vietnam Pro" pitchFamily="34" charset="-122"/>
                <a:cs typeface="Be Vietnam Pro" pitchFamily="34" charset="-120"/>
              </a:rPr>
              <a:t>9 loại sự cố được quét tự động</a:t>
            </a:r>
            <a:endParaRPr lang="en-US" sz="1500" dirty="0"/>
          </a:p>
        </p:txBody>
      </p:sp>
      <p:sp>
        <p:nvSpPr>
          <p:cNvPr id="19" name="Text 15"/>
          <p:cNvSpPr/>
          <p:nvPr/>
        </p:nvSpPr>
        <p:spPr>
          <a:xfrm>
            <a:off x="6525616" y="2677414"/>
            <a:ext cx="4751680" cy="467487"/>
          </a:xfrm>
          <a:prstGeom prst="rect">
            <a:avLst/>
          </a:prstGeom>
          <a:noFill/>
          <a:ln/>
        </p:spPr>
        <p:txBody>
          <a:bodyPr wrap="square" lIns="0" tIns="0" rIns="0" bIns="0" rtlCol="0" anchor="t"/>
          <a:lstStyle/>
          <a:p>
            <a:pPr algn="l" indent="0" marL="0">
              <a:lnSpc>
                <a:spcPts val="1553"/>
              </a:lnSpc>
              <a:buNone/>
            </a:pPr>
            <a:r>
              <a:rPr lang="en-US" sz="1150" dirty="0">
                <a:solidFill>
                  <a:srgbClr val="9BB0C6"/>
                </a:solidFill>
                <a:latin typeface="Be Vietnam Pro" pitchFamily="34" charset="0"/>
                <a:ea typeface="Be Vietnam Pro" pitchFamily="34" charset="-122"/>
                <a:cs typeface="Be Vietnam Pro" pitchFamily="34" charset="-120"/>
              </a:rPr>
              <a:t>Hệ thống mở hồ sơ sự cố kèm bằng chứng và báo theo thời gian</a:t>
            </a:r>
            <a:endParaRPr lang="en-US" sz="1150" dirty="0"/>
          </a:p>
          <a:p>
            <a:pPr algn="l" indent="0" marL="0">
              <a:lnSpc>
                <a:spcPts val="1553"/>
              </a:lnSpc>
              <a:buNone/>
            </a:pPr>
            <a:r>
              <a:rPr lang="en-US" sz="1150" dirty="0">
                <a:solidFill>
                  <a:srgbClr val="9BB0C6"/>
                </a:solidFill>
                <a:latin typeface="Be Vietnam Pro" pitchFamily="34" charset="0"/>
                <a:ea typeface="Be Vietnam Pro" pitchFamily="34" charset="-122"/>
                <a:cs typeface="Be Vietnam Pro" pitchFamily="34" charset="-120"/>
              </a:rPr>
              <a:t>thực.</a:t>
            </a:r>
            <a:endParaRPr lang="en-US" sz="1150" dirty="0"/>
          </a:p>
        </p:txBody>
      </p:sp>
      <p:sp>
        <p:nvSpPr>
          <p:cNvPr id="20" name="Shape 16"/>
          <p:cNvSpPr/>
          <p:nvPr/>
        </p:nvSpPr>
        <p:spPr>
          <a:xfrm>
            <a:off x="713232" y="3317494"/>
            <a:ext cx="5245456" cy="1783080"/>
          </a:xfrm>
          <a:prstGeom prst="roundRect">
            <a:avLst>
              <a:gd name="adj" fmla="val 6154"/>
            </a:avLst>
          </a:prstGeom>
          <a:solidFill>
            <a:srgbClr val="091B2D">
              <a:alpha val="66000"/>
            </a:srgbClr>
          </a:solidFill>
          <a:ln w="12700">
            <a:solidFill>
              <a:srgbClr val="FFFFFF">
                <a:alpha val="12000"/>
              </a:srgbClr>
            </a:solidFill>
            <a:prstDash val="solid"/>
          </a:ln>
        </p:spPr>
      </p:sp>
      <p:sp>
        <p:nvSpPr>
          <p:cNvPr id="21" name="Shape 17"/>
          <p:cNvSpPr/>
          <p:nvPr/>
        </p:nvSpPr>
        <p:spPr>
          <a:xfrm>
            <a:off x="713232" y="3317494"/>
            <a:ext cx="50292" cy="1783080"/>
          </a:xfrm>
          <a:prstGeom prst="roundRect">
            <a:avLst>
              <a:gd name="adj" fmla="val 54545"/>
            </a:avLst>
          </a:prstGeom>
          <a:solidFill>
            <a:srgbClr val="FB923C">
              <a:alpha val="95000"/>
            </a:srgbClr>
          </a:solidFill>
          <a:ln/>
        </p:spPr>
      </p:sp>
      <p:sp>
        <p:nvSpPr>
          <p:cNvPr id="22" name="Text 18"/>
          <p:cNvSpPr/>
          <p:nvPr/>
        </p:nvSpPr>
        <p:spPr>
          <a:xfrm>
            <a:off x="1005840" y="3518662"/>
            <a:ext cx="4751680" cy="338900"/>
          </a:xfrm>
          <a:prstGeom prst="rect">
            <a:avLst/>
          </a:prstGeom>
          <a:noFill/>
          <a:ln/>
        </p:spPr>
        <p:txBody>
          <a:bodyPr wrap="square" lIns="0" tIns="0" rIns="0" bIns="0" rtlCol="0" anchor="t"/>
          <a:lstStyle/>
          <a:p>
            <a:pPr algn="l" indent="0" marL="0">
              <a:lnSpc>
                <a:spcPts val="2093"/>
              </a:lnSpc>
              <a:buNone/>
            </a:pPr>
            <a:r>
              <a:rPr lang="en-US" sz="1550" b="1" dirty="0">
                <a:solidFill>
                  <a:srgbClr val="FFFFFF"/>
                </a:solidFill>
                <a:latin typeface="Be Vietnam Pro" pitchFamily="34" charset="0"/>
                <a:ea typeface="Be Vietnam Pro" pitchFamily="34" charset="-122"/>
                <a:cs typeface="Be Vietnam Pro" pitchFamily="34" charset="-120"/>
              </a:rPr>
              <a:t>Nguy cơ cháy đòi hai dấu hiệu cùng lúc</a:t>
            </a:r>
            <a:endParaRPr lang="en-US" sz="1550" dirty="0"/>
          </a:p>
        </p:txBody>
      </p:sp>
      <p:sp>
        <p:nvSpPr>
          <p:cNvPr id="23" name="Text 19"/>
          <p:cNvSpPr/>
          <p:nvPr/>
        </p:nvSpPr>
        <p:spPr>
          <a:xfrm>
            <a:off x="1005840" y="3957574"/>
            <a:ext cx="4751680" cy="957072"/>
          </a:xfrm>
          <a:prstGeom prst="rect">
            <a:avLst/>
          </a:prstGeom>
          <a:noFill/>
          <a:ln/>
        </p:spPr>
        <p:txBody>
          <a:bodyPr wrap="square" lIns="0" tIns="0" rIns="0" bIns="0" rtlCol="0" anchor="t"/>
          <a:lstStyle/>
          <a:p>
            <a:pPr algn="l" indent="0" marL="0">
              <a:lnSpc>
                <a:spcPts val="1740"/>
              </a:lnSpc>
              <a:buNone/>
            </a:pPr>
            <a:r>
              <a:rPr lang="en-US" sz="1200" dirty="0">
                <a:solidFill>
                  <a:srgbClr val="D9E6F2"/>
                </a:solidFill>
                <a:latin typeface="Be Vietnam Pro" pitchFamily="34" charset="0"/>
                <a:ea typeface="Be Vietnam Pro" pitchFamily="34" charset="-122"/>
                <a:cs typeface="Be Vietnam Pro" pitchFamily="34" charset="-120"/>
              </a:rPr>
              <a:t>Khói vượt 30 ppm VÀ nhiệt độ tăng từ 15 độ trở lên trong cùng</a:t>
            </a:r>
            <a:endParaRPr lang="en-US" sz="1200" dirty="0"/>
          </a:p>
          <a:p>
            <a:pPr algn="l" indent="0" marL="0">
              <a:lnSpc>
                <a:spcPts val="1740"/>
              </a:lnSpc>
              <a:buNone/>
            </a:pPr>
            <a:r>
              <a:rPr lang="en-US" sz="1200" dirty="0">
                <a:solidFill>
                  <a:srgbClr val="D9E6F2"/>
                </a:solidFill>
                <a:latin typeface="Be Vietnam Pro" pitchFamily="34" charset="0"/>
                <a:ea typeface="Be Vietnam Pro" pitchFamily="34" charset="-122"/>
                <a:cs typeface="Be Vietnam Pro" pitchFamily="34" charset="-120"/>
              </a:rPr>
              <a:t>một cửa sổ quét. Chỉ có khói thì không kích hoạt.</a:t>
            </a:r>
            <a:endParaRPr lang="en-US" sz="1200" dirty="0"/>
          </a:p>
          <a:p>
            <a:pPr algn="l" indent="0" marL="0">
              <a:lnSpc>
                <a:spcPts val="1740"/>
              </a:lnSpc>
              <a:buNone/>
            </a:pPr>
            <a:endParaRPr lang="en-US" sz="1200" dirty="0"/>
          </a:p>
          <a:p>
            <a:pPr algn="l" indent="0" marL="0">
              <a:lnSpc>
                <a:spcPts val="1740"/>
              </a:lnSpc>
              <a:buNone/>
            </a:pPr>
            <a:r>
              <a:rPr lang="en-US" sz="1200" dirty="0">
                <a:solidFill>
                  <a:srgbClr val="D9E6F2"/>
                </a:solidFill>
                <a:latin typeface="Be Vietnam Pro" pitchFamily="34" charset="0"/>
                <a:ea typeface="Be Vietnam Pro" pitchFamily="34" charset="-122"/>
                <a:cs typeface="Be Vietnam Pro" pitchFamily="34" charset="-120"/>
              </a:rPr>
              <a:t>Một hệ thống báo động giả vài lần sẽ bị người ta tắt đi.</a:t>
            </a:r>
            <a:endParaRPr lang="en-US" sz="1200" dirty="0"/>
          </a:p>
        </p:txBody>
      </p:sp>
      <p:sp>
        <p:nvSpPr>
          <p:cNvPr id="24" name="Shape 20"/>
          <p:cNvSpPr/>
          <p:nvPr/>
        </p:nvSpPr>
        <p:spPr>
          <a:xfrm>
            <a:off x="6233008" y="3317494"/>
            <a:ext cx="5245456" cy="1783080"/>
          </a:xfrm>
          <a:prstGeom prst="roundRect">
            <a:avLst>
              <a:gd name="adj" fmla="val 6154"/>
            </a:avLst>
          </a:prstGeom>
          <a:solidFill>
            <a:srgbClr val="091B2D">
              <a:alpha val="66000"/>
            </a:srgbClr>
          </a:solidFill>
          <a:ln w="12700">
            <a:solidFill>
              <a:srgbClr val="FFFFFF">
                <a:alpha val="12000"/>
              </a:srgbClr>
            </a:solidFill>
            <a:prstDash val="solid"/>
          </a:ln>
        </p:spPr>
      </p:sp>
      <p:sp>
        <p:nvSpPr>
          <p:cNvPr id="25" name="Shape 21"/>
          <p:cNvSpPr/>
          <p:nvPr/>
        </p:nvSpPr>
        <p:spPr>
          <a:xfrm>
            <a:off x="6233008" y="3317494"/>
            <a:ext cx="50292" cy="1783080"/>
          </a:xfrm>
          <a:prstGeom prst="roundRect">
            <a:avLst>
              <a:gd name="adj" fmla="val 54545"/>
            </a:avLst>
          </a:prstGeom>
          <a:solidFill>
            <a:srgbClr val="FBBF24">
              <a:alpha val="95000"/>
            </a:srgbClr>
          </a:solidFill>
          <a:ln/>
        </p:spPr>
      </p:sp>
      <p:sp>
        <p:nvSpPr>
          <p:cNvPr id="26" name="Text 22"/>
          <p:cNvSpPr/>
          <p:nvPr/>
        </p:nvSpPr>
        <p:spPr>
          <a:xfrm>
            <a:off x="6525616" y="3518662"/>
            <a:ext cx="4751680" cy="338900"/>
          </a:xfrm>
          <a:prstGeom prst="rect">
            <a:avLst/>
          </a:prstGeom>
          <a:noFill/>
          <a:ln/>
        </p:spPr>
        <p:txBody>
          <a:bodyPr wrap="square" lIns="0" tIns="0" rIns="0" bIns="0" rtlCol="0" anchor="t"/>
          <a:lstStyle/>
          <a:p>
            <a:pPr algn="l" indent="0" marL="0">
              <a:lnSpc>
                <a:spcPts val="2093"/>
              </a:lnSpc>
              <a:buNone/>
            </a:pPr>
            <a:r>
              <a:rPr lang="en-US" sz="1550" b="1" dirty="0">
                <a:solidFill>
                  <a:srgbClr val="FFFFFF"/>
                </a:solidFill>
                <a:latin typeface="Be Vietnam Pro" pitchFamily="34" charset="0"/>
                <a:ea typeface="Be Vietnam Pro" pitchFamily="34" charset="-122"/>
                <a:cs typeface="Be Vietnam Pro" pitchFamily="34" charset="-120"/>
              </a:rPr>
              <a:t>Sự im lặng cũng là một sự cố</a:t>
            </a:r>
            <a:endParaRPr lang="en-US" sz="1550" dirty="0"/>
          </a:p>
        </p:txBody>
      </p:sp>
      <p:sp>
        <p:nvSpPr>
          <p:cNvPr id="27" name="Text 23"/>
          <p:cNvSpPr/>
          <p:nvPr/>
        </p:nvSpPr>
        <p:spPr>
          <a:xfrm>
            <a:off x="6525616" y="3957574"/>
            <a:ext cx="4751680" cy="957072"/>
          </a:xfrm>
          <a:prstGeom prst="rect">
            <a:avLst/>
          </a:prstGeom>
          <a:noFill/>
          <a:ln/>
        </p:spPr>
        <p:txBody>
          <a:bodyPr wrap="square" lIns="0" tIns="0" rIns="0" bIns="0" rtlCol="0" anchor="t"/>
          <a:lstStyle/>
          <a:p>
            <a:pPr algn="l" indent="0" marL="0">
              <a:lnSpc>
                <a:spcPts val="1740"/>
              </a:lnSpc>
              <a:buNone/>
            </a:pPr>
            <a:r>
              <a:rPr lang="en-US" sz="1200" dirty="0">
                <a:solidFill>
                  <a:srgbClr val="D9E6F2"/>
                </a:solidFill>
                <a:latin typeface="Be Vietnam Pro" pitchFamily="34" charset="0"/>
                <a:ea typeface="Be Vietnam Pro" pitchFamily="34" charset="-122"/>
                <a:cs typeface="Be Vietnam Pro" pitchFamily="34" charset="-120"/>
              </a:rPr>
              <a:t>Thiết bị bỏ lỡ 3 chu kỳ báo thì hệ thống cảnh báo; bỏ lỡ 10 chu</a:t>
            </a:r>
            <a:endParaRPr lang="en-US" sz="1200" dirty="0"/>
          </a:p>
          <a:p>
            <a:pPr algn="l" indent="0" marL="0">
              <a:lnSpc>
                <a:spcPts val="1740"/>
              </a:lnSpc>
              <a:buNone/>
            </a:pPr>
            <a:r>
              <a:rPr lang="en-US" sz="1200" dirty="0">
                <a:solidFill>
                  <a:srgbClr val="D9E6F2"/>
                </a:solidFill>
                <a:latin typeface="Be Vietnam Pro" pitchFamily="34" charset="0"/>
                <a:ea typeface="Be Vietnam Pro" pitchFamily="34" charset="-122"/>
                <a:cs typeface="Be Vietnam Pro" pitchFamily="34" charset="-120"/>
              </a:rPr>
              <a:t>kỳ thì coi như thiết bị đã chết.</a:t>
            </a:r>
            <a:endParaRPr lang="en-US" sz="1200" dirty="0"/>
          </a:p>
          <a:p>
            <a:pPr algn="l" indent="0" marL="0">
              <a:lnSpc>
                <a:spcPts val="1740"/>
              </a:lnSpc>
              <a:buNone/>
            </a:pPr>
            <a:endParaRPr lang="en-US" sz="1200" dirty="0"/>
          </a:p>
          <a:p>
            <a:pPr algn="l" indent="0" marL="0">
              <a:lnSpc>
                <a:spcPts val="1740"/>
              </a:lnSpc>
              <a:buNone/>
            </a:pPr>
            <a:r>
              <a:rPr lang="en-US" sz="1200" dirty="0">
                <a:solidFill>
                  <a:srgbClr val="D9E6F2"/>
                </a:solidFill>
                <a:latin typeface="Be Vietnam Pro" pitchFamily="34" charset="0"/>
                <a:ea typeface="Be Vietnam Pro" pitchFamily="34" charset="-122"/>
                <a:cs typeface="Be Vietnam Pro" pitchFamily="34" charset="-120"/>
              </a:rPr>
              <a:t>Im lặng rất dễ bị hiểu nhầm là “mọi thứ bình thường”.</a:t>
            </a:r>
            <a:endParaRPr lang="en-US" sz="1200" dirty="0"/>
          </a:p>
        </p:txBody>
      </p:sp>
      <p:sp>
        <p:nvSpPr>
          <p:cNvPr id="28" name="Shape 24"/>
          <p:cNvSpPr/>
          <p:nvPr/>
        </p:nvSpPr>
        <p:spPr>
          <a:xfrm>
            <a:off x="713232" y="5338318"/>
            <a:ext cx="10765231" cy="768096"/>
          </a:xfrm>
          <a:prstGeom prst="roundRect">
            <a:avLst>
              <a:gd name="adj" fmla="val 11905"/>
            </a:avLst>
          </a:prstGeom>
          <a:solidFill>
            <a:srgbClr val="22C55E">
              <a:alpha val="12000"/>
            </a:srgbClr>
          </a:solidFill>
          <a:ln w="12700">
            <a:solidFill>
              <a:srgbClr val="22C55E">
                <a:alpha val="40000"/>
              </a:srgbClr>
            </a:solidFill>
            <a:prstDash val="solid"/>
          </a:ln>
        </p:spPr>
      </p:sp>
      <p:sp>
        <p:nvSpPr>
          <p:cNvPr id="29" name="Text 25"/>
          <p:cNvSpPr/>
          <p:nvPr/>
        </p:nvSpPr>
        <p:spPr>
          <a:xfrm>
            <a:off x="1042416" y="5466334"/>
            <a:ext cx="10198303" cy="517652"/>
          </a:xfrm>
          <a:prstGeom prst="rect">
            <a:avLst/>
          </a:prstGeom>
          <a:noFill/>
          <a:ln/>
        </p:spPr>
        <p:txBody>
          <a:bodyPr wrap="square" lIns="0" tIns="0" rIns="0" bIns="0" rtlCol="0" anchor="t"/>
          <a:lstStyle/>
          <a:p>
            <a:pPr algn="l" indent="0" marL="0">
              <a:lnSpc>
                <a:spcPts val="1750"/>
              </a:lnSpc>
              <a:buNone/>
            </a:pPr>
            <a:r>
              <a:rPr lang="en-US" sz="1250" b="1" dirty="0">
                <a:solidFill>
                  <a:srgbClr val="FFFFFF"/>
                </a:solidFill>
                <a:latin typeface="Be Vietnam Pro" pitchFamily="34" charset="0"/>
                <a:ea typeface="Be Vietnam Pro" pitchFamily="34" charset="-122"/>
                <a:cs typeface="Be Vietnam Pro" pitchFamily="34" charset="-120"/>
              </a:rPr>
              <a:t>Mất Internet, thư cảnh báo nằm trong hàng chờ bền vững và gửi lại sau — vẫn ghi đủ ba mốc thời gian: lúc phát hiện · lúc hệ thống</a:t>
            </a:r>
            <a:endParaRPr lang="en-US" sz="1250" dirty="0"/>
          </a:p>
          <a:p>
            <a:pPr algn="l" indent="0" marL="0">
              <a:lnSpc>
                <a:spcPts val="1750"/>
              </a:lnSpc>
              <a:buNone/>
            </a:pPr>
            <a:r>
              <a:rPr lang="en-US" sz="1250" b="1" dirty="0">
                <a:solidFill>
                  <a:srgbClr val="FFFFFF"/>
                </a:solidFill>
                <a:latin typeface="Be Vietnam Pro" pitchFamily="34" charset="0"/>
                <a:ea typeface="Be Vietnam Pro" pitchFamily="34" charset="-122"/>
                <a:cs typeface="Be Vietnam Pro" pitchFamily="34" charset="-120"/>
              </a:rPr>
              <a:t>nhận · lúc gửi đi, để không ai nhầm cảnh báo cũ là cảnh báo mới.</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4101F"/>
        </a:solidFill>
      </p:bgPr>
    </p:bg>
    <p:spTree>
      <p:nvGrpSpPr>
        <p:cNvPr id="1" name=""/>
        <p:cNvGrpSpPr/>
        <p:nvPr/>
      </p:nvGrpSpPr>
      <p:grpSpPr>
        <a:xfrm>
          <a:off x="0" y="0"/>
          <a:ext cx="0" cy="0"/>
          <a:chOff x="0" y="0"/>
          <a:chExt cx="0" cy="0"/>
        </a:xfrm>
      </p:grpSpPr>
      <p:pic>
        <p:nvPicPr>
          <p:cNvPr id="2" name="Image 0" descr="bg-content.jp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4101F">
              <a:alpha val="34000"/>
            </a:srgbClr>
          </a:solidFill>
          <a:ln/>
        </p:spPr>
      </p:sp>
      <p:pic>
        <p:nvPicPr>
          <p:cNvPr id="4" name="Image 1" descr="mark-sm.png">    </p:cNvPr>
          <p:cNvPicPr>
            <a:picLocks noChangeAspect="1"/>
          </p:cNvPicPr>
          <p:nvPr/>
        </p:nvPicPr>
        <p:blipFill>
          <a:blip r:embed="rId2"/>
          <a:stretch>
            <a:fillRect/>
          </a:stretch>
        </p:blipFill>
        <p:spPr>
          <a:xfrm>
            <a:off x="713232" y="365760"/>
            <a:ext cx="310896" cy="310896"/>
          </a:xfrm>
          <a:prstGeom prst="rect">
            <a:avLst/>
          </a:prstGeom>
        </p:spPr>
      </p:pic>
      <p:sp>
        <p:nvSpPr>
          <p:cNvPr id="5" name="Text 1"/>
          <p:cNvSpPr/>
          <p:nvPr/>
        </p:nvSpPr>
        <p:spPr>
          <a:xfrm>
            <a:off x="1170432" y="384048"/>
            <a:ext cx="3749040" cy="261747"/>
          </a:xfrm>
          <a:prstGeom prst="rect">
            <a:avLst/>
          </a:prstGeom>
          <a:noFill/>
          <a:ln/>
        </p:spPr>
        <p:txBody>
          <a:bodyPr wrap="square" lIns="0" tIns="0" rIns="0" bIns="0" rtlCol="0" anchor="t"/>
          <a:lstStyle/>
          <a:p>
            <a:pPr algn="l" indent="0" marL="0">
              <a:lnSpc>
                <a:spcPts val="1485"/>
              </a:lnSpc>
              <a:buNone/>
            </a:pPr>
            <a:r>
              <a:rPr lang="en-US" sz="1100" b="1" spc="160" kern="0" dirty="0">
                <a:solidFill>
                  <a:srgbClr val="6EE7A8"/>
                </a:solidFill>
                <a:latin typeface="Be Vietnam Pro" pitchFamily="34" charset="0"/>
                <a:ea typeface="Be Vietnam Pro" pitchFamily="34" charset="-122"/>
                <a:cs typeface="Be Vietnam Pro" pitchFamily="34" charset="-120"/>
              </a:rPr>
              <a:t>ỨNG PHÓ NHANH</a:t>
            </a:r>
            <a:endParaRPr lang="en-US" sz="1100" dirty="0"/>
          </a:p>
        </p:txBody>
      </p:sp>
      <p:sp>
        <p:nvSpPr>
          <p:cNvPr id="6" name="Text 2"/>
          <p:cNvSpPr/>
          <p:nvPr/>
        </p:nvSpPr>
        <p:spPr>
          <a:xfrm>
            <a:off x="8643823" y="384048"/>
            <a:ext cx="2834640" cy="261747"/>
          </a:xfrm>
          <a:prstGeom prst="rect">
            <a:avLst/>
          </a:prstGeom>
          <a:noFill/>
          <a:ln/>
        </p:spPr>
        <p:txBody>
          <a:bodyPr wrap="square" lIns="0" tIns="0" rIns="0" bIns="0" rtlCol="0" anchor="t"/>
          <a:lstStyle/>
          <a:p>
            <a:pPr algn="r" indent="0" marL="0">
              <a:lnSpc>
                <a:spcPts val="1485"/>
              </a:lnSpc>
              <a:buNone/>
            </a:pPr>
            <a:r>
              <a:rPr lang="en-US" sz="1100" b="1" dirty="0">
                <a:solidFill>
                  <a:srgbClr val="7189A2"/>
                </a:solidFill>
                <a:latin typeface="Be Vietnam Pro" pitchFamily="34" charset="0"/>
                <a:ea typeface="Be Vietnam Pro" pitchFamily="34" charset="-122"/>
                <a:cs typeface="Be Vietnam Pro" pitchFamily="34" charset="-120"/>
              </a:rPr>
              <a:t>19 / 24</a:t>
            </a:r>
            <a:endParaRPr lang="en-US" sz="1100" dirty="0"/>
          </a:p>
        </p:txBody>
      </p:sp>
      <p:sp>
        <p:nvSpPr>
          <p:cNvPr id="7" name="Shape 3"/>
          <p:cNvSpPr/>
          <p:nvPr/>
        </p:nvSpPr>
        <p:spPr>
          <a:xfrm>
            <a:off x="713232" y="868680"/>
            <a:ext cx="10765231" cy="10973"/>
          </a:xfrm>
          <a:prstGeom prst="rect">
            <a:avLst/>
          </a:prstGeom>
          <a:solidFill>
            <a:srgbClr val="FFFFFF">
              <a:alpha val="16000"/>
            </a:srgbClr>
          </a:solidFill>
          <a:ln/>
        </p:spPr>
      </p:sp>
      <p:sp>
        <p:nvSpPr>
          <p:cNvPr id="8" name="Text 4"/>
          <p:cNvSpPr/>
          <p:nvPr/>
        </p:nvSpPr>
        <p:spPr>
          <a:xfrm>
            <a:off x="713232" y="1133856"/>
            <a:ext cx="8321040" cy="270320"/>
          </a:xfrm>
          <a:prstGeom prst="rect">
            <a:avLst/>
          </a:prstGeom>
          <a:noFill/>
          <a:ln/>
        </p:spPr>
        <p:txBody>
          <a:bodyPr wrap="square" lIns="0" tIns="0" rIns="0" bIns="0" rtlCol="0" anchor="t"/>
          <a:lstStyle/>
          <a:p>
            <a:pPr algn="l" indent="0" marL="0">
              <a:lnSpc>
                <a:spcPts val="1553"/>
              </a:lnSpc>
              <a:buNone/>
            </a:pPr>
            <a:r>
              <a:rPr lang="en-US" sz="1150" b="1" spc="220" kern="0" dirty="0">
                <a:solidFill>
                  <a:srgbClr val="22C55E"/>
                </a:solidFill>
                <a:latin typeface="Be Vietnam Pro" pitchFamily="34" charset="0"/>
                <a:ea typeface="Be Vietnam Pro" pitchFamily="34" charset="-122"/>
                <a:cs typeface="Be Vietnam Pro" pitchFamily="34" charset="-120"/>
              </a:rPr>
              <a:t>NÓI THẲNG VỀ PHẦN CỨNG</a:t>
            </a:r>
            <a:endParaRPr lang="en-US" sz="1150" dirty="0"/>
          </a:p>
        </p:txBody>
      </p:sp>
      <p:sp>
        <p:nvSpPr>
          <p:cNvPr id="9" name="Text 5"/>
          <p:cNvSpPr/>
          <p:nvPr/>
        </p:nvSpPr>
        <p:spPr>
          <a:xfrm>
            <a:off x="713232" y="1426464"/>
            <a:ext cx="10490911" cy="537718"/>
          </a:xfrm>
          <a:prstGeom prst="rect">
            <a:avLst/>
          </a:prstGeom>
          <a:noFill/>
          <a:ln/>
        </p:spPr>
        <p:txBody>
          <a:bodyPr wrap="square" lIns="0" tIns="0" rIns="0" bIns="0" rtlCol="0" anchor="t"/>
          <a:lstStyle/>
          <a:p>
            <a:pPr algn="l" indent="0" marL="0">
              <a:lnSpc>
                <a:spcPts val="3658"/>
              </a:lnSpc>
              <a:buNone/>
            </a:pPr>
            <a:r>
              <a:rPr lang="en-US" sz="3100" b="1" dirty="0">
                <a:solidFill>
                  <a:srgbClr val="FFFFFF"/>
                </a:solidFill>
                <a:latin typeface="Be Vietnam Pro" pitchFamily="34" charset="0"/>
                <a:ea typeface="Be Vietnam Pro" pitchFamily="34" charset="-122"/>
                <a:cs typeface="Be Vietnam Pro" pitchFamily="34" charset="-120"/>
              </a:rPr>
              <a:t>Lớp cảm biến hiện tại là một bản sao số của kho</a:t>
            </a:r>
            <a:endParaRPr lang="en-US" sz="3100" dirty="0"/>
          </a:p>
        </p:txBody>
      </p:sp>
      <p:sp>
        <p:nvSpPr>
          <p:cNvPr id="10" name="Shape 6"/>
          <p:cNvSpPr/>
          <p:nvPr/>
        </p:nvSpPr>
        <p:spPr>
          <a:xfrm>
            <a:off x="713232" y="6272784"/>
            <a:ext cx="10765231" cy="9144"/>
          </a:xfrm>
          <a:prstGeom prst="rect">
            <a:avLst/>
          </a:prstGeom>
          <a:solidFill>
            <a:srgbClr val="FFFFFF">
              <a:alpha val="10000"/>
            </a:srgbClr>
          </a:solidFill>
          <a:ln/>
        </p:spPr>
      </p:sp>
      <p:sp>
        <p:nvSpPr>
          <p:cNvPr id="11" name="Text 7"/>
          <p:cNvSpPr/>
          <p:nvPr/>
        </p:nvSpPr>
        <p:spPr>
          <a:xfrm>
            <a:off x="8643823" y="6382512"/>
            <a:ext cx="2834640" cy="236030"/>
          </a:xfrm>
          <a:prstGeom prst="rect">
            <a:avLst/>
          </a:prstGeom>
          <a:noFill/>
          <a:ln/>
        </p:spPr>
        <p:txBody>
          <a:bodyPr wrap="square" lIns="0" tIns="0" rIns="0" bIns="0" rtlCol="0" anchor="t"/>
          <a:lstStyle/>
          <a:p>
            <a:pPr algn="r" indent="0" marL="0">
              <a:lnSpc>
                <a:spcPts val="1283"/>
              </a:lnSpc>
              <a:buNone/>
            </a:pPr>
            <a:r>
              <a:rPr lang="en-US" sz="950" dirty="0">
                <a:solidFill>
                  <a:srgbClr val="7189A2"/>
                </a:solidFill>
                <a:latin typeface="Be Vietnam Pro" pitchFamily="34" charset="0"/>
                <a:ea typeface="Be Vietnam Pro" pitchFamily="34" charset="-122"/>
                <a:cs typeface="Be Vietnam Pro" pitchFamily="34" charset="-120"/>
              </a:rPr>
              <a:t>ungphonhanh.life</a:t>
            </a:r>
            <a:endParaRPr lang="en-US" sz="950" dirty="0"/>
          </a:p>
        </p:txBody>
      </p:sp>
      <p:sp>
        <p:nvSpPr>
          <p:cNvPr id="12" name="Shape 8"/>
          <p:cNvSpPr/>
          <p:nvPr/>
        </p:nvSpPr>
        <p:spPr>
          <a:xfrm>
            <a:off x="713232" y="2220214"/>
            <a:ext cx="3405530" cy="2834640"/>
          </a:xfrm>
          <a:prstGeom prst="roundRect">
            <a:avLst>
              <a:gd name="adj" fmla="val 3871"/>
            </a:avLst>
          </a:prstGeom>
          <a:solidFill>
            <a:srgbClr val="091B2D">
              <a:alpha val="66000"/>
            </a:srgbClr>
          </a:solidFill>
          <a:ln w="12700">
            <a:solidFill>
              <a:srgbClr val="FFFFFF">
                <a:alpha val="12000"/>
              </a:srgbClr>
            </a:solidFill>
            <a:prstDash val="solid"/>
          </a:ln>
        </p:spPr>
      </p:sp>
      <p:sp>
        <p:nvSpPr>
          <p:cNvPr id="13" name="Shape 9"/>
          <p:cNvSpPr/>
          <p:nvPr/>
        </p:nvSpPr>
        <p:spPr>
          <a:xfrm>
            <a:off x="713232" y="2220214"/>
            <a:ext cx="50292" cy="2834640"/>
          </a:xfrm>
          <a:prstGeom prst="roundRect">
            <a:avLst>
              <a:gd name="adj" fmla="val 54545"/>
            </a:avLst>
          </a:prstGeom>
          <a:solidFill>
            <a:srgbClr val="38BDF8">
              <a:alpha val="95000"/>
            </a:srgbClr>
          </a:solidFill>
          <a:ln/>
        </p:spPr>
      </p:sp>
      <p:sp>
        <p:nvSpPr>
          <p:cNvPr id="14" name="Text 10"/>
          <p:cNvSpPr/>
          <p:nvPr/>
        </p:nvSpPr>
        <p:spPr>
          <a:xfrm>
            <a:off x="1024128" y="2494534"/>
            <a:ext cx="2875178" cy="327152"/>
          </a:xfrm>
          <a:prstGeom prst="rect">
            <a:avLst/>
          </a:prstGeom>
          <a:noFill/>
          <a:ln/>
        </p:spPr>
        <p:txBody>
          <a:bodyPr wrap="square" lIns="0" tIns="0" rIns="0" bIns="0" rtlCol="0" anchor="t"/>
          <a:lstStyle/>
          <a:p>
            <a:pPr algn="l" indent="0" marL="0">
              <a:lnSpc>
                <a:spcPts val="2000"/>
              </a:lnSpc>
              <a:buNone/>
            </a:pPr>
            <a:r>
              <a:rPr lang="en-US" sz="1600" b="1" dirty="0">
                <a:solidFill>
                  <a:srgbClr val="FFFFFF"/>
                </a:solidFill>
                <a:latin typeface="Be Vietnam Pro" pitchFamily="34" charset="0"/>
                <a:ea typeface="Be Vietnam Pro" pitchFamily="34" charset="-122"/>
                <a:cs typeface="Be Vietnam Pro" pitchFamily="34" charset="-120"/>
              </a:rPr>
              <a:t>Vì sao làm như vậy</a:t>
            </a:r>
            <a:endParaRPr lang="en-US" sz="1600" dirty="0"/>
          </a:p>
        </p:txBody>
      </p:sp>
      <p:sp>
        <p:nvSpPr>
          <p:cNvPr id="15" name="Text 11"/>
          <p:cNvSpPr/>
          <p:nvPr/>
        </p:nvSpPr>
        <p:spPr>
          <a:xfrm>
            <a:off x="1024128" y="3116326"/>
            <a:ext cx="2875178" cy="1025652"/>
          </a:xfrm>
          <a:prstGeom prst="rect">
            <a:avLst/>
          </a:prstGeom>
          <a:noFill/>
          <a:ln/>
        </p:spPr>
        <p:txBody>
          <a:bodyPr wrap="square" lIns="0" tIns="0" rIns="0" bIns="0" rtlCol="0" anchor="t"/>
          <a:lstStyle/>
          <a:p>
            <a:pPr algn="l" indent="0" marL="0">
              <a:lnSpc>
                <a:spcPts val="1875"/>
              </a:lnSpc>
              <a:buNone/>
            </a:pPr>
            <a:r>
              <a:rPr lang="en-US" sz="1250" dirty="0">
                <a:solidFill>
                  <a:srgbClr val="D9E6F2"/>
                </a:solidFill>
                <a:latin typeface="Be Vietnam Pro" pitchFamily="34" charset="0"/>
                <a:ea typeface="Be Vietnam Pro" pitchFamily="34" charset="-122"/>
                <a:cs typeface="Be Vietnam Pro" pitchFamily="34" charset="-120"/>
              </a:rPr>
              <a:t>Một ứng dụng mô phỏng đủ 9 loại</a:t>
            </a:r>
            <a:endParaRPr lang="en-US" sz="1250" dirty="0"/>
          </a:p>
          <a:p>
            <a:pPr algn="l" indent="0" marL="0">
              <a:lnSpc>
                <a:spcPts val="1875"/>
              </a:lnSpc>
              <a:buNone/>
            </a:pPr>
            <a:r>
              <a:rPr lang="en-US" sz="1250" dirty="0">
                <a:solidFill>
                  <a:srgbClr val="D9E6F2"/>
                </a:solidFill>
                <a:latin typeface="Be Vietnam Pro" pitchFamily="34" charset="0"/>
                <a:ea typeface="Be Vietnam Pro" pitchFamily="34" charset="-122"/>
                <a:cs typeface="Be Vietnam Pro" pitchFamily="34" charset="-120"/>
              </a:rPr>
              <a:t>thiết bị, để kiểm thử trọn chuỗi tín</a:t>
            </a:r>
            <a:endParaRPr lang="en-US" sz="1250" dirty="0"/>
          </a:p>
          <a:p>
            <a:pPr algn="l" indent="0" marL="0">
              <a:lnSpc>
                <a:spcPts val="1875"/>
              </a:lnSpc>
              <a:buNone/>
            </a:pPr>
            <a:r>
              <a:rPr lang="en-US" sz="1250" dirty="0">
                <a:solidFill>
                  <a:srgbClr val="D9E6F2"/>
                </a:solidFill>
                <a:latin typeface="Be Vietnam Pro" pitchFamily="34" charset="0"/>
                <a:ea typeface="Be Vietnam Pro" pitchFamily="34" charset="-122"/>
                <a:cs typeface="Be Vietnam Pro" pitchFamily="34" charset="-120"/>
              </a:rPr>
              <a:t>hiệu → sự cố → cảnh báo → chỉ số sẵn</a:t>
            </a:r>
            <a:endParaRPr lang="en-US" sz="1250" dirty="0"/>
          </a:p>
          <a:p>
            <a:pPr algn="l" indent="0" marL="0">
              <a:lnSpc>
                <a:spcPts val="1875"/>
              </a:lnSpc>
              <a:buNone/>
            </a:pPr>
            <a:r>
              <a:rPr lang="en-US" sz="1250" dirty="0">
                <a:solidFill>
                  <a:srgbClr val="D9E6F2"/>
                </a:solidFill>
                <a:latin typeface="Be Vietnam Pro" pitchFamily="34" charset="0"/>
                <a:ea typeface="Be Vietnam Pro" pitchFamily="34" charset="-122"/>
                <a:cs typeface="Be Vietnam Pro" pitchFamily="34" charset="-120"/>
              </a:rPr>
              <a:t>sàng trước khi bỏ tiền mua thiết bị.</a:t>
            </a:r>
            <a:endParaRPr lang="en-US" sz="1250" dirty="0"/>
          </a:p>
        </p:txBody>
      </p:sp>
      <p:sp>
        <p:nvSpPr>
          <p:cNvPr id="16" name="Shape 12"/>
          <p:cNvSpPr/>
          <p:nvPr/>
        </p:nvSpPr>
        <p:spPr>
          <a:xfrm>
            <a:off x="4393082" y="2220214"/>
            <a:ext cx="3405530" cy="2834640"/>
          </a:xfrm>
          <a:prstGeom prst="roundRect">
            <a:avLst>
              <a:gd name="adj" fmla="val 3871"/>
            </a:avLst>
          </a:prstGeom>
          <a:solidFill>
            <a:srgbClr val="091B2D">
              <a:alpha val="66000"/>
            </a:srgbClr>
          </a:solidFill>
          <a:ln w="12700">
            <a:solidFill>
              <a:srgbClr val="FFFFFF">
                <a:alpha val="12000"/>
              </a:srgbClr>
            </a:solidFill>
            <a:prstDash val="solid"/>
          </a:ln>
        </p:spPr>
      </p:sp>
      <p:sp>
        <p:nvSpPr>
          <p:cNvPr id="17" name="Shape 13"/>
          <p:cNvSpPr/>
          <p:nvPr/>
        </p:nvSpPr>
        <p:spPr>
          <a:xfrm>
            <a:off x="4393082" y="2220214"/>
            <a:ext cx="50292" cy="2834640"/>
          </a:xfrm>
          <a:prstGeom prst="roundRect">
            <a:avLst>
              <a:gd name="adj" fmla="val 54545"/>
            </a:avLst>
          </a:prstGeom>
          <a:solidFill>
            <a:srgbClr val="22C55E">
              <a:alpha val="95000"/>
            </a:srgbClr>
          </a:solidFill>
          <a:ln/>
        </p:spPr>
      </p:sp>
      <p:sp>
        <p:nvSpPr>
          <p:cNvPr id="18" name="Text 14"/>
          <p:cNvSpPr/>
          <p:nvPr/>
        </p:nvSpPr>
        <p:spPr>
          <a:xfrm>
            <a:off x="4703978" y="2494534"/>
            <a:ext cx="2875178" cy="327152"/>
          </a:xfrm>
          <a:prstGeom prst="rect">
            <a:avLst/>
          </a:prstGeom>
          <a:noFill/>
          <a:ln/>
        </p:spPr>
        <p:txBody>
          <a:bodyPr wrap="square" lIns="0" tIns="0" rIns="0" bIns="0" rtlCol="0" anchor="t"/>
          <a:lstStyle/>
          <a:p>
            <a:pPr algn="l" indent="0" marL="0">
              <a:lnSpc>
                <a:spcPts val="2000"/>
              </a:lnSpc>
              <a:buNone/>
            </a:pPr>
            <a:r>
              <a:rPr lang="en-US" sz="1600" b="1" dirty="0">
                <a:solidFill>
                  <a:srgbClr val="FFFFFF"/>
                </a:solidFill>
                <a:latin typeface="Be Vietnam Pro" pitchFamily="34" charset="0"/>
                <a:ea typeface="Be Vietnam Pro" pitchFamily="34" charset="-122"/>
                <a:cs typeface="Be Vietnam Pro" pitchFamily="34" charset="-120"/>
              </a:rPr>
              <a:t>Đường ống đã sẵn sàng</a:t>
            </a:r>
            <a:endParaRPr lang="en-US" sz="1600" dirty="0"/>
          </a:p>
        </p:txBody>
      </p:sp>
      <p:sp>
        <p:nvSpPr>
          <p:cNvPr id="19" name="Text 15"/>
          <p:cNvSpPr/>
          <p:nvPr/>
        </p:nvSpPr>
        <p:spPr>
          <a:xfrm>
            <a:off x="4703978" y="3116326"/>
            <a:ext cx="2875178" cy="1025652"/>
          </a:xfrm>
          <a:prstGeom prst="rect">
            <a:avLst/>
          </a:prstGeom>
          <a:noFill/>
          <a:ln/>
        </p:spPr>
        <p:txBody>
          <a:bodyPr wrap="square" lIns="0" tIns="0" rIns="0" bIns="0" rtlCol="0" anchor="t"/>
          <a:lstStyle/>
          <a:p>
            <a:pPr algn="l" indent="0" marL="0">
              <a:lnSpc>
                <a:spcPts val="1875"/>
              </a:lnSpc>
              <a:buNone/>
            </a:pPr>
            <a:r>
              <a:rPr lang="en-US" sz="1250" dirty="0">
                <a:solidFill>
                  <a:srgbClr val="D9E6F2"/>
                </a:solidFill>
                <a:latin typeface="Be Vietnam Pro" pitchFamily="34" charset="0"/>
                <a:ea typeface="Be Vietnam Pro" pitchFamily="34" charset="-122"/>
                <a:cs typeface="Be Vietnam Pro" pitchFamily="34" charset="-120"/>
              </a:rPr>
              <a:t>Cảm biến thật và thiết bị mô phỏng</a:t>
            </a:r>
            <a:endParaRPr lang="en-US" sz="1250" dirty="0"/>
          </a:p>
          <a:p>
            <a:pPr algn="l" indent="0" marL="0">
              <a:lnSpc>
                <a:spcPts val="1875"/>
              </a:lnSpc>
              <a:buNone/>
            </a:pPr>
            <a:r>
              <a:rPr lang="en-US" sz="1250" dirty="0">
                <a:solidFill>
                  <a:srgbClr val="D9E6F2"/>
                </a:solidFill>
                <a:latin typeface="Be Vietnam Pro" pitchFamily="34" charset="0"/>
                <a:ea typeface="Be Vietnam Pro" pitchFamily="34" charset="-122"/>
                <a:cs typeface="Be Vietnam Pro" pitchFamily="34" charset="-120"/>
              </a:rPr>
              <a:t>đi chung một lối vào. Mỗi cổng thu</a:t>
            </a:r>
            <a:endParaRPr lang="en-US" sz="1250" dirty="0"/>
          </a:p>
          <a:p>
            <a:pPr algn="l" indent="0" marL="0">
              <a:lnSpc>
                <a:spcPts val="1875"/>
              </a:lnSpc>
              <a:buNone/>
            </a:pPr>
            <a:r>
              <a:rPr lang="en-US" sz="1250" dirty="0">
                <a:solidFill>
                  <a:srgbClr val="D9E6F2"/>
                </a:solidFill>
                <a:latin typeface="Be Vietnam Pro" pitchFamily="34" charset="0"/>
                <a:ea typeface="Be Vietnam Pro" pitchFamily="34" charset="-122"/>
                <a:cs typeface="Be Vietnam Pro" pitchFamily="34" charset="-120"/>
              </a:rPr>
              <a:t>phát có khóa riêng và chỉ gửi được</a:t>
            </a:r>
            <a:endParaRPr lang="en-US" sz="1250" dirty="0"/>
          </a:p>
          <a:p>
            <a:pPr algn="l" indent="0" marL="0">
              <a:lnSpc>
                <a:spcPts val="1875"/>
              </a:lnSpc>
              <a:buNone/>
            </a:pPr>
            <a:r>
              <a:rPr lang="en-US" sz="1250" dirty="0">
                <a:solidFill>
                  <a:srgbClr val="D9E6F2"/>
                </a:solidFill>
                <a:latin typeface="Be Vietnam Pro" pitchFamily="34" charset="0"/>
                <a:ea typeface="Be Vietnam Pro" pitchFamily="34" charset="-122"/>
                <a:cs typeface="Be Vietnam Pro" pitchFamily="34" charset="-120"/>
              </a:rPr>
              <a:t>cho đúng kho của mình.</a:t>
            </a:r>
            <a:endParaRPr lang="en-US" sz="1250" dirty="0"/>
          </a:p>
        </p:txBody>
      </p:sp>
      <p:sp>
        <p:nvSpPr>
          <p:cNvPr id="20" name="Shape 16"/>
          <p:cNvSpPr/>
          <p:nvPr/>
        </p:nvSpPr>
        <p:spPr>
          <a:xfrm>
            <a:off x="8072933" y="2220214"/>
            <a:ext cx="3405530" cy="2834640"/>
          </a:xfrm>
          <a:prstGeom prst="roundRect">
            <a:avLst>
              <a:gd name="adj" fmla="val 3871"/>
            </a:avLst>
          </a:prstGeom>
          <a:solidFill>
            <a:srgbClr val="091B2D">
              <a:alpha val="66000"/>
            </a:srgbClr>
          </a:solidFill>
          <a:ln w="12700">
            <a:solidFill>
              <a:srgbClr val="FFFFFF">
                <a:alpha val="12000"/>
              </a:srgbClr>
            </a:solidFill>
            <a:prstDash val="solid"/>
          </a:ln>
        </p:spPr>
      </p:sp>
      <p:sp>
        <p:nvSpPr>
          <p:cNvPr id="21" name="Shape 17"/>
          <p:cNvSpPr/>
          <p:nvPr/>
        </p:nvSpPr>
        <p:spPr>
          <a:xfrm>
            <a:off x="8072933" y="2220214"/>
            <a:ext cx="50292" cy="2834640"/>
          </a:xfrm>
          <a:prstGeom prst="roundRect">
            <a:avLst>
              <a:gd name="adj" fmla="val 54545"/>
            </a:avLst>
          </a:prstGeom>
          <a:solidFill>
            <a:srgbClr val="FBBF24">
              <a:alpha val="95000"/>
            </a:srgbClr>
          </a:solidFill>
          <a:ln/>
        </p:spPr>
      </p:sp>
      <p:sp>
        <p:nvSpPr>
          <p:cNvPr id="22" name="Text 18"/>
          <p:cNvSpPr/>
          <p:nvPr/>
        </p:nvSpPr>
        <p:spPr>
          <a:xfrm>
            <a:off x="8383829" y="2494534"/>
            <a:ext cx="2875178" cy="327152"/>
          </a:xfrm>
          <a:prstGeom prst="rect">
            <a:avLst/>
          </a:prstGeom>
          <a:noFill/>
          <a:ln/>
        </p:spPr>
        <p:txBody>
          <a:bodyPr wrap="square" lIns="0" tIns="0" rIns="0" bIns="0" rtlCol="0" anchor="t"/>
          <a:lstStyle/>
          <a:p>
            <a:pPr algn="l" indent="0" marL="0">
              <a:lnSpc>
                <a:spcPts val="2000"/>
              </a:lnSpc>
              <a:buNone/>
            </a:pPr>
            <a:r>
              <a:rPr lang="en-US" sz="1600" b="1" dirty="0">
                <a:solidFill>
                  <a:srgbClr val="FFFFFF"/>
                </a:solidFill>
                <a:latin typeface="Be Vietnam Pro" pitchFamily="34" charset="0"/>
                <a:ea typeface="Be Vietnam Pro" pitchFamily="34" charset="-122"/>
                <a:cs typeface="Be Vietnam Pro" pitchFamily="34" charset="-120"/>
              </a:rPr>
              <a:t>Khi gắn thiết bị thật</a:t>
            </a:r>
            <a:endParaRPr lang="en-US" sz="1600" dirty="0"/>
          </a:p>
        </p:txBody>
      </p:sp>
      <p:sp>
        <p:nvSpPr>
          <p:cNvPr id="23" name="Text 19"/>
          <p:cNvSpPr/>
          <p:nvPr/>
        </p:nvSpPr>
        <p:spPr>
          <a:xfrm>
            <a:off x="8383829" y="3116326"/>
            <a:ext cx="2875178" cy="1025652"/>
          </a:xfrm>
          <a:prstGeom prst="rect">
            <a:avLst/>
          </a:prstGeom>
          <a:noFill/>
          <a:ln/>
        </p:spPr>
        <p:txBody>
          <a:bodyPr wrap="square" lIns="0" tIns="0" rIns="0" bIns="0" rtlCol="0" anchor="t"/>
          <a:lstStyle/>
          <a:p>
            <a:pPr algn="l" indent="0" marL="0">
              <a:lnSpc>
                <a:spcPts val="1875"/>
              </a:lnSpc>
              <a:buNone/>
            </a:pPr>
            <a:r>
              <a:rPr lang="en-US" sz="1250" dirty="0">
                <a:solidFill>
                  <a:srgbClr val="D9E6F2"/>
                </a:solidFill>
                <a:latin typeface="Be Vietnam Pro" pitchFamily="34" charset="0"/>
                <a:ea typeface="Be Vietnam Pro" pitchFamily="34" charset="-122"/>
                <a:cs typeface="Be Vietnam Pro" pitchFamily="34" charset="-120"/>
              </a:rPr>
              <a:t>Phần nghiệp vụ phía sau không phải</a:t>
            </a:r>
            <a:endParaRPr lang="en-US" sz="1250" dirty="0"/>
          </a:p>
          <a:p>
            <a:pPr algn="l" indent="0" marL="0">
              <a:lnSpc>
                <a:spcPts val="1875"/>
              </a:lnSpc>
              <a:buNone/>
            </a:pPr>
            <a:r>
              <a:rPr lang="en-US" sz="1250" dirty="0">
                <a:solidFill>
                  <a:srgbClr val="D9E6F2"/>
                </a:solidFill>
                <a:latin typeface="Be Vietnam Pro" pitchFamily="34" charset="0"/>
                <a:ea typeface="Be Vietnam Pro" pitchFamily="34" charset="-122"/>
                <a:cs typeface="Be Vietnam Pro" pitchFamily="34" charset="-120"/>
              </a:rPr>
              <a:t>sửa — chỉ thay nguồn phát tín hiệu,</a:t>
            </a:r>
            <a:endParaRPr lang="en-US" sz="1250" dirty="0"/>
          </a:p>
          <a:p>
            <a:pPr algn="l" indent="0" marL="0">
              <a:lnSpc>
                <a:spcPts val="1875"/>
              </a:lnSpc>
              <a:buNone/>
            </a:pPr>
            <a:r>
              <a:rPr lang="en-US" sz="1250" dirty="0">
                <a:solidFill>
                  <a:srgbClr val="D9E6F2"/>
                </a:solidFill>
                <a:latin typeface="Be Vietnam Pro" pitchFamily="34" charset="0"/>
                <a:ea typeface="Be Vietnam Pro" pitchFamily="34" charset="-122"/>
                <a:cs typeface="Be Vietnam Pro" pitchFamily="34" charset="-120"/>
              </a:rPr>
              <a:t>toàn bộ luồng sự cố và cảnh báo giữ</a:t>
            </a:r>
            <a:endParaRPr lang="en-US" sz="1250" dirty="0"/>
          </a:p>
          <a:p>
            <a:pPr algn="l" indent="0" marL="0">
              <a:lnSpc>
                <a:spcPts val="1875"/>
              </a:lnSpc>
              <a:buNone/>
            </a:pPr>
            <a:r>
              <a:rPr lang="en-US" sz="1250" dirty="0">
                <a:solidFill>
                  <a:srgbClr val="D9E6F2"/>
                </a:solidFill>
                <a:latin typeface="Be Vietnam Pro" pitchFamily="34" charset="0"/>
                <a:ea typeface="Be Vietnam Pro" pitchFamily="34" charset="-122"/>
                <a:cs typeface="Be Vietnam Pro" pitchFamily="34" charset="-120"/>
              </a:rPr>
              <a:t>nguyên.</a:t>
            </a:r>
            <a:endParaRPr lang="en-US" sz="1250" dirty="0"/>
          </a:p>
        </p:txBody>
      </p:sp>
      <p:sp>
        <p:nvSpPr>
          <p:cNvPr id="24" name="Shape 20"/>
          <p:cNvSpPr/>
          <p:nvPr/>
        </p:nvSpPr>
        <p:spPr>
          <a:xfrm>
            <a:off x="713232" y="5329174"/>
            <a:ext cx="10765231" cy="749808"/>
          </a:xfrm>
          <a:prstGeom prst="roundRect">
            <a:avLst>
              <a:gd name="adj" fmla="val 12195"/>
            </a:avLst>
          </a:prstGeom>
          <a:solidFill>
            <a:srgbClr val="FFFFFF">
              <a:alpha val="8000"/>
            </a:srgbClr>
          </a:solidFill>
          <a:ln w="12700">
            <a:solidFill>
              <a:srgbClr val="FFFFFF">
                <a:alpha val="18000"/>
              </a:srgbClr>
            </a:solidFill>
            <a:prstDash val="solid"/>
          </a:ln>
        </p:spPr>
      </p:sp>
      <p:sp>
        <p:nvSpPr>
          <p:cNvPr id="25" name="Shape 21"/>
          <p:cNvSpPr/>
          <p:nvPr/>
        </p:nvSpPr>
        <p:spPr>
          <a:xfrm>
            <a:off x="713232" y="5329174"/>
            <a:ext cx="50292" cy="749808"/>
          </a:xfrm>
          <a:prstGeom prst="roundRect">
            <a:avLst>
              <a:gd name="adj" fmla="val 54545"/>
            </a:avLst>
          </a:prstGeom>
          <a:solidFill>
            <a:srgbClr val="6EE7A8">
              <a:alpha val="95000"/>
            </a:srgbClr>
          </a:solidFill>
          <a:ln/>
        </p:spPr>
      </p:sp>
      <p:sp>
        <p:nvSpPr>
          <p:cNvPr id="26" name="Text 22"/>
          <p:cNvSpPr/>
          <p:nvPr/>
        </p:nvSpPr>
        <p:spPr>
          <a:xfrm>
            <a:off x="1078992" y="5539486"/>
            <a:ext cx="10125151" cy="330327"/>
          </a:xfrm>
          <a:prstGeom prst="rect">
            <a:avLst/>
          </a:prstGeom>
          <a:noFill/>
          <a:ln/>
        </p:spPr>
        <p:txBody>
          <a:bodyPr wrap="square" lIns="0" tIns="0" rIns="0" bIns="0" rtlCol="0" anchor="t"/>
          <a:lstStyle/>
          <a:p>
            <a:pPr algn="l" indent="0" marL="0">
              <a:lnSpc>
                <a:spcPts val="2025"/>
              </a:lnSpc>
              <a:buNone/>
            </a:pPr>
            <a:r>
              <a:rPr lang="en-US" sz="1500" b="1" dirty="0">
                <a:solidFill>
                  <a:srgbClr val="FFFFFF"/>
                </a:solidFill>
                <a:latin typeface="Be Vietnam Pro" pitchFamily="34" charset="0"/>
                <a:ea typeface="Be Vietnam Pro" pitchFamily="34" charset="-122"/>
                <a:cs typeface="Be Vietnam Pro" pitchFamily="34" charset="-120"/>
              </a:rPr>
              <a:t>Nhóm em sẽ không tuyên bố tương thích phần cứng trước khi nghiệm thu thiết bị thật.</a:t>
            </a:r>
            <a:endParaRPr lang="en-US" sz="15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4101F"/>
        </a:solidFill>
      </p:bgPr>
    </p:bg>
    <p:spTree>
      <p:nvGrpSpPr>
        <p:cNvPr id="1" name=""/>
        <p:cNvGrpSpPr/>
        <p:nvPr/>
      </p:nvGrpSpPr>
      <p:grpSpPr>
        <a:xfrm>
          <a:off x="0" y="0"/>
          <a:ext cx="0" cy="0"/>
          <a:chOff x="0" y="0"/>
          <a:chExt cx="0" cy="0"/>
        </a:xfrm>
      </p:grpSpPr>
      <p:pic>
        <p:nvPicPr>
          <p:cNvPr id="2" name="Image 0" descr="bg-content.jp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4101F">
              <a:alpha val="34000"/>
            </a:srgbClr>
          </a:solidFill>
          <a:ln/>
        </p:spPr>
      </p:sp>
      <p:pic>
        <p:nvPicPr>
          <p:cNvPr id="4" name="Image 1" descr="mark-sm.png">    </p:cNvPr>
          <p:cNvPicPr>
            <a:picLocks noChangeAspect="1"/>
          </p:cNvPicPr>
          <p:nvPr/>
        </p:nvPicPr>
        <p:blipFill>
          <a:blip r:embed="rId2"/>
          <a:stretch>
            <a:fillRect/>
          </a:stretch>
        </p:blipFill>
        <p:spPr>
          <a:xfrm>
            <a:off x="713232" y="365760"/>
            <a:ext cx="310896" cy="310896"/>
          </a:xfrm>
          <a:prstGeom prst="rect">
            <a:avLst/>
          </a:prstGeom>
        </p:spPr>
      </p:pic>
      <p:sp>
        <p:nvSpPr>
          <p:cNvPr id="5" name="Text 1"/>
          <p:cNvSpPr/>
          <p:nvPr/>
        </p:nvSpPr>
        <p:spPr>
          <a:xfrm>
            <a:off x="1170432" y="384048"/>
            <a:ext cx="3749040" cy="261747"/>
          </a:xfrm>
          <a:prstGeom prst="rect">
            <a:avLst/>
          </a:prstGeom>
          <a:noFill/>
          <a:ln/>
        </p:spPr>
        <p:txBody>
          <a:bodyPr wrap="square" lIns="0" tIns="0" rIns="0" bIns="0" rtlCol="0" anchor="t"/>
          <a:lstStyle/>
          <a:p>
            <a:pPr algn="l" indent="0" marL="0">
              <a:lnSpc>
                <a:spcPts val="1485"/>
              </a:lnSpc>
              <a:buNone/>
            </a:pPr>
            <a:r>
              <a:rPr lang="en-US" sz="1100" b="1" spc="160" kern="0" dirty="0">
                <a:solidFill>
                  <a:srgbClr val="6EE7A8"/>
                </a:solidFill>
                <a:latin typeface="Be Vietnam Pro" pitchFamily="34" charset="0"/>
                <a:ea typeface="Be Vietnam Pro" pitchFamily="34" charset="-122"/>
                <a:cs typeface="Be Vietnam Pro" pitchFamily="34" charset="-120"/>
              </a:rPr>
              <a:t>ỨNG PHÓ NHANH</a:t>
            </a:r>
            <a:endParaRPr lang="en-US" sz="1100" dirty="0"/>
          </a:p>
        </p:txBody>
      </p:sp>
      <p:sp>
        <p:nvSpPr>
          <p:cNvPr id="6" name="Text 2"/>
          <p:cNvSpPr/>
          <p:nvPr/>
        </p:nvSpPr>
        <p:spPr>
          <a:xfrm>
            <a:off x="8643823" y="384048"/>
            <a:ext cx="2834640" cy="261747"/>
          </a:xfrm>
          <a:prstGeom prst="rect">
            <a:avLst/>
          </a:prstGeom>
          <a:noFill/>
          <a:ln/>
        </p:spPr>
        <p:txBody>
          <a:bodyPr wrap="square" lIns="0" tIns="0" rIns="0" bIns="0" rtlCol="0" anchor="t"/>
          <a:lstStyle/>
          <a:p>
            <a:pPr algn="r" indent="0" marL="0">
              <a:lnSpc>
                <a:spcPts val="1485"/>
              </a:lnSpc>
              <a:buNone/>
            </a:pPr>
            <a:r>
              <a:rPr lang="en-US" sz="1100" b="1" dirty="0">
                <a:solidFill>
                  <a:srgbClr val="7189A2"/>
                </a:solidFill>
                <a:latin typeface="Be Vietnam Pro" pitchFamily="34" charset="0"/>
                <a:ea typeface="Be Vietnam Pro" pitchFamily="34" charset="-122"/>
                <a:cs typeface="Be Vietnam Pro" pitchFamily="34" charset="-120"/>
              </a:rPr>
              <a:t>20 / 24</a:t>
            </a:r>
            <a:endParaRPr lang="en-US" sz="1100" dirty="0"/>
          </a:p>
        </p:txBody>
      </p:sp>
      <p:sp>
        <p:nvSpPr>
          <p:cNvPr id="7" name="Shape 3"/>
          <p:cNvSpPr/>
          <p:nvPr/>
        </p:nvSpPr>
        <p:spPr>
          <a:xfrm>
            <a:off x="713232" y="868680"/>
            <a:ext cx="10765231" cy="10973"/>
          </a:xfrm>
          <a:prstGeom prst="rect">
            <a:avLst/>
          </a:prstGeom>
          <a:solidFill>
            <a:srgbClr val="FFFFFF">
              <a:alpha val="16000"/>
            </a:srgbClr>
          </a:solidFill>
          <a:ln/>
        </p:spPr>
      </p:sp>
      <p:sp>
        <p:nvSpPr>
          <p:cNvPr id="8" name="Text 4"/>
          <p:cNvSpPr/>
          <p:nvPr/>
        </p:nvSpPr>
        <p:spPr>
          <a:xfrm>
            <a:off x="713232" y="1133856"/>
            <a:ext cx="8321040" cy="270320"/>
          </a:xfrm>
          <a:prstGeom prst="rect">
            <a:avLst/>
          </a:prstGeom>
          <a:noFill/>
          <a:ln/>
        </p:spPr>
        <p:txBody>
          <a:bodyPr wrap="square" lIns="0" tIns="0" rIns="0" bIns="0" rtlCol="0" anchor="t"/>
          <a:lstStyle/>
          <a:p>
            <a:pPr algn="l" indent="0" marL="0">
              <a:lnSpc>
                <a:spcPts val="1553"/>
              </a:lnSpc>
              <a:buNone/>
            </a:pPr>
            <a:r>
              <a:rPr lang="en-US" sz="1150" b="1" spc="220" kern="0" dirty="0">
                <a:solidFill>
                  <a:srgbClr val="22C55E"/>
                </a:solidFill>
                <a:latin typeface="Be Vietnam Pro" pitchFamily="34" charset="0"/>
                <a:ea typeface="Be Vietnam Pro" pitchFamily="34" charset="-122"/>
                <a:cs typeface="Be Vietnam Pro" pitchFamily="34" charset="-120"/>
              </a:rPr>
              <a:t>TRỢ LÝ AI</a:t>
            </a:r>
            <a:endParaRPr lang="en-US" sz="1150" dirty="0"/>
          </a:p>
        </p:txBody>
      </p:sp>
      <p:sp>
        <p:nvSpPr>
          <p:cNvPr id="9" name="Text 5"/>
          <p:cNvSpPr/>
          <p:nvPr/>
        </p:nvSpPr>
        <p:spPr>
          <a:xfrm>
            <a:off x="713232" y="1426464"/>
            <a:ext cx="10490911" cy="537718"/>
          </a:xfrm>
          <a:prstGeom prst="rect">
            <a:avLst/>
          </a:prstGeom>
          <a:noFill/>
          <a:ln/>
        </p:spPr>
        <p:txBody>
          <a:bodyPr wrap="square" lIns="0" tIns="0" rIns="0" bIns="0" rtlCol="0" anchor="t"/>
          <a:lstStyle/>
          <a:p>
            <a:pPr algn="l" indent="0" marL="0">
              <a:lnSpc>
                <a:spcPts val="3658"/>
              </a:lnSpc>
              <a:buNone/>
            </a:pPr>
            <a:r>
              <a:rPr lang="en-US" sz="3100" b="1" dirty="0">
                <a:solidFill>
                  <a:srgbClr val="FFFFFF"/>
                </a:solidFill>
                <a:latin typeface="Be Vietnam Pro" pitchFamily="34" charset="0"/>
                <a:ea typeface="Be Vietnam Pro" pitchFamily="34" charset="-122"/>
                <a:cs typeface="Be Vietnam Pro" pitchFamily="34" charset="-120"/>
              </a:rPr>
              <a:t>Hỏi bằng tiếng Việt — nhưng không được bịa số</a:t>
            </a:r>
            <a:endParaRPr lang="en-US" sz="3100" dirty="0"/>
          </a:p>
        </p:txBody>
      </p:sp>
      <p:sp>
        <p:nvSpPr>
          <p:cNvPr id="10" name="Shape 6"/>
          <p:cNvSpPr/>
          <p:nvPr/>
        </p:nvSpPr>
        <p:spPr>
          <a:xfrm>
            <a:off x="713232" y="6272784"/>
            <a:ext cx="10765231" cy="9144"/>
          </a:xfrm>
          <a:prstGeom prst="rect">
            <a:avLst/>
          </a:prstGeom>
          <a:solidFill>
            <a:srgbClr val="FFFFFF">
              <a:alpha val="10000"/>
            </a:srgbClr>
          </a:solidFill>
          <a:ln/>
        </p:spPr>
      </p:sp>
      <p:sp>
        <p:nvSpPr>
          <p:cNvPr id="11" name="Text 7"/>
          <p:cNvSpPr/>
          <p:nvPr/>
        </p:nvSpPr>
        <p:spPr>
          <a:xfrm>
            <a:off x="8643823" y="6382512"/>
            <a:ext cx="2834640" cy="236030"/>
          </a:xfrm>
          <a:prstGeom prst="rect">
            <a:avLst/>
          </a:prstGeom>
          <a:noFill/>
          <a:ln/>
        </p:spPr>
        <p:txBody>
          <a:bodyPr wrap="square" lIns="0" tIns="0" rIns="0" bIns="0" rtlCol="0" anchor="t"/>
          <a:lstStyle/>
          <a:p>
            <a:pPr algn="r" indent="0" marL="0">
              <a:lnSpc>
                <a:spcPts val="1283"/>
              </a:lnSpc>
              <a:buNone/>
            </a:pPr>
            <a:r>
              <a:rPr lang="en-US" sz="950" dirty="0">
                <a:solidFill>
                  <a:srgbClr val="7189A2"/>
                </a:solidFill>
                <a:latin typeface="Be Vietnam Pro" pitchFamily="34" charset="0"/>
                <a:ea typeface="Be Vietnam Pro" pitchFamily="34" charset="-122"/>
                <a:cs typeface="Be Vietnam Pro" pitchFamily="34" charset="-120"/>
              </a:rPr>
              <a:t>ungphonhanh.life</a:t>
            </a:r>
            <a:endParaRPr lang="en-US" sz="950" dirty="0"/>
          </a:p>
        </p:txBody>
      </p:sp>
      <p:sp>
        <p:nvSpPr>
          <p:cNvPr id="12" name="Shape 8"/>
          <p:cNvSpPr/>
          <p:nvPr/>
        </p:nvSpPr>
        <p:spPr>
          <a:xfrm>
            <a:off x="713232" y="2220214"/>
            <a:ext cx="4343400" cy="2926080"/>
          </a:xfrm>
          <a:prstGeom prst="roundRect">
            <a:avLst>
              <a:gd name="adj" fmla="val 3750"/>
            </a:avLst>
          </a:prstGeom>
          <a:solidFill>
            <a:srgbClr val="091B2D">
              <a:alpha val="66000"/>
            </a:srgbClr>
          </a:solidFill>
          <a:ln w="12700">
            <a:solidFill>
              <a:srgbClr val="FFFFFF">
                <a:alpha val="12000"/>
              </a:srgbClr>
            </a:solidFill>
            <a:prstDash val="solid"/>
          </a:ln>
        </p:spPr>
      </p:sp>
      <p:sp>
        <p:nvSpPr>
          <p:cNvPr id="13" name="Shape 9"/>
          <p:cNvSpPr/>
          <p:nvPr/>
        </p:nvSpPr>
        <p:spPr>
          <a:xfrm>
            <a:off x="713232" y="2220214"/>
            <a:ext cx="50292" cy="2926080"/>
          </a:xfrm>
          <a:prstGeom prst="roundRect">
            <a:avLst>
              <a:gd name="adj" fmla="val 54545"/>
            </a:avLst>
          </a:prstGeom>
          <a:solidFill>
            <a:srgbClr val="38BDF8">
              <a:alpha val="95000"/>
            </a:srgbClr>
          </a:solidFill>
          <a:ln/>
        </p:spPr>
      </p:sp>
      <p:sp>
        <p:nvSpPr>
          <p:cNvPr id="14" name="Text 10"/>
          <p:cNvSpPr/>
          <p:nvPr/>
        </p:nvSpPr>
        <p:spPr>
          <a:xfrm>
            <a:off x="1024128" y="2476246"/>
            <a:ext cx="3813048" cy="253175"/>
          </a:xfrm>
          <a:prstGeom prst="rect">
            <a:avLst/>
          </a:prstGeom>
          <a:noFill/>
          <a:ln/>
        </p:spPr>
        <p:txBody>
          <a:bodyPr wrap="square" lIns="0" tIns="0" rIns="0" bIns="0" rtlCol="0" anchor="t"/>
          <a:lstStyle/>
          <a:p>
            <a:pPr algn="l" indent="0" marL="0">
              <a:lnSpc>
                <a:spcPts val="1418"/>
              </a:lnSpc>
              <a:buNone/>
            </a:pPr>
            <a:r>
              <a:rPr lang="en-US" sz="1050" b="1" spc="170" kern="0" dirty="0">
                <a:solidFill>
                  <a:srgbClr val="38BDF8"/>
                </a:solidFill>
                <a:latin typeface="Be Vietnam Pro" pitchFamily="34" charset="0"/>
                <a:ea typeface="Be Vietnam Pro" pitchFamily="34" charset="-122"/>
                <a:cs typeface="Be Vietnam Pro" pitchFamily="34" charset="-120"/>
              </a:rPr>
              <a:t>HỎI BẰNG NGÔN NGỮ TỰ NHIÊN</a:t>
            </a:r>
            <a:endParaRPr lang="en-US" sz="1050" dirty="0"/>
          </a:p>
        </p:txBody>
      </p:sp>
      <p:sp>
        <p:nvSpPr>
          <p:cNvPr id="15" name="Shape 11"/>
          <p:cNvSpPr/>
          <p:nvPr/>
        </p:nvSpPr>
        <p:spPr>
          <a:xfrm>
            <a:off x="1024128" y="2915158"/>
            <a:ext cx="3721608" cy="443484"/>
          </a:xfrm>
          <a:prstGeom prst="roundRect">
            <a:avLst>
              <a:gd name="adj" fmla="val 20619"/>
            </a:avLst>
          </a:prstGeom>
          <a:solidFill>
            <a:srgbClr val="38BDF8">
              <a:alpha val="14000"/>
            </a:srgbClr>
          </a:solidFill>
          <a:ln w="12700">
            <a:solidFill>
              <a:srgbClr val="38BDF8">
                <a:alpha val="40000"/>
              </a:srgbClr>
            </a:solidFill>
            <a:prstDash val="solid"/>
          </a:ln>
        </p:spPr>
      </p:sp>
      <p:sp>
        <p:nvSpPr>
          <p:cNvPr id="16" name="Text 12"/>
          <p:cNvSpPr/>
          <p:nvPr/>
        </p:nvSpPr>
        <p:spPr>
          <a:xfrm>
            <a:off x="1170432" y="3015742"/>
            <a:ext cx="3520440" cy="278892"/>
          </a:xfrm>
          <a:prstGeom prst="rect">
            <a:avLst/>
          </a:prstGeom>
          <a:noFill/>
          <a:ln/>
        </p:spPr>
        <p:txBody>
          <a:bodyPr wrap="square" lIns="0" tIns="0" rIns="0" bIns="0" rtlCol="0" anchor="t"/>
          <a:lstStyle/>
          <a:p>
            <a:pPr algn="l" indent="0" marL="0">
              <a:lnSpc>
                <a:spcPts val="1620"/>
              </a:lnSpc>
              <a:buNone/>
            </a:pPr>
            <a:r>
              <a:rPr lang="en-US" sz="1200" b="1" dirty="0">
                <a:solidFill>
                  <a:srgbClr val="FFFFFF"/>
                </a:solidFill>
                <a:latin typeface="Be Vietnam Pro" pitchFamily="34" charset="0"/>
                <a:ea typeface="Be Vietnam Pro" pitchFamily="34" charset="-122"/>
                <a:cs typeface="Be Vietnam Pro" pitchFamily="34" charset="-120"/>
              </a:rPr>
              <a:t>“Kho nào hiện còn nhiều áo phao nhất?”</a:t>
            </a:r>
            <a:endParaRPr lang="en-US" sz="1200" dirty="0"/>
          </a:p>
        </p:txBody>
      </p:sp>
      <p:sp>
        <p:nvSpPr>
          <p:cNvPr id="17" name="Shape 13"/>
          <p:cNvSpPr/>
          <p:nvPr/>
        </p:nvSpPr>
        <p:spPr>
          <a:xfrm>
            <a:off x="1024128" y="3504946"/>
            <a:ext cx="3721608" cy="649224"/>
          </a:xfrm>
          <a:prstGeom prst="roundRect">
            <a:avLst>
              <a:gd name="adj" fmla="val 14085"/>
            </a:avLst>
          </a:prstGeom>
          <a:solidFill>
            <a:srgbClr val="38BDF8">
              <a:alpha val="14000"/>
            </a:srgbClr>
          </a:solidFill>
          <a:ln w="12700">
            <a:solidFill>
              <a:srgbClr val="38BDF8">
                <a:alpha val="40000"/>
              </a:srgbClr>
            </a:solidFill>
            <a:prstDash val="solid"/>
          </a:ln>
        </p:spPr>
      </p:sp>
      <p:sp>
        <p:nvSpPr>
          <p:cNvPr id="18" name="Text 14"/>
          <p:cNvSpPr/>
          <p:nvPr/>
        </p:nvSpPr>
        <p:spPr>
          <a:xfrm>
            <a:off x="1170432" y="3605530"/>
            <a:ext cx="3520440" cy="484632"/>
          </a:xfrm>
          <a:prstGeom prst="rect">
            <a:avLst/>
          </a:prstGeom>
          <a:noFill/>
          <a:ln/>
        </p:spPr>
        <p:txBody>
          <a:bodyPr wrap="square" lIns="0" tIns="0" rIns="0" bIns="0" rtlCol="0" anchor="t"/>
          <a:lstStyle/>
          <a:p>
            <a:pPr algn="l" indent="0" marL="0">
              <a:lnSpc>
                <a:spcPts val="1620"/>
              </a:lnSpc>
              <a:buNone/>
            </a:pPr>
            <a:r>
              <a:rPr lang="en-US" sz="1200" b="1" dirty="0">
                <a:solidFill>
                  <a:srgbClr val="FFFFFF"/>
                </a:solidFill>
                <a:latin typeface="Be Vietnam Pro" pitchFamily="34" charset="0"/>
                <a:ea typeface="Be Vietnam Pro" pitchFamily="34" charset="-122"/>
                <a:cs typeface="Be Vietnam Pro" pitchFamily="34" charset="-120"/>
              </a:rPr>
              <a:t>“Đợt thiên tai gần nhất đã dùng bao nhiêu</a:t>
            </a:r>
            <a:endParaRPr lang="en-US" sz="1200" dirty="0"/>
          </a:p>
          <a:p>
            <a:pPr algn="l" indent="0" marL="0">
              <a:lnSpc>
                <a:spcPts val="1620"/>
              </a:lnSpc>
              <a:buNone/>
            </a:pPr>
            <a:r>
              <a:rPr lang="en-US" sz="1200" b="1" dirty="0">
                <a:solidFill>
                  <a:srgbClr val="FFFFFF"/>
                </a:solidFill>
                <a:latin typeface="Be Vietnam Pro" pitchFamily="34" charset="0"/>
                <a:ea typeface="Be Vietnam Pro" pitchFamily="34" charset="-122"/>
                <a:cs typeface="Be Vietnam Pro" pitchFamily="34" charset="-120"/>
              </a:rPr>
              <a:t>thùng nước?”</a:t>
            </a:r>
            <a:endParaRPr lang="en-US" sz="1200" dirty="0"/>
          </a:p>
        </p:txBody>
      </p:sp>
      <p:sp>
        <p:nvSpPr>
          <p:cNvPr id="19" name="Text 15"/>
          <p:cNvSpPr/>
          <p:nvPr/>
        </p:nvSpPr>
        <p:spPr>
          <a:xfrm>
            <a:off x="1024128" y="4337050"/>
            <a:ext cx="3813048" cy="533527"/>
          </a:xfrm>
          <a:prstGeom prst="rect">
            <a:avLst/>
          </a:prstGeom>
          <a:noFill/>
          <a:ln/>
        </p:spPr>
        <p:txBody>
          <a:bodyPr wrap="square" lIns="0" tIns="0" rIns="0" bIns="0" rtlCol="0" anchor="t"/>
          <a:lstStyle/>
          <a:p>
            <a:pPr algn="l" indent="0" marL="0">
              <a:lnSpc>
                <a:spcPts val="1813"/>
              </a:lnSpc>
              <a:buNone/>
            </a:pPr>
            <a:r>
              <a:rPr lang="en-US" sz="1250" dirty="0">
                <a:solidFill>
                  <a:srgbClr val="D9E6F2"/>
                </a:solidFill>
                <a:latin typeface="Be Vietnam Pro" pitchFamily="34" charset="0"/>
                <a:ea typeface="Be Vietnam Pro" pitchFamily="34" charset="-122"/>
                <a:cs typeface="Be Vietnam Pro" pitchFamily="34" charset="-120"/>
              </a:rPr>
              <a:t>Khoảng 2 giây là có số, kèm phân bổ theo từng</a:t>
            </a:r>
            <a:endParaRPr lang="en-US" sz="1250" dirty="0"/>
          </a:p>
          <a:p>
            <a:pPr algn="l" indent="0" marL="0">
              <a:lnSpc>
                <a:spcPts val="1813"/>
              </a:lnSpc>
              <a:buNone/>
            </a:pPr>
            <a:r>
              <a:rPr lang="en-US" sz="1250" dirty="0">
                <a:solidFill>
                  <a:srgbClr val="D9E6F2"/>
                </a:solidFill>
                <a:latin typeface="Be Vietnam Pro" pitchFamily="34" charset="0"/>
                <a:ea typeface="Be Vietnam Pro" pitchFamily="34" charset="-122"/>
                <a:cs typeface="Be Vietnam Pro" pitchFamily="34" charset="-120"/>
              </a:rPr>
              <a:t>kho — thay vì mở từng báo cáo.</a:t>
            </a:r>
            <a:endParaRPr lang="en-US" sz="1250" dirty="0"/>
          </a:p>
        </p:txBody>
      </p:sp>
      <p:sp>
        <p:nvSpPr>
          <p:cNvPr id="20" name="Shape 16"/>
          <p:cNvSpPr/>
          <p:nvPr/>
        </p:nvSpPr>
        <p:spPr>
          <a:xfrm>
            <a:off x="5404104" y="2220214"/>
            <a:ext cx="6074359" cy="859536"/>
          </a:xfrm>
          <a:prstGeom prst="roundRect">
            <a:avLst>
              <a:gd name="adj" fmla="val 12766"/>
            </a:avLst>
          </a:prstGeom>
          <a:solidFill>
            <a:srgbClr val="091B2D">
              <a:alpha val="66000"/>
            </a:srgbClr>
          </a:solidFill>
          <a:ln w="12700">
            <a:solidFill>
              <a:srgbClr val="FFFFFF">
                <a:alpha val="12000"/>
              </a:srgbClr>
            </a:solidFill>
            <a:prstDash val="solid"/>
          </a:ln>
        </p:spPr>
      </p:sp>
      <p:sp>
        <p:nvSpPr>
          <p:cNvPr id="21" name="Shape 17"/>
          <p:cNvSpPr/>
          <p:nvPr/>
        </p:nvSpPr>
        <p:spPr>
          <a:xfrm>
            <a:off x="5404104" y="2220214"/>
            <a:ext cx="50292" cy="859536"/>
          </a:xfrm>
          <a:prstGeom prst="roundRect">
            <a:avLst>
              <a:gd name="adj" fmla="val 54545"/>
            </a:avLst>
          </a:prstGeom>
          <a:solidFill>
            <a:srgbClr val="22C55E">
              <a:alpha val="95000"/>
            </a:srgbClr>
          </a:solidFill>
          <a:ln/>
        </p:spPr>
      </p:sp>
      <p:sp>
        <p:nvSpPr>
          <p:cNvPr id="22" name="Text 18"/>
          <p:cNvSpPr/>
          <p:nvPr/>
        </p:nvSpPr>
        <p:spPr>
          <a:xfrm>
            <a:off x="5678424" y="2348230"/>
            <a:ext cx="5617159" cy="304610"/>
          </a:xfrm>
          <a:prstGeom prst="rect">
            <a:avLst/>
          </a:prstGeom>
          <a:noFill/>
          <a:ln/>
        </p:spPr>
        <p:txBody>
          <a:bodyPr wrap="square" lIns="0" tIns="0" rIns="0" bIns="0" rtlCol="0" anchor="t"/>
          <a:lstStyle/>
          <a:p>
            <a:pPr algn="l" indent="0" marL="0">
              <a:lnSpc>
                <a:spcPts val="1823"/>
              </a:lnSpc>
              <a:buNone/>
            </a:pPr>
            <a:r>
              <a:rPr lang="en-US" sz="1350" b="1" dirty="0">
                <a:solidFill>
                  <a:srgbClr val="FFFFFF"/>
                </a:solidFill>
                <a:latin typeface="Be Vietnam Pro" pitchFamily="34" charset="0"/>
                <a:ea typeface="Be Vietnam Pro" pitchFamily="34" charset="-122"/>
                <a:cs typeface="Be Vietnam Pro" pitchFamily="34" charset="-120"/>
              </a:rPr>
              <a:t>Đối chiếu từng con số</a:t>
            </a:r>
            <a:endParaRPr lang="en-US" sz="1350" dirty="0"/>
          </a:p>
        </p:txBody>
      </p:sp>
      <p:sp>
        <p:nvSpPr>
          <p:cNvPr id="23" name="Text 19"/>
          <p:cNvSpPr/>
          <p:nvPr/>
        </p:nvSpPr>
        <p:spPr>
          <a:xfrm>
            <a:off x="5678424" y="2640838"/>
            <a:ext cx="5617159" cy="452882"/>
          </a:xfrm>
          <a:prstGeom prst="rect">
            <a:avLst/>
          </a:prstGeom>
          <a:noFill/>
          <a:ln/>
        </p:spPr>
        <p:txBody>
          <a:bodyPr wrap="square" lIns="0" tIns="0" rIns="0" bIns="0" rtlCol="0" anchor="t"/>
          <a:lstStyle/>
          <a:p>
            <a:pPr algn="l" indent="0" marL="0">
              <a:lnSpc>
                <a:spcPts val="1495"/>
              </a:lnSpc>
              <a:buNone/>
            </a:pPr>
            <a:r>
              <a:rPr lang="en-US" sz="1150" dirty="0">
                <a:solidFill>
                  <a:srgbClr val="9BB0C6"/>
                </a:solidFill>
                <a:latin typeface="Be Vietnam Pro" pitchFamily="34" charset="0"/>
                <a:ea typeface="Be Vietnam Pro" pitchFamily="34" charset="-122"/>
                <a:cs typeface="Be Vietnam Pro" pitchFamily="34" charset="-120"/>
              </a:rPr>
              <a:t>Câu trả lời được soi lại với ảnh chụp dữ liệu kho tại thời điểm hỏi; lệch thì</a:t>
            </a:r>
            <a:endParaRPr lang="en-US" sz="1150" dirty="0"/>
          </a:p>
          <a:p>
            <a:pPr algn="l" indent="0" marL="0">
              <a:lnSpc>
                <a:spcPts val="1495"/>
              </a:lnSpc>
              <a:buNone/>
            </a:pPr>
            <a:r>
              <a:rPr lang="en-US" sz="1150" dirty="0">
                <a:solidFill>
                  <a:srgbClr val="9BB0C6"/>
                </a:solidFill>
                <a:latin typeface="Be Vietnam Pro" pitchFamily="34" charset="0"/>
                <a:ea typeface="Be Vietnam Pro" pitchFamily="34" charset="-122"/>
                <a:cs typeface="Be Vietnam Pro" pitchFamily="34" charset="-120"/>
              </a:rPr>
              <a:t>chặn, không hiển thị.</a:t>
            </a:r>
            <a:endParaRPr lang="en-US" sz="1150" dirty="0"/>
          </a:p>
        </p:txBody>
      </p:sp>
      <p:sp>
        <p:nvSpPr>
          <p:cNvPr id="24" name="Shape 20"/>
          <p:cNvSpPr/>
          <p:nvPr/>
        </p:nvSpPr>
        <p:spPr>
          <a:xfrm>
            <a:off x="5404104" y="3253486"/>
            <a:ext cx="6074359" cy="859536"/>
          </a:xfrm>
          <a:prstGeom prst="roundRect">
            <a:avLst>
              <a:gd name="adj" fmla="val 12766"/>
            </a:avLst>
          </a:prstGeom>
          <a:solidFill>
            <a:srgbClr val="091B2D">
              <a:alpha val="66000"/>
            </a:srgbClr>
          </a:solidFill>
          <a:ln w="12700">
            <a:solidFill>
              <a:srgbClr val="FFFFFF">
                <a:alpha val="12000"/>
              </a:srgbClr>
            </a:solidFill>
            <a:prstDash val="solid"/>
          </a:ln>
        </p:spPr>
      </p:sp>
      <p:sp>
        <p:nvSpPr>
          <p:cNvPr id="25" name="Shape 21"/>
          <p:cNvSpPr/>
          <p:nvPr/>
        </p:nvSpPr>
        <p:spPr>
          <a:xfrm>
            <a:off x="5404104" y="3253486"/>
            <a:ext cx="50292" cy="859536"/>
          </a:xfrm>
          <a:prstGeom prst="roundRect">
            <a:avLst>
              <a:gd name="adj" fmla="val 54545"/>
            </a:avLst>
          </a:prstGeom>
          <a:solidFill>
            <a:srgbClr val="FBBF24">
              <a:alpha val="95000"/>
            </a:srgbClr>
          </a:solidFill>
          <a:ln/>
        </p:spPr>
      </p:sp>
      <p:sp>
        <p:nvSpPr>
          <p:cNvPr id="26" name="Text 22"/>
          <p:cNvSpPr/>
          <p:nvPr/>
        </p:nvSpPr>
        <p:spPr>
          <a:xfrm>
            <a:off x="5678424" y="3381502"/>
            <a:ext cx="5617159" cy="304610"/>
          </a:xfrm>
          <a:prstGeom prst="rect">
            <a:avLst/>
          </a:prstGeom>
          <a:noFill/>
          <a:ln/>
        </p:spPr>
        <p:txBody>
          <a:bodyPr wrap="square" lIns="0" tIns="0" rIns="0" bIns="0" rtlCol="0" anchor="t"/>
          <a:lstStyle/>
          <a:p>
            <a:pPr algn="l" indent="0" marL="0">
              <a:lnSpc>
                <a:spcPts val="1823"/>
              </a:lnSpc>
              <a:buNone/>
            </a:pPr>
            <a:r>
              <a:rPr lang="en-US" sz="1350" b="1" dirty="0">
                <a:solidFill>
                  <a:srgbClr val="FFFFFF"/>
                </a:solidFill>
                <a:latin typeface="Be Vietnam Pro" pitchFamily="34" charset="0"/>
                <a:ea typeface="Be Vietnam Pro" pitchFamily="34" charset="-122"/>
                <a:cs typeface="Be Vietnam Pro" pitchFamily="34" charset="-120"/>
              </a:rPr>
              <a:t>Bắt buộc trích nguồn</a:t>
            </a:r>
            <a:endParaRPr lang="en-US" sz="1350" dirty="0"/>
          </a:p>
        </p:txBody>
      </p:sp>
      <p:sp>
        <p:nvSpPr>
          <p:cNvPr id="27" name="Text 23"/>
          <p:cNvSpPr/>
          <p:nvPr/>
        </p:nvSpPr>
        <p:spPr>
          <a:xfrm>
            <a:off x="5678424" y="3674110"/>
            <a:ext cx="5617159" cy="452882"/>
          </a:xfrm>
          <a:prstGeom prst="rect">
            <a:avLst/>
          </a:prstGeom>
          <a:noFill/>
          <a:ln/>
        </p:spPr>
        <p:txBody>
          <a:bodyPr wrap="square" lIns="0" tIns="0" rIns="0" bIns="0" rtlCol="0" anchor="t"/>
          <a:lstStyle/>
          <a:p>
            <a:pPr algn="l" indent="0" marL="0">
              <a:lnSpc>
                <a:spcPts val="1495"/>
              </a:lnSpc>
              <a:buNone/>
            </a:pPr>
            <a:r>
              <a:rPr lang="en-US" sz="1150" dirty="0">
                <a:solidFill>
                  <a:srgbClr val="9BB0C6"/>
                </a:solidFill>
                <a:latin typeface="Be Vietnam Pro" pitchFamily="34" charset="0"/>
                <a:ea typeface="Be Vietnam Pro" pitchFamily="34" charset="-122"/>
                <a:cs typeface="Be Vietnam Pro" pitchFamily="34" charset="-120"/>
              </a:rPr>
              <a:t>Định mức và quy trình sơ cứu dựa trên Sphere Standards, IFRC, WHO và cơ</a:t>
            </a:r>
            <a:endParaRPr lang="en-US" sz="1150" dirty="0"/>
          </a:p>
          <a:p>
            <a:pPr algn="l" indent="0" marL="0">
              <a:lnSpc>
                <a:spcPts val="1495"/>
              </a:lnSpc>
              <a:buNone/>
            </a:pPr>
            <a:r>
              <a:rPr lang="en-US" sz="1150" dirty="0">
                <a:solidFill>
                  <a:srgbClr val="9BB0C6"/>
                </a:solidFill>
                <a:latin typeface="Be Vietnam Pro" pitchFamily="34" charset="0"/>
                <a:ea typeface="Be Vietnam Pro" pitchFamily="34" charset="-122"/>
                <a:cs typeface="Be Vietnam Pro" pitchFamily="34" charset="-120"/>
              </a:rPr>
              <a:t>quan phòng chống thiên tai Việt Nam.</a:t>
            </a:r>
            <a:endParaRPr lang="en-US" sz="1150" dirty="0"/>
          </a:p>
        </p:txBody>
      </p:sp>
      <p:sp>
        <p:nvSpPr>
          <p:cNvPr id="28" name="Shape 24"/>
          <p:cNvSpPr/>
          <p:nvPr/>
        </p:nvSpPr>
        <p:spPr>
          <a:xfrm>
            <a:off x="5404104" y="4286758"/>
            <a:ext cx="6074359" cy="859536"/>
          </a:xfrm>
          <a:prstGeom prst="roundRect">
            <a:avLst>
              <a:gd name="adj" fmla="val 12766"/>
            </a:avLst>
          </a:prstGeom>
          <a:solidFill>
            <a:srgbClr val="091B2D">
              <a:alpha val="66000"/>
            </a:srgbClr>
          </a:solidFill>
          <a:ln w="12700">
            <a:solidFill>
              <a:srgbClr val="FFFFFF">
                <a:alpha val="12000"/>
              </a:srgbClr>
            </a:solidFill>
            <a:prstDash val="solid"/>
          </a:ln>
        </p:spPr>
      </p:sp>
      <p:sp>
        <p:nvSpPr>
          <p:cNvPr id="29" name="Shape 25"/>
          <p:cNvSpPr/>
          <p:nvPr/>
        </p:nvSpPr>
        <p:spPr>
          <a:xfrm>
            <a:off x="5404104" y="4286758"/>
            <a:ext cx="50292" cy="859536"/>
          </a:xfrm>
          <a:prstGeom prst="roundRect">
            <a:avLst>
              <a:gd name="adj" fmla="val 54545"/>
            </a:avLst>
          </a:prstGeom>
          <a:solidFill>
            <a:srgbClr val="38BDF8">
              <a:alpha val="95000"/>
            </a:srgbClr>
          </a:solidFill>
          <a:ln/>
        </p:spPr>
      </p:sp>
      <p:sp>
        <p:nvSpPr>
          <p:cNvPr id="30" name="Text 26"/>
          <p:cNvSpPr/>
          <p:nvPr/>
        </p:nvSpPr>
        <p:spPr>
          <a:xfrm>
            <a:off x="5678424" y="4414774"/>
            <a:ext cx="5617159" cy="304610"/>
          </a:xfrm>
          <a:prstGeom prst="rect">
            <a:avLst/>
          </a:prstGeom>
          <a:noFill/>
          <a:ln/>
        </p:spPr>
        <p:txBody>
          <a:bodyPr wrap="square" lIns="0" tIns="0" rIns="0" bIns="0" rtlCol="0" anchor="t"/>
          <a:lstStyle/>
          <a:p>
            <a:pPr algn="l" indent="0" marL="0">
              <a:lnSpc>
                <a:spcPts val="1823"/>
              </a:lnSpc>
              <a:buNone/>
            </a:pPr>
            <a:r>
              <a:rPr lang="en-US" sz="1350" b="1" dirty="0">
                <a:solidFill>
                  <a:srgbClr val="FFFFFF"/>
                </a:solidFill>
                <a:latin typeface="Be Vietnam Pro" pitchFamily="34" charset="0"/>
                <a:ea typeface="Be Vietnam Pro" pitchFamily="34" charset="-122"/>
                <a:cs typeface="Be Vietnam Pro" pitchFamily="34" charset="-120"/>
              </a:rPr>
              <a:t>Chạy tại chỗ</a:t>
            </a:r>
            <a:endParaRPr lang="en-US" sz="1350" dirty="0"/>
          </a:p>
        </p:txBody>
      </p:sp>
      <p:sp>
        <p:nvSpPr>
          <p:cNvPr id="31" name="Text 27"/>
          <p:cNvSpPr/>
          <p:nvPr/>
        </p:nvSpPr>
        <p:spPr>
          <a:xfrm>
            <a:off x="5678424" y="4707382"/>
            <a:ext cx="5617159" cy="452882"/>
          </a:xfrm>
          <a:prstGeom prst="rect">
            <a:avLst/>
          </a:prstGeom>
          <a:noFill/>
          <a:ln/>
        </p:spPr>
        <p:txBody>
          <a:bodyPr wrap="square" lIns="0" tIns="0" rIns="0" bIns="0" rtlCol="0" anchor="t"/>
          <a:lstStyle/>
          <a:p>
            <a:pPr algn="l" indent="0" marL="0">
              <a:lnSpc>
                <a:spcPts val="1495"/>
              </a:lnSpc>
              <a:buNone/>
            </a:pPr>
            <a:r>
              <a:rPr lang="en-US" sz="1150" dirty="0">
                <a:solidFill>
                  <a:srgbClr val="9BB0C6"/>
                </a:solidFill>
                <a:latin typeface="Be Vietnam Pro" pitchFamily="34" charset="0"/>
                <a:ea typeface="Be Vietnam Pro" pitchFamily="34" charset="-122"/>
                <a:cs typeface="Be Vietnam Pro" pitchFamily="34" charset="-120"/>
              </a:rPr>
              <a:t>Mô hình chạy trên máy đặt tại xã: không gửi dữ liệu ra ngoài, không tính tiền</a:t>
            </a:r>
            <a:endParaRPr lang="en-US" sz="1150" dirty="0"/>
          </a:p>
          <a:p>
            <a:pPr algn="l" indent="0" marL="0">
              <a:lnSpc>
                <a:spcPts val="1495"/>
              </a:lnSpc>
              <a:buNone/>
            </a:pPr>
            <a:r>
              <a:rPr lang="en-US" sz="1150" dirty="0">
                <a:solidFill>
                  <a:srgbClr val="9BB0C6"/>
                </a:solidFill>
                <a:latin typeface="Be Vietnam Pro" pitchFamily="34" charset="0"/>
                <a:ea typeface="Be Vietnam Pro" pitchFamily="34" charset="-122"/>
                <a:cs typeface="Be Vietnam Pro" pitchFamily="34" charset="-120"/>
              </a:rPr>
              <a:t>theo lượt gọi.</a:t>
            </a:r>
            <a:endParaRPr lang="en-US" sz="1150" dirty="0"/>
          </a:p>
        </p:txBody>
      </p:sp>
      <p:sp>
        <p:nvSpPr>
          <p:cNvPr id="32" name="Shape 28"/>
          <p:cNvSpPr/>
          <p:nvPr/>
        </p:nvSpPr>
        <p:spPr>
          <a:xfrm>
            <a:off x="713232" y="5420614"/>
            <a:ext cx="10765231" cy="749808"/>
          </a:xfrm>
          <a:prstGeom prst="roundRect">
            <a:avLst>
              <a:gd name="adj" fmla="val 12195"/>
            </a:avLst>
          </a:prstGeom>
          <a:solidFill>
            <a:srgbClr val="F87171">
              <a:alpha val="12000"/>
            </a:srgbClr>
          </a:solidFill>
          <a:ln w="12700">
            <a:solidFill>
              <a:srgbClr val="F87171">
                <a:alpha val="42000"/>
              </a:srgbClr>
            </a:solidFill>
            <a:prstDash val="solid"/>
          </a:ln>
        </p:spPr>
      </p:sp>
      <p:sp>
        <p:nvSpPr>
          <p:cNvPr id="33" name="Shape 29"/>
          <p:cNvSpPr/>
          <p:nvPr/>
        </p:nvSpPr>
        <p:spPr>
          <a:xfrm>
            <a:off x="713232" y="5420614"/>
            <a:ext cx="50292" cy="749808"/>
          </a:xfrm>
          <a:prstGeom prst="roundRect">
            <a:avLst>
              <a:gd name="adj" fmla="val 54545"/>
            </a:avLst>
          </a:prstGeom>
          <a:solidFill>
            <a:srgbClr val="F87171">
              <a:alpha val="95000"/>
            </a:srgbClr>
          </a:solidFill>
          <a:ln/>
        </p:spPr>
      </p:sp>
      <p:sp>
        <p:nvSpPr>
          <p:cNvPr id="34" name="Text 30"/>
          <p:cNvSpPr/>
          <p:nvPr/>
        </p:nvSpPr>
        <p:spPr>
          <a:xfrm>
            <a:off x="1078992" y="5621782"/>
            <a:ext cx="10125151" cy="330327"/>
          </a:xfrm>
          <a:prstGeom prst="rect">
            <a:avLst/>
          </a:prstGeom>
          <a:noFill/>
          <a:ln/>
        </p:spPr>
        <p:txBody>
          <a:bodyPr wrap="square" lIns="0" tIns="0" rIns="0" bIns="0" rtlCol="0" anchor="t"/>
          <a:lstStyle/>
          <a:p>
            <a:pPr algn="l" indent="0" marL="0">
              <a:lnSpc>
                <a:spcPts val="2025"/>
              </a:lnSpc>
              <a:buNone/>
            </a:pPr>
            <a:r>
              <a:rPr lang="en-US" sz="1500" b="1" dirty="0">
                <a:solidFill>
                  <a:srgbClr val="FFFFFF"/>
                </a:solidFill>
                <a:latin typeface="Be Vietnam Pro" pitchFamily="34" charset="0"/>
                <a:ea typeface="Be Vietnam Pro" pitchFamily="34" charset="-122"/>
                <a:cs typeface="Be Vietnam Pro" pitchFamily="34" charset="-120"/>
              </a:rPr>
              <a:t>Trong cứu hộ, một câu trả lời sai nghe rất thuyết phục còn nguy hiểm hơn là không có câu trả lời nào.</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4101F"/>
        </a:solidFill>
      </p:bgPr>
    </p:bg>
    <p:spTree>
      <p:nvGrpSpPr>
        <p:cNvPr id="1" name=""/>
        <p:cNvGrpSpPr/>
        <p:nvPr/>
      </p:nvGrpSpPr>
      <p:grpSpPr>
        <a:xfrm>
          <a:off x="0" y="0"/>
          <a:ext cx="0" cy="0"/>
          <a:chOff x="0" y="0"/>
          <a:chExt cx="0" cy="0"/>
        </a:xfrm>
      </p:grpSpPr>
      <p:pic>
        <p:nvPicPr>
          <p:cNvPr id="2" name="Image 0" descr="bg-content.jp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4101F">
              <a:alpha val="34000"/>
            </a:srgbClr>
          </a:solidFill>
          <a:ln/>
        </p:spPr>
      </p:sp>
      <p:pic>
        <p:nvPicPr>
          <p:cNvPr id="4" name="Image 1" descr="mark-sm.png">    </p:cNvPr>
          <p:cNvPicPr>
            <a:picLocks noChangeAspect="1"/>
          </p:cNvPicPr>
          <p:nvPr/>
        </p:nvPicPr>
        <p:blipFill>
          <a:blip r:embed="rId2"/>
          <a:stretch>
            <a:fillRect/>
          </a:stretch>
        </p:blipFill>
        <p:spPr>
          <a:xfrm>
            <a:off x="713232" y="365760"/>
            <a:ext cx="310896" cy="310896"/>
          </a:xfrm>
          <a:prstGeom prst="rect">
            <a:avLst/>
          </a:prstGeom>
        </p:spPr>
      </p:pic>
      <p:sp>
        <p:nvSpPr>
          <p:cNvPr id="5" name="Text 1"/>
          <p:cNvSpPr/>
          <p:nvPr/>
        </p:nvSpPr>
        <p:spPr>
          <a:xfrm>
            <a:off x="1170432" y="384048"/>
            <a:ext cx="3749040" cy="261747"/>
          </a:xfrm>
          <a:prstGeom prst="rect">
            <a:avLst/>
          </a:prstGeom>
          <a:noFill/>
          <a:ln/>
        </p:spPr>
        <p:txBody>
          <a:bodyPr wrap="square" lIns="0" tIns="0" rIns="0" bIns="0" rtlCol="0" anchor="t"/>
          <a:lstStyle/>
          <a:p>
            <a:pPr algn="l" indent="0" marL="0">
              <a:lnSpc>
                <a:spcPts val="1485"/>
              </a:lnSpc>
              <a:buNone/>
            </a:pPr>
            <a:r>
              <a:rPr lang="en-US" sz="1100" b="1" spc="160" kern="0" dirty="0">
                <a:solidFill>
                  <a:srgbClr val="6EE7A8"/>
                </a:solidFill>
                <a:latin typeface="Be Vietnam Pro" pitchFamily="34" charset="0"/>
                <a:ea typeface="Be Vietnam Pro" pitchFamily="34" charset="-122"/>
                <a:cs typeface="Be Vietnam Pro" pitchFamily="34" charset="-120"/>
              </a:rPr>
              <a:t>ỨNG PHÓ NHANH</a:t>
            </a:r>
            <a:endParaRPr lang="en-US" sz="1100" dirty="0"/>
          </a:p>
        </p:txBody>
      </p:sp>
      <p:sp>
        <p:nvSpPr>
          <p:cNvPr id="6" name="Text 2"/>
          <p:cNvSpPr/>
          <p:nvPr/>
        </p:nvSpPr>
        <p:spPr>
          <a:xfrm>
            <a:off x="8643823" y="384048"/>
            <a:ext cx="2834640" cy="261747"/>
          </a:xfrm>
          <a:prstGeom prst="rect">
            <a:avLst/>
          </a:prstGeom>
          <a:noFill/>
          <a:ln/>
        </p:spPr>
        <p:txBody>
          <a:bodyPr wrap="square" lIns="0" tIns="0" rIns="0" bIns="0" rtlCol="0" anchor="t"/>
          <a:lstStyle/>
          <a:p>
            <a:pPr algn="r" indent="0" marL="0">
              <a:lnSpc>
                <a:spcPts val="1485"/>
              </a:lnSpc>
              <a:buNone/>
            </a:pPr>
            <a:r>
              <a:rPr lang="en-US" sz="1100" b="1" dirty="0">
                <a:solidFill>
                  <a:srgbClr val="7189A2"/>
                </a:solidFill>
                <a:latin typeface="Be Vietnam Pro" pitchFamily="34" charset="0"/>
                <a:ea typeface="Be Vietnam Pro" pitchFamily="34" charset="-122"/>
                <a:cs typeface="Be Vietnam Pro" pitchFamily="34" charset="-120"/>
              </a:rPr>
              <a:t>21 / 24</a:t>
            </a:r>
            <a:endParaRPr lang="en-US" sz="1100" dirty="0"/>
          </a:p>
        </p:txBody>
      </p:sp>
      <p:sp>
        <p:nvSpPr>
          <p:cNvPr id="7" name="Shape 3"/>
          <p:cNvSpPr/>
          <p:nvPr/>
        </p:nvSpPr>
        <p:spPr>
          <a:xfrm>
            <a:off x="713232" y="868680"/>
            <a:ext cx="10765231" cy="10973"/>
          </a:xfrm>
          <a:prstGeom prst="rect">
            <a:avLst/>
          </a:prstGeom>
          <a:solidFill>
            <a:srgbClr val="FFFFFF">
              <a:alpha val="16000"/>
            </a:srgbClr>
          </a:solidFill>
          <a:ln/>
        </p:spPr>
      </p:sp>
      <p:sp>
        <p:nvSpPr>
          <p:cNvPr id="8" name="Text 4"/>
          <p:cNvSpPr/>
          <p:nvPr/>
        </p:nvSpPr>
        <p:spPr>
          <a:xfrm>
            <a:off x="713232" y="1133856"/>
            <a:ext cx="8321040" cy="270320"/>
          </a:xfrm>
          <a:prstGeom prst="rect">
            <a:avLst/>
          </a:prstGeom>
          <a:noFill/>
          <a:ln/>
        </p:spPr>
        <p:txBody>
          <a:bodyPr wrap="square" lIns="0" tIns="0" rIns="0" bIns="0" rtlCol="0" anchor="t"/>
          <a:lstStyle/>
          <a:p>
            <a:pPr algn="l" indent="0" marL="0">
              <a:lnSpc>
                <a:spcPts val="1553"/>
              </a:lnSpc>
              <a:buNone/>
            </a:pPr>
            <a:r>
              <a:rPr lang="en-US" sz="1150" b="1" spc="220" kern="0" dirty="0">
                <a:solidFill>
                  <a:srgbClr val="22C55E"/>
                </a:solidFill>
                <a:latin typeface="Be Vietnam Pro" pitchFamily="34" charset="0"/>
                <a:ea typeface="Be Vietnam Pro" pitchFamily="34" charset="-122"/>
                <a:cs typeface="Be Vietnam Pro" pitchFamily="34" charset="-120"/>
              </a:rPr>
              <a:t>DỰ BÁO NHU CẦU</a:t>
            </a:r>
            <a:endParaRPr lang="en-US" sz="1150" dirty="0"/>
          </a:p>
        </p:txBody>
      </p:sp>
      <p:sp>
        <p:nvSpPr>
          <p:cNvPr id="9" name="Text 5"/>
          <p:cNvSpPr/>
          <p:nvPr/>
        </p:nvSpPr>
        <p:spPr>
          <a:xfrm>
            <a:off x="713232" y="1426464"/>
            <a:ext cx="10490911" cy="537718"/>
          </a:xfrm>
          <a:prstGeom prst="rect">
            <a:avLst/>
          </a:prstGeom>
          <a:noFill/>
          <a:ln/>
        </p:spPr>
        <p:txBody>
          <a:bodyPr wrap="square" lIns="0" tIns="0" rIns="0" bIns="0" rtlCol="0" anchor="t"/>
          <a:lstStyle/>
          <a:p>
            <a:pPr algn="l" indent="0" marL="0">
              <a:lnSpc>
                <a:spcPts val="3658"/>
              </a:lnSpc>
              <a:buNone/>
            </a:pPr>
            <a:r>
              <a:rPr lang="en-US" sz="3100" b="1" dirty="0">
                <a:solidFill>
                  <a:srgbClr val="FFFFFF"/>
                </a:solidFill>
                <a:latin typeface="Be Vietnam Pro" pitchFamily="34" charset="0"/>
                <a:ea typeface="Be Vietnam Pro" pitchFamily="34" charset="-122"/>
                <a:cs typeface="Be Vietnam Pro" pitchFamily="34" charset="-120"/>
              </a:rPr>
              <a:t>Biết trước thay vì biết sau</a:t>
            </a:r>
            <a:endParaRPr lang="en-US" sz="3100" dirty="0"/>
          </a:p>
        </p:txBody>
      </p:sp>
      <p:sp>
        <p:nvSpPr>
          <p:cNvPr id="10" name="Shape 6"/>
          <p:cNvSpPr/>
          <p:nvPr/>
        </p:nvSpPr>
        <p:spPr>
          <a:xfrm>
            <a:off x="713232" y="6272784"/>
            <a:ext cx="10765231" cy="9144"/>
          </a:xfrm>
          <a:prstGeom prst="rect">
            <a:avLst/>
          </a:prstGeom>
          <a:solidFill>
            <a:srgbClr val="FFFFFF">
              <a:alpha val="10000"/>
            </a:srgbClr>
          </a:solidFill>
          <a:ln/>
        </p:spPr>
      </p:sp>
      <p:sp>
        <p:nvSpPr>
          <p:cNvPr id="11" name="Text 7"/>
          <p:cNvSpPr/>
          <p:nvPr/>
        </p:nvSpPr>
        <p:spPr>
          <a:xfrm>
            <a:off x="8643823" y="6382512"/>
            <a:ext cx="2834640" cy="236030"/>
          </a:xfrm>
          <a:prstGeom prst="rect">
            <a:avLst/>
          </a:prstGeom>
          <a:noFill/>
          <a:ln/>
        </p:spPr>
        <p:txBody>
          <a:bodyPr wrap="square" lIns="0" tIns="0" rIns="0" bIns="0" rtlCol="0" anchor="t"/>
          <a:lstStyle/>
          <a:p>
            <a:pPr algn="r" indent="0" marL="0">
              <a:lnSpc>
                <a:spcPts val="1283"/>
              </a:lnSpc>
              <a:buNone/>
            </a:pPr>
            <a:r>
              <a:rPr lang="en-US" sz="950" dirty="0">
                <a:solidFill>
                  <a:srgbClr val="7189A2"/>
                </a:solidFill>
                <a:latin typeface="Be Vietnam Pro" pitchFamily="34" charset="0"/>
                <a:ea typeface="Be Vietnam Pro" pitchFamily="34" charset="-122"/>
                <a:cs typeface="Be Vietnam Pro" pitchFamily="34" charset="-120"/>
              </a:rPr>
              <a:t>ungphonhanh.life</a:t>
            </a:r>
            <a:endParaRPr lang="en-US" sz="950" dirty="0"/>
          </a:p>
        </p:txBody>
      </p:sp>
      <p:sp>
        <p:nvSpPr>
          <p:cNvPr id="12" name="Shape 8"/>
          <p:cNvSpPr/>
          <p:nvPr/>
        </p:nvSpPr>
        <p:spPr>
          <a:xfrm>
            <a:off x="713232" y="2220214"/>
            <a:ext cx="5120640" cy="3063240"/>
          </a:xfrm>
          <a:prstGeom prst="roundRect">
            <a:avLst>
              <a:gd name="adj" fmla="val 3582"/>
            </a:avLst>
          </a:prstGeom>
          <a:solidFill>
            <a:srgbClr val="091B2D">
              <a:alpha val="66000"/>
            </a:srgbClr>
          </a:solidFill>
          <a:ln w="12700">
            <a:solidFill>
              <a:srgbClr val="FFFFFF">
                <a:alpha val="12000"/>
              </a:srgbClr>
            </a:solidFill>
            <a:prstDash val="solid"/>
          </a:ln>
        </p:spPr>
      </p:sp>
      <p:sp>
        <p:nvSpPr>
          <p:cNvPr id="13" name="Shape 9"/>
          <p:cNvSpPr/>
          <p:nvPr/>
        </p:nvSpPr>
        <p:spPr>
          <a:xfrm>
            <a:off x="713232" y="2220214"/>
            <a:ext cx="50292" cy="3063240"/>
          </a:xfrm>
          <a:prstGeom prst="roundRect">
            <a:avLst>
              <a:gd name="adj" fmla="val 54545"/>
            </a:avLst>
          </a:prstGeom>
          <a:solidFill>
            <a:srgbClr val="38BDF8">
              <a:alpha val="95000"/>
            </a:srgbClr>
          </a:solidFill>
          <a:ln/>
        </p:spPr>
      </p:sp>
      <p:sp>
        <p:nvSpPr>
          <p:cNvPr id="14" name="Text 10"/>
          <p:cNvSpPr/>
          <p:nvPr/>
        </p:nvSpPr>
        <p:spPr>
          <a:xfrm>
            <a:off x="1024128" y="2476246"/>
            <a:ext cx="4590288" cy="253175"/>
          </a:xfrm>
          <a:prstGeom prst="rect">
            <a:avLst/>
          </a:prstGeom>
          <a:noFill/>
          <a:ln/>
        </p:spPr>
        <p:txBody>
          <a:bodyPr wrap="square" lIns="0" tIns="0" rIns="0" bIns="0" rtlCol="0" anchor="t"/>
          <a:lstStyle/>
          <a:p>
            <a:pPr algn="l" indent="0" marL="0">
              <a:lnSpc>
                <a:spcPts val="1418"/>
              </a:lnSpc>
              <a:buNone/>
            </a:pPr>
            <a:r>
              <a:rPr lang="en-US" sz="1050" b="1" spc="170" kern="0" dirty="0">
                <a:solidFill>
                  <a:srgbClr val="38BDF8"/>
                </a:solidFill>
                <a:latin typeface="Be Vietnam Pro" pitchFamily="34" charset="0"/>
                <a:ea typeface="Be Vietnam Pro" pitchFamily="34" charset="-122"/>
                <a:cs typeface="Be Vietnam Pro" pitchFamily="34" charset="-120"/>
              </a:rPr>
              <a:t>BẢN TIN ĐẦU NGÀY · 12 THÁNG 9</a:t>
            </a:r>
            <a:endParaRPr lang="en-US" sz="1050" dirty="0"/>
          </a:p>
        </p:txBody>
      </p:sp>
      <p:sp>
        <p:nvSpPr>
          <p:cNvPr id="15" name="Shape 11"/>
          <p:cNvSpPr/>
          <p:nvPr/>
        </p:nvSpPr>
        <p:spPr>
          <a:xfrm>
            <a:off x="1024128" y="2915158"/>
            <a:ext cx="4498848" cy="493776"/>
          </a:xfrm>
          <a:prstGeom prst="roundRect">
            <a:avLst>
              <a:gd name="adj" fmla="val 16667"/>
            </a:avLst>
          </a:prstGeom>
          <a:solidFill>
            <a:srgbClr val="FFFFFF">
              <a:alpha val="6000"/>
            </a:srgbClr>
          </a:solidFill>
          <a:ln w="12700">
            <a:solidFill>
              <a:srgbClr val="38BDF8">
                <a:alpha val="28000"/>
              </a:srgbClr>
            </a:solidFill>
            <a:prstDash val="solid"/>
          </a:ln>
        </p:spPr>
      </p:sp>
      <p:sp>
        <p:nvSpPr>
          <p:cNvPr id="16" name="Text 12"/>
          <p:cNvSpPr/>
          <p:nvPr/>
        </p:nvSpPr>
        <p:spPr>
          <a:xfrm>
            <a:off x="1188720" y="3034030"/>
            <a:ext cx="3017520" cy="287465"/>
          </a:xfrm>
          <a:prstGeom prst="rect">
            <a:avLst/>
          </a:prstGeom>
          <a:noFill/>
          <a:ln/>
        </p:spPr>
        <p:txBody>
          <a:bodyPr wrap="square" lIns="0" tIns="0" rIns="0" bIns="0" rtlCol="0" anchor="t"/>
          <a:lstStyle/>
          <a:p>
            <a:pPr algn="l" indent="0" marL="0">
              <a:lnSpc>
                <a:spcPts val="1688"/>
              </a:lnSpc>
              <a:buNone/>
            </a:pPr>
            <a:r>
              <a:rPr lang="en-US" sz="1250" dirty="0">
                <a:solidFill>
                  <a:srgbClr val="D9E6F2"/>
                </a:solidFill>
                <a:latin typeface="Be Vietnam Pro" pitchFamily="34" charset="0"/>
                <a:ea typeface="Be Vietnam Pro" pitchFamily="34" charset="-122"/>
                <a:cs typeface="Be Vietnam Pro" pitchFamily="34" charset="-120"/>
              </a:rPr>
              <a:t>Mưa dự báo 72 giờ</a:t>
            </a:r>
            <a:endParaRPr lang="en-US" sz="1250" dirty="0"/>
          </a:p>
        </p:txBody>
      </p:sp>
      <p:sp>
        <p:nvSpPr>
          <p:cNvPr id="17" name="Text 13"/>
          <p:cNvSpPr/>
          <p:nvPr/>
        </p:nvSpPr>
        <p:spPr>
          <a:xfrm>
            <a:off x="3913632" y="3006598"/>
            <a:ext cx="1609344" cy="313182"/>
          </a:xfrm>
          <a:prstGeom prst="rect">
            <a:avLst/>
          </a:prstGeom>
          <a:noFill/>
          <a:ln/>
        </p:spPr>
        <p:txBody>
          <a:bodyPr wrap="square" lIns="0" tIns="0" rIns="0" bIns="0" rtlCol="0" anchor="t"/>
          <a:lstStyle/>
          <a:p>
            <a:pPr algn="r" indent="0" marL="0">
              <a:lnSpc>
                <a:spcPts val="1890"/>
              </a:lnSpc>
              <a:buNone/>
            </a:pPr>
            <a:r>
              <a:rPr lang="en-US" sz="1400" b="1" dirty="0">
                <a:solidFill>
                  <a:srgbClr val="38BDF8"/>
                </a:solidFill>
                <a:latin typeface="Be Vietnam Pro" pitchFamily="34" charset="0"/>
                <a:ea typeface="Be Vietnam Pro" pitchFamily="34" charset="-122"/>
                <a:cs typeface="Be Vietnam Pro" pitchFamily="34" charset="-120"/>
              </a:rPr>
              <a:t>180 mm</a:t>
            </a:r>
            <a:endParaRPr lang="en-US" sz="1400" dirty="0"/>
          </a:p>
        </p:txBody>
      </p:sp>
      <p:sp>
        <p:nvSpPr>
          <p:cNvPr id="18" name="Shape 14"/>
          <p:cNvSpPr/>
          <p:nvPr/>
        </p:nvSpPr>
        <p:spPr>
          <a:xfrm>
            <a:off x="1024128" y="3482086"/>
            <a:ext cx="4498848" cy="493776"/>
          </a:xfrm>
          <a:prstGeom prst="roundRect">
            <a:avLst>
              <a:gd name="adj" fmla="val 16667"/>
            </a:avLst>
          </a:prstGeom>
          <a:solidFill>
            <a:srgbClr val="FFFFFF">
              <a:alpha val="6000"/>
            </a:srgbClr>
          </a:solidFill>
          <a:ln w="12700">
            <a:solidFill>
              <a:srgbClr val="FBBF24">
                <a:alpha val="28000"/>
              </a:srgbClr>
            </a:solidFill>
            <a:prstDash val="solid"/>
          </a:ln>
        </p:spPr>
      </p:sp>
      <p:sp>
        <p:nvSpPr>
          <p:cNvPr id="19" name="Text 15"/>
          <p:cNvSpPr/>
          <p:nvPr/>
        </p:nvSpPr>
        <p:spPr>
          <a:xfrm>
            <a:off x="1188720" y="3600958"/>
            <a:ext cx="3017520" cy="287465"/>
          </a:xfrm>
          <a:prstGeom prst="rect">
            <a:avLst/>
          </a:prstGeom>
          <a:noFill/>
          <a:ln/>
        </p:spPr>
        <p:txBody>
          <a:bodyPr wrap="square" lIns="0" tIns="0" rIns="0" bIns="0" rtlCol="0" anchor="t"/>
          <a:lstStyle/>
          <a:p>
            <a:pPr algn="l" indent="0" marL="0">
              <a:lnSpc>
                <a:spcPts val="1688"/>
              </a:lnSpc>
              <a:buNone/>
            </a:pPr>
            <a:r>
              <a:rPr lang="en-US" sz="1250" dirty="0">
                <a:solidFill>
                  <a:srgbClr val="D9E6F2"/>
                </a:solidFill>
                <a:latin typeface="Be Vietnam Pro" pitchFamily="34" charset="0"/>
                <a:ea typeface="Be Vietnam Pro" pitchFamily="34" charset="-122"/>
                <a:cs typeface="Be Vietnam Pro" pitchFamily="34" charset="-120"/>
              </a:rPr>
              <a:t>Nhu cầu nước uống</a:t>
            </a:r>
            <a:endParaRPr lang="en-US" sz="1250" dirty="0"/>
          </a:p>
        </p:txBody>
      </p:sp>
      <p:sp>
        <p:nvSpPr>
          <p:cNvPr id="20" name="Text 16"/>
          <p:cNvSpPr/>
          <p:nvPr/>
        </p:nvSpPr>
        <p:spPr>
          <a:xfrm>
            <a:off x="3913632" y="3573526"/>
            <a:ext cx="1609344" cy="313182"/>
          </a:xfrm>
          <a:prstGeom prst="rect">
            <a:avLst/>
          </a:prstGeom>
          <a:noFill/>
          <a:ln/>
        </p:spPr>
        <p:txBody>
          <a:bodyPr wrap="square" lIns="0" tIns="0" rIns="0" bIns="0" rtlCol="0" anchor="t"/>
          <a:lstStyle/>
          <a:p>
            <a:pPr algn="r" indent="0" marL="0">
              <a:lnSpc>
                <a:spcPts val="1890"/>
              </a:lnSpc>
              <a:buNone/>
            </a:pPr>
            <a:r>
              <a:rPr lang="en-US" sz="1400" b="1" dirty="0">
                <a:solidFill>
                  <a:srgbClr val="FBBF24"/>
                </a:solidFill>
                <a:latin typeface="Be Vietnam Pro" pitchFamily="34" charset="0"/>
                <a:ea typeface="Be Vietnam Pro" pitchFamily="34" charset="-122"/>
                <a:cs typeface="Be Vietnam Pro" pitchFamily="34" charset="-120"/>
              </a:rPr>
              <a:t>gấp đôi</a:t>
            </a:r>
            <a:endParaRPr lang="en-US" sz="1400" dirty="0"/>
          </a:p>
        </p:txBody>
      </p:sp>
      <p:sp>
        <p:nvSpPr>
          <p:cNvPr id="21" name="Shape 17"/>
          <p:cNvSpPr/>
          <p:nvPr/>
        </p:nvSpPr>
        <p:spPr>
          <a:xfrm>
            <a:off x="1024128" y="4049014"/>
            <a:ext cx="4498848" cy="493776"/>
          </a:xfrm>
          <a:prstGeom prst="roundRect">
            <a:avLst>
              <a:gd name="adj" fmla="val 16667"/>
            </a:avLst>
          </a:prstGeom>
          <a:solidFill>
            <a:srgbClr val="FFFFFF">
              <a:alpha val="6000"/>
            </a:srgbClr>
          </a:solidFill>
          <a:ln w="12700">
            <a:solidFill>
              <a:srgbClr val="F87171">
                <a:alpha val="28000"/>
              </a:srgbClr>
            </a:solidFill>
            <a:prstDash val="solid"/>
          </a:ln>
        </p:spPr>
      </p:sp>
      <p:sp>
        <p:nvSpPr>
          <p:cNvPr id="22" name="Text 18"/>
          <p:cNvSpPr/>
          <p:nvPr/>
        </p:nvSpPr>
        <p:spPr>
          <a:xfrm>
            <a:off x="1188720" y="4167886"/>
            <a:ext cx="3017520" cy="287465"/>
          </a:xfrm>
          <a:prstGeom prst="rect">
            <a:avLst/>
          </a:prstGeom>
          <a:noFill/>
          <a:ln/>
        </p:spPr>
        <p:txBody>
          <a:bodyPr wrap="square" lIns="0" tIns="0" rIns="0" bIns="0" rtlCol="0" anchor="t"/>
          <a:lstStyle/>
          <a:p>
            <a:pPr algn="l" indent="0" marL="0">
              <a:lnSpc>
                <a:spcPts val="1688"/>
              </a:lnSpc>
              <a:buNone/>
            </a:pPr>
            <a:r>
              <a:rPr lang="en-US" sz="1250" dirty="0">
                <a:solidFill>
                  <a:srgbClr val="D9E6F2"/>
                </a:solidFill>
                <a:latin typeface="Be Vietnam Pro" pitchFamily="34" charset="0"/>
                <a:ea typeface="Be Vietnam Pro" pitchFamily="34" charset="-122"/>
                <a:cs typeface="Be Vietnam Pro" pitchFamily="34" charset="-120"/>
              </a:rPr>
              <a:t>Kho sẽ thiếu</a:t>
            </a:r>
            <a:endParaRPr lang="en-US" sz="1250" dirty="0"/>
          </a:p>
        </p:txBody>
      </p:sp>
      <p:sp>
        <p:nvSpPr>
          <p:cNvPr id="23" name="Text 19"/>
          <p:cNvSpPr/>
          <p:nvPr/>
        </p:nvSpPr>
        <p:spPr>
          <a:xfrm>
            <a:off x="3913632" y="4140454"/>
            <a:ext cx="1609344" cy="313182"/>
          </a:xfrm>
          <a:prstGeom prst="rect">
            <a:avLst/>
          </a:prstGeom>
          <a:noFill/>
          <a:ln/>
        </p:spPr>
        <p:txBody>
          <a:bodyPr wrap="square" lIns="0" tIns="0" rIns="0" bIns="0" rtlCol="0" anchor="t"/>
          <a:lstStyle/>
          <a:p>
            <a:pPr algn="r" indent="0" marL="0">
              <a:lnSpc>
                <a:spcPts val="1890"/>
              </a:lnSpc>
              <a:buNone/>
            </a:pPr>
            <a:r>
              <a:rPr lang="en-US" sz="1400" b="1" dirty="0">
                <a:solidFill>
                  <a:srgbClr val="F87171"/>
                </a:solidFill>
                <a:latin typeface="Be Vietnam Pro" pitchFamily="34" charset="0"/>
                <a:ea typeface="Be Vietnam Pro" pitchFamily="34" charset="-122"/>
                <a:cs typeface="Be Vietnam Pro" pitchFamily="34" charset="-120"/>
              </a:rPr>
              <a:t>~400 chai</a:t>
            </a:r>
            <a:endParaRPr lang="en-US" sz="1400" dirty="0"/>
          </a:p>
        </p:txBody>
      </p:sp>
      <p:sp>
        <p:nvSpPr>
          <p:cNvPr id="24" name="Shape 20"/>
          <p:cNvSpPr/>
          <p:nvPr/>
        </p:nvSpPr>
        <p:spPr>
          <a:xfrm>
            <a:off x="1024128" y="4615942"/>
            <a:ext cx="4498848" cy="493776"/>
          </a:xfrm>
          <a:prstGeom prst="roundRect">
            <a:avLst>
              <a:gd name="adj" fmla="val 16667"/>
            </a:avLst>
          </a:prstGeom>
          <a:solidFill>
            <a:srgbClr val="FFFFFF">
              <a:alpha val="6000"/>
            </a:srgbClr>
          </a:solidFill>
          <a:ln w="12700">
            <a:solidFill>
              <a:srgbClr val="22C55E">
                <a:alpha val="28000"/>
              </a:srgbClr>
            </a:solidFill>
            <a:prstDash val="solid"/>
          </a:ln>
        </p:spPr>
      </p:sp>
      <p:sp>
        <p:nvSpPr>
          <p:cNvPr id="25" name="Text 21"/>
          <p:cNvSpPr/>
          <p:nvPr/>
        </p:nvSpPr>
        <p:spPr>
          <a:xfrm>
            <a:off x="1188720" y="4734814"/>
            <a:ext cx="3017520" cy="287465"/>
          </a:xfrm>
          <a:prstGeom prst="rect">
            <a:avLst/>
          </a:prstGeom>
          <a:noFill/>
          <a:ln/>
        </p:spPr>
        <p:txBody>
          <a:bodyPr wrap="square" lIns="0" tIns="0" rIns="0" bIns="0" rtlCol="0" anchor="t"/>
          <a:lstStyle/>
          <a:p>
            <a:pPr algn="l" indent="0" marL="0">
              <a:lnSpc>
                <a:spcPts val="1688"/>
              </a:lnSpc>
              <a:buNone/>
            </a:pPr>
            <a:r>
              <a:rPr lang="en-US" sz="1250" dirty="0">
                <a:solidFill>
                  <a:srgbClr val="D9E6F2"/>
                </a:solidFill>
                <a:latin typeface="Be Vietnam Pro" pitchFamily="34" charset="0"/>
                <a:ea typeface="Be Vietnam Pro" pitchFamily="34" charset="-122"/>
                <a:cs typeface="Be Vietnam Pro" pitchFamily="34" charset="-120"/>
              </a:rPr>
              <a:t>Lượng hiện có đủ dùng</a:t>
            </a:r>
            <a:endParaRPr lang="en-US" sz="1250" dirty="0"/>
          </a:p>
        </p:txBody>
      </p:sp>
      <p:sp>
        <p:nvSpPr>
          <p:cNvPr id="26" name="Text 22"/>
          <p:cNvSpPr/>
          <p:nvPr/>
        </p:nvSpPr>
        <p:spPr>
          <a:xfrm>
            <a:off x="3913632" y="4707382"/>
            <a:ext cx="1609344" cy="313182"/>
          </a:xfrm>
          <a:prstGeom prst="rect">
            <a:avLst/>
          </a:prstGeom>
          <a:noFill/>
          <a:ln/>
        </p:spPr>
        <p:txBody>
          <a:bodyPr wrap="square" lIns="0" tIns="0" rIns="0" bIns="0" rtlCol="0" anchor="t"/>
          <a:lstStyle/>
          <a:p>
            <a:pPr algn="r" indent="0" marL="0">
              <a:lnSpc>
                <a:spcPts val="1890"/>
              </a:lnSpc>
              <a:buNone/>
            </a:pPr>
            <a:r>
              <a:rPr lang="en-US" sz="1400" b="1" dirty="0">
                <a:solidFill>
                  <a:srgbClr val="22C55E"/>
                </a:solidFill>
                <a:latin typeface="Be Vietnam Pro" pitchFamily="34" charset="0"/>
                <a:ea typeface="Be Vietnam Pro" pitchFamily="34" charset="-122"/>
                <a:cs typeface="Be Vietnam Pro" pitchFamily="34" charset="-120"/>
              </a:rPr>
              <a:t>~9 ngày</a:t>
            </a:r>
            <a:endParaRPr lang="en-US" sz="1400" dirty="0"/>
          </a:p>
        </p:txBody>
      </p:sp>
      <p:sp>
        <p:nvSpPr>
          <p:cNvPr id="27" name="Shape 23"/>
          <p:cNvSpPr/>
          <p:nvPr/>
        </p:nvSpPr>
        <p:spPr>
          <a:xfrm>
            <a:off x="6181344" y="2220214"/>
            <a:ext cx="5297119" cy="1371600"/>
          </a:xfrm>
          <a:prstGeom prst="roundRect">
            <a:avLst>
              <a:gd name="adj" fmla="val 8000"/>
            </a:avLst>
          </a:prstGeom>
          <a:solidFill>
            <a:srgbClr val="091B2D">
              <a:alpha val="66000"/>
            </a:srgbClr>
          </a:solidFill>
          <a:ln w="12700">
            <a:solidFill>
              <a:srgbClr val="FFFFFF">
                <a:alpha val="12000"/>
              </a:srgbClr>
            </a:solidFill>
            <a:prstDash val="solid"/>
          </a:ln>
        </p:spPr>
      </p:sp>
      <p:sp>
        <p:nvSpPr>
          <p:cNvPr id="28" name="Shape 24"/>
          <p:cNvSpPr/>
          <p:nvPr/>
        </p:nvSpPr>
        <p:spPr>
          <a:xfrm>
            <a:off x="6181344" y="2220214"/>
            <a:ext cx="50292" cy="1371600"/>
          </a:xfrm>
          <a:prstGeom prst="roundRect">
            <a:avLst>
              <a:gd name="adj" fmla="val 54545"/>
            </a:avLst>
          </a:prstGeom>
          <a:solidFill>
            <a:srgbClr val="22C55E">
              <a:alpha val="95000"/>
            </a:srgbClr>
          </a:solidFill>
          <a:ln/>
        </p:spPr>
      </p:sp>
      <p:sp>
        <p:nvSpPr>
          <p:cNvPr id="29" name="Text 25"/>
          <p:cNvSpPr/>
          <p:nvPr/>
        </p:nvSpPr>
        <p:spPr>
          <a:xfrm>
            <a:off x="6473952" y="2421382"/>
            <a:ext cx="4803343" cy="303340"/>
          </a:xfrm>
          <a:prstGeom prst="rect">
            <a:avLst/>
          </a:prstGeom>
          <a:noFill/>
          <a:ln/>
        </p:spPr>
        <p:txBody>
          <a:bodyPr wrap="square" lIns="0" tIns="0" rIns="0" bIns="0" rtlCol="0" anchor="t"/>
          <a:lstStyle/>
          <a:p>
            <a:pPr algn="l" indent="0" marL="0">
              <a:lnSpc>
                <a:spcPts val="1813"/>
              </a:lnSpc>
              <a:buNone/>
            </a:pPr>
            <a:r>
              <a:rPr lang="en-US" sz="1450" b="1" dirty="0">
                <a:solidFill>
                  <a:srgbClr val="FFFFFF"/>
                </a:solidFill>
                <a:latin typeface="Be Vietnam Pro" pitchFamily="34" charset="0"/>
                <a:ea typeface="Be Vietnam Pro" pitchFamily="34" charset="-122"/>
                <a:cs typeface="Be Vietnam Pro" pitchFamily="34" charset="-120"/>
              </a:rPr>
              <a:t>Ghép hai nguồn dữ liệu</a:t>
            </a:r>
            <a:endParaRPr lang="en-US" sz="1450" dirty="0"/>
          </a:p>
        </p:txBody>
      </p:sp>
      <p:sp>
        <p:nvSpPr>
          <p:cNvPr id="30" name="Text 26"/>
          <p:cNvSpPr/>
          <p:nvPr/>
        </p:nvSpPr>
        <p:spPr>
          <a:xfrm>
            <a:off x="6473952" y="2860294"/>
            <a:ext cx="4803343" cy="499872"/>
          </a:xfrm>
          <a:prstGeom prst="rect">
            <a:avLst/>
          </a:prstGeom>
          <a:noFill/>
          <a:ln/>
        </p:spPr>
        <p:txBody>
          <a:bodyPr wrap="square" lIns="0" tIns="0" rIns="0" bIns="0" rtlCol="0" anchor="t"/>
          <a:lstStyle/>
          <a:p>
            <a:pPr algn="l" indent="0" marL="0">
              <a:lnSpc>
                <a:spcPts val="1680"/>
              </a:lnSpc>
              <a:buNone/>
            </a:pPr>
            <a:r>
              <a:rPr lang="en-US" sz="1200" dirty="0">
                <a:solidFill>
                  <a:srgbClr val="9BB0C6"/>
                </a:solidFill>
                <a:latin typeface="Be Vietnam Pro" pitchFamily="34" charset="0"/>
                <a:ea typeface="Be Vietnam Pro" pitchFamily="34" charset="-122"/>
                <a:cs typeface="Be Vietnam Pro" pitchFamily="34" charset="-120"/>
              </a:rPr>
              <a:t>Lịch sử giao dịch của kho ghép với lượng mưa dự báo 72 giờ</a:t>
            </a:r>
            <a:endParaRPr lang="en-US" sz="1200" dirty="0"/>
          </a:p>
          <a:p>
            <a:pPr algn="l" indent="0" marL="0">
              <a:lnSpc>
                <a:spcPts val="1680"/>
              </a:lnSpc>
              <a:buNone/>
            </a:pPr>
            <a:r>
              <a:rPr lang="en-US" sz="1200" dirty="0">
                <a:solidFill>
                  <a:srgbClr val="9BB0C6"/>
                </a:solidFill>
                <a:latin typeface="Be Vietnam Pro" pitchFamily="34" charset="0"/>
                <a:ea typeface="Be Vietnam Pro" pitchFamily="34" charset="-122"/>
                <a:cs typeface="Be Vietnam Pro" pitchFamily="34" charset="-120"/>
              </a:rPr>
              <a:t>theo đúng toạ độ từng kho.</a:t>
            </a:r>
            <a:endParaRPr lang="en-US" sz="1200" dirty="0"/>
          </a:p>
        </p:txBody>
      </p:sp>
      <p:sp>
        <p:nvSpPr>
          <p:cNvPr id="31" name="Shape 27"/>
          <p:cNvSpPr/>
          <p:nvPr/>
        </p:nvSpPr>
        <p:spPr>
          <a:xfrm>
            <a:off x="6181344" y="3911854"/>
            <a:ext cx="5297119" cy="1371600"/>
          </a:xfrm>
          <a:prstGeom prst="roundRect">
            <a:avLst>
              <a:gd name="adj" fmla="val 8000"/>
            </a:avLst>
          </a:prstGeom>
          <a:solidFill>
            <a:srgbClr val="091B2D">
              <a:alpha val="66000"/>
            </a:srgbClr>
          </a:solidFill>
          <a:ln w="12700">
            <a:solidFill>
              <a:srgbClr val="FFFFFF">
                <a:alpha val="12000"/>
              </a:srgbClr>
            </a:solidFill>
            <a:prstDash val="solid"/>
          </a:ln>
        </p:spPr>
      </p:sp>
      <p:sp>
        <p:nvSpPr>
          <p:cNvPr id="32" name="Shape 28"/>
          <p:cNvSpPr/>
          <p:nvPr/>
        </p:nvSpPr>
        <p:spPr>
          <a:xfrm>
            <a:off x="6181344" y="3911854"/>
            <a:ext cx="50292" cy="1371600"/>
          </a:xfrm>
          <a:prstGeom prst="roundRect">
            <a:avLst>
              <a:gd name="adj" fmla="val 54545"/>
            </a:avLst>
          </a:prstGeom>
          <a:solidFill>
            <a:srgbClr val="FBBF24">
              <a:alpha val="95000"/>
            </a:srgbClr>
          </a:solidFill>
          <a:ln/>
        </p:spPr>
      </p:sp>
      <p:sp>
        <p:nvSpPr>
          <p:cNvPr id="33" name="Text 29"/>
          <p:cNvSpPr/>
          <p:nvPr/>
        </p:nvSpPr>
        <p:spPr>
          <a:xfrm>
            <a:off x="6473952" y="4113022"/>
            <a:ext cx="4803343" cy="303340"/>
          </a:xfrm>
          <a:prstGeom prst="rect">
            <a:avLst/>
          </a:prstGeom>
          <a:noFill/>
          <a:ln/>
        </p:spPr>
        <p:txBody>
          <a:bodyPr wrap="square" lIns="0" tIns="0" rIns="0" bIns="0" rtlCol="0" anchor="t"/>
          <a:lstStyle/>
          <a:p>
            <a:pPr algn="l" indent="0" marL="0">
              <a:lnSpc>
                <a:spcPts val="1813"/>
              </a:lnSpc>
              <a:buNone/>
            </a:pPr>
            <a:r>
              <a:rPr lang="en-US" sz="1450" b="1" dirty="0">
                <a:solidFill>
                  <a:srgbClr val="FFFFFF"/>
                </a:solidFill>
                <a:latin typeface="Be Vietnam Pro" pitchFamily="34" charset="0"/>
                <a:ea typeface="Be Vietnam Pro" pitchFamily="34" charset="-122"/>
                <a:cs typeface="Be Vietnam Pro" pitchFamily="34" charset="-120"/>
              </a:rPr>
              <a:t>Dự báo thứ sắp cạn, thứ sắp hết hạn</a:t>
            </a:r>
            <a:endParaRPr lang="en-US" sz="1450" dirty="0"/>
          </a:p>
        </p:txBody>
      </p:sp>
      <p:sp>
        <p:nvSpPr>
          <p:cNvPr id="34" name="Text 30"/>
          <p:cNvSpPr/>
          <p:nvPr/>
        </p:nvSpPr>
        <p:spPr>
          <a:xfrm>
            <a:off x="6473952" y="4551934"/>
            <a:ext cx="4803343" cy="499872"/>
          </a:xfrm>
          <a:prstGeom prst="rect">
            <a:avLst/>
          </a:prstGeom>
          <a:noFill/>
          <a:ln/>
        </p:spPr>
        <p:txBody>
          <a:bodyPr wrap="square" lIns="0" tIns="0" rIns="0" bIns="0" rtlCol="0" anchor="t"/>
          <a:lstStyle/>
          <a:p>
            <a:pPr algn="l" indent="0" marL="0">
              <a:lnSpc>
                <a:spcPts val="1680"/>
              </a:lnSpc>
              <a:buNone/>
            </a:pPr>
            <a:r>
              <a:rPr lang="en-US" sz="1200" dirty="0">
                <a:solidFill>
                  <a:srgbClr val="9BB0C6"/>
                </a:solidFill>
                <a:latin typeface="Be Vietnam Pro" pitchFamily="34" charset="0"/>
                <a:ea typeface="Be Vietnam Pro" pitchFamily="34" charset="-122"/>
                <a:cs typeface="Be Vietnam Pro" pitchFamily="34" charset="-120"/>
              </a:rPr>
              <a:t>Mọi giao dịch đều được ghi lại nên hệ thống tính được tốc độ</a:t>
            </a:r>
            <a:endParaRPr lang="en-US" sz="1200" dirty="0"/>
          </a:p>
          <a:p>
            <a:pPr algn="l" indent="0" marL="0">
              <a:lnSpc>
                <a:spcPts val="1680"/>
              </a:lnSpc>
              <a:buNone/>
            </a:pPr>
            <a:r>
              <a:rPr lang="en-US" sz="1200" dirty="0">
                <a:solidFill>
                  <a:srgbClr val="9BB0C6"/>
                </a:solidFill>
                <a:latin typeface="Be Vietnam Pro" pitchFamily="34" charset="0"/>
                <a:ea typeface="Be Vietnam Pro" pitchFamily="34" charset="-122"/>
                <a:cs typeface="Be Vietnam Pro" pitchFamily="34" charset="-120"/>
              </a:rPr>
              <a:t>tiêu hao của từng loại vật tư.</a:t>
            </a:r>
            <a:endParaRPr lang="en-US" sz="1200" dirty="0"/>
          </a:p>
        </p:txBody>
      </p:sp>
      <p:sp>
        <p:nvSpPr>
          <p:cNvPr id="35" name="Shape 31"/>
          <p:cNvSpPr/>
          <p:nvPr/>
        </p:nvSpPr>
        <p:spPr>
          <a:xfrm>
            <a:off x="713232" y="5557774"/>
            <a:ext cx="10765231" cy="731520"/>
          </a:xfrm>
          <a:prstGeom prst="roundRect">
            <a:avLst>
              <a:gd name="adj" fmla="val 12500"/>
            </a:avLst>
          </a:prstGeom>
          <a:solidFill>
            <a:srgbClr val="22C55E">
              <a:alpha val="12000"/>
            </a:srgbClr>
          </a:solidFill>
          <a:ln w="12700">
            <a:solidFill>
              <a:srgbClr val="22C55E">
                <a:alpha val="40000"/>
              </a:srgbClr>
            </a:solidFill>
            <a:prstDash val="solid"/>
          </a:ln>
        </p:spPr>
      </p:sp>
      <p:sp>
        <p:nvSpPr>
          <p:cNvPr id="36" name="Text 32"/>
          <p:cNvSpPr/>
          <p:nvPr/>
        </p:nvSpPr>
        <p:spPr>
          <a:xfrm>
            <a:off x="1078992" y="5749798"/>
            <a:ext cx="10125151" cy="330327"/>
          </a:xfrm>
          <a:prstGeom prst="rect">
            <a:avLst/>
          </a:prstGeom>
          <a:noFill/>
          <a:ln/>
        </p:spPr>
        <p:txBody>
          <a:bodyPr wrap="square" lIns="0" tIns="0" rIns="0" bIns="0" rtlCol="0" anchor="t"/>
          <a:lstStyle/>
          <a:p>
            <a:pPr algn="l" indent="0" marL="0">
              <a:lnSpc>
                <a:spcPts val="2025"/>
              </a:lnSpc>
              <a:buNone/>
            </a:pPr>
            <a:r>
              <a:rPr lang="en-US" sz="1500" b="1" dirty="0">
                <a:solidFill>
                  <a:srgbClr val="FFFFFF"/>
                </a:solidFill>
                <a:latin typeface="Be Vietnam Pro" pitchFamily="34" charset="0"/>
                <a:ea typeface="Be Vietnam Pro" pitchFamily="34" charset="-122"/>
                <a:cs typeface="Be Vietnam Pro" pitchFamily="34" charset="-120"/>
              </a:rPr>
              <a:t>Xã nhập hàng trước khi mưa tới — chứ không phải sau khi đã thiếu.</a:t>
            </a:r>
            <a:endParaRPr lang="en-US" sz="15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4101F"/>
        </a:solidFill>
      </p:bgPr>
    </p:bg>
    <p:spTree>
      <p:nvGrpSpPr>
        <p:cNvPr id="1" name=""/>
        <p:cNvGrpSpPr/>
        <p:nvPr/>
      </p:nvGrpSpPr>
      <p:grpSpPr>
        <a:xfrm>
          <a:off x="0" y="0"/>
          <a:ext cx="0" cy="0"/>
          <a:chOff x="0" y="0"/>
          <a:chExt cx="0" cy="0"/>
        </a:xfrm>
      </p:grpSpPr>
      <p:pic>
        <p:nvPicPr>
          <p:cNvPr id="2" name="Image 0" descr="bg-content.jp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4101F">
              <a:alpha val="34000"/>
            </a:srgbClr>
          </a:solidFill>
          <a:ln/>
        </p:spPr>
      </p:sp>
      <p:pic>
        <p:nvPicPr>
          <p:cNvPr id="4" name="Image 1" descr="mark-sm.png">    </p:cNvPr>
          <p:cNvPicPr>
            <a:picLocks noChangeAspect="1"/>
          </p:cNvPicPr>
          <p:nvPr/>
        </p:nvPicPr>
        <p:blipFill>
          <a:blip r:embed="rId2"/>
          <a:stretch>
            <a:fillRect/>
          </a:stretch>
        </p:blipFill>
        <p:spPr>
          <a:xfrm>
            <a:off x="713232" y="365760"/>
            <a:ext cx="310896" cy="310896"/>
          </a:xfrm>
          <a:prstGeom prst="rect">
            <a:avLst/>
          </a:prstGeom>
        </p:spPr>
      </p:pic>
      <p:sp>
        <p:nvSpPr>
          <p:cNvPr id="5" name="Text 1"/>
          <p:cNvSpPr/>
          <p:nvPr/>
        </p:nvSpPr>
        <p:spPr>
          <a:xfrm>
            <a:off x="1170432" y="384048"/>
            <a:ext cx="3749040" cy="261747"/>
          </a:xfrm>
          <a:prstGeom prst="rect">
            <a:avLst/>
          </a:prstGeom>
          <a:noFill/>
          <a:ln/>
        </p:spPr>
        <p:txBody>
          <a:bodyPr wrap="square" lIns="0" tIns="0" rIns="0" bIns="0" rtlCol="0" anchor="t"/>
          <a:lstStyle/>
          <a:p>
            <a:pPr algn="l" indent="0" marL="0">
              <a:lnSpc>
                <a:spcPts val="1485"/>
              </a:lnSpc>
              <a:buNone/>
            </a:pPr>
            <a:r>
              <a:rPr lang="en-US" sz="1100" b="1" spc="160" kern="0" dirty="0">
                <a:solidFill>
                  <a:srgbClr val="6EE7A8"/>
                </a:solidFill>
                <a:latin typeface="Be Vietnam Pro" pitchFamily="34" charset="0"/>
                <a:ea typeface="Be Vietnam Pro" pitchFamily="34" charset="-122"/>
                <a:cs typeface="Be Vietnam Pro" pitchFamily="34" charset="-120"/>
              </a:rPr>
              <a:t>ỨNG PHÓ NHANH</a:t>
            </a:r>
            <a:endParaRPr lang="en-US" sz="1100" dirty="0"/>
          </a:p>
        </p:txBody>
      </p:sp>
      <p:sp>
        <p:nvSpPr>
          <p:cNvPr id="6" name="Text 2"/>
          <p:cNvSpPr/>
          <p:nvPr/>
        </p:nvSpPr>
        <p:spPr>
          <a:xfrm>
            <a:off x="8643823" y="384048"/>
            <a:ext cx="2834640" cy="261747"/>
          </a:xfrm>
          <a:prstGeom prst="rect">
            <a:avLst/>
          </a:prstGeom>
          <a:noFill/>
          <a:ln/>
        </p:spPr>
        <p:txBody>
          <a:bodyPr wrap="square" lIns="0" tIns="0" rIns="0" bIns="0" rtlCol="0" anchor="t"/>
          <a:lstStyle/>
          <a:p>
            <a:pPr algn="r" indent="0" marL="0">
              <a:lnSpc>
                <a:spcPts val="1485"/>
              </a:lnSpc>
              <a:buNone/>
            </a:pPr>
            <a:r>
              <a:rPr lang="en-US" sz="1100" b="1" dirty="0">
                <a:solidFill>
                  <a:srgbClr val="7189A2"/>
                </a:solidFill>
                <a:latin typeface="Be Vietnam Pro" pitchFamily="34" charset="0"/>
                <a:ea typeface="Be Vietnam Pro" pitchFamily="34" charset="-122"/>
                <a:cs typeface="Be Vietnam Pro" pitchFamily="34" charset="-120"/>
              </a:rPr>
              <a:t>22 / 24</a:t>
            </a:r>
            <a:endParaRPr lang="en-US" sz="1100" dirty="0"/>
          </a:p>
        </p:txBody>
      </p:sp>
      <p:sp>
        <p:nvSpPr>
          <p:cNvPr id="7" name="Shape 3"/>
          <p:cNvSpPr/>
          <p:nvPr/>
        </p:nvSpPr>
        <p:spPr>
          <a:xfrm>
            <a:off x="713232" y="868680"/>
            <a:ext cx="10765231" cy="10973"/>
          </a:xfrm>
          <a:prstGeom prst="rect">
            <a:avLst/>
          </a:prstGeom>
          <a:solidFill>
            <a:srgbClr val="FFFFFF">
              <a:alpha val="16000"/>
            </a:srgbClr>
          </a:solidFill>
          <a:ln/>
        </p:spPr>
      </p:sp>
      <p:sp>
        <p:nvSpPr>
          <p:cNvPr id="8" name="Text 4"/>
          <p:cNvSpPr/>
          <p:nvPr/>
        </p:nvSpPr>
        <p:spPr>
          <a:xfrm>
            <a:off x="713232" y="1133856"/>
            <a:ext cx="8321040" cy="270320"/>
          </a:xfrm>
          <a:prstGeom prst="rect">
            <a:avLst/>
          </a:prstGeom>
          <a:noFill/>
          <a:ln/>
        </p:spPr>
        <p:txBody>
          <a:bodyPr wrap="square" lIns="0" tIns="0" rIns="0" bIns="0" rtlCol="0" anchor="t"/>
          <a:lstStyle/>
          <a:p>
            <a:pPr algn="l" indent="0" marL="0">
              <a:lnSpc>
                <a:spcPts val="1553"/>
              </a:lnSpc>
              <a:buNone/>
            </a:pPr>
            <a:r>
              <a:rPr lang="en-US" sz="1150" b="1" spc="220" kern="0" dirty="0">
                <a:solidFill>
                  <a:srgbClr val="22C55E"/>
                </a:solidFill>
                <a:latin typeface="Be Vietnam Pro" pitchFamily="34" charset="0"/>
                <a:ea typeface="Be Vietnam Pro" pitchFamily="34" charset="-122"/>
                <a:cs typeface="Be Vietnam Pro" pitchFamily="34" charset="-120"/>
              </a:rPr>
              <a:t>HỘI CHỮ THẬP ĐỎ XÃ ĐỒNG XUÂN</a:t>
            </a:r>
            <a:endParaRPr lang="en-US" sz="1150" dirty="0"/>
          </a:p>
        </p:txBody>
      </p:sp>
      <p:sp>
        <p:nvSpPr>
          <p:cNvPr id="9" name="Text 5"/>
          <p:cNvSpPr/>
          <p:nvPr/>
        </p:nvSpPr>
        <p:spPr>
          <a:xfrm>
            <a:off x="713232" y="1426464"/>
            <a:ext cx="10490911" cy="537718"/>
          </a:xfrm>
          <a:prstGeom prst="rect">
            <a:avLst/>
          </a:prstGeom>
          <a:noFill/>
          <a:ln/>
        </p:spPr>
        <p:txBody>
          <a:bodyPr wrap="square" lIns="0" tIns="0" rIns="0" bIns="0" rtlCol="0" anchor="t"/>
          <a:lstStyle/>
          <a:p>
            <a:pPr algn="l" indent="0" marL="0">
              <a:lnSpc>
                <a:spcPts val="3658"/>
              </a:lnSpc>
              <a:buNone/>
            </a:pPr>
            <a:r>
              <a:rPr lang="en-US" sz="3100" b="1" dirty="0">
                <a:solidFill>
                  <a:srgbClr val="FFFFFF"/>
                </a:solidFill>
                <a:latin typeface="Be Vietnam Pro" pitchFamily="34" charset="0"/>
                <a:ea typeface="Be Vietnam Pro" pitchFamily="34" charset="-122"/>
                <a:cs typeface="Be Vietnam Pro" pitchFamily="34" charset="-120"/>
              </a:rPr>
              <a:t>Thư quan tâm: sản phẩm này có một nơi để về</a:t>
            </a:r>
            <a:endParaRPr lang="en-US" sz="3100" dirty="0"/>
          </a:p>
        </p:txBody>
      </p:sp>
      <p:sp>
        <p:nvSpPr>
          <p:cNvPr id="10" name="Shape 6"/>
          <p:cNvSpPr/>
          <p:nvPr/>
        </p:nvSpPr>
        <p:spPr>
          <a:xfrm>
            <a:off x="713232" y="6272784"/>
            <a:ext cx="10765231" cy="9144"/>
          </a:xfrm>
          <a:prstGeom prst="rect">
            <a:avLst/>
          </a:prstGeom>
          <a:solidFill>
            <a:srgbClr val="FFFFFF">
              <a:alpha val="10000"/>
            </a:srgbClr>
          </a:solidFill>
          <a:ln/>
        </p:spPr>
      </p:sp>
      <p:sp>
        <p:nvSpPr>
          <p:cNvPr id="11" name="Text 7"/>
          <p:cNvSpPr/>
          <p:nvPr/>
        </p:nvSpPr>
        <p:spPr>
          <a:xfrm>
            <a:off x="8643823" y="6382512"/>
            <a:ext cx="2834640" cy="236030"/>
          </a:xfrm>
          <a:prstGeom prst="rect">
            <a:avLst/>
          </a:prstGeom>
          <a:noFill/>
          <a:ln/>
        </p:spPr>
        <p:txBody>
          <a:bodyPr wrap="square" lIns="0" tIns="0" rIns="0" bIns="0" rtlCol="0" anchor="t"/>
          <a:lstStyle/>
          <a:p>
            <a:pPr algn="r" indent="0" marL="0">
              <a:lnSpc>
                <a:spcPts val="1283"/>
              </a:lnSpc>
              <a:buNone/>
            </a:pPr>
            <a:r>
              <a:rPr lang="en-US" sz="950" dirty="0">
                <a:solidFill>
                  <a:srgbClr val="7189A2"/>
                </a:solidFill>
                <a:latin typeface="Be Vietnam Pro" pitchFamily="34" charset="0"/>
                <a:ea typeface="Be Vietnam Pro" pitchFamily="34" charset="-122"/>
                <a:cs typeface="Be Vietnam Pro" pitchFamily="34" charset="-120"/>
              </a:rPr>
              <a:t>ungphonhanh.life</a:t>
            </a:r>
            <a:endParaRPr lang="en-US" sz="950" dirty="0"/>
          </a:p>
        </p:txBody>
      </p:sp>
      <p:sp>
        <p:nvSpPr>
          <p:cNvPr id="12" name="Shape 8"/>
          <p:cNvSpPr/>
          <p:nvPr/>
        </p:nvSpPr>
        <p:spPr>
          <a:xfrm>
            <a:off x="713232" y="2220214"/>
            <a:ext cx="4114800" cy="3200400"/>
          </a:xfrm>
          <a:prstGeom prst="roundRect">
            <a:avLst>
              <a:gd name="adj" fmla="val 3429"/>
            </a:avLst>
          </a:prstGeom>
          <a:solidFill>
            <a:srgbClr val="FFFFFF">
              <a:alpha val="5000"/>
            </a:srgbClr>
          </a:solidFill>
          <a:ln w="17780">
            <a:solidFill>
              <a:srgbClr val="6EE7A8">
                <a:alpha val="40000"/>
              </a:srgbClr>
            </a:solidFill>
            <a:prstDash val="solid"/>
          </a:ln>
        </p:spPr>
      </p:sp>
      <p:sp>
        <p:nvSpPr>
          <p:cNvPr id="13" name="Text 9"/>
          <p:cNvSpPr/>
          <p:nvPr/>
        </p:nvSpPr>
        <p:spPr>
          <a:xfrm>
            <a:off x="1033272" y="3418078"/>
            <a:ext cx="3474720" cy="278892"/>
          </a:xfrm>
          <a:prstGeom prst="rect">
            <a:avLst/>
          </a:prstGeom>
          <a:noFill/>
          <a:ln/>
        </p:spPr>
        <p:txBody>
          <a:bodyPr wrap="square" lIns="0" tIns="0" rIns="0" bIns="0" rtlCol="0" anchor="t"/>
          <a:lstStyle/>
          <a:p>
            <a:pPr algn="ctr" indent="0" marL="0">
              <a:lnSpc>
                <a:spcPts val="1620"/>
              </a:lnSpc>
              <a:buNone/>
            </a:pPr>
            <a:r>
              <a:rPr lang="en-US" sz="1200" b="1" spc="180" kern="0" dirty="0">
                <a:solidFill>
                  <a:srgbClr val="6EE7A8"/>
                </a:solidFill>
                <a:latin typeface="Be Vietnam Pro" pitchFamily="34" charset="0"/>
                <a:ea typeface="Be Vietnam Pro" pitchFamily="34" charset="-122"/>
                <a:cs typeface="Be Vietnam Pro" pitchFamily="34" charset="-120"/>
              </a:rPr>
              <a:t>ẢNH CHỤP THƯ QUAN TÂM</a:t>
            </a:r>
            <a:endParaRPr lang="en-US" sz="1200" dirty="0"/>
          </a:p>
        </p:txBody>
      </p:sp>
      <p:sp>
        <p:nvSpPr>
          <p:cNvPr id="14" name="Text 10"/>
          <p:cNvSpPr/>
          <p:nvPr/>
        </p:nvSpPr>
        <p:spPr>
          <a:xfrm>
            <a:off x="1033272" y="3820414"/>
            <a:ext cx="3474720" cy="482092"/>
          </a:xfrm>
          <a:prstGeom prst="rect">
            <a:avLst/>
          </a:prstGeom>
          <a:noFill/>
          <a:ln/>
        </p:spPr>
        <p:txBody>
          <a:bodyPr wrap="square" lIns="0" tIns="0" rIns="0" bIns="0" rtlCol="0" anchor="t"/>
          <a:lstStyle/>
          <a:p>
            <a:pPr algn="ctr" indent="0" marL="0">
              <a:lnSpc>
                <a:spcPts val="1610"/>
              </a:lnSpc>
              <a:buNone/>
            </a:pPr>
            <a:r>
              <a:rPr lang="en-US" sz="1150" dirty="0">
                <a:solidFill>
                  <a:srgbClr val="7189A2"/>
                </a:solidFill>
                <a:latin typeface="Be Vietnam Pro" pitchFamily="34" charset="0"/>
                <a:ea typeface="Be Vietnam Pro" pitchFamily="34" charset="-122"/>
                <a:cs typeface="Be Vietnam Pro" pitchFamily="34" charset="-120"/>
              </a:rPr>
              <a:t>Chèn ảnh lá thư vào khung này trong</a:t>
            </a:r>
            <a:endParaRPr lang="en-US" sz="1150" dirty="0"/>
          </a:p>
          <a:p>
            <a:pPr algn="ctr" indent="0" marL="0">
              <a:lnSpc>
                <a:spcPts val="1610"/>
              </a:lnSpc>
              <a:buNone/>
            </a:pPr>
            <a:r>
              <a:rPr lang="en-US" sz="1150" dirty="0">
                <a:solidFill>
                  <a:srgbClr val="7189A2"/>
                </a:solidFill>
                <a:latin typeface="Be Vietnam Pro" pitchFamily="34" charset="0"/>
                <a:ea typeface="Be Vietnam Pro" pitchFamily="34" charset="-122"/>
                <a:cs typeface="Be Vietnam Pro" pitchFamily="34" charset="-120"/>
              </a:rPr>
              <a:t>PowerPoint</a:t>
            </a:r>
            <a:endParaRPr lang="en-US" sz="1150" dirty="0"/>
          </a:p>
        </p:txBody>
      </p:sp>
      <p:sp>
        <p:nvSpPr>
          <p:cNvPr id="15" name="Shape 11"/>
          <p:cNvSpPr/>
          <p:nvPr/>
        </p:nvSpPr>
        <p:spPr>
          <a:xfrm>
            <a:off x="5193792" y="2220214"/>
            <a:ext cx="6284671" cy="944880"/>
          </a:xfrm>
          <a:prstGeom prst="roundRect">
            <a:avLst>
              <a:gd name="adj" fmla="val 11613"/>
            </a:avLst>
          </a:prstGeom>
          <a:solidFill>
            <a:srgbClr val="091B2D">
              <a:alpha val="66000"/>
            </a:srgbClr>
          </a:solidFill>
          <a:ln w="12700">
            <a:solidFill>
              <a:srgbClr val="FFFFFF">
                <a:alpha val="12000"/>
              </a:srgbClr>
            </a:solidFill>
            <a:prstDash val="solid"/>
          </a:ln>
        </p:spPr>
      </p:sp>
      <p:sp>
        <p:nvSpPr>
          <p:cNvPr id="16" name="Shape 12"/>
          <p:cNvSpPr/>
          <p:nvPr/>
        </p:nvSpPr>
        <p:spPr>
          <a:xfrm>
            <a:off x="5193792" y="2220214"/>
            <a:ext cx="50292" cy="944880"/>
          </a:xfrm>
          <a:prstGeom prst="roundRect">
            <a:avLst>
              <a:gd name="adj" fmla="val 54545"/>
            </a:avLst>
          </a:prstGeom>
          <a:solidFill>
            <a:srgbClr val="22C55E">
              <a:alpha val="95000"/>
            </a:srgbClr>
          </a:solidFill>
          <a:ln/>
        </p:spPr>
      </p:sp>
      <p:sp>
        <p:nvSpPr>
          <p:cNvPr id="17" name="Shape 13"/>
          <p:cNvSpPr/>
          <p:nvPr/>
        </p:nvSpPr>
        <p:spPr>
          <a:xfrm>
            <a:off x="5449824" y="2403094"/>
            <a:ext cx="402336" cy="402336"/>
          </a:xfrm>
          <a:prstGeom prst="roundRect">
            <a:avLst>
              <a:gd name="adj" fmla="val 50000"/>
            </a:avLst>
          </a:prstGeom>
          <a:solidFill>
            <a:srgbClr val="04101F">
              <a:alpha val="88000"/>
            </a:srgbClr>
          </a:solidFill>
          <a:ln/>
        </p:spPr>
      </p:sp>
      <p:sp>
        <p:nvSpPr>
          <p:cNvPr id="18" name="Shape 14"/>
          <p:cNvSpPr/>
          <p:nvPr/>
        </p:nvSpPr>
        <p:spPr>
          <a:xfrm>
            <a:off x="5449824" y="2403094"/>
            <a:ext cx="402336" cy="402336"/>
          </a:xfrm>
          <a:prstGeom prst="roundRect">
            <a:avLst>
              <a:gd name="adj" fmla="val 50000"/>
            </a:avLst>
          </a:prstGeom>
          <a:solidFill>
            <a:srgbClr val="22C55E">
              <a:alpha val="20000"/>
            </a:srgbClr>
          </a:solidFill>
          <a:ln w="15240">
            <a:solidFill>
              <a:srgbClr val="22C55E">
                <a:alpha val="70000"/>
              </a:srgbClr>
            </a:solidFill>
            <a:prstDash val="solid"/>
          </a:ln>
        </p:spPr>
      </p:sp>
      <p:sp>
        <p:nvSpPr>
          <p:cNvPr id="19" name="Text 15"/>
          <p:cNvSpPr/>
          <p:nvPr/>
        </p:nvSpPr>
        <p:spPr>
          <a:xfrm>
            <a:off x="5404104" y="2467102"/>
            <a:ext cx="493776" cy="330327"/>
          </a:xfrm>
          <a:prstGeom prst="rect">
            <a:avLst/>
          </a:prstGeom>
          <a:noFill/>
          <a:ln/>
        </p:spPr>
        <p:txBody>
          <a:bodyPr wrap="square" lIns="0" tIns="0" rIns="0" bIns="0" rtlCol="0" anchor="t"/>
          <a:lstStyle/>
          <a:p>
            <a:pPr algn="ctr" indent="0" marL="0">
              <a:lnSpc>
                <a:spcPts val="2025"/>
              </a:lnSpc>
              <a:buNone/>
            </a:pPr>
            <a:r>
              <a:rPr lang="en-US" sz="1500" b="1" dirty="0">
                <a:solidFill>
                  <a:srgbClr val="22C55E"/>
                </a:solidFill>
                <a:latin typeface="Be Vietnam Pro" pitchFamily="34" charset="0"/>
                <a:ea typeface="Be Vietnam Pro" pitchFamily="34" charset="-122"/>
                <a:cs typeface="Be Vietnam Pro" pitchFamily="34" charset="-120"/>
              </a:rPr>
              <a:t>01</a:t>
            </a:r>
            <a:endParaRPr lang="en-US" sz="1500" dirty="0"/>
          </a:p>
        </p:txBody>
      </p:sp>
      <p:sp>
        <p:nvSpPr>
          <p:cNvPr id="20" name="Text 16"/>
          <p:cNvSpPr/>
          <p:nvPr/>
        </p:nvSpPr>
        <p:spPr>
          <a:xfrm>
            <a:off x="5980176" y="2439670"/>
            <a:ext cx="5315407" cy="321755"/>
          </a:xfrm>
          <a:prstGeom prst="rect">
            <a:avLst/>
          </a:prstGeom>
          <a:noFill/>
          <a:ln/>
        </p:spPr>
        <p:txBody>
          <a:bodyPr wrap="square" lIns="0" tIns="0" rIns="0" bIns="0" rtlCol="0" anchor="t"/>
          <a:lstStyle/>
          <a:p>
            <a:pPr algn="l" indent="0" marL="0">
              <a:lnSpc>
                <a:spcPts val="1958"/>
              </a:lnSpc>
              <a:buNone/>
            </a:pPr>
            <a:r>
              <a:rPr lang="en-US" sz="1450" b="1" dirty="0">
                <a:solidFill>
                  <a:srgbClr val="FFFFFF"/>
                </a:solidFill>
                <a:latin typeface="Be Vietnam Pro" pitchFamily="34" charset="0"/>
                <a:ea typeface="Be Vietnam Pro" pitchFamily="34" charset="-122"/>
                <a:cs typeface="Be Vietnam Pro" pitchFamily="34" charset="-120"/>
              </a:rPr>
              <a:t>Xác nhận đúng thực trạng</a:t>
            </a:r>
            <a:endParaRPr lang="en-US" sz="1450" dirty="0"/>
          </a:p>
        </p:txBody>
      </p:sp>
      <p:sp>
        <p:nvSpPr>
          <p:cNvPr id="21" name="Text 17"/>
          <p:cNvSpPr/>
          <p:nvPr/>
        </p:nvSpPr>
        <p:spPr>
          <a:xfrm>
            <a:off x="5449824" y="2878582"/>
            <a:ext cx="5864047" cy="467487"/>
          </a:xfrm>
          <a:prstGeom prst="rect">
            <a:avLst/>
          </a:prstGeom>
          <a:noFill/>
          <a:ln/>
        </p:spPr>
        <p:txBody>
          <a:bodyPr wrap="square" lIns="0" tIns="0" rIns="0" bIns="0" rtlCol="0" anchor="t"/>
          <a:lstStyle/>
          <a:p>
            <a:pPr algn="l" indent="0" marL="0">
              <a:lnSpc>
                <a:spcPts val="1553"/>
              </a:lnSpc>
              <a:buNone/>
            </a:pPr>
            <a:r>
              <a:rPr lang="en-US" sz="1150" dirty="0">
                <a:solidFill>
                  <a:srgbClr val="D9E6F2"/>
                </a:solidFill>
                <a:latin typeface="Be Vietnam Pro" pitchFamily="34" charset="0"/>
                <a:ea typeface="Be Vietnam Pro" pitchFamily="34" charset="-122"/>
                <a:cs typeface="Be Vietnam Pro" pitchFamily="34" charset="-120"/>
              </a:rPr>
              <a:t>Quản lý kho vật tư cứu trợ tại xã vẫn làm thủ công bằng sổ sách và bảng tính; bão</a:t>
            </a:r>
            <a:endParaRPr lang="en-US" sz="1150" dirty="0"/>
          </a:p>
          <a:p>
            <a:pPr algn="l" indent="0" marL="0">
              <a:lnSpc>
                <a:spcPts val="1553"/>
              </a:lnSpc>
              <a:buNone/>
            </a:pPr>
            <a:r>
              <a:rPr lang="en-US" sz="1150" dirty="0">
                <a:solidFill>
                  <a:srgbClr val="D9E6F2"/>
                </a:solidFill>
                <a:latin typeface="Be Vietnam Pro" pitchFamily="34" charset="0"/>
                <a:ea typeface="Be Vietnam Pro" pitchFamily="34" charset="-122"/>
                <a:cs typeface="Be Vietnam Pro" pitchFamily="34" charset="-120"/>
              </a:rPr>
              <a:t>lũ 2025 phát sinh vật tư hết hạn, hư hỏng, số liệu không khớp giữa các thôn.</a:t>
            </a:r>
            <a:endParaRPr lang="en-US" sz="1150" dirty="0"/>
          </a:p>
        </p:txBody>
      </p:sp>
      <p:sp>
        <p:nvSpPr>
          <p:cNvPr id="22" name="Shape 18"/>
          <p:cNvSpPr/>
          <p:nvPr/>
        </p:nvSpPr>
        <p:spPr>
          <a:xfrm>
            <a:off x="5193792" y="3347974"/>
            <a:ext cx="6284671" cy="944880"/>
          </a:xfrm>
          <a:prstGeom prst="roundRect">
            <a:avLst>
              <a:gd name="adj" fmla="val 11613"/>
            </a:avLst>
          </a:prstGeom>
          <a:solidFill>
            <a:srgbClr val="091B2D">
              <a:alpha val="66000"/>
            </a:srgbClr>
          </a:solidFill>
          <a:ln w="12700">
            <a:solidFill>
              <a:srgbClr val="FFFFFF">
                <a:alpha val="12000"/>
              </a:srgbClr>
            </a:solidFill>
            <a:prstDash val="solid"/>
          </a:ln>
        </p:spPr>
      </p:sp>
      <p:sp>
        <p:nvSpPr>
          <p:cNvPr id="23" name="Shape 19"/>
          <p:cNvSpPr/>
          <p:nvPr/>
        </p:nvSpPr>
        <p:spPr>
          <a:xfrm>
            <a:off x="5193792" y="3347974"/>
            <a:ext cx="50292" cy="944880"/>
          </a:xfrm>
          <a:prstGeom prst="roundRect">
            <a:avLst>
              <a:gd name="adj" fmla="val 54545"/>
            </a:avLst>
          </a:prstGeom>
          <a:solidFill>
            <a:srgbClr val="22C55E">
              <a:alpha val="95000"/>
            </a:srgbClr>
          </a:solidFill>
          <a:ln/>
        </p:spPr>
      </p:sp>
      <p:sp>
        <p:nvSpPr>
          <p:cNvPr id="24" name="Shape 20"/>
          <p:cNvSpPr/>
          <p:nvPr/>
        </p:nvSpPr>
        <p:spPr>
          <a:xfrm>
            <a:off x="5449824" y="3530854"/>
            <a:ext cx="402336" cy="402336"/>
          </a:xfrm>
          <a:prstGeom prst="roundRect">
            <a:avLst>
              <a:gd name="adj" fmla="val 50000"/>
            </a:avLst>
          </a:prstGeom>
          <a:solidFill>
            <a:srgbClr val="04101F">
              <a:alpha val="88000"/>
            </a:srgbClr>
          </a:solidFill>
          <a:ln/>
        </p:spPr>
      </p:sp>
      <p:sp>
        <p:nvSpPr>
          <p:cNvPr id="25" name="Shape 21"/>
          <p:cNvSpPr/>
          <p:nvPr/>
        </p:nvSpPr>
        <p:spPr>
          <a:xfrm>
            <a:off x="5449824" y="3530854"/>
            <a:ext cx="402336" cy="402336"/>
          </a:xfrm>
          <a:prstGeom prst="roundRect">
            <a:avLst>
              <a:gd name="adj" fmla="val 50000"/>
            </a:avLst>
          </a:prstGeom>
          <a:solidFill>
            <a:srgbClr val="22C55E">
              <a:alpha val="20000"/>
            </a:srgbClr>
          </a:solidFill>
          <a:ln w="15240">
            <a:solidFill>
              <a:srgbClr val="22C55E">
                <a:alpha val="70000"/>
              </a:srgbClr>
            </a:solidFill>
            <a:prstDash val="solid"/>
          </a:ln>
        </p:spPr>
      </p:sp>
      <p:sp>
        <p:nvSpPr>
          <p:cNvPr id="26" name="Text 22"/>
          <p:cNvSpPr/>
          <p:nvPr/>
        </p:nvSpPr>
        <p:spPr>
          <a:xfrm>
            <a:off x="5404104" y="3594862"/>
            <a:ext cx="493776" cy="330327"/>
          </a:xfrm>
          <a:prstGeom prst="rect">
            <a:avLst/>
          </a:prstGeom>
          <a:noFill/>
          <a:ln/>
        </p:spPr>
        <p:txBody>
          <a:bodyPr wrap="square" lIns="0" tIns="0" rIns="0" bIns="0" rtlCol="0" anchor="t"/>
          <a:lstStyle/>
          <a:p>
            <a:pPr algn="ctr" indent="0" marL="0">
              <a:lnSpc>
                <a:spcPts val="2025"/>
              </a:lnSpc>
              <a:buNone/>
            </a:pPr>
            <a:r>
              <a:rPr lang="en-US" sz="1500" b="1" dirty="0">
                <a:solidFill>
                  <a:srgbClr val="22C55E"/>
                </a:solidFill>
                <a:latin typeface="Be Vietnam Pro" pitchFamily="34" charset="0"/>
                <a:ea typeface="Be Vietnam Pro" pitchFamily="34" charset="-122"/>
                <a:cs typeface="Be Vietnam Pro" pitchFamily="34" charset="-120"/>
              </a:rPr>
              <a:t>02</a:t>
            </a:r>
            <a:endParaRPr lang="en-US" sz="1500" dirty="0"/>
          </a:p>
        </p:txBody>
      </p:sp>
      <p:sp>
        <p:nvSpPr>
          <p:cNvPr id="27" name="Text 23"/>
          <p:cNvSpPr/>
          <p:nvPr/>
        </p:nvSpPr>
        <p:spPr>
          <a:xfrm>
            <a:off x="5980176" y="3567430"/>
            <a:ext cx="5315407" cy="321755"/>
          </a:xfrm>
          <a:prstGeom prst="rect">
            <a:avLst/>
          </a:prstGeom>
          <a:noFill/>
          <a:ln/>
        </p:spPr>
        <p:txBody>
          <a:bodyPr wrap="square" lIns="0" tIns="0" rIns="0" bIns="0" rtlCol="0" anchor="t"/>
          <a:lstStyle/>
          <a:p>
            <a:pPr algn="l" indent="0" marL="0">
              <a:lnSpc>
                <a:spcPts val="1958"/>
              </a:lnSpc>
              <a:buNone/>
            </a:pPr>
            <a:r>
              <a:rPr lang="en-US" sz="1450" b="1" dirty="0">
                <a:solidFill>
                  <a:srgbClr val="FFFFFF"/>
                </a:solidFill>
                <a:latin typeface="Be Vietnam Pro" pitchFamily="34" charset="0"/>
                <a:ea typeface="Be Vietnam Pro" pitchFamily="34" charset="-122"/>
                <a:cs typeface="Be Vietnam Pro" pitchFamily="34" charset="-120"/>
              </a:rPr>
              <a:t>Xác nhận nhu cầu thật</a:t>
            </a:r>
            <a:endParaRPr lang="en-US" sz="1450" dirty="0"/>
          </a:p>
        </p:txBody>
      </p:sp>
      <p:sp>
        <p:nvSpPr>
          <p:cNvPr id="28" name="Text 24"/>
          <p:cNvSpPr/>
          <p:nvPr/>
        </p:nvSpPr>
        <p:spPr>
          <a:xfrm>
            <a:off x="5449824" y="4006342"/>
            <a:ext cx="5864047" cy="467487"/>
          </a:xfrm>
          <a:prstGeom prst="rect">
            <a:avLst/>
          </a:prstGeom>
          <a:noFill/>
          <a:ln/>
        </p:spPr>
        <p:txBody>
          <a:bodyPr wrap="square" lIns="0" tIns="0" rIns="0" bIns="0" rtlCol="0" anchor="t"/>
          <a:lstStyle/>
          <a:p>
            <a:pPr algn="l" indent="0" marL="0">
              <a:lnSpc>
                <a:spcPts val="1553"/>
              </a:lnSpc>
              <a:buNone/>
            </a:pPr>
            <a:r>
              <a:rPr lang="en-US" sz="1150" dirty="0">
                <a:solidFill>
                  <a:srgbClr val="D9E6F2"/>
                </a:solidFill>
                <a:latin typeface="Be Vietnam Pro" pitchFamily="34" charset="0"/>
                <a:ea typeface="Be Vietnam Pro" pitchFamily="34" charset="-122"/>
                <a:cs typeface="Be Vietnam Pro" pitchFamily="34" charset="-120"/>
              </a:rPr>
              <a:t>Xã có nhu cầu thật với một hệ thống quản lý kho và điều phối vật tư như Ứng Phó</a:t>
            </a:r>
            <a:endParaRPr lang="en-US" sz="1150" dirty="0"/>
          </a:p>
          <a:p>
            <a:pPr algn="l" indent="0" marL="0">
              <a:lnSpc>
                <a:spcPts val="1553"/>
              </a:lnSpc>
              <a:buNone/>
            </a:pPr>
            <a:r>
              <a:rPr lang="en-US" sz="1150" dirty="0">
                <a:solidFill>
                  <a:srgbClr val="D9E6F2"/>
                </a:solidFill>
                <a:latin typeface="Be Vietnam Pro" pitchFamily="34" charset="0"/>
                <a:ea typeface="Be Vietnam Pro" pitchFamily="34" charset="-122"/>
                <a:cs typeface="Be Vietnam Pro" pitchFamily="34" charset="-120"/>
              </a:rPr>
              <a:t>Nhanh.</a:t>
            </a:r>
            <a:endParaRPr lang="en-US" sz="1150" dirty="0"/>
          </a:p>
        </p:txBody>
      </p:sp>
      <p:sp>
        <p:nvSpPr>
          <p:cNvPr id="29" name="Shape 25"/>
          <p:cNvSpPr/>
          <p:nvPr/>
        </p:nvSpPr>
        <p:spPr>
          <a:xfrm>
            <a:off x="5193792" y="4475734"/>
            <a:ext cx="6284671" cy="944880"/>
          </a:xfrm>
          <a:prstGeom prst="roundRect">
            <a:avLst>
              <a:gd name="adj" fmla="val 11613"/>
            </a:avLst>
          </a:prstGeom>
          <a:solidFill>
            <a:srgbClr val="091B2D">
              <a:alpha val="66000"/>
            </a:srgbClr>
          </a:solidFill>
          <a:ln w="12700">
            <a:solidFill>
              <a:srgbClr val="FFFFFF">
                <a:alpha val="12000"/>
              </a:srgbClr>
            </a:solidFill>
            <a:prstDash val="solid"/>
          </a:ln>
        </p:spPr>
      </p:sp>
      <p:sp>
        <p:nvSpPr>
          <p:cNvPr id="30" name="Shape 26"/>
          <p:cNvSpPr/>
          <p:nvPr/>
        </p:nvSpPr>
        <p:spPr>
          <a:xfrm>
            <a:off x="5193792" y="4475734"/>
            <a:ext cx="50292" cy="944880"/>
          </a:xfrm>
          <a:prstGeom prst="roundRect">
            <a:avLst>
              <a:gd name="adj" fmla="val 54545"/>
            </a:avLst>
          </a:prstGeom>
          <a:solidFill>
            <a:srgbClr val="22C55E">
              <a:alpha val="95000"/>
            </a:srgbClr>
          </a:solidFill>
          <a:ln/>
        </p:spPr>
      </p:sp>
      <p:sp>
        <p:nvSpPr>
          <p:cNvPr id="31" name="Shape 27"/>
          <p:cNvSpPr/>
          <p:nvPr/>
        </p:nvSpPr>
        <p:spPr>
          <a:xfrm>
            <a:off x="5449824" y="4658614"/>
            <a:ext cx="402336" cy="402336"/>
          </a:xfrm>
          <a:prstGeom prst="roundRect">
            <a:avLst>
              <a:gd name="adj" fmla="val 50000"/>
            </a:avLst>
          </a:prstGeom>
          <a:solidFill>
            <a:srgbClr val="04101F">
              <a:alpha val="88000"/>
            </a:srgbClr>
          </a:solidFill>
          <a:ln/>
        </p:spPr>
      </p:sp>
      <p:sp>
        <p:nvSpPr>
          <p:cNvPr id="32" name="Shape 28"/>
          <p:cNvSpPr/>
          <p:nvPr/>
        </p:nvSpPr>
        <p:spPr>
          <a:xfrm>
            <a:off x="5449824" y="4658614"/>
            <a:ext cx="402336" cy="402336"/>
          </a:xfrm>
          <a:prstGeom prst="roundRect">
            <a:avLst>
              <a:gd name="adj" fmla="val 50000"/>
            </a:avLst>
          </a:prstGeom>
          <a:solidFill>
            <a:srgbClr val="22C55E">
              <a:alpha val="20000"/>
            </a:srgbClr>
          </a:solidFill>
          <a:ln w="15240">
            <a:solidFill>
              <a:srgbClr val="22C55E">
                <a:alpha val="70000"/>
              </a:srgbClr>
            </a:solidFill>
            <a:prstDash val="solid"/>
          </a:ln>
        </p:spPr>
      </p:sp>
      <p:sp>
        <p:nvSpPr>
          <p:cNvPr id="33" name="Text 29"/>
          <p:cNvSpPr/>
          <p:nvPr/>
        </p:nvSpPr>
        <p:spPr>
          <a:xfrm>
            <a:off x="5404104" y="4722622"/>
            <a:ext cx="493776" cy="330327"/>
          </a:xfrm>
          <a:prstGeom prst="rect">
            <a:avLst/>
          </a:prstGeom>
          <a:noFill/>
          <a:ln/>
        </p:spPr>
        <p:txBody>
          <a:bodyPr wrap="square" lIns="0" tIns="0" rIns="0" bIns="0" rtlCol="0" anchor="t"/>
          <a:lstStyle/>
          <a:p>
            <a:pPr algn="ctr" indent="0" marL="0">
              <a:lnSpc>
                <a:spcPts val="2025"/>
              </a:lnSpc>
              <a:buNone/>
            </a:pPr>
            <a:r>
              <a:rPr lang="en-US" sz="1500" b="1" dirty="0">
                <a:solidFill>
                  <a:srgbClr val="22C55E"/>
                </a:solidFill>
                <a:latin typeface="Be Vietnam Pro" pitchFamily="34" charset="0"/>
                <a:ea typeface="Be Vietnam Pro" pitchFamily="34" charset="-122"/>
                <a:cs typeface="Be Vietnam Pro" pitchFamily="34" charset="-120"/>
              </a:rPr>
              <a:t>03</a:t>
            </a:r>
            <a:endParaRPr lang="en-US" sz="1500" dirty="0"/>
          </a:p>
        </p:txBody>
      </p:sp>
      <p:sp>
        <p:nvSpPr>
          <p:cNvPr id="34" name="Text 30"/>
          <p:cNvSpPr/>
          <p:nvPr/>
        </p:nvSpPr>
        <p:spPr>
          <a:xfrm>
            <a:off x="5980176" y="4695190"/>
            <a:ext cx="5315407" cy="321755"/>
          </a:xfrm>
          <a:prstGeom prst="rect">
            <a:avLst/>
          </a:prstGeom>
          <a:noFill/>
          <a:ln/>
        </p:spPr>
        <p:txBody>
          <a:bodyPr wrap="square" lIns="0" tIns="0" rIns="0" bIns="0" rtlCol="0" anchor="t"/>
          <a:lstStyle/>
          <a:p>
            <a:pPr algn="l" indent="0" marL="0">
              <a:lnSpc>
                <a:spcPts val="1958"/>
              </a:lnSpc>
              <a:buNone/>
            </a:pPr>
            <a:r>
              <a:rPr lang="en-US" sz="1450" b="1" dirty="0">
                <a:solidFill>
                  <a:srgbClr val="FFFFFF"/>
                </a:solidFill>
                <a:latin typeface="Be Vietnam Pro" pitchFamily="34" charset="0"/>
                <a:ea typeface="Be Vietnam Pro" pitchFamily="34" charset="-122"/>
                <a:cs typeface="Be Vietnam Pro" pitchFamily="34" charset="-120"/>
              </a:rPr>
              <a:t>Đồng ý tạo điều kiện</a:t>
            </a:r>
            <a:endParaRPr lang="en-US" sz="1450" dirty="0"/>
          </a:p>
        </p:txBody>
      </p:sp>
      <p:sp>
        <p:nvSpPr>
          <p:cNvPr id="35" name="Text 31"/>
          <p:cNvSpPr/>
          <p:nvPr/>
        </p:nvSpPr>
        <p:spPr>
          <a:xfrm>
            <a:off x="5449824" y="5134102"/>
            <a:ext cx="5864047" cy="467487"/>
          </a:xfrm>
          <a:prstGeom prst="rect">
            <a:avLst/>
          </a:prstGeom>
          <a:noFill/>
          <a:ln/>
        </p:spPr>
        <p:txBody>
          <a:bodyPr wrap="square" lIns="0" tIns="0" rIns="0" bIns="0" rtlCol="0" anchor="t"/>
          <a:lstStyle/>
          <a:p>
            <a:pPr algn="l" indent="0" marL="0">
              <a:lnSpc>
                <a:spcPts val="1553"/>
              </a:lnSpc>
              <a:buNone/>
            </a:pPr>
            <a:r>
              <a:rPr lang="en-US" sz="1150" dirty="0">
                <a:solidFill>
                  <a:srgbClr val="D9E6F2"/>
                </a:solidFill>
                <a:latin typeface="Be Vietnam Pro" pitchFamily="34" charset="0"/>
                <a:ea typeface="Be Vietnam Pro" pitchFamily="34" charset="-122"/>
                <a:cs typeface="Be Vietnam Pro" pitchFamily="34" charset="-120"/>
              </a:rPr>
              <a:t>Cho nhóm khảo sát quy trình thật và triển khai thử nghiệm tại xã ngay sau cuộc</a:t>
            </a:r>
            <a:endParaRPr lang="en-US" sz="1150" dirty="0"/>
          </a:p>
          <a:p>
            <a:pPr algn="l" indent="0" marL="0">
              <a:lnSpc>
                <a:spcPts val="1553"/>
              </a:lnSpc>
              <a:buNone/>
            </a:pPr>
            <a:r>
              <a:rPr lang="en-US" sz="1150" dirty="0">
                <a:solidFill>
                  <a:srgbClr val="D9E6F2"/>
                </a:solidFill>
                <a:latin typeface="Be Vietnam Pro" pitchFamily="34" charset="0"/>
                <a:ea typeface="Be Vietnam Pro" pitchFamily="34" charset="-122"/>
                <a:cs typeface="Be Vietnam Pro" pitchFamily="34" charset="-120"/>
              </a:rPr>
              <a:t>thi.</a:t>
            </a:r>
            <a:endParaRPr lang="en-US" sz="1150" dirty="0"/>
          </a:p>
        </p:txBody>
      </p:sp>
      <p:sp>
        <p:nvSpPr>
          <p:cNvPr id="36" name="Shape 32"/>
          <p:cNvSpPr/>
          <p:nvPr/>
        </p:nvSpPr>
        <p:spPr>
          <a:xfrm>
            <a:off x="713232" y="5694934"/>
            <a:ext cx="10765231" cy="731520"/>
          </a:xfrm>
          <a:prstGeom prst="roundRect">
            <a:avLst>
              <a:gd name="adj" fmla="val 12500"/>
            </a:avLst>
          </a:prstGeom>
          <a:solidFill>
            <a:srgbClr val="22C55E">
              <a:alpha val="12000"/>
            </a:srgbClr>
          </a:solidFill>
          <a:ln w="12700">
            <a:solidFill>
              <a:srgbClr val="22C55E">
                <a:alpha val="40000"/>
              </a:srgbClr>
            </a:solidFill>
            <a:prstDash val="solid"/>
          </a:ln>
        </p:spPr>
      </p:sp>
      <p:sp>
        <p:nvSpPr>
          <p:cNvPr id="37" name="Text 33"/>
          <p:cNvSpPr/>
          <p:nvPr/>
        </p:nvSpPr>
        <p:spPr>
          <a:xfrm>
            <a:off x="1078992" y="5886958"/>
            <a:ext cx="10125151" cy="330327"/>
          </a:xfrm>
          <a:prstGeom prst="rect">
            <a:avLst/>
          </a:prstGeom>
          <a:noFill/>
          <a:ln/>
        </p:spPr>
        <p:txBody>
          <a:bodyPr wrap="square" lIns="0" tIns="0" rIns="0" bIns="0" rtlCol="0" anchor="t"/>
          <a:lstStyle/>
          <a:p>
            <a:pPr algn="l" indent="0" marL="0">
              <a:lnSpc>
                <a:spcPts val="2025"/>
              </a:lnSpc>
              <a:buNone/>
            </a:pPr>
            <a:r>
              <a:rPr lang="en-US" sz="1500" b="1" dirty="0">
                <a:solidFill>
                  <a:srgbClr val="FFFFFF"/>
                </a:solidFill>
                <a:latin typeface="Be Vietnam Pro" pitchFamily="34" charset="0"/>
                <a:ea typeface="Be Vietnam Pro" pitchFamily="34" charset="-122"/>
                <a:cs typeface="Be Vietnam Pro" pitchFamily="34" charset="-120"/>
              </a:rPr>
              <a:t>Dự án bắt đầu từ quê nhà của chúng em — xã Đồng Xuân, và nay có một nơi để quay về.</a:t>
            </a:r>
            <a:endParaRPr lang="en-US" sz="15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4101F"/>
        </a:solidFill>
      </p:bgPr>
    </p:bg>
    <p:spTree>
      <p:nvGrpSpPr>
        <p:cNvPr id="1" name=""/>
        <p:cNvGrpSpPr/>
        <p:nvPr/>
      </p:nvGrpSpPr>
      <p:grpSpPr>
        <a:xfrm>
          <a:off x="0" y="0"/>
          <a:ext cx="0" cy="0"/>
          <a:chOff x="0" y="0"/>
          <a:chExt cx="0" cy="0"/>
        </a:xfrm>
      </p:grpSpPr>
      <p:pic>
        <p:nvPicPr>
          <p:cNvPr id="2" name="Image 0" descr="bg-content.jp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4101F">
              <a:alpha val="34000"/>
            </a:srgbClr>
          </a:solidFill>
          <a:ln/>
        </p:spPr>
      </p:sp>
      <p:pic>
        <p:nvPicPr>
          <p:cNvPr id="4" name="Image 1" descr="mark-sm.png">    </p:cNvPr>
          <p:cNvPicPr>
            <a:picLocks noChangeAspect="1"/>
          </p:cNvPicPr>
          <p:nvPr/>
        </p:nvPicPr>
        <p:blipFill>
          <a:blip r:embed="rId2"/>
          <a:stretch>
            <a:fillRect/>
          </a:stretch>
        </p:blipFill>
        <p:spPr>
          <a:xfrm>
            <a:off x="713232" y="365760"/>
            <a:ext cx="310896" cy="310896"/>
          </a:xfrm>
          <a:prstGeom prst="rect">
            <a:avLst/>
          </a:prstGeom>
        </p:spPr>
      </p:pic>
      <p:sp>
        <p:nvSpPr>
          <p:cNvPr id="5" name="Text 1"/>
          <p:cNvSpPr/>
          <p:nvPr/>
        </p:nvSpPr>
        <p:spPr>
          <a:xfrm>
            <a:off x="1170432" y="384048"/>
            <a:ext cx="3749040" cy="261747"/>
          </a:xfrm>
          <a:prstGeom prst="rect">
            <a:avLst/>
          </a:prstGeom>
          <a:noFill/>
          <a:ln/>
        </p:spPr>
        <p:txBody>
          <a:bodyPr wrap="square" lIns="0" tIns="0" rIns="0" bIns="0" rtlCol="0" anchor="t"/>
          <a:lstStyle/>
          <a:p>
            <a:pPr algn="l" indent="0" marL="0">
              <a:lnSpc>
                <a:spcPts val="1485"/>
              </a:lnSpc>
              <a:buNone/>
            </a:pPr>
            <a:r>
              <a:rPr lang="en-US" sz="1100" b="1" spc="160" kern="0" dirty="0">
                <a:solidFill>
                  <a:srgbClr val="6EE7A8"/>
                </a:solidFill>
                <a:latin typeface="Be Vietnam Pro" pitchFamily="34" charset="0"/>
                <a:ea typeface="Be Vietnam Pro" pitchFamily="34" charset="-122"/>
                <a:cs typeface="Be Vietnam Pro" pitchFamily="34" charset="-120"/>
              </a:rPr>
              <a:t>ỨNG PHÓ NHANH</a:t>
            </a:r>
            <a:endParaRPr lang="en-US" sz="1100" dirty="0"/>
          </a:p>
        </p:txBody>
      </p:sp>
      <p:sp>
        <p:nvSpPr>
          <p:cNvPr id="6" name="Text 2"/>
          <p:cNvSpPr/>
          <p:nvPr/>
        </p:nvSpPr>
        <p:spPr>
          <a:xfrm>
            <a:off x="8643823" y="384048"/>
            <a:ext cx="2834640" cy="261747"/>
          </a:xfrm>
          <a:prstGeom prst="rect">
            <a:avLst/>
          </a:prstGeom>
          <a:noFill/>
          <a:ln/>
        </p:spPr>
        <p:txBody>
          <a:bodyPr wrap="square" lIns="0" tIns="0" rIns="0" bIns="0" rtlCol="0" anchor="t"/>
          <a:lstStyle/>
          <a:p>
            <a:pPr algn="r" indent="0" marL="0">
              <a:lnSpc>
                <a:spcPts val="1485"/>
              </a:lnSpc>
              <a:buNone/>
            </a:pPr>
            <a:r>
              <a:rPr lang="en-US" sz="1100" b="1" dirty="0">
                <a:solidFill>
                  <a:srgbClr val="7189A2"/>
                </a:solidFill>
                <a:latin typeface="Be Vietnam Pro" pitchFamily="34" charset="0"/>
                <a:ea typeface="Be Vietnam Pro" pitchFamily="34" charset="-122"/>
                <a:cs typeface="Be Vietnam Pro" pitchFamily="34" charset="-120"/>
              </a:rPr>
              <a:t>23 / 24</a:t>
            </a:r>
            <a:endParaRPr lang="en-US" sz="1100" dirty="0"/>
          </a:p>
        </p:txBody>
      </p:sp>
      <p:sp>
        <p:nvSpPr>
          <p:cNvPr id="7" name="Shape 3"/>
          <p:cNvSpPr/>
          <p:nvPr/>
        </p:nvSpPr>
        <p:spPr>
          <a:xfrm>
            <a:off x="713232" y="868680"/>
            <a:ext cx="10765231" cy="10973"/>
          </a:xfrm>
          <a:prstGeom prst="rect">
            <a:avLst/>
          </a:prstGeom>
          <a:solidFill>
            <a:srgbClr val="FFFFFF">
              <a:alpha val="16000"/>
            </a:srgbClr>
          </a:solidFill>
          <a:ln/>
        </p:spPr>
      </p:sp>
      <p:sp>
        <p:nvSpPr>
          <p:cNvPr id="8" name="Text 4"/>
          <p:cNvSpPr/>
          <p:nvPr/>
        </p:nvSpPr>
        <p:spPr>
          <a:xfrm>
            <a:off x="713232" y="1133856"/>
            <a:ext cx="8321040" cy="270320"/>
          </a:xfrm>
          <a:prstGeom prst="rect">
            <a:avLst/>
          </a:prstGeom>
          <a:noFill/>
          <a:ln/>
        </p:spPr>
        <p:txBody>
          <a:bodyPr wrap="square" lIns="0" tIns="0" rIns="0" bIns="0" rtlCol="0" anchor="t"/>
          <a:lstStyle/>
          <a:p>
            <a:pPr algn="l" indent="0" marL="0">
              <a:lnSpc>
                <a:spcPts val="1553"/>
              </a:lnSpc>
              <a:buNone/>
            </a:pPr>
            <a:r>
              <a:rPr lang="en-US" sz="1150" b="1" spc="220" kern="0" dirty="0">
                <a:solidFill>
                  <a:srgbClr val="22C55E"/>
                </a:solidFill>
                <a:latin typeface="Be Vietnam Pro" pitchFamily="34" charset="0"/>
                <a:ea typeface="Be Vietnam Pro" pitchFamily="34" charset="-122"/>
                <a:cs typeface="Be Vietnam Pro" pitchFamily="34" charset="-120"/>
              </a:rPr>
              <a:t>GIÁ TRỊ MANG LẠI</a:t>
            </a:r>
            <a:endParaRPr lang="en-US" sz="1150" dirty="0"/>
          </a:p>
        </p:txBody>
      </p:sp>
      <p:sp>
        <p:nvSpPr>
          <p:cNvPr id="9" name="Text 5"/>
          <p:cNvSpPr/>
          <p:nvPr/>
        </p:nvSpPr>
        <p:spPr>
          <a:xfrm>
            <a:off x="713232" y="1426464"/>
            <a:ext cx="10490911" cy="1002284"/>
          </a:xfrm>
          <a:prstGeom prst="rect">
            <a:avLst/>
          </a:prstGeom>
          <a:noFill/>
          <a:ln/>
        </p:spPr>
        <p:txBody>
          <a:bodyPr wrap="square" lIns="0" tIns="0" rIns="0" bIns="0" rtlCol="0" anchor="t"/>
          <a:lstStyle/>
          <a:p>
            <a:pPr algn="l" indent="0" marL="0">
              <a:lnSpc>
                <a:spcPts val="3658"/>
              </a:lnSpc>
              <a:buNone/>
            </a:pPr>
            <a:r>
              <a:rPr lang="en-US" sz="3100" b="1" dirty="0">
                <a:solidFill>
                  <a:srgbClr val="FFFFFF"/>
                </a:solidFill>
                <a:latin typeface="Be Vietnam Pro" pitchFamily="34" charset="0"/>
                <a:ea typeface="Be Vietnam Pro" pitchFamily="34" charset="-122"/>
                <a:cs typeface="Be Vietnam Pro" pitchFamily="34" charset="-120"/>
              </a:rPr>
              <a:t>Không chỉ là phần mềm kho, cũng không chỉ là một</a:t>
            </a:r>
            <a:endParaRPr lang="en-US" sz="3100" dirty="0"/>
          </a:p>
          <a:p>
            <a:pPr algn="l" indent="0" marL="0">
              <a:lnSpc>
                <a:spcPts val="3658"/>
              </a:lnSpc>
              <a:buNone/>
            </a:pPr>
            <a:r>
              <a:rPr lang="en-US" sz="3100" b="1" dirty="0">
                <a:solidFill>
                  <a:srgbClr val="FFFFFF"/>
                </a:solidFill>
                <a:latin typeface="Be Vietnam Pro" pitchFamily="34" charset="0"/>
                <a:ea typeface="Be Vietnam Pro" pitchFamily="34" charset="-122"/>
                <a:cs typeface="Be Vietnam Pro" pitchFamily="34" charset="-120"/>
              </a:rPr>
              <a:t>công cụ AI</a:t>
            </a:r>
            <a:endParaRPr lang="en-US" sz="3100" dirty="0"/>
          </a:p>
        </p:txBody>
      </p:sp>
      <p:sp>
        <p:nvSpPr>
          <p:cNvPr id="10" name="Shape 6"/>
          <p:cNvSpPr/>
          <p:nvPr/>
        </p:nvSpPr>
        <p:spPr>
          <a:xfrm>
            <a:off x="713232" y="6272784"/>
            <a:ext cx="10765231" cy="9144"/>
          </a:xfrm>
          <a:prstGeom prst="rect">
            <a:avLst/>
          </a:prstGeom>
          <a:solidFill>
            <a:srgbClr val="FFFFFF">
              <a:alpha val="10000"/>
            </a:srgbClr>
          </a:solidFill>
          <a:ln/>
        </p:spPr>
      </p:sp>
      <p:sp>
        <p:nvSpPr>
          <p:cNvPr id="11" name="Text 7"/>
          <p:cNvSpPr/>
          <p:nvPr/>
        </p:nvSpPr>
        <p:spPr>
          <a:xfrm>
            <a:off x="8643823" y="6382512"/>
            <a:ext cx="2834640" cy="236030"/>
          </a:xfrm>
          <a:prstGeom prst="rect">
            <a:avLst/>
          </a:prstGeom>
          <a:noFill/>
          <a:ln/>
        </p:spPr>
        <p:txBody>
          <a:bodyPr wrap="square" lIns="0" tIns="0" rIns="0" bIns="0" rtlCol="0" anchor="t"/>
          <a:lstStyle/>
          <a:p>
            <a:pPr algn="r" indent="0" marL="0">
              <a:lnSpc>
                <a:spcPts val="1283"/>
              </a:lnSpc>
              <a:buNone/>
            </a:pPr>
            <a:r>
              <a:rPr lang="en-US" sz="950" dirty="0">
                <a:solidFill>
                  <a:srgbClr val="7189A2"/>
                </a:solidFill>
                <a:latin typeface="Be Vietnam Pro" pitchFamily="34" charset="0"/>
                <a:ea typeface="Be Vietnam Pro" pitchFamily="34" charset="-122"/>
                <a:cs typeface="Be Vietnam Pro" pitchFamily="34" charset="-120"/>
              </a:rPr>
              <a:t>ungphonhanh.life</a:t>
            </a:r>
            <a:endParaRPr lang="en-US" sz="950" dirty="0"/>
          </a:p>
        </p:txBody>
      </p:sp>
      <p:sp>
        <p:nvSpPr>
          <p:cNvPr id="12" name="Shape 8"/>
          <p:cNvSpPr/>
          <p:nvPr/>
        </p:nvSpPr>
        <p:spPr>
          <a:xfrm>
            <a:off x="713232" y="2684780"/>
            <a:ext cx="3381146" cy="2194560"/>
          </a:xfrm>
          <a:prstGeom prst="roundRect">
            <a:avLst>
              <a:gd name="adj" fmla="val 5000"/>
            </a:avLst>
          </a:prstGeom>
          <a:solidFill>
            <a:srgbClr val="091B2D">
              <a:alpha val="66000"/>
            </a:srgbClr>
          </a:solidFill>
          <a:ln w="12700">
            <a:solidFill>
              <a:srgbClr val="FFFFFF">
                <a:alpha val="12000"/>
              </a:srgbClr>
            </a:solidFill>
            <a:prstDash val="solid"/>
          </a:ln>
        </p:spPr>
      </p:sp>
      <p:sp>
        <p:nvSpPr>
          <p:cNvPr id="13" name="Shape 9"/>
          <p:cNvSpPr/>
          <p:nvPr/>
        </p:nvSpPr>
        <p:spPr>
          <a:xfrm>
            <a:off x="713232" y="2684780"/>
            <a:ext cx="50292" cy="2194560"/>
          </a:xfrm>
          <a:prstGeom prst="roundRect">
            <a:avLst>
              <a:gd name="adj" fmla="val 54545"/>
            </a:avLst>
          </a:prstGeom>
          <a:solidFill>
            <a:srgbClr val="38BDF8">
              <a:alpha val="95000"/>
            </a:srgbClr>
          </a:solidFill>
          <a:ln/>
        </p:spPr>
      </p:sp>
      <p:sp>
        <p:nvSpPr>
          <p:cNvPr id="14" name="Text 10"/>
          <p:cNvSpPr/>
          <p:nvPr/>
        </p:nvSpPr>
        <p:spPr>
          <a:xfrm>
            <a:off x="1024128" y="2940812"/>
            <a:ext cx="2850794" cy="518922"/>
          </a:xfrm>
          <a:prstGeom prst="rect">
            <a:avLst/>
          </a:prstGeom>
          <a:noFill/>
          <a:ln/>
        </p:spPr>
        <p:txBody>
          <a:bodyPr wrap="square" lIns="0" tIns="0" rIns="0" bIns="0" rtlCol="0" anchor="t"/>
          <a:lstStyle/>
          <a:p>
            <a:pPr algn="l" indent="0" marL="0">
              <a:lnSpc>
                <a:spcPts val="3510"/>
              </a:lnSpc>
              <a:buNone/>
            </a:pPr>
            <a:r>
              <a:rPr lang="en-US" sz="2600" b="1" dirty="0">
                <a:solidFill>
                  <a:srgbClr val="38BDF8"/>
                </a:solidFill>
                <a:latin typeface="Be Vietnam Pro" pitchFamily="34" charset="0"/>
                <a:ea typeface="Be Vietnam Pro" pitchFamily="34" charset="-122"/>
                <a:cs typeface="Be Vietnam Pro" pitchFamily="34" charset="-120"/>
              </a:rPr>
              <a:t>01</a:t>
            </a:r>
            <a:endParaRPr lang="en-US" sz="2600" dirty="0"/>
          </a:p>
        </p:txBody>
      </p:sp>
      <p:sp>
        <p:nvSpPr>
          <p:cNvPr id="15" name="Text 11"/>
          <p:cNvSpPr/>
          <p:nvPr/>
        </p:nvSpPr>
        <p:spPr>
          <a:xfrm>
            <a:off x="1024128" y="3580892"/>
            <a:ext cx="2850794" cy="364617"/>
          </a:xfrm>
          <a:prstGeom prst="rect">
            <a:avLst/>
          </a:prstGeom>
          <a:noFill/>
          <a:ln/>
        </p:spPr>
        <p:txBody>
          <a:bodyPr wrap="square" lIns="0" tIns="0" rIns="0" bIns="0" rtlCol="0" anchor="t"/>
          <a:lstStyle/>
          <a:p>
            <a:pPr algn="l" indent="0" marL="0">
              <a:lnSpc>
                <a:spcPts val="2295"/>
              </a:lnSpc>
              <a:buNone/>
            </a:pPr>
            <a:r>
              <a:rPr lang="en-US" sz="1700" b="1" dirty="0">
                <a:solidFill>
                  <a:srgbClr val="FFFFFF"/>
                </a:solidFill>
                <a:latin typeface="Be Vietnam Pro" pitchFamily="34" charset="0"/>
                <a:ea typeface="Be Vietnam Pro" pitchFamily="34" charset="-122"/>
                <a:cs typeface="Be Vietnam Pro" pitchFamily="34" charset="-120"/>
              </a:rPr>
              <a:t>Kết nối thông tin</a:t>
            </a:r>
            <a:endParaRPr lang="en-US" sz="1700" dirty="0"/>
          </a:p>
        </p:txBody>
      </p:sp>
      <p:sp>
        <p:nvSpPr>
          <p:cNvPr id="16" name="Text 12"/>
          <p:cNvSpPr/>
          <p:nvPr/>
        </p:nvSpPr>
        <p:spPr>
          <a:xfrm>
            <a:off x="1024128" y="4019804"/>
            <a:ext cx="2850794" cy="533527"/>
          </a:xfrm>
          <a:prstGeom prst="rect">
            <a:avLst/>
          </a:prstGeom>
          <a:noFill/>
          <a:ln/>
        </p:spPr>
        <p:txBody>
          <a:bodyPr wrap="square" lIns="0" tIns="0" rIns="0" bIns="0" rtlCol="0" anchor="t"/>
          <a:lstStyle/>
          <a:p>
            <a:pPr algn="l" indent="0" marL="0">
              <a:lnSpc>
                <a:spcPts val="1813"/>
              </a:lnSpc>
              <a:buNone/>
            </a:pPr>
            <a:r>
              <a:rPr lang="en-US" sz="1250" dirty="0">
                <a:solidFill>
                  <a:srgbClr val="D9E6F2"/>
                </a:solidFill>
                <a:latin typeface="Be Vietnam Pro" pitchFamily="34" charset="0"/>
                <a:ea typeface="Be Vietnam Pro" pitchFamily="34" charset="-122"/>
                <a:cs typeface="Be Vietnam Pro" pitchFamily="34" charset="-120"/>
              </a:rPr>
              <a:t>Mọi bộ phận nhìn cùng một bức</a:t>
            </a:r>
            <a:endParaRPr lang="en-US" sz="1250" dirty="0"/>
          </a:p>
          <a:p>
            <a:pPr algn="l" indent="0" marL="0">
              <a:lnSpc>
                <a:spcPts val="1813"/>
              </a:lnSpc>
              <a:buNone/>
            </a:pPr>
            <a:r>
              <a:rPr lang="en-US" sz="1250" dirty="0">
                <a:solidFill>
                  <a:srgbClr val="D9E6F2"/>
                </a:solidFill>
                <a:latin typeface="Be Vietnam Pro" pitchFamily="34" charset="0"/>
                <a:ea typeface="Be Vietnam Pro" pitchFamily="34" charset="-122"/>
                <a:cs typeface="Be Vietnam Pro" pitchFamily="34" charset="-120"/>
              </a:rPr>
              <a:t>tranh, cùng một thời điểm.</a:t>
            </a:r>
            <a:endParaRPr lang="en-US" sz="1250" dirty="0"/>
          </a:p>
        </p:txBody>
      </p:sp>
      <p:sp>
        <p:nvSpPr>
          <p:cNvPr id="17" name="Shape 13"/>
          <p:cNvSpPr/>
          <p:nvPr/>
        </p:nvSpPr>
        <p:spPr>
          <a:xfrm>
            <a:off x="4405274" y="2684780"/>
            <a:ext cx="3381146" cy="2194560"/>
          </a:xfrm>
          <a:prstGeom prst="roundRect">
            <a:avLst>
              <a:gd name="adj" fmla="val 5000"/>
            </a:avLst>
          </a:prstGeom>
          <a:solidFill>
            <a:srgbClr val="091B2D">
              <a:alpha val="66000"/>
            </a:srgbClr>
          </a:solidFill>
          <a:ln w="12700">
            <a:solidFill>
              <a:srgbClr val="FFFFFF">
                <a:alpha val="12000"/>
              </a:srgbClr>
            </a:solidFill>
            <a:prstDash val="solid"/>
          </a:ln>
        </p:spPr>
      </p:sp>
      <p:sp>
        <p:nvSpPr>
          <p:cNvPr id="18" name="Shape 14"/>
          <p:cNvSpPr/>
          <p:nvPr/>
        </p:nvSpPr>
        <p:spPr>
          <a:xfrm>
            <a:off x="4405274" y="2684780"/>
            <a:ext cx="50292" cy="2194560"/>
          </a:xfrm>
          <a:prstGeom prst="roundRect">
            <a:avLst>
              <a:gd name="adj" fmla="val 54545"/>
            </a:avLst>
          </a:prstGeom>
          <a:solidFill>
            <a:srgbClr val="22C55E">
              <a:alpha val="95000"/>
            </a:srgbClr>
          </a:solidFill>
          <a:ln/>
        </p:spPr>
      </p:sp>
      <p:sp>
        <p:nvSpPr>
          <p:cNvPr id="19" name="Text 15"/>
          <p:cNvSpPr/>
          <p:nvPr/>
        </p:nvSpPr>
        <p:spPr>
          <a:xfrm>
            <a:off x="4716170" y="2940812"/>
            <a:ext cx="2850794" cy="518922"/>
          </a:xfrm>
          <a:prstGeom prst="rect">
            <a:avLst/>
          </a:prstGeom>
          <a:noFill/>
          <a:ln/>
        </p:spPr>
        <p:txBody>
          <a:bodyPr wrap="square" lIns="0" tIns="0" rIns="0" bIns="0" rtlCol="0" anchor="t"/>
          <a:lstStyle/>
          <a:p>
            <a:pPr algn="l" indent="0" marL="0">
              <a:lnSpc>
                <a:spcPts val="3510"/>
              </a:lnSpc>
              <a:buNone/>
            </a:pPr>
            <a:r>
              <a:rPr lang="en-US" sz="2600" b="1" dirty="0">
                <a:solidFill>
                  <a:srgbClr val="22C55E"/>
                </a:solidFill>
                <a:latin typeface="Be Vietnam Pro" pitchFamily="34" charset="0"/>
                <a:ea typeface="Be Vietnam Pro" pitchFamily="34" charset="-122"/>
                <a:cs typeface="Be Vietnam Pro" pitchFamily="34" charset="-120"/>
              </a:rPr>
              <a:t>02</a:t>
            </a:r>
            <a:endParaRPr lang="en-US" sz="2600" dirty="0"/>
          </a:p>
        </p:txBody>
      </p:sp>
      <p:sp>
        <p:nvSpPr>
          <p:cNvPr id="20" name="Text 16"/>
          <p:cNvSpPr/>
          <p:nvPr/>
        </p:nvSpPr>
        <p:spPr>
          <a:xfrm>
            <a:off x="4716170" y="3580892"/>
            <a:ext cx="2850794" cy="364617"/>
          </a:xfrm>
          <a:prstGeom prst="rect">
            <a:avLst/>
          </a:prstGeom>
          <a:noFill/>
          <a:ln/>
        </p:spPr>
        <p:txBody>
          <a:bodyPr wrap="square" lIns="0" tIns="0" rIns="0" bIns="0" rtlCol="0" anchor="t"/>
          <a:lstStyle/>
          <a:p>
            <a:pPr algn="l" indent="0" marL="0">
              <a:lnSpc>
                <a:spcPts val="2295"/>
              </a:lnSpc>
              <a:buNone/>
            </a:pPr>
            <a:r>
              <a:rPr lang="en-US" sz="1700" b="1" dirty="0">
                <a:solidFill>
                  <a:srgbClr val="FFFFFF"/>
                </a:solidFill>
                <a:latin typeface="Be Vietnam Pro" pitchFamily="34" charset="0"/>
                <a:ea typeface="Be Vietnam Pro" pitchFamily="34" charset="-122"/>
                <a:cs typeface="Be Vietnam Pro" pitchFamily="34" charset="-120"/>
              </a:rPr>
              <a:t>Hỗ trợ ra quyết định</a:t>
            </a:r>
            <a:endParaRPr lang="en-US" sz="1700" dirty="0"/>
          </a:p>
        </p:txBody>
      </p:sp>
      <p:sp>
        <p:nvSpPr>
          <p:cNvPr id="21" name="Text 17"/>
          <p:cNvSpPr/>
          <p:nvPr/>
        </p:nvSpPr>
        <p:spPr>
          <a:xfrm>
            <a:off x="4716170" y="4019804"/>
            <a:ext cx="2850794" cy="763714"/>
          </a:xfrm>
          <a:prstGeom prst="rect">
            <a:avLst/>
          </a:prstGeom>
          <a:noFill/>
          <a:ln/>
        </p:spPr>
        <p:txBody>
          <a:bodyPr wrap="square" lIns="0" tIns="0" rIns="0" bIns="0" rtlCol="0" anchor="t"/>
          <a:lstStyle/>
          <a:p>
            <a:pPr algn="l" indent="0" marL="0">
              <a:lnSpc>
                <a:spcPts val="1813"/>
              </a:lnSpc>
              <a:buNone/>
            </a:pPr>
            <a:r>
              <a:rPr lang="en-US" sz="1250" dirty="0">
                <a:solidFill>
                  <a:srgbClr val="D9E6F2"/>
                </a:solidFill>
                <a:latin typeface="Be Vietnam Pro" pitchFamily="34" charset="0"/>
                <a:ea typeface="Be Vietnam Pro" pitchFamily="34" charset="-122"/>
                <a:cs typeface="Be Vietnam Pro" pitchFamily="34" charset="-120"/>
              </a:rPr>
              <a:t>AI phân tích và tham mưu, con</a:t>
            </a:r>
            <a:endParaRPr lang="en-US" sz="1250" dirty="0"/>
          </a:p>
          <a:p>
            <a:pPr algn="l" indent="0" marL="0">
              <a:lnSpc>
                <a:spcPts val="1813"/>
              </a:lnSpc>
              <a:buNone/>
            </a:pPr>
            <a:r>
              <a:rPr lang="en-US" sz="1250" dirty="0">
                <a:solidFill>
                  <a:srgbClr val="D9E6F2"/>
                </a:solidFill>
                <a:latin typeface="Be Vietnam Pro" pitchFamily="34" charset="0"/>
                <a:ea typeface="Be Vietnam Pro" pitchFamily="34" charset="-122"/>
                <a:cs typeface="Be Vietnam Pro" pitchFamily="34" charset="-120"/>
              </a:rPr>
              <a:t>người giữ quyền quyết định cuối</a:t>
            </a:r>
            <a:endParaRPr lang="en-US" sz="1250" dirty="0"/>
          </a:p>
          <a:p>
            <a:pPr algn="l" indent="0" marL="0">
              <a:lnSpc>
                <a:spcPts val="1813"/>
              </a:lnSpc>
              <a:buNone/>
            </a:pPr>
            <a:r>
              <a:rPr lang="en-US" sz="1250" dirty="0">
                <a:solidFill>
                  <a:srgbClr val="D9E6F2"/>
                </a:solidFill>
                <a:latin typeface="Be Vietnam Pro" pitchFamily="34" charset="0"/>
                <a:ea typeface="Be Vietnam Pro" pitchFamily="34" charset="-122"/>
                <a:cs typeface="Be Vietnam Pro" pitchFamily="34" charset="-120"/>
              </a:rPr>
              <a:t>cùng.</a:t>
            </a:r>
            <a:endParaRPr lang="en-US" sz="1250" dirty="0"/>
          </a:p>
        </p:txBody>
      </p:sp>
      <p:sp>
        <p:nvSpPr>
          <p:cNvPr id="22" name="Shape 18"/>
          <p:cNvSpPr/>
          <p:nvPr/>
        </p:nvSpPr>
        <p:spPr>
          <a:xfrm>
            <a:off x="8097317" y="2684780"/>
            <a:ext cx="3381146" cy="2194560"/>
          </a:xfrm>
          <a:prstGeom prst="roundRect">
            <a:avLst>
              <a:gd name="adj" fmla="val 5000"/>
            </a:avLst>
          </a:prstGeom>
          <a:solidFill>
            <a:srgbClr val="091B2D">
              <a:alpha val="66000"/>
            </a:srgbClr>
          </a:solidFill>
          <a:ln w="12700">
            <a:solidFill>
              <a:srgbClr val="FFFFFF">
                <a:alpha val="12000"/>
              </a:srgbClr>
            </a:solidFill>
            <a:prstDash val="solid"/>
          </a:ln>
        </p:spPr>
      </p:sp>
      <p:sp>
        <p:nvSpPr>
          <p:cNvPr id="23" name="Shape 19"/>
          <p:cNvSpPr/>
          <p:nvPr/>
        </p:nvSpPr>
        <p:spPr>
          <a:xfrm>
            <a:off x="8097317" y="2684780"/>
            <a:ext cx="50292" cy="2194560"/>
          </a:xfrm>
          <a:prstGeom prst="roundRect">
            <a:avLst>
              <a:gd name="adj" fmla="val 54545"/>
            </a:avLst>
          </a:prstGeom>
          <a:solidFill>
            <a:srgbClr val="FBBF24">
              <a:alpha val="95000"/>
            </a:srgbClr>
          </a:solidFill>
          <a:ln/>
        </p:spPr>
      </p:sp>
      <p:sp>
        <p:nvSpPr>
          <p:cNvPr id="24" name="Text 20"/>
          <p:cNvSpPr/>
          <p:nvPr/>
        </p:nvSpPr>
        <p:spPr>
          <a:xfrm>
            <a:off x="8408213" y="2940812"/>
            <a:ext cx="2850794" cy="518922"/>
          </a:xfrm>
          <a:prstGeom prst="rect">
            <a:avLst/>
          </a:prstGeom>
          <a:noFill/>
          <a:ln/>
        </p:spPr>
        <p:txBody>
          <a:bodyPr wrap="square" lIns="0" tIns="0" rIns="0" bIns="0" rtlCol="0" anchor="t"/>
          <a:lstStyle/>
          <a:p>
            <a:pPr algn="l" indent="0" marL="0">
              <a:lnSpc>
                <a:spcPts val="3510"/>
              </a:lnSpc>
              <a:buNone/>
            </a:pPr>
            <a:r>
              <a:rPr lang="en-US" sz="2600" b="1" dirty="0">
                <a:solidFill>
                  <a:srgbClr val="FBBF24"/>
                </a:solidFill>
                <a:latin typeface="Be Vietnam Pro" pitchFamily="34" charset="0"/>
                <a:ea typeface="Be Vietnam Pro" pitchFamily="34" charset="-122"/>
                <a:cs typeface="Be Vietnam Pro" pitchFamily="34" charset="-120"/>
              </a:rPr>
              <a:t>03</a:t>
            </a:r>
            <a:endParaRPr lang="en-US" sz="2600" dirty="0"/>
          </a:p>
        </p:txBody>
      </p:sp>
      <p:sp>
        <p:nvSpPr>
          <p:cNvPr id="25" name="Text 21"/>
          <p:cNvSpPr/>
          <p:nvPr/>
        </p:nvSpPr>
        <p:spPr>
          <a:xfrm>
            <a:off x="8408213" y="3580892"/>
            <a:ext cx="2850794" cy="364617"/>
          </a:xfrm>
          <a:prstGeom prst="rect">
            <a:avLst/>
          </a:prstGeom>
          <a:noFill/>
          <a:ln/>
        </p:spPr>
        <p:txBody>
          <a:bodyPr wrap="square" lIns="0" tIns="0" rIns="0" bIns="0" rtlCol="0" anchor="t"/>
          <a:lstStyle/>
          <a:p>
            <a:pPr algn="l" indent="0" marL="0">
              <a:lnSpc>
                <a:spcPts val="2295"/>
              </a:lnSpc>
              <a:buNone/>
            </a:pPr>
            <a:r>
              <a:rPr lang="en-US" sz="1700" b="1" dirty="0">
                <a:solidFill>
                  <a:srgbClr val="FFFFFF"/>
                </a:solidFill>
                <a:latin typeface="Be Vietnam Pro" pitchFamily="34" charset="0"/>
                <a:ea typeface="Be Vietnam Pro" pitchFamily="34" charset="-122"/>
                <a:cs typeface="Be Vietnam Pro" pitchFamily="34" charset="-120"/>
              </a:rPr>
              <a:t>Điều phối nguồn lực</a:t>
            </a:r>
            <a:endParaRPr lang="en-US" sz="1700" dirty="0"/>
          </a:p>
        </p:txBody>
      </p:sp>
      <p:sp>
        <p:nvSpPr>
          <p:cNvPr id="26" name="Text 22"/>
          <p:cNvSpPr/>
          <p:nvPr/>
        </p:nvSpPr>
        <p:spPr>
          <a:xfrm>
            <a:off x="8408213" y="4019804"/>
            <a:ext cx="2850794" cy="533527"/>
          </a:xfrm>
          <a:prstGeom prst="rect">
            <a:avLst/>
          </a:prstGeom>
          <a:noFill/>
          <a:ln/>
        </p:spPr>
        <p:txBody>
          <a:bodyPr wrap="square" lIns="0" tIns="0" rIns="0" bIns="0" rtlCol="0" anchor="t"/>
          <a:lstStyle/>
          <a:p>
            <a:pPr algn="l" indent="0" marL="0">
              <a:lnSpc>
                <a:spcPts val="1813"/>
              </a:lnSpc>
              <a:buNone/>
            </a:pPr>
            <a:r>
              <a:rPr lang="en-US" sz="1250" dirty="0">
                <a:solidFill>
                  <a:srgbClr val="D9E6F2"/>
                </a:solidFill>
                <a:latin typeface="Be Vietnam Pro" pitchFamily="34" charset="0"/>
                <a:ea typeface="Be Vietnam Pro" pitchFamily="34" charset="-122"/>
                <a:cs typeface="Be Vietnam Pro" pitchFamily="34" charset="-120"/>
              </a:rPr>
              <a:t>Vật tư đi từ đúng kho, đến đúng nơi,</a:t>
            </a:r>
            <a:endParaRPr lang="en-US" sz="1250" dirty="0"/>
          </a:p>
          <a:p>
            <a:pPr algn="l" indent="0" marL="0">
              <a:lnSpc>
                <a:spcPts val="1813"/>
              </a:lnSpc>
              <a:buNone/>
            </a:pPr>
            <a:r>
              <a:rPr lang="en-US" sz="1250" dirty="0">
                <a:solidFill>
                  <a:srgbClr val="D9E6F2"/>
                </a:solidFill>
                <a:latin typeface="Be Vietnam Pro" pitchFamily="34" charset="0"/>
                <a:ea typeface="Be Vietnam Pro" pitchFamily="34" charset="-122"/>
                <a:cs typeface="Be Vietnam Pro" pitchFamily="34" charset="-120"/>
              </a:rPr>
              <a:t>trong thời gian ngắn nhất.</a:t>
            </a:r>
            <a:endParaRPr lang="en-US" sz="1250" dirty="0"/>
          </a:p>
        </p:txBody>
      </p:sp>
      <p:sp>
        <p:nvSpPr>
          <p:cNvPr id="27" name="Shape 23"/>
          <p:cNvSpPr/>
          <p:nvPr/>
        </p:nvSpPr>
        <p:spPr>
          <a:xfrm>
            <a:off x="713232" y="5226812"/>
            <a:ext cx="10765231" cy="896112"/>
          </a:xfrm>
          <a:prstGeom prst="roundRect">
            <a:avLst>
              <a:gd name="adj" fmla="val 12245"/>
            </a:avLst>
          </a:prstGeom>
          <a:solidFill>
            <a:srgbClr val="FFFFFF">
              <a:alpha val="7000"/>
            </a:srgbClr>
          </a:solidFill>
          <a:ln w="12700">
            <a:solidFill>
              <a:srgbClr val="FFFFFF">
                <a:alpha val="16000"/>
              </a:srgbClr>
            </a:solidFill>
            <a:prstDash val="solid"/>
          </a:ln>
        </p:spPr>
      </p:sp>
      <p:sp>
        <p:nvSpPr>
          <p:cNvPr id="28" name="Text 24"/>
          <p:cNvSpPr/>
          <p:nvPr/>
        </p:nvSpPr>
        <p:spPr>
          <a:xfrm>
            <a:off x="1078992" y="5446268"/>
            <a:ext cx="10125151" cy="357632"/>
          </a:xfrm>
          <a:prstGeom prst="rect">
            <a:avLst/>
          </a:prstGeom>
          <a:noFill/>
          <a:ln/>
        </p:spPr>
        <p:txBody>
          <a:bodyPr wrap="square" lIns="0" tIns="0" rIns="0" bIns="0" rtlCol="0" anchor="t"/>
          <a:lstStyle/>
          <a:p>
            <a:pPr algn="l" indent="0" marL="0">
              <a:lnSpc>
                <a:spcPts val="2240"/>
              </a:lnSpc>
              <a:buNone/>
            </a:pPr>
            <a:r>
              <a:rPr lang="en-US" sz="1600" b="1" dirty="0">
                <a:solidFill>
                  <a:srgbClr val="FFFFFF"/>
                </a:solidFill>
                <a:latin typeface="Be Vietnam Pro" pitchFamily="34" charset="0"/>
                <a:ea typeface="Be Vietnam Pro" pitchFamily="34" charset="-122"/>
                <a:cs typeface="Be Vietnam Pro" pitchFamily="34" charset="-120"/>
              </a:rPr>
              <a:t>Để công nghệ chia sẻ một phần áp lực với những con người đang trực tiếp đứng ở tuyến đầu.</a:t>
            </a:r>
            <a:endParaRPr lang="en-US" sz="16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4101F"/>
        </a:solidFill>
      </p:bgPr>
    </p:bg>
    <p:spTree>
      <p:nvGrpSpPr>
        <p:cNvPr id="1" name=""/>
        <p:cNvGrpSpPr/>
        <p:nvPr/>
      </p:nvGrpSpPr>
      <p:grpSpPr>
        <a:xfrm>
          <a:off x="0" y="0"/>
          <a:ext cx="0" cy="0"/>
          <a:chOff x="0" y="0"/>
          <a:chExt cx="0" cy="0"/>
        </a:xfrm>
      </p:grpSpPr>
      <p:pic>
        <p:nvPicPr>
          <p:cNvPr id="2" name="Image 0" descr="bg-closing.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scrim-bottom.png">    </p:cNvPr>
          <p:cNvPicPr>
            <a:picLocks noChangeAspect="1"/>
          </p:cNvPicPr>
          <p:nvPr/>
        </p:nvPicPr>
        <p:blipFill>
          <a:blip r:embed="rId2"/>
          <a:stretch>
            <a:fillRect/>
          </a:stretch>
        </p:blipFill>
        <p:spPr>
          <a:xfrm>
            <a:off x="0" y="0"/>
            <a:ext cx="12191695" cy="6858000"/>
          </a:xfrm>
          <a:prstGeom prst="rect">
            <a:avLst/>
          </a:prstGeom>
        </p:spPr>
      </p:pic>
      <p:sp>
        <p:nvSpPr>
          <p:cNvPr id="4" name="Shape 0"/>
          <p:cNvSpPr/>
          <p:nvPr/>
        </p:nvSpPr>
        <p:spPr>
          <a:xfrm>
            <a:off x="0" y="0"/>
            <a:ext cx="12191695" cy="6858000"/>
          </a:xfrm>
          <a:prstGeom prst="rect">
            <a:avLst/>
          </a:prstGeom>
          <a:solidFill>
            <a:srgbClr val="04101F">
              <a:alpha val="50000"/>
            </a:srgbClr>
          </a:solidFill>
          <a:ln/>
        </p:spPr>
      </p:sp>
      <p:pic>
        <p:nvPicPr>
          <p:cNvPr id="5" name="Image 2" descr="mark-sm.png">    </p:cNvPr>
          <p:cNvPicPr>
            <a:picLocks noChangeAspect="1"/>
          </p:cNvPicPr>
          <p:nvPr/>
        </p:nvPicPr>
        <p:blipFill>
          <a:blip r:embed="rId3"/>
          <a:stretch>
            <a:fillRect/>
          </a:stretch>
        </p:blipFill>
        <p:spPr>
          <a:xfrm>
            <a:off x="5784952" y="749808"/>
            <a:ext cx="621792" cy="621792"/>
          </a:xfrm>
          <a:prstGeom prst="rect">
            <a:avLst/>
          </a:prstGeom>
        </p:spPr>
      </p:pic>
      <p:sp>
        <p:nvSpPr>
          <p:cNvPr id="6" name="Text 1"/>
          <p:cNvSpPr/>
          <p:nvPr/>
        </p:nvSpPr>
        <p:spPr>
          <a:xfrm>
            <a:off x="1417320" y="1645920"/>
            <a:ext cx="9357055" cy="287465"/>
          </a:xfrm>
          <a:prstGeom prst="rect">
            <a:avLst/>
          </a:prstGeom>
          <a:noFill/>
          <a:ln/>
        </p:spPr>
        <p:txBody>
          <a:bodyPr wrap="square" lIns="0" tIns="0" rIns="0" bIns="0" rtlCol="0" anchor="t"/>
          <a:lstStyle/>
          <a:p>
            <a:pPr algn="ctr" indent="0" marL="0">
              <a:lnSpc>
                <a:spcPts val="1688"/>
              </a:lnSpc>
              <a:buNone/>
            </a:pPr>
            <a:r>
              <a:rPr lang="en-US" sz="1250" b="1" spc="240" kern="0" dirty="0">
                <a:solidFill>
                  <a:srgbClr val="6EE7A8"/>
                </a:solidFill>
                <a:latin typeface="Be Vietnam Pro" pitchFamily="34" charset="0"/>
                <a:ea typeface="Be Vietnam Pro" pitchFamily="34" charset="-122"/>
                <a:cs typeface="Be Vietnam Pro" pitchFamily="34" charset="-120"/>
              </a:rPr>
              <a:t>CHUẨN BỊ TỐT HƠN · PHỐI HỢP NHANH HƠN · ỨNG PHÓ HIỆU QUẢ HƠN</a:t>
            </a:r>
            <a:endParaRPr lang="en-US" sz="1250" dirty="0"/>
          </a:p>
        </p:txBody>
      </p:sp>
      <p:sp>
        <p:nvSpPr>
          <p:cNvPr id="7" name="Text 2"/>
          <p:cNvSpPr/>
          <p:nvPr/>
        </p:nvSpPr>
        <p:spPr>
          <a:xfrm>
            <a:off x="1188720" y="2130552"/>
            <a:ext cx="9814255" cy="1559052"/>
          </a:xfrm>
          <a:prstGeom prst="rect">
            <a:avLst/>
          </a:prstGeom>
          <a:noFill/>
          <a:ln/>
        </p:spPr>
        <p:txBody>
          <a:bodyPr wrap="square" lIns="0" tIns="0" rIns="0" bIns="0" rtlCol="0" anchor="t"/>
          <a:lstStyle/>
          <a:p>
            <a:pPr algn="ctr" indent="0" marL="0">
              <a:lnSpc>
                <a:spcPts val="3900"/>
              </a:lnSpc>
              <a:buNone/>
            </a:pPr>
            <a:r>
              <a:rPr lang="en-US" sz="3000" b="1" dirty="0">
                <a:solidFill>
                  <a:srgbClr val="FFFFFF"/>
                </a:solidFill>
                <a:latin typeface="Be Vietnam Pro" pitchFamily="34" charset="0"/>
                <a:ea typeface="Be Vietnam Pro" pitchFamily="34" charset="-122"/>
                <a:cs typeface="Be Vietnam Pro" pitchFamily="34" charset="-120"/>
              </a:rPr>
              <a:t>Chúng ta có thể không kiểm soát được khi nào</a:t>
            </a:r>
            <a:endParaRPr lang="en-US" sz="3000" dirty="0"/>
          </a:p>
          <a:p>
            <a:pPr algn="ctr" indent="0" marL="0">
              <a:lnSpc>
                <a:spcPts val="3900"/>
              </a:lnSpc>
              <a:buNone/>
            </a:pPr>
            <a:r>
              <a:rPr lang="en-US" sz="3000" b="1" dirty="0">
                <a:solidFill>
                  <a:srgbClr val="FFFFFF"/>
                </a:solidFill>
                <a:latin typeface="Be Vietnam Pro" pitchFamily="34" charset="0"/>
                <a:ea typeface="Be Vietnam Pro" pitchFamily="34" charset="-122"/>
                <a:cs typeface="Be Vietnam Pro" pitchFamily="34" charset="-120"/>
              </a:rPr>
              <a:t>thiên tai xảy ra, nhưng có thể chuẩn bị tốt hơn khi</a:t>
            </a:r>
            <a:endParaRPr lang="en-US" sz="3000" dirty="0"/>
          </a:p>
          <a:p>
            <a:pPr algn="ctr" indent="0" marL="0">
              <a:lnSpc>
                <a:spcPts val="3900"/>
              </a:lnSpc>
              <a:buNone/>
            </a:pPr>
            <a:r>
              <a:rPr lang="en-US" sz="3000" b="1" dirty="0">
                <a:solidFill>
                  <a:srgbClr val="FFFFFF"/>
                </a:solidFill>
                <a:latin typeface="Be Vietnam Pro" pitchFamily="34" charset="0"/>
                <a:ea typeface="Be Vietnam Pro" pitchFamily="34" charset="-122"/>
                <a:cs typeface="Be Vietnam Pro" pitchFamily="34" charset="-120"/>
              </a:rPr>
              <a:t>thiên tai thực sự ập đến.</a:t>
            </a:r>
            <a:endParaRPr lang="en-US" sz="3000" dirty="0"/>
          </a:p>
        </p:txBody>
      </p:sp>
      <p:sp>
        <p:nvSpPr>
          <p:cNvPr id="8" name="Shape 3"/>
          <p:cNvSpPr/>
          <p:nvPr/>
        </p:nvSpPr>
        <p:spPr>
          <a:xfrm>
            <a:off x="5410048" y="3950208"/>
            <a:ext cx="1371600" cy="68580"/>
          </a:xfrm>
          <a:prstGeom prst="roundRect">
            <a:avLst>
              <a:gd name="adj" fmla="val 49333"/>
            </a:avLst>
          </a:prstGeom>
          <a:solidFill>
            <a:srgbClr val="22C55E"/>
          </a:solidFill>
          <a:ln/>
        </p:spPr>
      </p:sp>
      <p:sp>
        <p:nvSpPr>
          <p:cNvPr id="9" name="Text 4"/>
          <p:cNvSpPr/>
          <p:nvPr/>
        </p:nvSpPr>
        <p:spPr>
          <a:xfrm>
            <a:off x="1965960" y="4261104"/>
            <a:ext cx="8259775" cy="347472"/>
          </a:xfrm>
          <a:prstGeom prst="rect">
            <a:avLst/>
          </a:prstGeom>
          <a:noFill/>
          <a:ln/>
        </p:spPr>
        <p:txBody>
          <a:bodyPr wrap="square" lIns="0" tIns="0" rIns="0" bIns="0" rtlCol="0" anchor="t"/>
          <a:lstStyle/>
          <a:p>
            <a:pPr algn="ctr" indent="0" marL="0">
              <a:lnSpc>
                <a:spcPts val="2160"/>
              </a:lnSpc>
              <a:buNone/>
            </a:pPr>
            <a:r>
              <a:rPr lang="en-US" sz="1600" dirty="0">
                <a:solidFill>
                  <a:srgbClr val="D9E6F2"/>
                </a:solidFill>
                <a:latin typeface="Be Vietnam Pro" pitchFamily="34" charset="0"/>
                <a:ea typeface="Be Vietnam Pro" pitchFamily="34" charset="-122"/>
                <a:cs typeface="Be Vietnam Pro" pitchFamily="34" charset="-120"/>
              </a:rPr>
              <a:t>Phần trình bày tiếp theo: Demo hệ thống Ứng Phó Nhanh</a:t>
            </a:r>
            <a:endParaRPr lang="en-US" sz="1600" dirty="0"/>
          </a:p>
        </p:txBody>
      </p:sp>
      <p:sp>
        <p:nvSpPr>
          <p:cNvPr id="10" name="Text 5"/>
          <p:cNvSpPr/>
          <p:nvPr/>
        </p:nvSpPr>
        <p:spPr>
          <a:xfrm>
            <a:off x="1965960" y="5010912"/>
            <a:ext cx="8259775" cy="313182"/>
          </a:xfrm>
          <a:prstGeom prst="rect">
            <a:avLst/>
          </a:prstGeom>
          <a:noFill/>
          <a:ln/>
        </p:spPr>
        <p:txBody>
          <a:bodyPr wrap="square" lIns="0" tIns="0" rIns="0" bIns="0" rtlCol="0" anchor="t"/>
          <a:lstStyle/>
          <a:p>
            <a:pPr algn="ctr" indent="0" marL="0">
              <a:lnSpc>
                <a:spcPts val="1890"/>
              </a:lnSpc>
              <a:buNone/>
            </a:pPr>
            <a:r>
              <a:rPr lang="en-US" sz="1400" b="1" dirty="0">
                <a:solidFill>
                  <a:srgbClr val="FFFFFF"/>
                </a:solidFill>
                <a:latin typeface="Be Vietnam Pro" pitchFamily="34" charset="0"/>
                <a:ea typeface="Be Vietnam Pro" pitchFamily="34" charset="-122"/>
                <a:cs typeface="Be Vietnam Pro" pitchFamily="34" charset="-120"/>
              </a:rPr>
              <a:t>Trân trọng cảm ơn Ban Lãnh đạo, Ban Tổ chức và Ban Giám khảo</a:t>
            </a:r>
            <a:endParaRPr lang="en-US" sz="1400" dirty="0"/>
          </a:p>
        </p:txBody>
      </p:sp>
      <p:sp>
        <p:nvSpPr>
          <p:cNvPr id="11" name="Text 6"/>
          <p:cNvSpPr/>
          <p:nvPr/>
        </p:nvSpPr>
        <p:spPr>
          <a:xfrm>
            <a:off x="1965960" y="5925312"/>
            <a:ext cx="8259775" cy="278892"/>
          </a:xfrm>
          <a:prstGeom prst="rect">
            <a:avLst/>
          </a:prstGeom>
          <a:noFill/>
          <a:ln/>
        </p:spPr>
        <p:txBody>
          <a:bodyPr wrap="square" lIns="0" tIns="0" rIns="0" bIns="0" rtlCol="0" anchor="t"/>
          <a:lstStyle/>
          <a:p>
            <a:pPr algn="ctr" indent="0" marL="0">
              <a:lnSpc>
                <a:spcPts val="1620"/>
              </a:lnSpc>
              <a:buNone/>
            </a:pPr>
            <a:r>
              <a:rPr lang="en-US" sz="1200" dirty="0">
                <a:solidFill>
                  <a:srgbClr val="9BB0C6"/>
                </a:solidFill>
                <a:latin typeface="Be Vietnam Pro" pitchFamily="34" charset="0"/>
                <a:ea typeface="Be Vietnam Pro" pitchFamily="34" charset="-122"/>
                <a:cs typeface="Be Vietnam Pro" pitchFamily="34" charset="-120"/>
              </a:rPr>
              <a:t>ungphonhanh.life</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Ứng Phó Nhanh — Giải pháp cứu hộ, cứu nạn và hậu cần thông minh</dc:title>
  <dc:subject>PptxGenJS Presentation</dc:subject>
  <dc:creator>Nhóm Ứng Phó Nhanh</dc:creator>
  <cp:lastModifiedBy>Nhóm Ứng Phó Nhanh</cp:lastModifiedBy>
  <cp:revision>1</cp:revision>
  <dcterms:created xsi:type="dcterms:W3CDTF">2026-09-12T09:28:53Z</dcterms:created>
  <dcterms:modified xsi:type="dcterms:W3CDTF">2026-09-12T09:28:53Z</dcterms:modified>
</cp:coreProperties>
</file>