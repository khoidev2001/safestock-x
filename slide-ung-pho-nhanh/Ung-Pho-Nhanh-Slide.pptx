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quý Ban Lãnh đạo, Ban Tổ chức và Ban Giám khảo. Nhóm chúng em xin trình bày dự án Ứng Phó Nhanh - Giải pháp cứu hộ, cứu nạn và hậu cần thông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Chúng em sinh ra và lớn lên tại vùng đất năm nào cũng chịu ảnh hưởng của bão lũ. Trong nhóm có thành viên là chiến sĩ Công an nhân dân, đã trực tiếp tham gia cứu hộ trong đợt bão lũ lịch sử năm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2025 là dấu mốc trực tiếp thúc đẩy nhóm em bắt tay vào làm. Đợt mưa lũ giữa tháng 11, mưa phổ biến bốn trăm đến sáu trăm mi-li-mét, có nơi trên tám trăm. Lũ trên sông Ba và sông Kỳ Lộ vượt các đỉnh lũ lịch sử. Tính đến ngày hai mươi tháng mười một, toàn tỉnh có mười chín người chết, sáu người mất tích, hơn tám mươi lăm nghìn bảy trăm lượt nhà bị ngập, hơn mười hai nghìn tám trăm hộ bị cô lập. Bốn mươi xã phường phải công bố tình huống khẩn cấp, trong đó có xã Đồng Xuân quê em. Tổng thiệt hại vượt chín nghìn bảy trăm ba mươi tỷ đồng. Đoạn này nói chậm, để con số tự nói.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hiện trường thật ở quê chúng em trong đợt lũ tháng mười một. Nói ngắn, để ảnh tự kể. Nếu chưa kịp có ảnh thì bỏ hẳn slide này thay vì để khung trống.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quyết định vẫn phải đưa ra nhanh chóng: Cần vật tư gì? Lấy ở đâu? Kho nào còn đủ? Và làm sao để tất cả các bộ phận cùng nhận được thông tin nhanh chóng, chính xác?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Trưởng thôn báo tình huống, người điều phối dùng AI lập phương án. Ngay khi phương án được duyệt, bộ phận kho và đội cứu hộ nhận thông tin cùng một lúc chứ không truyền tin nối tiếp qua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sơ bộ toàn bộ quy trình: từ tin báo của trưởng thôn, AI phân tích, chọn kho, xác nhận và thông báo, đội cứu hộ báo cáo hoàn thành, cuối cùng là kho xác nhận hoàn trả vật tư. Sau đây nhóm em xin đi sâu từng bước.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bắt đầu từ tin báo của trưởng thôn, sau đó AI phân tích tình hình để người điều phối chốt phương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màn hình thật, đi từ trái sang phải. Một: trưởng thôn kể bằng lời, AI đọc thành số liệu và điền sẵn vào form. Hai: AI phân tích tình huống, lập danh mục vật tư theo nhóm và chỉ ra ngay món nào kho trong xã không đủ, ví dụ thiếu 15 áo phao người lớn. Người điều phối chỉ việc kiểm tra, chỉnh sửa và xác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có danh mục vật tư, hệ thống chọn kho tiếp tế gần điểm gặp nạn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tính quãng đường thực tế từ điểm gặp nạn tới từng kho, ưu tiên kho gần nhất. Kho gần nhất không đủ thì lấy hết phần đang có rồi tràn sang kho gần thứ hai, thứ ba. Kho đang có sự cố hoặc vật tư hỏng, hết hạn sẽ bị loại khỏi phương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điều phối xác nhận phương án, kho và đội cứu hộ nhận thông báo cùng lúc.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người điều phối xác nhận, kho và đội cứu hộ nhận thông tin cùng một lúc. Kho có phiếu yêu cầu riêng để chuẩn bị và xuất vật tư; đội cứu hộ thấy điểm gặp nạn trên bản đồ, biết cần nhận vật tư gì và phải tới những kho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Hoàn thành nhiệm vụ, đội cứu hộ xác nhận trên hệ thống và gửi kèm hình ảnh tại hiện trường.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 xác nhận phần vật tư đội cứu hộ hoàn trả. Toàn bộ vòng đời nhiệm vụ được ghi lại đầy đủ trong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lưu lại toàn bộ dữ liệu từng đợt cứu hộ, trở thành nguồn thông tin để phân tích và dự báo nhu cầu vật tư cho những đợt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vừa rồi là luồng điều phối. Sáu slide tiếp theo đi vào phần kho — nơi giữ cho số liệu mà luồng điều phối dựa vào luôn đúng: cách quản lý vật tư, chấm điểm sẵn sàng của kho, nhìn tồn kho toàn xã, cảm biến IoT, lựa chọn phần cứng và trợ lý AI hỏi đáp.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xã có một kho tổng và mười bảy kho thôn. Biết còn bao nhiêu là chưa đủ: ba mươi áo phao còn tốt nhưng đang cho đội xung kích mượn đi diễn tập thì không được tính là khả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số chấm theo sáu chiều, tính ở bốn cấp: lô, kệ, khu, toàn kho. Khi cảm biến báo nguy cơ cháy, kho đang chín mươi lăm điểm lập tức chuyển sang trạng thái không điều phối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ngăn một sai lầm đã thấy ngoài đời: người trực nhìn con số ở kho tổng, kết luận cả xã hết hàng rồi đi xin chi viện, trong khi thứ mình cần đang nằm ở thôn bên cạnh. Nếu dư thời gian, nói thêm ở đây về dự báo nhu cầu theo lượng mưa 72 giờ và bản tin đầu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quy tắc này thể hiện rõ nhất cách nhóm em suy nghĩ: không để báo động giả làm người ta tắt hệ thống, và không coi sự im lặng của thiết bị là mọi thứ bình thường.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lựa chọn kỹ thuật, không phải thiếu sót. Nói bình thản, không hạ giọng.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mô hình viết xong câu trả lời, hệ thống đối chiếu từng con số với ảnh chụp dữ liệu kho tại thời điểm hỏi. Không khớp thì chặn lại và hiện thông báo chưa thể tạo câu trả lời an toàn từ dữ liệu hiện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Dự án bắt đầu từ quê nhà của chúng em — xã Đồng Xuân. Đoạn này nói chậm nhất, nhìn thẳng xuống ban giám khảo. Nếu thư chưa ký kịp: đổi tiêu đề thành “Đưa sản phẩm về đúng nơi nó sinh ra”, bỏ khung ảnh và giữ ba gạch đầu dòng ở thì tương 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Điều chúng em muốn xây dựng là một hệ thống kết nối thông tin, hỗ trợ ra quyết định và điều phối nguồn lực.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Chúng ta có thể không kiểm soát được khi nào thiên tai xảy ra, nhưng có thể chuẩn bị tốt hơn, phối hợp nhanh hơn và ứng phó hiệu quả hơn. Mời quý Ban Giám khảo theo dõi phần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jp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image" Target="../media/image-24-3.jp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101F"/>
        </a:solidFill>
      </p:bgPr>
    </p:bg>
    <p:spTree>
      <p:nvGrpSpPr>
        <p:cNvPr id="1" name=""/>
        <p:cNvGrpSpPr/>
        <p:nvPr/>
      </p:nvGrpSpPr>
      <p:grpSpPr>
        <a:xfrm>
          <a:off x="0" y="0"/>
          <a:ext cx="0" cy="0"/>
          <a:chOff x="0" y="0"/>
          <a:chExt cx="0" cy="0"/>
        </a:xfrm>
      </p:grpSpPr>
      <p:pic>
        <p:nvPicPr>
          <p:cNvPr id="2" name="Image 0" descr="bg-title.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scrim-left.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scrim-bottom.png">    </p:cNvPr>
          <p:cNvPicPr>
            <a:picLocks noChangeAspect="1"/>
          </p:cNvPicPr>
          <p:nvPr/>
        </p:nvPicPr>
        <p:blipFill>
          <a:blip r:embed="rId3"/>
          <a:stretch>
            <a:fillRect/>
          </a:stretch>
        </p:blipFill>
        <p:spPr>
          <a:xfrm>
            <a:off x="0" y="0"/>
            <a:ext cx="12191695" cy="6858000"/>
          </a:xfrm>
          <a:prstGeom prst="rect">
            <a:avLst/>
          </a:prstGeom>
        </p:spPr>
      </p:pic>
      <p:sp>
        <p:nvSpPr>
          <p:cNvPr id="5" name="Shape 0"/>
          <p:cNvSpPr/>
          <p:nvPr/>
        </p:nvSpPr>
        <p:spPr>
          <a:xfrm>
            <a:off x="0" y="0"/>
            <a:ext cx="12191695" cy="6858000"/>
          </a:xfrm>
          <a:prstGeom prst="rect">
            <a:avLst/>
          </a:prstGeom>
          <a:solidFill>
            <a:srgbClr val="04101F">
              <a:alpha val="22000"/>
            </a:srgbClr>
          </a:solidFill>
          <a:ln/>
        </p:spPr>
      </p:sp>
      <p:pic>
        <p:nvPicPr>
          <p:cNvPr id="6" name="Image 3" descr="mark-sm.png">    </p:cNvPr>
          <p:cNvPicPr>
            <a:picLocks noChangeAspect="1"/>
          </p:cNvPicPr>
          <p:nvPr/>
        </p:nvPicPr>
        <p:blipFill>
          <a:blip r:embed="rId4"/>
          <a:stretch>
            <a:fillRect/>
          </a:stretch>
        </p:blipFill>
        <p:spPr>
          <a:xfrm>
            <a:off x="1399032" y="768096"/>
            <a:ext cx="1408176" cy="1408176"/>
          </a:xfrm>
          <a:prstGeom prst="rect">
            <a:avLst/>
          </a:prstGeom>
        </p:spPr>
      </p:pic>
      <p:sp>
        <p:nvSpPr>
          <p:cNvPr id="7" name="Text 1"/>
          <p:cNvSpPr/>
          <p:nvPr/>
        </p:nvSpPr>
        <p:spPr>
          <a:xfrm>
            <a:off x="713232" y="2560320"/>
            <a:ext cx="8321040" cy="923544"/>
          </a:xfrm>
          <a:prstGeom prst="rect">
            <a:avLst/>
          </a:prstGeom>
          <a:noFill/>
          <a:ln/>
        </p:spPr>
        <p:txBody>
          <a:bodyPr wrap="square" lIns="0" tIns="0" rIns="0" bIns="0" rtlCol="0" anchor="t"/>
          <a:lstStyle/>
          <a:p>
            <a:pPr algn="l" indent="0" marL="0">
              <a:lnSpc>
                <a:spcPts val="6696"/>
              </a:lnSpc>
              <a:buNone/>
            </a:pPr>
            <a:r>
              <a:rPr lang="en-US" sz="6200" b="1" dirty="0">
                <a:solidFill>
                  <a:srgbClr val="FFFFFF"/>
                </a:solidFill>
                <a:latin typeface="Be Vietnam Pro" pitchFamily="34" charset="0"/>
                <a:ea typeface="Be Vietnam Pro" pitchFamily="34" charset="-122"/>
                <a:cs typeface="Be Vietnam Pro" pitchFamily="34" charset="-120"/>
              </a:rPr>
              <a:t>ỨNG PHÓ NHANH</a:t>
            </a:r>
            <a:endParaRPr lang="en-US" sz="6200" dirty="0"/>
          </a:p>
        </p:txBody>
      </p:sp>
      <p:sp>
        <p:nvSpPr>
          <p:cNvPr id="8" name="Shape 2"/>
          <p:cNvSpPr/>
          <p:nvPr/>
        </p:nvSpPr>
        <p:spPr>
          <a:xfrm>
            <a:off x="713232" y="3767328"/>
            <a:ext cx="1325880" cy="68580"/>
          </a:xfrm>
          <a:prstGeom prst="roundRect">
            <a:avLst>
              <a:gd name="adj" fmla="val 49333"/>
            </a:avLst>
          </a:prstGeom>
          <a:solidFill>
            <a:srgbClr val="22C55E"/>
          </a:solidFill>
          <a:ln/>
        </p:spPr>
      </p:sp>
      <p:sp>
        <p:nvSpPr>
          <p:cNvPr id="9" name="Text 3"/>
          <p:cNvSpPr/>
          <p:nvPr/>
        </p:nvSpPr>
        <p:spPr>
          <a:xfrm>
            <a:off x="713232" y="4023360"/>
            <a:ext cx="7040880" cy="419862"/>
          </a:xfrm>
          <a:prstGeom prst="rect">
            <a:avLst/>
          </a:prstGeom>
          <a:noFill/>
          <a:ln/>
        </p:spPr>
        <p:txBody>
          <a:bodyPr wrap="square" lIns="0" tIns="0" rIns="0" bIns="0" rtlCol="0" anchor="t"/>
          <a:lstStyle/>
          <a:p>
            <a:pPr algn="l" indent="0" marL="0">
              <a:lnSpc>
                <a:spcPts val="2730"/>
              </a:lnSpc>
              <a:buNone/>
            </a:pPr>
            <a:r>
              <a:rPr lang="en-US" sz="2100" dirty="0">
                <a:solidFill>
                  <a:srgbClr val="E8F1FA"/>
                </a:solidFill>
                <a:latin typeface="Be Vietnam Pro" pitchFamily="34" charset="0"/>
                <a:ea typeface="Be Vietnam Pro" pitchFamily="34" charset="-122"/>
                <a:cs typeface="Be Vietnam Pro" pitchFamily="34" charset="-120"/>
              </a:rPr>
              <a:t>Giải pháp cứu hộ, cứu nạn và hậu cần thông minh</a:t>
            </a:r>
            <a:endParaRPr lang="en-US" sz="2100" dirty="0"/>
          </a:p>
        </p:txBody>
      </p:sp>
      <p:sp>
        <p:nvSpPr>
          <p:cNvPr id="10" name="Shape 4"/>
          <p:cNvSpPr/>
          <p:nvPr/>
        </p:nvSpPr>
        <p:spPr>
          <a:xfrm>
            <a:off x="713232" y="4828032"/>
            <a:ext cx="1823841" cy="329184"/>
          </a:xfrm>
          <a:prstGeom prst="roundRect">
            <a:avLst>
              <a:gd name="adj" fmla="val 50000"/>
            </a:avLst>
          </a:prstGeom>
          <a:solidFill>
            <a:srgbClr val="6EE7A8">
              <a:alpha val="18000"/>
            </a:srgbClr>
          </a:solidFill>
          <a:ln w="12700">
            <a:solidFill>
              <a:srgbClr val="6EE7A8">
                <a:alpha val="55000"/>
              </a:srgbClr>
            </a:solidFill>
            <a:prstDash val="solid"/>
          </a:ln>
        </p:spPr>
      </p:sp>
      <p:sp>
        <p:nvSpPr>
          <p:cNvPr id="11" name="Text 5"/>
          <p:cNvSpPr/>
          <p:nvPr/>
        </p:nvSpPr>
        <p:spPr>
          <a:xfrm>
            <a:off x="667512" y="4887468"/>
            <a:ext cx="1915281" cy="270320"/>
          </a:xfrm>
          <a:prstGeom prst="rect">
            <a:avLst/>
          </a:prstGeom>
          <a:noFill/>
          <a:ln/>
        </p:spPr>
        <p:txBody>
          <a:bodyPr wrap="square" lIns="0" tIns="0" rIns="0" bIns="0" rtlCol="0" anchor="t"/>
          <a:lstStyle/>
          <a:p>
            <a:pPr algn="ctr" indent="0" marL="0">
              <a:lnSpc>
                <a:spcPts val="1553"/>
              </a:lnSpc>
              <a:buNone/>
            </a:pPr>
            <a:r>
              <a:rPr lang="en-US" sz="1150" b="1" dirty="0">
                <a:solidFill>
                  <a:srgbClr val="6EE7A8"/>
                </a:solidFill>
                <a:latin typeface="Be Vietnam Pro" pitchFamily="34" charset="0"/>
                <a:ea typeface="Be Vietnam Pro" pitchFamily="34" charset="-122"/>
                <a:cs typeface="Be Vietnam Pro" pitchFamily="34" charset="-120"/>
              </a:rPr>
              <a:t>Điều phối nguồn lực</a:t>
            </a:r>
            <a:endParaRPr lang="en-US" sz="1150" dirty="0"/>
          </a:p>
        </p:txBody>
      </p:sp>
      <p:sp>
        <p:nvSpPr>
          <p:cNvPr id="12" name="Shape 6"/>
          <p:cNvSpPr/>
          <p:nvPr/>
        </p:nvSpPr>
        <p:spPr>
          <a:xfrm>
            <a:off x="2701665" y="4828032"/>
            <a:ext cx="1840782" cy="329184"/>
          </a:xfrm>
          <a:prstGeom prst="roundRect">
            <a:avLst>
              <a:gd name="adj" fmla="val 50000"/>
            </a:avLst>
          </a:prstGeom>
          <a:solidFill>
            <a:srgbClr val="FBBF24">
              <a:alpha val="18000"/>
            </a:srgbClr>
          </a:solidFill>
          <a:ln w="12700">
            <a:solidFill>
              <a:srgbClr val="FBBF24">
                <a:alpha val="55000"/>
              </a:srgbClr>
            </a:solidFill>
            <a:prstDash val="solid"/>
          </a:ln>
        </p:spPr>
      </p:sp>
      <p:sp>
        <p:nvSpPr>
          <p:cNvPr id="13" name="Text 7"/>
          <p:cNvSpPr/>
          <p:nvPr/>
        </p:nvSpPr>
        <p:spPr>
          <a:xfrm>
            <a:off x="2655945" y="4887468"/>
            <a:ext cx="1932222" cy="270320"/>
          </a:xfrm>
          <a:prstGeom prst="rect">
            <a:avLst/>
          </a:prstGeom>
          <a:noFill/>
          <a:ln/>
        </p:spPr>
        <p:txBody>
          <a:bodyPr wrap="square" lIns="0" tIns="0" rIns="0" bIns="0" rtlCol="0" anchor="t"/>
          <a:lstStyle/>
          <a:p>
            <a:pPr algn="ctr" indent="0" marL="0">
              <a:lnSpc>
                <a:spcPts val="1553"/>
              </a:lnSpc>
              <a:buNone/>
            </a:pPr>
            <a:r>
              <a:rPr lang="en-US" sz="1150" b="1" dirty="0">
                <a:solidFill>
                  <a:srgbClr val="FBBF24"/>
                </a:solidFill>
                <a:latin typeface="Be Vietnam Pro" pitchFamily="34" charset="0"/>
                <a:ea typeface="Be Vietnam Pro" pitchFamily="34" charset="-122"/>
                <a:cs typeface="Be Vietnam Pro" pitchFamily="34" charset="-120"/>
              </a:rPr>
              <a:t>Hỗ trợ ra quyết định</a:t>
            </a:r>
            <a:endParaRPr lang="en-US" sz="1150" dirty="0"/>
          </a:p>
        </p:txBody>
      </p:sp>
      <p:sp>
        <p:nvSpPr>
          <p:cNvPr id="14" name="Shape 8"/>
          <p:cNvSpPr/>
          <p:nvPr/>
        </p:nvSpPr>
        <p:spPr>
          <a:xfrm>
            <a:off x="4707039" y="4828032"/>
            <a:ext cx="2092281" cy="329184"/>
          </a:xfrm>
          <a:prstGeom prst="roundRect">
            <a:avLst>
              <a:gd name="adj" fmla="val 50000"/>
            </a:avLst>
          </a:prstGeom>
          <a:solidFill>
            <a:srgbClr val="38BDF8">
              <a:alpha val="18000"/>
            </a:srgbClr>
          </a:solidFill>
          <a:ln w="12700">
            <a:solidFill>
              <a:srgbClr val="38BDF8">
                <a:alpha val="55000"/>
              </a:srgbClr>
            </a:solidFill>
            <a:prstDash val="solid"/>
          </a:ln>
        </p:spPr>
      </p:sp>
      <p:sp>
        <p:nvSpPr>
          <p:cNvPr id="15" name="Text 9"/>
          <p:cNvSpPr/>
          <p:nvPr/>
        </p:nvSpPr>
        <p:spPr>
          <a:xfrm>
            <a:off x="4661319" y="4887468"/>
            <a:ext cx="2183721" cy="270320"/>
          </a:xfrm>
          <a:prstGeom prst="rect">
            <a:avLst/>
          </a:prstGeom>
          <a:noFill/>
          <a:ln/>
        </p:spPr>
        <p:txBody>
          <a:bodyPr wrap="square" lIns="0" tIns="0" rIns="0" bIns="0" rtlCol="0" anchor="t"/>
          <a:lstStyle/>
          <a:p>
            <a:pPr algn="ctr" indent="0" marL="0">
              <a:lnSpc>
                <a:spcPts val="1553"/>
              </a:lnSpc>
              <a:buNone/>
            </a:pPr>
            <a:r>
              <a:rPr lang="en-US" sz="1150" b="1" dirty="0">
                <a:solidFill>
                  <a:srgbClr val="38BDF8"/>
                </a:solidFill>
                <a:latin typeface="Be Vietnam Pro" pitchFamily="34" charset="0"/>
                <a:ea typeface="Be Vietnam Pro" pitchFamily="34" charset="-122"/>
                <a:cs typeface="Be Vietnam Pro" pitchFamily="34" charset="-120"/>
              </a:rPr>
              <a:t>Quản lý kho thông minh</a:t>
            </a:r>
            <a:endParaRPr lang="en-US" sz="1150" dirty="0"/>
          </a:p>
        </p:txBody>
      </p:sp>
      <p:sp>
        <p:nvSpPr>
          <p:cNvPr id="16" name="Text 10"/>
          <p:cNvSpPr/>
          <p:nvPr/>
        </p:nvSpPr>
        <p:spPr>
          <a:xfrm>
            <a:off x="713232" y="5925312"/>
            <a:ext cx="7406640" cy="270320"/>
          </a:xfrm>
          <a:prstGeom prst="rect">
            <a:avLst/>
          </a:prstGeom>
          <a:noFill/>
          <a:ln/>
        </p:spPr>
        <p:txBody>
          <a:bodyPr wrap="square" lIns="0" tIns="0" rIns="0" bIns="0" rtlCol="0" anchor="t"/>
          <a:lstStyle/>
          <a:p>
            <a:pPr algn="l" indent="0" marL="0">
              <a:lnSpc>
                <a:spcPts val="1553"/>
              </a:lnSpc>
              <a:buNone/>
            </a:pPr>
            <a:r>
              <a:rPr lang="en-US" sz="1150" dirty="0">
                <a:solidFill>
                  <a:srgbClr val="9BB0C6"/>
                </a:solidFill>
                <a:latin typeface="Be Vietnam Pro" pitchFamily="34" charset="0"/>
                <a:ea typeface="Be Vietnam Pro" pitchFamily="34" charset="-122"/>
                <a:cs typeface="Be Vietnam Pro" pitchFamily="34" charset="-120"/>
              </a:rPr>
              <a:t>Nhóm phát triển Ứng Phó Nhanh · Lũ Trẻ</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22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22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22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44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par>
                                <p:cTn id="29" presetID="10" presetClass="entr" presetSubtype="0" fill="hold" grpId="0" nodeType="withEffect">
                                  <p:stCondLst>
                                    <p:cond delay="66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02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BỐI CẢNH</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Lớn lên cùng những mùa bão lũ</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pic>
        <p:nvPicPr>
          <p:cNvPr id="12" name="Image 2" descr="anh/da-cat/boi-canh.jpg">    </p:cNvPr>
          <p:cNvPicPr>
            <a:picLocks noChangeAspect="1"/>
          </p:cNvPicPr>
          <p:nvPr/>
        </p:nvPicPr>
        <p:blipFill>
          <a:blip r:embed="rId3"/>
          <a:stretch>
            <a:fillRect/>
          </a:stretch>
        </p:blipFill>
        <p:spPr>
          <a:xfrm>
            <a:off x="713232" y="1964182"/>
            <a:ext cx="4846320" cy="2651760"/>
          </a:xfrm>
          <a:prstGeom prst="roundRect">
            <a:avLst>
              <a:gd name="adj" fmla="val 4138"/>
            </a:avLst>
          </a:prstGeom>
        </p:spPr>
      </p:pic>
      <p:sp>
        <p:nvSpPr>
          <p:cNvPr id="13" name="Shape 8"/>
          <p:cNvSpPr/>
          <p:nvPr/>
        </p:nvSpPr>
        <p:spPr>
          <a:xfrm>
            <a:off x="713232" y="1964182"/>
            <a:ext cx="4846320" cy="2651760"/>
          </a:xfrm>
          <a:prstGeom prst="roundRect">
            <a:avLst>
              <a:gd name="adj" fmla="val 4138"/>
            </a:avLst>
          </a:prstGeom>
          <a:solidFill>
            <a:srgbClr val="FFFFFF">
              <a:alpha val="0"/>
            </a:srgbClr>
          </a:solidFill>
          <a:ln w="12700">
            <a:solidFill>
              <a:srgbClr val="FFFFFF">
                <a:alpha val="18000"/>
              </a:srgbClr>
            </a:solidFill>
            <a:prstDash val="solid"/>
          </a:ln>
        </p:spPr>
      </p:sp>
      <p:sp>
        <p:nvSpPr>
          <p:cNvPr id="14" name="Text 9"/>
          <p:cNvSpPr/>
          <p:nvPr/>
        </p:nvSpPr>
        <p:spPr>
          <a:xfrm>
            <a:off x="713232" y="4689094"/>
            <a:ext cx="4937760" cy="253175"/>
          </a:xfrm>
          <a:prstGeom prst="rect">
            <a:avLst/>
          </a:prstGeom>
          <a:noFill/>
          <a:ln/>
        </p:spPr>
        <p:txBody>
          <a:bodyPr wrap="square" lIns="0" tIns="0" rIns="0" bIns="0" rtlCol="0" anchor="t"/>
          <a:lstStyle/>
          <a:p>
            <a:pPr algn="l" indent="0" marL="0">
              <a:lnSpc>
                <a:spcPts val="1418"/>
              </a:lnSpc>
              <a:buNone/>
            </a:pPr>
            <a:r>
              <a:rPr lang="en-US" sz="1050" dirty="0">
                <a:solidFill>
                  <a:srgbClr val="9BB0C6"/>
                </a:solidFill>
                <a:latin typeface="Be Vietnam Pro" pitchFamily="34" charset="0"/>
                <a:ea typeface="Be Vietnam Pro" pitchFamily="34" charset="-122"/>
                <a:cs typeface="Be Vietnam Pro" pitchFamily="34" charset="-120"/>
              </a:rPr>
              <a:t>Cả khu dân cư chìm trong nước lũ, nhìn từ trên cao.</a:t>
            </a:r>
            <a:endParaRPr lang="en-US" sz="1050" dirty="0"/>
          </a:p>
        </p:txBody>
      </p:sp>
      <p:sp>
        <p:nvSpPr>
          <p:cNvPr id="15" name="Shape 10"/>
          <p:cNvSpPr/>
          <p:nvPr/>
        </p:nvSpPr>
        <p:spPr>
          <a:xfrm>
            <a:off x="5907024" y="1964182"/>
            <a:ext cx="5571439" cy="864680"/>
          </a:xfrm>
          <a:prstGeom prst="roundRect">
            <a:avLst>
              <a:gd name="adj" fmla="val 12690"/>
            </a:avLst>
          </a:prstGeom>
          <a:solidFill>
            <a:srgbClr val="091B2D">
              <a:alpha val="66000"/>
            </a:srgbClr>
          </a:solidFill>
          <a:ln w="12700">
            <a:solidFill>
              <a:srgbClr val="FFFFFF">
                <a:alpha val="12000"/>
              </a:srgbClr>
            </a:solidFill>
            <a:prstDash val="solid"/>
          </a:ln>
        </p:spPr>
      </p:sp>
      <p:sp>
        <p:nvSpPr>
          <p:cNvPr id="16" name="Shape 11"/>
          <p:cNvSpPr/>
          <p:nvPr/>
        </p:nvSpPr>
        <p:spPr>
          <a:xfrm>
            <a:off x="5907024" y="1964182"/>
            <a:ext cx="50292" cy="864680"/>
          </a:xfrm>
          <a:prstGeom prst="roundRect">
            <a:avLst>
              <a:gd name="adj" fmla="val 54545"/>
            </a:avLst>
          </a:prstGeom>
          <a:solidFill>
            <a:srgbClr val="38BDF8">
              <a:alpha val="95000"/>
            </a:srgbClr>
          </a:solidFill>
          <a:ln/>
        </p:spPr>
      </p:sp>
      <p:sp>
        <p:nvSpPr>
          <p:cNvPr id="17" name="Text 12"/>
          <p:cNvSpPr/>
          <p:nvPr/>
        </p:nvSpPr>
        <p:spPr>
          <a:xfrm>
            <a:off x="6199632" y="2016919"/>
            <a:ext cx="5077663" cy="29540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Điều chúng em tận mắt chứng kiến</a:t>
            </a:r>
            <a:endParaRPr lang="en-US" sz="1400" dirty="0"/>
          </a:p>
        </p:txBody>
      </p:sp>
      <p:sp>
        <p:nvSpPr>
          <p:cNvPr id="18" name="Text 13"/>
          <p:cNvSpPr/>
          <p:nvPr/>
        </p:nvSpPr>
        <p:spPr>
          <a:xfrm>
            <a:off x="6199632" y="2330609"/>
            <a:ext cx="5077663" cy="482092"/>
          </a:xfrm>
          <a:prstGeom prst="rect">
            <a:avLst/>
          </a:prstGeom>
          <a:noFill/>
          <a:ln/>
        </p:spPr>
        <p:txBody>
          <a:bodyPr wrap="square" lIns="0" tIns="0" rIns="0" bIns="0" rtlCol="0" anchor="t"/>
          <a:lstStyle/>
          <a:p>
            <a:pPr algn="l" indent="0" marL="0">
              <a:lnSpc>
                <a:spcPts val="1610"/>
              </a:lnSpc>
              <a:buNone/>
            </a:pPr>
            <a:r>
              <a:rPr lang="en-US" sz="1150" dirty="0">
                <a:solidFill>
                  <a:srgbClr val="D9E6F2"/>
                </a:solidFill>
                <a:latin typeface="Be Vietnam Pro" pitchFamily="34" charset="0"/>
                <a:ea typeface="Be Vietnam Pro" pitchFamily="34" charset="-122"/>
                <a:cs typeface="Be Vietnam Pro" pitchFamily="34" charset="-120"/>
              </a:rPr>
              <a:t>Nhà dân bị ngập, tuyến đường bị chia cắt, nhiều khu vực bị cô lập</a:t>
            </a:r>
            <a:endParaRPr lang="en-US" sz="1150" dirty="0"/>
          </a:p>
          <a:p>
            <a:pPr algn="l" indent="0" marL="0">
              <a:lnSpc>
                <a:spcPts val="1610"/>
              </a:lnSpc>
              <a:buNone/>
            </a:pPr>
            <a:r>
              <a:rPr lang="en-US" sz="1150" dirty="0">
                <a:solidFill>
                  <a:srgbClr val="D9E6F2"/>
                </a:solidFill>
                <a:latin typeface="Be Vietnam Pro" pitchFamily="34" charset="0"/>
                <a:ea typeface="Be Vietnam Pro" pitchFamily="34" charset="-122"/>
                <a:cs typeface="Be Vietnam Pro" pitchFamily="34" charset="-120"/>
              </a:rPr>
              <a:t>hoàn toàn.</a:t>
            </a:r>
            <a:endParaRPr lang="en-US" sz="1150" dirty="0"/>
          </a:p>
        </p:txBody>
      </p:sp>
      <p:sp>
        <p:nvSpPr>
          <p:cNvPr id="19" name="Shape 14"/>
          <p:cNvSpPr/>
          <p:nvPr/>
        </p:nvSpPr>
        <p:spPr>
          <a:xfrm>
            <a:off x="5907024" y="2993454"/>
            <a:ext cx="5571439" cy="864680"/>
          </a:xfrm>
          <a:prstGeom prst="roundRect">
            <a:avLst>
              <a:gd name="adj" fmla="val 12690"/>
            </a:avLst>
          </a:prstGeom>
          <a:solidFill>
            <a:srgbClr val="091B2D">
              <a:alpha val="66000"/>
            </a:srgbClr>
          </a:solidFill>
          <a:ln w="12700">
            <a:solidFill>
              <a:srgbClr val="FFFFFF">
                <a:alpha val="12000"/>
              </a:srgbClr>
            </a:solidFill>
            <a:prstDash val="solid"/>
          </a:ln>
        </p:spPr>
      </p:sp>
      <p:sp>
        <p:nvSpPr>
          <p:cNvPr id="20" name="Shape 15"/>
          <p:cNvSpPr/>
          <p:nvPr/>
        </p:nvSpPr>
        <p:spPr>
          <a:xfrm>
            <a:off x="5907024" y="2993454"/>
            <a:ext cx="50292" cy="864680"/>
          </a:xfrm>
          <a:prstGeom prst="roundRect">
            <a:avLst>
              <a:gd name="adj" fmla="val 54545"/>
            </a:avLst>
          </a:prstGeom>
          <a:solidFill>
            <a:srgbClr val="FB923C">
              <a:alpha val="95000"/>
            </a:srgbClr>
          </a:solidFill>
          <a:ln/>
        </p:spPr>
      </p:sp>
      <p:sp>
        <p:nvSpPr>
          <p:cNvPr id="21" name="Text 16"/>
          <p:cNvSpPr/>
          <p:nvPr/>
        </p:nvSpPr>
        <p:spPr>
          <a:xfrm>
            <a:off x="6199632" y="3046190"/>
            <a:ext cx="5077663" cy="29540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Những người ở tuyến đầu</a:t>
            </a:r>
            <a:endParaRPr lang="en-US" sz="1400" dirty="0"/>
          </a:p>
        </p:txBody>
      </p:sp>
      <p:sp>
        <p:nvSpPr>
          <p:cNvPr id="22" name="Text 17"/>
          <p:cNvSpPr/>
          <p:nvPr/>
        </p:nvSpPr>
        <p:spPr>
          <a:xfrm>
            <a:off x="6199632" y="3359880"/>
            <a:ext cx="5077663" cy="482092"/>
          </a:xfrm>
          <a:prstGeom prst="rect">
            <a:avLst/>
          </a:prstGeom>
          <a:noFill/>
          <a:ln/>
        </p:spPr>
        <p:txBody>
          <a:bodyPr wrap="square" lIns="0" tIns="0" rIns="0" bIns="0" rtlCol="0" anchor="t"/>
          <a:lstStyle/>
          <a:p>
            <a:pPr algn="l" indent="0" marL="0">
              <a:lnSpc>
                <a:spcPts val="1610"/>
              </a:lnSpc>
              <a:buNone/>
            </a:pPr>
            <a:r>
              <a:rPr lang="en-US" sz="1150" dirty="0">
                <a:solidFill>
                  <a:srgbClr val="D9E6F2"/>
                </a:solidFill>
                <a:latin typeface="Be Vietnam Pro" pitchFamily="34" charset="0"/>
                <a:ea typeface="Be Vietnam Pro" pitchFamily="34" charset="-122"/>
                <a:cs typeface="Be Vietnam Pro" pitchFamily="34" charset="-120"/>
              </a:rPr>
              <a:t>Lực lượng cứu hộ làm việc liên tục ngày đêm để đưa người dân đến nơi</a:t>
            </a:r>
            <a:endParaRPr lang="en-US" sz="1150" dirty="0"/>
          </a:p>
          <a:p>
            <a:pPr algn="l" indent="0" marL="0">
              <a:lnSpc>
                <a:spcPts val="1610"/>
              </a:lnSpc>
              <a:buNone/>
            </a:pPr>
            <a:r>
              <a:rPr lang="en-US" sz="1150" dirty="0">
                <a:solidFill>
                  <a:srgbClr val="D9E6F2"/>
                </a:solidFill>
                <a:latin typeface="Be Vietnam Pro" pitchFamily="34" charset="0"/>
                <a:ea typeface="Be Vietnam Pro" pitchFamily="34" charset="-122"/>
                <a:cs typeface="Be Vietnam Pro" pitchFamily="34" charset="-120"/>
              </a:rPr>
              <a:t>an toàn.</a:t>
            </a:r>
            <a:endParaRPr lang="en-US" sz="1150" dirty="0"/>
          </a:p>
        </p:txBody>
      </p:sp>
      <p:sp>
        <p:nvSpPr>
          <p:cNvPr id="23" name="Shape 18"/>
          <p:cNvSpPr/>
          <p:nvPr/>
        </p:nvSpPr>
        <p:spPr>
          <a:xfrm>
            <a:off x="5907024" y="4022725"/>
            <a:ext cx="5571439" cy="864680"/>
          </a:xfrm>
          <a:prstGeom prst="roundRect">
            <a:avLst>
              <a:gd name="adj" fmla="val 12690"/>
            </a:avLst>
          </a:prstGeom>
          <a:solidFill>
            <a:srgbClr val="091B2D">
              <a:alpha val="66000"/>
            </a:srgbClr>
          </a:solidFill>
          <a:ln w="12700">
            <a:solidFill>
              <a:srgbClr val="FFFFFF">
                <a:alpha val="12000"/>
              </a:srgbClr>
            </a:solidFill>
            <a:prstDash val="solid"/>
          </a:ln>
        </p:spPr>
      </p:sp>
      <p:sp>
        <p:nvSpPr>
          <p:cNvPr id="24" name="Shape 19"/>
          <p:cNvSpPr/>
          <p:nvPr/>
        </p:nvSpPr>
        <p:spPr>
          <a:xfrm>
            <a:off x="5907024" y="4022725"/>
            <a:ext cx="50292" cy="864680"/>
          </a:xfrm>
          <a:prstGeom prst="roundRect">
            <a:avLst>
              <a:gd name="adj" fmla="val 54545"/>
            </a:avLst>
          </a:prstGeom>
          <a:solidFill>
            <a:srgbClr val="22C55E">
              <a:alpha val="95000"/>
            </a:srgbClr>
          </a:solidFill>
          <a:ln/>
        </p:spPr>
      </p:sp>
      <p:sp>
        <p:nvSpPr>
          <p:cNvPr id="25" name="Text 20"/>
          <p:cNvSpPr/>
          <p:nvPr/>
        </p:nvSpPr>
        <p:spPr>
          <a:xfrm>
            <a:off x="6199632" y="4075462"/>
            <a:ext cx="5077663" cy="29540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Trải nghiệm thực chiến</a:t>
            </a:r>
            <a:endParaRPr lang="en-US" sz="1400" dirty="0"/>
          </a:p>
        </p:txBody>
      </p:sp>
      <p:sp>
        <p:nvSpPr>
          <p:cNvPr id="26" name="Text 21"/>
          <p:cNvSpPr/>
          <p:nvPr/>
        </p:nvSpPr>
        <p:spPr>
          <a:xfrm>
            <a:off x="6199632" y="4389152"/>
            <a:ext cx="5077663" cy="482092"/>
          </a:xfrm>
          <a:prstGeom prst="rect">
            <a:avLst/>
          </a:prstGeom>
          <a:noFill/>
          <a:ln/>
        </p:spPr>
        <p:txBody>
          <a:bodyPr wrap="square" lIns="0" tIns="0" rIns="0" bIns="0" rtlCol="0" anchor="t"/>
          <a:lstStyle/>
          <a:p>
            <a:pPr algn="l" indent="0" marL="0">
              <a:lnSpc>
                <a:spcPts val="1610"/>
              </a:lnSpc>
              <a:buNone/>
            </a:pPr>
            <a:r>
              <a:rPr lang="en-US" sz="1150" dirty="0">
                <a:solidFill>
                  <a:srgbClr val="D9E6F2"/>
                </a:solidFill>
                <a:latin typeface="Be Vietnam Pro" pitchFamily="34" charset="0"/>
                <a:ea typeface="Be Vietnam Pro" pitchFamily="34" charset="-122"/>
                <a:cs typeface="Be Vietnam Pro" pitchFamily="34" charset="-120"/>
              </a:rPr>
              <a:t>Thành viên nhóm là chiến sĩ Công an nhân dân, trực tiếp tham gia cứu</a:t>
            </a:r>
            <a:endParaRPr lang="en-US" sz="1150" dirty="0"/>
          </a:p>
          <a:p>
            <a:pPr algn="l" indent="0" marL="0">
              <a:lnSpc>
                <a:spcPts val="1610"/>
              </a:lnSpc>
              <a:buNone/>
            </a:pPr>
            <a:r>
              <a:rPr lang="en-US" sz="1150" dirty="0">
                <a:solidFill>
                  <a:srgbClr val="D9E6F2"/>
                </a:solidFill>
                <a:latin typeface="Be Vietnam Pro" pitchFamily="34" charset="0"/>
                <a:ea typeface="Be Vietnam Pro" pitchFamily="34" charset="-122"/>
                <a:cs typeface="Be Vietnam Pro" pitchFamily="34" charset="-120"/>
              </a:rPr>
              <a:t>hộ đợt bão lũ năm 2025.</a:t>
            </a:r>
            <a:endParaRPr lang="en-US" sz="1150" dirty="0"/>
          </a:p>
        </p:txBody>
      </p:sp>
      <p:sp>
        <p:nvSpPr>
          <p:cNvPr id="27" name="Shape 22"/>
          <p:cNvSpPr/>
          <p:nvPr/>
        </p:nvSpPr>
        <p:spPr>
          <a:xfrm>
            <a:off x="713232" y="5125148"/>
            <a:ext cx="10765231" cy="822960"/>
          </a:xfrm>
          <a:prstGeom prst="roundRect">
            <a:avLst>
              <a:gd name="adj" fmla="val 13333"/>
            </a:avLst>
          </a:prstGeom>
          <a:solidFill>
            <a:srgbClr val="22C55E">
              <a:alpha val="12000"/>
            </a:srgbClr>
          </a:solidFill>
          <a:ln w="12700">
            <a:solidFill>
              <a:srgbClr val="22C55E">
                <a:alpha val="45000"/>
              </a:srgbClr>
            </a:solidFill>
            <a:prstDash val="solid"/>
          </a:ln>
        </p:spPr>
      </p:sp>
      <p:sp>
        <p:nvSpPr>
          <p:cNvPr id="28" name="Shape 23"/>
          <p:cNvSpPr/>
          <p:nvPr/>
        </p:nvSpPr>
        <p:spPr>
          <a:xfrm>
            <a:off x="713232" y="5125148"/>
            <a:ext cx="54864" cy="822960"/>
          </a:xfrm>
          <a:prstGeom prst="roundRect">
            <a:avLst>
              <a:gd name="adj" fmla="val 50000"/>
            </a:avLst>
          </a:prstGeom>
          <a:solidFill>
            <a:srgbClr val="22C55E"/>
          </a:solidFill>
          <a:ln/>
        </p:spPr>
      </p:sp>
      <p:sp>
        <p:nvSpPr>
          <p:cNvPr id="29" name="Text 24"/>
          <p:cNvSpPr/>
          <p:nvPr/>
        </p:nvSpPr>
        <p:spPr>
          <a:xfrm>
            <a:off x="1097280" y="5280597"/>
            <a:ext cx="10125151" cy="553212"/>
          </a:xfrm>
          <a:prstGeom prst="rect">
            <a:avLst/>
          </a:prstGeom>
          <a:noFill/>
          <a:ln/>
        </p:spPr>
        <p:txBody>
          <a:bodyPr wrap="square" lIns="0" tIns="0" rIns="0" bIns="0" rtlCol="0" anchor="t"/>
          <a:lstStyle/>
          <a:p>
            <a:pPr algn="l" indent="0" marL="0">
              <a:lnSpc>
                <a:spcPts val="1890"/>
              </a:lnSpc>
              <a:buNone/>
            </a:pPr>
            <a:r>
              <a:rPr lang="en-US" sz="1350" b="1" dirty="0">
                <a:solidFill>
                  <a:srgbClr val="FFFFFF"/>
                </a:solidFill>
                <a:latin typeface="Be Vietnam Pro" pitchFamily="34" charset="0"/>
                <a:ea typeface="Be Vietnam Pro" pitchFamily="34" charset="-122"/>
                <a:cs typeface="Be Vietnam Pro" pitchFamily="34" charset="-120"/>
              </a:rPr>
              <a:t>Chúng em trăn trở: liệu công nghệ và AI có thể giảm bớt gánh nặng cho những người đang trực tiếp điều phối cứu hộ?</a:t>
            </a:r>
            <a:endParaRPr lang="en-US" sz="1350" dirty="0"/>
          </a:p>
          <a:p>
            <a:pPr algn="l" indent="0" marL="0">
              <a:lnSpc>
                <a:spcPts val="1890"/>
              </a:lnSpc>
              <a:buNone/>
            </a:pPr>
            <a:r>
              <a:rPr lang="en-US" sz="1350" b="1" dirty="0">
                <a:solidFill>
                  <a:srgbClr val="FFFFFF"/>
                </a:solidFill>
                <a:latin typeface="Be Vietnam Pro" pitchFamily="34" charset="0"/>
                <a:ea typeface="Be Vietnam Pro" pitchFamily="34" charset="-122"/>
                <a:cs typeface="Be Vietnam Pro" pitchFamily="34" charset="-120"/>
              </a:rPr>
              <a:t>Đó là lý do Ứng Phó Nhanh ra đời.</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66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66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fill="hold" grpId="0" nodeType="withEffect">
                                  <p:stCondLst>
                                    <p:cond delay="66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88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88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88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88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110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11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110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110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withEffect">
                                  <p:stCondLst>
                                    <p:cond delay="132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132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withEffect">
                                  <p:stCondLst>
                                    <p:cond delay="132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03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ĐỢT MƯA LŨ THÁNG 11/2025</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Sông Ba và sông Kỳ Lộ vượt đỉnh lũ lịch sử</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Text 8"/>
          <p:cNvSpPr/>
          <p:nvPr/>
        </p:nvSpPr>
        <p:spPr>
          <a:xfrm>
            <a:off x="713232" y="1945894"/>
            <a:ext cx="10424160" cy="322072"/>
          </a:xfrm>
          <a:prstGeom prst="rect">
            <a:avLst/>
          </a:prstGeom>
          <a:noFill/>
          <a:ln/>
        </p:spPr>
        <p:txBody>
          <a:bodyPr wrap="square" lIns="0" tIns="0" rIns="0" bIns="0" rtlCol="0" anchor="t"/>
          <a:lstStyle/>
          <a:p>
            <a:pPr algn="l" indent="0" marL="0">
              <a:lnSpc>
                <a:spcPts val="1960"/>
              </a:lnSpc>
              <a:buNone/>
            </a:pPr>
            <a:r>
              <a:rPr lang="en-US" sz="1400" dirty="0">
                <a:solidFill>
                  <a:srgbClr val="9BB0C6"/>
                </a:solidFill>
                <a:latin typeface="Be Vietnam Pro" pitchFamily="34" charset="0"/>
                <a:ea typeface="Be Vietnam Pro" pitchFamily="34" charset="-122"/>
                <a:cs typeface="Be Vietnam Pro" pitchFamily="34" charset="-120"/>
              </a:rPr>
              <a:t>Mưa phổ biến 400 – 600 mm, có nơi trên 800 mm, đợt thiên tai trực tiếp thúc đẩy nhóm em bắt tay vào làm dự án này.</a:t>
            </a:r>
            <a:endParaRPr lang="en-US" sz="1400" dirty="0"/>
          </a:p>
        </p:txBody>
      </p:sp>
      <p:sp>
        <p:nvSpPr>
          <p:cNvPr id="13" name="Shape 9"/>
          <p:cNvSpPr/>
          <p:nvPr/>
        </p:nvSpPr>
        <p:spPr>
          <a:xfrm>
            <a:off x="713232" y="2578862"/>
            <a:ext cx="2485568" cy="1920240"/>
          </a:xfrm>
          <a:prstGeom prst="roundRect">
            <a:avLst>
              <a:gd name="adj" fmla="val 5714"/>
            </a:avLst>
          </a:prstGeom>
          <a:solidFill>
            <a:srgbClr val="091B2D">
              <a:alpha val="66000"/>
            </a:srgbClr>
          </a:solidFill>
          <a:ln w="12700">
            <a:solidFill>
              <a:srgbClr val="FFFFFF">
                <a:alpha val="12000"/>
              </a:srgbClr>
            </a:solidFill>
            <a:prstDash val="solid"/>
          </a:ln>
        </p:spPr>
      </p:sp>
      <p:sp>
        <p:nvSpPr>
          <p:cNvPr id="14" name="Shape 10"/>
          <p:cNvSpPr/>
          <p:nvPr/>
        </p:nvSpPr>
        <p:spPr>
          <a:xfrm>
            <a:off x="713232" y="2578862"/>
            <a:ext cx="50292" cy="1920240"/>
          </a:xfrm>
          <a:prstGeom prst="roundRect">
            <a:avLst>
              <a:gd name="adj" fmla="val 54545"/>
            </a:avLst>
          </a:prstGeom>
          <a:solidFill>
            <a:srgbClr val="F87171">
              <a:alpha val="95000"/>
            </a:srgbClr>
          </a:solidFill>
          <a:ln/>
        </p:spPr>
      </p:sp>
      <p:sp>
        <p:nvSpPr>
          <p:cNvPr id="15" name="Text 11"/>
          <p:cNvSpPr/>
          <p:nvPr/>
        </p:nvSpPr>
        <p:spPr>
          <a:xfrm>
            <a:off x="1005840" y="2798318"/>
            <a:ext cx="1991792" cy="548132"/>
          </a:xfrm>
          <a:prstGeom prst="rect">
            <a:avLst/>
          </a:prstGeom>
          <a:noFill/>
          <a:ln/>
        </p:spPr>
        <p:txBody>
          <a:bodyPr wrap="square" lIns="0" tIns="0" rIns="0" bIns="0" rtlCol="0" anchor="t"/>
          <a:lstStyle/>
          <a:p>
            <a:pPr algn="l" indent="0" marL="0">
              <a:lnSpc>
                <a:spcPts val="3740"/>
              </a:lnSpc>
              <a:buNone/>
            </a:pPr>
            <a:r>
              <a:rPr lang="en-US" sz="3400" b="1" dirty="0">
                <a:solidFill>
                  <a:srgbClr val="F87171"/>
                </a:solidFill>
                <a:latin typeface="Be Vietnam Pro" pitchFamily="34" charset="0"/>
                <a:ea typeface="Be Vietnam Pro" pitchFamily="34" charset="-122"/>
                <a:cs typeface="Be Vietnam Pro" pitchFamily="34" charset="-120"/>
              </a:rPr>
              <a:t>19</a:t>
            </a:r>
            <a:endParaRPr lang="en-US" sz="3400" dirty="0"/>
          </a:p>
        </p:txBody>
      </p:sp>
      <p:sp>
        <p:nvSpPr>
          <p:cNvPr id="16" name="Text 12"/>
          <p:cNvSpPr/>
          <p:nvPr/>
        </p:nvSpPr>
        <p:spPr>
          <a:xfrm>
            <a:off x="1005840" y="3401822"/>
            <a:ext cx="1991792" cy="313182"/>
          </a:xfrm>
          <a:prstGeom prst="rect">
            <a:avLst/>
          </a:prstGeom>
          <a:noFill/>
          <a:ln/>
        </p:spPr>
        <p:txBody>
          <a:bodyPr wrap="square" lIns="0" tIns="0" rIns="0" bIns="0" rtlCol="0" anchor="t"/>
          <a:lstStyle/>
          <a:p>
            <a:pPr algn="l" indent="0" marL="0">
              <a:lnSpc>
                <a:spcPts val="1890"/>
              </a:lnSpc>
              <a:buNone/>
            </a:pPr>
            <a:r>
              <a:rPr lang="en-US" sz="1400" b="1" dirty="0">
                <a:solidFill>
                  <a:srgbClr val="FFFFFF"/>
                </a:solidFill>
                <a:latin typeface="Be Vietnam Pro" pitchFamily="34" charset="0"/>
                <a:ea typeface="Be Vietnam Pro" pitchFamily="34" charset="-122"/>
                <a:cs typeface="Be Vietnam Pro" pitchFamily="34" charset="-120"/>
              </a:rPr>
              <a:t>người chết</a:t>
            </a:r>
            <a:endParaRPr lang="en-US" sz="1400" dirty="0"/>
          </a:p>
        </p:txBody>
      </p:sp>
      <p:sp>
        <p:nvSpPr>
          <p:cNvPr id="17" name="Text 13"/>
          <p:cNvSpPr/>
          <p:nvPr/>
        </p:nvSpPr>
        <p:spPr>
          <a:xfrm>
            <a:off x="1005840" y="3804158"/>
            <a:ext cx="1991792" cy="482092"/>
          </a:xfrm>
          <a:prstGeom prst="rect">
            <a:avLst/>
          </a:prstGeom>
          <a:noFill/>
          <a:ln/>
        </p:spPr>
        <p:txBody>
          <a:bodyPr wrap="square" lIns="0" tIns="0" rIns="0" bIns="0" rtlCol="0" anchor="t"/>
          <a:lstStyle/>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Cùng 6 người mất tích,</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tính đến ngày 20/11/2025.</a:t>
            </a:r>
            <a:endParaRPr lang="en-US" sz="1150" dirty="0"/>
          </a:p>
        </p:txBody>
      </p:sp>
      <p:sp>
        <p:nvSpPr>
          <p:cNvPr id="18" name="Shape 14"/>
          <p:cNvSpPr/>
          <p:nvPr/>
        </p:nvSpPr>
        <p:spPr>
          <a:xfrm>
            <a:off x="3473120" y="2578862"/>
            <a:ext cx="2485568" cy="1920240"/>
          </a:xfrm>
          <a:prstGeom prst="roundRect">
            <a:avLst>
              <a:gd name="adj" fmla="val 5714"/>
            </a:avLst>
          </a:prstGeom>
          <a:solidFill>
            <a:srgbClr val="091B2D">
              <a:alpha val="66000"/>
            </a:srgbClr>
          </a:solidFill>
          <a:ln w="12700">
            <a:solidFill>
              <a:srgbClr val="FFFFFF">
                <a:alpha val="12000"/>
              </a:srgbClr>
            </a:solidFill>
            <a:prstDash val="solid"/>
          </a:ln>
        </p:spPr>
      </p:sp>
      <p:sp>
        <p:nvSpPr>
          <p:cNvPr id="19" name="Shape 15"/>
          <p:cNvSpPr/>
          <p:nvPr/>
        </p:nvSpPr>
        <p:spPr>
          <a:xfrm>
            <a:off x="3473120" y="2578862"/>
            <a:ext cx="50292" cy="1920240"/>
          </a:xfrm>
          <a:prstGeom prst="roundRect">
            <a:avLst>
              <a:gd name="adj" fmla="val 54545"/>
            </a:avLst>
          </a:prstGeom>
          <a:solidFill>
            <a:srgbClr val="38BDF8">
              <a:alpha val="95000"/>
            </a:srgbClr>
          </a:solidFill>
          <a:ln/>
        </p:spPr>
      </p:sp>
      <p:sp>
        <p:nvSpPr>
          <p:cNvPr id="20" name="Text 16"/>
          <p:cNvSpPr/>
          <p:nvPr/>
        </p:nvSpPr>
        <p:spPr>
          <a:xfrm>
            <a:off x="3765728" y="2798318"/>
            <a:ext cx="1991792" cy="548132"/>
          </a:xfrm>
          <a:prstGeom prst="rect">
            <a:avLst/>
          </a:prstGeom>
          <a:noFill/>
          <a:ln/>
        </p:spPr>
        <p:txBody>
          <a:bodyPr wrap="square" lIns="0" tIns="0" rIns="0" bIns="0" rtlCol="0" anchor="t"/>
          <a:lstStyle/>
          <a:p>
            <a:pPr algn="l" indent="0" marL="0">
              <a:lnSpc>
                <a:spcPts val="3740"/>
              </a:lnSpc>
              <a:buNone/>
            </a:pPr>
            <a:r>
              <a:rPr lang="en-US" sz="3400" b="1" dirty="0">
                <a:solidFill>
                  <a:srgbClr val="38BDF8"/>
                </a:solidFill>
                <a:latin typeface="Be Vietnam Pro" pitchFamily="34" charset="0"/>
                <a:ea typeface="Be Vietnam Pro" pitchFamily="34" charset="-122"/>
                <a:cs typeface="Be Vietnam Pro" pitchFamily="34" charset="-120"/>
              </a:rPr>
              <a:t>85.700+</a:t>
            </a:r>
            <a:endParaRPr lang="en-US" sz="3400" dirty="0"/>
          </a:p>
        </p:txBody>
      </p:sp>
      <p:sp>
        <p:nvSpPr>
          <p:cNvPr id="21" name="Text 17"/>
          <p:cNvSpPr/>
          <p:nvPr/>
        </p:nvSpPr>
        <p:spPr>
          <a:xfrm>
            <a:off x="3765728" y="3401822"/>
            <a:ext cx="1991792" cy="313182"/>
          </a:xfrm>
          <a:prstGeom prst="rect">
            <a:avLst/>
          </a:prstGeom>
          <a:noFill/>
          <a:ln/>
        </p:spPr>
        <p:txBody>
          <a:bodyPr wrap="square" lIns="0" tIns="0" rIns="0" bIns="0" rtlCol="0" anchor="t"/>
          <a:lstStyle/>
          <a:p>
            <a:pPr algn="l" indent="0" marL="0">
              <a:lnSpc>
                <a:spcPts val="1890"/>
              </a:lnSpc>
              <a:buNone/>
            </a:pPr>
            <a:r>
              <a:rPr lang="en-US" sz="1400" b="1" dirty="0">
                <a:solidFill>
                  <a:srgbClr val="FFFFFF"/>
                </a:solidFill>
                <a:latin typeface="Be Vietnam Pro" pitchFamily="34" charset="0"/>
                <a:ea typeface="Be Vietnam Pro" pitchFamily="34" charset="-122"/>
                <a:cs typeface="Be Vietnam Pro" pitchFamily="34" charset="-120"/>
              </a:rPr>
              <a:t>lượt nhà bị ngập</a:t>
            </a:r>
            <a:endParaRPr lang="en-US" sz="1400" dirty="0"/>
          </a:p>
        </p:txBody>
      </p:sp>
      <p:sp>
        <p:nvSpPr>
          <p:cNvPr id="22" name="Text 18"/>
          <p:cNvSpPr/>
          <p:nvPr/>
        </p:nvSpPr>
        <p:spPr>
          <a:xfrm>
            <a:off x="3765728" y="3804158"/>
            <a:ext cx="1991792" cy="686562"/>
          </a:xfrm>
          <a:prstGeom prst="rect">
            <a:avLst/>
          </a:prstGeom>
          <a:noFill/>
          <a:ln/>
        </p:spPr>
        <p:txBody>
          <a:bodyPr wrap="square" lIns="0" tIns="0" rIns="0" bIns="0" rtlCol="0" anchor="t"/>
          <a:lstStyle/>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Nước lên nhanh, nhiều khu</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dân cư ngập sâu nhiều</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ngày.</a:t>
            </a:r>
            <a:endParaRPr lang="en-US" sz="1150" dirty="0"/>
          </a:p>
        </p:txBody>
      </p:sp>
      <p:sp>
        <p:nvSpPr>
          <p:cNvPr id="23" name="Shape 19"/>
          <p:cNvSpPr/>
          <p:nvPr/>
        </p:nvSpPr>
        <p:spPr>
          <a:xfrm>
            <a:off x="6233008" y="2578862"/>
            <a:ext cx="2485568" cy="1920240"/>
          </a:xfrm>
          <a:prstGeom prst="roundRect">
            <a:avLst>
              <a:gd name="adj" fmla="val 5714"/>
            </a:avLst>
          </a:prstGeom>
          <a:solidFill>
            <a:srgbClr val="091B2D">
              <a:alpha val="66000"/>
            </a:srgbClr>
          </a:solidFill>
          <a:ln w="12700">
            <a:solidFill>
              <a:srgbClr val="FFFFFF">
                <a:alpha val="12000"/>
              </a:srgbClr>
            </a:solidFill>
            <a:prstDash val="solid"/>
          </a:ln>
        </p:spPr>
      </p:sp>
      <p:sp>
        <p:nvSpPr>
          <p:cNvPr id="24" name="Shape 20"/>
          <p:cNvSpPr/>
          <p:nvPr/>
        </p:nvSpPr>
        <p:spPr>
          <a:xfrm>
            <a:off x="6233008" y="2578862"/>
            <a:ext cx="50292" cy="1920240"/>
          </a:xfrm>
          <a:prstGeom prst="roundRect">
            <a:avLst>
              <a:gd name="adj" fmla="val 54545"/>
            </a:avLst>
          </a:prstGeom>
          <a:solidFill>
            <a:srgbClr val="FB923C">
              <a:alpha val="95000"/>
            </a:srgbClr>
          </a:solidFill>
          <a:ln/>
        </p:spPr>
      </p:sp>
      <p:sp>
        <p:nvSpPr>
          <p:cNvPr id="25" name="Text 21"/>
          <p:cNvSpPr/>
          <p:nvPr/>
        </p:nvSpPr>
        <p:spPr>
          <a:xfrm>
            <a:off x="6525616" y="2798318"/>
            <a:ext cx="1991792" cy="548132"/>
          </a:xfrm>
          <a:prstGeom prst="rect">
            <a:avLst/>
          </a:prstGeom>
          <a:noFill/>
          <a:ln/>
        </p:spPr>
        <p:txBody>
          <a:bodyPr wrap="square" lIns="0" tIns="0" rIns="0" bIns="0" rtlCol="0" anchor="t"/>
          <a:lstStyle/>
          <a:p>
            <a:pPr algn="l" indent="0" marL="0">
              <a:lnSpc>
                <a:spcPts val="3740"/>
              </a:lnSpc>
              <a:buNone/>
            </a:pPr>
            <a:r>
              <a:rPr lang="en-US" sz="3400" b="1" dirty="0">
                <a:solidFill>
                  <a:srgbClr val="FB923C"/>
                </a:solidFill>
                <a:latin typeface="Be Vietnam Pro" pitchFamily="34" charset="0"/>
                <a:ea typeface="Be Vietnam Pro" pitchFamily="34" charset="-122"/>
                <a:cs typeface="Be Vietnam Pro" pitchFamily="34" charset="-120"/>
              </a:rPr>
              <a:t>12.800+</a:t>
            </a:r>
            <a:endParaRPr lang="en-US" sz="3400" dirty="0"/>
          </a:p>
        </p:txBody>
      </p:sp>
      <p:sp>
        <p:nvSpPr>
          <p:cNvPr id="26" name="Text 22"/>
          <p:cNvSpPr/>
          <p:nvPr/>
        </p:nvSpPr>
        <p:spPr>
          <a:xfrm>
            <a:off x="6525616" y="3401822"/>
            <a:ext cx="1991792" cy="313182"/>
          </a:xfrm>
          <a:prstGeom prst="rect">
            <a:avLst/>
          </a:prstGeom>
          <a:noFill/>
          <a:ln/>
        </p:spPr>
        <p:txBody>
          <a:bodyPr wrap="square" lIns="0" tIns="0" rIns="0" bIns="0" rtlCol="0" anchor="t"/>
          <a:lstStyle/>
          <a:p>
            <a:pPr algn="l" indent="0" marL="0">
              <a:lnSpc>
                <a:spcPts val="1890"/>
              </a:lnSpc>
              <a:buNone/>
            </a:pPr>
            <a:r>
              <a:rPr lang="en-US" sz="1400" b="1" dirty="0">
                <a:solidFill>
                  <a:srgbClr val="FFFFFF"/>
                </a:solidFill>
                <a:latin typeface="Be Vietnam Pro" pitchFamily="34" charset="0"/>
                <a:ea typeface="Be Vietnam Pro" pitchFamily="34" charset="-122"/>
                <a:cs typeface="Be Vietnam Pro" pitchFamily="34" charset="-120"/>
              </a:rPr>
              <a:t>hộ bị cô lập</a:t>
            </a:r>
            <a:endParaRPr lang="en-US" sz="1400" dirty="0"/>
          </a:p>
        </p:txBody>
      </p:sp>
      <p:sp>
        <p:nvSpPr>
          <p:cNvPr id="27" name="Text 23"/>
          <p:cNvSpPr/>
          <p:nvPr/>
        </p:nvSpPr>
        <p:spPr>
          <a:xfrm>
            <a:off x="6525616" y="3804158"/>
            <a:ext cx="1991792" cy="686562"/>
          </a:xfrm>
          <a:prstGeom prst="rect">
            <a:avLst/>
          </a:prstGeom>
          <a:noFill/>
          <a:ln/>
        </p:spPr>
        <p:txBody>
          <a:bodyPr wrap="square" lIns="0" tIns="0" rIns="0" bIns="0" rtlCol="0" anchor="t"/>
          <a:lstStyle/>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Đường bị chia cắt, vật tư</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cứu trợ không vào được</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bằng đường bộ.</a:t>
            </a:r>
            <a:endParaRPr lang="en-US" sz="1150" dirty="0"/>
          </a:p>
        </p:txBody>
      </p:sp>
      <p:sp>
        <p:nvSpPr>
          <p:cNvPr id="28" name="Shape 24"/>
          <p:cNvSpPr/>
          <p:nvPr/>
        </p:nvSpPr>
        <p:spPr>
          <a:xfrm>
            <a:off x="8992895" y="2578862"/>
            <a:ext cx="2485568" cy="1920240"/>
          </a:xfrm>
          <a:prstGeom prst="roundRect">
            <a:avLst>
              <a:gd name="adj" fmla="val 5714"/>
            </a:avLst>
          </a:prstGeom>
          <a:solidFill>
            <a:srgbClr val="091B2D">
              <a:alpha val="66000"/>
            </a:srgbClr>
          </a:solidFill>
          <a:ln w="12700">
            <a:solidFill>
              <a:srgbClr val="FFFFFF">
                <a:alpha val="12000"/>
              </a:srgbClr>
            </a:solidFill>
            <a:prstDash val="solid"/>
          </a:ln>
        </p:spPr>
      </p:sp>
      <p:sp>
        <p:nvSpPr>
          <p:cNvPr id="29" name="Shape 25"/>
          <p:cNvSpPr/>
          <p:nvPr/>
        </p:nvSpPr>
        <p:spPr>
          <a:xfrm>
            <a:off x="8992895" y="2578862"/>
            <a:ext cx="50292" cy="1920240"/>
          </a:xfrm>
          <a:prstGeom prst="roundRect">
            <a:avLst>
              <a:gd name="adj" fmla="val 54545"/>
            </a:avLst>
          </a:prstGeom>
          <a:solidFill>
            <a:srgbClr val="FBBF24">
              <a:alpha val="95000"/>
            </a:srgbClr>
          </a:solidFill>
          <a:ln/>
        </p:spPr>
      </p:sp>
      <p:sp>
        <p:nvSpPr>
          <p:cNvPr id="30" name="Text 26"/>
          <p:cNvSpPr/>
          <p:nvPr/>
        </p:nvSpPr>
        <p:spPr>
          <a:xfrm>
            <a:off x="9285503" y="2798318"/>
            <a:ext cx="1991792" cy="548132"/>
          </a:xfrm>
          <a:prstGeom prst="rect">
            <a:avLst/>
          </a:prstGeom>
          <a:noFill/>
          <a:ln/>
        </p:spPr>
        <p:txBody>
          <a:bodyPr wrap="square" lIns="0" tIns="0" rIns="0" bIns="0" rtlCol="0" anchor="t"/>
          <a:lstStyle/>
          <a:p>
            <a:pPr algn="l" indent="0" marL="0">
              <a:lnSpc>
                <a:spcPts val="3740"/>
              </a:lnSpc>
              <a:buNone/>
            </a:pPr>
            <a:r>
              <a:rPr lang="en-US" sz="3400" b="1" dirty="0">
                <a:solidFill>
                  <a:srgbClr val="FBBF24"/>
                </a:solidFill>
                <a:latin typeface="Be Vietnam Pro" pitchFamily="34" charset="0"/>
                <a:ea typeface="Be Vietnam Pro" pitchFamily="34" charset="-122"/>
                <a:cs typeface="Be Vietnam Pro" pitchFamily="34" charset="-120"/>
              </a:rPr>
              <a:t>40</a:t>
            </a:r>
            <a:endParaRPr lang="en-US" sz="3400" dirty="0"/>
          </a:p>
        </p:txBody>
      </p:sp>
      <p:sp>
        <p:nvSpPr>
          <p:cNvPr id="31" name="Text 27"/>
          <p:cNvSpPr/>
          <p:nvPr/>
        </p:nvSpPr>
        <p:spPr>
          <a:xfrm>
            <a:off x="9285503" y="3401822"/>
            <a:ext cx="1991792" cy="313182"/>
          </a:xfrm>
          <a:prstGeom prst="rect">
            <a:avLst/>
          </a:prstGeom>
          <a:noFill/>
          <a:ln/>
        </p:spPr>
        <p:txBody>
          <a:bodyPr wrap="square" lIns="0" tIns="0" rIns="0" bIns="0" rtlCol="0" anchor="t"/>
          <a:lstStyle/>
          <a:p>
            <a:pPr algn="l" indent="0" marL="0">
              <a:lnSpc>
                <a:spcPts val="1890"/>
              </a:lnSpc>
              <a:buNone/>
            </a:pPr>
            <a:r>
              <a:rPr lang="en-US" sz="1400" b="1" dirty="0">
                <a:solidFill>
                  <a:srgbClr val="FFFFFF"/>
                </a:solidFill>
                <a:latin typeface="Be Vietnam Pro" pitchFamily="34" charset="0"/>
                <a:ea typeface="Be Vietnam Pro" pitchFamily="34" charset="-122"/>
                <a:cs typeface="Be Vietnam Pro" pitchFamily="34" charset="-120"/>
              </a:rPr>
              <a:t>xã, phường</a:t>
            </a:r>
            <a:endParaRPr lang="en-US" sz="1400" dirty="0"/>
          </a:p>
        </p:txBody>
      </p:sp>
      <p:sp>
        <p:nvSpPr>
          <p:cNvPr id="32" name="Text 28"/>
          <p:cNvSpPr/>
          <p:nvPr/>
        </p:nvSpPr>
        <p:spPr>
          <a:xfrm>
            <a:off x="9285503" y="3804158"/>
            <a:ext cx="1991792" cy="686562"/>
          </a:xfrm>
          <a:prstGeom prst="rect">
            <a:avLst/>
          </a:prstGeom>
          <a:noFill/>
          <a:ln/>
        </p:spPr>
        <p:txBody>
          <a:bodyPr wrap="square" lIns="0" tIns="0" rIns="0" bIns="0" rtlCol="0" anchor="t"/>
          <a:lstStyle/>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Phải công bố tình huống</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khẩn cấp về thiên tai,</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trong đó có xã Đồng Xuân.</a:t>
            </a:r>
            <a:endParaRPr lang="en-US" sz="1150" dirty="0"/>
          </a:p>
        </p:txBody>
      </p:sp>
      <p:sp>
        <p:nvSpPr>
          <p:cNvPr id="33" name="Shape 29"/>
          <p:cNvSpPr/>
          <p:nvPr/>
        </p:nvSpPr>
        <p:spPr>
          <a:xfrm>
            <a:off x="713232" y="4773422"/>
            <a:ext cx="10765231" cy="859536"/>
          </a:xfrm>
          <a:prstGeom prst="roundRect">
            <a:avLst>
              <a:gd name="adj" fmla="val 12766"/>
            </a:avLst>
          </a:prstGeom>
          <a:solidFill>
            <a:srgbClr val="F87171">
              <a:alpha val="12000"/>
            </a:srgbClr>
          </a:solidFill>
          <a:ln w="12700">
            <a:solidFill>
              <a:srgbClr val="F87171">
                <a:alpha val="45000"/>
              </a:srgbClr>
            </a:solidFill>
            <a:prstDash val="solid"/>
          </a:ln>
        </p:spPr>
      </p:sp>
      <p:sp>
        <p:nvSpPr>
          <p:cNvPr id="34" name="Shape 30"/>
          <p:cNvSpPr/>
          <p:nvPr/>
        </p:nvSpPr>
        <p:spPr>
          <a:xfrm>
            <a:off x="713232" y="4773422"/>
            <a:ext cx="54864" cy="859536"/>
          </a:xfrm>
          <a:prstGeom prst="roundRect">
            <a:avLst>
              <a:gd name="adj" fmla="val 50000"/>
            </a:avLst>
          </a:prstGeom>
          <a:solidFill>
            <a:srgbClr val="F87171"/>
          </a:solidFill>
          <a:ln/>
        </p:spPr>
      </p:sp>
      <p:sp>
        <p:nvSpPr>
          <p:cNvPr id="35" name="Text 31"/>
          <p:cNvSpPr/>
          <p:nvPr/>
        </p:nvSpPr>
        <p:spPr>
          <a:xfrm>
            <a:off x="1097280" y="4910582"/>
            <a:ext cx="2926080" cy="492252"/>
          </a:xfrm>
          <a:prstGeom prst="rect">
            <a:avLst/>
          </a:prstGeom>
          <a:noFill/>
          <a:ln/>
        </p:spPr>
        <p:txBody>
          <a:bodyPr wrap="square" lIns="0" tIns="0" rIns="0" bIns="0" rtlCol="0" anchor="t"/>
          <a:lstStyle/>
          <a:p>
            <a:pPr algn="l" indent="0" marL="0">
              <a:lnSpc>
                <a:spcPts val="3300"/>
              </a:lnSpc>
              <a:buNone/>
            </a:pPr>
            <a:r>
              <a:rPr lang="en-US" sz="3000" b="1" dirty="0">
                <a:solidFill>
                  <a:srgbClr val="F87171"/>
                </a:solidFill>
                <a:latin typeface="Be Vietnam Pro" pitchFamily="34" charset="0"/>
                <a:ea typeface="Be Vietnam Pro" pitchFamily="34" charset="-122"/>
                <a:cs typeface="Be Vietnam Pro" pitchFamily="34" charset="-120"/>
              </a:rPr>
              <a:t>9.730 tỷ đồng</a:t>
            </a:r>
            <a:endParaRPr lang="en-US" sz="3000" dirty="0"/>
          </a:p>
        </p:txBody>
      </p:sp>
      <p:sp>
        <p:nvSpPr>
          <p:cNvPr id="36" name="Text 32"/>
          <p:cNvSpPr/>
          <p:nvPr/>
        </p:nvSpPr>
        <p:spPr>
          <a:xfrm>
            <a:off x="3913632" y="4947158"/>
            <a:ext cx="7290511" cy="588772"/>
          </a:xfrm>
          <a:prstGeom prst="rect">
            <a:avLst/>
          </a:prstGeom>
          <a:noFill/>
          <a:ln/>
        </p:spPr>
        <p:txBody>
          <a:bodyPr wrap="square" lIns="0" tIns="0" rIns="0" bIns="0" rtlCol="0" anchor="t"/>
          <a:lstStyle/>
          <a:p>
            <a:pPr algn="l" indent="0" marL="0">
              <a:lnSpc>
                <a:spcPts val="2030"/>
              </a:lnSpc>
              <a:buNone/>
            </a:pPr>
            <a:r>
              <a:rPr lang="en-US" sz="1450" b="1" dirty="0">
                <a:solidFill>
                  <a:srgbClr val="FFFFFF"/>
                </a:solidFill>
                <a:latin typeface="Be Vietnam Pro" pitchFamily="34" charset="0"/>
                <a:ea typeface="Be Vietnam Pro" pitchFamily="34" charset="-122"/>
                <a:cs typeface="Be Vietnam Pro" pitchFamily="34" charset="-120"/>
              </a:rPr>
              <a:t>Tổng thiệt hại thiên tai của tỉnh trong năm 2025.</a:t>
            </a:r>
            <a:endParaRPr lang="en-US" sz="1450" dirty="0"/>
          </a:p>
          <a:p>
            <a:pPr algn="l" indent="0" marL="0">
              <a:lnSpc>
                <a:spcPts val="2030"/>
              </a:lnSpc>
              <a:buNone/>
            </a:pPr>
            <a:r>
              <a:rPr lang="en-US" sz="1450" b="1" dirty="0">
                <a:solidFill>
                  <a:srgbClr val="FFFFFF"/>
                </a:solidFill>
                <a:latin typeface="Be Vietnam Pro" pitchFamily="34" charset="0"/>
                <a:ea typeface="Be Vietnam Pro" pitchFamily="34" charset="-122"/>
                <a:cs typeface="Be Vietnam Pro" pitchFamily="34" charset="-120"/>
              </a:rPr>
              <a:t>Mỗi con số ở đây là một lần vật tư phải đến đúng nơi, đúng lúc.</a:t>
            </a:r>
            <a:endParaRPr lang="en-US" sz="1450" dirty="0"/>
          </a:p>
        </p:txBody>
      </p:sp>
      <p:sp>
        <p:nvSpPr>
          <p:cNvPr id="37" name="Text 33"/>
          <p:cNvSpPr/>
          <p:nvPr/>
        </p:nvSpPr>
        <p:spPr>
          <a:xfrm>
            <a:off x="713232" y="5706110"/>
            <a:ext cx="10856671" cy="236030"/>
          </a:xfrm>
          <a:prstGeom prst="rect">
            <a:avLst/>
          </a:prstGeom>
          <a:noFill/>
          <a:ln/>
        </p:spPr>
        <p:txBody>
          <a:bodyPr wrap="square" lIns="0" tIns="0" rIns="0" bIns="0" rtlCol="0" anchor="t"/>
          <a:lstStyle/>
          <a:p>
            <a:pPr algn="l"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Nguồn: báo cáo thiệt hại của tỉnh Đắk Lắk (địa bàn Phú Yên cũ sau sáp nhập), số liệu tính đến ngày 20/11/2025.</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22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44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44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fill="hold" grpId="0" nodeType="withEffect">
                                  <p:stCondLst>
                                    <p:cond delay="66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66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66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88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88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88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88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withEffect">
                                  <p:stCondLst>
                                    <p:cond delay="88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110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withEffect">
                                  <p:stCondLst>
                                    <p:cond delay="110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110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grpId="0" nodeType="withEffect">
                                  <p:stCondLst>
                                    <p:cond delay="110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110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132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par>
                                <p:cTn id="77" presetID="10" presetClass="entr" presetSubtype="0" fill="hold" grpId="0" nodeType="withEffect">
                                  <p:stCondLst>
                                    <p:cond delay="132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400"/>
                                        <p:tgtEl>
                                          <p:spTgt spid="34"/>
                                        </p:tgtEl>
                                      </p:cBhvr>
                                    </p:animEffect>
                                  </p:childTnLst>
                                </p:cTn>
                              </p:par>
                              <p:par>
                                <p:cTn id="80" presetID="10" presetClass="entr" presetSubtype="0" fill="hold" grpId="0" nodeType="withEffect">
                                  <p:stCondLst>
                                    <p:cond delay="1320"/>
                                  </p:stCondLst>
                                  <p:childTnLst>
                                    <p:set>
                                      <p:cBhvr>
                                        <p:cTn id="81" dur="1" fill="hold">
                                          <p:stCondLst>
                                            <p:cond delay="0"/>
                                          </p:stCondLst>
                                        </p:cTn>
                                        <p:tgtEl>
                                          <p:spTgt spid="35"/>
                                        </p:tgtEl>
                                        <p:attrNameLst>
                                          <p:attrName>style.visibility</p:attrName>
                                        </p:attrNameLst>
                                      </p:cBhvr>
                                      <p:to>
                                        <p:strVal val="visible"/>
                                      </p:to>
                                    </p:set>
                                    <p:animEffect transition="in" filter="fade">
                                      <p:cBhvr>
                                        <p:cTn id="82" dur="400"/>
                                        <p:tgtEl>
                                          <p:spTgt spid="35"/>
                                        </p:tgtEl>
                                      </p:cBhvr>
                                    </p:animEffect>
                                  </p:childTnLst>
                                </p:cTn>
                              </p:par>
                              <p:par>
                                <p:cTn id="83" presetID="10" presetClass="entr" presetSubtype="0" fill="hold" grpId="0" nodeType="withEffect">
                                  <p:stCondLst>
                                    <p:cond delay="1320"/>
                                  </p:stCondLst>
                                  <p:childTnLst>
                                    <p:set>
                                      <p:cBhvr>
                                        <p:cTn id="84" dur="1" fill="hold">
                                          <p:stCondLst>
                                            <p:cond delay="0"/>
                                          </p:stCondLst>
                                        </p:cTn>
                                        <p:tgtEl>
                                          <p:spTgt spid="36"/>
                                        </p:tgtEl>
                                        <p:attrNameLst>
                                          <p:attrName>style.visibility</p:attrName>
                                        </p:attrNameLst>
                                      </p:cBhvr>
                                      <p:to>
                                        <p:strVal val="visible"/>
                                      </p:to>
                                    </p:set>
                                    <p:animEffect transition="in" filter="fade">
                                      <p:cBhvr>
                                        <p:cTn id="85" dur="400"/>
                                        <p:tgtEl>
                                          <p:spTgt spid="36"/>
                                        </p:tgtEl>
                                      </p:cBhvr>
                                    </p:animEffect>
                                  </p:childTnLst>
                                </p:cTn>
                              </p:par>
                              <p:par>
                                <p:cTn id="86" presetID="10" presetClass="entr" presetSubtype="0" fill="hold" grpId="0" nodeType="withEffect">
                                  <p:stCondLst>
                                    <p:cond delay="132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04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HIỆN TRƯỜNG THÁNG 11/2025</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Những gì mà người dân đã gánh chịu hằng năm</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Text 8"/>
          <p:cNvSpPr/>
          <p:nvPr/>
        </p:nvSpPr>
        <p:spPr>
          <a:xfrm>
            <a:off x="713232" y="1945894"/>
            <a:ext cx="10332720" cy="322072"/>
          </a:xfrm>
          <a:prstGeom prst="rect">
            <a:avLst/>
          </a:prstGeom>
          <a:noFill/>
          <a:ln/>
        </p:spPr>
        <p:txBody>
          <a:bodyPr wrap="square" lIns="0" tIns="0" rIns="0" bIns="0" rtlCol="0" anchor="t"/>
          <a:lstStyle/>
          <a:p>
            <a:pPr algn="l" indent="0" marL="0">
              <a:lnSpc>
                <a:spcPts val="1960"/>
              </a:lnSpc>
              <a:buNone/>
            </a:pPr>
            <a:r>
              <a:rPr lang="en-US" sz="1400" dirty="0">
                <a:solidFill>
                  <a:srgbClr val="9BB0C6"/>
                </a:solidFill>
                <a:latin typeface="Be Vietnam Pro" pitchFamily="34" charset="0"/>
                <a:ea typeface="Be Vietnam Pro" pitchFamily="34" charset="-122"/>
                <a:cs typeface="Be Vietnam Pro" pitchFamily="34" charset="-120"/>
              </a:rPr>
              <a:t>Đằng sau mỗi con số ở slide trước là những ngày nước ngập tới mái nhà, đường bị cắt và vật tư không kịp tới nơi cần.</a:t>
            </a:r>
            <a:endParaRPr lang="en-US" sz="1400" dirty="0"/>
          </a:p>
        </p:txBody>
      </p:sp>
      <p:pic>
        <p:nvPicPr>
          <p:cNvPr id="13" name="Image 2" descr="anh/da-cat/hien-truong-1.jpg">    </p:cNvPr>
          <p:cNvPicPr>
            <a:picLocks noChangeAspect="1"/>
          </p:cNvPicPr>
          <p:nvPr/>
        </p:nvPicPr>
        <p:blipFill>
          <a:blip r:embed="rId3"/>
          <a:stretch>
            <a:fillRect/>
          </a:stretch>
        </p:blipFill>
        <p:spPr>
          <a:xfrm>
            <a:off x="713232" y="2578862"/>
            <a:ext cx="3401568" cy="2468880"/>
          </a:xfrm>
          <a:prstGeom prst="rect">
            <a:avLst/>
          </a:prstGeom>
        </p:spPr>
      </p:pic>
      <p:sp>
        <p:nvSpPr>
          <p:cNvPr id="14" name="Shape 9"/>
          <p:cNvSpPr/>
          <p:nvPr/>
        </p:nvSpPr>
        <p:spPr>
          <a:xfrm>
            <a:off x="713232" y="2578862"/>
            <a:ext cx="3401568" cy="2468880"/>
          </a:xfrm>
          <a:prstGeom prst="rect">
            <a:avLst/>
          </a:prstGeom>
          <a:solidFill>
            <a:srgbClr val="FFFFFF">
              <a:alpha val="0"/>
            </a:srgbClr>
          </a:solidFill>
          <a:ln w="12700">
            <a:solidFill>
              <a:srgbClr val="FFFFFF">
                <a:alpha val="18000"/>
              </a:srgbClr>
            </a:solidFill>
            <a:prstDash val="solid"/>
          </a:ln>
        </p:spPr>
      </p:sp>
      <p:sp>
        <p:nvSpPr>
          <p:cNvPr id="15" name="Text 10"/>
          <p:cNvSpPr/>
          <p:nvPr/>
        </p:nvSpPr>
        <p:spPr>
          <a:xfrm>
            <a:off x="713232" y="5120894"/>
            <a:ext cx="3493008" cy="433197"/>
          </a:xfrm>
          <a:prstGeom prst="rect">
            <a:avLst/>
          </a:prstGeom>
          <a:noFill/>
          <a:ln/>
        </p:spPr>
        <p:txBody>
          <a:bodyPr wrap="square" lIns="0" tIns="0" rIns="0" bIns="0" rtlCol="0" anchor="t"/>
          <a:lstStyle/>
          <a:p>
            <a:pPr algn="l" indent="0" marL="0">
              <a:lnSpc>
                <a:spcPts val="1418"/>
              </a:lnSpc>
              <a:buNone/>
            </a:pPr>
            <a:r>
              <a:rPr lang="en-US" sz="1050" dirty="0">
                <a:solidFill>
                  <a:srgbClr val="9BB0C6"/>
                </a:solidFill>
                <a:latin typeface="Be Vietnam Pro" pitchFamily="34" charset="0"/>
                <a:ea typeface="Be Vietnam Pro" pitchFamily="34" charset="-122"/>
                <a:cs typeface="Be Vietnam Pro" pitchFamily="34" charset="-120"/>
              </a:rPr>
              <a:t>Nước ngập gần tới mái, người dân phải trèo lên nóc</a:t>
            </a:r>
            <a:endParaRPr lang="en-US" sz="1050" dirty="0"/>
          </a:p>
          <a:p>
            <a:pPr algn="l" indent="0" marL="0">
              <a:lnSpc>
                <a:spcPts val="1418"/>
              </a:lnSpc>
              <a:buNone/>
            </a:pPr>
            <a:r>
              <a:rPr lang="en-US" sz="1050" dirty="0">
                <a:solidFill>
                  <a:srgbClr val="9BB0C6"/>
                </a:solidFill>
                <a:latin typeface="Be Vietnam Pro" pitchFamily="34" charset="0"/>
                <a:ea typeface="Be Vietnam Pro" pitchFamily="34" charset="-122"/>
                <a:cs typeface="Be Vietnam Pro" pitchFamily="34" charset="-120"/>
              </a:rPr>
              <a:t>nhà chờ cứu hộ.</a:t>
            </a:r>
            <a:endParaRPr lang="en-US" sz="1050" dirty="0"/>
          </a:p>
        </p:txBody>
      </p:sp>
      <p:pic>
        <p:nvPicPr>
          <p:cNvPr id="16" name="Image 3" descr="anh/da-cat/hien-truong-2.jpg">    </p:cNvPr>
          <p:cNvPicPr>
            <a:picLocks noChangeAspect="1"/>
          </p:cNvPicPr>
          <p:nvPr/>
        </p:nvPicPr>
        <p:blipFill>
          <a:blip r:embed="rId4"/>
          <a:stretch>
            <a:fillRect/>
          </a:stretch>
        </p:blipFill>
        <p:spPr>
          <a:xfrm>
            <a:off x="4389120" y="2578862"/>
            <a:ext cx="3401568" cy="2468880"/>
          </a:xfrm>
          <a:prstGeom prst="rect">
            <a:avLst/>
          </a:prstGeom>
        </p:spPr>
      </p:pic>
      <p:sp>
        <p:nvSpPr>
          <p:cNvPr id="17" name="Shape 11"/>
          <p:cNvSpPr/>
          <p:nvPr/>
        </p:nvSpPr>
        <p:spPr>
          <a:xfrm>
            <a:off x="4389120" y="2578862"/>
            <a:ext cx="3401568" cy="2468880"/>
          </a:xfrm>
          <a:prstGeom prst="rect">
            <a:avLst/>
          </a:prstGeom>
          <a:solidFill>
            <a:srgbClr val="FFFFFF">
              <a:alpha val="0"/>
            </a:srgbClr>
          </a:solidFill>
          <a:ln w="12700">
            <a:solidFill>
              <a:srgbClr val="FFFFFF">
                <a:alpha val="18000"/>
              </a:srgbClr>
            </a:solidFill>
            <a:prstDash val="solid"/>
          </a:ln>
        </p:spPr>
      </p:sp>
      <p:sp>
        <p:nvSpPr>
          <p:cNvPr id="18" name="Text 12"/>
          <p:cNvSpPr/>
          <p:nvPr/>
        </p:nvSpPr>
        <p:spPr>
          <a:xfrm>
            <a:off x="4389120" y="5120894"/>
            <a:ext cx="3493008" cy="433197"/>
          </a:xfrm>
          <a:prstGeom prst="rect">
            <a:avLst/>
          </a:prstGeom>
          <a:noFill/>
          <a:ln/>
        </p:spPr>
        <p:txBody>
          <a:bodyPr wrap="square" lIns="0" tIns="0" rIns="0" bIns="0" rtlCol="0" anchor="t"/>
          <a:lstStyle/>
          <a:p>
            <a:pPr algn="l" indent="0" marL="0">
              <a:lnSpc>
                <a:spcPts val="1418"/>
              </a:lnSpc>
              <a:buNone/>
            </a:pPr>
            <a:r>
              <a:rPr lang="en-US" sz="1050" dirty="0">
                <a:solidFill>
                  <a:srgbClr val="9BB0C6"/>
                </a:solidFill>
                <a:latin typeface="Be Vietnam Pro" pitchFamily="34" charset="0"/>
                <a:ea typeface="Be Vietnam Pro" pitchFamily="34" charset="-122"/>
                <a:cs typeface="Be Vietnam Pro" pitchFamily="34" charset="-120"/>
              </a:rPr>
              <a:t>Lực lượng cứu hộ đưa người già và trẻ nhỏ ra khỏi</a:t>
            </a:r>
            <a:endParaRPr lang="en-US" sz="1050" dirty="0"/>
          </a:p>
          <a:p>
            <a:pPr algn="l" indent="0" marL="0">
              <a:lnSpc>
                <a:spcPts val="1418"/>
              </a:lnSpc>
              <a:buNone/>
            </a:pPr>
            <a:r>
              <a:rPr lang="en-US" sz="1050" dirty="0">
                <a:solidFill>
                  <a:srgbClr val="9BB0C6"/>
                </a:solidFill>
                <a:latin typeface="Be Vietnam Pro" pitchFamily="34" charset="0"/>
                <a:ea typeface="Be Vietnam Pro" pitchFamily="34" charset="-122"/>
                <a:cs typeface="Be Vietnam Pro" pitchFamily="34" charset="-120"/>
              </a:rPr>
              <a:t>vùng ngập</a:t>
            </a:r>
            <a:endParaRPr lang="en-US" sz="1050" dirty="0"/>
          </a:p>
        </p:txBody>
      </p:sp>
      <p:pic>
        <p:nvPicPr>
          <p:cNvPr id="19" name="Image 4" descr="anh/da-cat/hien-truong-3.jpg">    </p:cNvPr>
          <p:cNvPicPr>
            <a:picLocks noChangeAspect="1"/>
          </p:cNvPicPr>
          <p:nvPr/>
        </p:nvPicPr>
        <p:blipFill>
          <a:blip r:embed="rId5"/>
          <a:stretch>
            <a:fillRect/>
          </a:stretch>
        </p:blipFill>
        <p:spPr>
          <a:xfrm>
            <a:off x="8065008" y="2578862"/>
            <a:ext cx="3401568" cy="2468880"/>
          </a:xfrm>
          <a:prstGeom prst="rect">
            <a:avLst/>
          </a:prstGeom>
        </p:spPr>
      </p:pic>
      <p:sp>
        <p:nvSpPr>
          <p:cNvPr id="20" name="Shape 13"/>
          <p:cNvSpPr/>
          <p:nvPr/>
        </p:nvSpPr>
        <p:spPr>
          <a:xfrm>
            <a:off x="8065008" y="2578862"/>
            <a:ext cx="3401568" cy="2468880"/>
          </a:xfrm>
          <a:prstGeom prst="rect">
            <a:avLst/>
          </a:prstGeom>
          <a:solidFill>
            <a:srgbClr val="FFFFFF">
              <a:alpha val="0"/>
            </a:srgbClr>
          </a:solidFill>
          <a:ln w="12700">
            <a:solidFill>
              <a:srgbClr val="FFFFFF">
                <a:alpha val="18000"/>
              </a:srgbClr>
            </a:solidFill>
            <a:prstDash val="solid"/>
          </a:ln>
        </p:spPr>
      </p:sp>
      <p:sp>
        <p:nvSpPr>
          <p:cNvPr id="21" name="Text 14"/>
          <p:cNvSpPr/>
          <p:nvPr/>
        </p:nvSpPr>
        <p:spPr>
          <a:xfrm>
            <a:off x="8065008" y="5120894"/>
            <a:ext cx="3493008" cy="253175"/>
          </a:xfrm>
          <a:prstGeom prst="rect">
            <a:avLst/>
          </a:prstGeom>
          <a:noFill/>
          <a:ln/>
        </p:spPr>
        <p:txBody>
          <a:bodyPr wrap="square" lIns="0" tIns="0" rIns="0" bIns="0" rtlCol="0" anchor="t"/>
          <a:lstStyle/>
          <a:p>
            <a:pPr algn="l" indent="0" marL="0">
              <a:lnSpc>
                <a:spcPts val="1418"/>
              </a:lnSpc>
              <a:buNone/>
            </a:pPr>
            <a:r>
              <a:rPr lang="en-US" sz="1050" dirty="0">
                <a:solidFill>
                  <a:srgbClr val="9BB0C6"/>
                </a:solidFill>
                <a:latin typeface="Be Vietnam Pro" pitchFamily="34" charset="0"/>
                <a:ea typeface="Be Vietnam Pro" pitchFamily="34" charset="-122"/>
                <a:cs typeface="Be Vietnam Pro" pitchFamily="34" charset="-120"/>
              </a:rPr>
              <a:t>Vật tư cứu trợ được đưa tới từng nhà bằng xuồng.</a:t>
            </a:r>
            <a:endParaRPr lang="en-US" sz="1050" dirty="0"/>
          </a:p>
        </p:txBody>
      </p:sp>
      <p:sp>
        <p:nvSpPr>
          <p:cNvPr id="22" name="Text 15"/>
          <p:cNvSpPr/>
          <p:nvPr/>
        </p:nvSpPr>
        <p:spPr>
          <a:xfrm>
            <a:off x="713232" y="5700395"/>
            <a:ext cx="10856671" cy="261747"/>
          </a:xfrm>
          <a:prstGeom prst="rect">
            <a:avLst/>
          </a:prstGeom>
          <a:noFill/>
          <a:ln/>
        </p:spPr>
        <p:txBody>
          <a:bodyPr wrap="square" lIns="0" tIns="0" rIns="0" bIns="0" rtlCol="0" anchor="t"/>
          <a:lstStyle/>
          <a:p>
            <a:pPr algn="l" indent="0" marL="0">
              <a:lnSpc>
                <a:spcPts val="1485"/>
              </a:lnSpc>
              <a:buNone/>
            </a:pPr>
            <a:r>
              <a:rPr lang="en-US" sz="1100" dirty="0">
                <a:solidFill>
                  <a:srgbClr val="7189A2"/>
                </a:solidFill>
                <a:latin typeface="Be Vietnam Pro" pitchFamily="34" charset="0"/>
                <a:ea typeface="Be Vietnam Pro" pitchFamily="34" charset="-122"/>
                <a:cs typeface="Be Vietnam Pro" pitchFamily="34" charset="-120"/>
              </a:rPr>
              <a:t>Nguồn ảnh: Báo Thanh Niên, Báo Dân Trí — đợt mưa lũ tháng 11/2025.</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22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66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fill="hold" grpId="0" nodeType="withEffect">
                                  <p:stCondLst>
                                    <p:cond delay="66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88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88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88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88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05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VẤN ĐỀ</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Bài toán trong những giờ khẩn cấp</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pic>
        <p:nvPicPr>
          <p:cNvPr id="12" name="Image 2" descr="anh/da-cat/kho-khan.jpg">    </p:cNvPr>
          <p:cNvPicPr>
            <a:picLocks noChangeAspect="1"/>
          </p:cNvPicPr>
          <p:nvPr/>
        </p:nvPicPr>
        <p:blipFill>
          <a:blip r:embed="rId3"/>
          <a:stretch>
            <a:fillRect/>
          </a:stretch>
        </p:blipFill>
        <p:spPr>
          <a:xfrm>
            <a:off x="713232" y="1964182"/>
            <a:ext cx="4069080" cy="2377440"/>
          </a:xfrm>
          <a:prstGeom prst="roundRect">
            <a:avLst>
              <a:gd name="adj" fmla="val 4615"/>
            </a:avLst>
          </a:prstGeom>
        </p:spPr>
      </p:pic>
      <p:sp>
        <p:nvSpPr>
          <p:cNvPr id="13" name="Shape 8"/>
          <p:cNvSpPr/>
          <p:nvPr/>
        </p:nvSpPr>
        <p:spPr>
          <a:xfrm>
            <a:off x="713232" y="1964182"/>
            <a:ext cx="4069080" cy="2377440"/>
          </a:xfrm>
          <a:prstGeom prst="roundRect">
            <a:avLst>
              <a:gd name="adj" fmla="val 4615"/>
            </a:avLst>
          </a:prstGeom>
          <a:solidFill>
            <a:srgbClr val="FFFFFF">
              <a:alpha val="0"/>
            </a:srgbClr>
          </a:solidFill>
          <a:ln w="12700">
            <a:solidFill>
              <a:srgbClr val="FFFFFF">
                <a:alpha val="18000"/>
              </a:srgbClr>
            </a:solidFill>
            <a:prstDash val="solid"/>
          </a:ln>
        </p:spPr>
      </p:sp>
      <p:sp>
        <p:nvSpPr>
          <p:cNvPr id="14" name="Shape 9"/>
          <p:cNvSpPr/>
          <p:nvPr/>
        </p:nvSpPr>
        <p:spPr>
          <a:xfrm>
            <a:off x="713232" y="4478782"/>
            <a:ext cx="4069080" cy="1143000"/>
          </a:xfrm>
          <a:prstGeom prst="roundRect">
            <a:avLst>
              <a:gd name="adj" fmla="val 9600"/>
            </a:avLst>
          </a:prstGeom>
          <a:solidFill>
            <a:srgbClr val="091B2D">
              <a:alpha val="66000"/>
            </a:srgbClr>
          </a:solidFill>
          <a:ln w="12700">
            <a:solidFill>
              <a:srgbClr val="FFFFFF">
                <a:alpha val="12000"/>
              </a:srgbClr>
            </a:solidFill>
            <a:prstDash val="solid"/>
          </a:ln>
        </p:spPr>
      </p:sp>
      <p:sp>
        <p:nvSpPr>
          <p:cNvPr id="15" name="Shape 10"/>
          <p:cNvSpPr/>
          <p:nvPr/>
        </p:nvSpPr>
        <p:spPr>
          <a:xfrm>
            <a:off x="713232" y="4478782"/>
            <a:ext cx="50292" cy="1143000"/>
          </a:xfrm>
          <a:prstGeom prst="roundRect">
            <a:avLst>
              <a:gd name="adj" fmla="val 54545"/>
            </a:avLst>
          </a:prstGeom>
          <a:solidFill>
            <a:srgbClr val="FB923C">
              <a:alpha val="95000"/>
            </a:srgbClr>
          </a:solidFill>
          <a:ln/>
        </p:spPr>
      </p:sp>
      <p:sp>
        <p:nvSpPr>
          <p:cNvPr id="16" name="Text 11"/>
          <p:cNvSpPr/>
          <p:nvPr/>
        </p:nvSpPr>
        <p:spPr>
          <a:xfrm>
            <a:off x="987552" y="4679950"/>
            <a:ext cx="3611880" cy="763714"/>
          </a:xfrm>
          <a:prstGeom prst="rect">
            <a:avLst/>
          </a:prstGeom>
          <a:noFill/>
          <a:ln/>
        </p:spPr>
        <p:txBody>
          <a:bodyPr wrap="square" lIns="0" tIns="0" rIns="0" bIns="0" rtlCol="0" anchor="t"/>
          <a:lstStyle/>
          <a:p>
            <a:pPr algn="l" indent="0" marL="0">
              <a:lnSpc>
                <a:spcPts val="1813"/>
              </a:lnSpc>
              <a:buNone/>
            </a:pPr>
            <a:r>
              <a:rPr lang="en-US" sz="1250" b="1" dirty="0">
                <a:solidFill>
                  <a:srgbClr val="FBBF24"/>
                </a:solidFill>
                <a:latin typeface="Be Vietnam Pro" pitchFamily="34" charset="0"/>
                <a:ea typeface="Be Vietnam Pro" pitchFamily="34" charset="-122"/>
                <a:cs typeface="Be Vietnam Pro" pitchFamily="34" charset="-120"/>
              </a:rPr>
              <a:t>Sau nhiều giờ, thậm chí nhiều ngày liên tục,</a:t>
            </a:r>
            <a:endParaRPr lang="en-US" sz="1250" dirty="0"/>
          </a:p>
          <a:p>
            <a:pPr algn="l" indent="0" marL="0">
              <a:lnSpc>
                <a:spcPts val="1813"/>
              </a:lnSpc>
              <a:buNone/>
            </a:pPr>
            <a:r>
              <a:rPr lang="en-US" sz="1250" b="1" dirty="0">
                <a:solidFill>
                  <a:srgbClr val="FBBF24"/>
                </a:solidFill>
                <a:latin typeface="Be Vietnam Pro" pitchFamily="34" charset="0"/>
                <a:ea typeface="Be Vietnam Pro" pitchFamily="34" charset="-122"/>
                <a:cs typeface="Be Vietnam Pro" pitchFamily="34" charset="-120"/>
              </a:rPr>
              <a:t>con người sẽ xuống sức — trong khi</a:t>
            </a:r>
            <a:endParaRPr lang="en-US" sz="1250" dirty="0"/>
          </a:p>
          <a:p>
            <a:pPr algn="l" indent="0" marL="0">
              <a:lnSpc>
                <a:spcPts val="1813"/>
              </a:lnSpc>
              <a:buNone/>
            </a:pPr>
            <a:r>
              <a:rPr lang="en-US" sz="1250" b="1" dirty="0">
                <a:solidFill>
                  <a:srgbClr val="FBBF24"/>
                </a:solidFill>
                <a:latin typeface="Be Vietnam Pro" pitchFamily="34" charset="0"/>
                <a:ea typeface="Be Vietnam Pro" pitchFamily="34" charset="-122"/>
                <a:cs typeface="Be Vietnam Pro" pitchFamily="34" charset="-120"/>
              </a:rPr>
              <a:t>quyết định vẫn phải đưa ra trong vài phút.</a:t>
            </a:r>
            <a:endParaRPr lang="en-US" sz="1250" dirty="0"/>
          </a:p>
        </p:txBody>
      </p:sp>
      <p:sp>
        <p:nvSpPr>
          <p:cNvPr id="17" name="Text 12"/>
          <p:cNvSpPr/>
          <p:nvPr/>
        </p:nvSpPr>
        <p:spPr>
          <a:xfrm>
            <a:off x="713232" y="5694934"/>
            <a:ext cx="10856671" cy="236030"/>
          </a:xfrm>
          <a:prstGeom prst="rect">
            <a:avLst/>
          </a:prstGeom>
          <a:noFill/>
          <a:ln/>
        </p:spPr>
        <p:txBody>
          <a:bodyPr wrap="square" lIns="0" tIns="0" rIns="0" bIns="0" rtlCol="0" anchor="t"/>
          <a:lstStyle/>
          <a:p>
            <a:pPr algn="l"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Ảnh: cán bộ kiểm đếm vật tư phòng chống thiên tai bằng sổ ghi chép tay (Minh họa).</a:t>
            </a:r>
            <a:endParaRPr lang="en-US" sz="950" dirty="0"/>
          </a:p>
        </p:txBody>
      </p:sp>
      <p:sp>
        <p:nvSpPr>
          <p:cNvPr id="18" name="Shape 13"/>
          <p:cNvSpPr/>
          <p:nvPr/>
        </p:nvSpPr>
        <p:spPr>
          <a:xfrm>
            <a:off x="5093208" y="1964182"/>
            <a:ext cx="3055468" cy="1691640"/>
          </a:xfrm>
          <a:prstGeom prst="roundRect">
            <a:avLst>
              <a:gd name="adj" fmla="val 6486"/>
            </a:avLst>
          </a:prstGeom>
          <a:solidFill>
            <a:srgbClr val="091B2D">
              <a:alpha val="66000"/>
            </a:srgbClr>
          </a:solidFill>
          <a:ln w="12700">
            <a:solidFill>
              <a:srgbClr val="FFFFFF">
                <a:alpha val="12000"/>
              </a:srgbClr>
            </a:solidFill>
            <a:prstDash val="solid"/>
          </a:ln>
        </p:spPr>
      </p:sp>
      <p:sp>
        <p:nvSpPr>
          <p:cNvPr id="19" name="Shape 14"/>
          <p:cNvSpPr/>
          <p:nvPr/>
        </p:nvSpPr>
        <p:spPr>
          <a:xfrm>
            <a:off x="5093208" y="1964182"/>
            <a:ext cx="50292" cy="1691640"/>
          </a:xfrm>
          <a:prstGeom prst="roundRect">
            <a:avLst>
              <a:gd name="adj" fmla="val 54545"/>
            </a:avLst>
          </a:prstGeom>
          <a:solidFill>
            <a:srgbClr val="F87171">
              <a:alpha val="95000"/>
            </a:srgbClr>
          </a:solidFill>
          <a:ln/>
        </p:spPr>
      </p:sp>
      <p:sp>
        <p:nvSpPr>
          <p:cNvPr id="20" name="Text 15"/>
          <p:cNvSpPr/>
          <p:nvPr/>
        </p:nvSpPr>
        <p:spPr>
          <a:xfrm>
            <a:off x="5367528" y="2201926"/>
            <a:ext cx="2598268" cy="303340"/>
          </a:xfrm>
          <a:prstGeom prst="rect">
            <a:avLst/>
          </a:prstGeom>
          <a:noFill/>
          <a:ln/>
        </p:spPr>
        <p:txBody>
          <a:bodyPr wrap="square" lIns="0" tIns="0" rIns="0" bIns="0" rtlCol="0" anchor="t"/>
          <a:lstStyle/>
          <a:p>
            <a:pPr algn="l" indent="0" marL="0">
              <a:lnSpc>
                <a:spcPts val="1813"/>
              </a:lnSpc>
              <a:buNone/>
            </a:pPr>
            <a:r>
              <a:rPr lang="en-US" sz="1450" b="1" dirty="0">
                <a:solidFill>
                  <a:srgbClr val="FFFFFF"/>
                </a:solidFill>
                <a:latin typeface="Be Vietnam Pro" pitchFamily="34" charset="0"/>
                <a:ea typeface="Be Vietnam Pro" pitchFamily="34" charset="-122"/>
                <a:cs typeface="Be Vietnam Pro" pitchFamily="34" charset="-120"/>
              </a:rPr>
              <a:t>Cần những vật tư gì?</a:t>
            </a:r>
            <a:endParaRPr lang="en-US" sz="1450" dirty="0"/>
          </a:p>
        </p:txBody>
      </p:sp>
      <p:sp>
        <p:nvSpPr>
          <p:cNvPr id="21" name="Text 16"/>
          <p:cNvSpPr/>
          <p:nvPr/>
        </p:nvSpPr>
        <p:spPr>
          <a:xfrm>
            <a:off x="5367528" y="2500694"/>
            <a:ext cx="2598268" cy="482092"/>
          </a:xfrm>
          <a:prstGeom prst="rect">
            <a:avLst/>
          </a:prstGeom>
          <a:noFill/>
          <a:ln/>
        </p:spPr>
        <p:txBody>
          <a:bodyPr wrap="square" lIns="0" tIns="0" rIns="0" bIns="0" rtlCol="0" anchor="t"/>
          <a:lstStyle/>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Chủng loại, số lượng phù hợp với</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quy mô ảnh hưởng.</a:t>
            </a:r>
            <a:endParaRPr lang="en-US" sz="1150" dirty="0"/>
          </a:p>
        </p:txBody>
      </p:sp>
      <p:sp>
        <p:nvSpPr>
          <p:cNvPr id="22" name="Shape 17"/>
          <p:cNvSpPr/>
          <p:nvPr/>
        </p:nvSpPr>
        <p:spPr>
          <a:xfrm>
            <a:off x="8422996" y="1964182"/>
            <a:ext cx="3055468" cy="1691640"/>
          </a:xfrm>
          <a:prstGeom prst="roundRect">
            <a:avLst>
              <a:gd name="adj" fmla="val 6486"/>
            </a:avLst>
          </a:prstGeom>
          <a:solidFill>
            <a:srgbClr val="091B2D">
              <a:alpha val="66000"/>
            </a:srgbClr>
          </a:solidFill>
          <a:ln w="12700">
            <a:solidFill>
              <a:srgbClr val="FFFFFF">
                <a:alpha val="12000"/>
              </a:srgbClr>
            </a:solidFill>
            <a:prstDash val="solid"/>
          </a:ln>
        </p:spPr>
      </p:sp>
      <p:sp>
        <p:nvSpPr>
          <p:cNvPr id="23" name="Shape 18"/>
          <p:cNvSpPr/>
          <p:nvPr/>
        </p:nvSpPr>
        <p:spPr>
          <a:xfrm>
            <a:off x="8422996" y="1964182"/>
            <a:ext cx="50292" cy="1691640"/>
          </a:xfrm>
          <a:prstGeom prst="roundRect">
            <a:avLst>
              <a:gd name="adj" fmla="val 54545"/>
            </a:avLst>
          </a:prstGeom>
          <a:solidFill>
            <a:srgbClr val="F87171">
              <a:alpha val="95000"/>
            </a:srgbClr>
          </a:solidFill>
          <a:ln/>
        </p:spPr>
      </p:sp>
      <p:sp>
        <p:nvSpPr>
          <p:cNvPr id="24" name="Text 19"/>
          <p:cNvSpPr/>
          <p:nvPr/>
        </p:nvSpPr>
        <p:spPr>
          <a:xfrm>
            <a:off x="8697316" y="2201926"/>
            <a:ext cx="2598268" cy="303340"/>
          </a:xfrm>
          <a:prstGeom prst="rect">
            <a:avLst/>
          </a:prstGeom>
          <a:noFill/>
          <a:ln/>
        </p:spPr>
        <p:txBody>
          <a:bodyPr wrap="square" lIns="0" tIns="0" rIns="0" bIns="0" rtlCol="0" anchor="t"/>
          <a:lstStyle/>
          <a:p>
            <a:pPr algn="l" indent="0" marL="0">
              <a:lnSpc>
                <a:spcPts val="1813"/>
              </a:lnSpc>
              <a:buNone/>
            </a:pPr>
            <a:r>
              <a:rPr lang="en-US" sz="1450" b="1" dirty="0">
                <a:solidFill>
                  <a:srgbClr val="FFFFFF"/>
                </a:solidFill>
                <a:latin typeface="Be Vietnam Pro" pitchFamily="34" charset="0"/>
                <a:ea typeface="Be Vietnam Pro" pitchFamily="34" charset="-122"/>
                <a:cs typeface="Be Vietnam Pro" pitchFamily="34" charset="-120"/>
              </a:rPr>
              <a:t>Lấy vật tư ở đâu?</a:t>
            </a:r>
            <a:endParaRPr lang="en-US" sz="1450" dirty="0"/>
          </a:p>
        </p:txBody>
      </p:sp>
      <p:sp>
        <p:nvSpPr>
          <p:cNvPr id="25" name="Text 20"/>
          <p:cNvSpPr/>
          <p:nvPr/>
        </p:nvSpPr>
        <p:spPr>
          <a:xfrm>
            <a:off x="8697316" y="2500694"/>
            <a:ext cx="2598268" cy="482092"/>
          </a:xfrm>
          <a:prstGeom prst="rect">
            <a:avLst/>
          </a:prstGeom>
          <a:noFill/>
          <a:ln/>
        </p:spPr>
        <p:txBody>
          <a:bodyPr wrap="square" lIns="0" tIns="0" rIns="0" bIns="0" rtlCol="0" anchor="t"/>
          <a:lstStyle/>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Kho nào gần hiện trường nhất để</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rút ngắn thời gian.</a:t>
            </a:r>
            <a:endParaRPr lang="en-US" sz="1150" dirty="0"/>
          </a:p>
        </p:txBody>
      </p:sp>
      <p:sp>
        <p:nvSpPr>
          <p:cNvPr id="26" name="Shape 21"/>
          <p:cNvSpPr/>
          <p:nvPr/>
        </p:nvSpPr>
        <p:spPr>
          <a:xfrm>
            <a:off x="5093208" y="3930142"/>
            <a:ext cx="3055468" cy="1691640"/>
          </a:xfrm>
          <a:prstGeom prst="roundRect">
            <a:avLst>
              <a:gd name="adj" fmla="val 6486"/>
            </a:avLst>
          </a:prstGeom>
          <a:solidFill>
            <a:srgbClr val="091B2D">
              <a:alpha val="66000"/>
            </a:srgbClr>
          </a:solidFill>
          <a:ln w="12700">
            <a:solidFill>
              <a:srgbClr val="FFFFFF">
                <a:alpha val="12000"/>
              </a:srgbClr>
            </a:solidFill>
            <a:prstDash val="solid"/>
          </a:ln>
        </p:spPr>
      </p:sp>
      <p:sp>
        <p:nvSpPr>
          <p:cNvPr id="27" name="Shape 22"/>
          <p:cNvSpPr/>
          <p:nvPr/>
        </p:nvSpPr>
        <p:spPr>
          <a:xfrm>
            <a:off x="5093208" y="3930142"/>
            <a:ext cx="50292" cy="1691640"/>
          </a:xfrm>
          <a:prstGeom prst="roundRect">
            <a:avLst>
              <a:gd name="adj" fmla="val 54545"/>
            </a:avLst>
          </a:prstGeom>
          <a:solidFill>
            <a:srgbClr val="F87171">
              <a:alpha val="95000"/>
            </a:srgbClr>
          </a:solidFill>
          <a:ln/>
        </p:spPr>
      </p:sp>
      <p:sp>
        <p:nvSpPr>
          <p:cNvPr id="28" name="Text 23"/>
          <p:cNvSpPr/>
          <p:nvPr/>
        </p:nvSpPr>
        <p:spPr>
          <a:xfrm>
            <a:off x="5367528" y="4167886"/>
            <a:ext cx="2598268" cy="303340"/>
          </a:xfrm>
          <a:prstGeom prst="rect">
            <a:avLst/>
          </a:prstGeom>
          <a:noFill/>
          <a:ln/>
        </p:spPr>
        <p:txBody>
          <a:bodyPr wrap="square" lIns="0" tIns="0" rIns="0" bIns="0" rtlCol="0" anchor="t"/>
          <a:lstStyle/>
          <a:p>
            <a:pPr algn="l" indent="0" marL="0">
              <a:lnSpc>
                <a:spcPts val="1813"/>
              </a:lnSpc>
              <a:buNone/>
            </a:pPr>
            <a:r>
              <a:rPr lang="en-US" sz="1450" b="1" dirty="0">
                <a:solidFill>
                  <a:srgbClr val="FFFFFF"/>
                </a:solidFill>
                <a:latin typeface="Be Vietnam Pro" pitchFamily="34" charset="0"/>
                <a:ea typeface="Be Vietnam Pro" pitchFamily="34" charset="-122"/>
                <a:cs typeface="Be Vietnam Pro" pitchFamily="34" charset="-120"/>
              </a:rPr>
              <a:t>Kho nào còn đủ?</a:t>
            </a:r>
            <a:endParaRPr lang="en-US" sz="1450" dirty="0"/>
          </a:p>
        </p:txBody>
      </p:sp>
      <p:sp>
        <p:nvSpPr>
          <p:cNvPr id="29" name="Text 24"/>
          <p:cNvSpPr/>
          <p:nvPr/>
        </p:nvSpPr>
        <p:spPr>
          <a:xfrm>
            <a:off x="5367528" y="4466654"/>
            <a:ext cx="2598268" cy="482092"/>
          </a:xfrm>
          <a:prstGeom prst="rect">
            <a:avLst/>
          </a:prstGeom>
          <a:noFill/>
          <a:ln/>
        </p:spPr>
        <p:txBody>
          <a:bodyPr wrap="square" lIns="0" tIns="0" rIns="0" bIns="0" rtlCol="0" anchor="t"/>
          <a:lstStyle/>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Tồn kho thực tế thay đổi liên tục</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trong thiên tai.</a:t>
            </a:r>
            <a:endParaRPr lang="en-US" sz="1150" dirty="0"/>
          </a:p>
        </p:txBody>
      </p:sp>
      <p:sp>
        <p:nvSpPr>
          <p:cNvPr id="30" name="Shape 25"/>
          <p:cNvSpPr/>
          <p:nvPr/>
        </p:nvSpPr>
        <p:spPr>
          <a:xfrm>
            <a:off x="8422996" y="3930142"/>
            <a:ext cx="3055468" cy="1691640"/>
          </a:xfrm>
          <a:prstGeom prst="roundRect">
            <a:avLst>
              <a:gd name="adj" fmla="val 6486"/>
            </a:avLst>
          </a:prstGeom>
          <a:solidFill>
            <a:srgbClr val="091B2D">
              <a:alpha val="66000"/>
            </a:srgbClr>
          </a:solidFill>
          <a:ln w="12700">
            <a:solidFill>
              <a:srgbClr val="FFFFFF">
                <a:alpha val="12000"/>
              </a:srgbClr>
            </a:solidFill>
            <a:prstDash val="solid"/>
          </a:ln>
        </p:spPr>
      </p:sp>
      <p:sp>
        <p:nvSpPr>
          <p:cNvPr id="31" name="Shape 26"/>
          <p:cNvSpPr/>
          <p:nvPr/>
        </p:nvSpPr>
        <p:spPr>
          <a:xfrm>
            <a:off x="8422996" y="3930142"/>
            <a:ext cx="50292" cy="1691640"/>
          </a:xfrm>
          <a:prstGeom prst="roundRect">
            <a:avLst>
              <a:gd name="adj" fmla="val 54545"/>
            </a:avLst>
          </a:prstGeom>
          <a:solidFill>
            <a:srgbClr val="F87171">
              <a:alpha val="95000"/>
            </a:srgbClr>
          </a:solidFill>
          <a:ln/>
        </p:spPr>
      </p:sp>
      <p:sp>
        <p:nvSpPr>
          <p:cNvPr id="32" name="Text 27"/>
          <p:cNvSpPr/>
          <p:nvPr/>
        </p:nvSpPr>
        <p:spPr>
          <a:xfrm>
            <a:off x="8697316" y="4167886"/>
            <a:ext cx="2598268" cy="533527"/>
          </a:xfrm>
          <a:prstGeom prst="rect">
            <a:avLst/>
          </a:prstGeom>
          <a:noFill/>
          <a:ln/>
        </p:spPr>
        <p:txBody>
          <a:bodyPr wrap="square" lIns="0" tIns="0" rIns="0" bIns="0" rtlCol="0" anchor="t"/>
          <a:lstStyle/>
          <a:p>
            <a:pPr algn="l" indent="0" marL="0">
              <a:lnSpc>
                <a:spcPts val="1813"/>
              </a:lnSpc>
              <a:buNone/>
            </a:pPr>
            <a:r>
              <a:rPr lang="en-US" sz="1450" b="1" dirty="0">
                <a:solidFill>
                  <a:srgbClr val="FFFFFF"/>
                </a:solidFill>
                <a:latin typeface="Be Vietnam Pro" pitchFamily="34" charset="0"/>
                <a:ea typeface="Be Vietnam Pro" pitchFamily="34" charset="-122"/>
                <a:cs typeface="Be Vietnam Pro" pitchFamily="34" charset="-120"/>
              </a:rPr>
              <a:t>Làm sao để mọi bộ phận</a:t>
            </a:r>
            <a:endParaRPr lang="en-US" sz="1450" dirty="0"/>
          </a:p>
          <a:p>
            <a:pPr algn="l" indent="0" marL="0">
              <a:lnSpc>
                <a:spcPts val="1813"/>
              </a:lnSpc>
              <a:buNone/>
            </a:pPr>
            <a:r>
              <a:rPr lang="en-US" sz="1450" b="1" dirty="0">
                <a:solidFill>
                  <a:srgbClr val="FFFFFF"/>
                </a:solidFill>
                <a:latin typeface="Be Vietnam Pro" pitchFamily="34" charset="0"/>
                <a:ea typeface="Be Vietnam Pro" pitchFamily="34" charset="-122"/>
                <a:cs typeface="Be Vietnam Pro" pitchFamily="34" charset="-120"/>
              </a:rPr>
              <a:t>nắm thông tin tức thời?</a:t>
            </a:r>
            <a:endParaRPr lang="en-US" sz="1450" dirty="0"/>
          </a:p>
        </p:txBody>
      </p:sp>
      <p:sp>
        <p:nvSpPr>
          <p:cNvPr id="33" name="Text 28"/>
          <p:cNvSpPr/>
          <p:nvPr/>
        </p:nvSpPr>
        <p:spPr>
          <a:xfrm>
            <a:off x="8697316" y="4696841"/>
            <a:ext cx="2598268" cy="482092"/>
          </a:xfrm>
          <a:prstGeom prst="rect">
            <a:avLst/>
          </a:prstGeom>
          <a:noFill/>
          <a:ln/>
        </p:spPr>
        <p:txBody>
          <a:bodyPr wrap="square" lIns="0" tIns="0" rIns="0" bIns="0" rtlCol="0" anchor="t"/>
          <a:lstStyle/>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Thông tin phải đến đúng người,</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nhanh và chính xác.</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66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66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66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fill="hold" grpId="0" nodeType="withEffect">
                                  <p:stCondLst>
                                    <p:cond delay="88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88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88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88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110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110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11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110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132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withEffect">
                                  <p:stCondLst>
                                    <p:cond delay="132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132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withEffect">
                                  <p:stCondLst>
                                    <p:cond delay="132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154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grpId="0" nodeType="withEffect">
                                  <p:stCondLst>
                                    <p:cond delay="154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154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154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06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GIẢI PHÁP</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Một hệ thống — bốn mắt xích — một luồng thông tin</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Text 8"/>
          <p:cNvSpPr/>
          <p:nvPr/>
        </p:nvSpPr>
        <p:spPr>
          <a:xfrm>
            <a:off x="713232" y="1945894"/>
            <a:ext cx="10332720" cy="322072"/>
          </a:xfrm>
          <a:prstGeom prst="rect">
            <a:avLst/>
          </a:prstGeom>
          <a:noFill/>
          <a:ln/>
        </p:spPr>
        <p:txBody>
          <a:bodyPr wrap="square" lIns="0" tIns="0" rIns="0" bIns="0" rtlCol="0" anchor="t"/>
          <a:lstStyle/>
          <a:p>
            <a:pPr algn="l" indent="0" marL="0">
              <a:lnSpc>
                <a:spcPts val="1960"/>
              </a:lnSpc>
              <a:buNone/>
            </a:pPr>
            <a:r>
              <a:rPr lang="en-US" sz="1400" dirty="0">
                <a:solidFill>
                  <a:srgbClr val="9BB0C6"/>
                </a:solidFill>
                <a:latin typeface="Be Vietnam Pro" pitchFamily="34" charset="0"/>
                <a:ea typeface="Be Vietnam Pro" pitchFamily="34" charset="-122"/>
                <a:cs typeface="Be Vietnam Pro" pitchFamily="34" charset="-120"/>
              </a:rPr>
              <a:t>Kết nối xuyên suốt các bộ phận, đồng thời ứng dụng AI để phân tích và hỗ trợ ra quyết định trong thời điểm khẩn cấp.</a:t>
            </a:r>
            <a:endParaRPr lang="en-US" sz="1400" dirty="0"/>
          </a:p>
        </p:txBody>
      </p:sp>
      <p:sp>
        <p:nvSpPr>
          <p:cNvPr id="13" name="Shape 9"/>
          <p:cNvSpPr/>
          <p:nvPr/>
        </p:nvSpPr>
        <p:spPr>
          <a:xfrm>
            <a:off x="713232" y="3136646"/>
            <a:ext cx="2743200" cy="2194560"/>
          </a:xfrm>
          <a:prstGeom prst="roundRect">
            <a:avLst>
              <a:gd name="adj" fmla="val 5000"/>
            </a:avLst>
          </a:prstGeom>
          <a:solidFill>
            <a:srgbClr val="091B2D">
              <a:alpha val="66000"/>
            </a:srgbClr>
          </a:solidFill>
          <a:ln w="12700">
            <a:solidFill>
              <a:srgbClr val="FFFFFF">
                <a:alpha val="12000"/>
              </a:srgbClr>
            </a:solidFill>
            <a:prstDash val="solid"/>
          </a:ln>
        </p:spPr>
      </p:sp>
      <p:sp>
        <p:nvSpPr>
          <p:cNvPr id="14" name="Shape 10"/>
          <p:cNvSpPr/>
          <p:nvPr/>
        </p:nvSpPr>
        <p:spPr>
          <a:xfrm>
            <a:off x="713232" y="3136646"/>
            <a:ext cx="50292" cy="2194560"/>
          </a:xfrm>
          <a:prstGeom prst="roundRect">
            <a:avLst>
              <a:gd name="adj" fmla="val 54545"/>
            </a:avLst>
          </a:prstGeom>
          <a:solidFill>
            <a:srgbClr val="38BDF8">
              <a:alpha val="95000"/>
            </a:srgbClr>
          </a:solidFill>
          <a:ln/>
        </p:spPr>
      </p:sp>
      <p:sp>
        <p:nvSpPr>
          <p:cNvPr id="15" name="Shape 11"/>
          <p:cNvSpPr/>
          <p:nvPr/>
        </p:nvSpPr>
        <p:spPr>
          <a:xfrm>
            <a:off x="987552" y="3410966"/>
            <a:ext cx="457200" cy="457200"/>
          </a:xfrm>
          <a:prstGeom prst="roundRect">
            <a:avLst>
              <a:gd name="adj" fmla="val 50000"/>
            </a:avLst>
          </a:prstGeom>
          <a:solidFill>
            <a:srgbClr val="04101F">
              <a:alpha val="88000"/>
            </a:srgbClr>
          </a:solidFill>
          <a:ln/>
        </p:spPr>
      </p:sp>
      <p:sp>
        <p:nvSpPr>
          <p:cNvPr id="16" name="Shape 12"/>
          <p:cNvSpPr/>
          <p:nvPr/>
        </p:nvSpPr>
        <p:spPr>
          <a:xfrm>
            <a:off x="987552" y="3410966"/>
            <a:ext cx="457200" cy="457200"/>
          </a:xfrm>
          <a:prstGeom prst="roundRect">
            <a:avLst>
              <a:gd name="adj" fmla="val 50000"/>
            </a:avLst>
          </a:prstGeom>
          <a:solidFill>
            <a:srgbClr val="38BDF8">
              <a:alpha val="20000"/>
            </a:srgbClr>
          </a:solidFill>
          <a:ln w="15240">
            <a:solidFill>
              <a:srgbClr val="38BDF8">
                <a:alpha val="70000"/>
              </a:srgbClr>
            </a:solidFill>
            <a:prstDash val="solid"/>
          </a:ln>
        </p:spPr>
      </p:sp>
      <p:sp>
        <p:nvSpPr>
          <p:cNvPr id="17" name="Text 13"/>
          <p:cNvSpPr/>
          <p:nvPr/>
        </p:nvSpPr>
        <p:spPr>
          <a:xfrm>
            <a:off x="941832" y="3502406"/>
            <a:ext cx="548640" cy="330327"/>
          </a:xfrm>
          <a:prstGeom prst="rect">
            <a:avLst/>
          </a:prstGeom>
          <a:noFill/>
          <a:ln/>
        </p:spPr>
        <p:txBody>
          <a:bodyPr wrap="square" lIns="0" tIns="0" rIns="0" bIns="0" rtlCol="0" anchor="t"/>
          <a:lstStyle/>
          <a:p>
            <a:pPr algn="ctr" indent="0" marL="0">
              <a:lnSpc>
                <a:spcPts val="2025"/>
              </a:lnSpc>
              <a:buNone/>
            </a:pPr>
            <a:r>
              <a:rPr lang="en-US" sz="1500" b="1" dirty="0">
                <a:solidFill>
                  <a:srgbClr val="38BDF8"/>
                </a:solidFill>
                <a:latin typeface="Be Vietnam Pro" pitchFamily="34" charset="0"/>
                <a:ea typeface="Be Vietnam Pro" pitchFamily="34" charset="-122"/>
                <a:cs typeface="Be Vietnam Pro" pitchFamily="34" charset="-120"/>
              </a:rPr>
              <a:t>01</a:t>
            </a:r>
            <a:endParaRPr lang="en-US" sz="1500" dirty="0"/>
          </a:p>
        </p:txBody>
      </p:sp>
      <p:sp>
        <p:nvSpPr>
          <p:cNvPr id="18" name="Text 14"/>
          <p:cNvSpPr/>
          <p:nvPr/>
        </p:nvSpPr>
        <p:spPr>
          <a:xfrm>
            <a:off x="987552" y="4032758"/>
            <a:ext cx="2286000" cy="347472"/>
          </a:xfrm>
          <a:prstGeom prst="rect">
            <a:avLst/>
          </a:prstGeom>
          <a:noFill/>
          <a:ln/>
        </p:spPr>
        <p:txBody>
          <a:bodyPr wrap="square" lIns="0" tIns="0" rIns="0" bIns="0" rtlCol="0" anchor="t"/>
          <a:lstStyle/>
          <a:p>
            <a:pPr algn="l" indent="0" marL="0">
              <a:lnSpc>
                <a:spcPts val="2160"/>
              </a:lnSpc>
              <a:buNone/>
            </a:pPr>
            <a:r>
              <a:rPr lang="en-US" sz="1600" b="1" dirty="0">
                <a:solidFill>
                  <a:srgbClr val="FFFFFF"/>
                </a:solidFill>
                <a:latin typeface="Be Vietnam Pro" pitchFamily="34" charset="0"/>
                <a:ea typeface="Be Vietnam Pro" pitchFamily="34" charset="-122"/>
                <a:cs typeface="Be Vietnam Pro" pitchFamily="34" charset="-120"/>
              </a:rPr>
              <a:t>Trưởng thôn</a:t>
            </a:r>
            <a:endParaRPr lang="en-US" sz="1600" dirty="0"/>
          </a:p>
        </p:txBody>
      </p:sp>
      <p:sp>
        <p:nvSpPr>
          <p:cNvPr id="19" name="Text 15"/>
          <p:cNvSpPr/>
          <p:nvPr/>
        </p:nvSpPr>
        <p:spPr>
          <a:xfrm>
            <a:off x="987552" y="4416806"/>
            <a:ext cx="2286000" cy="515112"/>
          </a:xfrm>
          <a:prstGeom prst="rect">
            <a:avLst/>
          </a:prstGeom>
          <a:noFill/>
          <a:ln/>
        </p:spPr>
        <p:txBody>
          <a:bodyPr wrap="square" lIns="0" tIns="0" rIns="0" bIns="0" rtlCol="0" anchor="t"/>
          <a:lstStyle/>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Báo cáo tình huống và định vị</a:t>
            </a:r>
            <a:endParaRPr lang="en-US" sz="1200" dirty="0"/>
          </a:p>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vị trí gặp nạn trên bản đồ.</a:t>
            </a:r>
            <a:endParaRPr lang="en-US" sz="1200" dirty="0"/>
          </a:p>
        </p:txBody>
      </p:sp>
      <p:sp>
        <p:nvSpPr>
          <p:cNvPr id="20" name="Shape 16"/>
          <p:cNvSpPr/>
          <p:nvPr/>
        </p:nvSpPr>
        <p:spPr>
          <a:xfrm>
            <a:off x="3959352" y="3136646"/>
            <a:ext cx="2926080" cy="2194560"/>
          </a:xfrm>
          <a:prstGeom prst="roundRect">
            <a:avLst>
              <a:gd name="adj" fmla="val 5000"/>
            </a:avLst>
          </a:prstGeom>
          <a:solidFill>
            <a:srgbClr val="091B2D">
              <a:alpha val="66000"/>
            </a:srgbClr>
          </a:solidFill>
          <a:ln w="12700">
            <a:solidFill>
              <a:srgbClr val="FFFFFF">
                <a:alpha val="12000"/>
              </a:srgbClr>
            </a:solidFill>
            <a:prstDash val="solid"/>
          </a:ln>
        </p:spPr>
      </p:sp>
      <p:sp>
        <p:nvSpPr>
          <p:cNvPr id="21" name="Shape 17"/>
          <p:cNvSpPr/>
          <p:nvPr/>
        </p:nvSpPr>
        <p:spPr>
          <a:xfrm>
            <a:off x="3959352" y="3136646"/>
            <a:ext cx="50292" cy="2194560"/>
          </a:xfrm>
          <a:prstGeom prst="roundRect">
            <a:avLst>
              <a:gd name="adj" fmla="val 54545"/>
            </a:avLst>
          </a:prstGeom>
          <a:solidFill>
            <a:srgbClr val="22C55E">
              <a:alpha val="95000"/>
            </a:srgbClr>
          </a:solidFill>
          <a:ln/>
        </p:spPr>
      </p:sp>
      <p:sp>
        <p:nvSpPr>
          <p:cNvPr id="22" name="Shape 18"/>
          <p:cNvSpPr/>
          <p:nvPr/>
        </p:nvSpPr>
        <p:spPr>
          <a:xfrm>
            <a:off x="4233672" y="3410966"/>
            <a:ext cx="457200" cy="457200"/>
          </a:xfrm>
          <a:prstGeom prst="roundRect">
            <a:avLst>
              <a:gd name="adj" fmla="val 50000"/>
            </a:avLst>
          </a:prstGeom>
          <a:solidFill>
            <a:srgbClr val="04101F">
              <a:alpha val="88000"/>
            </a:srgbClr>
          </a:solidFill>
          <a:ln/>
        </p:spPr>
      </p:sp>
      <p:sp>
        <p:nvSpPr>
          <p:cNvPr id="23" name="Shape 19"/>
          <p:cNvSpPr/>
          <p:nvPr/>
        </p:nvSpPr>
        <p:spPr>
          <a:xfrm>
            <a:off x="4233672" y="3410966"/>
            <a:ext cx="457200" cy="457200"/>
          </a:xfrm>
          <a:prstGeom prst="roundRect">
            <a:avLst>
              <a:gd name="adj" fmla="val 50000"/>
            </a:avLst>
          </a:prstGeom>
          <a:solidFill>
            <a:srgbClr val="22C55E">
              <a:alpha val="20000"/>
            </a:srgbClr>
          </a:solidFill>
          <a:ln w="15240">
            <a:solidFill>
              <a:srgbClr val="22C55E">
                <a:alpha val="70000"/>
              </a:srgbClr>
            </a:solidFill>
            <a:prstDash val="solid"/>
          </a:ln>
        </p:spPr>
      </p:sp>
      <p:sp>
        <p:nvSpPr>
          <p:cNvPr id="24" name="Text 20"/>
          <p:cNvSpPr/>
          <p:nvPr/>
        </p:nvSpPr>
        <p:spPr>
          <a:xfrm>
            <a:off x="4187952" y="3502406"/>
            <a:ext cx="548640"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02</a:t>
            </a:r>
            <a:endParaRPr lang="en-US" sz="1500" dirty="0"/>
          </a:p>
        </p:txBody>
      </p:sp>
      <p:sp>
        <p:nvSpPr>
          <p:cNvPr id="25" name="Text 21"/>
          <p:cNvSpPr/>
          <p:nvPr/>
        </p:nvSpPr>
        <p:spPr>
          <a:xfrm>
            <a:off x="4233672" y="4032758"/>
            <a:ext cx="2468880" cy="347472"/>
          </a:xfrm>
          <a:prstGeom prst="rect">
            <a:avLst/>
          </a:prstGeom>
          <a:noFill/>
          <a:ln/>
        </p:spPr>
        <p:txBody>
          <a:bodyPr wrap="square" lIns="0" tIns="0" rIns="0" bIns="0" rtlCol="0" anchor="t"/>
          <a:lstStyle/>
          <a:p>
            <a:pPr algn="l" indent="0" marL="0">
              <a:lnSpc>
                <a:spcPts val="2160"/>
              </a:lnSpc>
              <a:buNone/>
            </a:pPr>
            <a:r>
              <a:rPr lang="en-US" sz="1600" b="1" dirty="0">
                <a:solidFill>
                  <a:srgbClr val="FFFFFF"/>
                </a:solidFill>
                <a:latin typeface="Be Vietnam Pro" pitchFamily="34" charset="0"/>
                <a:ea typeface="Be Vietnam Pro" pitchFamily="34" charset="-122"/>
                <a:cs typeface="Be Vietnam Pro" pitchFamily="34" charset="-120"/>
              </a:rPr>
              <a:t>Người điều phối</a:t>
            </a:r>
            <a:endParaRPr lang="en-US" sz="1600" dirty="0"/>
          </a:p>
        </p:txBody>
      </p:sp>
      <p:sp>
        <p:nvSpPr>
          <p:cNvPr id="26" name="Text 22"/>
          <p:cNvSpPr/>
          <p:nvPr/>
        </p:nvSpPr>
        <p:spPr>
          <a:xfrm>
            <a:off x="4233672" y="4416806"/>
            <a:ext cx="2468880" cy="736092"/>
          </a:xfrm>
          <a:prstGeom prst="rect">
            <a:avLst/>
          </a:prstGeom>
          <a:noFill/>
          <a:ln/>
        </p:spPr>
        <p:txBody>
          <a:bodyPr wrap="square" lIns="0" tIns="0" rIns="0" bIns="0" rtlCol="0" anchor="t"/>
          <a:lstStyle/>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Dùng AI phân tích tình hình, phê</a:t>
            </a:r>
            <a:endParaRPr lang="en-US" sz="1200" dirty="0"/>
          </a:p>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duyệt phương án và lập kế</a:t>
            </a:r>
            <a:endParaRPr lang="en-US" sz="1200" dirty="0"/>
          </a:p>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hoạch cứu hộ.</a:t>
            </a:r>
            <a:endParaRPr lang="en-US" sz="1200" dirty="0"/>
          </a:p>
        </p:txBody>
      </p:sp>
      <p:sp>
        <p:nvSpPr>
          <p:cNvPr id="27" name="Shape 23"/>
          <p:cNvSpPr/>
          <p:nvPr/>
        </p:nvSpPr>
        <p:spPr>
          <a:xfrm>
            <a:off x="7452360" y="2578862"/>
            <a:ext cx="4023360" cy="1517904"/>
          </a:xfrm>
          <a:prstGeom prst="roundRect">
            <a:avLst>
              <a:gd name="adj" fmla="val 7229"/>
            </a:avLst>
          </a:prstGeom>
          <a:solidFill>
            <a:srgbClr val="091B2D">
              <a:alpha val="66000"/>
            </a:srgbClr>
          </a:solidFill>
          <a:ln w="12700">
            <a:solidFill>
              <a:srgbClr val="FFFFFF">
                <a:alpha val="12000"/>
              </a:srgbClr>
            </a:solidFill>
            <a:prstDash val="solid"/>
          </a:ln>
        </p:spPr>
      </p:sp>
      <p:sp>
        <p:nvSpPr>
          <p:cNvPr id="28" name="Shape 24"/>
          <p:cNvSpPr/>
          <p:nvPr/>
        </p:nvSpPr>
        <p:spPr>
          <a:xfrm>
            <a:off x="7452360" y="2578862"/>
            <a:ext cx="50292" cy="1517904"/>
          </a:xfrm>
          <a:prstGeom prst="roundRect">
            <a:avLst>
              <a:gd name="adj" fmla="val 54545"/>
            </a:avLst>
          </a:prstGeom>
          <a:solidFill>
            <a:srgbClr val="FBBF24">
              <a:alpha val="95000"/>
            </a:srgbClr>
          </a:solidFill>
          <a:ln/>
        </p:spPr>
      </p:sp>
      <p:sp>
        <p:nvSpPr>
          <p:cNvPr id="29" name="Shape 25"/>
          <p:cNvSpPr/>
          <p:nvPr/>
        </p:nvSpPr>
        <p:spPr>
          <a:xfrm>
            <a:off x="7726680" y="2816606"/>
            <a:ext cx="420624" cy="420624"/>
          </a:xfrm>
          <a:prstGeom prst="roundRect">
            <a:avLst>
              <a:gd name="adj" fmla="val 50000"/>
            </a:avLst>
          </a:prstGeom>
          <a:solidFill>
            <a:srgbClr val="04101F">
              <a:alpha val="88000"/>
            </a:srgbClr>
          </a:solidFill>
          <a:ln/>
        </p:spPr>
      </p:sp>
      <p:sp>
        <p:nvSpPr>
          <p:cNvPr id="30" name="Shape 26"/>
          <p:cNvSpPr/>
          <p:nvPr/>
        </p:nvSpPr>
        <p:spPr>
          <a:xfrm>
            <a:off x="7726680" y="2816606"/>
            <a:ext cx="420624" cy="420624"/>
          </a:xfrm>
          <a:prstGeom prst="roundRect">
            <a:avLst>
              <a:gd name="adj" fmla="val 50000"/>
            </a:avLst>
          </a:prstGeom>
          <a:solidFill>
            <a:srgbClr val="FBBF24">
              <a:alpha val="20000"/>
            </a:srgbClr>
          </a:solidFill>
          <a:ln w="15240">
            <a:solidFill>
              <a:srgbClr val="FBBF24">
                <a:alpha val="70000"/>
              </a:srgbClr>
            </a:solidFill>
            <a:prstDash val="solid"/>
          </a:ln>
        </p:spPr>
      </p:sp>
      <p:sp>
        <p:nvSpPr>
          <p:cNvPr id="31" name="Text 27"/>
          <p:cNvSpPr/>
          <p:nvPr/>
        </p:nvSpPr>
        <p:spPr>
          <a:xfrm>
            <a:off x="7680960" y="2889758"/>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FBBF24"/>
                </a:solidFill>
                <a:latin typeface="Be Vietnam Pro" pitchFamily="34" charset="0"/>
                <a:ea typeface="Be Vietnam Pro" pitchFamily="34" charset="-122"/>
                <a:cs typeface="Be Vietnam Pro" pitchFamily="34" charset="-120"/>
              </a:rPr>
              <a:t>03</a:t>
            </a:r>
            <a:endParaRPr lang="en-US" sz="1500" dirty="0"/>
          </a:p>
        </p:txBody>
      </p:sp>
      <p:sp>
        <p:nvSpPr>
          <p:cNvPr id="32" name="Text 28"/>
          <p:cNvSpPr/>
          <p:nvPr/>
        </p:nvSpPr>
        <p:spPr>
          <a:xfrm>
            <a:off x="8275320" y="2862326"/>
            <a:ext cx="3017520" cy="347472"/>
          </a:xfrm>
          <a:prstGeom prst="rect">
            <a:avLst/>
          </a:prstGeom>
          <a:noFill/>
          <a:ln/>
        </p:spPr>
        <p:txBody>
          <a:bodyPr wrap="square" lIns="0" tIns="0" rIns="0" bIns="0" rtlCol="0" anchor="t"/>
          <a:lstStyle/>
          <a:p>
            <a:pPr algn="l" indent="0" marL="0">
              <a:lnSpc>
                <a:spcPts val="2160"/>
              </a:lnSpc>
              <a:buNone/>
            </a:pPr>
            <a:r>
              <a:rPr lang="en-US" sz="1600" b="1" dirty="0">
                <a:solidFill>
                  <a:srgbClr val="FFFFFF"/>
                </a:solidFill>
                <a:latin typeface="Be Vietnam Pro" pitchFamily="34" charset="0"/>
                <a:ea typeface="Be Vietnam Pro" pitchFamily="34" charset="-122"/>
                <a:cs typeface="Be Vietnam Pro" pitchFamily="34" charset="-120"/>
              </a:rPr>
              <a:t>Bộ phận kho</a:t>
            </a:r>
            <a:endParaRPr lang="en-US" sz="1600" dirty="0"/>
          </a:p>
        </p:txBody>
      </p:sp>
      <p:sp>
        <p:nvSpPr>
          <p:cNvPr id="33" name="Text 29"/>
          <p:cNvSpPr/>
          <p:nvPr/>
        </p:nvSpPr>
        <p:spPr>
          <a:xfrm>
            <a:off x="7726680" y="3401822"/>
            <a:ext cx="3566160" cy="515112"/>
          </a:xfrm>
          <a:prstGeom prst="rect">
            <a:avLst/>
          </a:prstGeom>
          <a:noFill/>
          <a:ln/>
        </p:spPr>
        <p:txBody>
          <a:bodyPr wrap="square" lIns="0" tIns="0" rIns="0" bIns="0" rtlCol="0" anchor="t"/>
          <a:lstStyle/>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Nhận thông báo tức thì để chuẩn bị và xuất</a:t>
            </a:r>
            <a:endParaRPr lang="en-US" sz="1200" dirty="0"/>
          </a:p>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vật tư theo lệnh.</a:t>
            </a:r>
            <a:endParaRPr lang="en-US" sz="1200" dirty="0"/>
          </a:p>
        </p:txBody>
      </p:sp>
      <p:sp>
        <p:nvSpPr>
          <p:cNvPr id="34" name="Shape 30"/>
          <p:cNvSpPr/>
          <p:nvPr/>
        </p:nvSpPr>
        <p:spPr>
          <a:xfrm>
            <a:off x="7452360" y="4371086"/>
            <a:ext cx="4023360" cy="1517904"/>
          </a:xfrm>
          <a:prstGeom prst="roundRect">
            <a:avLst>
              <a:gd name="adj" fmla="val 7229"/>
            </a:avLst>
          </a:prstGeom>
          <a:solidFill>
            <a:srgbClr val="091B2D">
              <a:alpha val="66000"/>
            </a:srgbClr>
          </a:solidFill>
          <a:ln w="12700">
            <a:solidFill>
              <a:srgbClr val="FFFFFF">
                <a:alpha val="12000"/>
              </a:srgbClr>
            </a:solidFill>
            <a:prstDash val="solid"/>
          </a:ln>
        </p:spPr>
      </p:sp>
      <p:sp>
        <p:nvSpPr>
          <p:cNvPr id="35" name="Shape 31"/>
          <p:cNvSpPr/>
          <p:nvPr/>
        </p:nvSpPr>
        <p:spPr>
          <a:xfrm>
            <a:off x="7452360" y="4371086"/>
            <a:ext cx="50292" cy="1517904"/>
          </a:xfrm>
          <a:prstGeom prst="roundRect">
            <a:avLst>
              <a:gd name="adj" fmla="val 54545"/>
            </a:avLst>
          </a:prstGeom>
          <a:solidFill>
            <a:srgbClr val="FB923C">
              <a:alpha val="95000"/>
            </a:srgbClr>
          </a:solidFill>
          <a:ln/>
        </p:spPr>
      </p:sp>
      <p:sp>
        <p:nvSpPr>
          <p:cNvPr id="36" name="Shape 32"/>
          <p:cNvSpPr/>
          <p:nvPr/>
        </p:nvSpPr>
        <p:spPr>
          <a:xfrm>
            <a:off x="7726680" y="4608830"/>
            <a:ext cx="420624" cy="420624"/>
          </a:xfrm>
          <a:prstGeom prst="roundRect">
            <a:avLst>
              <a:gd name="adj" fmla="val 50000"/>
            </a:avLst>
          </a:prstGeom>
          <a:solidFill>
            <a:srgbClr val="04101F">
              <a:alpha val="88000"/>
            </a:srgbClr>
          </a:solidFill>
          <a:ln/>
        </p:spPr>
      </p:sp>
      <p:sp>
        <p:nvSpPr>
          <p:cNvPr id="37" name="Shape 33"/>
          <p:cNvSpPr/>
          <p:nvPr/>
        </p:nvSpPr>
        <p:spPr>
          <a:xfrm>
            <a:off x="7726680" y="4608830"/>
            <a:ext cx="420624" cy="420624"/>
          </a:xfrm>
          <a:prstGeom prst="roundRect">
            <a:avLst>
              <a:gd name="adj" fmla="val 50000"/>
            </a:avLst>
          </a:prstGeom>
          <a:solidFill>
            <a:srgbClr val="FB923C">
              <a:alpha val="20000"/>
            </a:srgbClr>
          </a:solidFill>
          <a:ln w="15240">
            <a:solidFill>
              <a:srgbClr val="FB923C">
                <a:alpha val="70000"/>
              </a:srgbClr>
            </a:solidFill>
            <a:prstDash val="solid"/>
          </a:ln>
        </p:spPr>
      </p:sp>
      <p:sp>
        <p:nvSpPr>
          <p:cNvPr id="38" name="Text 34"/>
          <p:cNvSpPr/>
          <p:nvPr/>
        </p:nvSpPr>
        <p:spPr>
          <a:xfrm>
            <a:off x="7680960" y="4681982"/>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FB923C"/>
                </a:solidFill>
                <a:latin typeface="Be Vietnam Pro" pitchFamily="34" charset="0"/>
                <a:ea typeface="Be Vietnam Pro" pitchFamily="34" charset="-122"/>
                <a:cs typeface="Be Vietnam Pro" pitchFamily="34" charset="-120"/>
              </a:rPr>
              <a:t>04</a:t>
            </a:r>
            <a:endParaRPr lang="en-US" sz="1500" dirty="0"/>
          </a:p>
        </p:txBody>
      </p:sp>
      <p:sp>
        <p:nvSpPr>
          <p:cNvPr id="39" name="Text 35"/>
          <p:cNvSpPr/>
          <p:nvPr/>
        </p:nvSpPr>
        <p:spPr>
          <a:xfrm>
            <a:off x="8275320" y="4654550"/>
            <a:ext cx="3017520" cy="347472"/>
          </a:xfrm>
          <a:prstGeom prst="rect">
            <a:avLst/>
          </a:prstGeom>
          <a:noFill/>
          <a:ln/>
        </p:spPr>
        <p:txBody>
          <a:bodyPr wrap="square" lIns="0" tIns="0" rIns="0" bIns="0" rtlCol="0" anchor="t"/>
          <a:lstStyle/>
          <a:p>
            <a:pPr algn="l" indent="0" marL="0">
              <a:lnSpc>
                <a:spcPts val="2160"/>
              </a:lnSpc>
              <a:buNone/>
            </a:pPr>
            <a:r>
              <a:rPr lang="en-US" sz="1600" b="1" dirty="0">
                <a:solidFill>
                  <a:srgbClr val="FFFFFF"/>
                </a:solidFill>
                <a:latin typeface="Be Vietnam Pro" pitchFamily="34" charset="0"/>
                <a:ea typeface="Be Vietnam Pro" pitchFamily="34" charset="-122"/>
                <a:cs typeface="Be Vietnam Pro" pitchFamily="34" charset="-120"/>
              </a:rPr>
              <a:t>Đội cứu hộ</a:t>
            </a:r>
            <a:endParaRPr lang="en-US" sz="1600" dirty="0"/>
          </a:p>
        </p:txBody>
      </p:sp>
      <p:sp>
        <p:nvSpPr>
          <p:cNvPr id="40" name="Text 36"/>
          <p:cNvSpPr/>
          <p:nvPr/>
        </p:nvSpPr>
        <p:spPr>
          <a:xfrm>
            <a:off x="7726680" y="5194046"/>
            <a:ext cx="3566160" cy="515112"/>
          </a:xfrm>
          <a:prstGeom prst="rect">
            <a:avLst/>
          </a:prstGeom>
          <a:noFill/>
          <a:ln/>
        </p:spPr>
        <p:txBody>
          <a:bodyPr wrap="square" lIns="0" tIns="0" rIns="0" bIns="0" rtlCol="0" anchor="t"/>
          <a:lstStyle/>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Nhận nhiệm vụ, danh sách vật tư và vị trí kho</a:t>
            </a:r>
            <a:endParaRPr lang="en-US" sz="1200" dirty="0"/>
          </a:p>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trên bản đồ.</a:t>
            </a:r>
            <a:endParaRPr lang="en-US" sz="1200" dirty="0"/>
          </a:p>
        </p:txBody>
      </p:sp>
      <p:sp>
        <p:nvSpPr>
          <p:cNvPr id="41" name="Shape 37"/>
          <p:cNvSpPr/>
          <p:nvPr/>
        </p:nvSpPr>
        <p:spPr>
          <a:xfrm rot="5400000">
            <a:off x="3589020" y="4115054"/>
            <a:ext cx="237744" cy="237744"/>
          </a:xfrm>
          <a:prstGeom prst="triangle">
            <a:avLst/>
          </a:prstGeom>
          <a:solidFill>
            <a:srgbClr val="22C55E">
              <a:alpha val="80000"/>
            </a:srgbClr>
          </a:solidFill>
          <a:ln/>
        </p:spPr>
      </p:sp>
      <p:sp>
        <p:nvSpPr>
          <p:cNvPr id="42" name="Shape 38"/>
          <p:cNvSpPr/>
          <p:nvPr/>
        </p:nvSpPr>
        <p:spPr>
          <a:xfrm>
            <a:off x="6940296" y="4223868"/>
            <a:ext cx="219456" cy="20117"/>
          </a:xfrm>
          <a:prstGeom prst="rect">
            <a:avLst/>
          </a:prstGeom>
          <a:solidFill>
            <a:srgbClr val="2E7D55">
              <a:alpha val="85000"/>
            </a:srgbClr>
          </a:solidFill>
          <a:ln/>
        </p:spPr>
      </p:sp>
      <p:sp>
        <p:nvSpPr>
          <p:cNvPr id="43" name="Shape 39"/>
          <p:cNvSpPr/>
          <p:nvPr/>
        </p:nvSpPr>
        <p:spPr>
          <a:xfrm>
            <a:off x="7149694" y="3337814"/>
            <a:ext cx="20117" cy="1792224"/>
          </a:xfrm>
          <a:prstGeom prst="rect">
            <a:avLst/>
          </a:prstGeom>
          <a:solidFill>
            <a:srgbClr val="2E7D55">
              <a:alpha val="85000"/>
            </a:srgbClr>
          </a:solidFill>
          <a:ln/>
        </p:spPr>
      </p:sp>
      <p:sp>
        <p:nvSpPr>
          <p:cNvPr id="44" name="Shape 40"/>
          <p:cNvSpPr/>
          <p:nvPr/>
        </p:nvSpPr>
        <p:spPr>
          <a:xfrm>
            <a:off x="7159752" y="3327756"/>
            <a:ext cx="73152" cy="20117"/>
          </a:xfrm>
          <a:prstGeom prst="rect">
            <a:avLst/>
          </a:prstGeom>
          <a:solidFill>
            <a:srgbClr val="2E7D55">
              <a:alpha val="85000"/>
            </a:srgbClr>
          </a:solidFill>
          <a:ln/>
        </p:spPr>
      </p:sp>
      <p:sp>
        <p:nvSpPr>
          <p:cNvPr id="45" name="Shape 41"/>
          <p:cNvSpPr/>
          <p:nvPr/>
        </p:nvSpPr>
        <p:spPr>
          <a:xfrm rot="5400000">
            <a:off x="7205472" y="3218942"/>
            <a:ext cx="237744" cy="237744"/>
          </a:xfrm>
          <a:prstGeom prst="triangle">
            <a:avLst/>
          </a:prstGeom>
          <a:solidFill>
            <a:srgbClr val="22C55E">
              <a:alpha val="80000"/>
            </a:srgbClr>
          </a:solidFill>
          <a:ln/>
        </p:spPr>
      </p:sp>
      <p:sp>
        <p:nvSpPr>
          <p:cNvPr id="46" name="Shape 42"/>
          <p:cNvSpPr/>
          <p:nvPr/>
        </p:nvSpPr>
        <p:spPr>
          <a:xfrm>
            <a:off x="7159752" y="5119980"/>
            <a:ext cx="73152" cy="20117"/>
          </a:xfrm>
          <a:prstGeom prst="rect">
            <a:avLst/>
          </a:prstGeom>
          <a:solidFill>
            <a:srgbClr val="2E7D55">
              <a:alpha val="85000"/>
            </a:srgbClr>
          </a:solidFill>
          <a:ln/>
        </p:spPr>
      </p:sp>
      <p:sp>
        <p:nvSpPr>
          <p:cNvPr id="47" name="Shape 43"/>
          <p:cNvSpPr/>
          <p:nvPr/>
        </p:nvSpPr>
        <p:spPr>
          <a:xfrm rot="5400000">
            <a:off x="7205472" y="5011166"/>
            <a:ext cx="237744" cy="237744"/>
          </a:xfrm>
          <a:prstGeom prst="triangle">
            <a:avLst/>
          </a:prstGeom>
          <a:solidFill>
            <a:srgbClr val="22C55E">
              <a:alpha val="80000"/>
            </a:srgbClr>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22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44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44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fill="hold" grpId="0" nodeType="withEffect">
                                  <p:stCondLst>
                                    <p:cond delay="44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44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66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66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66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66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66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66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withEffect">
                                  <p:stCondLst>
                                    <p:cond delay="66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400"/>
                                        <p:tgtEl>
                                          <p:spTgt spid="41"/>
                                        </p:tgtEl>
                                      </p:cBhvr>
                                    </p:animEffect>
                                  </p:childTnLst>
                                </p:cTn>
                              </p:par>
                              <p:par>
                                <p:cTn id="59" presetID="10" presetClass="entr" presetSubtype="0" fill="hold" grpId="0" nodeType="withEffect">
                                  <p:stCondLst>
                                    <p:cond delay="66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400"/>
                                        <p:tgtEl>
                                          <p:spTgt spid="42"/>
                                        </p:tgtEl>
                                      </p:cBhvr>
                                    </p:animEffect>
                                  </p:childTnLst>
                                </p:cTn>
                              </p:par>
                              <p:par>
                                <p:cTn id="62" presetID="10" presetClass="entr" presetSubtype="0" fill="hold" grpId="0" nodeType="withEffect">
                                  <p:stCondLst>
                                    <p:cond delay="88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par>
                                <p:cTn id="65" presetID="10" presetClass="entr" presetSubtype="0" fill="hold" grpId="0" nodeType="withEffect">
                                  <p:stCondLst>
                                    <p:cond delay="88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00"/>
                                        <p:tgtEl>
                                          <p:spTgt spid="28"/>
                                        </p:tgtEl>
                                      </p:cBhvr>
                                    </p:animEffect>
                                  </p:childTnLst>
                                </p:cTn>
                              </p:par>
                              <p:par>
                                <p:cTn id="68" presetID="10" presetClass="entr" presetSubtype="0" fill="hold" grpId="0" nodeType="withEffect">
                                  <p:stCondLst>
                                    <p:cond delay="88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00"/>
                                        <p:tgtEl>
                                          <p:spTgt spid="29"/>
                                        </p:tgtEl>
                                      </p:cBhvr>
                                    </p:animEffect>
                                  </p:childTnLst>
                                </p:cTn>
                              </p:par>
                              <p:par>
                                <p:cTn id="71" presetID="10" presetClass="entr" presetSubtype="0" fill="hold" grpId="0" nodeType="withEffect">
                                  <p:stCondLst>
                                    <p:cond delay="88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400"/>
                                        <p:tgtEl>
                                          <p:spTgt spid="30"/>
                                        </p:tgtEl>
                                      </p:cBhvr>
                                    </p:animEffect>
                                  </p:childTnLst>
                                </p:cTn>
                              </p:par>
                              <p:par>
                                <p:cTn id="74" presetID="10" presetClass="entr" presetSubtype="0" fill="hold" grpId="0" nodeType="withEffect">
                                  <p:stCondLst>
                                    <p:cond delay="88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00"/>
                                        <p:tgtEl>
                                          <p:spTgt spid="31"/>
                                        </p:tgtEl>
                                      </p:cBhvr>
                                    </p:animEffect>
                                  </p:childTnLst>
                                </p:cTn>
                              </p:par>
                              <p:par>
                                <p:cTn id="77" presetID="10" presetClass="entr" presetSubtype="0" fill="hold" grpId="0" nodeType="withEffect">
                                  <p:stCondLst>
                                    <p:cond delay="88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00"/>
                                        <p:tgtEl>
                                          <p:spTgt spid="32"/>
                                        </p:tgtEl>
                                      </p:cBhvr>
                                    </p:animEffect>
                                  </p:childTnLst>
                                </p:cTn>
                              </p:par>
                              <p:par>
                                <p:cTn id="80" presetID="10" presetClass="entr" presetSubtype="0" fill="hold" grpId="0" nodeType="withEffect">
                                  <p:stCondLst>
                                    <p:cond delay="88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00"/>
                                        <p:tgtEl>
                                          <p:spTgt spid="33"/>
                                        </p:tgtEl>
                                      </p:cBhvr>
                                    </p:animEffect>
                                  </p:childTnLst>
                                </p:cTn>
                              </p:par>
                              <p:par>
                                <p:cTn id="83" presetID="10" presetClass="entr" presetSubtype="0" fill="hold" grpId="0" nodeType="withEffect">
                                  <p:stCondLst>
                                    <p:cond delay="880"/>
                                  </p:stCondLst>
                                  <p:childTnLst>
                                    <p:set>
                                      <p:cBhvr>
                                        <p:cTn id="84" dur="1" fill="hold">
                                          <p:stCondLst>
                                            <p:cond delay="0"/>
                                          </p:stCondLst>
                                        </p:cTn>
                                        <p:tgtEl>
                                          <p:spTgt spid="44"/>
                                        </p:tgtEl>
                                        <p:attrNameLst>
                                          <p:attrName>style.visibility</p:attrName>
                                        </p:attrNameLst>
                                      </p:cBhvr>
                                      <p:to>
                                        <p:strVal val="visible"/>
                                      </p:to>
                                    </p:set>
                                    <p:animEffect transition="in" filter="fade">
                                      <p:cBhvr>
                                        <p:cTn id="85" dur="400"/>
                                        <p:tgtEl>
                                          <p:spTgt spid="44"/>
                                        </p:tgtEl>
                                      </p:cBhvr>
                                    </p:animEffect>
                                  </p:childTnLst>
                                </p:cTn>
                              </p:par>
                              <p:par>
                                <p:cTn id="86" presetID="10" presetClass="entr" presetSubtype="0" fill="hold" grpId="0" nodeType="withEffect">
                                  <p:stCondLst>
                                    <p:cond delay="880"/>
                                  </p:stCondLst>
                                  <p:childTnLst>
                                    <p:set>
                                      <p:cBhvr>
                                        <p:cTn id="87" dur="1" fill="hold">
                                          <p:stCondLst>
                                            <p:cond delay="0"/>
                                          </p:stCondLst>
                                        </p:cTn>
                                        <p:tgtEl>
                                          <p:spTgt spid="45"/>
                                        </p:tgtEl>
                                        <p:attrNameLst>
                                          <p:attrName>style.visibility</p:attrName>
                                        </p:attrNameLst>
                                      </p:cBhvr>
                                      <p:to>
                                        <p:strVal val="visible"/>
                                      </p:to>
                                    </p:set>
                                    <p:animEffect transition="in" filter="fade">
                                      <p:cBhvr>
                                        <p:cTn id="88" dur="400"/>
                                        <p:tgtEl>
                                          <p:spTgt spid="45"/>
                                        </p:tgtEl>
                                      </p:cBhvr>
                                    </p:animEffect>
                                  </p:childTnLst>
                                </p:cTn>
                              </p:par>
                              <p:par>
                                <p:cTn id="89" presetID="10" presetClass="entr" presetSubtype="0" fill="hold" grpId="0" nodeType="withEffect">
                                  <p:stCondLst>
                                    <p:cond delay="110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110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110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110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110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110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grpId="0" nodeType="withEffect">
                                  <p:stCondLst>
                                    <p:cond delay="110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110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2" dur="400"/>
                                        <p:tgtEl>
                                          <p:spTgt spid="43"/>
                                        </p:tgtEl>
                                      </p:cBhvr>
                                    </p:animEffect>
                                  </p:childTnLst>
                                </p:cTn>
                              </p:par>
                              <p:par>
                                <p:cTn id="113" presetID="10" presetClass="entr" presetSubtype="0" fill="hold" grpId="0" nodeType="withEffect">
                                  <p:stCondLst>
                                    <p:cond delay="1100"/>
                                  </p:stCondLst>
                                  <p:childTnLst>
                                    <p:set>
                                      <p:cBhvr>
                                        <p:cTn id="114" dur="1" fill="hold">
                                          <p:stCondLst>
                                            <p:cond delay="0"/>
                                          </p:stCondLst>
                                        </p:cTn>
                                        <p:tgtEl>
                                          <p:spTgt spid="46"/>
                                        </p:tgtEl>
                                        <p:attrNameLst>
                                          <p:attrName>style.visibility</p:attrName>
                                        </p:attrNameLst>
                                      </p:cBhvr>
                                      <p:to>
                                        <p:strVal val="visible"/>
                                      </p:to>
                                    </p:set>
                                    <p:animEffect transition="in" filter="fade">
                                      <p:cBhvr>
                                        <p:cTn id="115" dur="400"/>
                                        <p:tgtEl>
                                          <p:spTgt spid="46"/>
                                        </p:tgtEl>
                                      </p:cBhvr>
                                    </p:animEffect>
                                  </p:childTnLst>
                                </p:cTn>
                              </p:par>
                              <p:par>
                                <p:cTn id="116" presetID="10" presetClass="entr" presetSubtype="0" fill="hold" grpId="0" nodeType="withEffect">
                                  <p:stCondLst>
                                    <p:cond delay="1100"/>
                                  </p:stCondLst>
                                  <p:childTnLst>
                                    <p:set>
                                      <p:cBhvr>
                                        <p:cTn id="117" dur="1" fill="hold">
                                          <p:stCondLst>
                                            <p:cond delay="0"/>
                                          </p:stCondLst>
                                        </p:cTn>
                                        <p:tgtEl>
                                          <p:spTgt spid="47"/>
                                        </p:tgtEl>
                                        <p:attrNameLst>
                                          <p:attrName>style.visibility</p:attrName>
                                        </p:attrNameLst>
                                      </p:cBhvr>
                                      <p:to>
                                        <p:strVal val="visible"/>
                                      </p:to>
                                    </p:set>
                                    <p:animEffect transition="in" filter="fade">
                                      <p:cBhvr>
                                        <p:cTn id="118"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07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QUY TRÌNH ĐIỀU PHỐI CỨU HỘ · TOÀN BỘ 6 BƯỚC</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Nhiệm vụ được theo dõi minh bạch từ đầu đến cuối</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Shape 8"/>
          <p:cNvSpPr/>
          <p:nvPr/>
        </p:nvSpPr>
        <p:spPr>
          <a:xfrm rot="5400000">
            <a:off x="4144670" y="2602420"/>
            <a:ext cx="219456" cy="219456"/>
          </a:xfrm>
          <a:prstGeom prst="triangle">
            <a:avLst/>
          </a:prstGeom>
          <a:solidFill>
            <a:srgbClr val="22C55E">
              <a:alpha val="75000"/>
            </a:srgbClr>
          </a:solidFill>
          <a:ln/>
        </p:spPr>
      </p:sp>
      <p:sp>
        <p:nvSpPr>
          <p:cNvPr id="13" name="Shape 9"/>
          <p:cNvSpPr/>
          <p:nvPr/>
        </p:nvSpPr>
        <p:spPr>
          <a:xfrm rot="16200000">
            <a:off x="4135526" y="5012753"/>
            <a:ext cx="219456" cy="219456"/>
          </a:xfrm>
          <a:prstGeom prst="triangle">
            <a:avLst/>
          </a:prstGeom>
          <a:solidFill>
            <a:srgbClr val="22C55E">
              <a:alpha val="75000"/>
            </a:srgbClr>
          </a:solidFill>
          <a:ln/>
        </p:spPr>
      </p:sp>
      <p:sp>
        <p:nvSpPr>
          <p:cNvPr id="14" name="Shape 10"/>
          <p:cNvSpPr/>
          <p:nvPr/>
        </p:nvSpPr>
        <p:spPr>
          <a:xfrm rot="5400000">
            <a:off x="7836713" y="2602420"/>
            <a:ext cx="219456" cy="219456"/>
          </a:xfrm>
          <a:prstGeom prst="triangle">
            <a:avLst/>
          </a:prstGeom>
          <a:solidFill>
            <a:srgbClr val="22C55E">
              <a:alpha val="75000"/>
            </a:srgbClr>
          </a:solidFill>
          <a:ln/>
        </p:spPr>
      </p:sp>
      <p:sp>
        <p:nvSpPr>
          <p:cNvPr id="15" name="Shape 11"/>
          <p:cNvSpPr/>
          <p:nvPr/>
        </p:nvSpPr>
        <p:spPr>
          <a:xfrm rot="16200000">
            <a:off x="7827569" y="5012753"/>
            <a:ext cx="219456" cy="219456"/>
          </a:xfrm>
          <a:prstGeom prst="triangle">
            <a:avLst/>
          </a:prstGeom>
          <a:solidFill>
            <a:srgbClr val="22C55E">
              <a:alpha val="75000"/>
            </a:srgbClr>
          </a:solidFill>
          <a:ln/>
        </p:spPr>
      </p:sp>
      <p:sp>
        <p:nvSpPr>
          <p:cNvPr id="16" name="Shape 12"/>
          <p:cNvSpPr/>
          <p:nvPr/>
        </p:nvSpPr>
        <p:spPr>
          <a:xfrm>
            <a:off x="9777832" y="3716147"/>
            <a:ext cx="20117" cy="246888"/>
          </a:xfrm>
          <a:prstGeom prst="rect">
            <a:avLst/>
          </a:prstGeom>
          <a:solidFill>
            <a:srgbClr val="2E7D55">
              <a:alpha val="85000"/>
            </a:srgbClr>
          </a:solidFill>
          <a:ln/>
        </p:spPr>
      </p:sp>
      <p:sp>
        <p:nvSpPr>
          <p:cNvPr id="17" name="Shape 13"/>
          <p:cNvSpPr/>
          <p:nvPr/>
        </p:nvSpPr>
        <p:spPr>
          <a:xfrm rot="10800000">
            <a:off x="9696450" y="3940175"/>
            <a:ext cx="182880" cy="182880"/>
          </a:xfrm>
          <a:prstGeom prst="triangle">
            <a:avLst/>
          </a:prstGeom>
          <a:solidFill>
            <a:srgbClr val="22C55E">
              <a:alpha val="75000"/>
            </a:srgbClr>
          </a:solidFill>
          <a:ln/>
        </p:spPr>
      </p:sp>
      <p:sp>
        <p:nvSpPr>
          <p:cNvPr id="18" name="Shape 14"/>
          <p:cNvSpPr/>
          <p:nvPr/>
        </p:nvSpPr>
        <p:spPr>
          <a:xfrm>
            <a:off x="713232" y="1708150"/>
            <a:ext cx="3381146" cy="2007997"/>
          </a:xfrm>
          <a:prstGeom prst="roundRect">
            <a:avLst>
              <a:gd name="adj" fmla="val 5465"/>
            </a:avLst>
          </a:prstGeom>
          <a:solidFill>
            <a:srgbClr val="091B2D">
              <a:alpha val="78000"/>
            </a:srgbClr>
          </a:solidFill>
          <a:ln w="12700">
            <a:solidFill>
              <a:srgbClr val="FFFFFF">
                <a:alpha val="16000"/>
              </a:srgbClr>
            </a:solidFill>
            <a:prstDash val="solid"/>
          </a:ln>
        </p:spPr>
      </p:sp>
      <p:sp>
        <p:nvSpPr>
          <p:cNvPr id="19" name="Shape 15"/>
          <p:cNvSpPr/>
          <p:nvPr/>
        </p:nvSpPr>
        <p:spPr>
          <a:xfrm>
            <a:off x="713232" y="1708150"/>
            <a:ext cx="50292" cy="2007997"/>
          </a:xfrm>
          <a:prstGeom prst="roundRect">
            <a:avLst>
              <a:gd name="adj" fmla="val 54545"/>
            </a:avLst>
          </a:prstGeom>
          <a:solidFill>
            <a:srgbClr val="22C55E">
              <a:alpha val="95000"/>
            </a:srgbClr>
          </a:solidFill>
          <a:ln/>
        </p:spPr>
      </p:sp>
      <p:sp>
        <p:nvSpPr>
          <p:cNvPr id="20" name="Shape 16"/>
          <p:cNvSpPr/>
          <p:nvPr/>
        </p:nvSpPr>
        <p:spPr>
          <a:xfrm>
            <a:off x="987552" y="2062924"/>
            <a:ext cx="420624" cy="420624"/>
          </a:xfrm>
          <a:prstGeom prst="roundRect">
            <a:avLst>
              <a:gd name="adj" fmla="val 50000"/>
            </a:avLst>
          </a:prstGeom>
          <a:solidFill>
            <a:srgbClr val="04101F">
              <a:alpha val="88000"/>
            </a:srgbClr>
          </a:solidFill>
          <a:ln/>
        </p:spPr>
      </p:sp>
      <p:sp>
        <p:nvSpPr>
          <p:cNvPr id="21" name="Shape 17"/>
          <p:cNvSpPr/>
          <p:nvPr/>
        </p:nvSpPr>
        <p:spPr>
          <a:xfrm>
            <a:off x="987552" y="2062924"/>
            <a:ext cx="420624" cy="420624"/>
          </a:xfrm>
          <a:prstGeom prst="roundRect">
            <a:avLst>
              <a:gd name="adj" fmla="val 50000"/>
            </a:avLst>
          </a:prstGeom>
          <a:solidFill>
            <a:srgbClr val="22C55E">
              <a:alpha val="20000"/>
            </a:srgbClr>
          </a:solidFill>
          <a:ln w="15240">
            <a:solidFill>
              <a:srgbClr val="22C55E">
                <a:alpha val="70000"/>
              </a:srgbClr>
            </a:solidFill>
            <a:prstDash val="solid"/>
          </a:ln>
        </p:spPr>
      </p:sp>
      <p:sp>
        <p:nvSpPr>
          <p:cNvPr id="22" name="Text 18"/>
          <p:cNvSpPr/>
          <p:nvPr/>
        </p:nvSpPr>
        <p:spPr>
          <a:xfrm>
            <a:off x="941832"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1</a:t>
            </a:r>
            <a:endParaRPr lang="en-US" sz="1500" dirty="0"/>
          </a:p>
        </p:txBody>
      </p:sp>
      <p:sp>
        <p:nvSpPr>
          <p:cNvPr id="23" name="Text 19"/>
          <p:cNvSpPr/>
          <p:nvPr/>
        </p:nvSpPr>
        <p:spPr>
          <a:xfrm>
            <a:off x="1536192" y="2108644"/>
            <a:ext cx="2393594" cy="29540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Ghi nhận tình huống</a:t>
            </a:r>
            <a:endParaRPr lang="en-US" sz="1400" dirty="0"/>
          </a:p>
        </p:txBody>
      </p:sp>
      <p:sp>
        <p:nvSpPr>
          <p:cNvPr id="24" name="Text 20"/>
          <p:cNvSpPr/>
          <p:nvPr/>
        </p:nvSpPr>
        <p:spPr>
          <a:xfrm>
            <a:off x="987552" y="2721292"/>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Trưởng thôn báo cáo và đánh dấu điểm</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gặp nạn trên bản đồ.</a:t>
            </a:r>
            <a:endParaRPr lang="en-US" sz="1150" dirty="0"/>
          </a:p>
        </p:txBody>
      </p:sp>
      <p:sp>
        <p:nvSpPr>
          <p:cNvPr id="25" name="Shape 21"/>
          <p:cNvSpPr/>
          <p:nvPr/>
        </p:nvSpPr>
        <p:spPr>
          <a:xfrm>
            <a:off x="4405274" y="1708150"/>
            <a:ext cx="3381146" cy="2007997"/>
          </a:xfrm>
          <a:prstGeom prst="roundRect">
            <a:avLst>
              <a:gd name="adj" fmla="val 5465"/>
            </a:avLst>
          </a:prstGeom>
          <a:solidFill>
            <a:srgbClr val="091B2D">
              <a:alpha val="78000"/>
            </a:srgbClr>
          </a:solidFill>
          <a:ln w="12700">
            <a:solidFill>
              <a:srgbClr val="FFFFFF">
                <a:alpha val="16000"/>
              </a:srgbClr>
            </a:solidFill>
            <a:prstDash val="solid"/>
          </a:ln>
        </p:spPr>
      </p:sp>
      <p:sp>
        <p:nvSpPr>
          <p:cNvPr id="26" name="Shape 22"/>
          <p:cNvSpPr/>
          <p:nvPr/>
        </p:nvSpPr>
        <p:spPr>
          <a:xfrm>
            <a:off x="4405274" y="1708150"/>
            <a:ext cx="50292" cy="2007997"/>
          </a:xfrm>
          <a:prstGeom prst="roundRect">
            <a:avLst>
              <a:gd name="adj" fmla="val 54545"/>
            </a:avLst>
          </a:prstGeom>
          <a:solidFill>
            <a:srgbClr val="22C55E">
              <a:alpha val="95000"/>
            </a:srgbClr>
          </a:solidFill>
          <a:ln/>
        </p:spPr>
      </p:sp>
      <p:sp>
        <p:nvSpPr>
          <p:cNvPr id="27" name="Shape 23"/>
          <p:cNvSpPr/>
          <p:nvPr/>
        </p:nvSpPr>
        <p:spPr>
          <a:xfrm>
            <a:off x="4679594" y="2062924"/>
            <a:ext cx="420624" cy="420624"/>
          </a:xfrm>
          <a:prstGeom prst="roundRect">
            <a:avLst>
              <a:gd name="adj" fmla="val 50000"/>
            </a:avLst>
          </a:prstGeom>
          <a:solidFill>
            <a:srgbClr val="04101F">
              <a:alpha val="88000"/>
            </a:srgbClr>
          </a:solidFill>
          <a:ln/>
        </p:spPr>
      </p:sp>
      <p:sp>
        <p:nvSpPr>
          <p:cNvPr id="28" name="Shape 24"/>
          <p:cNvSpPr/>
          <p:nvPr/>
        </p:nvSpPr>
        <p:spPr>
          <a:xfrm>
            <a:off x="4679594" y="2062924"/>
            <a:ext cx="420624" cy="420624"/>
          </a:xfrm>
          <a:prstGeom prst="roundRect">
            <a:avLst>
              <a:gd name="adj" fmla="val 50000"/>
            </a:avLst>
          </a:prstGeom>
          <a:solidFill>
            <a:srgbClr val="22C55E">
              <a:alpha val="20000"/>
            </a:srgbClr>
          </a:solidFill>
          <a:ln w="15240">
            <a:solidFill>
              <a:srgbClr val="22C55E">
                <a:alpha val="70000"/>
              </a:srgbClr>
            </a:solidFill>
            <a:prstDash val="solid"/>
          </a:ln>
        </p:spPr>
      </p:sp>
      <p:sp>
        <p:nvSpPr>
          <p:cNvPr id="29" name="Text 25"/>
          <p:cNvSpPr/>
          <p:nvPr/>
        </p:nvSpPr>
        <p:spPr>
          <a:xfrm>
            <a:off x="4633874"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2</a:t>
            </a:r>
            <a:endParaRPr lang="en-US" sz="1500" dirty="0"/>
          </a:p>
        </p:txBody>
      </p:sp>
      <p:sp>
        <p:nvSpPr>
          <p:cNvPr id="30" name="Text 26"/>
          <p:cNvSpPr/>
          <p:nvPr/>
        </p:nvSpPr>
        <p:spPr>
          <a:xfrm>
            <a:off x="5228234" y="2108644"/>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AI hỗ trợ phân tích và</a:t>
            </a:r>
            <a:endParaRPr lang="en-US" sz="1400" dirty="0"/>
          </a:p>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đề xuất vật tư</a:t>
            </a:r>
            <a:endParaRPr lang="en-US" sz="1400" dirty="0"/>
          </a:p>
        </p:txBody>
      </p:sp>
      <p:sp>
        <p:nvSpPr>
          <p:cNvPr id="31" name="Text 27"/>
          <p:cNvSpPr/>
          <p:nvPr/>
        </p:nvSpPr>
        <p:spPr>
          <a:xfrm>
            <a:off x="4679594" y="2721292"/>
            <a:ext cx="2923946" cy="695325"/>
          </a:xfrm>
          <a:prstGeom prst="rect">
            <a:avLst/>
          </a:prstGeom>
          <a:noFill/>
          <a:ln/>
        </p:spPr>
        <p:txBody>
          <a:bodyPr wrap="square" lIns="0" tIns="0" rIns="0" bIns="0" rtlCol="0" anchor="t"/>
          <a:lstStyle/>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AI đọc mô tả bằng lời thành số liệu và</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đề xuất vật tư, người điều phối sẽ chốt</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phương án.</a:t>
            </a:r>
            <a:endParaRPr lang="en-US" sz="1150" dirty="0"/>
          </a:p>
        </p:txBody>
      </p:sp>
      <p:sp>
        <p:nvSpPr>
          <p:cNvPr id="32" name="Shape 28"/>
          <p:cNvSpPr/>
          <p:nvPr/>
        </p:nvSpPr>
        <p:spPr>
          <a:xfrm>
            <a:off x="8097317" y="1708150"/>
            <a:ext cx="3381146" cy="2007997"/>
          </a:xfrm>
          <a:prstGeom prst="roundRect">
            <a:avLst>
              <a:gd name="adj" fmla="val 5465"/>
            </a:avLst>
          </a:prstGeom>
          <a:solidFill>
            <a:srgbClr val="091B2D">
              <a:alpha val="78000"/>
            </a:srgbClr>
          </a:solidFill>
          <a:ln w="12700">
            <a:solidFill>
              <a:srgbClr val="FFFFFF">
                <a:alpha val="16000"/>
              </a:srgbClr>
            </a:solidFill>
            <a:prstDash val="solid"/>
          </a:ln>
        </p:spPr>
      </p:sp>
      <p:sp>
        <p:nvSpPr>
          <p:cNvPr id="33" name="Shape 29"/>
          <p:cNvSpPr/>
          <p:nvPr/>
        </p:nvSpPr>
        <p:spPr>
          <a:xfrm>
            <a:off x="8097317" y="1708150"/>
            <a:ext cx="50292" cy="2007997"/>
          </a:xfrm>
          <a:prstGeom prst="roundRect">
            <a:avLst>
              <a:gd name="adj" fmla="val 54545"/>
            </a:avLst>
          </a:prstGeom>
          <a:solidFill>
            <a:srgbClr val="22C55E">
              <a:alpha val="95000"/>
            </a:srgbClr>
          </a:solidFill>
          <a:ln/>
        </p:spPr>
      </p:sp>
      <p:sp>
        <p:nvSpPr>
          <p:cNvPr id="34" name="Shape 30"/>
          <p:cNvSpPr/>
          <p:nvPr/>
        </p:nvSpPr>
        <p:spPr>
          <a:xfrm>
            <a:off x="8371637" y="2062924"/>
            <a:ext cx="420624" cy="420624"/>
          </a:xfrm>
          <a:prstGeom prst="roundRect">
            <a:avLst>
              <a:gd name="adj" fmla="val 50000"/>
            </a:avLst>
          </a:prstGeom>
          <a:solidFill>
            <a:srgbClr val="04101F">
              <a:alpha val="88000"/>
            </a:srgbClr>
          </a:solidFill>
          <a:ln/>
        </p:spPr>
      </p:sp>
      <p:sp>
        <p:nvSpPr>
          <p:cNvPr id="35" name="Shape 31"/>
          <p:cNvSpPr/>
          <p:nvPr/>
        </p:nvSpPr>
        <p:spPr>
          <a:xfrm>
            <a:off x="8371637" y="2062924"/>
            <a:ext cx="420624" cy="420624"/>
          </a:xfrm>
          <a:prstGeom prst="roundRect">
            <a:avLst>
              <a:gd name="adj" fmla="val 50000"/>
            </a:avLst>
          </a:prstGeom>
          <a:solidFill>
            <a:srgbClr val="22C55E">
              <a:alpha val="20000"/>
            </a:srgbClr>
          </a:solidFill>
          <a:ln w="15240">
            <a:solidFill>
              <a:srgbClr val="22C55E">
                <a:alpha val="70000"/>
              </a:srgbClr>
            </a:solidFill>
            <a:prstDash val="solid"/>
          </a:ln>
        </p:spPr>
      </p:sp>
      <p:sp>
        <p:nvSpPr>
          <p:cNvPr id="36" name="Text 32"/>
          <p:cNvSpPr/>
          <p:nvPr/>
        </p:nvSpPr>
        <p:spPr>
          <a:xfrm>
            <a:off x="8325917"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3</a:t>
            </a:r>
            <a:endParaRPr lang="en-US" sz="1500" dirty="0"/>
          </a:p>
        </p:txBody>
      </p:sp>
      <p:sp>
        <p:nvSpPr>
          <p:cNvPr id="37" name="Text 33"/>
          <p:cNvSpPr/>
          <p:nvPr/>
        </p:nvSpPr>
        <p:spPr>
          <a:xfrm>
            <a:off x="8920277" y="2108644"/>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Chọn kho tiếp tế gần</a:t>
            </a:r>
            <a:endParaRPr lang="en-US" sz="1400" dirty="0"/>
          </a:p>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điểm gặp nạn nhất</a:t>
            </a:r>
            <a:endParaRPr lang="en-US" sz="1400" dirty="0"/>
          </a:p>
        </p:txBody>
      </p:sp>
      <p:sp>
        <p:nvSpPr>
          <p:cNvPr id="38" name="Text 34"/>
          <p:cNvSpPr/>
          <p:nvPr/>
        </p:nvSpPr>
        <p:spPr>
          <a:xfrm>
            <a:off x="8371637" y="2721292"/>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Hệ thống cân nhắc vị trí, tồn kho và khả</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năng đáp ứng của từng kho.</a:t>
            </a:r>
            <a:endParaRPr lang="en-US" sz="1150" dirty="0"/>
          </a:p>
        </p:txBody>
      </p:sp>
      <p:sp>
        <p:nvSpPr>
          <p:cNvPr id="39" name="Shape 35"/>
          <p:cNvSpPr/>
          <p:nvPr/>
        </p:nvSpPr>
        <p:spPr>
          <a:xfrm>
            <a:off x="8097317" y="4118483"/>
            <a:ext cx="3381146" cy="2007997"/>
          </a:xfrm>
          <a:prstGeom prst="roundRect">
            <a:avLst>
              <a:gd name="adj" fmla="val 5465"/>
            </a:avLst>
          </a:prstGeom>
          <a:solidFill>
            <a:srgbClr val="091B2D">
              <a:alpha val="78000"/>
            </a:srgbClr>
          </a:solidFill>
          <a:ln w="12700">
            <a:solidFill>
              <a:srgbClr val="FFFFFF">
                <a:alpha val="16000"/>
              </a:srgbClr>
            </a:solidFill>
            <a:prstDash val="solid"/>
          </a:ln>
        </p:spPr>
      </p:sp>
      <p:sp>
        <p:nvSpPr>
          <p:cNvPr id="40" name="Shape 36"/>
          <p:cNvSpPr/>
          <p:nvPr/>
        </p:nvSpPr>
        <p:spPr>
          <a:xfrm>
            <a:off x="8097317" y="4118483"/>
            <a:ext cx="50292" cy="2007997"/>
          </a:xfrm>
          <a:prstGeom prst="roundRect">
            <a:avLst>
              <a:gd name="adj" fmla="val 54545"/>
            </a:avLst>
          </a:prstGeom>
          <a:solidFill>
            <a:srgbClr val="22C55E">
              <a:alpha val="95000"/>
            </a:srgbClr>
          </a:solidFill>
          <a:ln/>
        </p:spPr>
      </p:sp>
      <p:sp>
        <p:nvSpPr>
          <p:cNvPr id="41" name="Shape 37"/>
          <p:cNvSpPr/>
          <p:nvPr/>
        </p:nvSpPr>
        <p:spPr>
          <a:xfrm>
            <a:off x="8371637" y="4473257"/>
            <a:ext cx="420624" cy="420624"/>
          </a:xfrm>
          <a:prstGeom prst="roundRect">
            <a:avLst>
              <a:gd name="adj" fmla="val 50000"/>
            </a:avLst>
          </a:prstGeom>
          <a:solidFill>
            <a:srgbClr val="04101F">
              <a:alpha val="88000"/>
            </a:srgbClr>
          </a:solidFill>
          <a:ln/>
        </p:spPr>
      </p:sp>
      <p:sp>
        <p:nvSpPr>
          <p:cNvPr id="42" name="Shape 38"/>
          <p:cNvSpPr/>
          <p:nvPr/>
        </p:nvSpPr>
        <p:spPr>
          <a:xfrm>
            <a:off x="8371637" y="4473257"/>
            <a:ext cx="420624" cy="420624"/>
          </a:xfrm>
          <a:prstGeom prst="roundRect">
            <a:avLst>
              <a:gd name="adj" fmla="val 50000"/>
            </a:avLst>
          </a:prstGeom>
          <a:solidFill>
            <a:srgbClr val="22C55E">
              <a:alpha val="20000"/>
            </a:srgbClr>
          </a:solidFill>
          <a:ln w="15240">
            <a:solidFill>
              <a:srgbClr val="22C55E">
                <a:alpha val="70000"/>
              </a:srgbClr>
            </a:solidFill>
            <a:prstDash val="solid"/>
          </a:ln>
        </p:spPr>
      </p:sp>
      <p:sp>
        <p:nvSpPr>
          <p:cNvPr id="43" name="Text 39"/>
          <p:cNvSpPr/>
          <p:nvPr/>
        </p:nvSpPr>
        <p:spPr>
          <a:xfrm>
            <a:off x="8325917"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4</a:t>
            </a:r>
            <a:endParaRPr lang="en-US" sz="1500" dirty="0"/>
          </a:p>
        </p:txBody>
      </p:sp>
      <p:sp>
        <p:nvSpPr>
          <p:cNvPr id="44" name="Text 40"/>
          <p:cNvSpPr/>
          <p:nvPr/>
        </p:nvSpPr>
        <p:spPr>
          <a:xfrm>
            <a:off x="8920277" y="4518977"/>
            <a:ext cx="2393594" cy="29540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Xác nhận &amp; thông báo</a:t>
            </a:r>
            <a:endParaRPr lang="en-US" sz="1400" dirty="0"/>
          </a:p>
        </p:txBody>
      </p:sp>
      <p:sp>
        <p:nvSpPr>
          <p:cNvPr id="45" name="Text 41"/>
          <p:cNvSpPr/>
          <p:nvPr/>
        </p:nvSpPr>
        <p:spPr>
          <a:xfrm>
            <a:off x="8371637" y="5131626"/>
            <a:ext cx="2923946" cy="695325"/>
          </a:xfrm>
          <a:prstGeom prst="rect">
            <a:avLst/>
          </a:prstGeom>
          <a:noFill/>
          <a:ln/>
        </p:spPr>
        <p:txBody>
          <a:bodyPr wrap="square" lIns="0" tIns="0" rIns="0" bIns="0" rtlCol="0" anchor="t"/>
          <a:lstStyle/>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Kho phụ trách nhận lệnh chuẩn bị, xuất</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vật tư; đội cứu hộ nhận nhiệm vụ cùng</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lúc.</a:t>
            </a:r>
            <a:endParaRPr lang="en-US" sz="1150" dirty="0"/>
          </a:p>
        </p:txBody>
      </p:sp>
      <p:sp>
        <p:nvSpPr>
          <p:cNvPr id="46" name="Shape 42"/>
          <p:cNvSpPr/>
          <p:nvPr/>
        </p:nvSpPr>
        <p:spPr>
          <a:xfrm>
            <a:off x="4405274" y="4118483"/>
            <a:ext cx="3381146" cy="2007997"/>
          </a:xfrm>
          <a:prstGeom prst="roundRect">
            <a:avLst>
              <a:gd name="adj" fmla="val 5465"/>
            </a:avLst>
          </a:prstGeom>
          <a:solidFill>
            <a:srgbClr val="091B2D">
              <a:alpha val="78000"/>
            </a:srgbClr>
          </a:solidFill>
          <a:ln w="12700">
            <a:solidFill>
              <a:srgbClr val="FFFFFF">
                <a:alpha val="16000"/>
              </a:srgbClr>
            </a:solidFill>
            <a:prstDash val="solid"/>
          </a:ln>
        </p:spPr>
      </p:sp>
      <p:sp>
        <p:nvSpPr>
          <p:cNvPr id="47" name="Shape 43"/>
          <p:cNvSpPr/>
          <p:nvPr/>
        </p:nvSpPr>
        <p:spPr>
          <a:xfrm>
            <a:off x="4405274" y="4118483"/>
            <a:ext cx="50292" cy="2007997"/>
          </a:xfrm>
          <a:prstGeom prst="roundRect">
            <a:avLst>
              <a:gd name="adj" fmla="val 54545"/>
            </a:avLst>
          </a:prstGeom>
          <a:solidFill>
            <a:srgbClr val="22C55E">
              <a:alpha val="95000"/>
            </a:srgbClr>
          </a:solidFill>
          <a:ln/>
        </p:spPr>
      </p:sp>
      <p:sp>
        <p:nvSpPr>
          <p:cNvPr id="48" name="Shape 44"/>
          <p:cNvSpPr/>
          <p:nvPr/>
        </p:nvSpPr>
        <p:spPr>
          <a:xfrm>
            <a:off x="4679594" y="4473257"/>
            <a:ext cx="420624" cy="420624"/>
          </a:xfrm>
          <a:prstGeom prst="roundRect">
            <a:avLst>
              <a:gd name="adj" fmla="val 50000"/>
            </a:avLst>
          </a:prstGeom>
          <a:solidFill>
            <a:srgbClr val="04101F">
              <a:alpha val="88000"/>
            </a:srgbClr>
          </a:solidFill>
          <a:ln/>
        </p:spPr>
      </p:sp>
      <p:sp>
        <p:nvSpPr>
          <p:cNvPr id="49" name="Shape 45"/>
          <p:cNvSpPr/>
          <p:nvPr/>
        </p:nvSpPr>
        <p:spPr>
          <a:xfrm>
            <a:off x="4679594" y="4473257"/>
            <a:ext cx="420624" cy="420624"/>
          </a:xfrm>
          <a:prstGeom prst="roundRect">
            <a:avLst>
              <a:gd name="adj" fmla="val 50000"/>
            </a:avLst>
          </a:prstGeom>
          <a:solidFill>
            <a:srgbClr val="22C55E">
              <a:alpha val="20000"/>
            </a:srgbClr>
          </a:solidFill>
          <a:ln w="15240">
            <a:solidFill>
              <a:srgbClr val="22C55E">
                <a:alpha val="70000"/>
              </a:srgbClr>
            </a:solidFill>
            <a:prstDash val="solid"/>
          </a:ln>
        </p:spPr>
      </p:sp>
      <p:sp>
        <p:nvSpPr>
          <p:cNvPr id="50" name="Text 46"/>
          <p:cNvSpPr/>
          <p:nvPr/>
        </p:nvSpPr>
        <p:spPr>
          <a:xfrm>
            <a:off x="4633874"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5</a:t>
            </a:r>
            <a:endParaRPr lang="en-US" sz="1500" dirty="0"/>
          </a:p>
        </p:txBody>
      </p:sp>
      <p:sp>
        <p:nvSpPr>
          <p:cNvPr id="51" name="Text 47"/>
          <p:cNvSpPr/>
          <p:nvPr/>
        </p:nvSpPr>
        <p:spPr>
          <a:xfrm>
            <a:off x="5228234" y="4518977"/>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Đội cứu hộ xác nhận hoàn</a:t>
            </a:r>
            <a:endParaRPr lang="en-US" sz="1400" dirty="0"/>
          </a:p>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thành</a:t>
            </a:r>
            <a:endParaRPr lang="en-US" sz="1400" dirty="0"/>
          </a:p>
        </p:txBody>
      </p:sp>
      <p:sp>
        <p:nvSpPr>
          <p:cNvPr id="52" name="Text 48"/>
          <p:cNvSpPr/>
          <p:nvPr/>
        </p:nvSpPr>
        <p:spPr>
          <a:xfrm>
            <a:off x="4679594" y="5131626"/>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Báo cáo kết quả nhiệm vụ kèm hình ảnh</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tại hiện trường.</a:t>
            </a:r>
            <a:endParaRPr lang="en-US" sz="1150" dirty="0"/>
          </a:p>
        </p:txBody>
      </p:sp>
      <p:sp>
        <p:nvSpPr>
          <p:cNvPr id="53" name="Shape 49"/>
          <p:cNvSpPr/>
          <p:nvPr/>
        </p:nvSpPr>
        <p:spPr>
          <a:xfrm>
            <a:off x="713232" y="4118483"/>
            <a:ext cx="3381146" cy="2007997"/>
          </a:xfrm>
          <a:prstGeom prst="roundRect">
            <a:avLst>
              <a:gd name="adj" fmla="val 5465"/>
            </a:avLst>
          </a:prstGeom>
          <a:solidFill>
            <a:srgbClr val="091B2D">
              <a:alpha val="78000"/>
            </a:srgbClr>
          </a:solidFill>
          <a:ln w="12700">
            <a:solidFill>
              <a:srgbClr val="FFFFFF">
                <a:alpha val="16000"/>
              </a:srgbClr>
            </a:solidFill>
            <a:prstDash val="solid"/>
          </a:ln>
        </p:spPr>
      </p:sp>
      <p:sp>
        <p:nvSpPr>
          <p:cNvPr id="54" name="Shape 50"/>
          <p:cNvSpPr/>
          <p:nvPr/>
        </p:nvSpPr>
        <p:spPr>
          <a:xfrm>
            <a:off x="713232" y="4118483"/>
            <a:ext cx="50292" cy="2007997"/>
          </a:xfrm>
          <a:prstGeom prst="roundRect">
            <a:avLst>
              <a:gd name="adj" fmla="val 54545"/>
            </a:avLst>
          </a:prstGeom>
          <a:solidFill>
            <a:srgbClr val="22C55E">
              <a:alpha val="95000"/>
            </a:srgbClr>
          </a:solidFill>
          <a:ln/>
        </p:spPr>
      </p:sp>
      <p:sp>
        <p:nvSpPr>
          <p:cNvPr id="55" name="Shape 51"/>
          <p:cNvSpPr/>
          <p:nvPr/>
        </p:nvSpPr>
        <p:spPr>
          <a:xfrm>
            <a:off x="987552" y="4473257"/>
            <a:ext cx="420624" cy="420624"/>
          </a:xfrm>
          <a:prstGeom prst="roundRect">
            <a:avLst>
              <a:gd name="adj" fmla="val 50000"/>
            </a:avLst>
          </a:prstGeom>
          <a:solidFill>
            <a:srgbClr val="04101F">
              <a:alpha val="88000"/>
            </a:srgbClr>
          </a:solidFill>
          <a:ln/>
        </p:spPr>
      </p:sp>
      <p:sp>
        <p:nvSpPr>
          <p:cNvPr id="56" name="Shape 52"/>
          <p:cNvSpPr/>
          <p:nvPr/>
        </p:nvSpPr>
        <p:spPr>
          <a:xfrm>
            <a:off x="987552" y="4473257"/>
            <a:ext cx="420624" cy="420624"/>
          </a:xfrm>
          <a:prstGeom prst="roundRect">
            <a:avLst>
              <a:gd name="adj" fmla="val 50000"/>
            </a:avLst>
          </a:prstGeom>
          <a:solidFill>
            <a:srgbClr val="22C55E">
              <a:alpha val="20000"/>
            </a:srgbClr>
          </a:solidFill>
          <a:ln w="15240">
            <a:solidFill>
              <a:srgbClr val="22C55E">
                <a:alpha val="70000"/>
              </a:srgbClr>
            </a:solidFill>
            <a:prstDash val="solid"/>
          </a:ln>
        </p:spPr>
      </p:sp>
      <p:sp>
        <p:nvSpPr>
          <p:cNvPr id="57" name="Text 53"/>
          <p:cNvSpPr/>
          <p:nvPr/>
        </p:nvSpPr>
        <p:spPr>
          <a:xfrm>
            <a:off x="941832"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6</a:t>
            </a:r>
            <a:endParaRPr lang="en-US" sz="1500" dirty="0"/>
          </a:p>
        </p:txBody>
      </p:sp>
      <p:sp>
        <p:nvSpPr>
          <p:cNvPr id="58" name="Text 54"/>
          <p:cNvSpPr/>
          <p:nvPr/>
        </p:nvSpPr>
        <p:spPr>
          <a:xfrm>
            <a:off x="1536192" y="4518977"/>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Kho xác nhận hoàn trả</a:t>
            </a:r>
            <a:endParaRPr lang="en-US" sz="1400" dirty="0"/>
          </a:p>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vật tư</a:t>
            </a:r>
            <a:endParaRPr lang="en-US" sz="1400" dirty="0"/>
          </a:p>
        </p:txBody>
      </p:sp>
      <p:sp>
        <p:nvSpPr>
          <p:cNvPr id="59" name="Text 55"/>
          <p:cNvSpPr/>
          <p:nvPr/>
        </p:nvSpPr>
        <p:spPr>
          <a:xfrm>
            <a:off x="987552" y="5131626"/>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Đối chiếu vật tư đã cấp phát và phần</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thu hồi, khép lại nhiệm vụ.</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par>
                                <p:cTn id="23" presetID="10" presetClass="entr" presetSubtype="0" fill="hold" grpId="0" nodeType="withEffect">
                                  <p:stCondLst>
                                    <p:cond delay="44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400"/>
                                        <p:tgtEl>
                                          <p:spTgt spid="22"/>
                                        </p:tgtEl>
                                      </p:cBhvr>
                                    </p:animEffect>
                                  </p:childTnLst>
                                </p:cTn>
                              </p:par>
                              <p:par>
                                <p:cTn id="26" presetID="10" presetClass="entr" presetSubtype="0" fill="hold" grpId="0" nodeType="withEffect">
                                  <p:stCondLst>
                                    <p:cond delay="44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400"/>
                                        <p:tgtEl>
                                          <p:spTgt spid="23"/>
                                        </p:tgtEl>
                                      </p:cBhvr>
                                    </p:animEffect>
                                  </p:childTnLst>
                                </p:cTn>
                              </p:par>
                              <p:par>
                                <p:cTn id="29" presetID="10" presetClass="entr" presetSubtype="0" fill="hold" grpId="0" nodeType="withEffect">
                                  <p:stCondLst>
                                    <p:cond delay="44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400"/>
                                        <p:tgtEl>
                                          <p:spTgt spid="25"/>
                                        </p:tgtEl>
                                      </p:cBhvr>
                                    </p:animEffect>
                                  </p:childTnLst>
                                </p:cTn>
                              </p:par>
                              <p:par>
                                <p:cTn id="38" presetID="10" presetClass="entr" presetSubtype="0" fill="hold" grpId="0" nodeType="withEffect">
                                  <p:stCondLst>
                                    <p:cond delay="66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400"/>
                                        <p:tgtEl>
                                          <p:spTgt spid="26"/>
                                        </p:tgtEl>
                                      </p:cBhvr>
                                    </p:animEffect>
                                  </p:childTnLst>
                                </p:cTn>
                              </p:par>
                              <p:par>
                                <p:cTn id="41" presetID="10" presetClass="entr" presetSubtype="0" fill="hold" grpId="0" nodeType="withEffect">
                                  <p:stCondLst>
                                    <p:cond delay="66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400"/>
                                        <p:tgtEl>
                                          <p:spTgt spid="27"/>
                                        </p:tgtEl>
                                      </p:cBhvr>
                                    </p:animEffect>
                                  </p:childTnLst>
                                </p:cTn>
                              </p:par>
                              <p:par>
                                <p:cTn id="44" presetID="10" presetClass="entr" presetSubtype="0" fill="hold" grpId="0" nodeType="withEffect">
                                  <p:stCondLst>
                                    <p:cond delay="66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400"/>
                                        <p:tgtEl>
                                          <p:spTgt spid="28"/>
                                        </p:tgtEl>
                                      </p:cBhvr>
                                    </p:animEffect>
                                  </p:childTnLst>
                                </p:cTn>
                              </p:par>
                              <p:par>
                                <p:cTn id="47" presetID="10" presetClass="entr" presetSubtype="0" fill="hold" grpId="0" nodeType="withEffect">
                                  <p:stCondLst>
                                    <p:cond delay="66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400"/>
                                        <p:tgtEl>
                                          <p:spTgt spid="29"/>
                                        </p:tgtEl>
                                      </p:cBhvr>
                                    </p:animEffect>
                                  </p:childTnLst>
                                </p:cTn>
                              </p:par>
                              <p:par>
                                <p:cTn id="50" presetID="10" presetClass="entr" presetSubtype="0" fill="hold" grpId="0" nodeType="withEffect">
                                  <p:stCondLst>
                                    <p:cond delay="66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400"/>
                                        <p:tgtEl>
                                          <p:spTgt spid="30"/>
                                        </p:tgtEl>
                                      </p:cBhvr>
                                    </p:animEffect>
                                  </p:childTnLst>
                                </p:cTn>
                              </p:par>
                              <p:par>
                                <p:cTn id="53" presetID="10" presetClass="entr" presetSubtype="0" fill="hold" grpId="0" nodeType="withEffect">
                                  <p:stCondLst>
                                    <p:cond delay="66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400"/>
                                        <p:tgtEl>
                                          <p:spTgt spid="31"/>
                                        </p:tgtEl>
                                      </p:cBhvr>
                                    </p:animEffect>
                                  </p:childTnLst>
                                </p:cTn>
                              </p:par>
                              <p:par>
                                <p:cTn id="56" presetID="10" presetClass="entr" presetSubtype="0" fill="hold" grpId="0" nodeType="withEffect">
                                  <p:stCondLst>
                                    <p:cond delay="88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400"/>
                                        <p:tgtEl>
                                          <p:spTgt spid="14"/>
                                        </p:tgtEl>
                                      </p:cBhvr>
                                    </p:animEffect>
                                  </p:childTnLst>
                                </p:cTn>
                              </p:par>
                              <p:par>
                                <p:cTn id="59" presetID="10" presetClass="entr" presetSubtype="0" fill="hold" grpId="0" nodeType="withEffect">
                                  <p:stCondLst>
                                    <p:cond delay="88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400"/>
                                        <p:tgtEl>
                                          <p:spTgt spid="32"/>
                                        </p:tgtEl>
                                      </p:cBhvr>
                                    </p:animEffect>
                                  </p:childTnLst>
                                </p:cTn>
                              </p:par>
                              <p:par>
                                <p:cTn id="62" presetID="10" presetClass="entr" presetSubtype="0" fill="hold" grpId="0" nodeType="withEffect">
                                  <p:stCondLst>
                                    <p:cond delay="88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400"/>
                                        <p:tgtEl>
                                          <p:spTgt spid="33"/>
                                        </p:tgtEl>
                                      </p:cBhvr>
                                    </p:animEffect>
                                  </p:childTnLst>
                                </p:cTn>
                              </p:par>
                              <p:par>
                                <p:cTn id="65" presetID="10" presetClass="entr" presetSubtype="0" fill="hold" grpId="0" nodeType="withEffect">
                                  <p:stCondLst>
                                    <p:cond delay="88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400"/>
                                        <p:tgtEl>
                                          <p:spTgt spid="34"/>
                                        </p:tgtEl>
                                      </p:cBhvr>
                                    </p:animEffect>
                                  </p:childTnLst>
                                </p:cTn>
                              </p:par>
                              <p:par>
                                <p:cTn id="68" presetID="10" presetClass="entr" presetSubtype="0" fill="hold" grpId="0" nodeType="withEffect">
                                  <p:stCondLst>
                                    <p:cond delay="88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400"/>
                                        <p:tgtEl>
                                          <p:spTgt spid="35"/>
                                        </p:tgtEl>
                                      </p:cBhvr>
                                    </p:animEffect>
                                  </p:childTnLst>
                                </p:cTn>
                              </p:par>
                              <p:par>
                                <p:cTn id="71" presetID="10" presetClass="entr" presetSubtype="0" fill="hold" grpId="0" nodeType="withEffect">
                                  <p:stCondLst>
                                    <p:cond delay="88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400"/>
                                        <p:tgtEl>
                                          <p:spTgt spid="36"/>
                                        </p:tgtEl>
                                      </p:cBhvr>
                                    </p:animEffect>
                                  </p:childTnLst>
                                </p:cTn>
                              </p:par>
                              <p:par>
                                <p:cTn id="74" presetID="10" presetClass="entr" presetSubtype="0" fill="hold" grpId="0" nodeType="withEffect">
                                  <p:stCondLst>
                                    <p:cond delay="88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400"/>
                                        <p:tgtEl>
                                          <p:spTgt spid="37"/>
                                        </p:tgtEl>
                                      </p:cBhvr>
                                    </p:animEffect>
                                  </p:childTnLst>
                                </p:cTn>
                              </p:par>
                              <p:par>
                                <p:cTn id="77" presetID="10" presetClass="entr" presetSubtype="0" fill="hold" grpId="0" nodeType="withEffect">
                                  <p:stCondLst>
                                    <p:cond delay="88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400"/>
                                        <p:tgtEl>
                                          <p:spTgt spid="38"/>
                                        </p:tgtEl>
                                      </p:cBhvr>
                                    </p:animEffect>
                                  </p:childTnLst>
                                </p:cTn>
                              </p:par>
                              <p:par>
                                <p:cTn id="80" presetID="10" presetClass="entr" presetSubtype="0" fill="hold" grpId="0" nodeType="withEffect">
                                  <p:stCondLst>
                                    <p:cond delay="1100"/>
                                  </p:stCondLst>
                                  <p:childTnLst>
                                    <p:set>
                                      <p:cBhvr>
                                        <p:cTn id="81" dur="1" fill="hold">
                                          <p:stCondLst>
                                            <p:cond delay="0"/>
                                          </p:stCondLst>
                                        </p:cTn>
                                        <p:tgtEl>
                                          <p:spTgt spid="16"/>
                                        </p:tgtEl>
                                        <p:attrNameLst>
                                          <p:attrName>style.visibility</p:attrName>
                                        </p:attrNameLst>
                                      </p:cBhvr>
                                      <p:to>
                                        <p:strVal val="visible"/>
                                      </p:to>
                                    </p:set>
                                    <p:animEffect transition="in" filter="fade">
                                      <p:cBhvr>
                                        <p:cTn id="82" dur="400"/>
                                        <p:tgtEl>
                                          <p:spTgt spid="16"/>
                                        </p:tgtEl>
                                      </p:cBhvr>
                                    </p:animEffect>
                                  </p:childTnLst>
                                </p:cTn>
                              </p:par>
                              <p:par>
                                <p:cTn id="83" presetID="10" presetClass="entr" presetSubtype="0" fill="hold" grpId="0" nodeType="withEffect">
                                  <p:stCondLst>
                                    <p:cond delay="110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400"/>
                                        <p:tgtEl>
                                          <p:spTgt spid="17"/>
                                        </p:tgtEl>
                                      </p:cBhvr>
                                    </p:animEffect>
                                  </p:childTnLst>
                                </p:cTn>
                              </p:par>
                              <p:par>
                                <p:cTn id="86" presetID="10" presetClass="entr" presetSubtype="0" fill="hold" grpId="0" nodeType="withEffect">
                                  <p:stCondLst>
                                    <p:cond delay="1100"/>
                                  </p:stCondLst>
                                  <p:childTnLst>
                                    <p:set>
                                      <p:cBhvr>
                                        <p:cTn id="87" dur="1" fill="hold">
                                          <p:stCondLst>
                                            <p:cond delay="0"/>
                                          </p:stCondLst>
                                        </p:cTn>
                                        <p:tgtEl>
                                          <p:spTgt spid="39"/>
                                        </p:tgtEl>
                                        <p:attrNameLst>
                                          <p:attrName>style.visibility</p:attrName>
                                        </p:attrNameLst>
                                      </p:cBhvr>
                                      <p:to>
                                        <p:strVal val="visible"/>
                                      </p:to>
                                    </p:set>
                                    <p:animEffect transition="in" filter="fade">
                                      <p:cBhvr>
                                        <p:cTn id="88" dur="400"/>
                                        <p:tgtEl>
                                          <p:spTgt spid="39"/>
                                        </p:tgtEl>
                                      </p:cBhvr>
                                    </p:animEffect>
                                  </p:childTnLst>
                                </p:cTn>
                              </p:par>
                              <p:par>
                                <p:cTn id="89" presetID="10" presetClass="entr" presetSubtype="0" fill="hold" grpId="0" nodeType="withEffect">
                                  <p:stCondLst>
                                    <p:cond delay="1100"/>
                                  </p:stCondLst>
                                  <p:childTnLst>
                                    <p:set>
                                      <p:cBhvr>
                                        <p:cTn id="90" dur="1" fill="hold">
                                          <p:stCondLst>
                                            <p:cond delay="0"/>
                                          </p:stCondLst>
                                        </p:cTn>
                                        <p:tgtEl>
                                          <p:spTgt spid="40"/>
                                        </p:tgtEl>
                                        <p:attrNameLst>
                                          <p:attrName>style.visibility</p:attrName>
                                        </p:attrNameLst>
                                      </p:cBhvr>
                                      <p:to>
                                        <p:strVal val="visible"/>
                                      </p:to>
                                    </p:set>
                                    <p:animEffect transition="in" filter="fade">
                                      <p:cBhvr>
                                        <p:cTn id="91" dur="400"/>
                                        <p:tgtEl>
                                          <p:spTgt spid="40"/>
                                        </p:tgtEl>
                                      </p:cBhvr>
                                    </p:animEffect>
                                  </p:childTnLst>
                                </p:cTn>
                              </p:par>
                              <p:par>
                                <p:cTn id="92" presetID="10" presetClass="entr" presetSubtype="0" fill="hold" grpId="0" nodeType="withEffect">
                                  <p:stCondLst>
                                    <p:cond delay="1100"/>
                                  </p:stCondLst>
                                  <p:childTnLst>
                                    <p:set>
                                      <p:cBhvr>
                                        <p:cTn id="93" dur="1" fill="hold">
                                          <p:stCondLst>
                                            <p:cond delay="0"/>
                                          </p:stCondLst>
                                        </p:cTn>
                                        <p:tgtEl>
                                          <p:spTgt spid="41"/>
                                        </p:tgtEl>
                                        <p:attrNameLst>
                                          <p:attrName>style.visibility</p:attrName>
                                        </p:attrNameLst>
                                      </p:cBhvr>
                                      <p:to>
                                        <p:strVal val="visible"/>
                                      </p:to>
                                    </p:set>
                                    <p:animEffect transition="in" filter="fade">
                                      <p:cBhvr>
                                        <p:cTn id="94" dur="400"/>
                                        <p:tgtEl>
                                          <p:spTgt spid="41"/>
                                        </p:tgtEl>
                                      </p:cBhvr>
                                    </p:animEffect>
                                  </p:childTnLst>
                                </p:cTn>
                              </p:par>
                              <p:par>
                                <p:cTn id="95" presetID="10" presetClass="entr" presetSubtype="0" fill="hold" grpId="0" nodeType="withEffect">
                                  <p:stCondLst>
                                    <p:cond delay="1100"/>
                                  </p:stCondLst>
                                  <p:childTnLst>
                                    <p:set>
                                      <p:cBhvr>
                                        <p:cTn id="96" dur="1" fill="hold">
                                          <p:stCondLst>
                                            <p:cond delay="0"/>
                                          </p:stCondLst>
                                        </p:cTn>
                                        <p:tgtEl>
                                          <p:spTgt spid="42"/>
                                        </p:tgtEl>
                                        <p:attrNameLst>
                                          <p:attrName>style.visibility</p:attrName>
                                        </p:attrNameLst>
                                      </p:cBhvr>
                                      <p:to>
                                        <p:strVal val="visible"/>
                                      </p:to>
                                    </p:set>
                                    <p:animEffect transition="in" filter="fade">
                                      <p:cBhvr>
                                        <p:cTn id="97" dur="400"/>
                                        <p:tgtEl>
                                          <p:spTgt spid="42"/>
                                        </p:tgtEl>
                                      </p:cBhvr>
                                    </p:animEffect>
                                  </p:childTnLst>
                                </p:cTn>
                              </p:par>
                              <p:par>
                                <p:cTn id="98" presetID="10" presetClass="entr" presetSubtype="0" fill="hold" grpId="0" nodeType="withEffect">
                                  <p:stCondLst>
                                    <p:cond delay="1100"/>
                                  </p:stCondLst>
                                  <p:childTnLst>
                                    <p:set>
                                      <p:cBhvr>
                                        <p:cTn id="99" dur="1" fill="hold">
                                          <p:stCondLst>
                                            <p:cond delay="0"/>
                                          </p:stCondLst>
                                        </p:cTn>
                                        <p:tgtEl>
                                          <p:spTgt spid="43"/>
                                        </p:tgtEl>
                                        <p:attrNameLst>
                                          <p:attrName>style.visibility</p:attrName>
                                        </p:attrNameLst>
                                      </p:cBhvr>
                                      <p:to>
                                        <p:strVal val="visible"/>
                                      </p:to>
                                    </p:set>
                                    <p:animEffect transition="in" filter="fade">
                                      <p:cBhvr>
                                        <p:cTn id="100" dur="400"/>
                                        <p:tgtEl>
                                          <p:spTgt spid="43"/>
                                        </p:tgtEl>
                                      </p:cBhvr>
                                    </p:animEffect>
                                  </p:childTnLst>
                                </p:cTn>
                              </p:par>
                              <p:par>
                                <p:cTn id="101" presetID="10" presetClass="entr" presetSubtype="0" fill="hold" grpId="0" nodeType="withEffect">
                                  <p:stCondLst>
                                    <p:cond delay="1100"/>
                                  </p:stCondLst>
                                  <p:childTnLst>
                                    <p:set>
                                      <p:cBhvr>
                                        <p:cTn id="102" dur="1" fill="hold">
                                          <p:stCondLst>
                                            <p:cond delay="0"/>
                                          </p:stCondLst>
                                        </p:cTn>
                                        <p:tgtEl>
                                          <p:spTgt spid="44"/>
                                        </p:tgtEl>
                                        <p:attrNameLst>
                                          <p:attrName>style.visibility</p:attrName>
                                        </p:attrNameLst>
                                      </p:cBhvr>
                                      <p:to>
                                        <p:strVal val="visible"/>
                                      </p:to>
                                    </p:set>
                                    <p:animEffect transition="in" filter="fade">
                                      <p:cBhvr>
                                        <p:cTn id="103" dur="400"/>
                                        <p:tgtEl>
                                          <p:spTgt spid="44"/>
                                        </p:tgtEl>
                                      </p:cBhvr>
                                    </p:animEffect>
                                  </p:childTnLst>
                                </p:cTn>
                              </p:par>
                              <p:par>
                                <p:cTn id="104" presetID="10" presetClass="entr" presetSubtype="0" fill="hold" grpId="0" nodeType="withEffect">
                                  <p:stCondLst>
                                    <p:cond delay="110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400"/>
                                        <p:tgtEl>
                                          <p:spTgt spid="45"/>
                                        </p:tgtEl>
                                      </p:cBhvr>
                                    </p:animEffect>
                                  </p:childTnLst>
                                </p:cTn>
                              </p:par>
                              <p:par>
                                <p:cTn id="107" presetID="10" presetClass="entr" presetSubtype="0" fill="hold" grpId="0" nodeType="withEffect">
                                  <p:stCondLst>
                                    <p:cond delay="1320"/>
                                  </p:stCondLst>
                                  <p:childTnLst>
                                    <p:set>
                                      <p:cBhvr>
                                        <p:cTn id="108" dur="1" fill="hold">
                                          <p:stCondLst>
                                            <p:cond delay="0"/>
                                          </p:stCondLst>
                                        </p:cTn>
                                        <p:tgtEl>
                                          <p:spTgt spid="15"/>
                                        </p:tgtEl>
                                        <p:attrNameLst>
                                          <p:attrName>style.visibility</p:attrName>
                                        </p:attrNameLst>
                                      </p:cBhvr>
                                      <p:to>
                                        <p:strVal val="visible"/>
                                      </p:to>
                                    </p:set>
                                    <p:animEffect transition="in" filter="fade">
                                      <p:cBhvr>
                                        <p:cTn id="109" dur="400"/>
                                        <p:tgtEl>
                                          <p:spTgt spid="15"/>
                                        </p:tgtEl>
                                      </p:cBhvr>
                                    </p:animEffect>
                                  </p:childTnLst>
                                </p:cTn>
                              </p:par>
                              <p:par>
                                <p:cTn id="110" presetID="10" presetClass="entr" presetSubtype="0" fill="hold" grpId="0" nodeType="withEffect">
                                  <p:stCondLst>
                                    <p:cond delay="1320"/>
                                  </p:stCondLst>
                                  <p:childTnLst>
                                    <p:set>
                                      <p:cBhvr>
                                        <p:cTn id="111" dur="1" fill="hold">
                                          <p:stCondLst>
                                            <p:cond delay="0"/>
                                          </p:stCondLst>
                                        </p:cTn>
                                        <p:tgtEl>
                                          <p:spTgt spid="46"/>
                                        </p:tgtEl>
                                        <p:attrNameLst>
                                          <p:attrName>style.visibility</p:attrName>
                                        </p:attrNameLst>
                                      </p:cBhvr>
                                      <p:to>
                                        <p:strVal val="visible"/>
                                      </p:to>
                                    </p:set>
                                    <p:animEffect transition="in" filter="fade">
                                      <p:cBhvr>
                                        <p:cTn id="112" dur="400"/>
                                        <p:tgtEl>
                                          <p:spTgt spid="46"/>
                                        </p:tgtEl>
                                      </p:cBhvr>
                                    </p:animEffect>
                                  </p:childTnLst>
                                </p:cTn>
                              </p:par>
                              <p:par>
                                <p:cTn id="113" presetID="10" presetClass="entr" presetSubtype="0" fill="hold" grpId="0" nodeType="withEffect">
                                  <p:stCondLst>
                                    <p:cond delay="1320"/>
                                  </p:stCondLst>
                                  <p:childTnLst>
                                    <p:set>
                                      <p:cBhvr>
                                        <p:cTn id="114" dur="1" fill="hold">
                                          <p:stCondLst>
                                            <p:cond delay="0"/>
                                          </p:stCondLst>
                                        </p:cTn>
                                        <p:tgtEl>
                                          <p:spTgt spid="47"/>
                                        </p:tgtEl>
                                        <p:attrNameLst>
                                          <p:attrName>style.visibility</p:attrName>
                                        </p:attrNameLst>
                                      </p:cBhvr>
                                      <p:to>
                                        <p:strVal val="visible"/>
                                      </p:to>
                                    </p:set>
                                    <p:animEffect transition="in" filter="fade">
                                      <p:cBhvr>
                                        <p:cTn id="115" dur="400"/>
                                        <p:tgtEl>
                                          <p:spTgt spid="47"/>
                                        </p:tgtEl>
                                      </p:cBhvr>
                                    </p:animEffect>
                                  </p:childTnLst>
                                </p:cTn>
                              </p:par>
                              <p:par>
                                <p:cTn id="116" presetID="10" presetClass="entr" presetSubtype="0" fill="hold" grpId="0" nodeType="withEffect">
                                  <p:stCondLst>
                                    <p:cond delay="1320"/>
                                  </p:stCondLst>
                                  <p:childTnLst>
                                    <p:set>
                                      <p:cBhvr>
                                        <p:cTn id="117" dur="1" fill="hold">
                                          <p:stCondLst>
                                            <p:cond delay="0"/>
                                          </p:stCondLst>
                                        </p:cTn>
                                        <p:tgtEl>
                                          <p:spTgt spid="48"/>
                                        </p:tgtEl>
                                        <p:attrNameLst>
                                          <p:attrName>style.visibility</p:attrName>
                                        </p:attrNameLst>
                                      </p:cBhvr>
                                      <p:to>
                                        <p:strVal val="visible"/>
                                      </p:to>
                                    </p:set>
                                    <p:animEffect transition="in" filter="fade">
                                      <p:cBhvr>
                                        <p:cTn id="118" dur="400"/>
                                        <p:tgtEl>
                                          <p:spTgt spid="48"/>
                                        </p:tgtEl>
                                      </p:cBhvr>
                                    </p:animEffect>
                                  </p:childTnLst>
                                </p:cTn>
                              </p:par>
                              <p:par>
                                <p:cTn id="119" presetID="10" presetClass="entr" presetSubtype="0" fill="hold" grpId="0" nodeType="withEffect">
                                  <p:stCondLst>
                                    <p:cond delay="1320"/>
                                  </p:stCondLst>
                                  <p:childTnLst>
                                    <p:set>
                                      <p:cBhvr>
                                        <p:cTn id="120" dur="1" fill="hold">
                                          <p:stCondLst>
                                            <p:cond delay="0"/>
                                          </p:stCondLst>
                                        </p:cTn>
                                        <p:tgtEl>
                                          <p:spTgt spid="49"/>
                                        </p:tgtEl>
                                        <p:attrNameLst>
                                          <p:attrName>style.visibility</p:attrName>
                                        </p:attrNameLst>
                                      </p:cBhvr>
                                      <p:to>
                                        <p:strVal val="visible"/>
                                      </p:to>
                                    </p:set>
                                    <p:animEffect transition="in" filter="fade">
                                      <p:cBhvr>
                                        <p:cTn id="121" dur="400"/>
                                        <p:tgtEl>
                                          <p:spTgt spid="49"/>
                                        </p:tgtEl>
                                      </p:cBhvr>
                                    </p:animEffect>
                                  </p:childTnLst>
                                </p:cTn>
                              </p:par>
                              <p:par>
                                <p:cTn id="122" presetID="10" presetClass="entr" presetSubtype="0" fill="hold" grpId="0" nodeType="withEffect">
                                  <p:stCondLst>
                                    <p:cond delay="1320"/>
                                  </p:stCondLst>
                                  <p:childTnLst>
                                    <p:set>
                                      <p:cBhvr>
                                        <p:cTn id="123" dur="1" fill="hold">
                                          <p:stCondLst>
                                            <p:cond delay="0"/>
                                          </p:stCondLst>
                                        </p:cTn>
                                        <p:tgtEl>
                                          <p:spTgt spid="50"/>
                                        </p:tgtEl>
                                        <p:attrNameLst>
                                          <p:attrName>style.visibility</p:attrName>
                                        </p:attrNameLst>
                                      </p:cBhvr>
                                      <p:to>
                                        <p:strVal val="visible"/>
                                      </p:to>
                                    </p:set>
                                    <p:animEffect transition="in" filter="fade">
                                      <p:cBhvr>
                                        <p:cTn id="124" dur="400"/>
                                        <p:tgtEl>
                                          <p:spTgt spid="50"/>
                                        </p:tgtEl>
                                      </p:cBhvr>
                                    </p:animEffect>
                                  </p:childTnLst>
                                </p:cTn>
                              </p:par>
                              <p:par>
                                <p:cTn id="125" presetID="10" presetClass="entr" presetSubtype="0" fill="hold" grpId="0" nodeType="withEffect">
                                  <p:stCondLst>
                                    <p:cond delay="1320"/>
                                  </p:stCondLst>
                                  <p:childTnLst>
                                    <p:set>
                                      <p:cBhvr>
                                        <p:cTn id="126" dur="1" fill="hold">
                                          <p:stCondLst>
                                            <p:cond delay="0"/>
                                          </p:stCondLst>
                                        </p:cTn>
                                        <p:tgtEl>
                                          <p:spTgt spid="51"/>
                                        </p:tgtEl>
                                        <p:attrNameLst>
                                          <p:attrName>style.visibility</p:attrName>
                                        </p:attrNameLst>
                                      </p:cBhvr>
                                      <p:to>
                                        <p:strVal val="visible"/>
                                      </p:to>
                                    </p:set>
                                    <p:animEffect transition="in" filter="fade">
                                      <p:cBhvr>
                                        <p:cTn id="127" dur="400"/>
                                        <p:tgtEl>
                                          <p:spTgt spid="51"/>
                                        </p:tgtEl>
                                      </p:cBhvr>
                                    </p:animEffect>
                                  </p:childTnLst>
                                </p:cTn>
                              </p:par>
                              <p:par>
                                <p:cTn id="128" presetID="10" presetClass="entr" presetSubtype="0" fill="hold" grpId="0" nodeType="withEffect">
                                  <p:stCondLst>
                                    <p:cond delay="1320"/>
                                  </p:stCondLst>
                                  <p:childTnLst>
                                    <p:set>
                                      <p:cBhvr>
                                        <p:cTn id="129" dur="1" fill="hold">
                                          <p:stCondLst>
                                            <p:cond delay="0"/>
                                          </p:stCondLst>
                                        </p:cTn>
                                        <p:tgtEl>
                                          <p:spTgt spid="52"/>
                                        </p:tgtEl>
                                        <p:attrNameLst>
                                          <p:attrName>style.visibility</p:attrName>
                                        </p:attrNameLst>
                                      </p:cBhvr>
                                      <p:to>
                                        <p:strVal val="visible"/>
                                      </p:to>
                                    </p:set>
                                    <p:animEffect transition="in" filter="fade">
                                      <p:cBhvr>
                                        <p:cTn id="130" dur="400"/>
                                        <p:tgtEl>
                                          <p:spTgt spid="52"/>
                                        </p:tgtEl>
                                      </p:cBhvr>
                                    </p:animEffect>
                                  </p:childTnLst>
                                </p:cTn>
                              </p:par>
                              <p:par>
                                <p:cTn id="131" presetID="10" presetClass="entr" presetSubtype="0" fill="hold" grpId="0" nodeType="withEffect">
                                  <p:stCondLst>
                                    <p:cond delay="1540"/>
                                  </p:stCondLst>
                                  <p:childTnLst>
                                    <p:set>
                                      <p:cBhvr>
                                        <p:cTn id="132" dur="1" fill="hold">
                                          <p:stCondLst>
                                            <p:cond delay="0"/>
                                          </p:stCondLst>
                                        </p:cTn>
                                        <p:tgtEl>
                                          <p:spTgt spid="13"/>
                                        </p:tgtEl>
                                        <p:attrNameLst>
                                          <p:attrName>style.visibility</p:attrName>
                                        </p:attrNameLst>
                                      </p:cBhvr>
                                      <p:to>
                                        <p:strVal val="visible"/>
                                      </p:to>
                                    </p:set>
                                    <p:animEffect transition="in" filter="fade">
                                      <p:cBhvr>
                                        <p:cTn id="133" dur="400"/>
                                        <p:tgtEl>
                                          <p:spTgt spid="13"/>
                                        </p:tgtEl>
                                      </p:cBhvr>
                                    </p:animEffect>
                                  </p:childTnLst>
                                </p:cTn>
                              </p:par>
                              <p:par>
                                <p:cTn id="134" presetID="10" presetClass="entr" presetSubtype="0" fill="hold" grpId="0" nodeType="withEffect">
                                  <p:stCondLst>
                                    <p:cond delay="1540"/>
                                  </p:stCondLst>
                                  <p:childTnLst>
                                    <p:set>
                                      <p:cBhvr>
                                        <p:cTn id="135" dur="1" fill="hold">
                                          <p:stCondLst>
                                            <p:cond delay="0"/>
                                          </p:stCondLst>
                                        </p:cTn>
                                        <p:tgtEl>
                                          <p:spTgt spid="53"/>
                                        </p:tgtEl>
                                        <p:attrNameLst>
                                          <p:attrName>style.visibility</p:attrName>
                                        </p:attrNameLst>
                                      </p:cBhvr>
                                      <p:to>
                                        <p:strVal val="visible"/>
                                      </p:to>
                                    </p:set>
                                    <p:animEffect transition="in" filter="fade">
                                      <p:cBhvr>
                                        <p:cTn id="136" dur="400"/>
                                        <p:tgtEl>
                                          <p:spTgt spid="53"/>
                                        </p:tgtEl>
                                      </p:cBhvr>
                                    </p:animEffect>
                                  </p:childTnLst>
                                </p:cTn>
                              </p:par>
                              <p:par>
                                <p:cTn id="137" presetID="10" presetClass="entr" presetSubtype="0" fill="hold" grpId="0" nodeType="withEffect">
                                  <p:stCondLst>
                                    <p:cond delay="1540"/>
                                  </p:stCondLst>
                                  <p:childTnLst>
                                    <p:set>
                                      <p:cBhvr>
                                        <p:cTn id="138" dur="1" fill="hold">
                                          <p:stCondLst>
                                            <p:cond delay="0"/>
                                          </p:stCondLst>
                                        </p:cTn>
                                        <p:tgtEl>
                                          <p:spTgt spid="54"/>
                                        </p:tgtEl>
                                        <p:attrNameLst>
                                          <p:attrName>style.visibility</p:attrName>
                                        </p:attrNameLst>
                                      </p:cBhvr>
                                      <p:to>
                                        <p:strVal val="visible"/>
                                      </p:to>
                                    </p:set>
                                    <p:animEffect transition="in" filter="fade">
                                      <p:cBhvr>
                                        <p:cTn id="139" dur="400"/>
                                        <p:tgtEl>
                                          <p:spTgt spid="54"/>
                                        </p:tgtEl>
                                      </p:cBhvr>
                                    </p:animEffect>
                                  </p:childTnLst>
                                </p:cTn>
                              </p:par>
                              <p:par>
                                <p:cTn id="140" presetID="10" presetClass="entr" presetSubtype="0" fill="hold" grpId="0" nodeType="withEffect">
                                  <p:stCondLst>
                                    <p:cond delay="1540"/>
                                  </p:stCondLst>
                                  <p:childTnLst>
                                    <p:set>
                                      <p:cBhvr>
                                        <p:cTn id="141" dur="1" fill="hold">
                                          <p:stCondLst>
                                            <p:cond delay="0"/>
                                          </p:stCondLst>
                                        </p:cTn>
                                        <p:tgtEl>
                                          <p:spTgt spid="55"/>
                                        </p:tgtEl>
                                        <p:attrNameLst>
                                          <p:attrName>style.visibility</p:attrName>
                                        </p:attrNameLst>
                                      </p:cBhvr>
                                      <p:to>
                                        <p:strVal val="visible"/>
                                      </p:to>
                                    </p:set>
                                    <p:animEffect transition="in" filter="fade">
                                      <p:cBhvr>
                                        <p:cTn id="142" dur="400"/>
                                        <p:tgtEl>
                                          <p:spTgt spid="55"/>
                                        </p:tgtEl>
                                      </p:cBhvr>
                                    </p:animEffect>
                                  </p:childTnLst>
                                </p:cTn>
                              </p:par>
                              <p:par>
                                <p:cTn id="143" presetID="10" presetClass="entr" presetSubtype="0" fill="hold" grpId="0" nodeType="withEffect">
                                  <p:stCondLst>
                                    <p:cond delay="1540"/>
                                  </p:stCondLst>
                                  <p:childTnLst>
                                    <p:set>
                                      <p:cBhvr>
                                        <p:cTn id="144" dur="1" fill="hold">
                                          <p:stCondLst>
                                            <p:cond delay="0"/>
                                          </p:stCondLst>
                                        </p:cTn>
                                        <p:tgtEl>
                                          <p:spTgt spid="56"/>
                                        </p:tgtEl>
                                        <p:attrNameLst>
                                          <p:attrName>style.visibility</p:attrName>
                                        </p:attrNameLst>
                                      </p:cBhvr>
                                      <p:to>
                                        <p:strVal val="visible"/>
                                      </p:to>
                                    </p:set>
                                    <p:animEffect transition="in" filter="fade">
                                      <p:cBhvr>
                                        <p:cTn id="145" dur="400"/>
                                        <p:tgtEl>
                                          <p:spTgt spid="56"/>
                                        </p:tgtEl>
                                      </p:cBhvr>
                                    </p:animEffect>
                                  </p:childTnLst>
                                </p:cTn>
                              </p:par>
                              <p:par>
                                <p:cTn id="146" presetID="10" presetClass="entr" presetSubtype="0" fill="hold" grpId="0" nodeType="withEffect">
                                  <p:stCondLst>
                                    <p:cond delay="1540"/>
                                  </p:stCondLst>
                                  <p:childTnLst>
                                    <p:set>
                                      <p:cBhvr>
                                        <p:cTn id="147" dur="1" fill="hold">
                                          <p:stCondLst>
                                            <p:cond delay="0"/>
                                          </p:stCondLst>
                                        </p:cTn>
                                        <p:tgtEl>
                                          <p:spTgt spid="57"/>
                                        </p:tgtEl>
                                        <p:attrNameLst>
                                          <p:attrName>style.visibility</p:attrName>
                                        </p:attrNameLst>
                                      </p:cBhvr>
                                      <p:to>
                                        <p:strVal val="visible"/>
                                      </p:to>
                                    </p:set>
                                    <p:animEffect transition="in" filter="fade">
                                      <p:cBhvr>
                                        <p:cTn id="148" dur="400"/>
                                        <p:tgtEl>
                                          <p:spTgt spid="57"/>
                                        </p:tgtEl>
                                      </p:cBhvr>
                                    </p:animEffect>
                                  </p:childTnLst>
                                </p:cTn>
                              </p:par>
                              <p:par>
                                <p:cTn id="149" presetID="10" presetClass="entr" presetSubtype="0" fill="hold" grpId="0" nodeType="withEffect">
                                  <p:stCondLst>
                                    <p:cond delay="1540"/>
                                  </p:stCondLst>
                                  <p:childTnLst>
                                    <p:set>
                                      <p:cBhvr>
                                        <p:cTn id="150" dur="1" fill="hold">
                                          <p:stCondLst>
                                            <p:cond delay="0"/>
                                          </p:stCondLst>
                                        </p:cTn>
                                        <p:tgtEl>
                                          <p:spTgt spid="58"/>
                                        </p:tgtEl>
                                        <p:attrNameLst>
                                          <p:attrName>style.visibility</p:attrName>
                                        </p:attrNameLst>
                                      </p:cBhvr>
                                      <p:to>
                                        <p:strVal val="visible"/>
                                      </p:to>
                                    </p:set>
                                    <p:animEffect transition="in" filter="fade">
                                      <p:cBhvr>
                                        <p:cTn id="151" dur="400"/>
                                        <p:tgtEl>
                                          <p:spTgt spid="58"/>
                                        </p:tgtEl>
                                      </p:cBhvr>
                                    </p:animEffect>
                                  </p:childTnLst>
                                </p:cTn>
                              </p:par>
                              <p:par>
                                <p:cTn id="152" presetID="10" presetClass="entr" presetSubtype="0" fill="hold" grpId="0" nodeType="withEffect">
                                  <p:stCondLst>
                                    <p:cond delay="1540"/>
                                  </p:stCondLst>
                                  <p:childTnLst>
                                    <p:set>
                                      <p:cBhvr>
                                        <p:cTn id="153" dur="1" fill="hold">
                                          <p:stCondLst>
                                            <p:cond delay="0"/>
                                          </p:stCondLst>
                                        </p:cTn>
                                        <p:tgtEl>
                                          <p:spTgt spid="59"/>
                                        </p:tgtEl>
                                        <p:attrNameLst>
                                          <p:attrName>style.visibility</p:attrName>
                                        </p:attrNameLst>
                                      </p:cBhvr>
                                      <p:to>
                                        <p:strVal val="visible"/>
                                      </p:to>
                                    </p:set>
                                    <p:animEffect transition="in" filter="fade">
                                      <p:cBhvr>
                                        <p:cTn id="154"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08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QUY TRÌNH ĐIỀU PHỐI CỨU HỘ · BƯỚC 1 → 2 / 6</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Ghi nhận đúng chỗ, phân tích đúng nhu cầu</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Shape 8"/>
          <p:cNvSpPr/>
          <p:nvPr/>
        </p:nvSpPr>
        <p:spPr>
          <a:xfrm rot="5400000">
            <a:off x="4144670" y="2602420"/>
            <a:ext cx="219456" cy="219456"/>
          </a:xfrm>
          <a:prstGeom prst="triangle">
            <a:avLst/>
          </a:prstGeom>
          <a:solidFill>
            <a:srgbClr val="22C55E">
              <a:alpha val="75000"/>
            </a:srgbClr>
          </a:solidFill>
          <a:ln/>
        </p:spPr>
      </p:sp>
      <p:sp>
        <p:nvSpPr>
          <p:cNvPr id="13" name="Shape 9"/>
          <p:cNvSpPr/>
          <p:nvPr/>
        </p:nvSpPr>
        <p:spPr>
          <a:xfrm rot="16200000">
            <a:off x="4135526" y="5012753"/>
            <a:ext cx="219456" cy="219456"/>
          </a:xfrm>
          <a:prstGeom prst="triangle">
            <a:avLst/>
          </a:prstGeom>
          <a:solidFill>
            <a:srgbClr val="22C55E">
              <a:alpha val="75000"/>
            </a:srgbClr>
          </a:solidFill>
          <a:ln/>
        </p:spPr>
      </p:sp>
      <p:sp>
        <p:nvSpPr>
          <p:cNvPr id="14" name="Shape 10"/>
          <p:cNvSpPr/>
          <p:nvPr/>
        </p:nvSpPr>
        <p:spPr>
          <a:xfrm rot="5400000">
            <a:off x="7836713" y="2602420"/>
            <a:ext cx="219456" cy="219456"/>
          </a:xfrm>
          <a:prstGeom prst="triangle">
            <a:avLst/>
          </a:prstGeom>
          <a:solidFill>
            <a:srgbClr val="22C55E">
              <a:alpha val="75000"/>
            </a:srgbClr>
          </a:solidFill>
          <a:ln/>
        </p:spPr>
      </p:sp>
      <p:sp>
        <p:nvSpPr>
          <p:cNvPr id="15" name="Shape 11"/>
          <p:cNvSpPr/>
          <p:nvPr/>
        </p:nvSpPr>
        <p:spPr>
          <a:xfrm rot="16200000">
            <a:off x="7827569" y="5012753"/>
            <a:ext cx="219456" cy="219456"/>
          </a:xfrm>
          <a:prstGeom prst="triangle">
            <a:avLst/>
          </a:prstGeom>
          <a:solidFill>
            <a:srgbClr val="22C55E">
              <a:alpha val="75000"/>
            </a:srgbClr>
          </a:solidFill>
          <a:ln/>
        </p:spPr>
      </p:sp>
      <p:sp>
        <p:nvSpPr>
          <p:cNvPr id="16" name="Shape 12"/>
          <p:cNvSpPr/>
          <p:nvPr/>
        </p:nvSpPr>
        <p:spPr>
          <a:xfrm>
            <a:off x="9777832" y="3716147"/>
            <a:ext cx="20117" cy="246888"/>
          </a:xfrm>
          <a:prstGeom prst="rect">
            <a:avLst/>
          </a:prstGeom>
          <a:solidFill>
            <a:srgbClr val="2E7D55">
              <a:alpha val="85000"/>
            </a:srgbClr>
          </a:solidFill>
          <a:ln/>
        </p:spPr>
      </p:sp>
      <p:sp>
        <p:nvSpPr>
          <p:cNvPr id="17" name="Shape 13"/>
          <p:cNvSpPr/>
          <p:nvPr/>
        </p:nvSpPr>
        <p:spPr>
          <a:xfrm rot="10800000">
            <a:off x="9696450" y="3940175"/>
            <a:ext cx="182880" cy="182880"/>
          </a:xfrm>
          <a:prstGeom prst="triangle">
            <a:avLst/>
          </a:prstGeom>
          <a:solidFill>
            <a:srgbClr val="22C55E">
              <a:alpha val="75000"/>
            </a:srgbClr>
          </a:solidFill>
          <a:ln/>
        </p:spPr>
      </p:sp>
      <p:sp>
        <p:nvSpPr>
          <p:cNvPr id="18" name="Shape 14"/>
          <p:cNvSpPr/>
          <p:nvPr/>
        </p:nvSpPr>
        <p:spPr>
          <a:xfrm>
            <a:off x="658368" y="1653286"/>
            <a:ext cx="3490874" cy="2117725"/>
          </a:xfrm>
          <a:prstGeom prst="roundRect">
            <a:avLst>
              <a:gd name="adj" fmla="val 6909"/>
            </a:avLst>
          </a:prstGeom>
          <a:solidFill>
            <a:srgbClr val="22C55E">
              <a:alpha val="18000"/>
            </a:srgbClr>
          </a:solidFill>
          <a:ln/>
        </p:spPr>
      </p:sp>
      <p:sp>
        <p:nvSpPr>
          <p:cNvPr id="19" name="Shape 15"/>
          <p:cNvSpPr/>
          <p:nvPr/>
        </p:nvSpPr>
        <p:spPr>
          <a:xfrm>
            <a:off x="713232" y="1708150"/>
            <a:ext cx="3381146" cy="2007997"/>
          </a:xfrm>
          <a:prstGeom prst="roundRect">
            <a:avLst>
              <a:gd name="adj" fmla="val 5465"/>
            </a:avLst>
          </a:prstGeom>
          <a:solidFill>
            <a:srgbClr val="091B2D">
              <a:alpha val="78000"/>
            </a:srgbClr>
          </a:solidFill>
          <a:ln w="19050">
            <a:solidFill>
              <a:srgbClr val="22C55E">
                <a:alpha val="50000"/>
              </a:srgbClr>
            </a:solidFill>
            <a:prstDash val="solid"/>
          </a:ln>
        </p:spPr>
      </p:sp>
      <p:sp>
        <p:nvSpPr>
          <p:cNvPr id="20" name="Shape 16"/>
          <p:cNvSpPr/>
          <p:nvPr/>
        </p:nvSpPr>
        <p:spPr>
          <a:xfrm>
            <a:off x="713232" y="1708150"/>
            <a:ext cx="50292" cy="2007997"/>
          </a:xfrm>
          <a:prstGeom prst="roundRect">
            <a:avLst>
              <a:gd name="adj" fmla="val 54545"/>
            </a:avLst>
          </a:prstGeom>
          <a:solidFill>
            <a:srgbClr val="22C55E">
              <a:alpha val="95000"/>
            </a:srgbClr>
          </a:solidFill>
          <a:ln/>
        </p:spPr>
      </p:sp>
      <p:sp>
        <p:nvSpPr>
          <p:cNvPr id="21" name="Shape 17"/>
          <p:cNvSpPr/>
          <p:nvPr/>
        </p:nvSpPr>
        <p:spPr>
          <a:xfrm>
            <a:off x="987552" y="2062924"/>
            <a:ext cx="420624" cy="420624"/>
          </a:xfrm>
          <a:prstGeom prst="roundRect">
            <a:avLst>
              <a:gd name="adj" fmla="val 50000"/>
            </a:avLst>
          </a:prstGeom>
          <a:solidFill>
            <a:srgbClr val="04101F">
              <a:alpha val="88000"/>
            </a:srgbClr>
          </a:solidFill>
          <a:ln/>
        </p:spPr>
      </p:sp>
      <p:sp>
        <p:nvSpPr>
          <p:cNvPr id="22" name="Shape 18"/>
          <p:cNvSpPr/>
          <p:nvPr/>
        </p:nvSpPr>
        <p:spPr>
          <a:xfrm>
            <a:off x="987552" y="2062924"/>
            <a:ext cx="420624" cy="420624"/>
          </a:xfrm>
          <a:prstGeom prst="roundRect">
            <a:avLst>
              <a:gd name="adj" fmla="val 50000"/>
            </a:avLst>
          </a:prstGeom>
          <a:solidFill>
            <a:srgbClr val="22C55E">
              <a:alpha val="20000"/>
            </a:srgbClr>
          </a:solidFill>
          <a:ln w="15240">
            <a:solidFill>
              <a:srgbClr val="22C55E">
                <a:alpha val="70000"/>
              </a:srgbClr>
            </a:solidFill>
            <a:prstDash val="solid"/>
          </a:ln>
        </p:spPr>
      </p:sp>
      <p:sp>
        <p:nvSpPr>
          <p:cNvPr id="23" name="Text 19"/>
          <p:cNvSpPr/>
          <p:nvPr/>
        </p:nvSpPr>
        <p:spPr>
          <a:xfrm>
            <a:off x="941832"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1</a:t>
            </a:r>
            <a:endParaRPr lang="en-US" sz="1500" dirty="0"/>
          </a:p>
        </p:txBody>
      </p:sp>
      <p:sp>
        <p:nvSpPr>
          <p:cNvPr id="24" name="Text 20"/>
          <p:cNvSpPr/>
          <p:nvPr/>
        </p:nvSpPr>
        <p:spPr>
          <a:xfrm>
            <a:off x="1536192" y="2108644"/>
            <a:ext cx="2393594" cy="29540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Ghi nhận tình huống</a:t>
            </a:r>
            <a:endParaRPr lang="en-US" sz="1400" dirty="0"/>
          </a:p>
        </p:txBody>
      </p:sp>
      <p:sp>
        <p:nvSpPr>
          <p:cNvPr id="25" name="Text 21"/>
          <p:cNvSpPr/>
          <p:nvPr/>
        </p:nvSpPr>
        <p:spPr>
          <a:xfrm>
            <a:off x="987552" y="2721292"/>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Trưởng thôn báo cáo và đánh dấu điểm</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gặp nạn trên bản đồ.</a:t>
            </a:r>
            <a:endParaRPr lang="en-US" sz="1150" dirty="0"/>
          </a:p>
        </p:txBody>
      </p:sp>
      <p:sp>
        <p:nvSpPr>
          <p:cNvPr id="26" name="Shape 22"/>
          <p:cNvSpPr/>
          <p:nvPr/>
        </p:nvSpPr>
        <p:spPr>
          <a:xfrm>
            <a:off x="4350410" y="1653286"/>
            <a:ext cx="3490874" cy="2117725"/>
          </a:xfrm>
          <a:prstGeom prst="roundRect">
            <a:avLst>
              <a:gd name="adj" fmla="val 6909"/>
            </a:avLst>
          </a:prstGeom>
          <a:solidFill>
            <a:srgbClr val="22C55E">
              <a:alpha val="18000"/>
            </a:srgbClr>
          </a:solidFill>
          <a:ln/>
        </p:spPr>
      </p:sp>
      <p:sp>
        <p:nvSpPr>
          <p:cNvPr id="27" name="Shape 23"/>
          <p:cNvSpPr/>
          <p:nvPr/>
        </p:nvSpPr>
        <p:spPr>
          <a:xfrm>
            <a:off x="4405274" y="1708150"/>
            <a:ext cx="3381146" cy="2007997"/>
          </a:xfrm>
          <a:prstGeom prst="roundRect">
            <a:avLst>
              <a:gd name="adj" fmla="val 5465"/>
            </a:avLst>
          </a:prstGeom>
          <a:solidFill>
            <a:srgbClr val="091B2D">
              <a:alpha val="78000"/>
            </a:srgbClr>
          </a:solidFill>
          <a:ln w="19050">
            <a:solidFill>
              <a:srgbClr val="22C55E">
                <a:alpha val="50000"/>
              </a:srgbClr>
            </a:solidFill>
            <a:prstDash val="solid"/>
          </a:ln>
        </p:spPr>
      </p:sp>
      <p:sp>
        <p:nvSpPr>
          <p:cNvPr id="28" name="Shape 24"/>
          <p:cNvSpPr/>
          <p:nvPr/>
        </p:nvSpPr>
        <p:spPr>
          <a:xfrm>
            <a:off x="4405274" y="1708150"/>
            <a:ext cx="50292" cy="2007997"/>
          </a:xfrm>
          <a:prstGeom prst="roundRect">
            <a:avLst>
              <a:gd name="adj" fmla="val 54545"/>
            </a:avLst>
          </a:prstGeom>
          <a:solidFill>
            <a:srgbClr val="22C55E">
              <a:alpha val="95000"/>
            </a:srgbClr>
          </a:solidFill>
          <a:ln/>
        </p:spPr>
      </p:sp>
      <p:sp>
        <p:nvSpPr>
          <p:cNvPr id="29" name="Shape 25"/>
          <p:cNvSpPr/>
          <p:nvPr/>
        </p:nvSpPr>
        <p:spPr>
          <a:xfrm>
            <a:off x="4679594" y="2062924"/>
            <a:ext cx="420624" cy="420624"/>
          </a:xfrm>
          <a:prstGeom prst="roundRect">
            <a:avLst>
              <a:gd name="adj" fmla="val 50000"/>
            </a:avLst>
          </a:prstGeom>
          <a:solidFill>
            <a:srgbClr val="04101F">
              <a:alpha val="88000"/>
            </a:srgbClr>
          </a:solidFill>
          <a:ln/>
        </p:spPr>
      </p:sp>
      <p:sp>
        <p:nvSpPr>
          <p:cNvPr id="30" name="Shape 26"/>
          <p:cNvSpPr/>
          <p:nvPr/>
        </p:nvSpPr>
        <p:spPr>
          <a:xfrm>
            <a:off x="4679594" y="2062924"/>
            <a:ext cx="420624" cy="420624"/>
          </a:xfrm>
          <a:prstGeom prst="roundRect">
            <a:avLst>
              <a:gd name="adj" fmla="val 50000"/>
            </a:avLst>
          </a:prstGeom>
          <a:solidFill>
            <a:srgbClr val="22C55E">
              <a:alpha val="20000"/>
            </a:srgbClr>
          </a:solidFill>
          <a:ln w="15240">
            <a:solidFill>
              <a:srgbClr val="22C55E">
                <a:alpha val="70000"/>
              </a:srgbClr>
            </a:solidFill>
            <a:prstDash val="solid"/>
          </a:ln>
        </p:spPr>
      </p:sp>
      <p:sp>
        <p:nvSpPr>
          <p:cNvPr id="31" name="Text 27"/>
          <p:cNvSpPr/>
          <p:nvPr/>
        </p:nvSpPr>
        <p:spPr>
          <a:xfrm>
            <a:off x="4633874"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2</a:t>
            </a:r>
            <a:endParaRPr lang="en-US" sz="1500" dirty="0"/>
          </a:p>
        </p:txBody>
      </p:sp>
      <p:sp>
        <p:nvSpPr>
          <p:cNvPr id="32" name="Text 28"/>
          <p:cNvSpPr/>
          <p:nvPr/>
        </p:nvSpPr>
        <p:spPr>
          <a:xfrm>
            <a:off x="5228234" y="2108644"/>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AI hỗ trợ phân tích và</a:t>
            </a:r>
            <a:endParaRPr lang="en-US" sz="1400" dirty="0"/>
          </a:p>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đề xuất vật tư</a:t>
            </a:r>
            <a:endParaRPr lang="en-US" sz="1400" dirty="0"/>
          </a:p>
        </p:txBody>
      </p:sp>
      <p:sp>
        <p:nvSpPr>
          <p:cNvPr id="33" name="Text 29"/>
          <p:cNvSpPr/>
          <p:nvPr/>
        </p:nvSpPr>
        <p:spPr>
          <a:xfrm>
            <a:off x="4679594" y="2721292"/>
            <a:ext cx="2923946" cy="695325"/>
          </a:xfrm>
          <a:prstGeom prst="rect">
            <a:avLst/>
          </a:prstGeom>
          <a:noFill/>
          <a:ln/>
        </p:spPr>
        <p:txBody>
          <a:bodyPr wrap="square" lIns="0" tIns="0" rIns="0" bIns="0" rtlCol="0" anchor="t"/>
          <a:lstStyle/>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AI đọc mô tả bằng lời thành số liệu và</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đề xuất vật tư, người điều phối sẽ chốt</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phương án.</a:t>
            </a:r>
            <a:endParaRPr lang="en-US" sz="1150" dirty="0"/>
          </a:p>
        </p:txBody>
      </p:sp>
      <p:sp>
        <p:nvSpPr>
          <p:cNvPr id="34" name="Shape 30"/>
          <p:cNvSpPr/>
          <p:nvPr/>
        </p:nvSpPr>
        <p:spPr>
          <a:xfrm>
            <a:off x="8097317" y="1708150"/>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35" name="Shape 31"/>
          <p:cNvSpPr/>
          <p:nvPr/>
        </p:nvSpPr>
        <p:spPr>
          <a:xfrm>
            <a:off x="8097317" y="1708150"/>
            <a:ext cx="50292" cy="2007997"/>
          </a:xfrm>
          <a:prstGeom prst="roundRect">
            <a:avLst>
              <a:gd name="adj" fmla="val 54545"/>
            </a:avLst>
          </a:prstGeom>
          <a:solidFill>
            <a:srgbClr val="3C5468">
              <a:alpha val="95000"/>
            </a:srgbClr>
          </a:solidFill>
          <a:ln/>
        </p:spPr>
      </p:sp>
      <p:sp>
        <p:nvSpPr>
          <p:cNvPr id="36" name="Shape 32"/>
          <p:cNvSpPr/>
          <p:nvPr/>
        </p:nvSpPr>
        <p:spPr>
          <a:xfrm>
            <a:off x="8371637" y="2062924"/>
            <a:ext cx="420624" cy="420624"/>
          </a:xfrm>
          <a:prstGeom prst="roundRect">
            <a:avLst>
              <a:gd name="adj" fmla="val 50000"/>
            </a:avLst>
          </a:prstGeom>
          <a:solidFill>
            <a:srgbClr val="04101F">
              <a:alpha val="88000"/>
            </a:srgbClr>
          </a:solidFill>
          <a:ln/>
        </p:spPr>
      </p:sp>
      <p:sp>
        <p:nvSpPr>
          <p:cNvPr id="37" name="Shape 33"/>
          <p:cNvSpPr/>
          <p:nvPr/>
        </p:nvSpPr>
        <p:spPr>
          <a:xfrm>
            <a:off x="8371637" y="2062924"/>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38" name="Text 34"/>
          <p:cNvSpPr/>
          <p:nvPr/>
        </p:nvSpPr>
        <p:spPr>
          <a:xfrm>
            <a:off x="8325917"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3</a:t>
            </a:r>
            <a:endParaRPr lang="en-US" sz="1500" dirty="0"/>
          </a:p>
        </p:txBody>
      </p:sp>
      <p:sp>
        <p:nvSpPr>
          <p:cNvPr id="39" name="Text 35"/>
          <p:cNvSpPr/>
          <p:nvPr/>
        </p:nvSpPr>
        <p:spPr>
          <a:xfrm>
            <a:off x="8920277" y="2108644"/>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Chọn kho tiếp tế gần</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điểm gặp nạn nhất</a:t>
            </a:r>
            <a:endParaRPr lang="en-US" sz="1400" dirty="0"/>
          </a:p>
        </p:txBody>
      </p:sp>
      <p:sp>
        <p:nvSpPr>
          <p:cNvPr id="40" name="Text 36"/>
          <p:cNvSpPr/>
          <p:nvPr/>
        </p:nvSpPr>
        <p:spPr>
          <a:xfrm>
            <a:off x="8371637" y="2721292"/>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Hệ thống cân nhắc vị trí, tồn kho và khả</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năng đáp ứng của từng kho.</a:t>
            </a:r>
            <a:endParaRPr lang="en-US" sz="1150" dirty="0"/>
          </a:p>
        </p:txBody>
      </p:sp>
      <p:sp>
        <p:nvSpPr>
          <p:cNvPr id="41" name="Shape 37"/>
          <p:cNvSpPr/>
          <p:nvPr/>
        </p:nvSpPr>
        <p:spPr>
          <a:xfrm>
            <a:off x="8097317" y="4118483"/>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42" name="Shape 38"/>
          <p:cNvSpPr/>
          <p:nvPr/>
        </p:nvSpPr>
        <p:spPr>
          <a:xfrm>
            <a:off x="8097317" y="4118483"/>
            <a:ext cx="50292" cy="2007997"/>
          </a:xfrm>
          <a:prstGeom prst="roundRect">
            <a:avLst>
              <a:gd name="adj" fmla="val 54545"/>
            </a:avLst>
          </a:prstGeom>
          <a:solidFill>
            <a:srgbClr val="3C5468">
              <a:alpha val="95000"/>
            </a:srgbClr>
          </a:solidFill>
          <a:ln/>
        </p:spPr>
      </p:sp>
      <p:sp>
        <p:nvSpPr>
          <p:cNvPr id="43" name="Shape 39"/>
          <p:cNvSpPr/>
          <p:nvPr/>
        </p:nvSpPr>
        <p:spPr>
          <a:xfrm>
            <a:off x="8371637" y="4473257"/>
            <a:ext cx="420624" cy="420624"/>
          </a:xfrm>
          <a:prstGeom prst="roundRect">
            <a:avLst>
              <a:gd name="adj" fmla="val 50000"/>
            </a:avLst>
          </a:prstGeom>
          <a:solidFill>
            <a:srgbClr val="04101F">
              <a:alpha val="88000"/>
            </a:srgbClr>
          </a:solidFill>
          <a:ln/>
        </p:spPr>
      </p:sp>
      <p:sp>
        <p:nvSpPr>
          <p:cNvPr id="44" name="Shape 40"/>
          <p:cNvSpPr/>
          <p:nvPr/>
        </p:nvSpPr>
        <p:spPr>
          <a:xfrm>
            <a:off x="8371637" y="4473257"/>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45" name="Text 41"/>
          <p:cNvSpPr/>
          <p:nvPr/>
        </p:nvSpPr>
        <p:spPr>
          <a:xfrm>
            <a:off x="8325917"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4</a:t>
            </a:r>
            <a:endParaRPr lang="en-US" sz="1500" dirty="0"/>
          </a:p>
        </p:txBody>
      </p:sp>
      <p:sp>
        <p:nvSpPr>
          <p:cNvPr id="46" name="Text 42"/>
          <p:cNvSpPr/>
          <p:nvPr/>
        </p:nvSpPr>
        <p:spPr>
          <a:xfrm>
            <a:off x="8920277" y="4518977"/>
            <a:ext cx="2393594" cy="29540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Xác nhận &amp; thông báo</a:t>
            </a:r>
            <a:endParaRPr lang="en-US" sz="1400" dirty="0"/>
          </a:p>
        </p:txBody>
      </p:sp>
      <p:sp>
        <p:nvSpPr>
          <p:cNvPr id="47" name="Text 43"/>
          <p:cNvSpPr/>
          <p:nvPr/>
        </p:nvSpPr>
        <p:spPr>
          <a:xfrm>
            <a:off x="8371637" y="5131626"/>
            <a:ext cx="2923946" cy="695325"/>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Kho phụ trách nhận lệnh chuẩn bị, xuất</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vật tư; đội cứu hộ nhận nhiệm vụ cùng</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lúc.</a:t>
            </a:r>
            <a:endParaRPr lang="en-US" sz="1150" dirty="0"/>
          </a:p>
        </p:txBody>
      </p:sp>
      <p:sp>
        <p:nvSpPr>
          <p:cNvPr id="48" name="Shape 44"/>
          <p:cNvSpPr/>
          <p:nvPr/>
        </p:nvSpPr>
        <p:spPr>
          <a:xfrm>
            <a:off x="4405274" y="4118483"/>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49" name="Shape 45"/>
          <p:cNvSpPr/>
          <p:nvPr/>
        </p:nvSpPr>
        <p:spPr>
          <a:xfrm>
            <a:off x="4405274" y="4118483"/>
            <a:ext cx="50292" cy="2007997"/>
          </a:xfrm>
          <a:prstGeom prst="roundRect">
            <a:avLst>
              <a:gd name="adj" fmla="val 54545"/>
            </a:avLst>
          </a:prstGeom>
          <a:solidFill>
            <a:srgbClr val="3C5468">
              <a:alpha val="95000"/>
            </a:srgbClr>
          </a:solidFill>
          <a:ln/>
        </p:spPr>
      </p:sp>
      <p:sp>
        <p:nvSpPr>
          <p:cNvPr id="50" name="Shape 46"/>
          <p:cNvSpPr/>
          <p:nvPr/>
        </p:nvSpPr>
        <p:spPr>
          <a:xfrm>
            <a:off x="4679594" y="4473257"/>
            <a:ext cx="420624" cy="420624"/>
          </a:xfrm>
          <a:prstGeom prst="roundRect">
            <a:avLst>
              <a:gd name="adj" fmla="val 50000"/>
            </a:avLst>
          </a:prstGeom>
          <a:solidFill>
            <a:srgbClr val="04101F">
              <a:alpha val="88000"/>
            </a:srgbClr>
          </a:solidFill>
          <a:ln/>
        </p:spPr>
      </p:sp>
      <p:sp>
        <p:nvSpPr>
          <p:cNvPr id="51" name="Shape 47"/>
          <p:cNvSpPr/>
          <p:nvPr/>
        </p:nvSpPr>
        <p:spPr>
          <a:xfrm>
            <a:off x="4679594" y="4473257"/>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52" name="Text 48"/>
          <p:cNvSpPr/>
          <p:nvPr/>
        </p:nvSpPr>
        <p:spPr>
          <a:xfrm>
            <a:off x="4633874"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5</a:t>
            </a:r>
            <a:endParaRPr lang="en-US" sz="1500" dirty="0"/>
          </a:p>
        </p:txBody>
      </p:sp>
      <p:sp>
        <p:nvSpPr>
          <p:cNvPr id="53" name="Text 49"/>
          <p:cNvSpPr/>
          <p:nvPr/>
        </p:nvSpPr>
        <p:spPr>
          <a:xfrm>
            <a:off x="5228234" y="4518977"/>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Đội cứu hộ xác nhận hoàn</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thành</a:t>
            </a:r>
            <a:endParaRPr lang="en-US" sz="1400" dirty="0"/>
          </a:p>
        </p:txBody>
      </p:sp>
      <p:sp>
        <p:nvSpPr>
          <p:cNvPr id="54" name="Text 50"/>
          <p:cNvSpPr/>
          <p:nvPr/>
        </p:nvSpPr>
        <p:spPr>
          <a:xfrm>
            <a:off x="4679594" y="5131626"/>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Báo cáo kết quả nhiệm vụ kèm hình ảnh</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tại hiện trường.</a:t>
            </a:r>
            <a:endParaRPr lang="en-US" sz="1150" dirty="0"/>
          </a:p>
        </p:txBody>
      </p:sp>
      <p:sp>
        <p:nvSpPr>
          <p:cNvPr id="55" name="Shape 51"/>
          <p:cNvSpPr/>
          <p:nvPr/>
        </p:nvSpPr>
        <p:spPr>
          <a:xfrm>
            <a:off x="713232" y="4118483"/>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56" name="Shape 52"/>
          <p:cNvSpPr/>
          <p:nvPr/>
        </p:nvSpPr>
        <p:spPr>
          <a:xfrm>
            <a:off x="713232" y="4118483"/>
            <a:ext cx="50292" cy="2007997"/>
          </a:xfrm>
          <a:prstGeom prst="roundRect">
            <a:avLst>
              <a:gd name="adj" fmla="val 54545"/>
            </a:avLst>
          </a:prstGeom>
          <a:solidFill>
            <a:srgbClr val="3C5468">
              <a:alpha val="95000"/>
            </a:srgbClr>
          </a:solidFill>
          <a:ln/>
        </p:spPr>
      </p:sp>
      <p:sp>
        <p:nvSpPr>
          <p:cNvPr id="57" name="Shape 53"/>
          <p:cNvSpPr/>
          <p:nvPr/>
        </p:nvSpPr>
        <p:spPr>
          <a:xfrm>
            <a:off x="987552" y="4473257"/>
            <a:ext cx="420624" cy="420624"/>
          </a:xfrm>
          <a:prstGeom prst="roundRect">
            <a:avLst>
              <a:gd name="adj" fmla="val 50000"/>
            </a:avLst>
          </a:prstGeom>
          <a:solidFill>
            <a:srgbClr val="04101F">
              <a:alpha val="88000"/>
            </a:srgbClr>
          </a:solidFill>
          <a:ln/>
        </p:spPr>
      </p:sp>
      <p:sp>
        <p:nvSpPr>
          <p:cNvPr id="58" name="Shape 54"/>
          <p:cNvSpPr/>
          <p:nvPr/>
        </p:nvSpPr>
        <p:spPr>
          <a:xfrm>
            <a:off x="987552" y="4473257"/>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59" name="Text 55"/>
          <p:cNvSpPr/>
          <p:nvPr/>
        </p:nvSpPr>
        <p:spPr>
          <a:xfrm>
            <a:off x="941832"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6</a:t>
            </a:r>
            <a:endParaRPr lang="en-US" sz="1500" dirty="0"/>
          </a:p>
        </p:txBody>
      </p:sp>
      <p:sp>
        <p:nvSpPr>
          <p:cNvPr id="60" name="Text 56"/>
          <p:cNvSpPr/>
          <p:nvPr/>
        </p:nvSpPr>
        <p:spPr>
          <a:xfrm>
            <a:off x="1536192" y="4518977"/>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Kho xác nhận hoàn trả</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vật tư</a:t>
            </a:r>
            <a:endParaRPr lang="en-US" sz="1400" dirty="0"/>
          </a:p>
        </p:txBody>
      </p:sp>
      <p:sp>
        <p:nvSpPr>
          <p:cNvPr id="61" name="Text 57"/>
          <p:cNvSpPr/>
          <p:nvPr/>
        </p:nvSpPr>
        <p:spPr>
          <a:xfrm>
            <a:off x="987552" y="5131626"/>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Đối chiếu vật tư đã cấp phát và phần</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thu hồi, khép lại nhiệm vụ.</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grpId="0" nodeType="withEffect">
                                  <p:stCondLst>
                                    <p:cond delay="66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grpId="0" nodeType="withEffect">
                                  <p:stCondLst>
                                    <p:cond delay="66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par>
                                <p:cTn id="20" presetID="10" presetClass="entr" presetSubtype="0" fill="hold" grpId="0" nodeType="withEffect">
                                  <p:stCondLst>
                                    <p:cond delay="66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par>
                                <p:cTn id="23" presetID="10" presetClass="entr" presetSubtype="0" fill="hold" grpId="0" nodeType="withEffect">
                                  <p:stCondLst>
                                    <p:cond delay="66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400"/>
                                        <p:tgtEl>
                                          <p:spTgt spid="22"/>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400"/>
                                        <p:tgtEl>
                                          <p:spTgt spid="23"/>
                                        </p:tgtEl>
                                      </p:cBhvr>
                                    </p:animEffect>
                                  </p:childTnLst>
                                </p:cTn>
                              </p:par>
                              <p:par>
                                <p:cTn id="29" presetID="10" presetClass="entr" presetSubtype="0" fill="hold" grpId="0" nodeType="withEffect">
                                  <p:stCondLst>
                                    <p:cond delay="66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par>
                                <p:cTn id="35" presetID="10" presetClass="entr" presetSubtype="0" fill="hold" grpId="0" nodeType="withEffect">
                                  <p:stCondLst>
                                    <p:cond delay="88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110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400"/>
                                        <p:tgtEl>
                                          <p:spTgt spid="12"/>
                                        </p:tgtEl>
                                      </p:cBhvr>
                                    </p:animEffect>
                                  </p:childTnLst>
                                </p:cTn>
                              </p:par>
                              <p:par>
                                <p:cTn id="41" presetID="10" presetClass="entr" presetSubtype="0" fill="hold" grpId="0" nodeType="withEffect">
                                  <p:stCondLst>
                                    <p:cond delay="110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400"/>
                                        <p:tgtEl>
                                          <p:spTgt spid="27"/>
                                        </p:tgtEl>
                                      </p:cBhvr>
                                    </p:animEffect>
                                  </p:childTnLst>
                                </p:cTn>
                              </p:par>
                              <p:par>
                                <p:cTn id="44" presetID="10" presetClass="entr" presetSubtype="0" fill="hold" grpId="0" nodeType="withEffect">
                                  <p:stCondLst>
                                    <p:cond delay="110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400"/>
                                        <p:tgtEl>
                                          <p:spTgt spid="28"/>
                                        </p:tgtEl>
                                      </p:cBhvr>
                                    </p:animEffect>
                                  </p:childTnLst>
                                </p:cTn>
                              </p:par>
                              <p:par>
                                <p:cTn id="47" presetID="10" presetClass="entr" presetSubtype="0" fill="hold" grpId="0" nodeType="withEffect">
                                  <p:stCondLst>
                                    <p:cond delay="110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400"/>
                                        <p:tgtEl>
                                          <p:spTgt spid="29"/>
                                        </p:tgtEl>
                                      </p:cBhvr>
                                    </p:animEffect>
                                  </p:childTnLst>
                                </p:cTn>
                              </p:par>
                              <p:par>
                                <p:cTn id="50" presetID="10" presetClass="entr" presetSubtype="0" fill="hold" grpId="0" nodeType="withEffect">
                                  <p:stCondLst>
                                    <p:cond delay="110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400"/>
                                        <p:tgtEl>
                                          <p:spTgt spid="30"/>
                                        </p:tgtEl>
                                      </p:cBhvr>
                                    </p:animEffect>
                                  </p:childTnLst>
                                </p:cTn>
                              </p:par>
                              <p:par>
                                <p:cTn id="53" presetID="10" presetClass="entr" presetSubtype="0" fill="hold" grpId="0" nodeType="withEffect">
                                  <p:stCondLst>
                                    <p:cond delay="110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400"/>
                                        <p:tgtEl>
                                          <p:spTgt spid="31"/>
                                        </p:tgtEl>
                                      </p:cBhvr>
                                    </p:animEffect>
                                  </p:childTnLst>
                                </p:cTn>
                              </p:par>
                              <p:par>
                                <p:cTn id="56" presetID="10" presetClass="entr" presetSubtype="0" fill="hold" grpId="0" nodeType="withEffect">
                                  <p:stCondLst>
                                    <p:cond delay="110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400"/>
                                        <p:tgtEl>
                                          <p:spTgt spid="32"/>
                                        </p:tgtEl>
                                      </p:cBhvr>
                                    </p:animEffect>
                                  </p:childTnLst>
                                </p:cTn>
                              </p:par>
                              <p:par>
                                <p:cTn id="59" presetID="10" presetClass="entr" presetSubtype="0" fill="hold" grpId="0" nodeType="withEffect">
                                  <p:stCondLst>
                                    <p:cond delay="110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400"/>
                                        <p:tgtEl>
                                          <p:spTgt spid="33"/>
                                        </p:tgtEl>
                                      </p:cBhvr>
                                    </p:animEffect>
                                  </p:childTnLst>
                                </p:cTn>
                              </p:par>
                              <p:par>
                                <p:cTn id="62" presetID="10" presetClass="entr" presetSubtype="0" fill="hold" grpId="0" nodeType="withEffect">
                                  <p:stCondLst>
                                    <p:cond delay="132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400"/>
                                        <p:tgtEl>
                                          <p:spTgt spid="14"/>
                                        </p:tgtEl>
                                      </p:cBhvr>
                                    </p:animEffect>
                                  </p:childTnLst>
                                </p:cTn>
                              </p:par>
                              <p:par>
                                <p:cTn id="65" presetID="10" presetClass="entr" presetSubtype="0" fill="hold" grpId="0" nodeType="withEffect">
                                  <p:stCondLst>
                                    <p:cond delay="132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400"/>
                                        <p:tgtEl>
                                          <p:spTgt spid="34"/>
                                        </p:tgtEl>
                                      </p:cBhvr>
                                    </p:animEffect>
                                  </p:childTnLst>
                                </p:cTn>
                              </p:par>
                              <p:par>
                                <p:cTn id="68" presetID="10" presetClass="entr" presetSubtype="0" fill="hold" grpId="0" nodeType="withEffect">
                                  <p:stCondLst>
                                    <p:cond delay="132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400"/>
                                        <p:tgtEl>
                                          <p:spTgt spid="35"/>
                                        </p:tgtEl>
                                      </p:cBhvr>
                                    </p:animEffect>
                                  </p:childTnLst>
                                </p:cTn>
                              </p:par>
                              <p:par>
                                <p:cTn id="71" presetID="10" presetClass="entr" presetSubtype="0" fill="hold" grpId="0" nodeType="withEffect">
                                  <p:stCondLst>
                                    <p:cond delay="132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400"/>
                                        <p:tgtEl>
                                          <p:spTgt spid="36"/>
                                        </p:tgtEl>
                                      </p:cBhvr>
                                    </p:animEffect>
                                  </p:childTnLst>
                                </p:cTn>
                              </p:par>
                              <p:par>
                                <p:cTn id="74" presetID="10" presetClass="entr" presetSubtype="0" fill="hold" grpId="0" nodeType="withEffect">
                                  <p:stCondLst>
                                    <p:cond delay="132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400"/>
                                        <p:tgtEl>
                                          <p:spTgt spid="37"/>
                                        </p:tgtEl>
                                      </p:cBhvr>
                                    </p:animEffect>
                                  </p:childTnLst>
                                </p:cTn>
                              </p:par>
                              <p:par>
                                <p:cTn id="77" presetID="10" presetClass="entr" presetSubtype="0" fill="hold" grpId="0" nodeType="withEffect">
                                  <p:stCondLst>
                                    <p:cond delay="132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400"/>
                                        <p:tgtEl>
                                          <p:spTgt spid="38"/>
                                        </p:tgtEl>
                                      </p:cBhvr>
                                    </p:animEffect>
                                  </p:childTnLst>
                                </p:cTn>
                              </p:par>
                              <p:par>
                                <p:cTn id="80" presetID="10" presetClass="entr" presetSubtype="0" fill="hold" grpId="0" nodeType="withEffect">
                                  <p:stCondLst>
                                    <p:cond delay="132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400"/>
                                        <p:tgtEl>
                                          <p:spTgt spid="39"/>
                                        </p:tgtEl>
                                      </p:cBhvr>
                                    </p:animEffect>
                                  </p:childTnLst>
                                </p:cTn>
                              </p:par>
                              <p:par>
                                <p:cTn id="83" presetID="10" presetClass="entr" presetSubtype="0" fill="hold" grpId="0" nodeType="withEffect">
                                  <p:stCondLst>
                                    <p:cond delay="1320"/>
                                  </p:stCondLst>
                                  <p:childTnLst>
                                    <p:set>
                                      <p:cBhvr>
                                        <p:cTn id="84" dur="1" fill="hold">
                                          <p:stCondLst>
                                            <p:cond delay="0"/>
                                          </p:stCondLst>
                                        </p:cTn>
                                        <p:tgtEl>
                                          <p:spTgt spid="40"/>
                                        </p:tgtEl>
                                        <p:attrNameLst>
                                          <p:attrName>style.visibility</p:attrName>
                                        </p:attrNameLst>
                                      </p:cBhvr>
                                      <p:to>
                                        <p:strVal val="visible"/>
                                      </p:to>
                                    </p:set>
                                    <p:animEffect transition="in" filter="fade">
                                      <p:cBhvr>
                                        <p:cTn id="85" dur="400"/>
                                        <p:tgtEl>
                                          <p:spTgt spid="40"/>
                                        </p:tgtEl>
                                      </p:cBhvr>
                                    </p:animEffect>
                                  </p:childTnLst>
                                </p:cTn>
                              </p:par>
                              <p:par>
                                <p:cTn id="86" presetID="10" presetClass="entr" presetSubtype="0" fill="hold" grpId="0" nodeType="withEffect">
                                  <p:stCondLst>
                                    <p:cond delay="1540"/>
                                  </p:stCondLst>
                                  <p:childTnLst>
                                    <p:set>
                                      <p:cBhvr>
                                        <p:cTn id="87" dur="1" fill="hold">
                                          <p:stCondLst>
                                            <p:cond delay="0"/>
                                          </p:stCondLst>
                                        </p:cTn>
                                        <p:tgtEl>
                                          <p:spTgt spid="16"/>
                                        </p:tgtEl>
                                        <p:attrNameLst>
                                          <p:attrName>style.visibility</p:attrName>
                                        </p:attrNameLst>
                                      </p:cBhvr>
                                      <p:to>
                                        <p:strVal val="visible"/>
                                      </p:to>
                                    </p:set>
                                    <p:animEffect transition="in" filter="fade">
                                      <p:cBhvr>
                                        <p:cTn id="88" dur="400"/>
                                        <p:tgtEl>
                                          <p:spTgt spid="16"/>
                                        </p:tgtEl>
                                      </p:cBhvr>
                                    </p:animEffect>
                                  </p:childTnLst>
                                </p:cTn>
                              </p:par>
                              <p:par>
                                <p:cTn id="89" presetID="10" presetClass="entr" presetSubtype="0" fill="hold" grpId="0" nodeType="withEffect">
                                  <p:stCondLst>
                                    <p:cond delay="154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400"/>
                                        <p:tgtEl>
                                          <p:spTgt spid="17"/>
                                        </p:tgtEl>
                                      </p:cBhvr>
                                    </p:animEffect>
                                  </p:childTnLst>
                                </p:cTn>
                              </p:par>
                              <p:par>
                                <p:cTn id="92" presetID="10" presetClass="entr" presetSubtype="0" fill="hold" grpId="0" nodeType="withEffect">
                                  <p:stCondLst>
                                    <p:cond delay="1540"/>
                                  </p:stCondLst>
                                  <p:childTnLst>
                                    <p:set>
                                      <p:cBhvr>
                                        <p:cTn id="93" dur="1" fill="hold">
                                          <p:stCondLst>
                                            <p:cond delay="0"/>
                                          </p:stCondLst>
                                        </p:cTn>
                                        <p:tgtEl>
                                          <p:spTgt spid="41"/>
                                        </p:tgtEl>
                                        <p:attrNameLst>
                                          <p:attrName>style.visibility</p:attrName>
                                        </p:attrNameLst>
                                      </p:cBhvr>
                                      <p:to>
                                        <p:strVal val="visible"/>
                                      </p:to>
                                    </p:set>
                                    <p:animEffect transition="in" filter="fade">
                                      <p:cBhvr>
                                        <p:cTn id="94" dur="400"/>
                                        <p:tgtEl>
                                          <p:spTgt spid="41"/>
                                        </p:tgtEl>
                                      </p:cBhvr>
                                    </p:animEffect>
                                  </p:childTnLst>
                                </p:cTn>
                              </p:par>
                              <p:par>
                                <p:cTn id="95" presetID="10" presetClass="entr" presetSubtype="0" fill="hold" grpId="0" nodeType="withEffect">
                                  <p:stCondLst>
                                    <p:cond delay="1540"/>
                                  </p:stCondLst>
                                  <p:childTnLst>
                                    <p:set>
                                      <p:cBhvr>
                                        <p:cTn id="96" dur="1" fill="hold">
                                          <p:stCondLst>
                                            <p:cond delay="0"/>
                                          </p:stCondLst>
                                        </p:cTn>
                                        <p:tgtEl>
                                          <p:spTgt spid="42"/>
                                        </p:tgtEl>
                                        <p:attrNameLst>
                                          <p:attrName>style.visibility</p:attrName>
                                        </p:attrNameLst>
                                      </p:cBhvr>
                                      <p:to>
                                        <p:strVal val="visible"/>
                                      </p:to>
                                    </p:set>
                                    <p:animEffect transition="in" filter="fade">
                                      <p:cBhvr>
                                        <p:cTn id="97" dur="400"/>
                                        <p:tgtEl>
                                          <p:spTgt spid="42"/>
                                        </p:tgtEl>
                                      </p:cBhvr>
                                    </p:animEffect>
                                  </p:childTnLst>
                                </p:cTn>
                              </p:par>
                              <p:par>
                                <p:cTn id="98" presetID="10" presetClass="entr" presetSubtype="0" fill="hold" grpId="0" nodeType="withEffect">
                                  <p:stCondLst>
                                    <p:cond delay="1540"/>
                                  </p:stCondLst>
                                  <p:childTnLst>
                                    <p:set>
                                      <p:cBhvr>
                                        <p:cTn id="99" dur="1" fill="hold">
                                          <p:stCondLst>
                                            <p:cond delay="0"/>
                                          </p:stCondLst>
                                        </p:cTn>
                                        <p:tgtEl>
                                          <p:spTgt spid="43"/>
                                        </p:tgtEl>
                                        <p:attrNameLst>
                                          <p:attrName>style.visibility</p:attrName>
                                        </p:attrNameLst>
                                      </p:cBhvr>
                                      <p:to>
                                        <p:strVal val="visible"/>
                                      </p:to>
                                    </p:set>
                                    <p:animEffect transition="in" filter="fade">
                                      <p:cBhvr>
                                        <p:cTn id="100" dur="400"/>
                                        <p:tgtEl>
                                          <p:spTgt spid="43"/>
                                        </p:tgtEl>
                                      </p:cBhvr>
                                    </p:animEffect>
                                  </p:childTnLst>
                                </p:cTn>
                              </p:par>
                              <p:par>
                                <p:cTn id="101" presetID="10" presetClass="entr" presetSubtype="0" fill="hold" grpId="0" nodeType="withEffect">
                                  <p:stCondLst>
                                    <p:cond delay="1540"/>
                                  </p:stCondLst>
                                  <p:childTnLst>
                                    <p:set>
                                      <p:cBhvr>
                                        <p:cTn id="102" dur="1" fill="hold">
                                          <p:stCondLst>
                                            <p:cond delay="0"/>
                                          </p:stCondLst>
                                        </p:cTn>
                                        <p:tgtEl>
                                          <p:spTgt spid="44"/>
                                        </p:tgtEl>
                                        <p:attrNameLst>
                                          <p:attrName>style.visibility</p:attrName>
                                        </p:attrNameLst>
                                      </p:cBhvr>
                                      <p:to>
                                        <p:strVal val="visible"/>
                                      </p:to>
                                    </p:set>
                                    <p:animEffect transition="in" filter="fade">
                                      <p:cBhvr>
                                        <p:cTn id="103" dur="400"/>
                                        <p:tgtEl>
                                          <p:spTgt spid="44"/>
                                        </p:tgtEl>
                                      </p:cBhvr>
                                    </p:animEffect>
                                  </p:childTnLst>
                                </p:cTn>
                              </p:par>
                              <p:par>
                                <p:cTn id="104" presetID="10" presetClass="entr" presetSubtype="0" fill="hold" grpId="0" nodeType="withEffect">
                                  <p:stCondLst>
                                    <p:cond delay="154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400"/>
                                        <p:tgtEl>
                                          <p:spTgt spid="45"/>
                                        </p:tgtEl>
                                      </p:cBhvr>
                                    </p:animEffect>
                                  </p:childTnLst>
                                </p:cTn>
                              </p:par>
                              <p:par>
                                <p:cTn id="107" presetID="10" presetClass="entr" presetSubtype="0" fill="hold" grpId="0" nodeType="withEffect">
                                  <p:stCondLst>
                                    <p:cond delay="1540"/>
                                  </p:stCondLst>
                                  <p:childTnLst>
                                    <p:set>
                                      <p:cBhvr>
                                        <p:cTn id="108" dur="1" fill="hold">
                                          <p:stCondLst>
                                            <p:cond delay="0"/>
                                          </p:stCondLst>
                                        </p:cTn>
                                        <p:tgtEl>
                                          <p:spTgt spid="46"/>
                                        </p:tgtEl>
                                        <p:attrNameLst>
                                          <p:attrName>style.visibility</p:attrName>
                                        </p:attrNameLst>
                                      </p:cBhvr>
                                      <p:to>
                                        <p:strVal val="visible"/>
                                      </p:to>
                                    </p:set>
                                    <p:animEffect transition="in" filter="fade">
                                      <p:cBhvr>
                                        <p:cTn id="109" dur="400"/>
                                        <p:tgtEl>
                                          <p:spTgt spid="46"/>
                                        </p:tgtEl>
                                      </p:cBhvr>
                                    </p:animEffect>
                                  </p:childTnLst>
                                </p:cTn>
                              </p:par>
                              <p:par>
                                <p:cTn id="110" presetID="10" presetClass="entr" presetSubtype="0" fill="hold" grpId="0" nodeType="withEffect">
                                  <p:stCondLst>
                                    <p:cond delay="1540"/>
                                  </p:stCondLst>
                                  <p:childTnLst>
                                    <p:set>
                                      <p:cBhvr>
                                        <p:cTn id="111" dur="1" fill="hold">
                                          <p:stCondLst>
                                            <p:cond delay="0"/>
                                          </p:stCondLst>
                                        </p:cTn>
                                        <p:tgtEl>
                                          <p:spTgt spid="47"/>
                                        </p:tgtEl>
                                        <p:attrNameLst>
                                          <p:attrName>style.visibility</p:attrName>
                                        </p:attrNameLst>
                                      </p:cBhvr>
                                      <p:to>
                                        <p:strVal val="visible"/>
                                      </p:to>
                                    </p:set>
                                    <p:animEffect transition="in" filter="fade">
                                      <p:cBhvr>
                                        <p:cTn id="112" dur="400"/>
                                        <p:tgtEl>
                                          <p:spTgt spid="47"/>
                                        </p:tgtEl>
                                      </p:cBhvr>
                                    </p:animEffect>
                                  </p:childTnLst>
                                </p:cTn>
                              </p:par>
                              <p:par>
                                <p:cTn id="113" presetID="10" presetClass="entr" presetSubtype="0" fill="hold" grpId="0" nodeType="withEffect">
                                  <p:stCondLst>
                                    <p:cond delay="1760"/>
                                  </p:stCondLst>
                                  <p:childTnLst>
                                    <p:set>
                                      <p:cBhvr>
                                        <p:cTn id="114" dur="1" fill="hold">
                                          <p:stCondLst>
                                            <p:cond delay="0"/>
                                          </p:stCondLst>
                                        </p:cTn>
                                        <p:tgtEl>
                                          <p:spTgt spid="15"/>
                                        </p:tgtEl>
                                        <p:attrNameLst>
                                          <p:attrName>style.visibility</p:attrName>
                                        </p:attrNameLst>
                                      </p:cBhvr>
                                      <p:to>
                                        <p:strVal val="visible"/>
                                      </p:to>
                                    </p:set>
                                    <p:animEffect transition="in" filter="fade">
                                      <p:cBhvr>
                                        <p:cTn id="115" dur="400"/>
                                        <p:tgtEl>
                                          <p:spTgt spid="15"/>
                                        </p:tgtEl>
                                      </p:cBhvr>
                                    </p:animEffect>
                                  </p:childTnLst>
                                </p:cTn>
                              </p:par>
                              <p:par>
                                <p:cTn id="116" presetID="10" presetClass="entr" presetSubtype="0" fill="hold" grpId="0" nodeType="withEffect">
                                  <p:stCondLst>
                                    <p:cond delay="1760"/>
                                  </p:stCondLst>
                                  <p:childTnLst>
                                    <p:set>
                                      <p:cBhvr>
                                        <p:cTn id="117" dur="1" fill="hold">
                                          <p:stCondLst>
                                            <p:cond delay="0"/>
                                          </p:stCondLst>
                                        </p:cTn>
                                        <p:tgtEl>
                                          <p:spTgt spid="48"/>
                                        </p:tgtEl>
                                        <p:attrNameLst>
                                          <p:attrName>style.visibility</p:attrName>
                                        </p:attrNameLst>
                                      </p:cBhvr>
                                      <p:to>
                                        <p:strVal val="visible"/>
                                      </p:to>
                                    </p:set>
                                    <p:animEffect transition="in" filter="fade">
                                      <p:cBhvr>
                                        <p:cTn id="118" dur="400"/>
                                        <p:tgtEl>
                                          <p:spTgt spid="48"/>
                                        </p:tgtEl>
                                      </p:cBhvr>
                                    </p:animEffect>
                                  </p:childTnLst>
                                </p:cTn>
                              </p:par>
                              <p:par>
                                <p:cTn id="119" presetID="10" presetClass="entr" presetSubtype="0" fill="hold" grpId="0" nodeType="withEffect">
                                  <p:stCondLst>
                                    <p:cond delay="1760"/>
                                  </p:stCondLst>
                                  <p:childTnLst>
                                    <p:set>
                                      <p:cBhvr>
                                        <p:cTn id="120" dur="1" fill="hold">
                                          <p:stCondLst>
                                            <p:cond delay="0"/>
                                          </p:stCondLst>
                                        </p:cTn>
                                        <p:tgtEl>
                                          <p:spTgt spid="49"/>
                                        </p:tgtEl>
                                        <p:attrNameLst>
                                          <p:attrName>style.visibility</p:attrName>
                                        </p:attrNameLst>
                                      </p:cBhvr>
                                      <p:to>
                                        <p:strVal val="visible"/>
                                      </p:to>
                                    </p:set>
                                    <p:animEffect transition="in" filter="fade">
                                      <p:cBhvr>
                                        <p:cTn id="121" dur="400"/>
                                        <p:tgtEl>
                                          <p:spTgt spid="49"/>
                                        </p:tgtEl>
                                      </p:cBhvr>
                                    </p:animEffect>
                                  </p:childTnLst>
                                </p:cTn>
                              </p:par>
                              <p:par>
                                <p:cTn id="122" presetID="10" presetClass="entr" presetSubtype="0" fill="hold" grpId="0" nodeType="withEffect">
                                  <p:stCondLst>
                                    <p:cond delay="1760"/>
                                  </p:stCondLst>
                                  <p:childTnLst>
                                    <p:set>
                                      <p:cBhvr>
                                        <p:cTn id="123" dur="1" fill="hold">
                                          <p:stCondLst>
                                            <p:cond delay="0"/>
                                          </p:stCondLst>
                                        </p:cTn>
                                        <p:tgtEl>
                                          <p:spTgt spid="50"/>
                                        </p:tgtEl>
                                        <p:attrNameLst>
                                          <p:attrName>style.visibility</p:attrName>
                                        </p:attrNameLst>
                                      </p:cBhvr>
                                      <p:to>
                                        <p:strVal val="visible"/>
                                      </p:to>
                                    </p:set>
                                    <p:animEffect transition="in" filter="fade">
                                      <p:cBhvr>
                                        <p:cTn id="124" dur="400"/>
                                        <p:tgtEl>
                                          <p:spTgt spid="50"/>
                                        </p:tgtEl>
                                      </p:cBhvr>
                                    </p:animEffect>
                                  </p:childTnLst>
                                </p:cTn>
                              </p:par>
                              <p:par>
                                <p:cTn id="125" presetID="10" presetClass="entr" presetSubtype="0" fill="hold" grpId="0" nodeType="withEffect">
                                  <p:stCondLst>
                                    <p:cond delay="1760"/>
                                  </p:stCondLst>
                                  <p:childTnLst>
                                    <p:set>
                                      <p:cBhvr>
                                        <p:cTn id="126" dur="1" fill="hold">
                                          <p:stCondLst>
                                            <p:cond delay="0"/>
                                          </p:stCondLst>
                                        </p:cTn>
                                        <p:tgtEl>
                                          <p:spTgt spid="51"/>
                                        </p:tgtEl>
                                        <p:attrNameLst>
                                          <p:attrName>style.visibility</p:attrName>
                                        </p:attrNameLst>
                                      </p:cBhvr>
                                      <p:to>
                                        <p:strVal val="visible"/>
                                      </p:to>
                                    </p:set>
                                    <p:animEffect transition="in" filter="fade">
                                      <p:cBhvr>
                                        <p:cTn id="127" dur="400"/>
                                        <p:tgtEl>
                                          <p:spTgt spid="51"/>
                                        </p:tgtEl>
                                      </p:cBhvr>
                                    </p:animEffect>
                                  </p:childTnLst>
                                </p:cTn>
                              </p:par>
                              <p:par>
                                <p:cTn id="128" presetID="10" presetClass="entr" presetSubtype="0" fill="hold" grpId="0" nodeType="withEffect">
                                  <p:stCondLst>
                                    <p:cond delay="1760"/>
                                  </p:stCondLst>
                                  <p:childTnLst>
                                    <p:set>
                                      <p:cBhvr>
                                        <p:cTn id="129" dur="1" fill="hold">
                                          <p:stCondLst>
                                            <p:cond delay="0"/>
                                          </p:stCondLst>
                                        </p:cTn>
                                        <p:tgtEl>
                                          <p:spTgt spid="52"/>
                                        </p:tgtEl>
                                        <p:attrNameLst>
                                          <p:attrName>style.visibility</p:attrName>
                                        </p:attrNameLst>
                                      </p:cBhvr>
                                      <p:to>
                                        <p:strVal val="visible"/>
                                      </p:to>
                                    </p:set>
                                    <p:animEffect transition="in" filter="fade">
                                      <p:cBhvr>
                                        <p:cTn id="130" dur="400"/>
                                        <p:tgtEl>
                                          <p:spTgt spid="52"/>
                                        </p:tgtEl>
                                      </p:cBhvr>
                                    </p:animEffect>
                                  </p:childTnLst>
                                </p:cTn>
                              </p:par>
                              <p:par>
                                <p:cTn id="131" presetID="10" presetClass="entr" presetSubtype="0" fill="hold" grpId="0" nodeType="withEffect">
                                  <p:stCondLst>
                                    <p:cond delay="1760"/>
                                  </p:stCondLst>
                                  <p:childTnLst>
                                    <p:set>
                                      <p:cBhvr>
                                        <p:cTn id="132" dur="1" fill="hold">
                                          <p:stCondLst>
                                            <p:cond delay="0"/>
                                          </p:stCondLst>
                                        </p:cTn>
                                        <p:tgtEl>
                                          <p:spTgt spid="53"/>
                                        </p:tgtEl>
                                        <p:attrNameLst>
                                          <p:attrName>style.visibility</p:attrName>
                                        </p:attrNameLst>
                                      </p:cBhvr>
                                      <p:to>
                                        <p:strVal val="visible"/>
                                      </p:to>
                                    </p:set>
                                    <p:animEffect transition="in" filter="fade">
                                      <p:cBhvr>
                                        <p:cTn id="133" dur="400"/>
                                        <p:tgtEl>
                                          <p:spTgt spid="53"/>
                                        </p:tgtEl>
                                      </p:cBhvr>
                                    </p:animEffect>
                                  </p:childTnLst>
                                </p:cTn>
                              </p:par>
                              <p:par>
                                <p:cTn id="134" presetID="10" presetClass="entr" presetSubtype="0" fill="hold" grpId="0" nodeType="withEffect">
                                  <p:stCondLst>
                                    <p:cond delay="1760"/>
                                  </p:stCondLst>
                                  <p:childTnLst>
                                    <p:set>
                                      <p:cBhvr>
                                        <p:cTn id="135" dur="1" fill="hold">
                                          <p:stCondLst>
                                            <p:cond delay="0"/>
                                          </p:stCondLst>
                                        </p:cTn>
                                        <p:tgtEl>
                                          <p:spTgt spid="54"/>
                                        </p:tgtEl>
                                        <p:attrNameLst>
                                          <p:attrName>style.visibility</p:attrName>
                                        </p:attrNameLst>
                                      </p:cBhvr>
                                      <p:to>
                                        <p:strVal val="visible"/>
                                      </p:to>
                                    </p:set>
                                    <p:animEffect transition="in" filter="fade">
                                      <p:cBhvr>
                                        <p:cTn id="136" dur="400"/>
                                        <p:tgtEl>
                                          <p:spTgt spid="54"/>
                                        </p:tgtEl>
                                      </p:cBhvr>
                                    </p:animEffect>
                                  </p:childTnLst>
                                </p:cTn>
                              </p:par>
                              <p:par>
                                <p:cTn id="137" presetID="10" presetClass="entr" presetSubtype="0" fill="hold" grpId="0" nodeType="withEffect">
                                  <p:stCondLst>
                                    <p:cond delay="1980"/>
                                  </p:stCondLst>
                                  <p:childTnLst>
                                    <p:set>
                                      <p:cBhvr>
                                        <p:cTn id="138" dur="1" fill="hold">
                                          <p:stCondLst>
                                            <p:cond delay="0"/>
                                          </p:stCondLst>
                                        </p:cTn>
                                        <p:tgtEl>
                                          <p:spTgt spid="13"/>
                                        </p:tgtEl>
                                        <p:attrNameLst>
                                          <p:attrName>style.visibility</p:attrName>
                                        </p:attrNameLst>
                                      </p:cBhvr>
                                      <p:to>
                                        <p:strVal val="visible"/>
                                      </p:to>
                                    </p:set>
                                    <p:animEffect transition="in" filter="fade">
                                      <p:cBhvr>
                                        <p:cTn id="139" dur="400"/>
                                        <p:tgtEl>
                                          <p:spTgt spid="13"/>
                                        </p:tgtEl>
                                      </p:cBhvr>
                                    </p:animEffect>
                                  </p:childTnLst>
                                </p:cTn>
                              </p:par>
                              <p:par>
                                <p:cTn id="140" presetID="10" presetClass="entr" presetSubtype="0" fill="hold" grpId="0" nodeType="withEffect">
                                  <p:stCondLst>
                                    <p:cond delay="1980"/>
                                  </p:stCondLst>
                                  <p:childTnLst>
                                    <p:set>
                                      <p:cBhvr>
                                        <p:cTn id="141" dur="1" fill="hold">
                                          <p:stCondLst>
                                            <p:cond delay="0"/>
                                          </p:stCondLst>
                                        </p:cTn>
                                        <p:tgtEl>
                                          <p:spTgt spid="55"/>
                                        </p:tgtEl>
                                        <p:attrNameLst>
                                          <p:attrName>style.visibility</p:attrName>
                                        </p:attrNameLst>
                                      </p:cBhvr>
                                      <p:to>
                                        <p:strVal val="visible"/>
                                      </p:to>
                                    </p:set>
                                    <p:animEffect transition="in" filter="fade">
                                      <p:cBhvr>
                                        <p:cTn id="142" dur="400"/>
                                        <p:tgtEl>
                                          <p:spTgt spid="55"/>
                                        </p:tgtEl>
                                      </p:cBhvr>
                                    </p:animEffect>
                                  </p:childTnLst>
                                </p:cTn>
                              </p:par>
                              <p:par>
                                <p:cTn id="143" presetID="10" presetClass="entr" presetSubtype="0" fill="hold" grpId="0" nodeType="withEffect">
                                  <p:stCondLst>
                                    <p:cond delay="1980"/>
                                  </p:stCondLst>
                                  <p:childTnLst>
                                    <p:set>
                                      <p:cBhvr>
                                        <p:cTn id="144" dur="1" fill="hold">
                                          <p:stCondLst>
                                            <p:cond delay="0"/>
                                          </p:stCondLst>
                                        </p:cTn>
                                        <p:tgtEl>
                                          <p:spTgt spid="56"/>
                                        </p:tgtEl>
                                        <p:attrNameLst>
                                          <p:attrName>style.visibility</p:attrName>
                                        </p:attrNameLst>
                                      </p:cBhvr>
                                      <p:to>
                                        <p:strVal val="visible"/>
                                      </p:to>
                                    </p:set>
                                    <p:animEffect transition="in" filter="fade">
                                      <p:cBhvr>
                                        <p:cTn id="145" dur="400"/>
                                        <p:tgtEl>
                                          <p:spTgt spid="56"/>
                                        </p:tgtEl>
                                      </p:cBhvr>
                                    </p:animEffect>
                                  </p:childTnLst>
                                </p:cTn>
                              </p:par>
                              <p:par>
                                <p:cTn id="146" presetID="10" presetClass="entr" presetSubtype="0" fill="hold" grpId="0" nodeType="withEffect">
                                  <p:stCondLst>
                                    <p:cond delay="1980"/>
                                  </p:stCondLst>
                                  <p:childTnLst>
                                    <p:set>
                                      <p:cBhvr>
                                        <p:cTn id="147" dur="1" fill="hold">
                                          <p:stCondLst>
                                            <p:cond delay="0"/>
                                          </p:stCondLst>
                                        </p:cTn>
                                        <p:tgtEl>
                                          <p:spTgt spid="57"/>
                                        </p:tgtEl>
                                        <p:attrNameLst>
                                          <p:attrName>style.visibility</p:attrName>
                                        </p:attrNameLst>
                                      </p:cBhvr>
                                      <p:to>
                                        <p:strVal val="visible"/>
                                      </p:to>
                                    </p:set>
                                    <p:animEffect transition="in" filter="fade">
                                      <p:cBhvr>
                                        <p:cTn id="148" dur="400"/>
                                        <p:tgtEl>
                                          <p:spTgt spid="57"/>
                                        </p:tgtEl>
                                      </p:cBhvr>
                                    </p:animEffect>
                                  </p:childTnLst>
                                </p:cTn>
                              </p:par>
                              <p:par>
                                <p:cTn id="149" presetID="10" presetClass="entr" presetSubtype="0" fill="hold" grpId="0" nodeType="withEffect">
                                  <p:stCondLst>
                                    <p:cond delay="1980"/>
                                  </p:stCondLst>
                                  <p:childTnLst>
                                    <p:set>
                                      <p:cBhvr>
                                        <p:cTn id="150" dur="1" fill="hold">
                                          <p:stCondLst>
                                            <p:cond delay="0"/>
                                          </p:stCondLst>
                                        </p:cTn>
                                        <p:tgtEl>
                                          <p:spTgt spid="58"/>
                                        </p:tgtEl>
                                        <p:attrNameLst>
                                          <p:attrName>style.visibility</p:attrName>
                                        </p:attrNameLst>
                                      </p:cBhvr>
                                      <p:to>
                                        <p:strVal val="visible"/>
                                      </p:to>
                                    </p:set>
                                    <p:animEffect transition="in" filter="fade">
                                      <p:cBhvr>
                                        <p:cTn id="151" dur="400"/>
                                        <p:tgtEl>
                                          <p:spTgt spid="58"/>
                                        </p:tgtEl>
                                      </p:cBhvr>
                                    </p:animEffect>
                                  </p:childTnLst>
                                </p:cTn>
                              </p:par>
                              <p:par>
                                <p:cTn id="152" presetID="10" presetClass="entr" presetSubtype="0" fill="hold" grpId="0" nodeType="withEffect">
                                  <p:stCondLst>
                                    <p:cond delay="1980"/>
                                  </p:stCondLst>
                                  <p:childTnLst>
                                    <p:set>
                                      <p:cBhvr>
                                        <p:cTn id="153" dur="1" fill="hold">
                                          <p:stCondLst>
                                            <p:cond delay="0"/>
                                          </p:stCondLst>
                                        </p:cTn>
                                        <p:tgtEl>
                                          <p:spTgt spid="59"/>
                                        </p:tgtEl>
                                        <p:attrNameLst>
                                          <p:attrName>style.visibility</p:attrName>
                                        </p:attrNameLst>
                                      </p:cBhvr>
                                      <p:to>
                                        <p:strVal val="visible"/>
                                      </p:to>
                                    </p:set>
                                    <p:animEffect transition="in" filter="fade">
                                      <p:cBhvr>
                                        <p:cTn id="154" dur="400"/>
                                        <p:tgtEl>
                                          <p:spTgt spid="59"/>
                                        </p:tgtEl>
                                      </p:cBhvr>
                                    </p:animEffect>
                                  </p:childTnLst>
                                </p:cTn>
                              </p:par>
                              <p:par>
                                <p:cTn id="155" presetID="10" presetClass="entr" presetSubtype="0" fill="hold" grpId="0" nodeType="withEffect">
                                  <p:stCondLst>
                                    <p:cond delay="1980"/>
                                  </p:stCondLst>
                                  <p:childTnLst>
                                    <p:set>
                                      <p:cBhvr>
                                        <p:cTn id="156" dur="1" fill="hold">
                                          <p:stCondLst>
                                            <p:cond delay="0"/>
                                          </p:stCondLst>
                                        </p:cTn>
                                        <p:tgtEl>
                                          <p:spTgt spid="60"/>
                                        </p:tgtEl>
                                        <p:attrNameLst>
                                          <p:attrName>style.visibility</p:attrName>
                                        </p:attrNameLst>
                                      </p:cBhvr>
                                      <p:to>
                                        <p:strVal val="visible"/>
                                      </p:to>
                                    </p:set>
                                    <p:animEffect transition="in" filter="fade">
                                      <p:cBhvr>
                                        <p:cTn id="157" dur="400"/>
                                        <p:tgtEl>
                                          <p:spTgt spid="60"/>
                                        </p:tgtEl>
                                      </p:cBhvr>
                                    </p:animEffect>
                                  </p:childTnLst>
                                </p:cTn>
                              </p:par>
                              <p:par>
                                <p:cTn id="158" presetID="10" presetClass="entr" presetSubtype="0" fill="hold" grpId="0" nodeType="withEffect">
                                  <p:stCondLst>
                                    <p:cond delay="1980"/>
                                  </p:stCondLst>
                                  <p:childTnLst>
                                    <p:set>
                                      <p:cBhvr>
                                        <p:cTn id="159" dur="1" fill="hold">
                                          <p:stCondLst>
                                            <p:cond delay="0"/>
                                          </p:stCondLst>
                                        </p:cTn>
                                        <p:tgtEl>
                                          <p:spTgt spid="61"/>
                                        </p:tgtEl>
                                        <p:attrNameLst>
                                          <p:attrName>style.visibility</p:attrName>
                                        </p:attrNameLst>
                                      </p:cBhvr>
                                      <p:to>
                                        <p:strVal val="visible"/>
                                      </p:to>
                                    </p:set>
                                    <p:animEffect transition="in" filter="fade">
                                      <p:cBhvr>
                                        <p:cTn id="160"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09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AI THAM MƯU</a:t>
            </a:r>
            <a:endParaRPr lang="en-US" sz="1150" dirty="0"/>
          </a:p>
        </p:txBody>
      </p:sp>
      <p:sp>
        <p:nvSpPr>
          <p:cNvPr id="9" name="Text 5"/>
          <p:cNvSpPr/>
          <p:nvPr/>
        </p:nvSpPr>
        <p:spPr>
          <a:xfrm>
            <a:off x="713232" y="1024128"/>
            <a:ext cx="10490911" cy="447802"/>
          </a:xfrm>
          <a:prstGeom prst="rect">
            <a:avLst/>
          </a:prstGeom>
          <a:noFill/>
          <a:ln/>
        </p:spPr>
        <p:txBody>
          <a:bodyPr wrap="square" lIns="0" tIns="0" rIns="0" bIns="0" rtlCol="0" anchor="t"/>
          <a:lstStyle/>
          <a:p>
            <a:pPr algn="l" indent="0" marL="0">
              <a:lnSpc>
                <a:spcPts val="2950"/>
              </a:lnSpc>
              <a:buNone/>
            </a:pPr>
            <a:r>
              <a:rPr lang="en-US" sz="2500" b="1" dirty="0">
                <a:solidFill>
                  <a:srgbClr val="FFFFFF"/>
                </a:solidFill>
                <a:latin typeface="Be Vietnam Pro" pitchFamily="34" charset="0"/>
                <a:ea typeface="Be Vietnam Pro" pitchFamily="34" charset="-122"/>
                <a:cs typeface="Be Vietnam Pro" pitchFamily="34" charset="-120"/>
              </a:rPr>
              <a:t>Trưởng thôn báo cáo — AI hỗ trợ phân tích và lập bản tham mưu</a:t>
            </a:r>
            <a:endParaRPr lang="en-US" sz="25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pic>
        <p:nvPicPr>
          <p:cNvPr id="12" name="Image 2" descr="anh/da-cat/ai-tham-muu.png">    </p:cNvPr>
          <p:cNvPicPr>
            <a:picLocks noChangeAspect="1"/>
          </p:cNvPicPr>
          <p:nvPr/>
        </p:nvPicPr>
        <p:blipFill>
          <a:blip r:embed="rId3"/>
          <a:stretch>
            <a:fillRect/>
          </a:stretch>
        </p:blipFill>
        <p:spPr>
          <a:xfrm>
            <a:off x="1259129" y="1618234"/>
            <a:ext cx="3429914" cy="4608576"/>
          </a:xfrm>
          <a:prstGeom prst="roundRect">
            <a:avLst>
              <a:gd name="adj" fmla="val 3199"/>
            </a:avLst>
          </a:prstGeom>
        </p:spPr>
      </p:pic>
      <p:sp>
        <p:nvSpPr>
          <p:cNvPr id="13" name="Shape 8"/>
          <p:cNvSpPr/>
          <p:nvPr/>
        </p:nvSpPr>
        <p:spPr>
          <a:xfrm>
            <a:off x="1259129" y="1618234"/>
            <a:ext cx="3429914" cy="4608576"/>
          </a:xfrm>
          <a:prstGeom prst="roundRect">
            <a:avLst>
              <a:gd name="adj" fmla="val 3199"/>
            </a:avLst>
          </a:prstGeom>
          <a:solidFill>
            <a:srgbClr val="FFFFFF">
              <a:alpha val="0"/>
            </a:srgbClr>
          </a:solidFill>
          <a:ln w="12700">
            <a:solidFill>
              <a:srgbClr val="FFFFFF">
                <a:alpha val="18000"/>
              </a:srgbClr>
            </a:solidFill>
            <a:prstDash val="solid"/>
          </a:ln>
        </p:spPr>
      </p:sp>
      <p:sp>
        <p:nvSpPr>
          <p:cNvPr id="14" name="Shape 9"/>
          <p:cNvSpPr/>
          <p:nvPr/>
        </p:nvSpPr>
        <p:spPr>
          <a:xfrm rot="5400000">
            <a:off x="4762195" y="3767074"/>
            <a:ext cx="310896" cy="310896"/>
          </a:xfrm>
          <a:prstGeom prst="triangle">
            <a:avLst/>
          </a:prstGeom>
          <a:solidFill>
            <a:srgbClr val="6EE7A8">
              <a:alpha val="95000"/>
            </a:srgbClr>
          </a:solidFill>
          <a:ln/>
        </p:spPr>
      </p:sp>
      <p:pic>
        <p:nvPicPr>
          <p:cNvPr id="15" name="Image 3" descr="anh/da-cat/phan-tich-tinh-huong.png">    </p:cNvPr>
          <p:cNvPicPr>
            <a:picLocks noChangeAspect="1"/>
          </p:cNvPicPr>
          <p:nvPr/>
        </p:nvPicPr>
        <p:blipFill>
          <a:blip r:embed="rId4"/>
          <a:stretch>
            <a:fillRect/>
          </a:stretch>
        </p:blipFill>
        <p:spPr>
          <a:xfrm>
            <a:off x="5146243" y="1618234"/>
            <a:ext cx="5786323" cy="4608576"/>
          </a:xfrm>
          <a:prstGeom prst="roundRect">
            <a:avLst>
              <a:gd name="adj" fmla="val 2381"/>
            </a:avLst>
          </a:prstGeom>
        </p:spPr>
      </p:pic>
      <p:sp>
        <p:nvSpPr>
          <p:cNvPr id="16" name="Shape 10"/>
          <p:cNvSpPr/>
          <p:nvPr/>
        </p:nvSpPr>
        <p:spPr>
          <a:xfrm>
            <a:off x="5146243" y="1618234"/>
            <a:ext cx="5786323" cy="4608576"/>
          </a:xfrm>
          <a:prstGeom prst="roundRect">
            <a:avLst>
              <a:gd name="adj" fmla="val 2381"/>
            </a:avLst>
          </a:prstGeom>
          <a:solidFill>
            <a:srgbClr val="FFFFFF">
              <a:alpha val="0"/>
            </a:srgbClr>
          </a:solidFill>
          <a:ln w="12700">
            <a:solidFill>
              <a:srgbClr val="FFFFFF">
                <a:alpha val="18000"/>
              </a:srgbClr>
            </a:solidFill>
            <a:prstDash val="solid"/>
          </a:ln>
        </p:spPr>
      </p:sp>
      <p:sp>
        <p:nvSpPr>
          <p:cNvPr id="17" name="Text 11"/>
          <p:cNvSpPr/>
          <p:nvPr/>
        </p:nvSpPr>
        <p:spPr>
          <a:xfrm>
            <a:off x="713232" y="6382512"/>
            <a:ext cx="6492240" cy="236030"/>
          </a:xfrm>
          <a:prstGeom prst="rect">
            <a:avLst/>
          </a:prstGeom>
          <a:noFill/>
          <a:ln/>
        </p:spPr>
        <p:txBody>
          <a:bodyPr wrap="square" lIns="0" tIns="0" rIns="0" bIns="0" rtlCol="0" anchor="t"/>
          <a:lstStyle/>
          <a:p>
            <a:pPr algn="l"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Nguồn: màn hình thật trên hệ thống Ứng Phó Nhanh.</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66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66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10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QUY TRÌNH ĐIỀU PHỐI CỨU HỘ · BƯỚC 3 / 6</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Chọn kho theo khoảng cách và khả năng đáp ứng</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Shape 8"/>
          <p:cNvSpPr/>
          <p:nvPr/>
        </p:nvSpPr>
        <p:spPr>
          <a:xfrm rot="5400000">
            <a:off x="4144670" y="2602420"/>
            <a:ext cx="219456" cy="219456"/>
          </a:xfrm>
          <a:prstGeom prst="triangle">
            <a:avLst/>
          </a:prstGeom>
          <a:solidFill>
            <a:srgbClr val="22C55E">
              <a:alpha val="75000"/>
            </a:srgbClr>
          </a:solidFill>
          <a:ln/>
        </p:spPr>
      </p:sp>
      <p:sp>
        <p:nvSpPr>
          <p:cNvPr id="13" name="Shape 9"/>
          <p:cNvSpPr/>
          <p:nvPr/>
        </p:nvSpPr>
        <p:spPr>
          <a:xfrm rot="16200000">
            <a:off x="4135526" y="5012753"/>
            <a:ext cx="219456" cy="219456"/>
          </a:xfrm>
          <a:prstGeom prst="triangle">
            <a:avLst/>
          </a:prstGeom>
          <a:solidFill>
            <a:srgbClr val="22C55E">
              <a:alpha val="75000"/>
            </a:srgbClr>
          </a:solidFill>
          <a:ln/>
        </p:spPr>
      </p:sp>
      <p:sp>
        <p:nvSpPr>
          <p:cNvPr id="14" name="Shape 10"/>
          <p:cNvSpPr/>
          <p:nvPr/>
        </p:nvSpPr>
        <p:spPr>
          <a:xfrm rot="5400000">
            <a:off x="7836713" y="2602420"/>
            <a:ext cx="219456" cy="219456"/>
          </a:xfrm>
          <a:prstGeom prst="triangle">
            <a:avLst/>
          </a:prstGeom>
          <a:solidFill>
            <a:srgbClr val="22C55E">
              <a:alpha val="75000"/>
            </a:srgbClr>
          </a:solidFill>
          <a:ln/>
        </p:spPr>
      </p:sp>
      <p:sp>
        <p:nvSpPr>
          <p:cNvPr id="15" name="Shape 11"/>
          <p:cNvSpPr/>
          <p:nvPr/>
        </p:nvSpPr>
        <p:spPr>
          <a:xfrm rot="16200000">
            <a:off x="7827569" y="5012753"/>
            <a:ext cx="219456" cy="219456"/>
          </a:xfrm>
          <a:prstGeom prst="triangle">
            <a:avLst/>
          </a:prstGeom>
          <a:solidFill>
            <a:srgbClr val="22C55E">
              <a:alpha val="75000"/>
            </a:srgbClr>
          </a:solidFill>
          <a:ln/>
        </p:spPr>
      </p:sp>
      <p:sp>
        <p:nvSpPr>
          <p:cNvPr id="16" name="Shape 12"/>
          <p:cNvSpPr/>
          <p:nvPr/>
        </p:nvSpPr>
        <p:spPr>
          <a:xfrm>
            <a:off x="9777832" y="3716147"/>
            <a:ext cx="20117" cy="246888"/>
          </a:xfrm>
          <a:prstGeom prst="rect">
            <a:avLst/>
          </a:prstGeom>
          <a:solidFill>
            <a:srgbClr val="2E7D55">
              <a:alpha val="85000"/>
            </a:srgbClr>
          </a:solidFill>
          <a:ln/>
        </p:spPr>
      </p:sp>
      <p:sp>
        <p:nvSpPr>
          <p:cNvPr id="17" name="Shape 13"/>
          <p:cNvSpPr/>
          <p:nvPr/>
        </p:nvSpPr>
        <p:spPr>
          <a:xfrm rot="10800000">
            <a:off x="9696450" y="3940175"/>
            <a:ext cx="182880" cy="182880"/>
          </a:xfrm>
          <a:prstGeom prst="triangle">
            <a:avLst/>
          </a:prstGeom>
          <a:solidFill>
            <a:srgbClr val="22C55E">
              <a:alpha val="75000"/>
            </a:srgbClr>
          </a:solidFill>
          <a:ln/>
        </p:spPr>
      </p:sp>
      <p:sp>
        <p:nvSpPr>
          <p:cNvPr id="18" name="Shape 14"/>
          <p:cNvSpPr/>
          <p:nvPr/>
        </p:nvSpPr>
        <p:spPr>
          <a:xfrm>
            <a:off x="713232" y="1708150"/>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19" name="Shape 15"/>
          <p:cNvSpPr/>
          <p:nvPr/>
        </p:nvSpPr>
        <p:spPr>
          <a:xfrm>
            <a:off x="713232" y="1708150"/>
            <a:ext cx="50292" cy="2007997"/>
          </a:xfrm>
          <a:prstGeom prst="roundRect">
            <a:avLst>
              <a:gd name="adj" fmla="val 54545"/>
            </a:avLst>
          </a:prstGeom>
          <a:solidFill>
            <a:srgbClr val="3C5468">
              <a:alpha val="95000"/>
            </a:srgbClr>
          </a:solidFill>
          <a:ln/>
        </p:spPr>
      </p:sp>
      <p:sp>
        <p:nvSpPr>
          <p:cNvPr id="20" name="Shape 16"/>
          <p:cNvSpPr/>
          <p:nvPr/>
        </p:nvSpPr>
        <p:spPr>
          <a:xfrm>
            <a:off x="987552" y="2062924"/>
            <a:ext cx="420624" cy="420624"/>
          </a:xfrm>
          <a:prstGeom prst="roundRect">
            <a:avLst>
              <a:gd name="adj" fmla="val 50000"/>
            </a:avLst>
          </a:prstGeom>
          <a:solidFill>
            <a:srgbClr val="04101F">
              <a:alpha val="88000"/>
            </a:srgbClr>
          </a:solidFill>
          <a:ln/>
        </p:spPr>
      </p:sp>
      <p:sp>
        <p:nvSpPr>
          <p:cNvPr id="21" name="Shape 17"/>
          <p:cNvSpPr/>
          <p:nvPr/>
        </p:nvSpPr>
        <p:spPr>
          <a:xfrm>
            <a:off x="987552" y="2062924"/>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22" name="Text 18"/>
          <p:cNvSpPr/>
          <p:nvPr/>
        </p:nvSpPr>
        <p:spPr>
          <a:xfrm>
            <a:off x="941832"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1</a:t>
            </a:r>
            <a:endParaRPr lang="en-US" sz="1500" dirty="0"/>
          </a:p>
        </p:txBody>
      </p:sp>
      <p:sp>
        <p:nvSpPr>
          <p:cNvPr id="23" name="Text 19"/>
          <p:cNvSpPr/>
          <p:nvPr/>
        </p:nvSpPr>
        <p:spPr>
          <a:xfrm>
            <a:off x="1536192" y="2108644"/>
            <a:ext cx="2393594" cy="29540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Ghi nhận tình huống</a:t>
            </a:r>
            <a:endParaRPr lang="en-US" sz="1400" dirty="0"/>
          </a:p>
        </p:txBody>
      </p:sp>
      <p:sp>
        <p:nvSpPr>
          <p:cNvPr id="24" name="Text 20"/>
          <p:cNvSpPr/>
          <p:nvPr/>
        </p:nvSpPr>
        <p:spPr>
          <a:xfrm>
            <a:off x="987552" y="2721292"/>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Trưởng thôn báo cáo và đánh dấu điểm</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gặp nạn trên bản đồ.</a:t>
            </a:r>
            <a:endParaRPr lang="en-US" sz="1150" dirty="0"/>
          </a:p>
        </p:txBody>
      </p:sp>
      <p:sp>
        <p:nvSpPr>
          <p:cNvPr id="25" name="Shape 21"/>
          <p:cNvSpPr/>
          <p:nvPr/>
        </p:nvSpPr>
        <p:spPr>
          <a:xfrm>
            <a:off x="4405274" y="1708150"/>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26" name="Shape 22"/>
          <p:cNvSpPr/>
          <p:nvPr/>
        </p:nvSpPr>
        <p:spPr>
          <a:xfrm>
            <a:off x="4405274" y="1708150"/>
            <a:ext cx="50292" cy="2007997"/>
          </a:xfrm>
          <a:prstGeom prst="roundRect">
            <a:avLst>
              <a:gd name="adj" fmla="val 54545"/>
            </a:avLst>
          </a:prstGeom>
          <a:solidFill>
            <a:srgbClr val="3C5468">
              <a:alpha val="95000"/>
            </a:srgbClr>
          </a:solidFill>
          <a:ln/>
        </p:spPr>
      </p:sp>
      <p:sp>
        <p:nvSpPr>
          <p:cNvPr id="27" name="Shape 23"/>
          <p:cNvSpPr/>
          <p:nvPr/>
        </p:nvSpPr>
        <p:spPr>
          <a:xfrm>
            <a:off x="4679594" y="2062924"/>
            <a:ext cx="420624" cy="420624"/>
          </a:xfrm>
          <a:prstGeom prst="roundRect">
            <a:avLst>
              <a:gd name="adj" fmla="val 50000"/>
            </a:avLst>
          </a:prstGeom>
          <a:solidFill>
            <a:srgbClr val="04101F">
              <a:alpha val="88000"/>
            </a:srgbClr>
          </a:solidFill>
          <a:ln/>
        </p:spPr>
      </p:sp>
      <p:sp>
        <p:nvSpPr>
          <p:cNvPr id="28" name="Shape 24"/>
          <p:cNvSpPr/>
          <p:nvPr/>
        </p:nvSpPr>
        <p:spPr>
          <a:xfrm>
            <a:off x="4679594" y="2062924"/>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29" name="Text 25"/>
          <p:cNvSpPr/>
          <p:nvPr/>
        </p:nvSpPr>
        <p:spPr>
          <a:xfrm>
            <a:off x="4633874"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2</a:t>
            </a:r>
            <a:endParaRPr lang="en-US" sz="1500" dirty="0"/>
          </a:p>
        </p:txBody>
      </p:sp>
      <p:sp>
        <p:nvSpPr>
          <p:cNvPr id="30" name="Text 26"/>
          <p:cNvSpPr/>
          <p:nvPr/>
        </p:nvSpPr>
        <p:spPr>
          <a:xfrm>
            <a:off x="5228234" y="2108644"/>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AI hỗ trợ phân tích và</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đề xuất vật tư</a:t>
            </a:r>
            <a:endParaRPr lang="en-US" sz="1400" dirty="0"/>
          </a:p>
        </p:txBody>
      </p:sp>
      <p:sp>
        <p:nvSpPr>
          <p:cNvPr id="31" name="Text 27"/>
          <p:cNvSpPr/>
          <p:nvPr/>
        </p:nvSpPr>
        <p:spPr>
          <a:xfrm>
            <a:off x="4679594" y="2721292"/>
            <a:ext cx="2923946" cy="695325"/>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AI đọc mô tả bằng lời thành số liệu và</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đề xuất vật tư, người điều phối sẽ chốt</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phương án.</a:t>
            </a:r>
            <a:endParaRPr lang="en-US" sz="1150" dirty="0"/>
          </a:p>
        </p:txBody>
      </p:sp>
      <p:sp>
        <p:nvSpPr>
          <p:cNvPr id="32" name="Shape 28"/>
          <p:cNvSpPr/>
          <p:nvPr/>
        </p:nvSpPr>
        <p:spPr>
          <a:xfrm>
            <a:off x="8042453" y="1653286"/>
            <a:ext cx="3490874" cy="2117725"/>
          </a:xfrm>
          <a:prstGeom prst="roundRect">
            <a:avLst>
              <a:gd name="adj" fmla="val 6909"/>
            </a:avLst>
          </a:prstGeom>
          <a:solidFill>
            <a:srgbClr val="22C55E">
              <a:alpha val="18000"/>
            </a:srgbClr>
          </a:solidFill>
          <a:ln/>
        </p:spPr>
      </p:sp>
      <p:sp>
        <p:nvSpPr>
          <p:cNvPr id="33" name="Shape 29"/>
          <p:cNvSpPr/>
          <p:nvPr/>
        </p:nvSpPr>
        <p:spPr>
          <a:xfrm>
            <a:off x="8097317" y="1708150"/>
            <a:ext cx="3381146" cy="2007997"/>
          </a:xfrm>
          <a:prstGeom prst="roundRect">
            <a:avLst>
              <a:gd name="adj" fmla="val 5465"/>
            </a:avLst>
          </a:prstGeom>
          <a:solidFill>
            <a:srgbClr val="091B2D">
              <a:alpha val="78000"/>
            </a:srgbClr>
          </a:solidFill>
          <a:ln w="19050">
            <a:solidFill>
              <a:srgbClr val="22C55E">
                <a:alpha val="50000"/>
              </a:srgbClr>
            </a:solidFill>
            <a:prstDash val="solid"/>
          </a:ln>
        </p:spPr>
      </p:sp>
      <p:sp>
        <p:nvSpPr>
          <p:cNvPr id="34" name="Shape 30"/>
          <p:cNvSpPr/>
          <p:nvPr/>
        </p:nvSpPr>
        <p:spPr>
          <a:xfrm>
            <a:off x="8097317" y="1708150"/>
            <a:ext cx="50292" cy="2007997"/>
          </a:xfrm>
          <a:prstGeom prst="roundRect">
            <a:avLst>
              <a:gd name="adj" fmla="val 54545"/>
            </a:avLst>
          </a:prstGeom>
          <a:solidFill>
            <a:srgbClr val="22C55E">
              <a:alpha val="95000"/>
            </a:srgbClr>
          </a:solidFill>
          <a:ln/>
        </p:spPr>
      </p:sp>
      <p:sp>
        <p:nvSpPr>
          <p:cNvPr id="35" name="Shape 31"/>
          <p:cNvSpPr/>
          <p:nvPr/>
        </p:nvSpPr>
        <p:spPr>
          <a:xfrm>
            <a:off x="8371637" y="2062924"/>
            <a:ext cx="420624" cy="420624"/>
          </a:xfrm>
          <a:prstGeom prst="roundRect">
            <a:avLst>
              <a:gd name="adj" fmla="val 50000"/>
            </a:avLst>
          </a:prstGeom>
          <a:solidFill>
            <a:srgbClr val="04101F">
              <a:alpha val="88000"/>
            </a:srgbClr>
          </a:solidFill>
          <a:ln/>
        </p:spPr>
      </p:sp>
      <p:sp>
        <p:nvSpPr>
          <p:cNvPr id="36" name="Shape 32"/>
          <p:cNvSpPr/>
          <p:nvPr/>
        </p:nvSpPr>
        <p:spPr>
          <a:xfrm>
            <a:off x="8371637" y="2062924"/>
            <a:ext cx="420624" cy="420624"/>
          </a:xfrm>
          <a:prstGeom prst="roundRect">
            <a:avLst>
              <a:gd name="adj" fmla="val 50000"/>
            </a:avLst>
          </a:prstGeom>
          <a:solidFill>
            <a:srgbClr val="22C55E">
              <a:alpha val="20000"/>
            </a:srgbClr>
          </a:solidFill>
          <a:ln w="15240">
            <a:solidFill>
              <a:srgbClr val="22C55E">
                <a:alpha val="70000"/>
              </a:srgbClr>
            </a:solidFill>
            <a:prstDash val="solid"/>
          </a:ln>
        </p:spPr>
      </p:sp>
      <p:sp>
        <p:nvSpPr>
          <p:cNvPr id="37" name="Text 33"/>
          <p:cNvSpPr/>
          <p:nvPr/>
        </p:nvSpPr>
        <p:spPr>
          <a:xfrm>
            <a:off x="8325917"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3</a:t>
            </a:r>
            <a:endParaRPr lang="en-US" sz="1500" dirty="0"/>
          </a:p>
        </p:txBody>
      </p:sp>
      <p:sp>
        <p:nvSpPr>
          <p:cNvPr id="38" name="Text 34"/>
          <p:cNvSpPr/>
          <p:nvPr/>
        </p:nvSpPr>
        <p:spPr>
          <a:xfrm>
            <a:off x="8920277" y="2108644"/>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Chọn kho tiếp tế gần</a:t>
            </a:r>
            <a:endParaRPr lang="en-US" sz="1400" dirty="0"/>
          </a:p>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điểm gặp nạn nhất</a:t>
            </a:r>
            <a:endParaRPr lang="en-US" sz="1400" dirty="0"/>
          </a:p>
        </p:txBody>
      </p:sp>
      <p:sp>
        <p:nvSpPr>
          <p:cNvPr id="39" name="Text 35"/>
          <p:cNvSpPr/>
          <p:nvPr/>
        </p:nvSpPr>
        <p:spPr>
          <a:xfrm>
            <a:off x="8371637" y="2721292"/>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Hệ thống cân nhắc vị trí, tồn kho và khả</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năng đáp ứng của từng kho.</a:t>
            </a:r>
            <a:endParaRPr lang="en-US" sz="1150" dirty="0"/>
          </a:p>
        </p:txBody>
      </p:sp>
      <p:sp>
        <p:nvSpPr>
          <p:cNvPr id="40" name="Shape 36"/>
          <p:cNvSpPr/>
          <p:nvPr/>
        </p:nvSpPr>
        <p:spPr>
          <a:xfrm>
            <a:off x="8097317" y="4118483"/>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41" name="Shape 37"/>
          <p:cNvSpPr/>
          <p:nvPr/>
        </p:nvSpPr>
        <p:spPr>
          <a:xfrm>
            <a:off x="8097317" y="4118483"/>
            <a:ext cx="50292" cy="2007997"/>
          </a:xfrm>
          <a:prstGeom prst="roundRect">
            <a:avLst>
              <a:gd name="adj" fmla="val 54545"/>
            </a:avLst>
          </a:prstGeom>
          <a:solidFill>
            <a:srgbClr val="3C5468">
              <a:alpha val="95000"/>
            </a:srgbClr>
          </a:solidFill>
          <a:ln/>
        </p:spPr>
      </p:sp>
      <p:sp>
        <p:nvSpPr>
          <p:cNvPr id="42" name="Shape 38"/>
          <p:cNvSpPr/>
          <p:nvPr/>
        </p:nvSpPr>
        <p:spPr>
          <a:xfrm>
            <a:off x="8371637" y="4473257"/>
            <a:ext cx="420624" cy="420624"/>
          </a:xfrm>
          <a:prstGeom prst="roundRect">
            <a:avLst>
              <a:gd name="adj" fmla="val 50000"/>
            </a:avLst>
          </a:prstGeom>
          <a:solidFill>
            <a:srgbClr val="04101F">
              <a:alpha val="88000"/>
            </a:srgbClr>
          </a:solidFill>
          <a:ln/>
        </p:spPr>
      </p:sp>
      <p:sp>
        <p:nvSpPr>
          <p:cNvPr id="43" name="Shape 39"/>
          <p:cNvSpPr/>
          <p:nvPr/>
        </p:nvSpPr>
        <p:spPr>
          <a:xfrm>
            <a:off x="8371637" y="4473257"/>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44" name="Text 40"/>
          <p:cNvSpPr/>
          <p:nvPr/>
        </p:nvSpPr>
        <p:spPr>
          <a:xfrm>
            <a:off x="8325917"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4</a:t>
            </a:r>
            <a:endParaRPr lang="en-US" sz="1500" dirty="0"/>
          </a:p>
        </p:txBody>
      </p:sp>
      <p:sp>
        <p:nvSpPr>
          <p:cNvPr id="45" name="Text 41"/>
          <p:cNvSpPr/>
          <p:nvPr/>
        </p:nvSpPr>
        <p:spPr>
          <a:xfrm>
            <a:off x="8920277" y="4518977"/>
            <a:ext cx="2393594" cy="29540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Xác nhận &amp; thông báo</a:t>
            </a:r>
            <a:endParaRPr lang="en-US" sz="1400" dirty="0"/>
          </a:p>
        </p:txBody>
      </p:sp>
      <p:sp>
        <p:nvSpPr>
          <p:cNvPr id="46" name="Text 42"/>
          <p:cNvSpPr/>
          <p:nvPr/>
        </p:nvSpPr>
        <p:spPr>
          <a:xfrm>
            <a:off x="8371637" y="5131626"/>
            <a:ext cx="2923946" cy="695325"/>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Kho phụ trách nhận lệnh chuẩn bị, xuất</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vật tư; đội cứu hộ nhận nhiệm vụ cùng</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lúc.</a:t>
            </a:r>
            <a:endParaRPr lang="en-US" sz="1150" dirty="0"/>
          </a:p>
        </p:txBody>
      </p:sp>
      <p:sp>
        <p:nvSpPr>
          <p:cNvPr id="47" name="Shape 43"/>
          <p:cNvSpPr/>
          <p:nvPr/>
        </p:nvSpPr>
        <p:spPr>
          <a:xfrm>
            <a:off x="4405274" y="4118483"/>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48" name="Shape 44"/>
          <p:cNvSpPr/>
          <p:nvPr/>
        </p:nvSpPr>
        <p:spPr>
          <a:xfrm>
            <a:off x="4405274" y="4118483"/>
            <a:ext cx="50292" cy="2007997"/>
          </a:xfrm>
          <a:prstGeom prst="roundRect">
            <a:avLst>
              <a:gd name="adj" fmla="val 54545"/>
            </a:avLst>
          </a:prstGeom>
          <a:solidFill>
            <a:srgbClr val="3C5468">
              <a:alpha val="95000"/>
            </a:srgbClr>
          </a:solidFill>
          <a:ln/>
        </p:spPr>
      </p:sp>
      <p:sp>
        <p:nvSpPr>
          <p:cNvPr id="49" name="Shape 45"/>
          <p:cNvSpPr/>
          <p:nvPr/>
        </p:nvSpPr>
        <p:spPr>
          <a:xfrm>
            <a:off x="4679594" y="4473257"/>
            <a:ext cx="420624" cy="420624"/>
          </a:xfrm>
          <a:prstGeom prst="roundRect">
            <a:avLst>
              <a:gd name="adj" fmla="val 50000"/>
            </a:avLst>
          </a:prstGeom>
          <a:solidFill>
            <a:srgbClr val="04101F">
              <a:alpha val="88000"/>
            </a:srgbClr>
          </a:solidFill>
          <a:ln/>
        </p:spPr>
      </p:sp>
      <p:sp>
        <p:nvSpPr>
          <p:cNvPr id="50" name="Shape 46"/>
          <p:cNvSpPr/>
          <p:nvPr/>
        </p:nvSpPr>
        <p:spPr>
          <a:xfrm>
            <a:off x="4679594" y="4473257"/>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51" name="Text 47"/>
          <p:cNvSpPr/>
          <p:nvPr/>
        </p:nvSpPr>
        <p:spPr>
          <a:xfrm>
            <a:off x="4633874"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5</a:t>
            </a:r>
            <a:endParaRPr lang="en-US" sz="1500" dirty="0"/>
          </a:p>
        </p:txBody>
      </p:sp>
      <p:sp>
        <p:nvSpPr>
          <p:cNvPr id="52" name="Text 48"/>
          <p:cNvSpPr/>
          <p:nvPr/>
        </p:nvSpPr>
        <p:spPr>
          <a:xfrm>
            <a:off x="5228234" y="4518977"/>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Đội cứu hộ xác nhận hoàn</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thành</a:t>
            </a:r>
            <a:endParaRPr lang="en-US" sz="1400" dirty="0"/>
          </a:p>
        </p:txBody>
      </p:sp>
      <p:sp>
        <p:nvSpPr>
          <p:cNvPr id="53" name="Text 49"/>
          <p:cNvSpPr/>
          <p:nvPr/>
        </p:nvSpPr>
        <p:spPr>
          <a:xfrm>
            <a:off x="4679594" y="5131626"/>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Báo cáo kết quả nhiệm vụ kèm hình ảnh</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tại hiện trường.</a:t>
            </a:r>
            <a:endParaRPr lang="en-US" sz="1150" dirty="0"/>
          </a:p>
        </p:txBody>
      </p:sp>
      <p:sp>
        <p:nvSpPr>
          <p:cNvPr id="54" name="Shape 50"/>
          <p:cNvSpPr/>
          <p:nvPr/>
        </p:nvSpPr>
        <p:spPr>
          <a:xfrm>
            <a:off x="713232" y="4118483"/>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55" name="Shape 51"/>
          <p:cNvSpPr/>
          <p:nvPr/>
        </p:nvSpPr>
        <p:spPr>
          <a:xfrm>
            <a:off x="713232" y="4118483"/>
            <a:ext cx="50292" cy="2007997"/>
          </a:xfrm>
          <a:prstGeom prst="roundRect">
            <a:avLst>
              <a:gd name="adj" fmla="val 54545"/>
            </a:avLst>
          </a:prstGeom>
          <a:solidFill>
            <a:srgbClr val="3C5468">
              <a:alpha val="95000"/>
            </a:srgbClr>
          </a:solidFill>
          <a:ln/>
        </p:spPr>
      </p:sp>
      <p:sp>
        <p:nvSpPr>
          <p:cNvPr id="56" name="Shape 52"/>
          <p:cNvSpPr/>
          <p:nvPr/>
        </p:nvSpPr>
        <p:spPr>
          <a:xfrm>
            <a:off x="987552" y="4473257"/>
            <a:ext cx="420624" cy="420624"/>
          </a:xfrm>
          <a:prstGeom prst="roundRect">
            <a:avLst>
              <a:gd name="adj" fmla="val 50000"/>
            </a:avLst>
          </a:prstGeom>
          <a:solidFill>
            <a:srgbClr val="04101F">
              <a:alpha val="88000"/>
            </a:srgbClr>
          </a:solidFill>
          <a:ln/>
        </p:spPr>
      </p:sp>
      <p:sp>
        <p:nvSpPr>
          <p:cNvPr id="57" name="Shape 53"/>
          <p:cNvSpPr/>
          <p:nvPr/>
        </p:nvSpPr>
        <p:spPr>
          <a:xfrm>
            <a:off x="987552" y="4473257"/>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58" name="Text 54"/>
          <p:cNvSpPr/>
          <p:nvPr/>
        </p:nvSpPr>
        <p:spPr>
          <a:xfrm>
            <a:off x="941832"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6</a:t>
            </a:r>
            <a:endParaRPr lang="en-US" sz="1500" dirty="0"/>
          </a:p>
        </p:txBody>
      </p:sp>
      <p:sp>
        <p:nvSpPr>
          <p:cNvPr id="59" name="Text 55"/>
          <p:cNvSpPr/>
          <p:nvPr/>
        </p:nvSpPr>
        <p:spPr>
          <a:xfrm>
            <a:off x="1536192" y="4518977"/>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Kho xác nhận hoàn trả</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vật tư</a:t>
            </a:r>
            <a:endParaRPr lang="en-US" sz="1400" dirty="0"/>
          </a:p>
        </p:txBody>
      </p:sp>
      <p:sp>
        <p:nvSpPr>
          <p:cNvPr id="60" name="Text 56"/>
          <p:cNvSpPr/>
          <p:nvPr/>
        </p:nvSpPr>
        <p:spPr>
          <a:xfrm>
            <a:off x="987552" y="5131626"/>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Đối chiếu vật tư đã cấp phát và phần</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thu hồi, khép lại nhiệm vụ.</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par>
                                <p:cTn id="23" presetID="10" presetClass="entr" presetSubtype="0" fill="hold" grpId="0" nodeType="withEffect">
                                  <p:stCondLst>
                                    <p:cond delay="44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400"/>
                                        <p:tgtEl>
                                          <p:spTgt spid="22"/>
                                        </p:tgtEl>
                                      </p:cBhvr>
                                    </p:animEffect>
                                  </p:childTnLst>
                                </p:cTn>
                              </p:par>
                              <p:par>
                                <p:cTn id="26" presetID="10" presetClass="entr" presetSubtype="0" fill="hold" grpId="0" nodeType="withEffect">
                                  <p:stCondLst>
                                    <p:cond delay="44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400"/>
                                        <p:tgtEl>
                                          <p:spTgt spid="23"/>
                                        </p:tgtEl>
                                      </p:cBhvr>
                                    </p:animEffect>
                                  </p:childTnLst>
                                </p:cTn>
                              </p:par>
                              <p:par>
                                <p:cTn id="29" presetID="10" presetClass="entr" presetSubtype="0" fill="hold" grpId="0" nodeType="withEffect">
                                  <p:stCondLst>
                                    <p:cond delay="44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400"/>
                                        <p:tgtEl>
                                          <p:spTgt spid="25"/>
                                        </p:tgtEl>
                                      </p:cBhvr>
                                    </p:animEffect>
                                  </p:childTnLst>
                                </p:cTn>
                              </p:par>
                              <p:par>
                                <p:cTn id="38" presetID="10" presetClass="entr" presetSubtype="0" fill="hold" grpId="0" nodeType="withEffect">
                                  <p:stCondLst>
                                    <p:cond delay="66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400"/>
                                        <p:tgtEl>
                                          <p:spTgt spid="26"/>
                                        </p:tgtEl>
                                      </p:cBhvr>
                                    </p:animEffect>
                                  </p:childTnLst>
                                </p:cTn>
                              </p:par>
                              <p:par>
                                <p:cTn id="41" presetID="10" presetClass="entr" presetSubtype="0" fill="hold" grpId="0" nodeType="withEffect">
                                  <p:stCondLst>
                                    <p:cond delay="66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400"/>
                                        <p:tgtEl>
                                          <p:spTgt spid="27"/>
                                        </p:tgtEl>
                                      </p:cBhvr>
                                    </p:animEffect>
                                  </p:childTnLst>
                                </p:cTn>
                              </p:par>
                              <p:par>
                                <p:cTn id="44" presetID="10" presetClass="entr" presetSubtype="0" fill="hold" grpId="0" nodeType="withEffect">
                                  <p:stCondLst>
                                    <p:cond delay="66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400"/>
                                        <p:tgtEl>
                                          <p:spTgt spid="28"/>
                                        </p:tgtEl>
                                      </p:cBhvr>
                                    </p:animEffect>
                                  </p:childTnLst>
                                </p:cTn>
                              </p:par>
                              <p:par>
                                <p:cTn id="47" presetID="10" presetClass="entr" presetSubtype="0" fill="hold" grpId="0" nodeType="withEffect">
                                  <p:stCondLst>
                                    <p:cond delay="66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400"/>
                                        <p:tgtEl>
                                          <p:spTgt spid="29"/>
                                        </p:tgtEl>
                                      </p:cBhvr>
                                    </p:animEffect>
                                  </p:childTnLst>
                                </p:cTn>
                              </p:par>
                              <p:par>
                                <p:cTn id="50" presetID="10" presetClass="entr" presetSubtype="0" fill="hold" grpId="0" nodeType="withEffect">
                                  <p:stCondLst>
                                    <p:cond delay="66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400"/>
                                        <p:tgtEl>
                                          <p:spTgt spid="30"/>
                                        </p:tgtEl>
                                      </p:cBhvr>
                                    </p:animEffect>
                                  </p:childTnLst>
                                </p:cTn>
                              </p:par>
                              <p:par>
                                <p:cTn id="53" presetID="10" presetClass="entr" presetSubtype="0" fill="hold" grpId="0" nodeType="withEffect">
                                  <p:stCondLst>
                                    <p:cond delay="66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400"/>
                                        <p:tgtEl>
                                          <p:spTgt spid="31"/>
                                        </p:tgtEl>
                                      </p:cBhvr>
                                    </p:animEffect>
                                  </p:childTnLst>
                                </p:cTn>
                              </p:par>
                              <p:par>
                                <p:cTn id="56" presetID="10" presetClass="entr" presetSubtype="0" fill="hold" grpId="0" nodeType="withEffect">
                                  <p:stCondLst>
                                    <p:cond delay="88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400"/>
                                        <p:tgtEl>
                                          <p:spTgt spid="32"/>
                                        </p:tgtEl>
                                      </p:cBhvr>
                                    </p:animEffect>
                                  </p:childTnLst>
                                </p:cTn>
                              </p:par>
                              <p:par>
                                <p:cTn id="59" presetID="10" presetClass="entr" presetSubtype="0" fill="hold" grpId="0" nodeType="withEffect">
                                  <p:stCondLst>
                                    <p:cond delay="110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400"/>
                                        <p:tgtEl>
                                          <p:spTgt spid="14"/>
                                        </p:tgtEl>
                                      </p:cBhvr>
                                    </p:animEffect>
                                  </p:childTnLst>
                                </p:cTn>
                              </p:par>
                              <p:par>
                                <p:cTn id="62" presetID="10" presetClass="entr" presetSubtype="0" fill="hold" grpId="0" nodeType="withEffect">
                                  <p:stCondLst>
                                    <p:cond delay="110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400"/>
                                        <p:tgtEl>
                                          <p:spTgt spid="33"/>
                                        </p:tgtEl>
                                      </p:cBhvr>
                                    </p:animEffect>
                                  </p:childTnLst>
                                </p:cTn>
                              </p:par>
                              <p:par>
                                <p:cTn id="65" presetID="10" presetClass="entr" presetSubtype="0" fill="hold" grpId="0" nodeType="withEffect">
                                  <p:stCondLst>
                                    <p:cond delay="110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400"/>
                                        <p:tgtEl>
                                          <p:spTgt spid="34"/>
                                        </p:tgtEl>
                                      </p:cBhvr>
                                    </p:animEffect>
                                  </p:childTnLst>
                                </p:cTn>
                              </p:par>
                              <p:par>
                                <p:cTn id="68" presetID="10" presetClass="entr" presetSubtype="0" fill="hold" grpId="0" nodeType="withEffect">
                                  <p:stCondLst>
                                    <p:cond delay="110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400"/>
                                        <p:tgtEl>
                                          <p:spTgt spid="35"/>
                                        </p:tgtEl>
                                      </p:cBhvr>
                                    </p:animEffect>
                                  </p:childTnLst>
                                </p:cTn>
                              </p:par>
                              <p:par>
                                <p:cTn id="71" presetID="10" presetClass="entr" presetSubtype="0" fill="hold" grpId="0" nodeType="withEffect">
                                  <p:stCondLst>
                                    <p:cond delay="110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400"/>
                                        <p:tgtEl>
                                          <p:spTgt spid="36"/>
                                        </p:tgtEl>
                                      </p:cBhvr>
                                    </p:animEffect>
                                  </p:childTnLst>
                                </p:cTn>
                              </p:par>
                              <p:par>
                                <p:cTn id="74" presetID="10" presetClass="entr" presetSubtype="0" fill="hold" grpId="0" nodeType="withEffect">
                                  <p:stCondLst>
                                    <p:cond delay="110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400"/>
                                        <p:tgtEl>
                                          <p:spTgt spid="37"/>
                                        </p:tgtEl>
                                      </p:cBhvr>
                                    </p:animEffect>
                                  </p:childTnLst>
                                </p:cTn>
                              </p:par>
                              <p:par>
                                <p:cTn id="77" presetID="10" presetClass="entr" presetSubtype="0" fill="hold" grpId="0" nodeType="withEffect">
                                  <p:stCondLst>
                                    <p:cond delay="110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400"/>
                                        <p:tgtEl>
                                          <p:spTgt spid="38"/>
                                        </p:tgtEl>
                                      </p:cBhvr>
                                    </p:animEffect>
                                  </p:childTnLst>
                                </p:cTn>
                              </p:par>
                              <p:par>
                                <p:cTn id="80" presetID="10" presetClass="entr" presetSubtype="0" fill="hold" grpId="0" nodeType="withEffect">
                                  <p:stCondLst>
                                    <p:cond delay="110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400"/>
                                        <p:tgtEl>
                                          <p:spTgt spid="39"/>
                                        </p:tgtEl>
                                      </p:cBhvr>
                                    </p:animEffect>
                                  </p:childTnLst>
                                </p:cTn>
                              </p:par>
                              <p:par>
                                <p:cTn id="83" presetID="10" presetClass="entr" presetSubtype="0" fill="hold" grpId="0" nodeType="withEffect">
                                  <p:stCondLst>
                                    <p:cond delay="132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400"/>
                                        <p:tgtEl>
                                          <p:spTgt spid="16"/>
                                        </p:tgtEl>
                                      </p:cBhvr>
                                    </p:animEffect>
                                  </p:childTnLst>
                                </p:cTn>
                              </p:par>
                              <p:par>
                                <p:cTn id="86" presetID="10" presetClass="entr" presetSubtype="0" fill="hold" grpId="0" nodeType="withEffect">
                                  <p:stCondLst>
                                    <p:cond delay="1320"/>
                                  </p:stCondLst>
                                  <p:childTnLst>
                                    <p:set>
                                      <p:cBhvr>
                                        <p:cTn id="87" dur="1" fill="hold">
                                          <p:stCondLst>
                                            <p:cond delay="0"/>
                                          </p:stCondLst>
                                        </p:cTn>
                                        <p:tgtEl>
                                          <p:spTgt spid="17"/>
                                        </p:tgtEl>
                                        <p:attrNameLst>
                                          <p:attrName>style.visibility</p:attrName>
                                        </p:attrNameLst>
                                      </p:cBhvr>
                                      <p:to>
                                        <p:strVal val="visible"/>
                                      </p:to>
                                    </p:set>
                                    <p:animEffect transition="in" filter="fade">
                                      <p:cBhvr>
                                        <p:cTn id="88" dur="400"/>
                                        <p:tgtEl>
                                          <p:spTgt spid="17"/>
                                        </p:tgtEl>
                                      </p:cBhvr>
                                    </p:animEffect>
                                  </p:childTnLst>
                                </p:cTn>
                              </p:par>
                              <p:par>
                                <p:cTn id="89" presetID="10" presetClass="entr" presetSubtype="0" fill="hold" grpId="0" nodeType="withEffect">
                                  <p:stCondLst>
                                    <p:cond delay="1320"/>
                                  </p:stCondLst>
                                  <p:childTnLst>
                                    <p:set>
                                      <p:cBhvr>
                                        <p:cTn id="90" dur="1" fill="hold">
                                          <p:stCondLst>
                                            <p:cond delay="0"/>
                                          </p:stCondLst>
                                        </p:cTn>
                                        <p:tgtEl>
                                          <p:spTgt spid="40"/>
                                        </p:tgtEl>
                                        <p:attrNameLst>
                                          <p:attrName>style.visibility</p:attrName>
                                        </p:attrNameLst>
                                      </p:cBhvr>
                                      <p:to>
                                        <p:strVal val="visible"/>
                                      </p:to>
                                    </p:set>
                                    <p:animEffect transition="in" filter="fade">
                                      <p:cBhvr>
                                        <p:cTn id="91" dur="400"/>
                                        <p:tgtEl>
                                          <p:spTgt spid="40"/>
                                        </p:tgtEl>
                                      </p:cBhvr>
                                    </p:animEffect>
                                  </p:childTnLst>
                                </p:cTn>
                              </p:par>
                              <p:par>
                                <p:cTn id="92" presetID="10" presetClass="entr" presetSubtype="0" fill="hold" grpId="0" nodeType="withEffect">
                                  <p:stCondLst>
                                    <p:cond delay="1320"/>
                                  </p:stCondLst>
                                  <p:childTnLst>
                                    <p:set>
                                      <p:cBhvr>
                                        <p:cTn id="93" dur="1" fill="hold">
                                          <p:stCondLst>
                                            <p:cond delay="0"/>
                                          </p:stCondLst>
                                        </p:cTn>
                                        <p:tgtEl>
                                          <p:spTgt spid="41"/>
                                        </p:tgtEl>
                                        <p:attrNameLst>
                                          <p:attrName>style.visibility</p:attrName>
                                        </p:attrNameLst>
                                      </p:cBhvr>
                                      <p:to>
                                        <p:strVal val="visible"/>
                                      </p:to>
                                    </p:set>
                                    <p:animEffect transition="in" filter="fade">
                                      <p:cBhvr>
                                        <p:cTn id="94" dur="400"/>
                                        <p:tgtEl>
                                          <p:spTgt spid="41"/>
                                        </p:tgtEl>
                                      </p:cBhvr>
                                    </p:animEffect>
                                  </p:childTnLst>
                                </p:cTn>
                              </p:par>
                              <p:par>
                                <p:cTn id="95" presetID="10" presetClass="entr" presetSubtype="0" fill="hold" grpId="0" nodeType="withEffect">
                                  <p:stCondLst>
                                    <p:cond delay="1320"/>
                                  </p:stCondLst>
                                  <p:childTnLst>
                                    <p:set>
                                      <p:cBhvr>
                                        <p:cTn id="96" dur="1" fill="hold">
                                          <p:stCondLst>
                                            <p:cond delay="0"/>
                                          </p:stCondLst>
                                        </p:cTn>
                                        <p:tgtEl>
                                          <p:spTgt spid="42"/>
                                        </p:tgtEl>
                                        <p:attrNameLst>
                                          <p:attrName>style.visibility</p:attrName>
                                        </p:attrNameLst>
                                      </p:cBhvr>
                                      <p:to>
                                        <p:strVal val="visible"/>
                                      </p:to>
                                    </p:set>
                                    <p:animEffect transition="in" filter="fade">
                                      <p:cBhvr>
                                        <p:cTn id="97" dur="400"/>
                                        <p:tgtEl>
                                          <p:spTgt spid="42"/>
                                        </p:tgtEl>
                                      </p:cBhvr>
                                    </p:animEffect>
                                  </p:childTnLst>
                                </p:cTn>
                              </p:par>
                              <p:par>
                                <p:cTn id="98" presetID="10" presetClass="entr" presetSubtype="0" fill="hold" grpId="0" nodeType="withEffect">
                                  <p:stCondLst>
                                    <p:cond delay="1320"/>
                                  </p:stCondLst>
                                  <p:childTnLst>
                                    <p:set>
                                      <p:cBhvr>
                                        <p:cTn id="99" dur="1" fill="hold">
                                          <p:stCondLst>
                                            <p:cond delay="0"/>
                                          </p:stCondLst>
                                        </p:cTn>
                                        <p:tgtEl>
                                          <p:spTgt spid="43"/>
                                        </p:tgtEl>
                                        <p:attrNameLst>
                                          <p:attrName>style.visibility</p:attrName>
                                        </p:attrNameLst>
                                      </p:cBhvr>
                                      <p:to>
                                        <p:strVal val="visible"/>
                                      </p:to>
                                    </p:set>
                                    <p:animEffect transition="in" filter="fade">
                                      <p:cBhvr>
                                        <p:cTn id="100" dur="400"/>
                                        <p:tgtEl>
                                          <p:spTgt spid="43"/>
                                        </p:tgtEl>
                                      </p:cBhvr>
                                    </p:animEffect>
                                  </p:childTnLst>
                                </p:cTn>
                              </p:par>
                              <p:par>
                                <p:cTn id="101" presetID="10" presetClass="entr" presetSubtype="0" fill="hold" grpId="0" nodeType="withEffect">
                                  <p:stCondLst>
                                    <p:cond delay="1320"/>
                                  </p:stCondLst>
                                  <p:childTnLst>
                                    <p:set>
                                      <p:cBhvr>
                                        <p:cTn id="102" dur="1" fill="hold">
                                          <p:stCondLst>
                                            <p:cond delay="0"/>
                                          </p:stCondLst>
                                        </p:cTn>
                                        <p:tgtEl>
                                          <p:spTgt spid="44"/>
                                        </p:tgtEl>
                                        <p:attrNameLst>
                                          <p:attrName>style.visibility</p:attrName>
                                        </p:attrNameLst>
                                      </p:cBhvr>
                                      <p:to>
                                        <p:strVal val="visible"/>
                                      </p:to>
                                    </p:set>
                                    <p:animEffect transition="in" filter="fade">
                                      <p:cBhvr>
                                        <p:cTn id="103" dur="400"/>
                                        <p:tgtEl>
                                          <p:spTgt spid="44"/>
                                        </p:tgtEl>
                                      </p:cBhvr>
                                    </p:animEffect>
                                  </p:childTnLst>
                                </p:cTn>
                              </p:par>
                              <p:par>
                                <p:cTn id="104" presetID="10" presetClass="entr" presetSubtype="0" fill="hold" grpId="0" nodeType="withEffect">
                                  <p:stCondLst>
                                    <p:cond delay="132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400"/>
                                        <p:tgtEl>
                                          <p:spTgt spid="45"/>
                                        </p:tgtEl>
                                      </p:cBhvr>
                                    </p:animEffect>
                                  </p:childTnLst>
                                </p:cTn>
                              </p:par>
                              <p:par>
                                <p:cTn id="107" presetID="10" presetClass="entr" presetSubtype="0" fill="hold" grpId="0" nodeType="withEffect">
                                  <p:stCondLst>
                                    <p:cond delay="1320"/>
                                  </p:stCondLst>
                                  <p:childTnLst>
                                    <p:set>
                                      <p:cBhvr>
                                        <p:cTn id="108" dur="1" fill="hold">
                                          <p:stCondLst>
                                            <p:cond delay="0"/>
                                          </p:stCondLst>
                                        </p:cTn>
                                        <p:tgtEl>
                                          <p:spTgt spid="46"/>
                                        </p:tgtEl>
                                        <p:attrNameLst>
                                          <p:attrName>style.visibility</p:attrName>
                                        </p:attrNameLst>
                                      </p:cBhvr>
                                      <p:to>
                                        <p:strVal val="visible"/>
                                      </p:to>
                                    </p:set>
                                    <p:animEffect transition="in" filter="fade">
                                      <p:cBhvr>
                                        <p:cTn id="109" dur="400"/>
                                        <p:tgtEl>
                                          <p:spTgt spid="46"/>
                                        </p:tgtEl>
                                      </p:cBhvr>
                                    </p:animEffect>
                                  </p:childTnLst>
                                </p:cTn>
                              </p:par>
                              <p:par>
                                <p:cTn id="110" presetID="10" presetClass="entr" presetSubtype="0" fill="hold" grpId="0" nodeType="withEffect">
                                  <p:stCondLst>
                                    <p:cond delay="1540"/>
                                  </p:stCondLst>
                                  <p:childTnLst>
                                    <p:set>
                                      <p:cBhvr>
                                        <p:cTn id="111" dur="1" fill="hold">
                                          <p:stCondLst>
                                            <p:cond delay="0"/>
                                          </p:stCondLst>
                                        </p:cTn>
                                        <p:tgtEl>
                                          <p:spTgt spid="15"/>
                                        </p:tgtEl>
                                        <p:attrNameLst>
                                          <p:attrName>style.visibility</p:attrName>
                                        </p:attrNameLst>
                                      </p:cBhvr>
                                      <p:to>
                                        <p:strVal val="visible"/>
                                      </p:to>
                                    </p:set>
                                    <p:animEffect transition="in" filter="fade">
                                      <p:cBhvr>
                                        <p:cTn id="112" dur="400"/>
                                        <p:tgtEl>
                                          <p:spTgt spid="15"/>
                                        </p:tgtEl>
                                      </p:cBhvr>
                                    </p:animEffect>
                                  </p:childTnLst>
                                </p:cTn>
                              </p:par>
                              <p:par>
                                <p:cTn id="113" presetID="10" presetClass="entr" presetSubtype="0" fill="hold" grpId="0" nodeType="withEffect">
                                  <p:stCondLst>
                                    <p:cond delay="1540"/>
                                  </p:stCondLst>
                                  <p:childTnLst>
                                    <p:set>
                                      <p:cBhvr>
                                        <p:cTn id="114" dur="1" fill="hold">
                                          <p:stCondLst>
                                            <p:cond delay="0"/>
                                          </p:stCondLst>
                                        </p:cTn>
                                        <p:tgtEl>
                                          <p:spTgt spid="47"/>
                                        </p:tgtEl>
                                        <p:attrNameLst>
                                          <p:attrName>style.visibility</p:attrName>
                                        </p:attrNameLst>
                                      </p:cBhvr>
                                      <p:to>
                                        <p:strVal val="visible"/>
                                      </p:to>
                                    </p:set>
                                    <p:animEffect transition="in" filter="fade">
                                      <p:cBhvr>
                                        <p:cTn id="115" dur="400"/>
                                        <p:tgtEl>
                                          <p:spTgt spid="47"/>
                                        </p:tgtEl>
                                      </p:cBhvr>
                                    </p:animEffect>
                                  </p:childTnLst>
                                </p:cTn>
                              </p:par>
                              <p:par>
                                <p:cTn id="116" presetID="10" presetClass="entr" presetSubtype="0" fill="hold" grpId="0" nodeType="withEffect">
                                  <p:stCondLst>
                                    <p:cond delay="1540"/>
                                  </p:stCondLst>
                                  <p:childTnLst>
                                    <p:set>
                                      <p:cBhvr>
                                        <p:cTn id="117" dur="1" fill="hold">
                                          <p:stCondLst>
                                            <p:cond delay="0"/>
                                          </p:stCondLst>
                                        </p:cTn>
                                        <p:tgtEl>
                                          <p:spTgt spid="48"/>
                                        </p:tgtEl>
                                        <p:attrNameLst>
                                          <p:attrName>style.visibility</p:attrName>
                                        </p:attrNameLst>
                                      </p:cBhvr>
                                      <p:to>
                                        <p:strVal val="visible"/>
                                      </p:to>
                                    </p:set>
                                    <p:animEffect transition="in" filter="fade">
                                      <p:cBhvr>
                                        <p:cTn id="118" dur="400"/>
                                        <p:tgtEl>
                                          <p:spTgt spid="48"/>
                                        </p:tgtEl>
                                      </p:cBhvr>
                                    </p:animEffect>
                                  </p:childTnLst>
                                </p:cTn>
                              </p:par>
                              <p:par>
                                <p:cTn id="119" presetID="10" presetClass="entr" presetSubtype="0" fill="hold" grpId="0" nodeType="withEffect">
                                  <p:stCondLst>
                                    <p:cond delay="1540"/>
                                  </p:stCondLst>
                                  <p:childTnLst>
                                    <p:set>
                                      <p:cBhvr>
                                        <p:cTn id="120" dur="1" fill="hold">
                                          <p:stCondLst>
                                            <p:cond delay="0"/>
                                          </p:stCondLst>
                                        </p:cTn>
                                        <p:tgtEl>
                                          <p:spTgt spid="49"/>
                                        </p:tgtEl>
                                        <p:attrNameLst>
                                          <p:attrName>style.visibility</p:attrName>
                                        </p:attrNameLst>
                                      </p:cBhvr>
                                      <p:to>
                                        <p:strVal val="visible"/>
                                      </p:to>
                                    </p:set>
                                    <p:animEffect transition="in" filter="fade">
                                      <p:cBhvr>
                                        <p:cTn id="121" dur="400"/>
                                        <p:tgtEl>
                                          <p:spTgt spid="49"/>
                                        </p:tgtEl>
                                      </p:cBhvr>
                                    </p:animEffect>
                                  </p:childTnLst>
                                </p:cTn>
                              </p:par>
                              <p:par>
                                <p:cTn id="122" presetID="10" presetClass="entr" presetSubtype="0" fill="hold" grpId="0" nodeType="withEffect">
                                  <p:stCondLst>
                                    <p:cond delay="1540"/>
                                  </p:stCondLst>
                                  <p:childTnLst>
                                    <p:set>
                                      <p:cBhvr>
                                        <p:cTn id="123" dur="1" fill="hold">
                                          <p:stCondLst>
                                            <p:cond delay="0"/>
                                          </p:stCondLst>
                                        </p:cTn>
                                        <p:tgtEl>
                                          <p:spTgt spid="50"/>
                                        </p:tgtEl>
                                        <p:attrNameLst>
                                          <p:attrName>style.visibility</p:attrName>
                                        </p:attrNameLst>
                                      </p:cBhvr>
                                      <p:to>
                                        <p:strVal val="visible"/>
                                      </p:to>
                                    </p:set>
                                    <p:animEffect transition="in" filter="fade">
                                      <p:cBhvr>
                                        <p:cTn id="124" dur="400"/>
                                        <p:tgtEl>
                                          <p:spTgt spid="50"/>
                                        </p:tgtEl>
                                      </p:cBhvr>
                                    </p:animEffect>
                                  </p:childTnLst>
                                </p:cTn>
                              </p:par>
                              <p:par>
                                <p:cTn id="125" presetID="10" presetClass="entr" presetSubtype="0" fill="hold" grpId="0" nodeType="withEffect">
                                  <p:stCondLst>
                                    <p:cond delay="1540"/>
                                  </p:stCondLst>
                                  <p:childTnLst>
                                    <p:set>
                                      <p:cBhvr>
                                        <p:cTn id="126" dur="1" fill="hold">
                                          <p:stCondLst>
                                            <p:cond delay="0"/>
                                          </p:stCondLst>
                                        </p:cTn>
                                        <p:tgtEl>
                                          <p:spTgt spid="51"/>
                                        </p:tgtEl>
                                        <p:attrNameLst>
                                          <p:attrName>style.visibility</p:attrName>
                                        </p:attrNameLst>
                                      </p:cBhvr>
                                      <p:to>
                                        <p:strVal val="visible"/>
                                      </p:to>
                                    </p:set>
                                    <p:animEffect transition="in" filter="fade">
                                      <p:cBhvr>
                                        <p:cTn id="127" dur="400"/>
                                        <p:tgtEl>
                                          <p:spTgt spid="51"/>
                                        </p:tgtEl>
                                      </p:cBhvr>
                                    </p:animEffect>
                                  </p:childTnLst>
                                </p:cTn>
                              </p:par>
                              <p:par>
                                <p:cTn id="128" presetID="10" presetClass="entr" presetSubtype="0" fill="hold" grpId="0" nodeType="withEffect">
                                  <p:stCondLst>
                                    <p:cond delay="1540"/>
                                  </p:stCondLst>
                                  <p:childTnLst>
                                    <p:set>
                                      <p:cBhvr>
                                        <p:cTn id="129" dur="1" fill="hold">
                                          <p:stCondLst>
                                            <p:cond delay="0"/>
                                          </p:stCondLst>
                                        </p:cTn>
                                        <p:tgtEl>
                                          <p:spTgt spid="52"/>
                                        </p:tgtEl>
                                        <p:attrNameLst>
                                          <p:attrName>style.visibility</p:attrName>
                                        </p:attrNameLst>
                                      </p:cBhvr>
                                      <p:to>
                                        <p:strVal val="visible"/>
                                      </p:to>
                                    </p:set>
                                    <p:animEffect transition="in" filter="fade">
                                      <p:cBhvr>
                                        <p:cTn id="130" dur="400"/>
                                        <p:tgtEl>
                                          <p:spTgt spid="52"/>
                                        </p:tgtEl>
                                      </p:cBhvr>
                                    </p:animEffect>
                                  </p:childTnLst>
                                </p:cTn>
                              </p:par>
                              <p:par>
                                <p:cTn id="131" presetID="10" presetClass="entr" presetSubtype="0" fill="hold" grpId="0" nodeType="withEffect">
                                  <p:stCondLst>
                                    <p:cond delay="1540"/>
                                  </p:stCondLst>
                                  <p:childTnLst>
                                    <p:set>
                                      <p:cBhvr>
                                        <p:cTn id="132" dur="1" fill="hold">
                                          <p:stCondLst>
                                            <p:cond delay="0"/>
                                          </p:stCondLst>
                                        </p:cTn>
                                        <p:tgtEl>
                                          <p:spTgt spid="53"/>
                                        </p:tgtEl>
                                        <p:attrNameLst>
                                          <p:attrName>style.visibility</p:attrName>
                                        </p:attrNameLst>
                                      </p:cBhvr>
                                      <p:to>
                                        <p:strVal val="visible"/>
                                      </p:to>
                                    </p:set>
                                    <p:animEffect transition="in" filter="fade">
                                      <p:cBhvr>
                                        <p:cTn id="133" dur="400"/>
                                        <p:tgtEl>
                                          <p:spTgt spid="53"/>
                                        </p:tgtEl>
                                      </p:cBhvr>
                                    </p:animEffect>
                                  </p:childTnLst>
                                </p:cTn>
                              </p:par>
                              <p:par>
                                <p:cTn id="134" presetID="10" presetClass="entr" presetSubtype="0" fill="hold" grpId="0" nodeType="withEffect">
                                  <p:stCondLst>
                                    <p:cond delay="1760"/>
                                  </p:stCondLst>
                                  <p:childTnLst>
                                    <p:set>
                                      <p:cBhvr>
                                        <p:cTn id="135" dur="1" fill="hold">
                                          <p:stCondLst>
                                            <p:cond delay="0"/>
                                          </p:stCondLst>
                                        </p:cTn>
                                        <p:tgtEl>
                                          <p:spTgt spid="13"/>
                                        </p:tgtEl>
                                        <p:attrNameLst>
                                          <p:attrName>style.visibility</p:attrName>
                                        </p:attrNameLst>
                                      </p:cBhvr>
                                      <p:to>
                                        <p:strVal val="visible"/>
                                      </p:to>
                                    </p:set>
                                    <p:animEffect transition="in" filter="fade">
                                      <p:cBhvr>
                                        <p:cTn id="136" dur="400"/>
                                        <p:tgtEl>
                                          <p:spTgt spid="13"/>
                                        </p:tgtEl>
                                      </p:cBhvr>
                                    </p:animEffect>
                                  </p:childTnLst>
                                </p:cTn>
                              </p:par>
                              <p:par>
                                <p:cTn id="137" presetID="10" presetClass="entr" presetSubtype="0" fill="hold" grpId="0" nodeType="withEffect">
                                  <p:stCondLst>
                                    <p:cond delay="1760"/>
                                  </p:stCondLst>
                                  <p:childTnLst>
                                    <p:set>
                                      <p:cBhvr>
                                        <p:cTn id="138" dur="1" fill="hold">
                                          <p:stCondLst>
                                            <p:cond delay="0"/>
                                          </p:stCondLst>
                                        </p:cTn>
                                        <p:tgtEl>
                                          <p:spTgt spid="54"/>
                                        </p:tgtEl>
                                        <p:attrNameLst>
                                          <p:attrName>style.visibility</p:attrName>
                                        </p:attrNameLst>
                                      </p:cBhvr>
                                      <p:to>
                                        <p:strVal val="visible"/>
                                      </p:to>
                                    </p:set>
                                    <p:animEffect transition="in" filter="fade">
                                      <p:cBhvr>
                                        <p:cTn id="139" dur="400"/>
                                        <p:tgtEl>
                                          <p:spTgt spid="54"/>
                                        </p:tgtEl>
                                      </p:cBhvr>
                                    </p:animEffect>
                                  </p:childTnLst>
                                </p:cTn>
                              </p:par>
                              <p:par>
                                <p:cTn id="140" presetID="10" presetClass="entr" presetSubtype="0" fill="hold" grpId="0" nodeType="withEffect">
                                  <p:stCondLst>
                                    <p:cond delay="1760"/>
                                  </p:stCondLst>
                                  <p:childTnLst>
                                    <p:set>
                                      <p:cBhvr>
                                        <p:cTn id="141" dur="1" fill="hold">
                                          <p:stCondLst>
                                            <p:cond delay="0"/>
                                          </p:stCondLst>
                                        </p:cTn>
                                        <p:tgtEl>
                                          <p:spTgt spid="55"/>
                                        </p:tgtEl>
                                        <p:attrNameLst>
                                          <p:attrName>style.visibility</p:attrName>
                                        </p:attrNameLst>
                                      </p:cBhvr>
                                      <p:to>
                                        <p:strVal val="visible"/>
                                      </p:to>
                                    </p:set>
                                    <p:animEffect transition="in" filter="fade">
                                      <p:cBhvr>
                                        <p:cTn id="142" dur="400"/>
                                        <p:tgtEl>
                                          <p:spTgt spid="55"/>
                                        </p:tgtEl>
                                      </p:cBhvr>
                                    </p:animEffect>
                                  </p:childTnLst>
                                </p:cTn>
                              </p:par>
                              <p:par>
                                <p:cTn id="143" presetID="10" presetClass="entr" presetSubtype="0" fill="hold" grpId="0" nodeType="withEffect">
                                  <p:stCondLst>
                                    <p:cond delay="1760"/>
                                  </p:stCondLst>
                                  <p:childTnLst>
                                    <p:set>
                                      <p:cBhvr>
                                        <p:cTn id="144" dur="1" fill="hold">
                                          <p:stCondLst>
                                            <p:cond delay="0"/>
                                          </p:stCondLst>
                                        </p:cTn>
                                        <p:tgtEl>
                                          <p:spTgt spid="56"/>
                                        </p:tgtEl>
                                        <p:attrNameLst>
                                          <p:attrName>style.visibility</p:attrName>
                                        </p:attrNameLst>
                                      </p:cBhvr>
                                      <p:to>
                                        <p:strVal val="visible"/>
                                      </p:to>
                                    </p:set>
                                    <p:animEffect transition="in" filter="fade">
                                      <p:cBhvr>
                                        <p:cTn id="145" dur="400"/>
                                        <p:tgtEl>
                                          <p:spTgt spid="56"/>
                                        </p:tgtEl>
                                      </p:cBhvr>
                                    </p:animEffect>
                                  </p:childTnLst>
                                </p:cTn>
                              </p:par>
                              <p:par>
                                <p:cTn id="146" presetID="10" presetClass="entr" presetSubtype="0" fill="hold" grpId="0" nodeType="withEffect">
                                  <p:stCondLst>
                                    <p:cond delay="1760"/>
                                  </p:stCondLst>
                                  <p:childTnLst>
                                    <p:set>
                                      <p:cBhvr>
                                        <p:cTn id="147" dur="1" fill="hold">
                                          <p:stCondLst>
                                            <p:cond delay="0"/>
                                          </p:stCondLst>
                                        </p:cTn>
                                        <p:tgtEl>
                                          <p:spTgt spid="57"/>
                                        </p:tgtEl>
                                        <p:attrNameLst>
                                          <p:attrName>style.visibility</p:attrName>
                                        </p:attrNameLst>
                                      </p:cBhvr>
                                      <p:to>
                                        <p:strVal val="visible"/>
                                      </p:to>
                                    </p:set>
                                    <p:animEffect transition="in" filter="fade">
                                      <p:cBhvr>
                                        <p:cTn id="148" dur="400"/>
                                        <p:tgtEl>
                                          <p:spTgt spid="57"/>
                                        </p:tgtEl>
                                      </p:cBhvr>
                                    </p:animEffect>
                                  </p:childTnLst>
                                </p:cTn>
                              </p:par>
                              <p:par>
                                <p:cTn id="149" presetID="10" presetClass="entr" presetSubtype="0" fill="hold" grpId="0" nodeType="withEffect">
                                  <p:stCondLst>
                                    <p:cond delay="1760"/>
                                  </p:stCondLst>
                                  <p:childTnLst>
                                    <p:set>
                                      <p:cBhvr>
                                        <p:cTn id="150" dur="1" fill="hold">
                                          <p:stCondLst>
                                            <p:cond delay="0"/>
                                          </p:stCondLst>
                                        </p:cTn>
                                        <p:tgtEl>
                                          <p:spTgt spid="58"/>
                                        </p:tgtEl>
                                        <p:attrNameLst>
                                          <p:attrName>style.visibility</p:attrName>
                                        </p:attrNameLst>
                                      </p:cBhvr>
                                      <p:to>
                                        <p:strVal val="visible"/>
                                      </p:to>
                                    </p:set>
                                    <p:animEffect transition="in" filter="fade">
                                      <p:cBhvr>
                                        <p:cTn id="151" dur="400"/>
                                        <p:tgtEl>
                                          <p:spTgt spid="58"/>
                                        </p:tgtEl>
                                      </p:cBhvr>
                                    </p:animEffect>
                                  </p:childTnLst>
                                </p:cTn>
                              </p:par>
                              <p:par>
                                <p:cTn id="152" presetID="10" presetClass="entr" presetSubtype="0" fill="hold" grpId="0" nodeType="withEffect">
                                  <p:stCondLst>
                                    <p:cond delay="1760"/>
                                  </p:stCondLst>
                                  <p:childTnLst>
                                    <p:set>
                                      <p:cBhvr>
                                        <p:cTn id="153" dur="1" fill="hold">
                                          <p:stCondLst>
                                            <p:cond delay="0"/>
                                          </p:stCondLst>
                                        </p:cTn>
                                        <p:tgtEl>
                                          <p:spTgt spid="59"/>
                                        </p:tgtEl>
                                        <p:attrNameLst>
                                          <p:attrName>style.visibility</p:attrName>
                                        </p:attrNameLst>
                                      </p:cBhvr>
                                      <p:to>
                                        <p:strVal val="visible"/>
                                      </p:to>
                                    </p:set>
                                    <p:animEffect transition="in" filter="fade">
                                      <p:cBhvr>
                                        <p:cTn id="154" dur="400"/>
                                        <p:tgtEl>
                                          <p:spTgt spid="59"/>
                                        </p:tgtEl>
                                      </p:cBhvr>
                                    </p:animEffect>
                                  </p:childTnLst>
                                </p:cTn>
                              </p:par>
                              <p:par>
                                <p:cTn id="155" presetID="10" presetClass="entr" presetSubtype="0" fill="hold" grpId="0" nodeType="withEffect">
                                  <p:stCondLst>
                                    <p:cond delay="1760"/>
                                  </p:stCondLst>
                                  <p:childTnLst>
                                    <p:set>
                                      <p:cBhvr>
                                        <p:cTn id="156" dur="1" fill="hold">
                                          <p:stCondLst>
                                            <p:cond delay="0"/>
                                          </p:stCondLst>
                                        </p:cTn>
                                        <p:tgtEl>
                                          <p:spTgt spid="60"/>
                                        </p:tgtEl>
                                        <p:attrNameLst>
                                          <p:attrName>style.visibility</p:attrName>
                                        </p:attrNameLst>
                                      </p:cBhvr>
                                      <p:to>
                                        <p:strVal val="visible"/>
                                      </p:to>
                                    </p:set>
                                    <p:animEffect transition="in" filter="fade">
                                      <p:cBhvr>
                                        <p:cTn id="157"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11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BƯỚC 3 · CHỌN KHO TIẾP TẾ</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Kho nào gần nhất? Không đủ thì lấy tiếp ở đâu?</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pic>
        <p:nvPicPr>
          <p:cNvPr id="12" name="Image 2" descr="anh/da-cat/chon-kho.png">    </p:cNvPr>
          <p:cNvPicPr>
            <a:picLocks noChangeAspect="1"/>
          </p:cNvPicPr>
          <p:nvPr/>
        </p:nvPicPr>
        <p:blipFill>
          <a:blip r:embed="rId3"/>
          <a:stretch>
            <a:fillRect/>
          </a:stretch>
        </p:blipFill>
        <p:spPr>
          <a:xfrm>
            <a:off x="1867662" y="1708150"/>
            <a:ext cx="8456371" cy="4247388"/>
          </a:xfrm>
          <a:prstGeom prst="roundRect">
            <a:avLst>
              <a:gd name="adj" fmla="val 2583"/>
            </a:avLst>
          </a:prstGeom>
        </p:spPr>
      </p:pic>
      <p:sp>
        <p:nvSpPr>
          <p:cNvPr id="13" name="Shape 8"/>
          <p:cNvSpPr/>
          <p:nvPr/>
        </p:nvSpPr>
        <p:spPr>
          <a:xfrm>
            <a:off x="1867662" y="1708150"/>
            <a:ext cx="8456371" cy="4247388"/>
          </a:xfrm>
          <a:prstGeom prst="roundRect">
            <a:avLst>
              <a:gd name="adj" fmla="val 2583"/>
            </a:avLst>
          </a:prstGeom>
          <a:solidFill>
            <a:srgbClr val="FFFFFF">
              <a:alpha val="0"/>
            </a:srgbClr>
          </a:solidFill>
          <a:ln w="12700">
            <a:solidFill>
              <a:srgbClr val="FFFFFF">
                <a:alpha val="18000"/>
              </a:srgbClr>
            </a:solidFill>
            <a:prstDash val="solid"/>
          </a:ln>
        </p:spPr>
      </p:sp>
      <p:sp>
        <p:nvSpPr>
          <p:cNvPr id="14" name="Text 9"/>
          <p:cNvSpPr/>
          <p:nvPr/>
        </p:nvSpPr>
        <p:spPr>
          <a:xfrm>
            <a:off x="1867662" y="6010402"/>
            <a:ext cx="8547811" cy="278892"/>
          </a:xfrm>
          <a:prstGeom prst="rect">
            <a:avLst/>
          </a:prstGeom>
          <a:noFill/>
          <a:ln/>
        </p:spPr>
        <p:txBody>
          <a:bodyPr wrap="square" lIns="0" tIns="0" rIns="0" bIns="0" rtlCol="0" anchor="t"/>
          <a:lstStyle/>
          <a:p>
            <a:pPr algn="l" indent="0" marL="0">
              <a:lnSpc>
                <a:spcPts val="1620"/>
              </a:lnSpc>
              <a:buNone/>
            </a:pPr>
            <a:r>
              <a:rPr lang="en-US" sz="1200" b="1" dirty="0">
                <a:solidFill>
                  <a:srgbClr val="D9E6F2"/>
                </a:solidFill>
                <a:latin typeface="Be Vietnam Pro" pitchFamily="34" charset="0"/>
                <a:ea typeface="Be Vietnam Pro" pitchFamily="34" charset="-122"/>
                <a:cs typeface="Be Vietnam Pro" pitchFamily="34" charset="-120"/>
              </a:rPr>
              <a:t>* Khoảng cách được đo theo đường sá thật, không đo đường chim bay.</a:t>
            </a:r>
            <a:endParaRPr lang="en-US" sz="1200" dirty="0"/>
          </a:p>
        </p:txBody>
      </p:sp>
      <p:sp>
        <p:nvSpPr>
          <p:cNvPr id="15" name="Text 10"/>
          <p:cNvSpPr/>
          <p:nvPr/>
        </p:nvSpPr>
        <p:spPr>
          <a:xfrm>
            <a:off x="713232" y="6382512"/>
            <a:ext cx="6492240" cy="236030"/>
          </a:xfrm>
          <a:prstGeom prst="rect">
            <a:avLst/>
          </a:prstGeom>
          <a:noFill/>
          <a:ln/>
        </p:spPr>
        <p:txBody>
          <a:bodyPr wrap="square" lIns="0" tIns="0" rIns="0" bIns="0" rtlCol="0" anchor="t"/>
          <a:lstStyle/>
          <a:p>
            <a:pPr algn="l"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Nguồn: màn hình thật trên hệ thống Ứng Phó Nhanh.</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12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QUY TRÌNH ĐIỀU PHỐI CỨU HỘ · BƯỚC 4 / 6</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Phương án được duyệt, thông tin đầy đủ</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Shape 8"/>
          <p:cNvSpPr/>
          <p:nvPr/>
        </p:nvSpPr>
        <p:spPr>
          <a:xfrm rot="5400000">
            <a:off x="4144670" y="2602420"/>
            <a:ext cx="219456" cy="219456"/>
          </a:xfrm>
          <a:prstGeom prst="triangle">
            <a:avLst/>
          </a:prstGeom>
          <a:solidFill>
            <a:srgbClr val="22C55E">
              <a:alpha val="75000"/>
            </a:srgbClr>
          </a:solidFill>
          <a:ln/>
        </p:spPr>
      </p:sp>
      <p:sp>
        <p:nvSpPr>
          <p:cNvPr id="13" name="Shape 9"/>
          <p:cNvSpPr/>
          <p:nvPr/>
        </p:nvSpPr>
        <p:spPr>
          <a:xfrm rot="16200000">
            <a:off x="4135526" y="5012753"/>
            <a:ext cx="219456" cy="219456"/>
          </a:xfrm>
          <a:prstGeom prst="triangle">
            <a:avLst/>
          </a:prstGeom>
          <a:solidFill>
            <a:srgbClr val="22C55E">
              <a:alpha val="75000"/>
            </a:srgbClr>
          </a:solidFill>
          <a:ln/>
        </p:spPr>
      </p:sp>
      <p:sp>
        <p:nvSpPr>
          <p:cNvPr id="14" name="Shape 10"/>
          <p:cNvSpPr/>
          <p:nvPr/>
        </p:nvSpPr>
        <p:spPr>
          <a:xfrm rot="5400000">
            <a:off x="7836713" y="2602420"/>
            <a:ext cx="219456" cy="219456"/>
          </a:xfrm>
          <a:prstGeom prst="triangle">
            <a:avLst/>
          </a:prstGeom>
          <a:solidFill>
            <a:srgbClr val="22C55E">
              <a:alpha val="75000"/>
            </a:srgbClr>
          </a:solidFill>
          <a:ln/>
        </p:spPr>
      </p:sp>
      <p:sp>
        <p:nvSpPr>
          <p:cNvPr id="15" name="Shape 11"/>
          <p:cNvSpPr/>
          <p:nvPr/>
        </p:nvSpPr>
        <p:spPr>
          <a:xfrm rot="16200000">
            <a:off x="7827569" y="5012753"/>
            <a:ext cx="219456" cy="219456"/>
          </a:xfrm>
          <a:prstGeom prst="triangle">
            <a:avLst/>
          </a:prstGeom>
          <a:solidFill>
            <a:srgbClr val="22C55E">
              <a:alpha val="75000"/>
            </a:srgbClr>
          </a:solidFill>
          <a:ln/>
        </p:spPr>
      </p:sp>
      <p:sp>
        <p:nvSpPr>
          <p:cNvPr id="16" name="Shape 12"/>
          <p:cNvSpPr/>
          <p:nvPr/>
        </p:nvSpPr>
        <p:spPr>
          <a:xfrm>
            <a:off x="9777832" y="3716147"/>
            <a:ext cx="20117" cy="246888"/>
          </a:xfrm>
          <a:prstGeom prst="rect">
            <a:avLst/>
          </a:prstGeom>
          <a:solidFill>
            <a:srgbClr val="2E7D55">
              <a:alpha val="85000"/>
            </a:srgbClr>
          </a:solidFill>
          <a:ln/>
        </p:spPr>
      </p:sp>
      <p:sp>
        <p:nvSpPr>
          <p:cNvPr id="17" name="Shape 13"/>
          <p:cNvSpPr/>
          <p:nvPr/>
        </p:nvSpPr>
        <p:spPr>
          <a:xfrm rot="10800000">
            <a:off x="9696450" y="3940175"/>
            <a:ext cx="182880" cy="182880"/>
          </a:xfrm>
          <a:prstGeom prst="triangle">
            <a:avLst/>
          </a:prstGeom>
          <a:solidFill>
            <a:srgbClr val="22C55E">
              <a:alpha val="75000"/>
            </a:srgbClr>
          </a:solidFill>
          <a:ln/>
        </p:spPr>
      </p:sp>
      <p:sp>
        <p:nvSpPr>
          <p:cNvPr id="18" name="Shape 14"/>
          <p:cNvSpPr/>
          <p:nvPr/>
        </p:nvSpPr>
        <p:spPr>
          <a:xfrm>
            <a:off x="713232" y="1708150"/>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19" name="Shape 15"/>
          <p:cNvSpPr/>
          <p:nvPr/>
        </p:nvSpPr>
        <p:spPr>
          <a:xfrm>
            <a:off x="713232" y="1708150"/>
            <a:ext cx="50292" cy="2007997"/>
          </a:xfrm>
          <a:prstGeom prst="roundRect">
            <a:avLst>
              <a:gd name="adj" fmla="val 54545"/>
            </a:avLst>
          </a:prstGeom>
          <a:solidFill>
            <a:srgbClr val="3C5468">
              <a:alpha val="95000"/>
            </a:srgbClr>
          </a:solidFill>
          <a:ln/>
        </p:spPr>
      </p:sp>
      <p:sp>
        <p:nvSpPr>
          <p:cNvPr id="20" name="Shape 16"/>
          <p:cNvSpPr/>
          <p:nvPr/>
        </p:nvSpPr>
        <p:spPr>
          <a:xfrm>
            <a:off x="987552" y="2062924"/>
            <a:ext cx="420624" cy="420624"/>
          </a:xfrm>
          <a:prstGeom prst="roundRect">
            <a:avLst>
              <a:gd name="adj" fmla="val 50000"/>
            </a:avLst>
          </a:prstGeom>
          <a:solidFill>
            <a:srgbClr val="04101F">
              <a:alpha val="88000"/>
            </a:srgbClr>
          </a:solidFill>
          <a:ln/>
        </p:spPr>
      </p:sp>
      <p:sp>
        <p:nvSpPr>
          <p:cNvPr id="21" name="Shape 17"/>
          <p:cNvSpPr/>
          <p:nvPr/>
        </p:nvSpPr>
        <p:spPr>
          <a:xfrm>
            <a:off x="987552" y="2062924"/>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22" name="Text 18"/>
          <p:cNvSpPr/>
          <p:nvPr/>
        </p:nvSpPr>
        <p:spPr>
          <a:xfrm>
            <a:off x="941832"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1</a:t>
            </a:r>
            <a:endParaRPr lang="en-US" sz="1500" dirty="0"/>
          </a:p>
        </p:txBody>
      </p:sp>
      <p:sp>
        <p:nvSpPr>
          <p:cNvPr id="23" name="Text 19"/>
          <p:cNvSpPr/>
          <p:nvPr/>
        </p:nvSpPr>
        <p:spPr>
          <a:xfrm>
            <a:off x="1536192" y="2108644"/>
            <a:ext cx="2393594" cy="29540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Ghi nhận tình huống</a:t>
            </a:r>
            <a:endParaRPr lang="en-US" sz="1400" dirty="0"/>
          </a:p>
        </p:txBody>
      </p:sp>
      <p:sp>
        <p:nvSpPr>
          <p:cNvPr id="24" name="Text 20"/>
          <p:cNvSpPr/>
          <p:nvPr/>
        </p:nvSpPr>
        <p:spPr>
          <a:xfrm>
            <a:off x="987552" y="2721292"/>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Trưởng thôn báo cáo và đánh dấu điểm</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gặp nạn trên bản đồ.</a:t>
            </a:r>
            <a:endParaRPr lang="en-US" sz="1150" dirty="0"/>
          </a:p>
        </p:txBody>
      </p:sp>
      <p:sp>
        <p:nvSpPr>
          <p:cNvPr id="25" name="Shape 21"/>
          <p:cNvSpPr/>
          <p:nvPr/>
        </p:nvSpPr>
        <p:spPr>
          <a:xfrm>
            <a:off x="4405274" y="1708150"/>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26" name="Shape 22"/>
          <p:cNvSpPr/>
          <p:nvPr/>
        </p:nvSpPr>
        <p:spPr>
          <a:xfrm>
            <a:off x="4405274" y="1708150"/>
            <a:ext cx="50292" cy="2007997"/>
          </a:xfrm>
          <a:prstGeom prst="roundRect">
            <a:avLst>
              <a:gd name="adj" fmla="val 54545"/>
            </a:avLst>
          </a:prstGeom>
          <a:solidFill>
            <a:srgbClr val="3C5468">
              <a:alpha val="95000"/>
            </a:srgbClr>
          </a:solidFill>
          <a:ln/>
        </p:spPr>
      </p:sp>
      <p:sp>
        <p:nvSpPr>
          <p:cNvPr id="27" name="Shape 23"/>
          <p:cNvSpPr/>
          <p:nvPr/>
        </p:nvSpPr>
        <p:spPr>
          <a:xfrm>
            <a:off x="4679594" y="2062924"/>
            <a:ext cx="420624" cy="420624"/>
          </a:xfrm>
          <a:prstGeom prst="roundRect">
            <a:avLst>
              <a:gd name="adj" fmla="val 50000"/>
            </a:avLst>
          </a:prstGeom>
          <a:solidFill>
            <a:srgbClr val="04101F">
              <a:alpha val="88000"/>
            </a:srgbClr>
          </a:solidFill>
          <a:ln/>
        </p:spPr>
      </p:sp>
      <p:sp>
        <p:nvSpPr>
          <p:cNvPr id="28" name="Shape 24"/>
          <p:cNvSpPr/>
          <p:nvPr/>
        </p:nvSpPr>
        <p:spPr>
          <a:xfrm>
            <a:off x="4679594" y="2062924"/>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29" name="Text 25"/>
          <p:cNvSpPr/>
          <p:nvPr/>
        </p:nvSpPr>
        <p:spPr>
          <a:xfrm>
            <a:off x="4633874"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2</a:t>
            </a:r>
            <a:endParaRPr lang="en-US" sz="1500" dirty="0"/>
          </a:p>
        </p:txBody>
      </p:sp>
      <p:sp>
        <p:nvSpPr>
          <p:cNvPr id="30" name="Text 26"/>
          <p:cNvSpPr/>
          <p:nvPr/>
        </p:nvSpPr>
        <p:spPr>
          <a:xfrm>
            <a:off x="5228234" y="2108644"/>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AI hỗ trợ phân tích và</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đề xuất vật tư</a:t>
            </a:r>
            <a:endParaRPr lang="en-US" sz="1400" dirty="0"/>
          </a:p>
        </p:txBody>
      </p:sp>
      <p:sp>
        <p:nvSpPr>
          <p:cNvPr id="31" name="Text 27"/>
          <p:cNvSpPr/>
          <p:nvPr/>
        </p:nvSpPr>
        <p:spPr>
          <a:xfrm>
            <a:off x="4679594" y="2721292"/>
            <a:ext cx="2923946" cy="695325"/>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AI đọc mô tả bằng lời thành số liệu và</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đề xuất vật tư, người điều phối sẽ chốt</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phương án.</a:t>
            </a:r>
            <a:endParaRPr lang="en-US" sz="1150" dirty="0"/>
          </a:p>
        </p:txBody>
      </p:sp>
      <p:sp>
        <p:nvSpPr>
          <p:cNvPr id="32" name="Shape 28"/>
          <p:cNvSpPr/>
          <p:nvPr/>
        </p:nvSpPr>
        <p:spPr>
          <a:xfrm>
            <a:off x="8097317" y="1708150"/>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33" name="Shape 29"/>
          <p:cNvSpPr/>
          <p:nvPr/>
        </p:nvSpPr>
        <p:spPr>
          <a:xfrm>
            <a:off x="8097317" y="1708150"/>
            <a:ext cx="50292" cy="2007997"/>
          </a:xfrm>
          <a:prstGeom prst="roundRect">
            <a:avLst>
              <a:gd name="adj" fmla="val 54545"/>
            </a:avLst>
          </a:prstGeom>
          <a:solidFill>
            <a:srgbClr val="3C5468">
              <a:alpha val="95000"/>
            </a:srgbClr>
          </a:solidFill>
          <a:ln/>
        </p:spPr>
      </p:sp>
      <p:sp>
        <p:nvSpPr>
          <p:cNvPr id="34" name="Shape 30"/>
          <p:cNvSpPr/>
          <p:nvPr/>
        </p:nvSpPr>
        <p:spPr>
          <a:xfrm>
            <a:off x="8371637" y="2062924"/>
            <a:ext cx="420624" cy="420624"/>
          </a:xfrm>
          <a:prstGeom prst="roundRect">
            <a:avLst>
              <a:gd name="adj" fmla="val 50000"/>
            </a:avLst>
          </a:prstGeom>
          <a:solidFill>
            <a:srgbClr val="04101F">
              <a:alpha val="88000"/>
            </a:srgbClr>
          </a:solidFill>
          <a:ln/>
        </p:spPr>
      </p:sp>
      <p:sp>
        <p:nvSpPr>
          <p:cNvPr id="35" name="Shape 31"/>
          <p:cNvSpPr/>
          <p:nvPr/>
        </p:nvSpPr>
        <p:spPr>
          <a:xfrm>
            <a:off x="8371637" y="2062924"/>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36" name="Text 32"/>
          <p:cNvSpPr/>
          <p:nvPr/>
        </p:nvSpPr>
        <p:spPr>
          <a:xfrm>
            <a:off x="8325917"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3</a:t>
            </a:r>
            <a:endParaRPr lang="en-US" sz="1500" dirty="0"/>
          </a:p>
        </p:txBody>
      </p:sp>
      <p:sp>
        <p:nvSpPr>
          <p:cNvPr id="37" name="Text 33"/>
          <p:cNvSpPr/>
          <p:nvPr/>
        </p:nvSpPr>
        <p:spPr>
          <a:xfrm>
            <a:off x="8920277" y="2108644"/>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Chọn kho tiếp tế gần</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điểm gặp nạn nhất</a:t>
            </a:r>
            <a:endParaRPr lang="en-US" sz="1400" dirty="0"/>
          </a:p>
        </p:txBody>
      </p:sp>
      <p:sp>
        <p:nvSpPr>
          <p:cNvPr id="38" name="Text 34"/>
          <p:cNvSpPr/>
          <p:nvPr/>
        </p:nvSpPr>
        <p:spPr>
          <a:xfrm>
            <a:off x="8371637" y="2721292"/>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Hệ thống cân nhắc vị trí, tồn kho và khả</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năng đáp ứng của từng kho.</a:t>
            </a:r>
            <a:endParaRPr lang="en-US" sz="1150" dirty="0"/>
          </a:p>
        </p:txBody>
      </p:sp>
      <p:sp>
        <p:nvSpPr>
          <p:cNvPr id="39" name="Shape 35"/>
          <p:cNvSpPr/>
          <p:nvPr/>
        </p:nvSpPr>
        <p:spPr>
          <a:xfrm>
            <a:off x="8042453" y="4063619"/>
            <a:ext cx="3490874" cy="2117725"/>
          </a:xfrm>
          <a:prstGeom prst="roundRect">
            <a:avLst>
              <a:gd name="adj" fmla="val 6909"/>
            </a:avLst>
          </a:prstGeom>
          <a:solidFill>
            <a:srgbClr val="22C55E">
              <a:alpha val="18000"/>
            </a:srgbClr>
          </a:solidFill>
          <a:ln/>
        </p:spPr>
      </p:sp>
      <p:sp>
        <p:nvSpPr>
          <p:cNvPr id="40" name="Shape 36"/>
          <p:cNvSpPr/>
          <p:nvPr/>
        </p:nvSpPr>
        <p:spPr>
          <a:xfrm>
            <a:off x="8097317" y="4118483"/>
            <a:ext cx="3381146" cy="2007997"/>
          </a:xfrm>
          <a:prstGeom prst="roundRect">
            <a:avLst>
              <a:gd name="adj" fmla="val 5465"/>
            </a:avLst>
          </a:prstGeom>
          <a:solidFill>
            <a:srgbClr val="091B2D">
              <a:alpha val="78000"/>
            </a:srgbClr>
          </a:solidFill>
          <a:ln w="19050">
            <a:solidFill>
              <a:srgbClr val="22C55E">
                <a:alpha val="50000"/>
              </a:srgbClr>
            </a:solidFill>
            <a:prstDash val="solid"/>
          </a:ln>
        </p:spPr>
      </p:sp>
      <p:sp>
        <p:nvSpPr>
          <p:cNvPr id="41" name="Shape 37"/>
          <p:cNvSpPr/>
          <p:nvPr/>
        </p:nvSpPr>
        <p:spPr>
          <a:xfrm>
            <a:off x="8097317" y="4118483"/>
            <a:ext cx="50292" cy="2007997"/>
          </a:xfrm>
          <a:prstGeom prst="roundRect">
            <a:avLst>
              <a:gd name="adj" fmla="val 54545"/>
            </a:avLst>
          </a:prstGeom>
          <a:solidFill>
            <a:srgbClr val="22C55E">
              <a:alpha val="95000"/>
            </a:srgbClr>
          </a:solidFill>
          <a:ln/>
        </p:spPr>
      </p:sp>
      <p:sp>
        <p:nvSpPr>
          <p:cNvPr id="42" name="Shape 38"/>
          <p:cNvSpPr/>
          <p:nvPr/>
        </p:nvSpPr>
        <p:spPr>
          <a:xfrm>
            <a:off x="8371637" y="4473257"/>
            <a:ext cx="420624" cy="420624"/>
          </a:xfrm>
          <a:prstGeom prst="roundRect">
            <a:avLst>
              <a:gd name="adj" fmla="val 50000"/>
            </a:avLst>
          </a:prstGeom>
          <a:solidFill>
            <a:srgbClr val="04101F">
              <a:alpha val="88000"/>
            </a:srgbClr>
          </a:solidFill>
          <a:ln/>
        </p:spPr>
      </p:sp>
      <p:sp>
        <p:nvSpPr>
          <p:cNvPr id="43" name="Shape 39"/>
          <p:cNvSpPr/>
          <p:nvPr/>
        </p:nvSpPr>
        <p:spPr>
          <a:xfrm>
            <a:off x="8371637" y="4473257"/>
            <a:ext cx="420624" cy="420624"/>
          </a:xfrm>
          <a:prstGeom prst="roundRect">
            <a:avLst>
              <a:gd name="adj" fmla="val 50000"/>
            </a:avLst>
          </a:prstGeom>
          <a:solidFill>
            <a:srgbClr val="22C55E">
              <a:alpha val="20000"/>
            </a:srgbClr>
          </a:solidFill>
          <a:ln w="15240">
            <a:solidFill>
              <a:srgbClr val="22C55E">
                <a:alpha val="70000"/>
              </a:srgbClr>
            </a:solidFill>
            <a:prstDash val="solid"/>
          </a:ln>
        </p:spPr>
      </p:sp>
      <p:sp>
        <p:nvSpPr>
          <p:cNvPr id="44" name="Text 40"/>
          <p:cNvSpPr/>
          <p:nvPr/>
        </p:nvSpPr>
        <p:spPr>
          <a:xfrm>
            <a:off x="8325917"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4</a:t>
            </a:r>
            <a:endParaRPr lang="en-US" sz="1500" dirty="0"/>
          </a:p>
        </p:txBody>
      </p:sp>
      <p:sp>
        <p:nvSpPr>
          <p:cNvPr id="45" name="Text 41"/>
          <p:cNvSpPr/>
          <p:nvPr/>
        </p:nvSpPr>
        <p:spPr>
          <a:xfrm>
            <a:off x="8920277" y="4518977"/>
            <a:ext cx="2393594" cy="29540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Xác nhận &amp; thông báo</a:t>
            </a:r>
            <a:endParaRPr lang="en-US" sz="1400" dirty="0"/>
          </a:p>
        </p:txBody>
      </p:sp>
      <p:sp>
        <p:nvSpPr>
          <p:cNvPr id="46" name="Text 42"/>
          <p:cNvSpPr/>
          <p:nvPr/>
        </p:nvSpPr>
        <p:spPr>
          <a:xfrm>
            <a:off x="8371637" y="5131626"/>
            <a:ext cx="2923946" cy="695325"/>
          </a:xfrm>
          <a:prstGeom prst="rect">
            <a:avLst/>
          </a:prstGeom>
          <a:noFill/>
          <a:ln/>
        </p:spPr>
        <p:txBody>
          <a:bodyPr wrap="square" lIns="0" tIns="0" rIns="0" bIns="0" rtlCol="0" anchor="t"/>
          <a:lstStyle/>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Kho phụ trách nhận lệnh chuẩn bị, xuất</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vật tư; đội cứu hộ nhận nhiệm vụ cùng</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lúc.</a:t>
            </a:r>
            <a:endParaRPr lang="en-US" sz="1150" dirty="0"/>
          </a:p>
        </p:txBody>
      </p:sp>
      <p:sp>
        <p:nvSpPr>
          <p:cNvPr id="47" name="Shape 43"/>
          <p:cNvSpPr/>
          <p:nvPr/>
        </p:nvSpPr>
        <p:spPr>
          <a:xfrm>
            <a:off x="4405274" y="4118483"/>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48" name="Shape 44"/>
          <p:cNvSpPr/>
          <p:nvPr/>
        </p:nvSpPr>
        <p:spPr>
          <a:xfrm>
            <a:off x="4405274" y="4118483"/>
            <a:ext cx="50292" cy="2007997"/>
          </a:xfrm>
          <a:prstGeom prst="roundRect">
            <a:avLst>
              <a:gd name="adj" fmla="val 54545"/>
            </a:avLst>
          </a:prstGeom>
          <a:solidFill>
            <a:srgbClr val="3C5468">
              <a:alpha val="95000"/>
            </a:srgbClr>
          </a:solidFill>
          <a:ln/>
        </p:spPr>
      </p:sp>
      <p:sp>
        <p:nvSpPr>
          <p:cNvPr id="49" name="Shape 45"/>
          <p:cNvSpPr/>
          <p:nvPr/>
        </p:nvSpPr>
        <p:spPr>
          <a:xfrm>
            <a:off x="4679594" y="4473257"/>
            <a:ext cx="420624" cy="420624"/>
          </a:xfrm>
          <a:prstGeom prst="roundRect">
            <a:avLst>
              <a:gd name="adj" fmla="val 50000"/>
            </a:avLst>
          </a:prstGeom>
          <a:solidFill>
            <a:srgbClr val="04101F">
              <a:alpha val="88000"/>
            </a:srgbClr>
          </a:solidFill>
          <a:ln/>
        </p:spPr>
      </p:sp>
      <p:sp>
        <p:nvSpPr>
          <p:cNvPr id="50" name="Shape 46"/>
          <p:cNvSpPr/>
          <p:nvPr/>
        </p:nvSpPr>
        <p:spPr>
          <a:xfrm>
            <a:off x="4679594" y="4473257"/>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51" name="Text 47"/>
          <p:cNvSpPr/>
          <p:nvPr/>
        </p:nvSpPr>
        <p:spPr>
          <a:xfrm>
            <a:off x="4633874"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5</a:t>
            </a:r>
            <a:endParaRPr lang="en-US" sz="1500" dirty="0"/>
          </a:p>
        </p:txBody>
      </p:sp>
      <p:sp>
        <p:nvSpPr>
          <p:cNvPr id="52" name="Text 48"/>
          <p:cNvSpPr/>
          <p:nvPr/>
        </p:nvSpPr>
        <p:spPr>
          <a:xfrm>
            <a:off x="5228234" y="4518977"/>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Đội cứu hộ xác nhận hoàn</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thành</a:t>
            </a:r>
            <a:endParaRPr lang="en-US" sz="1400" dirty="0"/>
          </a:p>
        </p:txBody>
      </p:sp>
      <p:sp>
        <p:nvSpPr>
          <p:cNvPr id="53" name="Text 49"/>
          <p:cNvSpPr/>
          <p:nvPr/>
        </p:nvSpPr>
        <p:spPr>
          <a:xfrm>
            <a:off x="4679594" y="5131626"/>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Báo cáo kết quả nhiệm vụ kèm hình ảnh</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tại hiện trường.</a:t>
            </a:r>
            <a:endParaRPr lang="en-US" sz="1150" dirty="0"/>
          </a:p>
        </p:txBody>
      </p:sp>
      <p:sp>
        <p:nvSpPr>
          <p:cNvPr id="54" name="Shape 50"/>
          <p:cNvSpPr/>
          <p:nvPr/>
        </p:nvSpPr>
        <p:spPr>
          <a:xfrm>
            <a:off x="713232" y="4118483"/>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55" name="Shape 51"/>
          <p:cNvSpPr/>
          <p:nvPr/>
        </p:nvSpPr>
        <p:spPr>
          <a:xfrm>
            <a:off x="713232" y="4118483"/>
            <a:ext cx="50292" cy="2007997"/>
          </a:xfrm>
          <a:prstGeom prst="roundRect">
            <a:avLst>
              <a:gd name="adj" fmla="val 54545"/>
            </a:avLst>
          </a:prstGeom>
          <a:solidFill>
            <a:srgbClr val="3C5468">
              <a:alpha val="95000"/>
            </a:srgbClr>
          </a:solidFill>
          <a:ln/>
        </p:spPr>
      </p:sp>
      <p:sp>
        <p:nvSpPr>
          <p:cNvPr id="56" name="Shape 52"/>
          <p:cNvSpPr/>
          <p:nvPr/>
        </p:nvSpPr>
        <p:spPr>
          <a:xfrm>
            <a:off x="987552" y="4473257"/>
            <a:ext cx="420624" cy="420624"/>
          </a:xfrm>
          <a:prstGeom prst="roundRect">
            <a:avLst>
              <a:gd name="adj" fmla="val 50000"/>
            </a:avLst>
          </a:prstGeom>
          <a:solidFill>
            <a:srgbClr val="04101F">
              <a:alpha val="88000"/>
            </a:srgbClr>
          </a:solidFill>
          <a:ln/>
        </p:spPr>
      </p:sp>
      <p:sp>
        <p:nvSpPr>
          <p:cNvPr id="57" name="Shape 53"/>
          <p:cNvSpPr/>
          <p:nvPr/>
        </p:nvSpPr>
        <p:spPr>
          <a:xfrm>
            <a:off x="987552" y="4473257"/>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58" name="Text 54"/>
          <p:cNvSpPr/>
          <p:nvPr/>
        </p:nvSpPr>
        <p:spPr>
          <a:xfrm>
            <a:off x="941832"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6</a:t>
            </a:r>
            <a:endParaRPr lang="en-US" sz="1500" dirty="0"/>
          </a:p>
        </p:txBody>
      </p:sp>
      <p:sp>
        <p:nvSpPr>
          <p:cNvPr id="59" name="Text 55"/>
          <p:cNvSpPr/>
          <p:nvPr/>
        </p:nvSpPr>
        <p:spPr>
          <a:xfrm>
            <a:off x="1536192" y="4518977"/>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Kho xác nhận hoàn trả</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vật tư</a:t>
            </a:r>
            <a:endParaRPr lang="en-US" sz="1400" dirty="0"/>
          </a:p>
        </p:txBody>
      </p:sp>
      <p:sp>
        <p:nvSpPr>
          <p:cNvPr id="60" name="Text 56"/>
          <p:cNvSpPr/>
          <p:nvPr/>
        </p:nvSpPr>
        <p:spPr>
          <a:xfrm>
            <a:off x="987552" y="5131626"/>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Đối chiếu vật tư đã cấp phát và phần</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thu hồi, khép lại nhiệm vụ.</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par>
                                <p:cTn id="23" presetID="10" presetClass="entr" presetSubtype="0" fill="hold" grpId="0" nodeType="withEffect">
                                  <p:stCondLst>
                                    <p:cond delay="44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400"/>
                                        <p:tgtEl>
                                          <p:spTgt spid="22"/>
                                        </p:tgtEl>
                                      </p:cBhvr>
                                    </p:animEffect>
                                  </p:childTnLst>
                                </p:cTn>
                              </p:par>
                              <p:par>
                                <p:cTn id="26" presetID="10" presetClass="entr" presetSubtype="0" fill="hold" grpId="0" nodeType="withEffect">
                                  <p:stCondLst>
                                    <p:cond delay="44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400"/>
                                        <p:tgtEl>
                                          <p:spTgt spid="23"/>
                                        </p:tgtEl>
                                      </p:cBhvr>
                                    </p:animEffect>
                                  </p:childTnLst>
                                </p:cTn>
                              </p:par>
                              <p:par>
                                <p:cTn id="29" presetID="10" presetClass="entr" presetSubtype="0" fill="hold" grpId="0" nodeType="withEffect">
                                  <p:stCondLst>
                                    <p:cond delay="44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400"/>
                                        <p:tgtEl>
                                          <p:spTgt spid="25"/>
                                        </p:tgtEl>
                                      </p:cBhvr>
                                    </p:animEffect>
                                  </p:childTnLst>
                                </p:cTn>
                              </p:par>
                              <p:par>
                                <p:cTn id="38" presetID="10" presetClass="entr" presetSubtype="0" fill="hold" grpId="0" nodeType="withEffect">
                                  <p:stCondLst>
                                    <p:cond delay="66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400"/>
                                        <p:tgtEl>
                                          <p:spTgt spid="26"/>
                                        </p:tgtEl>
                                      </p:cBhvr>
                                    </p:animEffect>
                                  </p:childTnLst>
                                </p:cTn>
                              </p:par>
                              <p:par>
                                <p:cTn id="41" presetID="10" presetClass="entr" presetSubtype="0" fill="hold" grpId="0" nodeType="withEffect">
                                  <p:stCondLst>
                                    <p:cond delay="66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400"/>
                                        <p:tgtEl>
                                          <p:spTgt spid="27"/>
                                        </p:tgtEl>
                                      </p:cBhvr>
                                    </p:animEffect>
                                  </p:childTnLst>
                                </p:cTn>
                              </p:par>
                              <p:par>
                                <p:cTn id="44" presetID="10" presetClass="entr" presetSubtype="0" fill="hold" grpId="0" nodeType="withEffect">
                                  <p:stCondLst>
                                    <p:cond delay="66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400"/>
                                        <p:tgtEl>
                                          <p:spTgt spid="28"/>
                                        </p:tgtEl>
                                      </p:cBhvr>
                                    </p:animEffect>
                                  </p:childTnLst>
                                </p:cTn>
                              </p:par>
                              <p:par>
                                <p:cTn id="47" presetID="10" presetClass="entr" presetSubtype="0" fill="hold" grpId="0" nodeType="withEffect">
                                  <p:stCondLst>
                                    <p:cond delay="66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400"/>
                                        <p:tgtEl>
                                          <p:spTgt spid="29"/>
                                        </p:tgtEl>
                                      </p:cBhvr>
                                    </p:animEffect>
                                  </p:childTnLst>
                                </p:cTn>
                              </p:par>
                              <p:par>
                                <p:cTn id="50" presetID="10" presetClass="entr" presetSubtype="0" fill="hold" grpId="0" nodeType="withEffect">
                                  <p:stCondLst>
                                    <p:cond delay="66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400"/>
                                        <p:tgtEl>
                                          <p:spTgt spid="30"/>
                                        </p:tgtEl>
                                      </p:cBhvr>
                                    </p:animEffect>
                                  </p:childTnLst>
                                </p:cTn>
                              </p:par>
                              <p:par>
                                <p:cTn id="53" presetID="10" presetClass="entr" presetSubtype="0" fill="hold" grpId="0" nodeType="withEffect">
                                  <p:stCondLst>
                                    <p:cond delay="66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400"/>
                                        <p:tgtEl>
                                          <p:spTgt spid="31"/>
                                        </p:tgtEl>
                                      </p:cBhvr>
                                    </p:animEffect>
                                  </p:childTnLst>
                                </p:cTn>
                              </p:par>
                              <p:par>
                                <p:cTn id="56" presetID="10" presetClass="entr" presetSubtype="0" fill="hold" grpId="0" nodeType="withEffect">
                                  <p:stCondLst>
                                    <p:cond delay="88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400"/>
                                        <p:tgtEl>
                                          <p:spTgt spid="14"/>
                                        </p:tgtEl>
                                      </p:cBhvr>
                                    </p:animEffect>
                                  </p:childTnLst>
                                </p:cTn>
                              </p:par>
                              <p:par>
                                <p:cTn id="59" presetID="10" presetClass="entr" presetSubtype="0" fill="hold" grpId="0" nodeType="withEffect">
                                  <p:stCondLst>
                                    <p:cond delay="88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400"/>
                                        <p:tgtEl>
                                          <p:spTgt spid="32"/>
                                        </p:tgtEl>
                                      </p:cBhvr>
                                    </p:animEffect>
                                  </p:childTnLst>
                                </p:cTn>
                              </p:par>
                              <p:par>
                                <p:cTn id="62" presetID="10" presetClass="entr" presetSubtype="0" fill="hold" grpId="0" nodeType="withEffect">
                                  <p:stCondLst>
                                    <p:cond delay="88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400"/>
                                        <p:tgtEl>
                                          <p:spTgt spid="33"/>
                                        </p:tgtEl>
                                      </p:cBhvr>
                                    </p:animEffect>
                                  </p:childTnLst>
                                </p:cTn>
                              </p:par>
                              <p:par>
                                <p:cTn id="65" presetID="10" presetClass="entr" presetSubtype="0" fill="hold" grpId="0" nodeType="withEffect">
                                  <p:stCondLst>
                                    <p:cond delay="88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400"/>
                                        <p:tgtEl>
                                          <p:spTgt spid="34"/>
                                        </p:tgtEl>
                                      </p:cBhvr>
                                    </p:animEffect>
                                  </p:childTnLst>
                                </p:cTn>
                              </p:par>
                              <p:par>
                                <p:cTn id="68" presetID="10" presetClass="entr" presetSubtype="0" fill="hold" grpId="0" nodeType="withEffect">
                                  <p:stCondLst>
                                    <p:cond delay="88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400"/>
                                        <p:tgtEl>
                                          <p:spTgt spid="35"/>
                                        </p:tgtEl>
                                      </p:cBhvr>
                                    </p:animEffect>
                                  </p:childTnLst>
                                </p:cTn>
                              </p:par>
                              <p:par>
                                <p:cTn id="71" presetID="10" presetClass="entr" presetSubtype="0" fill="hold" grpId="0" nodeType="withEffect">
                                  <p:stCondLst>
                                    <p:cond delay="88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400"/>
                                        <p:tgtEl>
                                          <p:spTgt spid="36"/>
                                        </p:tgtEl>
                                      </p:cBhvr>
                                    </p:animEffect>
                                  </p:childTnLst>
                                </p:cTn>
                              </p:par>
                              <p:par>
                                <p:cTn id="74" presetID="10" presetClass="entr" presetSubtype="0" fill="hold" grpId="0" nodeType="withEffect">
                                  <p:stCondLst>
                                    <p:cond delay="88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400"/>
                                        <p:tgtEl>
                                          <p:spTgt spid="37"/>
                                        </p:tgtEl>
                                      </p:cBhvr>
                                    </p:animEffect>
                                  </p:childTnLst>
                                </p:cTn>
                              </p:par>
                              <p:par>
                                <p:cTn id="77" presetID="10" presetClass="entr" presetSubtype="0" fill="hold" grpId="0" nodeType="withEffect">
                                  <p:stCondLst>
                                    <p:cond delay="88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400"/>
                                        <p:tgtEl>
                                          <p:spTgt spid="38"/>
                                        </p:tgtEl>
                                      </p:cBhvr>
                                    </p:animEffect>
                                  </p:childTnLst>
                                </p:cTn>
                              </p:par>
                              <p:par>
                                <p:cTn id="80" presetID="10" presetClass="entr" presetSubtype="0" fill="hold" grpId="0" nodeType="withEffect">
                                  <p:stCondLst>
                                    <p:cond delay="110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400"/>
                                        <p:tgtEl>
                                          <p:spTgt spid="39"/>
                                        </p:tgtEl>
                                      </p:cBhvr>
                                    </p:animEffect>
                                  </p:childTnLst>
                                </p:cTn>
                              </p:par>
                              <p:par>
                                <p:cTn id="83" presetID="10" presetClass="entr" presetSubtype="0" fill="hold" grpId="0" nodeType="withEffect">
                                  <p:stCondLst>
                                    <p:cond delay="132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400"/>
                                        <p:tgtEl>
                                          <p:spTgt spid="16"/>
                                        </p:tgtEl>
                                      </p:cBhvr>
                                    </p:animEffect>
                                  </p:childTnLst>
                                </p:cTn>
                              </p:par>
                              <p:par>
                                <p:cTn id="86" presetID="10" presetClass="entr" presetSubtype="0" fill="hold" grpId="0" nodeType="withEffect">
                                  <p:stCondLst>
                                    <p:cond delay="1320"/>
                                  </p:stCondLst>
                                  <p:childTnLst>
                                    <p:set>
                                      <p:cBhvr>
                                        <p:cTn id="87" dur="1" fill="hold">
                                          <p:stCondLst>
                                            <p:cond delay="0"/>
                                          </p:stCondLst>
                                        </p:cTn>
                                        <p:tgtEl>
                                          <p:spTgt spid="17"/>
                                        </p:tgtEl>
                                        <p:attrNameLst>
                                          <p:attrName>style.visibility</p:attrName>
                                        </p:attrNameLst>
                                      </p:cBhvr>
                                      <p:to>
                                        <p:strVal val="visible"/>
                                      </p:to>
                                    </p:set>
                                    <p:animEffect transition="in" filter="fade">
                                      <p:cBhvr>
                                        <p:cTn id="88" dur="400"/>
                                        <p:tgtEl>
                                          <p:spTgt spid="17"/>
                                        </p:tgtEl>
                                      </p:cBhvr>
                                    </p:animEffect>
                                  </p:childTnLst>
                                </p:cTn>
                              </p:par>
                              <p:par>
                                <p:cTn id="89" presetID="10" presetClass="entr" presetSubtype="0" fill="hold" grpId="0" nodeType="withEffect">
                                  <p:stCondLst>
                                    <p:cond delay="1320"/>
                                  </p:stCondLst>
                                  <p:childTnLst>
                                    <p:set>
                                      <p:cBhvr>
                                        <p:cTn id="90" dur="1" fill="hold">
                                          <p:stCondLst>
                                            <p:cond delay="0"/>
                                          </p:stCondLst>
                                        </p:cTn>
                                        <p:tgtEl>
                                          <p:spTgt spid="40"/>
                                        </p:tgtEl>
                                        <p:attrNameLst>
                                          <p:attrName>style.visibility</p:attrName>
                                        </p:attrNameLst>
                                      </p:cBhvr>
                                      <p:to>
                                        <p:strVal val="visible"/>
                                      </p:to>
                                    </p:set>
                                    <p:animEffect transition="in" filter="fade">
                                      <p:cBhvr>
                                        <p:cTn id="91" dur="400"/>
                                        <p:tgtEl>
                                          <p:spTgt spid="40"/>
                                        </p:tgtEl>
                                      </p:cBhvr>
                                    </p:animEffect>
                                  </p:childTnLst>
                                </p:cTn>
                              </p:par>
                              <p:par>
                                <p:cTn id="92" presetID="10" presetClass="entr" presetSubtype="0" fill="hold" grpId="0" nodeType="withEffect">
                                  <p:stCondLst>
                                    <p:cond delay="1320"/>
                                  </p:stCondLst>
                                  <p:childTnLst>
                                    <p:set>
                                      <p:cBhvr>
                                        <p:cTn id="93" dur="1" fill="hold">
                                          <p:stCondLst>
                                            <p:cond delay="0"/>
                                          </p:stCondLst>
                                        </p:cTn>
                                        <p:tgtEl>
                                          <p:spTgt spid="41"/>
                                        </p:tgtEl>
                                        <p:attrNameLst>
                                          <p:attrName>style.visibility</p:attrName>
                                        </p:attrNameLst>
                                      </p:cBhvr>
                                      <p:to>
                                        <p:strVal val="visible"/>
                                      </p:to>
                                    </p:set>
                                    <p:animEffect transition="in" filter="fade">
                                      <p:cBhvr>
                                        <p:cTn id="94" dur="400"/>
                                        <p:tgtEl>
                                          <p:spTgt spid="41"/>
                                        </p:tgtEl>
                                      </p:cBhvr>
                                    </p:animEffect>
                                  </p:childTnLst>
                                </p:cTn>
                              </p:par>
                              <p:par>
                                <p:cTn id="95" presetID="10" presetClass="entr" presetSubtype="0" fill="hold" grpId="0" nodeType="withEffect">
                                  <p:stCondLst>
                                    <p:cond delay="1320"/>
                                  </p:stCondLst>
                                  <p:childTnLst>
                                    <p:set>
                                      <p:cBhvr>
                                        <p:cTn id="96" dur="1" fill="hold">
                                          <p:stCondLst>
                                            <p:cond delay="0"/>
                                          </p:stCondLst>
                                        </p:cTn>
                                        <p:tgtEl>
                                          <p:spTgt spid="42"/>
                                        </p:tgtEl>
                                        <p:attrNameLst>
                                          <p:attrName>style.visibility</p:attrName>
                                        </p:attrNameLst>
                                      </p:cBhvr>
                                      <p:to>
                                        <p:strVal val="visible"/>
                                      </p:to>
                                    </p:set>
                                    <p:animEffect transition="in" filter="fade">
                                      <p:cBhvr>
                                        <p:cTn id="97" dur="400"/>
                                        <p:tgtEl>
                                          <p:spTgt spid="42"/>
                                        </p:tgtEl>
                                      </p:cBhvr>
                                    </p:animEffect>
                                  </p:childTnLst>
                                </p:cTn>
                              </p:par>
                              <p:par>
                                <p:cTn id="98" presetID="10" presetClass="entr" presetSubtype="0" fill="hold" grpId="0" nodeType="withEffect">
                                  <p:stCondLst>
                                    <p:cond delay="1320"/>
                                  </p:stCondLst>
                                  <p:childTnLst>
                                    <p:set>
                                      <p:cBhvr>
                                        <p:cTn id="99" dur="1" fill="hold">
                                          <p:stCondLst>
                                            <p:cond delay="0"/>
                                          </p:stCondLst>
                                        </p:cTn>
                                        <p:tgtEl>
                                          <p:spTgt spid="43"/>
                                        </p:tgtEl>
                                        <p:attrNameLst>
                                          <p:attrName>style.visibility</p:attrName>
                                        </p:attrNameLst>
                                      </p:cBhvr>
                                      <p:to>
                                        <p:strVal val="visible"/>
                                      </p:to>
                                    </p:set>
                                    <p:animEffect transition="in" filter="fade">
                                      <p:cBhvr>
                                        <p:cTn id="100" dur="400"/>
                                        <p:tgtEl>
                                          <p:spTgt spid="43"/>
                                        </p:tgtEl>
                                      </p:cBhvr>
                                    </p:animEffect>
                                  </p:childTnLst>
                                </p:cTn>
                              </p:par>
                              <p:par>
                                <p:cTn id="101" presetID="10" presetClass="entr" presetSubtype="0" fill="hold" grpId="0" nodeType="withEffect">
                                  <p:stCondLst>
                                    <p:cond delay="1320"/>
                                  </p:stCondLst>
                                  <p:childTnLst>
                                    <p:set>
                                      <p:cBhvr>
                                        <p:cTn id="102" dur="1" fill="hold">
                                          <p:stCondLst>
                                            <p:cond delay="0"/>
                                          </p:stCondLst>
                                        </p:cTn>
                                        <p:tgtEl>
                                          <p:spTgt spid="44"/>
                                        </p:tgtEl>
                                        <p:attrNameLst>
                                          <p:attrName>style.visibility</p:attrName>
                                        </p:attrNameLst>
                                      </p:cBhvr>
                                      <p:to>
                                        <p:strVal val="visible"/>
                                      </p:to>
                                    </p:set>
                                    <p:animEffect transition="in" filter="fade">
                                      <p:cBhvr>
                                        <p:cTn id="103" dur="400"/>
                                        <p:tgtEl>
                                          <p:spTgt spid="44"/>
                                        </p:tgtEl>
                                      </p:cBhvr>
                                    </p:animEffect>
                                  </p:childTnLst>
                                </p:cTn>
                              </p:par>
                              <p:par>
                                <p:cTn id="104" presetID="10" presetClass="entr" presetSubtype="0" fill="hold" grpId="0" nodeType="withEffect">
                                  <p:stCondLst>
                                    <p:cond delay="132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400"/>
                                        <p:tgtEl>
                                          <p:spTgt spid="45"/>
                                        </p:tgtEl>
                                      </p:cBhvr>
                                    </p:animEffect>
                                  </p:childTnLst>
                                </p:cTn>
                              </p:par>
                              <p:par>
                                <p:cTn id="107" presetID="10" presetClass="entr" presetSubtype="0" fill="hold" grpId="0" nodeType="withEffect">
                                  <p:stCondLst>
                                    <p:cond delay="1320"/>
                                  </p:stCondLst>
                                  <p:childTnLst>
                                    <p:set>
                                      <p:cBhvr>
                                        <p:cTn id="108" dur="1" fill="hold">
                                          <p:stCondLst>
                                            <p:cond delay="0"/>
                                          </p:stCondLst>
                                        </p:cTn>
                                        <p:tgtEl>
                                          <p:spTgt spid="46"/>
                                        </p:tgtEl>
                                        <p:attrNameLst>
                                          <p:attrName>style.visibility</p:attrName>
                                        </p:attrNameLst>
                                      </p:cBhvr>
                                      <p:to>
                                        <p:strVal val="visible"/>
                                      </p:to>
                                    </p:set>
                                    <p:animEffect transition="in" filter="fade">
                                      <p:cBhvr>
                                        <p:cTn id="109" dur="400"/>
                                        <p:tgtEl>
                                          <p:spTgt spid="46"/>
                                        </p:tgtEl>
                                      </p:cBhvr>
                                    </p:animEffect>
                                  </p:childTnLst>
                                </p:cTn>
                              </p:par>
                              <p:par>
                                <p:cTn id="110" presetID="10" presetClass="entr" presetSubtype="0" fill="hold" grpId="0" nodeType="withEffect">
                                  <p:stCondLst>
                                    <p:cond delay="1540"/>
                                  </p:stCondLst>
                                  <p:childTnLst>
                                    <p:set>
                                      <p:cBhvr>
                                        <p:cTn id="111" dur="1" fill="hold">
                                          <p:stCondLst>
                                            <p:cond delay="0"/>
                                          </p:stCondLst>
                                        </p:cTn>
                                        <p:tgtEl>
                                          <p:spTgt spid="15"/>
                                        </p:tgtEl>
                                        <p:attrNameLst>
                                          <p:attrName>style.visibility</p:attrName>
                                        </p:attrNameLst>
                                      </p:cBhvr>
                                      <p:to>
                                        <p:strVal val="visible"/>
                                      </p:to>
                                    </p:set>
                                    <p:animEffect transition="in" filter="fade">
                                      <p:cBhvr>
                                        <p:cTn id="112" dur="400"/>
                                        <p:tgtEl>
                                          <p:spTgt spid="15"/>
                                        </p:tgtEl>
                                      </p:cBhvr>
                                    </p:animEffect>
                                  </p:childTnLst>
                                </p:cTn>
                              </p:par>
                              <p:par>
                                <p:cTn id="113" presetID="10" presetClass="entr" presetSubtype="0" fill="hold" grpId="0" nodeType="withEffect">
                                  <p:stCondLst>
                                    <p:cond delay="1540"/>
                                  </p:stCondLst>
                                  <p:childTnLst>
                                    <p:set>
                                      <p:cBhvr>
                                        <p:cTn id="114" dur="1" fill="hold">
                                          <p:stCondLst>
                                            <p:cond delay="0"/>
                                          </p:stCondLst>
                                        </p:cTn>
                                        <p:tgtEl>
                                          <p:spTgt spid="47"/>
                                        </p:tgtEl>
                                        <p:attrNameLst>
                                          <p:attrName>style.visibility</p:attrName>
                                        </p:attrNameLst>
                                      </p:cBhvr>
                                      <p:to>
                                        <p:strVal val="visible"/>
                                      </p:to>
                                    </p:set>
                                    <p:animEffect transition="in" filter="fade">
                                      <p:cBhvr>
                                        <p:cTn id="115" dur="400"/>
                                        <p:tgtEl>
                                          <p:spTgt spid="47"/>
                                        </p:tgtEl>
                                      </p:cBhvr>
                                    </p:animEffect>
                                  </p:childTnLst>
                                </p:cTn>
                              </p:par>
                              <p:par>
                                <p:cTn id="116" presetID="10" presetClass="entr" presetSubtype="0" fill="hold" grpId="0" nodeType="withEffect">
                                  <p:stCondLst>
                                    <p:cond delay="1540"/>
                                  </p:stCondLst>
                                  <p:childTnLst>
                                    <p:set>
                                      <p:cBhvr>
                                        <p:cTn id="117" dur="1" fill="hold">
                                          <p:stCondLst>
                                            <p:cond delay="0"/>
                                          </p:stCondLst>
                                        </p:cTn>
                                        <p:tgtEl>
                                          <p:spTgt spid="48"/>
                                        </p:tgtEl>
                                        <p:attrNameLst>
                                          <p:attrName>style.visibility</p:attrName>
                                        </p:attrNameLst>
                                      </p:cBhvr>
                                      <p:to>
                                        <p:strVal val="visible"/>
                                      </p:to>
                                    </p:set>
                                    <p:animEffect transition="in" filter="fade">
                                      <p:cBhvr>
                                        <p:cTn id="118" dur="400"/>
                                        <p:tgtEl>
                                          <p:spTgt spid="48"/>
                                        </p:tgtEl>
                                      </p:cBhvr>
                                    </p:animEffect>
                                  </p:childTnLst>
                                </p:cTn>
                              </p:par>
                              <p:par>
                                <p:cTn id="119" presetID="10" presetClass="entr" presetSubtype="0" fill="hold" grpId="0" nodeType="withEffect">
                                  <p:stCondLst>
                                    <p:cond delay="1540"/>
                                  </p:stCondLst>
                                  <p:childTnLst>
                                    <p:set>
                                      <p:cBhvr>
                                        <p:cTn id="120" dur="1" fill="hold">
                                          <p:stCondLst>
                                            <p:cond delay="0"/>
                                          </p:stCondLst>
                                        </p:cTn>
                                        <p:tgtEl>
                                          <p:spTgt spid="49"/>
                                        </p:tgtEl>
                                        <p:attrNameLst>
                                          <p:attrName>style.visibility</p:attrName>
                                        </p:attrNameLst>
                                      </p:cBhvr>
                                      <p:to>
                                        <p:strVal val="visible"/>
                                      </p:to>
                                    </p:set>
                                    <p:animEffect transition="in" filter="fade">
                                      <p:cBhvr>
                                        <p:cTn id="121" dur="400"/>
                                        <p:tgtEl>
                                          <p:spTgt spid="49"/>
                                        </p:tgtEl>
                                      </p:cBhvr>
                                    </p:animEffect>
                                  </p:childTnLst>
                                </p:cTn>
                              </p:par>
                              <p:par>
                                <p:cTn id="122" presetID="10" presetClass="entr" presetSubtype="0" fill="hold" grpId="0" nodeType="withEffect">
                                  <p:stCondLst>
                                    <p:cond delay="1540"/>
                                  </p:stCondLst>
                                  <p:childTnLst>
                                    <p:set>
                                      <p:cBhvr>
                                        <p:cTn id="123" dur="1" fill="hold">
                                          <p:stCondLst>
                                            <p:cond delay="0"/>
                                          </p:stCondLst>
                                        </p:cTn>
                                        <p:tgtEl>
                                          <p:spTgt spid="50"/>
                                        </p:tgtEl>
                                        <p:attrNameLst>
                                          <p:attrName>style.visibility</p:attrName>
                                        </p:attrNameLst>
                                      </p:cBhvr>
                                      <p:to>
                                        <p:strVal val="visible"/>
                                      </p:to>
                                    </p:set>
                                    <p:animEffect transition="in" filter="fade">
                                      <p:cBhvr>
                                        <p:cTn id="124" dur="400"/>
                                        <p:tgtEl>
                                          <p:spTgt spid="50"/>
                                        </p:tgtEl>
                                      </p:cBhvr>
                                    </p:animEffect>
                                  </p:childTnLst>
                                </p:cTn>
                              </p:par>
                              <p:par>
                                <p:cTn id="125" presetID="10" presetClass="entr" presetSubtype="0" fill="hold" grpId="0" nodeType="withEffect">
                                  <p:stCondLst>
                                    <p:cond delay="1540"/>
                                  </p:stCondLst>
                                  <p:childTnLst>
                                    <p:set>
                                      <p:cBhvr>
                                        <p:cTn id="126" dur="1" fill="hold">
                                          <p:stCondLst>
                                            <p:cond delay="0"/>
                                          </p:stCondLst>
                                        </p:cTn>
                                        <p:tgtEl>
                                          <p:spTgt spid="51"/>
                                        </p:tgtEl>
                                        <p:attrNameLst>
                                          <p:attrName>style.visibility</p:attrName>
                                        </p:attrNameLst>
                                      </p:cBhvr>
                                      <p:to>
                                        <p:strVal val="visible"/>
                                      </p:to>
                                    </p:set>
                                    <p:animEffect transition="in" filter="fade">
                                      <p:cBhvr>
                                        <p:cTn id="127" dur="400"/>
                                        <p:tgtEl>
                                          <p:spTgt spid="51"/>
                                        </p:tgtEl>
                                      </p:cBhvr>
                                    </p:animEffect>
                                  </p:childTnLst>
                                </p:cTn>
                              </p:par>
                              <p:par>
                                <p:cTn id="128" presetID="10" presetClass="entr" presetSubtype="0" fill="hold" grpId="0" nodeType="withEffect">
                                  <p:stCondLst>
                                    <p:cond delay="1540"/>
                                  </p:stCondLst>
                                  <p:childTnLst>
                                    <p:set>
                                      <p:cBhvr>
                                        <p:cTn id="129" dur="1" fill="hold">
                                          <p:stCondLst>
                                            <p:cond delay="0"/>
                                          </p:stCondLst>
                                        </p:cTn>
                                        <p:tgtEl>
                                          <p:spTgt spid="52"/>
                                        </p:tgtEl>
                                        <p:attrNameLst>
                                          <p:attrName>style.visibility</p:attrName>
                                        </p:attrNameLst>
                                      </p:cBhvr>
                                      <p:to>
                                        <p:strVal val="visible"/>
                                      </p:to>
                                    </p:set>
                                    <p:animEffect transition="in" filter="fade">
                                      <p:cBhvr>
                                        <p:cTn id="130" dur="400"/>
                                        <p:tgtEl>
                                          <p:spTgt spid="52"/>
                                        </p:tgtEl>
                                      </p:cBhvr>
                                    </p:animEffect>
                                  </p:childTnLst>
                                </p:cTn>
                              </p:par>
                              <p:par>
                                <p:cTn id="131" presetID="10" presetClass="entr" presetSubtype="0" fill="hold" grpId="0" nodeType="withEffect">
                                  <p:stCondLst>
                                    <p:cond delay="1540"/>
                                  </p:stCondLst>
                                  <p:childTnLst>
                                    <p:set>
                                      <p:cBhvr>
                                        <p:cTn id="132" dur="1" fill="hold">
                                          <p:stCondLst>
                                            <p:cond delay="0"/>
                                          </p:stCondLst>
                                        </p:cTn>
                                        <p:tgtEl>
                                          <p:spTgt spid="53"/>
                                        </p:tgtEl>
                                        <p:attrNameLst>
                                          <p:attrName>style.visibility</p:attrName>
                                        </p:attrNameLst>
                                      </p:cBhvr>
                                      <p:to>
                                        <p:strVal val="visible"/>
                                      </p:to>
                                    </p:set>
                                    <p:animEffect transition="in" filter="fade">
                                      <p:cBhvr>
                                        <p:cTn id="133" dur="400"/>
                                        <p:tgtEl>
                                          <p:spTgt spid="53"/>
                                        </p:tgtEl>
                                      </p:cBhvr>
                                    </p:animEffect>
                                  </p:childTnLst>
                                </p:cTn>
                              </p:par>
                              <p:par>
                                <p:cTn id="134" presetID="10" presetClass="entr" presetSubtype="0" fill="hold" grpId="0" nodeType="withEffect">
                                  <p:stCondLst>
                                    <p:cond delay="1760"/>
                                  </p:stCondLst>
                                  <p:childTnLst>
                                    <p:set>
                                      <p:cBhvr>
                                        <p:cTn id="135" dur="1" fill="hold">
                                          <p:stCondLst>
                                            <p:cond delay="0"/>
                                          </p:stCondLst>
                                        </p:cTn>
                                        <p:tgtEl>
                                          <p:spTgt spid="13"/>
                                        </p:tgtEl>
                                        <p:attrNameLst>
                                          <p:attrName>style.visibility</p:attrName>
                                        </p:attrNameLst>
                                      </p:cBhvr>
                                      <p:to>
                                        <p:strVal val="visible"/>
                                      </p:to>
                                    </p:set>
                                    <p:animEffect transition="in" filter="fade">
                                      <p:cBhvr>
                                        <p:cTn id="136" dur="400"/>
                                        <p:tgtEl>
                                          <p:spTgt spid="13"/>
                                        </p:tgtEl>
                                      </p:cBhvr>
                                    </p:animEffect>
                                  </p:childTnLst>
                                </p:cTn>
                              </p:par>
                              <p:par>
                                <p:cTn id="137" presetID="10" presetClass="entr" presetSubtype="0" fill="hold" grpId="0" nodeType="withEffect">
                                  <p:stCondLst>
                                    <p:cond delay="1760"/>
                                  </p:stCondLst>
                                  <p:childTnLst>
                                    <p:set>
                                      <p:cBhvr>
                                        <p:cTn id="138" dur="1" fill="hold">
                                          <p:stCondLst>
                                            <p:cond delay="0"/>
                                          </p:stCondLst>
                                        </p:cTn>
                                        <p:tgtEl>
                                          <p:spTgt spid="54"/>
                                        </p:tgtEl>
                                        <p:attrNameLst>
                                          <p:attrName>style.visibility</p:attrName>
                                        </p:attrNameLst>
                                      </p:cBhvr>
                                      <p:to>
                                        <p:strVal val="visible"/>
                                      </p:to>
                                    </p:set>
                                    <p:animEffect transition="in" filter="fade">
                                      <p:cBhvr>
                                        <p:cTn id="139" dur="400"/>
                                        <p:tgtEl>
                                          <p:spTgt spid="54"/>
                                        </p:tgtEl>
                                      </p:cBhvr>
                                    </p:animEffect>
                                  </p:childTnLst>
                                </p:cTn>
                              </p:par>
                              <p:par>
                                <p:cTn id="140" presetID="10" presetClass="entr" presetSubtype="0" fill="hold" grpId="0" nodeType="withEffect">
                                  <p:stCondLst>
                                    <p:cond delay="1760"/>
                                  </p:stCondLst>
                                  <p:childTnLst>
                                    <p:set>
                                      <p:cBhvr>
                                        <p:cTn id="141" dur="1" fill="hold">
                                          <p:stCondLst>
                                            <p:cond delay="0"/>
                                          </p:stCondLst>
                                        </p:cTn>
                                        <p:tgtEl>
                                          <p:spTgt spid="55"/>
                                        </p:tgtEl>
                                        <p:attrNameLst>
                                          <p:attrName>style.visibility</p:attrName>
                                        </p:attrNameLst>
                                      </p:cBhvr>
                                      <p:to>
                                        <p:strVal val="visible"/>
                                      </p:to>
                                    </p:set>
                                    <p:animEffect transition="in" filter="fade">
                                      <p:cBhvr>
                                        <p:cTn id="142" dur="400"/>
                                        <p:tgtEl>
                                          <p:spTgt spid="55"/>
                                        </p:tgtEl>
                                      </p:cBhvr>
                                    </p:animEffect>
                                  </p:childTnLst>
                                </p:cTn>
                              </p:par>
                              <p:par>
                                <p:cTn id="143" presetID="10" presetClass="entr" presetSubtype="0" fill="hold" grpId="0" nodeType="withEffect">
                                  <p:stCondLst>
                                    <p:cond delay="1760"/>
                                  </p:stCondLst>
                                  <p:childTnLst>
                                    <p:set>
                                      <p:cBhvr>
                                        <p:cTn id="144" dur="1" fill="hold">
                                          <p:stCondLst>
                                            <p:cond delay="0"/>
                                          </p:stCondLst>
                                        </p:cTn>
                                        <p:tgtEl>
                                          <p:spTgt spid="56"/>
                                        </p:tgtEl>
                                        <p:attrNameLst>
                                          <p:attrName>style.visibility</p:attrName>
                                        </p:attrNameLst>
                                      </p:cBhvr>
                                      <p:to>
                                        <p:strVal val="visible"/>
                                      </p:to>
                                    </p:set>
                                    <p:animEffect transition="in" filter="fade">
                                      <p:cBhvr>
                                        <p:cTn id="145" dur="400"/>
                                        <p:tgtEl>
                                          <p:spTgt spid="56"/>
                                        </p:tgtEl>
                                      </p:cBhvr>
                                    </p:animEffect>
                                  </p:childTnLst>
                                </p:cTn>
                              </p:par>
                              <p:par>
                                <p:cTn id="146" presetID="10" presetClass="entr" presetSubtype="0" fill="hold" grpId="0" nodeType="withEffect">
                                  <p:stCondLst>
                                    <p:cond delay="1760"/>
                                  </p:stCondLst>
                                  <p:childTnLst>
                                    <p:set>
                                      <p:cBhvr>
                                        <p:cTn id="147" dur="1" fill="hold">
                                          <p:stCondLst>
                                            <p:cond delay="0"/>
                                          </p:stCondLst>
                                        </p:cTn>
                                        <p:tgtEl>
                                          <p:spTgt spid="57"/>
                                        </p:tgtEl>
                                        <p:attrNameLst>
                                          <p:attrName>style.visibility</p:attrName>
                                        </p:attrNameLst>
                                      </p:cBhvr>
                                      <p:to>
                                        <p:strVal val="visible"/>
                                      </p:to>
                                    </p:set>
                                    <p:animEffect transition="in" filter="fade">
                                      <p:cBhvr>
                                        <p:cTn id="148" dur="400"/>
                                        <p:tgtEl>
                                          <p:spTgt spid="57"/>
                                        </p:tgtEl>
                                      </p:cBhvr>
                                    </p:animEffect>
                                  </p:childTnLst>
                                </p:cTn>
                              </p:par>
                              <p:par>
                                <p:cTn id="149" presetID="10" presetClass="entr" presetSubtype="0" fill="hold" grpId="0" nodeType="withEffect">
                                  <p:stCondLst>
                                    <p:cond delay="1760"/>
                                  </p:stCondLst>
                                  <p:childTnLst>
                                    <p:set>
                                      <p:cBhvr>
                                        <p:cTn id="150" dur="1" fill="hold">
                                          <p:stCondLst>
                                            <p:cond delay="0"/>
                                          </p:stCondLst>
                                        </p:cTn>
                                        <p:tgtEl>
                                          <p:spTgt spid="58"/>
                                        </p:tgtEl>
                                        <p:attrNameLst>
                                          <p:attrName>style.visibility</p:attrName>
                                        </p:attrNameLst>
                                      </p:cBhvr>
                                      <p:to>
                                        <p:strVal val="visible"/>
                                      </p:to>
                                    </p:set>
                                    <p:animEffect transition="in" filter="fade">
                                      <p:cBhvr>
                                        <p:cTn id="151" dur="400"/>
                                        <p:tgtEl>
                                          <p:spTgt spid="58"/>
                                        </p:tgtEl>
                                      </p:cBhvr>
                                    </p:animEffect>
                                  </p:childTnLst>
                                </p:cTn>
                              </p:par>
                              <p:par>
                                <p:cTn id="152" presetID="10" presetClass="entr" presetSubtype="0" fill="hold" grpId="0" nodeType="withEffect">
                                  <p:stCondLst>
                                    <p:cond delay="1760"/>
                                  </p:stCondLst>
                                  <p:childTnLst>
                                    <p:set>
                                      <p:cBhvr>
                                        <p:cTn id="153" dur="1" fill="hold">
                                          <p:stCondLst>
                                            <p:cond delay="0"/>
                                          </p:stCondLst>
                                        </p:cTn>
                                        <p:tgtEl>
                                          <p:spTgt spid="59"/>
                                        </p:tgtEl>
                                        <p:attrNameLst>
                                          <p:attrName>style.visibility</p:attrName>
                                        </p:attrNameLst>
                                      </p:cBhvr>
                                      <p:to>
                                        <p:strVal val="visible"/>
                                      </p:to>
                                    </p:set>
                                    <p:animEffect transition="in" filter="fade">
                                      <p:cBhvr>
                                        <p:cTn id="154" dur="400"/>
                                        <p:tgtEl>
                                          <p:spTgt spid="59"/>
                                        </p:tgtEl>
                                      </p:cBhvr>
                                    </p:animEffect>
                                  </p:childTnLst>
                                </p:cTn>
                              </p:par>
                              <p:par>
                                <p:cTn id="155" presetID="10" presetClass="entr" presetSubtype="0" fill="hold" grpId="0" nodeType="withEffect">
                                  <p:stCondLst>
                                    <p:cond delay="1760"/>
                                  </p:stCondLst>
                                  <p:childTnLst>
                                    <p:set>
                                      <p:cBhvr>
                                        <p:cTn id="156" dur="1" fill="hold">
                                          <p:stCondLst>
                                            <p:cond delay="0"/>
                                          </p:stCondLst>
                                        </p:cTn>
                                        <p:tgtEl>
                                          <p:spTgt spid="60"/>
                                        </p:tgtEl>
                                        <p:attrNameLst>
                                          <p:attrName>style.visibility</p:attrName>
                                        </p:attrNameLst>
                                      </p:cBhvr>
                                      <p:to>
                                        <p:strVal val="visible"/>
                                      </p:to>
                                    </p:set>
                                    <p:animEffect transition="in" filter="fade">
                                      <p:cBhvr>
                                        <p:cTn id="157"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13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BƯỚC 4 · XÁC NHẬN &amp; THÔNG BÁO</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Xác nhận một lần, hai bộ phận cùng nhận thông tin</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Shape 8"/>
          <p:cNvSpPr/>
          <p:nvPr/>
        </p:nvSpPr>
        <p:spPr>
          <a:xfrm>
            <a:off x="713232" y="1653286"/>
            <a:ext cx="3926434" cy="4573829"/>
          </a:xfrm>
          <a:prstGeom prst="roundRect">
            <a:avLst>
              <a:gd name="adj" fmla="val 3726"/>
            </a:avLst>
          </a:prstGeom>
          <a:solidFill>
            <a:srgbClr val="FBBF24">
              <a:alpha val="10000"/>
            </a:srgbClr>
          </a:solidFill>
          <a:ln w="19050">
            <a:solidFill>
              <a:srgbClr val="FBBF24">
                <a:alpha val="55000"/>
              </a:srgbClr>
            </a:solidFill>
            <a:prstDash val="solid"/>
          </a:ln>
        </p:spPr>
      </p:sp>
      <p:sp>
        <p:nvSpPr>
          <p:cNvPr id="13" name="Shape 9"/>
          <p:cNvSpPr/>
          <p:nvPr/>
        </p:nvSpPr>
        <p:spPr>
          <a:xfrm>
            <a:off x="1220724" y="1735582"/>
            <a:ext cx="1582763" cy="274320"/>
          </a:xfrm>
          <a:prstGeom prst="roundRect">
            <a:avLst>
              <a:gd name="adj" fmla="val 50000"/>
            </a:avLst>
          </a:prstGeom>
          <a:solidFill>
            <a:srgbClr val="FBBF24"/>
          </a:solidFill>
          <a:ln/>
        </p:spPr>
      </p:sp>
      <p:sp>
        <p:nvSpPr>
          <p:cNvPr id="14" name="Text 10"/>
          <p:cNvSpPr/>
          <p:nvPr/>
        </p:nvSpPr>
        <p:spPr>
          <a:xfrm>
            <a:off x="1403604" y="1760156"/>
            <a:ext cx="1399883" cy="261747"/>
          </a:xfrm>
          <a:prstGeom prst="rect">
            <a:avLst/>
          </a:prstGeom>
          <a:noFill/>
          <a:ln/>
        </p:spPr>
        <p:txBody>
          <a:bodyPr wrap="square" lIns="0" tIns="0" rIns="0" bIns="0" rtlCol="0" anchor="t"/>
          <a:lstStyle/>
          <a:p>
            <a:pPr algn="l" indent="0" marL="0">
              <a:lnSpc>
                <a:spcPts val="1485"/>
              </a:lnSpc>
              <a:buNone/>
            </a:pPr>
            <a:r>
              <a:rPr lang="en-US" sz="1100" b="1" spc="160" kern="0" dirty="0">
                <a:solidFill>
                  <a:srgbClr val="04101F"/>
                </a:solidFill>
                <a:latin typeface="Be Vietnam Pro" pitchFamily="34" charset="0"/>
                <a:ea typeface="Be Vietnam Pro" pitchFamily="34" charset="-122"/>
                <a:cs typeface="Be Vietnam Pro" pitchFamily="34" charset="-120"/>
              </a:rPr>
              <a:t>BỘ PHẬN KHO</a:t>
            </a:r>
            <a:endParaRPr lang="en-US" sz="1100" dirty="0"/>
          </a:p>
        </p:txBody>
      </p:sp>
      <p:pic>
        <p:nvPicPr>
          <p:cNvPr id="15" name="Image 2" descr="anh/da-cat/kho-chuan-bi.png">    </p:cNvPr>
          <p:cNvPicPr>
            <a:picLocks noChangeAspect="1"/>
          </p:cNvPicPr>
          <p:nvPr/>
        </p:nvPicPr>
        <p:blipFill>
          <a:blip r:embed="rId3"/>
          <a:stretch>
            <a:fillRect/>
          </a:stretch>
        </p:blipFill>
        <p:spPr>
          <a:xfrm>
            <a:off x="1220724" y="2073910"/>
            <a:ext cx="2911450" cy="4070909"/>
          </a:xfrm>
          <a:prstGeom prst="roundRect">
            <a:avLst>
              <a:gd name="adj" fmla="val 3769"/>
            </a:avLst>
          </a:prstGeom>
        </p:spPr>
      </p:pic>
      <p:sp>
        <p:nvSpPr>
          <p:cNvPr id="16" name="Shape 11"/>
          <p:cNvSpPr/>
          <p:nvPr/>
        </p:nvSpPr>
        <p:spPr>
          <a:xfrm>
            <a:off x="1220724" y="2073910"/>
            <a:ext cx="2911450" cy="4070909"/>
          </a:xfrm>
          <a:prstGeom prst="roundRect">
            <a:avLst>
              <a:gd name="adj" fmla="val 3769"/>
            </a:avLst>
          </a:prstGeom>
          <a:solidFill>
            <a:srgbClr val="FFFFFF">
              <a:alpha val="0"/>
            </a:srgbClr>
          </a:solidFill>
          <a:ln w="12700">
            <a:solidFill>
              <a:srgbClr val="FFFFFF">
                <a:alpha val="18000"/>
              </a:srgbClr>
            </a:solidFill>
            <a:prstDash val="solid"/>
          </a:ln>
        </p:spPr>
      </p:sp>
      <p:sp>
        <p:nvSpPr>
          <p:cNvPr id="17" name="Shape 12"/>
          <p:cNvSpPr/>
          <p:nvPr/>
        </p:nvSpPr>
        <p:spPr>
          <a:xfrm>
            <a:off x="4913986" y="1653286"/>
            <a:ext cx="6564478" cy="4573829"/>
          </a:xfrm>
          <a:prstGeom prst="roundRect">
            <a:avLst>
              <a:gd name="adj" fmla="val 3199"/>
            </a:avLst>
          </a:prstGeom>
          <a:solidFill>
            <a:srgbClr val="38BDF8">
              <a:alpha val="10000"/>
            </a:srgbClr>
          </a:solidFill>
          <a:ln w="19050">
            <a:solidFill>
              <a:srgbClr val="38BDF8">
                <a:alpha val="55000"/>
              </a:srgbClr>
            </a:solidFill>
            <a:prstDash val="solid"/>
          </a:ln>
        </p:spPr>
      </p:sp>
      <p:sp>
        <p:nvSpPr>
          <p:cNvPr id="18" name="Shape 13"/>
          <p:cNvSpPr/>
          <p:nvPr/>
        </p:nvSpPr>
        <p:spPr>
          <a:xfrm>
            <a:off x="5421478" y="1735582"/>
            <a:ext cx="1423860" cy="274320"/>
          </a:xfrm>
          <a:prstGeom prst="roundRect">
            <a:avLst>
              <a:gd name="adj" fmla="val 50000"/>
            </a:avLst>
          </a:prstGeom>
          <a:solidFill>
            <a:srgbClr val="38BDF8"/>
          </a:solidFill>
          <a:ln/>
        </p:spPr>
      </p:sp>
      <p:sp>
        <p:nvSpPr>
          <p:cNvPr id="19" name="Text 14"/>
          <p:cNvSpPr/>
          <p:nvPr/>
        </p:nvSpPr>
        <p:spPr>
          <a:xfrm>
            <a:off x="5604358" y="1760156"/>
            <a:ext cx="1240981" cy="261747"/>
          </a:xfrm>
          <a:prstGeom prst="rect">
            <a:avLst/>
          </a:prstGeom>
          <a:noFill/>
          <a:ln/>
        </p:spPr>
        <p:txBody>
          <a:bodyPr wrap="square" lIns="0" tIns="0" rIns="0" bIns="0" rtlCol="0" anchor="t"/>
          <a:lstStyle/>
          <a:p>
            <a:pPr algn="l" indent="0" marL="0">
              <a:lnSpc>
                <a:spcPts val="1485"/>
              </a:lnSpc>
              <a:buNone/>
            </a:pPr>
            <a:r>
              <a:rPr lang="en-US" sz="1100" b="1" spc="160" kern="0" dirty="0">
                <a:solidFill>
                  <a:srgbClr val="04101F"/>
                </a:solidFill>
                <a:latin typeface="Be Vietnam Pro" pitchFamily="34" charset="0"/>
                <a:ea typeface="Be Vietnam Pro" pitchFamily="34" charset="-122"/>
                <a:cs typeface="Be Vietnam Pro" pitchFamily="34" charset="-120"/>
              </a:rPr>
              <a:t>ĐỘI CỨU HỘ</a:t>
            </a:r>
            <a:endParaRPr lang="en-US" sz="1100" dirty="0"/>
          </a:p>
        </p:txBody>
      </p:sp>
      <p:pic>
        <p:nvPicPr>
          <p:cNvPr id="20" name="Image 3" descr="anh/da-cat/doi-cuu-ho-ban-do.png">    </p:cNvPr>
          <p:cNvPicPr>
            <a:picLocks noChangeAspect="1"/>
          </p:cNvPicPr>
          <p:nvPr/>
        </p:nvPicPr>
        <p:blipFill>
          <a:blip r:embed="rId4"/>
          <a:stretch>
            <a:fillRect/>
          </a:stretch>
        </p:blipFill>
        <p:spPr>
          <a:xfrm>
            <a:off x="5421478" y="2073910"/>
            <a:ext cx="3055010" cy="4070909"/>
          </a:xfrm>
          <a:prstGeom prst="roundRect">
            <a:avLst>
              <a:gd name="adj" fmla="val 3592"/>
            </a:avLst>
          </a:prstGeom>
        </p:spPr>
      </p:pic>
      <p:sp>
        <p:nvSpPr>
          <p:cNvPr id="21" name="Shape 15"/>
          <p:cNvSpPr/>
          <p:nvPr/>
        </p:nvSpPr>
        <p:spPr>
          <a:xfrm>
            <a:off x="5421478" y="2073910"/>
            <a:ext cx="3055010" cy="4070909"/>
          </a:xfrm>
          <a:prstGeom prst="roundRect">
            <a:avLst>
              <a:gd name="adj" fmla="val 3592"/>
            </a:avLst>
          </a:prstGeom>
          <a:solidFill>
            <a:srgbClr val="FFFFFF">
              <a:alpha val="0"/>
            </a:srgbClr>
          </a:solidFill>
          <a:ln w="12700">
            <a:solidFill>
              <a:srgbClr val="FFFFFF">
                <a:alpha val="18000"/>
              </a:srgbClr>
            </a:solidFill>
            <a:prstDash val="solid"/>
          </a:ln>
        </p:spPr>
      </p:sp>
      <p:pic>
        <p:nvPicPr>
          <p:cNvPr id="22" name="Image 4" descr="anh/da-cat/doi-cuu-ho-kho.png">    </p:cNvPr>
          <p:cNvPicPr>
            <a:picLocks noChangeAspect="1"/>
          </p:cNvPicPr>
          <p:nvPr/>
        </p:nvPicPr>
        <p:blipFill>
          <a:blip r:embed="rId5"/>
          <a:stretch>
            <a:fillRect/>
          </a:stretch>
        </p:blipFill>
        <p:spPr>
          <a:xfrm>
            <a:off x="8659368" y="2073910"/>
            <a:ext cx="2311603" cy="4070909"/>
          </a:xfrm>
          <a:prstGeom prst="roundRect">
            <a:avLst>
              <a:gd name="adj" fmla="val 4747"/>
            </a:avLst>
          </a:prstGeom>
        </p:spPr>
      </p:pic>
      <p:sp>
        <p:nvSpPr>
          <p:cNvPr id="23" name="Shape 16"/>
          <p:cNvSpPr/>
          <p:nvPr/>
        </p:nvSpPr>
        <p:spPr>
          <a:xfrm>
            <a:off x="8659368" y="2073910"/>
            <a:ext cx="2311603" cy="4070909"/>
          </a:xfrm>
          <a:prstGeom prst="roundRect">
            <a:avLst>
              <a:gd name="adj" fmla="val 4747"/>
            </a:avLst>
          </a:prstGeom>
          <a:solidFill>
            <a:srgbClr val="FFFFFF">
              <a:alpha val="0"/>
            </a:srgbClr>
          </a:solidFill>
          <a:ln w="12700">
            <a:solidFill>
              <a:srgbClr val="FFFFFF">
                <a:alpha val="18000"/>
              </a:srgbClr>
            </a:solidFill>
            <a:prstDash val="solid"/>
          </a:ln>
        </p:spPr>
      </p:sp>
      <p:sp>
        <p:nvSpPr>
          <p:cNvPr id="24" name="Text 17"/>
          <p:cNvSpPr/>
          <p:nvPr/>
        </p:nvSpPr>
        <p:spPr>
          <a:xfrm>
            <a:off x="713232" y="6382512"/>
            <a:ext cx="6492240" cy="236030"/>
          </a:xfrm>
          <a:prstGeom prst="rect">
            <a:avLst/>
          </a:prstGeom>
          <a:noFill/>
          <a:ln/>
        </p:spPr>
        <p:txBody>
          <a:bodyPr wrap="square" lIns="0" tIns="0" rIns="0" bIns="0" rtlCol="0" anchor="t"/>
          <a:lstStyle/>
          <a:p>
            <a:pPr algn="l"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Nguồn: màn hình thật trên hệ thống Ứng Phó Nhanh.</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66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66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88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88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88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400"/>
                                        <p:tgtEl>
                                          <p:spTgt spid="24"/>
                                        </p:tgtEl>
                                      </p:cBhvr>
                                    </p:animEffect>
                                  </p:childTnLst>
                                </p:cTn>
                              </p:par>
                              <p:par>
                                <p:cTn id="29" presetID="10" presetClass="entr" presetSubtype="0" fill="hold" grpId="0" nodeType="withEffect">
                                  <p:stCondLst>
                                    <p:cond delay="110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132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par>
                                <p:cTn id="35" presetID="10" presetClass="entr" presetSubtype="0" fill="hold" grpId="0" nodeType="withEffect">
                                  <p:stCondLst>
                                    <p:cond delay="132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childTnLst>
                                </p:cTn>
                              </p:par>
                              <p:par>
                                <p:cTn id="38" presetID="10" presetClass="entr" presetSubtype="0" fill="hold" grpId="0" nodeType="withEffect">
                                  <p:stCondLst>
                                    <p:cond delay="154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withEffect">
                                  <p:stCondLst>
                                    <p:cond delay="154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withEffect">
                                  <p:stCondLst>
                                    <p:cond delay="176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par>
                                <p:cTn id="47" presetID="10" presetClass="entr" presetSubtype="0" fill="hold" grpId="0" nodeType="withEffect">
                                  <p:stCondLst>
                                    <p:cond delay="176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14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QUY TRÌNH ĐIỀU PHỐI CỨU HỘ · BƯỚC 5 / 6</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Hoàn thành nhiệm vụ và gửi bằng chứng</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Shape 8"/>
          <p:cNvSpPr/>
          <p:nvPr/>
        </p:nvSpPr>
        <p:spPr>
          <a:xfrm rot="5400000">
            <a:off x="4144670" y="2602420"/>
            <a:ext cx="219456" cy="219456"/>
          </a:xfrm>
          <a:prstGeom prst="triangle">
            <a:avLst/>
          </a:prstGeom>
          <a:solidFill>
            <a:srgbClr val="22C55E">
              <a:alpha val="75000"/>
            </a:srgbClr>
          </a:solidFill>
          <a:ln/>
        </p:spPr>
      </p:sp>
      <p:sp>
        <p:nvSpPr>
          <p:cNvPr id="13" name="Shape 9"/>
          <p:cNvSpPr/>
          <p:nvPr/>
        </p:nvSpPr>
        <p:spPr>
          <a:xfrm rot="16200000">
            <a:off x="4135526" y="5012753"/>
            <a:ext cx="219456" cy="219456"/>
          </a:xfrm>
          <a:prstGeom prst="triangle">
            <a:avLst/>
          </a:prstGeom>
          <a:solidFill>
            <a:srgbClr val="22C55E">
              <a:alpha val="75000"/>
            </a:srgbClr>
          </a:solidFill>
          <a:ln/>
        </p:spPr>
      </p:sp>
      <p:sp>
        <p:nvSpPr>
          <p:cNvPr id="14" name="Shape 10"/>
          <p:cNvSpPr/>
          <p:nvPr/>
        </p:nvSpPr>
        <p:spPr>
          <a:xfrm rot="5400000">
            <a:off x="7836713" y="2602420"/>
            <a:ext cx="219456" cy="219456"/>
          </a:xfrm>
          <a:prstGeom prst="triangle">
            <a:avLst/>
          </a:prstGeom>
          <a:solidFill>
            <a:srgbClr val="22C55E">
              <a:alpha val="75000"/>
            </a:srgbClr>
          </a:solidFill>
          <a:ln/>
        </p:spPr>
      </p:sp>
      <p:sp>
        <p:nvSpPr>
          <p:cNvPr id="15" name="Shape 11"/>
          <p:cNvSpPr/>
          <p:nvPr/>
        </p:nvSpPr>
        <p:spPr>
          <a:xfrm rot="16200000">
            <a:off x="7827569" y="5012753"/>
            <a:ext cx="219456" cy="219456"/>
          </a:xfrm>
          <a:prstGeom prst="triangle">
            <a:avLst/>
          </a:prstGeom>
          <a:solidFill>
            <a:srgbClr val="22C55E">
              <a:alpha val="75000"/>
            </a:srgbClr>
          </a:solidFill>
          <a:ln/>
        </p:spPr>
      </p:sp>
      <p:sp>
        <p:nvSpPr>
          <p:cNvPr id="16" name="Shape 12"/>
          <p:cNvSpPr/>
          <p:nvPr/>
        </p:nvSpPr>
        <p:spPr>
          <a:xfrm>
            <a:off x="9777832" y="3716147"/>
            <a:ext cx="20117" cy="246888"/>
          </a:xfrm>
          <a:prstGeom prst="rect">
            <a:avLst/>
          </a:prstGeom>
          <a:solidFill>
            <a:srgbClr val="2E7D55">
              <a:alpha val="85000"/>
            </a:srgbClr>
          </a:solidFill>
          <a:ln/>
        </p:spPr>
      </p:sp>
      <p:sp>
        <p:nvSpPr>
          <p:cNvPr id="17" name="Shape 13"/>
          <p:cNvSpPr/>
          <p:nvPr/>
        </p:nvSpPr>
        <p:spPr>
          <a:xfrm rot="10800000">
            <a:off x="9696450" y="3940175"/>
            <a:ext cx="182880" cy="182880"/>
          </a:xfrm>
          <a:prstGeom prst="triangle">
            <a:avLst/>
          </a:prstGeom>
          <a:solidFill>
            <a:srgbClr val="22C55E">
              <a:alpha val="75000"/>
            </a:srgbClr>
          </a:solidFill>
          <a:ln/>
        </p:spPr>
      </p:sp>
      <p:sp>
        <p:nvSpPr>
          <p:cNvPr id="18" name="Shape 14"/>
          <p:cNvSpPr/>
          <p:nvPr/>
        </p:nvSpPr>
        <p:spPr>
          <a:xfrm>
            <a:off x="713232" y="1708150"/>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19" name="Shape 15"/>
          <p:cNvSpPr/>
          <p:nvPr/>
        </p:nvSpPr>
        <p:spPr>
          <a:xfrm>
            <a:off x="713232" y="1708150"/>
            <a:ext cx="50292" cy="2007997"/>
          </a:xfrm>
          <a:prstGeom prst="roundRect">
            <a:avLst>
              <a:gd name="adj" fmla="val 54545"/>
            </a:avLst>
          </a:prstGeom>
          <a:solidFill>
            <a:srgbClr val="3C5468">
              <a:alpha val="95000"/>
            </a:srgbClr>
          </a:solidFill>
          <a:ln/>
        </p:spPr>
      </p:sp>
      <p:sp>
        <p:nvSpPr>
          <p:cNvPr id="20" name="Shape 16"/>
          <p:cNvSpPr/>
          <p:nvPr/>
        </p:nvSpPr>
        <p:spPr>
          <a:xfrm>
            <a:off x="987552" y="2062924"/>
            <a:ext cx="420624" cy="420624"/>
          </a:xfrm>
          <a:prstGeom prst="roundRect">
            <a:avLst>
              <a:gd name="adj" fmla="val 50000"/>
            </a:avLst>
          </a:prstGeom>
          <a:solidFill>
            <a:srgbClr val="04101F">
              <a:alpha val="88000"/>
            </a:srgbClr>
          </a:solidFill>
          <a:ln/>
        </p:spPr>
      </p:sp>
      <p:sp>
        <p:nvSpPr>
          <p:cNvPr id="21" name="Shape 17"/>
          <p:cNvSpPr/>
          <p:nvPr/>
        </p:nvSpPr>
        <p:spPr>
          <a:xfrm>
            <a:off x="987552" y="2062924"/>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22" name="Text 18"/>
          <p:cNvSpPr/>
          <p:nvPr/>
        </p:nvSpPr>
        <p:spPr>
          <a:xfrm>
            <a:off x="941832"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1</a:t>
            </a:r>
            <a:endParaRPr lang="en-US" sz="1500" dirty="0"/>
          </a:p>
        </p:txBody>
      </p:sp>
      <p:sp>
        <p:nvSpPr>
          <p:cNvPr id="23" name="Text 19"/>
          <p:cNvSpPr/>
          <p:nvPr/>
        </p:nvSpPr>
        <p:spPr>
          <a:xfrm>
            <a:off x="1536192" y="2108644"/>
            <a:ext cx="2393594" cy="29540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Ghi nhận tình huống</a:t>
            </a:r>
            <a:endParaRPr lang="en-US" sz="1400" dirty="0"/>
          </a:p>
        </p:txBody>
      </p:sp>
      <p:sp>
        <p:nvSpPr>
          <p:cNvPr id="24" name="Text 20"/>
          <p:cNvSpPr/>
          <p:nvPr/>
        </p:nvSpPr>
        <p:spPr>
          <a:xfrm>
            <a:off x="987552" y="2721292"/>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Trưởng thôn báo cáo và đánh dấu điểm</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gặp nạn trên bản đồ.</a:t>
            </a:r>
            <a:endParaRPr lang="en-US" sz="1150" dirty="0"/>
          </a:p>
        </p:txBody>
      </p:sp>
      <p:sp>
        <p:nvSpPr>
          <p:cNvPr id="25" name="Shape 21"/>
          <p:cNvSpPr/>
          <p:nvPr/>
        </p:nvSpPr>
        <p:spPr>
          <a:xfrm>
            <a:off x="4405274" y="1708150"/>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26" name="Shape 22"/>
          <p:cNvSpPr/>
          <p:nvPr/>
        </p:nvSpPr>
        <p:spPr>
          <a:xfrm>
            <a:off x="4405274" y="1708150"/>
            <a:ext cx="50292" cy="2007997"/>
          </a:xfrm>
          <a:prstGeom prst="roundRect">
            <a:avLst>
              <a:gd name="adj" fmla="val 54545"/>
            </a:avLst>
          </a:prstGeom>
          <a:solidFill>
            <a:srgbClr val="3C5468">
              <a:alpha val="95000"/>
            </a:srgbClr>
          </a:solidFill>
          <a:ln/>
        </p:spPr>
      </p:sp>
      <p:sp>
        <p:nvSpPr>
          <p:cNvPr id="27" name="Shape 23"/>
          <p:cNvSpPr/>
          <p:nvPr/>
        </p:nvSpPr>
        <p:spPr>
          <a:xfrm>
            <a:off x="4679594" y="2062924"/>
            <a:ext cx="420624" cy="420624"/>
          </a:xfrm>
          <a:prstGeom prst="roundRect">
            <a:avLst>
              <a:gd name="adj" fmla="val 50000"/>
            </a:avLst>
          </a:prstGeom>
          <a:solidFill>
            <a:srgbClr val="04101F">
              <a:alpha val="88000"/>
            </a:srgbClr>
          </a:solidFill>
          <a:ln/>
        </p:spPr>
      </p:sp>
      <p:sp>
        <p:nvSpPr>
          <p:cNvPr id="28" name="Shape 24"/>
          <p:cNvSpPr/>
          <p:nvPr/>
        </p:nvSpPr>
        <p:spPr>
          <a:xfrm>
            <a:off x="4679594" y="2062924"/>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29" name="Text 25"/>
          <p:cNvSpPr/>
          <p:nvPr/>
        </p:nvSpPr>
        <p:spPr>
          <a:xfrm>
            <a:off x="4633874"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2</a:t>
            </a:r>
            <a:endParaRPr lang="en-US" sz="1500" dirty="0"/>
          </a:p>
        </p:txBody>
      </p:sp>
      <p:sp>
        <p:nvSpPr>
          <p:cNvPr id="30" name="Text 26"/>
          <p:cNvSpPr/>
          <p:nvPr/>
        </p:nvSpPr>
        <p:spPr>
          <a:xfrm>
            <a:off x="5228234" y="2108644"/>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AI hỗ trợ phân tích và</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đề xuất vật tư</a:t>
            </a:r>
            <a:endParaRPr lang="en-US" sz="1400" dirty="0"/>
          </a:p>
        </p:txBody>
      </p:sp>
      <p:sp>
        <p:nvSpPr>
          <p:cNvPr id="31" name="Text 27"/>
          <p:cNvSpPr/>
          <p:nvPr/>
        </p:nvSpPr>
        <p:spPr>
          <a:xfrm>
            <a:off x="4679594" y="2721292"/>
            <a:ext cx="2923946" cy="695325"/>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AI đọc mô tả bằng lời thành số liệu và</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đề xuất vật tư, người điều phối sẽ chốt</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phương án.</a:t>
            </a:r>
            <a:endParaRPr lang="en-US" sz="1150" dirty="0"/>
          </a:p>
        </p:txBody>
      </p:sp>
      <p:sp>
        <p:nvSpPr>
          <p:cNvPr id="32" name="Shape 28"/>
          <p:cNvSpPr/>
          <p:nvPr/>
        </p:nvSpPr>
        <p:spPr>
          <a:xfrm>
            <a:off x="8097317" y="1708150"/>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33" name="Shape 29"/>
          <p:cNvSpPr/>
          <p:nvPr/>
        </p:nvSpPr>
        <p:spPr>
          <a:xfrm>
            <a:off x="8097317" y="1708150"/>
            <a:ext cx="50292" cy="2007997"/>
          </a:xfrm>
          <a:prstGeom prst="roundRect">
            <a:avLst>
              <a:gd name="adj" fmla="val 54545"/>
            </a:avLst>
          </a:prstGeom>
          <a:solidFill>
            <a:srgbClr val="3C5468">
              <a:alpha val="95000"/>
            </a:srgbClr>
          </a:solidFill>
          <a:ln/>
        </p:spPr>
      </p:sp>
      <p:sp>
        <p:nvSpPr>
          <p:cNvPr id="34" name="Shape 30"/>
          <p:cNvSpPr/>
          <p:nvPr/>
        </p:nvSpPr>
        <p:spPr>
          <a:xfrm>
            <a:off x="8371637" y="2062924"/>
            <a:ext cx="420624" cy="420624"/>
          </a:xfrm>
          <a:prstGeom prst="roundRect">
            <a:avLst>
              <a:gd name="adj" fmla="val 50000"/>
            </a:avLst>
          </a:prstGeom>
          <a:solidFill>
            <a:srgbClr val="04101F">
              <a:alpha val="88000"/>
            </a:srgbClr>
          </a:solidFill>
          <a:ln/>
        </p:spPr>
      </p:sp>
      <p:sp>
        <p:nvSpPr>
          <p:cNvPr id="35" name="Shape 31"/>
          <p:cNvSpPr/>
          <p:nvPr/>
        </p:nvSpPr>
        <p:spPr>
          <a:xfrm>
            <a:off x="8371637" y="2062924"/>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36" name="Text 32"/>
          <p:cNvSpPr/>
          <p:nvPr/>
        </p:nvSpPr>
        <p:spPr>
          <a:xfrm>
            <a:off x="8325917"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3</a:t>
            </a:r>
            <a:endParaRPr lang="en-US" sz="1500" dirty="0"/>
          </a:p>
        </p:txBody>
      </p:sp>
      <p:sp>
        <p:nvSpPr>
          <p:cNvPr id="37" name="Text 33"/>
          <p:cNvSpPr/>
          <p:nvPr/>
        </p:nvSpPr>
        <p:spPr>
          <a:xfrm>
            <a:off x="8920277" y="2108644"/>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Chọn kho tiếp tế gần</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điểm gặp nạn nhất</a:t>
            </a:r>
            <a:endParaRPr lang="en-US" sz="1400" dirty="0"/>
          </a:p>
        </p:txBody>
      </p:sp>
      <p:sp>
        <p:nvSpPr>
          <p:cNvPr id="38" name="Text 34"/>
          <p:cNvSpPr/>
          <p:nvPr/>
        </p:nvSpPr>
        <p:spPr>
          <a:xfrm>
            <a:off x="8371637" y="2721292"/>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Hệ thống cân nhắc vị trí, tồn kho và khả</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năng đáp ứng của từng kho.</a:t>
            </a:r>
            <a:endParaRPr lang="en-US" sz="1150" dirty="0"/>
          </a:p>
        </p:txBody>
      </p:sp>
      <p:sp>
        <p:nvSpPr>
          <p:cNvPr id="39" name="Shape 35"/>
          <p:cNvSpPr/>
          <p:nvPr/>
        </p:nvSpPr>
        <p:spPr>
          <a:xfrm>
            <a:off x="8097317" y="4118483"/>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40" name="Shape 36"/>
          <p:cNvSpPr/>
          <p:nvPr/>
        </p:nvSpPr>
        <p:spPr>
          <a:xfrm>
            <a:off x="8097317" y="4118483"/>
            <a:ext cx="50292" cy="2007997"/>
          </a:xfrm>
          <a:prstGeom prst="roundRect">
            <a:avLst>
              <a:gd name="adj" fmla="val 54545"/>
            </a:avLst>
          </a:prstGeom>
          <a:solidFill>
            <a:srgbClr val="3C5468">
              <a:alpha val="95000"/>
            </a:srgbClr>
          </a:solidFill>
          <a:ln/>
        </p:spPr>
      </p:sp>
      <p:sp>
        <p:nvSpPr>
          <p:cNvPr id="41" name="Shape 37"/>
          <p:cNvSpPr/>
          <p:nvPr/>
        </p:nvSpPr>
        <p:spPr>
          <a:xfrm>
            <a:off x="8371637" y="4473257"/>
            <a:ext cx="420624" cy="420624"/>
          </a:xfrm>
          <a:prstGeom prst="roundRect">
            <a:avLst>
              <a:gd name="adj" fmla="val 50000"/>
            </a:avLst>
          </a:prstGeom>
          <a:solidFill>
            <a:srgbClr val="04101F">
              <a:alpha val="88000"/>
            </a:srgbClr>
          </a:solidFill>
          <a:ln/>
        </p:spPr>
      </p:sp>
      <p:sp>
        <p:nvSpPr>
          <p:cNvPr id="42" name="Shape 38"/>
          <p:cNvSpPr/>
          <p:nvPr/>
        </p:nvSpPr>
        <p:spPr>
          <a:xfrm>
            <a:off x="8371637" y="4473257"/>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43" name="Text 39"/>
          <p:cNvSpPr/>
          <p:nvPr/>
        </p:nvSpPr>
        <p:spPr>
          <a:xfrm>
            <a:off x="8325917"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4</a:t>
            </a:r>
            <a:endParaRPr lang="en-US" sz="1500" dirty="0"/>
          </a:p>
        </p:txBody>
      </p:sp>
      <p:sp>
        <p:nvSpPr>
          <p:cNvPr id="44" name="Text 40"/>
          <p:cNvSpPr/>
          <p:nvPr/>
        </p:nvSpPr>
        <p:spPr>
          <a:xfrm>
            <a:off x="8920277" y="4518977"/>
            <a:ext cx="2393594" cy="29540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Xác nhận &amp; thông báo</a:t>
            </a:r>
            <a:endParaRPr lang="en-US" sz="1400" dirty="0"/>
          </a:p>
        </p:txBody>
      </p:sp>
      <p:sp>
        <p:nvSpPr>
          <p:cNvPr id="45" name="Text 41"/>
          <p:cNvSpPr/>
          <p:nvPr/>
        </p:nvSpPr>
        <p:spPr>
          <a:xfrm>
            <a:off x="8371637" y="5131626"/>
            <a:ext cx="2923946" cy="695325"/>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Kho phụ trách nhận lệnh chuẩn bị, xuất</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vật tư; đội cứu hộ nhận nhiệm vụ cùng</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lúc.</a:t>
            </a:r>
            <a:endParaRPr lang="en-US" sz="1150" dirty="0"/>
          </a:p>
        </p:txBody>
      </p:sp>
      <p:sp>
        <p:nvSpPr>
          <p:cNvPr id="46" name="Shape 42"/>
          <p:cNvSpPr/>
          <p:nvPr/>
        </p:nvSpPr>
        <p:spPr>
          <a:xfrm>
            <a:off x="4350410" y="4063619"/>
            <a:ext cx="3490874" cy="2117725"/>
          </a:xfrm>
          <a:prstGeom prst="roundRect">
            <a:avLst>
              <a:gd name="adj" fmla="val 6909"/>
            </a:avLst>
          </a:prstGeom>
          <a:solidFill>
            <a:srgbClr val="22C55E">
              <a:alpha val="18000"/>
            </a:srgbClr>
          </a:solidFill>
          <a:ln/>
        </p:spPr>
      </p:sp>
      <p:sp>
        <p:nvSpPr>
          <p:cNvPr id="47" name="Shape 43"/>
          <p:cNvSpPr/>
          <p:nvPr/>
        </p:nvSpPr>
        <p:spPr>
          <a:xfrm>
            <a:off x="4405274" y="4118483"/>
            <a:ext cx="3381146" cy="2007997"/>
          </a:xfrm>
          <a:prstGeom prst="roundRect">
            <a:avLst>
              <a:gd name="adj" fmla="val 5465"/>
            </a:avLst>
          </a:prstGeom>
          <a:solidFill>
            <a:srgbClr val="091B2D">
              <a:alpha val="78000"/>
            </a:srgbClr>
          </a:solidFill>
          <a:ln w="19050">
            <a:solidFill>
              <a:srgbClr val="22C55E">
                <a:alpha val="50000"/>
              </a:srgbClr>
            </a:solidFill>
            <a:prstDash val="solid"/>
          </a:ln>
        </p:spPr>
      </p:sp>
      <p:sp>
        <p:nvSpPr>
          <p:cNvPr id="48" name="Shape 44"/>
          <p:cNvSpPr/>
          <p:nvPr/>
        </p:nvSpPr>
        <p:spPr>
          <a:xfrm>
            <a:off x="4405274" y="4118483"/>
            <a:ext cx="50292" cy="2007997"/>
          </a:xfrm>
          <a:prstGeom prst="roundRect">
            <a:avLst>
              <a:gd name="adj" fmla="val 54545"/>
            </a:avLst>
          </a:prstGeom>
          <a:solidFill>
            <a:srgbClr val="22C55E">
              <a:alpha val="95000"/>
            </a:srgbClr>
          </a:solidFill>
          <a:ln/>
        </p:spPr>
      </p:sp>
      <p:sp>
        <p:nvSpPr>
          <p:cNvPr id="49" name="Shape 45"/>
          <p:cNvSpPr/>
          <p:nvPr/>
        </p:nvSpPr>
        <p:spPr>
          <a:xfrm>
            <a:off x="4679594" y="4473257"/>
            <a:ext cx="420624" cy="420624"/>
          </a:xfrm>
          <a:prstGeom prst="roundRect">
            <a:avLst>
              <a:gd name="adj" fmla="val 50000"/>
            </a:avLst>
          </a:prstGeom>
          <a:solidFill>
            <a:srgbClr val="04101F">
              <a:alpha val="88000"/>
            </a:srgbClr>
          </a:solidFill>
          <a:ln/>
        </p:spPr>
      </p:sp>
      <p:sp>
        <p:nvSpPr>
          <p:cNvPr id="50" name="Shape 46"/>
          <p:cNvSpPr/>
          <p:nvPr/>
        </p:nvSpPr>
        <p:spPr>
          <a:xfrm>
            <a:off x="4679594" y="4473257"/>
            <a:ext cx="420624" cy="420624"/>
          </a:xfrm>
          <a:prstGeom prst="roundRect">
            <a:avLst>
              <a:gd name="adj" fmla="val 50000"/>
            </a:avLst>
          </a:prstGeom>
          <a:solidFill>
            <a:srgbClr val="22C55E">
              <a:alpha val="20000"/>
            </a:srgbClr>
          </a:solidFill>
          <a:ln w="15240">
            <a:solidFill>
              <a:srgbClr val="22C55E">
                <a:alpha val="70000"/>
              </a:srgbClr>
            </a:solidFill>
            <a:prstDash val="solid"/>
          </a:ln>
        </p:spPr>
      </p:sp>
      <p:sp>
        <p:nvSpPr>
          <p:cNvPr id="51" name="Text 47"/>
          <p:cNvSpPr/>
          <p:nvPr/>
        </p:nvSpPr>
        <p:spPr>
          <a:xfrm>
            <a:off x="4633874"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5</a:t>
            </a:r>
            <a:endParaRPr lang="en-US" sz="1500" dirty="0"/>
          </a:p>
        </p:txBody>
      </p:sp>
      <p:sp>
        <p:nvSpPr>
          <p:cNvPr id="52" name="Text 48"/>
          <p:cNvSpPr/>
          <p:nvPr/>
        </p:nvSpPr>
        <p:spPr>
          <a:xfrm>
            <a:off x="5228234" y="4518977"/>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Đội cứu hộ xác nhận hoàn</a:t>
            </a:r>
            <a:endParaRPr lang="en-US" sz="1400" dirty="0"/>
          </a:p>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thành</a:t>
            </a:r>
            <a:endParaRPr lang="en-US" sz="1400" dirty="0"/>
          </a:p>
        </p:txBody>
      </p:sp>
      <p:sp>
        <p:nvSpPr>
          <p:cNvPr id="53" name="Text 49"/>
          <p:cNvSpPr/>
          <p:nvPr/>
        </p:nvSpPr>
        <p:spPr>
          <a:xfrm>
            <a:off x="4679594" y="5131626"/>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Báo cáo kết quả nhiệm vụ kèm hình ảnh</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tại hiện trường.</a:t>
            </a:r>
            <a:endParaRPr lang="en-US" sz="1150" dirty="0"/>
          </a:p>
        </p:txBody>
      </p:sp>
      <p:sp>
        <p:nvSpPr>
          <p:cNvPr id="54" name="Shape 50"/>
          <p:cNvSpPr/>
          <p:nvPr/>
        </p:nvSpPr>
        <p:spPr>
          <a:xfrm>
            <a:off x="713232" y="4118483"/>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55" name="Shape 51"/>
          <p:cNvSpPr/>
          <p:nvPr/>
        </p:nvSpPr>
        <p:spPr>
          <a:xfrm>
            <a:off x="713232" y="4118483"/>
            <a:ext cx="50292" cy="2007997"/>
          </a:xfrm>
          <a:prstGeom prst="roundRect">
            <a:avLst>
              <a:gd name="adj" fmla="val 54545"/>
            </a:avLst>
          </a:prstGeom>
          <a:solidFill>
            <a:srgbClr val="3C5468">
              <a:alpha val="95000"/>
            </a:srgbClr>
          </a:solidFill>
          <a:ln/>
        </p:spPr>
      </p:sp>
      <p:sp>
        <p:nvSpPr>
          <p:cNvPr id="56" name="Shape 52"/>
          <p:cNvSpPr/>
          <p:nvPr/>
        </p:nvSpPr>
        <p:spPr>
          <a:xfrm>
            <a:off x="987552" y="4473257"/>
            <a:ext cx="420624" cy="420624"/>
          </a:xfrm>
          <a:prstGeom prst="roundRect">
            <a:avLst>
              <a:gd name="adj" fmla="val 50000"/>
            </a:avLst>
          </a:prstGeom>
          <a:solidFill>
            <a:srgbClr val="04101F">
              <a:alpha val="88000"/>
            </a:srgbClr>
          </a:solidFill>
          <a:ln/>
        </p:spPr>
      </p:sp>
      <p:sp>
        <p:nvSpPr>
          <p:cNvPr id="57" name="Shape 53"/>
          <p:cNvSpPr/>
          <p:nvPr/>
        </p:nvSpPr>
        <p:spPr>
          <a:xfrm>
            <a:off x="987552" y="4473257"/>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58" name="Text 54"/>
          <p:cNvSpPr/>
          <p:nvPr/>
        </p:nvSpPr>
        <p:spPr>
          <a:xfrm>
            <a:off x="941832"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6</a:t>
            </a:r>
            <a:endParaRPr lang="en-US" sz="1500" dirty="0"/>
          </a:p>
        </p:txBody>
      </p:sp>
      <p:sp>
        <p:nvSpPr>
          <p:cNvPr id="59" name="Text 55"/>
          <p:cNvSpPr/>
          <p:nvPr/>
        </p:nvSpPr>
        <p:spPr>
          <a:xfrm>
            <a:off x="1536192" y="4518977"/>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Kho xác nhận hoàn trả</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vật tư</a:t>
            </a:r>
            <a:endParaRPr lang="en-US" sz="1400" dirty="0"/>
          </a:p>
        </p:txBody>
      </p:sp>
      <p:sp>
        <p:nvSpPr>
          <p:cNvPr id="60" name="Text 56"/>
          <p:cNvSpPr/>
          <p:nvPr/>
        </p:nvSpPr>
        <p:spPr>
          <a:xfrm>
            <a:off x="987552" y="5131626"/>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Đối chiếu vật tư đã cấp phát và phần</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thu hồi, khép lại nhiệm vụ.</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par>
                                <p:cTn id="23" presetID="10" presetClass="entr" presetSubtype="0" fill="hold" grpId="0" nodeType="withEffect">
                                  <p:stCondLst>
                                    <p:cond delay="44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400"/>
                                        <p:tgtEl>
                                          <p:spTgt spid="22"/>
                                        </p:tgtEl>
                                      </p:cBhvr>
                                    </p:animEffect>
                                  </p:childTnLst>
                                </p:cTn>
                              </p:par>
                              <p:par>
                                <p:cTn id="26" presetID="10" presetClass="entr" presetSubtype="0" fill="hold" grpId="0" nodeType="withEffect">
                                  <p:stCondLst>
                                    <p:cond delay="44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400"/>
                                        <p:tgtEl>
                                          <p:spTgt spid="23"/>
                                        </p:tgtEl>
                                      </p:cBhvr>
                                    </p:animEffect>
                                  </p:childTnLst>
                                </p:cTn>
                              </p:par>
                              <p:par>
                                <p:cTn id="29" presetID="10" presetClass="entr" presetSubtype="0" fill="hold" grpId="0" nodeType="withEffect">
                                  <p:stCondLst>
                                    <p:cond delay="44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400"/>
                                        <p:tgtEl>
                                          <p:spTgt spid="25"/>
                                        </p:tgtEl>
                                      </p:cBhvr>
                                    </p:animEffect>
                                  </p:childTnLst>
                                </p:cTn>
                              </p:par>
                              <p:par>
                                <p:cTn id="38" presetID="10" presetClass="entr" presetSubtype="0" fill="hold" grpId="0" nodeType="withEffect">
                                  <p:stCondLst>
                                    <p:cond delay="66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400"/>
                                        <p:tgtEl>
                                          <p:spTgt spid="26"/>
                                        </p:tgtEl>
                                      </p:cBhvr>
                                    </p:animEffect>
                                  </p:childTnLst>
                                </p:cTn>
                              </p:par>
                              <p:par>
                                <p:cTn id="41" presetID="10" presetClass="entr" presetSubtype="0" fill="hold" grpId="0" nodeType="withEffect">
                                  <p:stCondLst>
                                    <p:cond delay="66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400"/>
                                        <p:tgtEl>
                                          <p:spTgt spid="27"/>
                                        </p:tgtEl>
                                      </p:cBhvr>
                                    </p:animEffect>
                                  </p:childTnLst>
                                </p:cTn>
                              </p:par>
                              <p:par>
                                <p:cTn id="44" presetID="10" presetClass="entr" presetSubtype="0" fill="hold" grpId="0" nodeType="withEffect">
                                  <p:stCondLst>
                                    <p:cond delay="66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400"/>
                                        <p:tgtEl>
                                          <p:spTgt spid="28"/>
                                        </p:tgtEl>
                                      </p:cBhvr>
                                    </p:animEffect>
                                  </p:childTnLst>
                                </p:cTn>
                              </p:par>
                              <p:par>
                                <p:cTn id="47" presetID="10" presetClass="entr" presetSubtype="0" fill="hold" grpId="0" nodeType="withEffect">
                                  <p:stCondLst>
                                    <p:cond delay="66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400"/>
                                        <p:tgtEl>
                                          <p:spTgt spid="29"/>
                                        </p:tgtEl>
                                      </p:cBhvr>
                                    </p:animEffect>
                                  </p:childTnLst>
                                </p:cTn>
                              </p:par>
                              <p:par>
                                <p:cTn id="50" presetID="10" presetClass="entr" presetSubtype="0" fill="hold" grpId="0" nodeType="withEffect">
                                  <p:stCondLst>
                                    <p:cond delay="66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400"/>
                                        <p:tgtEl>
                                          <p:spTgt spid="30"/>
                                        </p:tgtEl>
                                      </p:cBhvr>
                                    </p:animEffect>
                                  </p:childTnLst>
                                </p:cTn>
                              </p:par>
                              <p:par>
                                <p:cTn id="53" presetID="10" presetClass="entr" presetSubtype="0" fill="hold" grpId="0" nodeType="withEffect">
                                  <p:stCondLst>
                                    <p:cond delay="66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400"/>
                                        <p:tgtEl>
                                          <p:spTgt spid="31"/>
                                        </p:tgtEl>
                                      </p:cBhvr>
                                    </p:animEffect>
                                  </p:childTnLst>
                                </p:cTn>
                              </p:par>
                              <p:par>
                                <p:cTn id="56" presetID="10" presetClass="entr" presetSubtype="0" fill="hold" grpId="0" nodeType="withEffect">
                                  <p:stCondLst>
                                    <p:cond delay="88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400"/>
                                        <p:tgtEl>
                                          <p:spTgt spid="14"/>
                                        </p:tgtEl>
                                      </p:cBhvr>
                                    </p:animEffect>
                                  </p:childTnLst>
                                </p:cTn>
                              </p:par>
                              <p:par>
                                <p:cTn id="59" presetID="10" presetClass="entr" presetSubtype="0" fill="hold" grpId="0" nodeType="withEffect">
                                  <p:stCondLst>
                                    <p:cond delay="88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400"/>
                                        <p:tgtEl>
                                          <p:spTgt spid="32"/>
                                        </p:tgtEl>
                                      </p:cBhvr>
                                    </p:animEffect>
                                  </p:childTnLst>
                                </p:cTn>
                              </p:par>
                              <p:par>
                                <p:cTn id="62" presetID="10" presetClass="entr" presetSubtype="0" fill="hold" grpId="0" nodeType="withEffect">
                                  <p:stCondLst>
                                    <p:cond delay="88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400"/>
                                        <p:tgtEl>
                                          <p:spTgt spid="33"/>
                                        </p:tgtEl>
                                      </p:cBhvr>
                                    </p:animEffect>
                                  </p:childTnLst>
                                </p:cTn>
                              </p:par>
                              <p:par>
                                <p:cTn id="65" presetID="10" presetClass="entr" presetSubtype="0" fill="hold" grpId="0" nodeType="withEffect">
                                  <p:stCondLst>
                                    <p:cond delay="88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400"/>
                                        <p:tgtEl>
                                          <p:spTgt spid="34"/>
                                        </p:tgtEl>
                                      </p:cBhvr>
                                    </p:animEffect>
                                  </p:childTnLst>
                                </p:cTn>
                              </p:par>
                              <p:par>
                                <p:cTn id="68" presetID="10" presetClass="entr" presetSubtype="0" fill="hold" grpId="0" nodeType="withEffect">
                                  <p:stCondLst>
                                    <p:cond delay="88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400"/>
                                        <p:tgtEl>
                                          <p:spTgt spid="35"/>
                                        </p:tgtEl>
                                      </p:cBhvr>
                                    </p:animEffect>
                                  </p:childTnLst>
                                </p:cTn>
                              </p:par>
                              <p:par>
                                <p:cTn id="71" presetID="10" presetClass="entr" presetSubtype="0" fill="hold" grpId="0" nodeType="withEffect">
                                  <p:stCondLst>
                                    <p:cond delay="88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400"/>
                                        <p:tgtEl>
                                          <p:spTgt spid="36"/>
                                        </p:tgtEl>
                                      </p:cBhvr>
                                    </p:animEffect>
                                  </p:childTnLst>
                                </p:cTn>
                              </p:par>
                              <p:par>
                                <p:cTn id="74" presetID="10" presetClass="entr" presetSubtype="0" fill="hold" grpId="0" nodeType="withEffect">
                                  <p:stCondLst>
                                    <p:cond delay="88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400"/>
                                        <p:tgtEl>
                                          <p:spTgt spid="37"/>
                                        </p:tgtEl>
                                      </p:cBhvr>
                                    </p:animEffect>
                                  </p:childTnLst>
                                </p:cTn>
                              </p:par>
                              <p:par>
                                <p:cTn id="77" presetID="10" presetClass="entr" presetSubtype="0" fill="hold" grpId="0" nodeType="withEffect">
                                  <p:stCondLst>
                                    <p:cond delay="88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400"/>
                                        <p:tgtEl>
                                          <p:spTgt spid="38"/>
                                        </p:tgtEl>
                                      </p:cBhvr>
                                    </p:animEffect>
                                  </p:childTnLst>
                                </p:cTn>
                              </p:par>
                              <p:par>
                                <p:cTn id="80" presetID="10" presetClass="entr" presetSubtype="0" fill="hold" grpId="0" nodeType="withEffect">
                                  <p:stCondLst>
                                    <p:cond delay="1100"/>
                                  </p:stCondLst>
                                  <p:childTnLst>
                                    <p:set>
                                      <p:cBhvr>
                                        <p:cTn id="81" dur="1" fill="hold">
                                          <p:stCondLst>
                                            <p:cond delay="0"/>
                                          </p:stCondLst>
                                        </p:cTn>
                                        <p:tgtEl>
                                          <p:spTgt spid="16"/>
                                        </p:tgtEl>
                                        <p:attrNameLst>
                                          <p:attrName>style.visibility</p:attrName>
                                        </p:attrNameLst>
                                      </p:cBhvr>
                                      <p:to>
                                        <p:strVal val="visible"/>
                                      </p:to>
                                    </p:set>
                                    <p:animEffect transition="in" filter="fade">
                                      <p:cBhvr>
                                        <p:cTn id="82" dur="400"/>
                                        <p:tgtEl>
                                          <p:spTgt spid="16"/>
                                        </p:tgtEl>
                                      </p:cBhvr>
                                    </p:animEffect>
                                  </p:childTnLst>
                                </p:cTn>
                              </p:par>
                              <p:par>
                                <p:cTn id="83" presetID="10" presetClass="entr" presetSubtype="0" fill="hold" grpId="0" nodeType="withEffect">
                                  <p:stCondLst>
                                    <p:cond delay="110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400"/>
                                        <p:tgtEl>
                                          <p:spTgt spid="17"/>
                                        </p:tgtEl>
                                      </p:cBhvr>
                                    </p:animEffect>
                                  </p:childTnLst>
                                </p:cTn>
                              </p:par>
                              <p:par>
                                <p:cTn id="86" presetID="10" presetClass="entr" presetSubtype="0" fill="hold" grpId="0" nodeType="withEffect">
                                  <p:stCondLst>
                                    <p:cond delay="1100"/>
                                  </p:stCondLst>
                                  <p:childTnLst>
                                    <p:set>
                                      <p:cBhvr>
                                        <p:cTn id="87" dur="1" fill="hold">
                                          <p:stCondLst>
                                            <p:cond delay="0"/>
                                          </p:stCondLst>
                                        </p:cTn>
                                        <p:tgtEl>
                                          <p:spTgt spid="39"/>
                                        </p:tgtEl>
                                        <p:attrNameLst>
                                          <p:attrName>style.visibility</p:attrName>
                                        </p:attrNameLst>
                                      </p:cBhvr>
                                      <p:to>
                                        <p:strVal val="visible"/>
                                      </p:to>
                                    </p:set>
                                    <p:animEffect transition="in" filter="fade">
                                      <p:cBhvr>
                                        <p:cTn id="88" dur="400"/>
                                        <p:tgtEl>
                                          <p:spTgt spid="39"/>
                                        </p:tgtEl>
                                      </p:cBhvr>
                                    </p:animEffect>
                                  </p:childTnLst>
                                </p:cTn>
                              </p:par>
                              <p:par>
                                <p:cTn id="89" presetID="10" presetClass="entr" presetSubtype="0" fill="hold" grpId="0" nodeType="withEffect">
                                  <p:stCondLst>
                                    <p:cond delay="1100"/>
                                  </p:stCondLst>
                                  <p:childTnLst>
                                    <p:set>
                                      <p:cBhvr>
                                        <p:cTn id="90" dur="1" fill="hold">
                                          <p:stCondLst>
                                            <p:cond delay="0"/>
                                          </p:stCondLst>
                                        </p:cTn>
                                        <p:tgtEl>
                                          <p:spTgt spid="40"/>
                                        </p:tgtEl>
                                        <p:attrNameLst>
                                          <p:attrName>style.visibility</p:attrName>
                                        </p:attrNameLst>
                                      </p:cBhvr>
                                      <p:to>
                                        <p:strVal val="visible"/>
                                      </p:to>
                                    </p:set>
                                    <p:animEffect transition="in" filter="fade">
                                      <p:cBhvr>
                                        <p:cTn id="91" dur="400"/>
                                        <p:tgtEl>
                                          <p:spTgt spid="40"/>
                                        </p:tgtEl>
                                      </p:cBhvr>
                                    </p:animEffect>
                                  </p:childTnLst>
                                </p:cTn>
                              </p:par>
                              <p:par>
                                <p:cTn id="92" presetID="10" presetClass="entr" presetSubtype="0" fill="hold" grpId="0" nodeType="withEffect">
                                  <p:stCondLst>
                                    <p:cond delay="1100"/>
                                  </p:stCondLst>
                                  <p:childTnLst>
                                    <p:set>
                                      <p:cBhvr>
                                        <p:cTn id="93" dur="1" fill="hold">
                                          <p:stCondLst>
                                            <p:cond delay="0"/>
                                          </p:stCondLst>
                                        </p:cTn>
                                        <p:tgtEl>
                                          <p:spTgt spid="41"/>
                                        </p:tgtEl>
                                        <p:attrNameLst>
                                          <p:attrName>style.visibility</p:attrName>
                                        </p:attrNameLst>
                                      </p:cBhvr>
                                      <p:to>
                                        <p:strVal val="visible"/>
                                      </p:to>
                                    </p:set>
                                    <p:animEffect transition="in" filter="fade">
                                      <p:cBhvr>
                                        <p:cTn id="94" dur="400"/>
                                        <p:tgtEl>
                                          <p:spTgt spid="41"/>
                                        </p:tgtEl>
                                      </p:cBhvr>
                                    </p:animEffect>
                                  </p:childTnLst>
                                </p:cTn>
                              </p:par>
                              <p:par>
                                <p:cTn id="95" presetID="10" presetClass="entr" presetSubtype="0" fill="hold" grpId="0" nodeType="withEffect">
                                  <p:stCondLst>
                                    <p:cond delay="1100"/>
                                  </p:stCondLst>
                                  <p:childTnLst>
                                    <p:set>
                                      <p:cBhvr>
                                        <p:cTn id="96" dur="1" fill="hold">
                                          <p:stCondLst>
                                            <p:cond delay="0"/>
                                          </p:stCondLst>
                                        </p:cTn>
                                        <p:tgtEl>
                                          <p:spTgt spid="42"/>
                                        </p:tgtEl>
                                        <p:attrNameLst>
                                          <p:attrName>style.visibility</p:attrName>
                                        </p:attrNameLst>
                                      </p:cBhvr>
                                      <p:to>
                                        <p:strVal val="visible"/>
                                      </p:to>
                                    </p:set>
                                    <p:animEffect transition="in" filter="fade">
                                      <p:cBhvr>
                                        <p:cTn id="97" dur="400"/>
                                        <p:tgtEl>
                                          <p:spTgt spid="42"/>
                                        </p:tgtEl>
                                      </p:cBhvr>
                                    </p:animEffect>
                                  </p:childTnLst>
                                </p:cTn>
                              </p:par>
                              <p:par>
                                <p:cTn id="98" presetID="10" presetClass="entr" presetSubtype="0" fill="hold" grpId="0" nodeType="withEffect">
                                  <p:stCondLst>
                                    <p:cond delay="1100"/>
                                  </p:stCondLst>
                                  <p:childTnLst>
                                    <p:set>
                                      <p:cBhvr>
                                        <p:cTn id="99" dur="1" fill="hold">
                                          <p:stCondLst>
                                            <p:cond delay="0"/>
                                          </p:stCondLst>
                                        </p:cTn>
                                        <p:tgtEl>
                                          <p:spTgt spid="43"/>
                                        </p:tgtEl>
                                        <p:attrNameLst>
                                          <p:attrName>style.visibility</p:attrName>
                                        </p:attrNameLst>
                                      </p:cBhvr>
                                      <p:to>
                                        <p:strVal val="visible"/>
                                      </p:to>
                                    </p:set>
                                    <p:animEffect transition="in" filter="fade">
                                      <p:cBhvr>
                                        <p:cTn id="100" dur="400"/>
                                        <p:tgtEl>
                                          <p:spTgt spid="43"/>
                                        </p:tgtEl>
                                      </p:cBhvr>
                                    </p:animEffect>
                                  </p:childTnLst>
                                </p:cTn>
                              </p:par>
                              <p:par>
                                <p:cTn id="101" presetID="10" presetClass="entr" presetSubtype="0" fill="hold" grpId="0" nodeType="withEffect">
                                  <p:stCondLst>
                                    <p:cond delay="1100"/>
                                  </p:stCondLst>
                                  <p:childTnLst>
                                    <p:set>
                                      <p:cBhvr>
                                        <p:cTn id="102" dur="1" fill="hold">
                                          <p:stCondLst>
                                            <p:cond delay="0"/>
                                          </p:stCondLst>
                                        </p:cTn>
                                        <p:tgtEl>
                                          <p:spTgt spid="44"/>
                                        </p:tgtEl>
                                        <p:attrNameLst>
                                          <p:attrName>style.visibility</p:attrName>
                                        </p:attrNameLst>
                                      </p:cBhvr>
                                      <p:to>
                                        <p:strVal val="visible"/>
                                      </p:to>
                                    </p:set>
                                    <p:animEffect transition="in" filter="fade">
                                      <p:cBhvr>
                                        <p:cTn id="103" dur="400"/>
                                        <p:tgtEl>
                                          <p:spTgt spid="44"/>
                                        </p:tgtEl>
                                      </p:cBhvr>
                                    </p:animEffect>
                                  </p:childTnLst>
                                </p:cTn>
                              </p:par>
                              <p:par>
                                <p:cTn id="104" presetID="10" presetClass="entr" presetSubtype="0" fill="hold" grpId="0" nodeType="withEffect">
                                  <p:stCondLst>
                                    <p:cond delay="110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400"/>
                                        <p:tgtEl>
                                          <p:spTgt spid="45"/>
                                        </p:tgtEl>
                                      </p:cBhvr>
                                    </p:animEffect>
                                  </p:childTnLst>
                                </p:cTn>
                              </p:par>
                              <p:par>
                                <p:cTn id="107" presetID="10" presetClass="entr" presetSubtype="0" fill="hold" grpId="0" nodeType="withEffect">
                                  <p:stCondLst>
                                    <p:cond delay="1320"/>
                                  </p:stCondLst>
                                  <p:childTnLst>
                                    <p:set>
                                      <p:cBhvr>
                                        <p:cTn id="108" dur="1" fill="hold">
                                          <p:stCondLst>
                                            <p:cond delay="0"/>
                                          </p:stCondLst>
                                        </p:cTn>
                                        <p:tgtEl>
                                          <p:spTgt spid="46"/>
                                        </p:tgtEl>
                                        <p:attrNameLst>
                                          <p:attrName>style.visibility</p:attrName>
                                        </p:attrNameLst>
                                      </p:cBhvr>
                                      <p:to>
                                        <p:strVal val="visible"/>
                                      </p:to>
                                    </p:set>
                                    <p:animEffect transition="in" filter="fade">
                                      <p:cBhvr>
                                        <p:cTn id="109" dur="400"/>
                                        <p:tgtEl>
                                          <p:spTgt spid="46"/>
                                        </p:tgtEl>
                                      </p:cBhvr>
                                    </p:animEffect>
                                  </p:childTnLst>
                                </p:cTn>
                              </p:par>
                              <p:par>
                                <p:cTn id="110" presetID="10" presetClass="entr" presetSubtype="0" fill="hold" grpId="0" nodeType="withEffect">
                                  <p:stCondLst>
                                    <p:cond delay="1540"/>
                                  </p:stCondLst>
                                  <p:childTnLst>
                                    <p:set>
                                      <p:cBhvr>
                                        <p:cTn id="111" dur="1" fill="hold">
                                          <p:stCondLst>
                                            <p:cond delay="0"/>
                                          </p:stCondLst>
                                        </p:cTn>
                                        <p:tgtEl>
                                          <p:spTgt spid="15"/>
                                        </p:tgtEl>
                                        <p:attrNameLst>
                                          <p:attrName>style.visibility</p:attrName>
                                        </p:attrNameLst>
                                      </p:cBhvr>
                                      <p:to>
                                        <p:strVal val="visible"/>
                                      </p:to>
                                    </p:set>
                                    <p:animEffect transition="in" filter="fade">
                                      <p:cBhvr>
                                        <p:cTn id="112" dur="400"/>
                                        <p:tgtEl>
                                          <p:spTgt spid="15"/>
                                        </p:tgtEl>
                                      </p:cBhvr>
                                    </p:animEffect>
                                  </p:childTnLst>
                                </p:cTn>
                              </p:par>
                              <p:par>
                                <p:cTn id="113" presetID="10" presetClass="entr" presetSubtype="0" fill="hold" grpId="0" nodeType="withEffect">
                                  <p:stCondLst>
                                    <p:cond delay="1540"/>
                                  </p:stCondLst>
                                  <p:childTnLst>
                                    <p:set>
                                      <p:cBhvr>
                                        <p:cTn id="114" dur="1" fill="hold">
                                          <p:stCondLst>
                                            <p:cond delay="0"/>
                                          </p:stCondLst>
                                        </p:cTn>
                                        <p:tgtEl>
                                          <p:spTgt spid="47"/>
                                        </p:tgtEl>
                                        <p:attrNameLst>
                                          <p:attrName>style.visibility</p:attrName>
                                        </p:attrNameLst>
                                      </p:cBhvr>
                                      <p:to>
                                        <p:strVal val="visible"/>
                                      </p:to>
                                    </p:set>
                                    <p:animEffect transition="in" filter="fade">
                                      <p:cBhvr>
                                        <p:cTn id="115" dur="400"/>
                                        <p:tgtEl>
                                          <p:spTgt spid="47"/>
                                        </p:tgtEl>
                                      </p:cBhvr>
                                    </p:animEffect>
                                  </p:childTnLst>
                                </p:cTn>
                              </p:par>
                              <p:par>
                                <p:cTn id="116" presetID="10" presetClass="entr" presetSubtype="0" fill="hold" grpId="0" nodeType="withEffect">
                                  <p:stCondLst>
                                    <p:cond delay="1540"/>
                                  </p:stCondLst>
                                  <p:childTnLst>
                                    <p:set>
                                      <p:cBhvr>
                                        <p:cTn id="117" dur="1" fill="hold">
                                          <p:stCondLst>
                                            <p:cond delay="0"/>
                                          </p:stCondLst>
                                        </p:cTn>
                                        <p:tgtEl>
                                          <p:spTgt spid="48"/>
                                        </p:tgtEl>
                                        <p:attrNameLst>
                                          <p:attrName>style.visibility</p:attrName>
                                        </p:attrNameLst>
                                      </p:cBhvr>
                                      <p:to>
                                        <p:strVal val="visible"/>
                                      </p:to>
                                    </p:set>
                                    <p:animEffect transition="in" filter="fade">
                                      <p:cBhvr>
                                        <p:cTn id="118" dur="400"/>
                                        <p:tgtEl>
                                          <p:spTgt spid="48"/>
                                        </p:tgtEl>
                                      </p:cBhvr>
                                    </p:animEffect>
                                  </p:childTnLst>
                                </p:cTn>
                              </p:par>
                              <p:par>
                                <p:cTn id="119" presetID="10" presetClass="entr" presetSubtype="0" fill="hold" grpId="0" nodeType="withEffect">
                                  <p:stCondLst>
                                    <p:cond delay="1540"/>
                                  </p:stCondLst>
                                  <p:childTnLst>
                                    <p:set>
                                      <p:cBhvr>
                                        <p:cTn id="120" dur="1" fill="hold">
                                          <p:stCondLst>
                                            <p:cond delay="0"/>
                                          </p:stCondLst>
                                        </p:cTn>
                                        <p:tgtEl>
                                          <p:spTgt spid="49"/>
                                        </p:tgtEl>
                                        <p:attrNameLst>
                                          <p:attrName>style.visibility</p:attrName>
                                        </p:attrNameLst>
                                      </p:cBhvr>
                                      <p:to>
                                        <p:strVal val="visible"/>
                                      </p:to>
                                    </p:set>
                                    <p:animEffect transition="in" filter="fade">
                                      <p:cBhvr>
                                        <p:cTn id="121" dur="400"/>
                                        <p:tgtEl>
                                          <p:spTgt spid="49"/>
                                        </p:tgtEl>
                                      </p:cBhvr>
                                    </p:animEffect>
                                  </p:childTnLst>
                                </p:cTn>
                              </p:par>
                              <p:par>
                                <p:cTn id="122" presetID="10" presetClass="entr" presetSubtype="0" fill="hold" grpId="0" nodeType="withEffect">
                                  <p:stCondLst>
                                    <p:cond delay="1540"/>
                                  </p:stCondLst>
                                  <p:childTnLst>
                                    <p:set>
                                      <p:cBhvr>
                                        <p:cTn id="123" dur="1" fill="hold">
                                          <p:stCondLst>
                                            <p:cond delay="0"/>
                                          </p:stCondLst>
                                        </p:cTn>
                                        <p:tgtEl>
                                          <p:spTgt spid="50"/>
                                        </p:tgtEl>
                                        <p:attrNameLst>
                                          <p:attrName>style.visibility</p:attrName>
                                        </p:attrNameLst>
                                      </p:cBhvr>
                                      <p:to>
                                        <p:strVal val="visible"/>
                                      </p:to>
                                    </p:set>
                                    <p:animEffect transition="in" filter="fade">
                                      <p:cBhvr>
                                        <p:cTn id="124" dur="400"/>
                                        <p:tgtEl>
                                          <p:spTgt spid="50"/>
                                        </p:tgtEl>
                                      </p:cBhvr>
                                    </p:animEffect>
                                  </p:childTnLst>
                                </p:cTn>
                              </p:par>
                              <p:par>
                                <p:cTn id="125" presetID="10" presetClass="entr" presetSubtype="0" fill="hold" grpId="0" nodeType="withEffect">
                                  <p:stCondLst>
                                    <p:cond delay="1540"/>
                                  </p:stCondLst>
                                  <p:childTnLst>
                                    <p:set>
                                      <p:cBhvr>
                                        <p:cTn id="126" dur="1" fill="hold">
                                          <p:stCondLst>
                                            <p:cond delay="0"/>
                                          </p:stCondLst>
                                        </p:cTn>
                                        <p:tgtEl>
                                          <p:spTgt spid="51"/>
                                        </p:tgtEl>
                                        <p:attrNameLst>
                                          <p:attrName>style.visibility</p:attrName>
                                        </p:attrNameLst>
                                      </p:cBhvr>
                                      <p:to>
                                        <p:strVal val="visible"/>
                                      </p:to>
                                    </p:set>
                                    <p:animEffect transition="in" filter="fade">
                                      <p:cBhvr>
                                        <p:cTn id="127" dur="400"/>
                                        <p:tgtEl>
                                          <p:spTgt spid="51"/>
                                        </p:tgtEl>
                                      </p:cBhvr>
                                    </p:animEffect>
                                  </p:childTnLst>
                                </p:cTn>
                              </p:par>
                              <p:par>
                                <p:cTn id="128" presetID="10" presetClass="entr" presetSubtype="0" fill="hold" grpId="0" nodeType="withEffect">
                                  <p:stCondLst>
                                    <p:cond delay="1540"/>
                                  </p:stCondLst>
                                  <p:childTnLst>
                                    <p:set>
                                      <p:cBhvr>
                                        <p:cTn id="129" dur="1" fill="hold">
                                          <p:stCondLst>
                                            <p:cond delay="0"/>
                                          </p:stCondLst>
                                        </p:cTn>
                                        <p:tgtEl>
                                          <p:spTgt spid="52"/>
                                        </p:tgtEl>
                                        <p:attrNameLst>
                                          <p:attrName>style.visibility</p:attrName>
                                        </p:attrNameLst>
                                      </p:cBhvr>
                                      <p:to>
                                        <p:strVal val="visible"/>
                                      </p:to>
                                    </p:set>
                                    <p:animEffect transition="in" filter="fade">
                                      <p:cBhvr>
                                        <p:cTn id="130" dur="400"/>
                                        <p:tgtEl>
                                          <p:spTgt spid="52"/>
                                        </p:tgtEl>
                                      </p:cBhvr>
                                    </p:animEffect>
                                  </p:childTnLst>
                                </p:cTn>
                              </p:par>
                              <p:par>
                                <p:cTn id="131" presetID="10" presetClass="entr" presetSubtype="0" fill="hold" grpId="0" nodeType="withEffect">
                                  <p:stCondLst>
                                    <p:cond delay="1540"/>
                                  </p:stCondLst>
                                  <p:childTnLst>
                                    <p:set>
                                      <p:cBhvr>
                                        <p:cTn id="132" dur="1" fill="hold">
                                          <p:stCondLst>
                                            <p:cond delay="0"/>
                                          </p:stCondLst>
                                        </p:cTn>
                                        <p:tgtEl>
                                          <p:spTgt spid="53"/>
                                        </p:tgtEl>
                                        <p:attrNameLst>
                                          <p:attrName>style.visibility</p:attrName>
                                        </p:attrNameLst>
                                      </p:cBhvr>
                                      <p:to>
                                        <p:strVal val="visible"/>
                                      </p:to>
                                    </p:set>
                                    <p:animEffect transition="in" filter="fade">
                                      <p:cBhvr>
                                        <p:cTn id="133" dur="400"/>
                                        <p:tgtEl>
                                          <p:spTgt spid="53"/>
                                        </p:tgtEl>
                                      </p:cBhvr>
                                    </p:animEffect>
                                  </p:childTnLst>
                                </p:cTn>
                              </p:par>
                              <p:par>
                                <p:cTn id="134" presetID="10" presetClass="entr" presetSubtype="0" fill="hold" grpId="0" nodeType="withEffect">
                                  <p:stCondLst>
                                    <p:cond delay="1760"/>
                                  </p:stCondLst>
                                  <p:childTnLst>
                                    <p:set>
                                      <p:cBhvr>
                                        <p:cTn id="135" dur="1" fill="hold">
                                          <p:stCondLst>
                                            <p:cond delay="0"/>
                                          </p:stCondLst>
                                        </p:cTn>
                                        <p:tgtEl>
                                          <p:spTgt spid="13"/>
                                        </p:tgtEl>
                                        <p:attrNameLst>
                                          <p:attrName>style.visibility</p:attrName>
                                        </p:attrNameLst>
                                      </p:cBhvr>
                                      <p:to>
                                        <p:strVal val="visible"/>
                                      </p:to>
                                    </p:set>
                                    <p:animEffect transition="in" filter="fade">
                                      <p:cBhvr>
                                        <p:cTn id="136" dur="400"/>
                                        <p:tgtEl>
                                          <p:spTgt spid="13"/>
                                        </p:tgtEl>
                                      </p:cBhvr>
                                    </p:animEffect>
                                  </p:childTnLst>
                                </p:cTn>
                              </p:par>
                              <p:par>
                                <p:cTn id="137" presetID="10" presetClass="entr" presetSubtype="0" fill="hold" grpId="0" nodeType="withEffect">
                                  <p:stCondLst>
                                    <p:cond delay="1760"/>
                                  </p:stCondLst>
                                  <p:childTnLst>
                                    <p:set>
                                      <p:cBhvr>
                                        <p:cTn id="138" dur="1" fill="hold">
                                          <p:stCondLst>
                                            <p:cond delay="0"/>
                                          </p:stCondLst>
                                        </p:cTn>
                                        <p:tgtEl>
                                          <p:spTgt spid="54"/>
                                        </p:tgtEl>
                                        <p:attrNameLst>
                                          <p:attrName>style.visibility</p:attrName>
                                        </p:attrNameLst>
                                      </p:cBhvr>
                                      <p:to>
                                        <p:strVal val="visible"/>
                                      </p:to>
                                    </p:set>
                                    <p:animEffect transition="in" filter="fade">
                                      <p:cBhvr>
                                        <p:cTn id="139" dur="400"/>
                                        <p:tgtEl>
                                          <p:spTgt spid="54"/>
                                        </p:tgtEl>
                                      </p:cBhvr>
                                    </p:animEffect>
                                  </p:childTnLst>
                                </p:cTn>
                              </p:par>
                              <p:par>
                                <p:cTn id="140" presetID="10" presetClass="entr" presetSubtype="0" fill="hold" grpId="0" nodeType="withEffect">
                                  <p:stCondLst>
                                    <p:cond delay="1760"/>
                                  </p:stCondLst>
                                  <p:childTnLst>
                                    <p:set>
                                      <p:cBhvr>
                                        <p:cTn id="141" dur="1" fill="hold">
                                          <p:stCondLst>
                                            <p:cond delay="0"/>
                                          </p:stCondLst>
                                        </p:cTn>
                                        <p:tgtEl>
                                          <p:spTgt spid="55"/>
                                        </p:tgtEl>
                                        <p:attrNameLst>
                                          <p:attrName>style.visibility</p:attrName>
                                        </p:attrNameLst>
                                      </p:cBhvr>
                                      <p:to>
                                        <p:strVal val="visible"/>
                                      </p:to>
                                    </p:set>
                                    <p:animEffect transition="in" filter="fade">
                                      <p:cBhvr>
                                        <p:cTn id="142" dur="400"/>
                                        <p:tgtEl>
                                          <p:spTgt spid="55"/>
                                        </p:tgtEl>
                                      </p:cBhvr>
                                    </p:animEffect>
                                  </p:childTnLst>
                                </p:cTn>
                              </p:par>
                              <p:par>
                                <p:cTn id="143" presetID="10" presetClass="entr" presetSubtype="0" fill="hold" grpId="0" nodeType="withEffect">
                                  <p:stCondLst>
                                    <p:cond delay="1760"/>
                                  </p:stCondLst>
                                  <p:childTnLst>
                                    <p:set>
                                      <p:cBhvr>
                                        <p:cTn id="144" dur="1" fill="hold">
                                          <p:stCondLst>
                                            <p:cond delay="0"/>
                                          </p:stCondLst>
                                        </p:cTn>
                                        <p:tgtEl>
                                          <p:spTgt spid="56"/>
                                        </p:tgtEl>
                                        <p:attrNameLst>
                                          <p:attrName>style.visibility</p:attrName>
                                        </p:attrNameLst>
                                      </p:cBhvr>
                                      <p:to>
                                        <p:strVal val="visible"/>
                                      </p:to>
                                    </p:set>
                                    <p:animEffect transition="in" filter="fade">
                                      <p:cBhvr>
                                        <p:cTn id="145" dur="400"/>
                                        <p:tgtEl>
                                          <p:spTgt spid="56"/>
                                        </p:tgtEl>
                                      </p:cBhvr>
                                    </p:animEffect>
                                  </p:childTnLst>
                                </p:cTn>
                              </p:par>
                              <p:par>
                                <p:cTn id="146" presetID="10" presetClass="entr" presetSubtype="0" fill="hold" grpId="0" nodeType="withEffect">
                                  <p:stCondLst>
                                    <p:cond delay="1760"/>
                                  </p:stCondLst>
                                  <p:childTnLst>
                                    <p:set>
                                      <p:cBhvr>
                                        <p:cTn id="147" dur="1" fill="hold">
                                          <p:stCondLst>
                                            <p:cond delay="0"/>
                                          </p:stCondLst>
                                        </p:cTn>
                                        <p:tgtEl>
                                          <p:spTgt spid="57"/>
                                        </p:tgtEl>
                                        <p:attrNameLst>
                                          <p:attrName>style.visibility</p:attrName>
                                        </p:attrNameLst>
                                      </p:cBhvr>
                                      <p:to>
                                        <p:strVal val="visible"/>
                                      </p:to>
                                    </p:set>
                                    <p:animEffect transition="in" filter="fade">
                                      <p:cBhvr>
                                        <p:cTn id="148" dur="400"/>
                                        <p:tgtEl>
                                          <p:spTgt spid="57"/>
                                        </p:tgtEl>
                                      </p:cBhvr>
                                    </p:animEffect>
                                  </p:childTnLst>
                                </p:cTn>
                              </p:par>
                              <p:par>
                                <p:cTn id="149" presetID="10" presetClass="entr" presetSubtype="0" fill="hold" grpId="0" nodeType="withEffect">
                                  <p:stCondLst>
                                    <p:cond delay="1760"/>
                                  </p:stCondLst>
                                  <p:childTnLst>
                                    <p:set>
                                      <p:cBhvr>
                                        <p:cTn id="150" dur="1" fill="hold">
                                          <p:stCondLst>
                                            <p:cond delay="0"/>
                                          </p:stCondLst>
                                        </p:cTn>
                                        <p:tgtEl>
                                          <p:spTgt spid="58"/>
                                        </p:tgtEl>
                                        <p:attrNameLst>
                                          <p:attrName>style.visibility</p:attrName>
                                        </p:attrNameLst>
                                      </p:cBhvr>
                                      <p:to>
                                        <p:strVal val="visible"/>
                                      </p:to>
                                    </p:set>
                                    <p:animEffect transition="in" filter="fade">
                                      <p:cBhvr>
                                        <p:cTn id="151" dur="400"/>
                                        <p:tgtEl>
                                          <p:spTgt spid="58"/>
                                        </p:tgtEl>
                                      </p:cBhvr>
                                    </p:animEffect>
                                  </p:childTnLst>
                                </p:cTn>
                              </p:par>
                              <p:par>
                                <p:cTn id="152" presetID="10" presetClass="entr" presetSubtype="0" fill="hold" grpId="0" nodeType="withEffect">
                                  <p:stCondLst>
                                    <p:cond delay="1760"/>
                                  </p:stCondLst>
                                  <p:childTnLst>
                                    <p:set>
                                      <p:cBhvr>
                                        <p:cTn id="153" dur="1" fill="hold">
                                          <p:stCondLst>
                                            <p:cond delay="0"/>
                                          </p:stCondLst>
                                        </p:cTn>
                                        <p:tgtEl>
                                          <p:spTgt spid="59"/>
                                        </p:tgtEl>
                                        <p:attrNameLst>
                                          <p:attrName>style.visibility</p:attrName>
                                        </p:attrNameLst>
                                      </p:cBhvr>
                                      <p:to>
                                        <p:strVal val="visible"/>
                                      </p:to>
                                    </p:set>
                                    <p:animEffect transition="in" filter="fade">
                                      <p:cBhvr>
                                        <p:cTn id="154" dur="400"/>
                                        <p:tgtEl>
                                          <p:spTgt spid="59"/>
                                        </p:tgtEl>
                                      </p:cBhvr>
                                    </p:animEffect>
                                  </p:childTnLst>
                                </p:cTn>
                              </p:par>
                              <p:par>
                                <p:cTn id="155" presetID="10" presetClass="entr" presetSubtype="0" fill="hold" grpId="0" nodeType="withEffect">
                                  <p:stCondLst>
                                    <p:cond delay="1760"/>
                                  </p:stCondLst>
                                  <p:childTnLst>
                                    <p:set>
                                      <p:cBhvr>
                                        <p:cTn id="156" dur="1" fill="hold">
                                          <p:stCondLst>
                                            <p:cond delay="0"/>
                                          </p:stCondLst>
                                        </p:cTn>
                                        <p:tgtEl>
                                          <p:spTgt spid="60"/>
                                        </p:tgtEl>
                                        <p:attrNameLst>
                                          <p:attrName>style.visibility</p:attrName>
                                        </p:attrNameLst>
                                      </p:cBhvr>
                                      <p:to>
                                        <p:strVal val="visible"/>
                                      </p:to>
                                    </p:set>
                                    <p:animEffect transition="in" filter="fade">
                                      <p:cBhvr>
                                        <p:cTn id="157"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15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QUY TRÌNH ĐIỀU PHỐI CỨU HỘ · BƯỚC 6 / 6 · KHÉP VÒNG</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Vật tư hoàn trả xong, nhiệm vụ khép lại</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Shape 8"/>
          <p:cNvSpPr/>
          <p:nvPr/>
        </p:nvSpPr>
        <p:spPr>
          <a:xfrm rot="5400000">
            <a:off x="4144670" y="2602420"/>
            <a:ext cx="219456" cy="219456"/>
          </a:xfrm>
          <a:prstGeom prst="triangle">
            <a:avLst/>
          </a:prstGeom>
          <a:solidFill>
            <a:srgbClr val="22C55E">
              <a:alpha val="75000"/>
            </a:srgbClr>
          </a:solidFill>
          <a:ln/>
        </p:spPr>
      </p:sp>
      <p:sp>
        <p:nvSpPr>
          <p:cNvPr id="13" name="Shape 9"/>
          <p:cNvSpPr/>
          <p:nvPr/>
        </p:nvSpPr>
        <p:spPr>
          <a:xfrm rot="16200000">
            <a:off x="4135526" y="5012753"/>
            <a:ext cx="219456" cy="219456"/>
          </a:xfrm>
          <a:prstGeom prst="triangle">
            <a:avLst/>
          </a:prstGeom>
          <a:solidFill>
            <a:srgbClr val="22C55E">
              <a:alpha val="75000"/>
            </a:srgbClr>
          </a:solidFill>
          <a:ln/>
        </p:spPr>
      </p:sp>
      <p:sp>
        <p:nvSpPr>
          <p:cNvPr id="14" name="Shape 10"/>
          <p:cNvSpPr/>
          <p:nvPr/>
        </p:nvSpPr>
        <p:spPr>
          <a:xfrm rot="5400000">
            <a:off x="7836713" y="2602420"/>
            <a:ext cx="219456" cy="219456"/>
          </a:xfrm>
          <a:prstGeom prst="triangle">
            <a:avLst/>
          </a:prstGeom>
          <a:solidFill>
            <a:srgbClr val="22C55E">
              <a:alpha val="75000"/>
            </a:srgbClr>
          </a:solidFill>
          <a:ln/>
        </p:spPr>
      </p:sp>
      <p:sp>
        <p:nvSpPr>
          <p:cNvPr id="15" name="Shape 11"/>
          <p:cNvSpPr/>
          <p:nvPr/>
        </p:nvSpPr>
        <p:spPr>
          <a:xfrm rot="16200000">
            <a:off x="7827569" y="5012753"/>
            <a:ext cx="219456" cy="219456"/>
          </a:xfrm>
          <a:prstGeom prst="triangle">
            <a:avLst/>
          </a:prstGeom>
          <a:solidFill>
            <a:srgbClr val="22C55E">
              <a:alpha val="75000"/>
            </a:srgbClr>
          </a:solidFill>
          <a:ln/>
        </p:spPr>
      </p:sp>
      <p:sp>
        <p:nvSpPr>
          <p:cNvPr id="16" name="Shape 12"/>
          <p:cNvSpPr/>
          <p:nvPr/>
        </p:nvSpPr>
        <p:spPr>
          <a:xfrm>
            <a:off x="9777832" y="3716147"/>
            <a:ext cx="20117" cy="246888"/>
          </a:xfrm>
          <a:prstGeom prst="rect">
            <a:avLst/>
          </a:prstGeom>
          <a:solidFill>
            <a:srgbClr val="2E7D55">
              <a:alpha val="85000"/>
            </a:srgbClr>
          </a:solidFill>
          <a:ln/>
        </p:spPr>
      </p:sp>
      <p:sp>
        <p:nvSpPr>
          <p:cNvPr id="17" name="Shape 13"/>
          <p:cNvSpPr/>
          <p:nvPr/>
        </p:nvSpPr>
        <p:spPr>
          <a:xfrm rot="10800000">
            <a:off x="9696450" y="3940175"/>
            <a:ext cx="182880" cy="182880"/>
          </a:xfrm>
          <a:prstGeom prst="triangle">
            <a:avLst/>
          </a:prstGeom>
          <a:solidFill>
            <a:srgbClr val="22C55E">
              <a:alpha val="75000"/>
            </a:srgbClr>
          </a:solidFill>
          <a:ln/>
        </p:spPr>
      </p:sp>
      <p:sp>
        <p:nvSpPr>
          <p:cNvPr id="18" name="Shape 14"/>
          <p:cNvSpPr/>
          <p:nvPr/>
        </p:nvSpPr>
        <p:spPr>
          <a:xfrm>
            <a:off x="713232" y="1708150"/>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19" name="Shape 15"/>
          <p:cNvSpPr/>
          <p:nvPr/>
        </p:nvSpPr>
        <p:spPr>
          <a:xfrm>
            <a:off x="713232" y="1708150"/>
            <a:ext cx="50292" cy="2007997"/>
          </a:xfrm>
          <a:prstGeom prst="roundRect">
            <a:avLst>
              <a:gd name="adj" fmla="val 54545"/>
            </a:avLst>
          </a:prstGeom>
          <a:solidFill>
            <a:srgbClr val="3C5468">
              <a:alpha val="95000"/>
            </a:srgbClr>
          </a:solidFill>
          <a:ln/>
        </p:spPr>
      </p:sp>
      <p:sp>
        <p:nvSpPr>
          <p:cNvPr id="20" name="Shape 16"/>
          <p:cNvSpPr/>
          <p:nvPr/>
        </p:nvSpPr>
        <p:spPr>
          <a:xfrm>
            <a:off x="987552" y="2062924"/>
            <a:ext cx="420624" cy="420624"/>
          </a:xfrm>
          <a:prstGeom prst="roundRect">
            <a:avLst>
              <a:gd name="adj" fmla="val 50000"/>
            </a:avLst>
          </a:prstGeom>
          <a:solidFill>
            <a:srgbClr val="04101F">
              <a:alpha val="88000"/>
            </a:srgbClr>
          </a:solidFill>
          <a:ln/>
        </p:spPr>
      </p:sp>
      <p:sp>
        <p:nvSpPr>
          <p:cNvPr id="21" name="Shape 17"/>
          <p:cNvSpPr/>
          <p:nvPr/>
        </p:nvSpPr>
        <p:spPr>
          <a:xfrm>
            <a:off x="987552" y="2062924"/>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22" name="Text 18"/>
          <p:cNvSpPr/>
          <p:nvPr/>
        </p:nvSpPr>
        <p:spPr>
          <a:xfrm>
            <a:off x="941832"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1</a:t>
            </a:r>
            <a:endParaRPr lang="en-US" sz="1500" dirty="0"/>
          </a:p>
        </p:txBody>
      </p:sp>
      <p:sp>
        <p:nvSpPr>
          <p:cNvPr id="23" name="Text 19"/>
          <p:cNvSpPr/>
          <p:nvPr/>
        </p:nvSpPr>
        <p:spPr>
          <a:xfrm>
            <a:off x="1536192" y="2108644"/>
            <a:ext cx="2393594" cy="29540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Ghi nhận tình huống</a:t>
            </a:r>
            <a:endParaRPr lang="en-US" sz="1400" dirty="0"/>
          </a:p>
        </p:txBody>
      </p:sp>
      <p:sp>
        <p:nvSpPr>
          <p:cNvPr id="24" name="Text 20"/>
          <p:cNvSpPr/>
          <p:nvPr/>
        </p:nvSpPr>
        <p:spPr>
          <a:xfrm>
            <a:off x="987552" y="2721292"/>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Trưởng thôn báo cáo và đánh dấu điểm</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gặp nạn trên bản đồ.</a:t>
            </a:r>
            <a:endParaRPr lang="en-US" sz="1150" dirty="0"/>
          </a:p>
        </p:txBody>
      </p:sp>
      <p:sp>
        <p:nvSpPr>
          <p:cNvPr id="25" name="Shape 21"/>
          <p:cNvSpPr/>
          <p:nvPr/>
        </p:nvSpPr>
        <p:spPr>
          <a:xfrm>
            <a:off x="4405274" y="1708150"/>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26" name="Shape 22"/>
          <p:cNvSpPr/>
          <p:nvPr/>
        </p:nvSpPr>
        <p:spPr>
          <a:xfrm>
            <a:off x="4405274" y="1708150"/>
            <a:ext cx="50292" cy="2007997"/>
          </a:xfrm>
          <a:prstGeom prst="roundRect">
            <a:avLst>
              <a:gd name="adj" fmla="val 54545"/>
            </a:avLst>
          </a:prstGeom>
          <a:solidFill>
            <a:srgbClr val="3C5468">
              <a:alpha val="95000"/>
            </a:srgbClr>
          </a:solidFill>
          <a:ln/>
        </p:spPr>
      </p:sp>
      <p:sp>
        <p:nvSpPr>
          <p:cNvPr id="27" name="Shape 23"/>
          <p:cNvSpPr/>
          <p:nvPr/>
        </p:nvSpPr>
        <p:spPr>
          <a:xfrm>
            <a:off x="4679594" y="2062924"/>
            <a:ext cx="420624" cy="420624"/>
          </a:xfrm>
          <a:prstGeom prst="roundRect">
            <a:avLst>
              <a:gd name="adj" fmla="val 50000"/>
            </a:avLst>
          </a:prstGeom>
          <a:solidFill>
            <a:srgbClr val="04101F">
              <a:alpha val="88000"/>
            </a:srgbClr>
          </a:solidFill>
          <a:ln/>
        </p:spPr>
      </p:sp>
      <p:sp>
        <p:nvSpPr>
          <p:cNvPr id="28" name="Shape 24"/>
          <p:cNvSpPr/>
          <p:nvPr/>
        </p:nvSpPr>
        <p:spPr>
          <a:xfrm>
            <a:off x="4679594" y="2062924"/>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29" name="Text 25"/>
          <p:cNvSpPr/>
          <p:nvPr/>
        </p:nvSpPr>
        <p:spPr>
          <a:xfrm>
            <a:off x="4633874"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2</a:t>
            </a:r>
            <a:endParaRPr lang="en-US" sz="1500" dirty="0"/>
          </a:p>
        </p:txBody>
      </p:sp>
      <p:sp>
        <p:nvSpPr>
          <p:cNvPr id="30" name="Text 26"/>
          <p:cNvSpPr/>
          <p:nvPr/>
        </p:nvSpPr>
        <p:spPr>
          <a:xfrm>
            <a:off x="5228234" y="2108644"/>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AI hỗ trợ phân tích và</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đề xuất vật tư</a:t>
            </a:r>
            <a:endParaRPr lang="en-US" sz="1400" dirty="0"/>
          </a:p>
        </p:txBody>
      </p:sp>
      <p:sp>
        <p:nvSpPr>
          <p:cNvPr id="31" name="Text 27"/>
          <p:cNvSpPr/>
          <p:nvPr/>
        </p:nvSpPr>
        <p:spPr>
          <a:xfrm>
            <a:off x="4679594" y="2721292"/>
            <a:ext cx="2923946" cy="695325"/>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AI đọc mô tả bằng lời thành số liệu và</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đề xuất vật tư, người điều phối sẽ chốt</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phương án.</a:t>
            </a:r>
            <a:endParaRPr lang="en-US" sz="1150" dirty="0"/>
          </a:p>
        </p:txBody>
      </p:sp>
      <p:sp>
        <p:nvSpPr>
          <p:cNvPr id="32" name="Shape 28"/>
          <p:cNvSpPr/>
          <p:nvPr/>
        </p:nvSpPr>
        <p:spPr>
          <a:xfrm>
            <a:off x="8097317" y="1708150"/>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33" name="Shape 29"/>
          <p:cNvSpPr/>
          <p:nvPr/>
        </p:nvSpPr>
        <p:spPr>
          <a:xfrm>
            <a:off x="8097317" y="1708150"/>
            <a:ext cx="50292" cy="2007997"/>
          </a:xfrm>
          <a:prstGeom prst="roundRect">
            <a:avLst>
              <a:gd name="adj" fmla="val 54545"/>
            </a:avLst>
          </a:prstGeom>
          <a:solidFill>
            <a:srgbClr val="3C5468">
              <a:alpha val="95000"/>
            </a:srgbClr>
          </a:solidFill>
          <a:ln/>
        </p:spPr>
      </p:sp>
      <p:sp>
        <p:nvSpPr>
          <p:cNvPr id="34" name="Shape 30"/>
          <p:cNvSpPr/>
          <p:nvPr/>
        </p:nvSpPr>
        <p:spPr>
          <a:xfrm>
            <a:off x="8371637" y="2062924"/>
            <a:ext cx="420624" cy="420624"/>
          </a:xfrm>
          <a:prstGeom prst="roundRect">
            <a:avLst>
              <a:gd name="adj" fmla="val 50000"/>
            </a:avLst>
          </a:prstGeom>
          <a:solidFill>
            <a:srgbClr val="04101F">
              <a:alpha val="88000"/>
            </a:srgbClr>
          </a:solidFill>
          <a:ln/>
        </p:spPr>
      </p:sp>
      <p:sp>
        <p:nvSpPr>
          <p:cNvPr id="35" name="Shape 31"/>
          <p:cNvSpPr/>
          <p:nvPr/>
        </p:nvSpPr>
        <p:spPr>
          <a:xfrm>
            <a:off x="8371637" y="2062924"/>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36" name="Text 32"/>
          <p:cNvSpPr/>
          <p:nvPr/>
        </p:nvSpPr>
        <p:spPr>
          <a:xfrm>
            <a:off x="8325917" y="2136077"/>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3</a:t>
            </a:r>
            <a:endParaRPr lang="en-US" sz="1500" dirty="0"/>
          </a:p>
        </p:txBody>
      </p:sp>
      <p:sp>
        <p:nvSpPr>
          <p:cNvPr id="37" name="Text 33"/>
          <p:cNvSpPr/>
          <p:nvPr/>
        </p:nvSpPr>
        <p:spPr>
          <a:xfrm>
            <a:off x="8920277" y="2108644"/>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Chọn kho tiếp tế gần</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điểm gặp nạn nhất</a:t>
            </a:r>
            <a:endParaRPr lang="en-US" sz="1400" dirty="0"/>
          </a:p>
        </p:txBody>
      </p:sp>
      <p:sp>
        <p:nvSpPr>
          <p:cNvPr id="38" name="Text 34"/>
          <p:cNvSpPr/>
          <p:nvPr/>
        </p:nvSpPr>
        <p:spPr>
          <a:xfrm>
            <a:off x="8371637" y="2721292"/>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Hệ thống cân nhắc vị trí, tồn kho và khả</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năng đáp ứng của từng kho.</a:t>
            </a:r>
            <a:endParaRPr lang="en-US" sz="1150" dirty="0"/>
          </a:p>
        </p:txBody>
      </p:sp>
      <p:sp>
        <p:nvSpPr>
          <p:cNvPr id="39" name="Shape 35"/>
          <p:cNvSpPr/>
          <p:nvPr/>
        </p:nvSpPr>
        <p:spPr>
          <a:xfrm>
            <a:off x="8097317" y="4118483"/>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40" name="Shape 36"/>
          <p:cNvSpPr/>
          <p:nvPr/>
        </p:nvSpPr>
        <p:spPr>
          <a:xfrm>
            <a:off x="8097317" y="4118483"/>
            <a:ext cx="50292" cy="2007997"/>
          </a:xfrm>
          <a:prstGeom prst="roundRect">
            <a:avLst>
              <a:gd name="adj" fmla="val 54545"/>
            </a:avLst>
          </a:prstGeom>
          <a:solidFill>
            <a:srgbClr val="3C5468">
              <a:alpha val="95000"/>
            </a:srgbClr>
          </a:solidFill>
          <a:ln/>
        </p:spPr>
      </p:sp>
      <p:sp>
        <p:nvSpPr>
          <p:cNvPr id="41" name="Shape 37"/>
          <p:cNvSpPr/>
          <p:nvPr/>
        </p:nvSpPr>
        <p:spPr>
          <a:xfrm>
            <a:off x="8371637" y="4473257"/>
            <a:ext cx="420624" cy="420624"/>
          </a:xfrm>
          <a:prstGeom prst="roundRect">
            <a:avLst>
              <a:gd name="adj" fmla="val 50000"/>
            </a:avLst>
          </a:prstGeom>
          <a:solidFill>
            <a:srgbClr val="04101F">
              <a:alpha val="88000"/>
            </a:srgbClr>
          </a:solidFill>
          <a:ln/>
        </p:spPr>
      </p:sp>
      <p:sp>
        <p:nvSpPr>
          <p:cNvPr id="42" name="Shape 38"/>
          <p:cNvSpPr/>
          <p:nvPr/>
        </p:nvSpPr>
        <p:spPr>
          <a:xfrm>
            <a:off x="8371637" y="4473257"/>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43" name="Text 39"/>
          <p:cNvSpPr/>
          <p:nvPr/>
        </p:nvSpPr>
        <p:spPr>
          <a:xfrm>
            <a:off x="8325917"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4</a:t>
            </a:r>
            <a:endParaRPr lang="en-US" sz="1500" dirty="0"/>
          </a:p>
        </p:txBody>
      </p:sp>
      <p:sp>
        <p:nvSpPr>
          <p:cNvPr id="44" name="Text 40"/>
          <p:cNvSpPr/>
          <p:nvPr/>
        </p:nvSpPr>
        <p:spPr>
          <a:xfrm>
            <a:off x="8920277" y="4518977"/>
            <a:ext cx="2393594" cy="29540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Xác nhận &amp; thông báo</a:t>
            </a:r>
            <a:endParaRPr lang="en-US" sz="1400" dirty="0"/>
          </a:p>
        </p:txBody>
      </p:sp>
      <p:sp>
        <p:nvSpPr>
          <p:cNvPr id="45" name="Text 41"/>
          <p:cNvSpPr/>
          <p:nvPr/>
        </p:nvSpPr>
        <p:spPr>
          <a:xfrm>
            <a:off x="8371637" y="5131626"/>
            <a:ext cx="2923946" cy="695325"/>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Kho phụ trách nhận lệnh chuẩn bị, xuất</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vật tư; đội cứu hộ nhận nhiệm vụ cùng</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lúc.</a:t>
            </a:r>
            <a:endParaRPr lang="en-US" sz="1150" dirty="0"/>
          </a:p>
        </p:txBody>
      </p:sp>
      <p:sp>
        <p:nvSpPr>
          <p:cNvPr id="46" name="Shape 42"/>
          <p:cNvSpPr/>
          <p:nvPr/>
        </p:nvSpPr>
        <p:spPr>
          <a:xfrm>
            <a:off x="4405274" y="4118483"/>
            <a:ext cx="3381146" cy="2007997"/>
          </a:xfrm>
          <a:prstGeom prst="roundRect">
            <a:avLst>
              <a:gd name="adj" fmla="val 5465"/>
            </a:avLst>
          </a:prstGeom>
          <a:solidFill>
            <a:srgbClr val="091B2D">
              <a:alpha val="55000"/>
            </a:srgbClr>
          </a:solidFill>
          <a:ln w="12700">
            <a:solidFill>
              <a:srgbClr val="FFFFFF">
                <a:alpha val="10000"/>
              </a:srgbClr>
            </a:solidFill>
            <a:prstDash val="solid"/>
          </a:ln>
        </p:spPr>
      </p:sp>
      <p:sp>
        <p:nvSpPr>
          <p:cNvPr id="47" name="Shape 43"/>
          <p:cNvSpPr/>
          <p:nvPr/>
        </p:nvSpPr>
        <p:spPr>
          <a:xfrm>
            <a:off x="4405274" y="4118483"/>
            <a:ext cx="50292" cy="2007997"/>
          </a:xfrm>
          <a:prstGeom prst="roundRect">
            <a:avLst>
              <a:gd name="adj" fmla="val 54545"/>
            </a:avLst>
          </a:prstGeom>
          <a:solidFill>
            <a:srgbClr val="3C5468">
              <a:alpha val="95000"/>
            </a:srgbClr>
          </a:solidFill>
          <a:ln/>
        </p:spPr>
      </p:sp>
      <p:sp>
        <p:nvSpPr>
          <p:cNvPr id="48" name="Shape 44"/>
          <p:cNvSpPr/>
          <p:nvPr/>
        </p:nvSpPr>
        <p:spPr>
          <a:xfrm>
            <a:off x="4679594" y="4473257"/>
            <a:ext cx="420624" cy="420624"/>
          </a:xfrm>
          <a:prstGeom prst="roundRect">
            <a:avLst>
              <a:gd name="adj" fmla="val 50000"/>
            </a:avLst>
          </a:prstGeom>
          <a:solidFill>
            <a:srgbClr val="04101F">
              <a:alpha val="88000"/>
            </a:srgbClr>
          </a:solidFill>
          <a:ln/>
        </p:spPr>
      </p:sp>
      <p:sp>
        <p:nvSpPr>
          <p:cNvPr id="49" name="Shape 45"/>
          <p:cNvSpPr/>
          <p:nvPr/>
        </p:nvSpPr>
        <p:spPr>
          <a:xfrm>
            <a:off x="4679594" y="4473257"/>
            <a:ext cx="420624" cy="420624"/>
          </a:xfrm>
          <a:prstGeom prst="roundRect">
            <a:avLst>
              <a:gd name="adj" fmla="val 50000"/>
            </a:avLst>
          </a:prstGeom>
          <a:solidFill>
            <a:srgbClr val="3C5468">
              <a:alpha val="20000"/>
            </a:srgbClr>
          </a:solidFill>
          <a:ln w="15240">
            <a:solidFill>
              <a:srgbClr val="3C5468">
                <a:alpha val="70000"/>
              </a:srgbClr>
            </a:solidFill>
            <a:prstDash val="solid"/>
          </a:ln>
        </p:spPr>
      </p:sp>
      <p:sp>
        <p:nvSpPr>
          <p:cNvPr id="50" name="Text 46"/>
          <p:cNvSpPr/>
          <p:nvPr/>
        </p:nvSpPr>
        <p:spPr>
          <a:xfrm>
            <a:off x="4633874"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3C5468"/>
                </a:solidFill>
                <a:latin typeface="Be Vietnam Pro" pitchFamily="34" charset="0"/>
                <a:ea typeface="Be Vietnam Pro" pitchFamily="34" charset="-122"/>
                <a:cs typeface="Be Vietnam Pro" pitchFamily="34" charset="-120"/>
              </a:rPr>
              <a:t>5</a:t>
            </a:r>
            <a:endParaRPr lang="en-US" sz="1500" dirty="0"/>
          </a:p>
        </p:txBody>
      </p:sp>
      <p:sp>
        <p:nvSpPr>
          <p:cNvPr id="51" name="Text 47"/>
          <p:cNvSpPr/>
          <p:nvPr/>
        </p:nvSpPr>
        <p:spPr>
          <a:xfrm>
            <a:off x="5228234" y="4518977"/>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Đội cứu hộ xác nhận hoàn</a:t>
            </a:r>
            <a:endParaRPr lang="en-US" sz="1400" dirty="0"/>
          </a:p>
          <a:p>
            <a:pPr algn="l" indent="0" marL="0">
              <a:lnSpc>
                <a:spcPts val="1750"/>
              </a:lnSpc>
              <a:buNone/>
            </a:pPr>
            <a:r>
              <a:rPr lang="en-US" sz="1400" b="1" dirty="0">
                <a:solidFill>
                  <a:srgbClr val="8096AB"/>
                </a:solidFill>
                <a:latin typeface="Be Vietnam Pro" pitchFamily="34" charset="0"/>
                <a:ea typeface="Be Vietnam Pro" pitchFamily="34" charset="-122"/>
                <a:cs typeface="Be Vietnam Pro" pitchFamily="34" charset="-120"/>
              </a:rPr>
              <a:t>thành</a:t>
            </a:r>
            <a:endParaRPr lang="en-US" sz="1400" dirty="0"/>
          </a:p>
        </p:txBody>
      </p:sp>
      <p:sp>
        <p:nvSpPr>
          <p:cNvPr id="52" name="Text 48"/>
          <p:cNvSpPr/>
          <p:nvPr/>
        </p:nvSpPr>
        <p:spPr>
          <a:xfrm>
            <a:off x="4679594" y="5131626"/>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Báo cáo kết quả nhiệm vụ kèm hình ảnh</a:t>
            </a:r>
            <a:endParaRPr lang="en-US" sz="1150" dirty="0"/>
          </a:p>
          <a:p>
            <a:pPr algn="l" indent="0" marL="0">
              <a:lnSpc>
                <a:spcPts val="1633"/>
              </a:lnSpc>
              <a:buNone/>
            </a:pPr>
            <a:r>
              <a:rPr lang="en-US" sz="1150" dirty="0">
                <a:solidFill>
                  <a:srgbClr val="5F7488"/>
                </a:solidFill>
                <a:latin typeface="Be Vietnam Pro" pitchFamily="34" charset="0"/>
                <a:ea typeface="Be Vietnam Pro" pitchFamily="34" charset="-122"/>
                <a:cs typeface="Be Vietnam Pro" pitchFamily="34" charset="-120"/>
              </a:rPr>
              <a:t>tại hiện trường.</a:t>
            </a:r>
            <a:endParaRPr lang="en-US" sz="1150" dirty="0"/>
          </a:p>
        </p:txBody>
      </p:sp>
      <p:sp>
        <p:nvSpPr>
          <p:cNvPr id="53" name="Shape 49"/>
          <p:cNvSpPr/>
          <p:nvPr/>
        </p:nvSpPr>
        <p:spPr>
          <a:xfrm>
            <a:off x="658368" y="4063619"/>
            <a:ext cx="3490874" cy="2117725"/>
          </a:xfrm>
          <a:prstGeom prst="roundRect">
            <a:avLst>
              <a:gd name="adj" fmla="val 6909"/>
            </a:avLst>
          </a:prstGeom>
          <a:solidFill>
            <a:srgbClr val="22C55E">
              <a:alpha val="18000"/>
            </a:srgbClr>
          </a:solidFill>
          <a:ln/>
        </p:spPr>
      </p:sp>
      <p:sp>
        <p:nvSpPr>
          <p:cNvPr id="54" name="Shape 50"/>
          <p:cNvSpPr/>
          <p:nvPr/>
        </p:nvSpPr>
        <p:spPr>
          <a:xfrm>
            <a:off x="713232" y="4118483"/>
            <a:ext cx="3381146" cy="2007997"/>
          </a:xfrm>
          <a:prstGeom prst="roundRect">
            <a:avLst>
              <a:gd name="adj" fmla="val 5465"/>
            </a:avLst>
          </a:prstGeom>
          <a:solidFill>
            <a:srgbClr val="091B2D">
              <a:alpha val="78000"/>
            </a:srgbClr>
          </a:solidFill>
          <a:ln w="19050">
            <a:solidFill>
              <a:srgbClr val="22C55E">
                <a:alpha val="50000"/>
              </a:srgbClr>
            </a:solidFill>
            <a:prstDash val="solid"/>
          </a:ln>
        </p:spPr>
      </p:sp>
      <p:sp>
        <p:nvSpPr>
          <p:cNvPr id="55" name="Shape 51"/>
          <p:cNvSpPr/>
          <p:nvPr/>
        </p:nvSpPr>
        <p:spPr>
          <a:xfrm>
            <a:off x="713232" y="4118483"/>
            <a:ext cx="50292" cy="2007997"/>
          </a:xfrm>
          <a:prstGeom prst="roundRect">
            <a:avLst>
              <a:gd name="adj" fmla="val 54545"/>
            </a:avLst>
          </a:prstGeom>
          <a:solidFill>
            <a:srgbClr val="22C55E">
              <a:alpha val="95000"/>
            </a:srgbClr>
          </a:solidFill>
          <a:ln/>
        </p:spPr>
      </p:sp>
      <p:sp>
        <p:nvSpPr>
          <p:cNvPr id="56" name="Shape 52"/>
          <p:cNvSpPr/>
          <p:nvPr/>
        </p:nvSpPr>
        <p:spPr>
          <a:xfrm>
            <a:off x="987552" y="4473257"/>
            <a:ext cx="420624" cy="420624"/>
          </a:xfrm>
          <a:prstGeom prst="roundRect">
            <a:avLst>
              <a:gd name="adj" fmla="val 50000"/>
            </a:avLst>
          </a:prstGeom>
          <a:solidFill>
            <a:srgbClr val="04101F">
              <a:alpha val="88000"/>
            </a:srgbClr>
          </a:solidFill>
          <a:ln/>
        </p:spPr>
      </p:sp>
      <p:sp>
        <p:nvSpPr>
          <p:cNvPr id="57" name="Shape 53"/>
          <p:cNvSpPr/>
          <p:nvPr/>
        </p:nvSpPr>
        <p:spPr>
          <a:xfrm>
            <a:off x="987552" y="4473257"/>
            <a:ext cx="420624" cy="420624"/>
          </a:xfrm>
          <a:prstGeom prst="roundRect">
            <a:avLst>
              <a:gd name="adj" fmla="val 50000"/>
            </a:avLst>
          </a:prstGeom>
          <a:solidFill>
            <a:srgbClr val="22C55E">
              <a:alpha val="20000"/>
            </a:srgbClr>
          </a:solidFill>
          <a:ln w="15240">
            <a:solidFill>
              <a:srgbClr val="22C55E">
                <a:alpha val="70000"/>
              </a:srgbClr>
            </a:solidFill>
            <a:prstDash val="solid"/>
          </a:ln>
        </p:spPr>
      </p:sp>
      <p:sp>
        <p:nvSpPr>
          <p:cNvPr id="58" name="Text 54"/>
          <p:cNvSpPr/>
          <p:nvPr/>
        </p:nvSpPr>
        <p:spPr>
          <a:xfrm>
            <a:off x="941832" y="4546410"/>
            <a:ext cx="512064"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6</a:t>
            </a:r>
            <a:endParaRPr lang="en-US" sz="1500" dirty="0"/>
          </a:p>
        </p:txBody>
      </p:sp>
      <p:sp>
        <p:nvSpPr>
          <p:cNvPr id="59" name="Text 55"/>
          <p:cNvSpPr/>
          <p:nvPr/>
        </p:nvSpPr>
        <p:spPr>
          <a:xfrm>
            <a:off x="1536192" y="4518977"/>
            <a:ext cx="2393594" cy="517652"/>
          </a:xfrm>
          <a:prstGeom prst="rect">
            <a:avLst/>
          </a:prstGeom>
          <a:noFill/>
          <a:ln/>
        </p:spPr>
        <p:txBody>
          <a:bodyPr wrap="square" lIns="0" tIns="0" rIns="0" bIns="0" rtlCol="0" anchor="t"/>
          <a:lstStyle/>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Kho xác nhận hoàn trả</a:t>
            </a:r>
            <a:endParaRPr lang="en-US" sz="1400" dirty="0"/>
          </a:p>
          <a:p>
            <a:pPr algn="l" indent="0" marL="0">
              <a:lnSpc>
                <a:spcPts val="1750"/>
              </a:lnSpc>
              <a:buNone/>
            </a:pPr>
            <a:r>
              <a:rPr lang="en-US" sz="1400" b="1" dirty="0">
                <a:solidFill>
                  <a:srgbClr val="FFFFFF"/>
                </a:solidFill>
                <a:latin typeface="Be Vietnam Pro" pitchFamily="34" charset="0"/>
                <a:ea typeface="Be Vietnam Pro" pitchFamily="34" charset="-122"/>
                <a:cs typeface="Be Vietnam Pro" pitchFamily="34" charset="-120"/>
              </a:rPr>
              <a:t>vật tư</a:t>
            </a:r>
            <a:endParaRPr lang="en-US" sz="1400" dirty="0"/>
          </a:p>
        </p:txBody>
      </p:sp>
      <p:sp>
        <p:nvSpPr>
          <p:cNvPr id="60" name="Text 56"/>
          <p:cNvSpPr/>
          <p:nvPr/>
        </p:nvSpPr>
        <p:spPr>
          <a:xfrm>
            <a:off x="987552" y="5131626"/>
            <a:ext cx="2923946" cy="487934"/>
          </a:xfrm>
          <a:prstGeom prst="rect">
            <a:avLst/>
          </a:prstGeom>
          <a:noFill/>
          <a:ln/>
        </p:spPr>
        <p:txBody>
          <a:bodyPr wrap="square" lIns="0" tIns="0" rIns="0" bIns="0" rtlCol="0" anchor="t"/>
          <a:lstStyle/>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Đối chiếu vật tư đã cấp phát và phần</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thu hồi, khép lại nhiệm vụ.</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par>
                                <p:cTn id="23" presetID="10" presetClass="entr" presetSubtype="0" fill="hold" grpId="0" nodeType="withEffect">
                                  <p:stCondLst>
                                    <p:cond delay="44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400"/>
                                        <p:tgtEl>
                                          <p:spTgt spid="22"/>
                                        </p:tgtEl>
                                      </p:cBhvr>
                                    </p:animEffect>
                                  </p:childTnLst>
                                </p:cTn>
                              </p:par>
                              <p:par>
                                <p:cTn id="26" presetID="10" presetClass="entr" presetSubtype="0" fill="hold" grpId="0" nodeType="withEffect">
                                  <p:stCondLst>
                                    <p:cond delay="44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400"/>
                                        <p:tgtEl>
                                          <p:spTgt spid="23"/>
                                        </p:tgtEl>
                                      </p:cBhvr>
                                    </p:animEffect>
                                  </p:childTnLst>
                                </p:cTn>
                              </p:par>
                              <p:par>
                                <p:cTn id="29" presetID="10" presetClass="entr" presetSubtype="0" fill="hold" grpId="0" nodeType="withEffect">
                                  <p:stCondLst>
                                    <p:cond delay="44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400"/>
                                        <p:tgtEl>
                                          <p:spTgt spid="25"/>
                                        </p:tgtEl>
                                      </p:cBhvr>
                                    </p:animEffect>
                                  </p:childTnLst>
                                </p:cTn>
                              </p:par>
                              <p:par>
                                <p:cTn id="38" presetID="10" presetClass="entr" presetSubtype="0" fill="hold" grpId="0" nodeType="withEffect">
                                  <p:stCondLst>
                                    <p:cond delay="66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400"/>
                                        <p:tgtEl>
                                          <p:spTgt spid="26"/>
                                        </p:tgtEl>
                                      </p:cBhvr>
                                    </p:animEffect>
                                  </p:childTnLst>
                                </p:cTn>
                              </p:par>
                              <p:par>
                                <p:cTn id="41" presetID="10" presetClass="entr" presetSubtype="0" fill="hold" grpId="0" nodeType="withEffect">
                                  <p:stCondLst>
                                    <p:cond delay="66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400"/>
                                        <p:tgtEl>
                                          <p:spTgt spid="27"/>
                                        </p:tgtEl>
                                      </p:cBhvr>
                                    </p:animEffect>
                                  </p:childTnLst>
                                </p:cTn>
                              </p:par>
                              <p:par>
                                <p:cTn id="44" presetID="10" presetClass="entr" presetSubtype="0" fill="hold" grpId="0" nodeType="withEffect">
                                  <p:stCondLst>
                                    <p:cond delay="66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400"/>
                                        <p:tgtEl>
                                          <p:spTgt spid="28"/>
                                        </p:tgtEl>
                                      </p:cBhvr>
                                    </p:animEffect>
                                  </p:childTnLst>
                                </p:cTn>
                              </p:par>
                              <p:par>
                                <p:cTn id="47" presetID="10" presetClass="entr" presetSubtype="0" fill="hold" grpId="0" nodeType="withEffect">
                                  <p:stCondLst>
                                    <p:cond delay="66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400"/>
                                        <p:tgtEl>
                                          <p:spTgt spid="29"/>
                                        </p:tgtEl>
                                      </p:cBhvr>
                                    </p:animEffect>
                                  </p:childTnLst>
                                </p:cTn>
                              </p:par>
                              <p:par>
                                <p:cTn id="50" presetID="10" presetClass="entr" presetSubtype="0" fill="hold" grpId="0" nodeType="withEffect">
                                  <p:stCondLst>
                                    <p:cond delay="66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400"/>
                                        <p:tgtEl>
                                          <p:spTgt spid="30"/>
                                        </p:tgtEl>
                                      </p:cBhvr>
                                    </p:animEffect>
                                  </p:childTnLst>
                                </p:cTn>
                              </p:par>
                              <p:par>
                                <p:cTn id="53" presetID="10" presetClass="entr" presetSubtype="0" fill="hold" grpId="0" nodeType="withEffect">
                                  <p:stCondLst>
                                    <p:cond delay="66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400"/>
                                        <p:tgtEl>
                                          <p:spTgt spid="31"/>
                                        </p:tgtEl>
                                      </p:cBhvr>
                                    </p:animEffect>
                                  </p:childTnLst>
                                </p:cTn>
                              </p:par>
                              <p:par>
                                <p:cTn id="56" presetID="10" presetClass="entr" presetSubtype="0" fill="hold" grpId="0" nodeType="withEffect">
                                  <p:stCondLst>
                                    <p:cond delay="88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400"/>
                                        <p:tgtEl>
                                          <p:spTgt spid="14"/>
                                        </p:tgtEl>
                                      </p:cBhvr>
                                    </p:animEffect>
                                  </p:childTnLst>
                                </p:cTn>
                              </p:par>
                              <p:par>
                                <p:cTn id="59" presetID="10" presetClass="entr" presetSubtype="0" fill="hold" grpId="0" nodeType="withEffect">
                                  <p:stCondLst>
                                    <p:cond delay="88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400"/>
                                        <p:tgtEl>
                                          <p:spTgt spid="32"/>
                                        </p:tgtEl>
                                      </p:cBhvr>
                                    </p:animEffect>
                                  </p:childTnLst>
                                </p:cTn>
                              </p:par>
                              <p:par>
                                <p:cTn id="62" presetID="10" presetClass="entr" presetSubtype="0" fill="hold" grpId="0" nodeType="withEffect">
                                  <p:stCondLst>
                                    <p:cond delay="88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400"/>
                                        <p:tgtEl>
                                          <p:spTgt spid="33"/>
                                        </p:tgtEl>
                                      </p:cBhvr>
                                    </p:animEffect>
                                  </p:childTnLst>
                                </p:cTn>
                              </p:par>
                              <p:par>
                                <p:cTn id="65" presetID="10" presetClass="entr" presetSubtype="0" fill="hold" grpId="0" nodeType="withEffect">
                                  <p:stCondLst>
                                    <p:cond delay="88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400"/>
                                        <p:tgtEl>
                                          <p:spTgt spid="34"/>
                                        </p:tgtEl>
                                      </p:cBhvr>
                                    </p:animEffect>
                                  </p:childTnLst>
                                </p:cTn>
                              </p:par>
                              <p:par>
                                <p:cTn id="68" presetID="10" presetClass="entr" presetSubtype="0" fill="hold" grpId="0" nodeType="withEffect">
                                  <p:stCondLst>
                                    <p:cond delay="88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400"/>
                                        <p:tgtEl>
                                          <p:spTgt spid="35"/>
                                        </p:tgtEl>
                                      </p:cBhvr>
                                    </p:animEffect>
                                  </p:childTnLst>
                                </p:cTn>
                              </p:par>
                              <p:par>
                                <p:cTn id="71" presetID="10" presetClass="entr" presetSubtype="0" fill="hold" grpId="0" nodeType="withEffect">
                                  <p:stCondLst>
                                    <p:cond delay="88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400"/>
                                        <p:tgtEl>
                                          <p:spTgt spid="36"/>
                                        </p:tgtEl>
                                      </p:cBhvr>
                                    </p:animEffect>
                                  </p:childTnLst>
                                </p:cTn>
                              </p:par>
                              <p:par>
                                <p:cTn id="74" presetID="10" presetClass="entr" presetSubtype="0" fill="hold" grpId="0" nodeType="withEffect">
                                  <p:stCondLst>
                                    <p:cond delay="88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400"/>
                                        <p:tgtEl>
                                          <p:spTgt spid="37"/>
                                        </p:tgtEl>
                                      </p:cBhvr>
                                    </p:animEffect>
                                  </p:childTnLst>
                                </p:cTn>
                              </p:par>
                              <p:par>
                                <p:cTn id="77" presetID="10" presetClass="entr" presetSubtype="0" fill="hold" grpId="0" nodeType="withEffect">
                                  <p:stCondLst>
                                    <p:cond delay="88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400"/>
                                        <p:tgtEl>
                                          <p:spTgt spid="38"/>
                                        </p:tgtEl>
                                      </p:cBhvr>
                                    </p:animEffect>
                                  </p:childTnLst>
                                </p:cTn>
                              </p:par>
                              <p:par>
                                <p:cTn id="80" presetID="10" presetClass="entr" presetSubtype="0" fill="hold" grpId="0" nodeType="withEffect">
                                  <p:stCondLst>
                                    <p:cond delay="1100"/>
                                  </p:stCondLst>
                                  <p:childTnLst>
                                    <p:set>
                                      <p:cBhvr>
                                        <p:cTn id="81" dur="1" fill="hold">
                                          <p:stCondLst>
                                            <p:cond delay="0"/>
                                          </p:stCondLst>
                                        </p:cTn>
                                        <p:tgtEl>
                                          <p:spTgt spid="16"/>
                                        </p:tgtEl>
                                        <p:attrNameLst>
                                          <p:attrName>style.visibility</p:attrName>
                                        </p:attrNameLst>
                                      </p:cBhvr>
                                      <p:to>
                                        <p:strVal val="visible"/>
                                      </p:to>
                                    </p:set>
                                    <p:animEffect transition="in" filter="fade">
                                      <p:cBhvr>
                                        <p:cTn id="82" dur="400"/>
                                        <p:tgtEl>
                                          <p:spTgt spid="16"/>
                                        </p:tgtEl>
                                      </p:cBhvr>
                                    </p:animEffect>
                                  </p:childTnLst>
                                </p:cTn>
                              </p:par>
                              <p:par>
                                <p:cTn id="83" presetID="10" presetClass="entr" presetSubtype="0" fill="hold" grpId="0" nodeType="withEffect">
                                  <p:stCondLst>
                                    <p:cond delay="110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400"/>
                                        <p:tgtEl>
                                          <p:spTgt spid="17"/>
                                        </p:tgtEl>
                                      </p:cBhvr>
                                    </p:animEffect>
                                  </p:childTnLst>
                                </p:cTn>
                              </p:par>
                              <p:par>
                                <p:cTn id="86" presetID="10" presetClass="entr" presetSubtype="0" fill="hold" grpId="0" nodeType="withEffect">
                                  <p:stCondLst>
                                    <p:cond delay="1100"/>
                                  </p:stCondLst>
                                  <p:childTnLst>
                                    <p:set>
                                      <p:cBhvr>
                                        <p:cTn id="87" dur="1" fill="hold">
                                          <p:stCondLst>
                                            <p:cond delay="0"/>
                                          </p:stCondLst>
                                        </p:cTn>
                                        <p:tgtEl>
                                          <p:spTgt spid="39"/>
                                        </p:tgtEl>
                                        <p:attrNameLst>
                                          <p:attrName>style.visibility</p:attrName>
                                        </p:attrNameLst>
                                      </p:cBhvr>
                                      <p:to>
                                        <p:strVal val="visible"/>
                                      </p:to>
                                    </p:set>
                                    <p:animEffect transition="in" filter="fade">
                                      <p:cBhvr>
                                        <p:cTn id="88" dur="400"/>
                                        <p:tgtEl>
                                          <p:spTgt spid="39"/>
                                        </p:tgtEl>
                                      </p:cBhvr>
                                    </p:animEffect>
                                  </p:childTnLst>
                                </p:cTn>
                              </p:par>
                              <p:par>
                                <p:cTn id="89" presetID="10" presetClass="entr" presetSubtype="0" fill="hold" grpId="0" nodeType="withEffect">
                                  <p:stCondLst>
                                    <p:cond delay="1100"/>
                                  </p:stCondLst>
                                  <p:childTnLst>
                                    <p:set>
                                      <p:cBhvr>
                                        <p:cTn id="90" dur="1" fill="hold">
                                          <p:stCondLst>
                                            <p:cond delay="0"/>
                                          </p:stCondLst>
                                        </p:cTn>
                                        <p:tgtEl>
                                          <p:spTgt spid="40"/>
                                        </p:tgtEl>
                                        <p:attrNameLst>
                                          <p:attrName>style.visibility</p:attrName>
                                        </p:attrNameLst>
                                      </p:cBhvr>
                                      <p:to>
                                        <p:strVal val="visible"/>
                                      </p:to>
                                    </p:set>
                                    <p:animEffect transition="in" filter="fade">
                                      <p:cBhvr>
                                        <p:cTn id="91" dur="400"/>
                                        <p:tgtEl>
                                          <p:spTgt spid="40"/>
                                        </p:tgtEl>
                                      </p:cBhvr>
                                    </p:animEffect>
                                  </p:childTnLst>
                                </p:cTn>
                              </p:par>
                              <p:par>
                                <p:cTn id="92" presetID="10" presetClass="entr" presetSubtype="0" fill="hold" grpId="0" nodeType="withEffect">
                                  <p:stCondLst>
                                    <p:cond delay="1100"/>
                                  </p:stCondLst>
                                  <p:childTnLst>
                                    <p:set>
                                      <p:cBhvr>
                                        <p:cTn id="93" dur="1" fill="hold">
                                          <p:stCondLst>
                                            <p:cond delay="0"/>
                                          </p:stCondLst>
                                        </p:cTn>
                                        <p:tgtEl>
                                          <p:spTgt spid="41"/>
                                        </p:tgtEl>
                                        <p:attrNameLst>
                                          <p:attrName>style.visibility</p:attrName>
                                        </p:attrNameLst>
                                      </p:cBhvr>
                                      <p:to>
                                        <p:strVal val="visible"/>
                                      </p:to>
                                    </p:set>
                                    <p:animEffect transition="in" filter="fade">
                                      <p:cBhvr>
                                        <p:cTn id="94" dur="400"/>
                                        <p:tgtEl>
                                          <p:spTgt spid="41"/>
                                        </p:tgtEl>
                                      </p:cBhvr>
                                    </p:animEffect>
                                  </p:childTnLst>
                                </p:cTn>
                              </p:par>
                              <p:par>
                                <p:cTn id="95" presetID="10" presetClass="entr" presetSubtype="0" fill="hold" grpId="0" nodeType="withEffect">
                                  <p:stCondLst>
                                    <p:cond delay="1100"/>
                                  </p:stCondLst>
                                  <p:childTnLst>
                                    <p:set>
                                      <p:cBhvr>
                                        <p:cTn id="96" dur="1" fill="hold">
                                          <p:stCondLst>
                                            <p:cond delay="0"/>
                                          </p:stCondLst>
                                        </p:cTn>
                                        <p:tgtEl>
                                          <p:spTgt spid="42"/>
                                        </p:tgtEl>
                                        <p:attrNameLst>
                                          <p:attrName>style.visibility</p:attrName>
                                        </p:attrNameLst>
                                      </p:cBhvr>
                                      <p:to>
                                        <p:strVal val="visible"/>
                                      </p:to>
                                    </p:set>
                                    <p:animEffect transition="in" filter="fade">
                                      <p:cBhvr>
                                        <p:cTn id="97" dur="400"/>
                                        <p:tgtEl>
                                          <p:spTgt spid="42"/>
                                        </p:tgtEl>
                                      </p:cBhvr>
                                    </p:animEffect>
                                  </p:childTnLst>
                                </p:cTn>
                              </p:par>
                              <p:par>
                                <p:cTn id="98" presetID="10" presetClass="entr" presetSubtype="0" fill="hold" grpId="0" nodeType="withEffect">
                                  <p:stCondLst>
                                    <p:cond delay="1100"/>
                                  </p:stCondLst>
                                  <p:childTnLst>
                                    <p:set>
                                      <p:cBhvr>
                                        <p:cTn id="99" dur="1" fill="hold">
                                          <p:stCondLst>
                                            <p:cond delay="0"/>
                                          </p:stCondLst>
                                        </p:cTn>
                                        <p:tgtEl>
                                          <p:spTgt spid="43"/>
                                        </p:tgtEl>
                                        <p:attrNameLst>
                                          <p:attrName>style.visibility</p:attrName>
                                        </p:attrNameLst>
                                      </p:cBhvr>
                                      <p:to>
                                        <p:strVal val="visible"/>
                                      </p:to>
                                    </p:set>
                                    <p:animEffect transition="in" filter="fade">
                                      <p:cBhvr>
                                        <p:cTn id="100" dur="400"/>
                                        <p:tgtEl>
                                          <p:spTgt spid="43"/>
                                        </p:tgtEl>
                                      </p:cBhvr>
                                    </p:animEffect>
                                  </p:childTnLst>
                                </p:cTn>
                              </p:par>
                              <p:par>
                                <p:cTn id="101" presetID="10" presetClass="entr" presetSubtype="0" fill="hold" grpId="0" nodeType="withEffect">
                                  <p:stCondLst>
                                    <p:cond delay="1100"/>
                                  </p:stCondLst>
                                  <p:childTnLst>
                                    <p:set>
                                      <p:cBhvr>
                                        <p:cTn id="102" dur="1" fill="hold">
                                          <p:stCondLst>
                                            <p:cond delay="0"/>
                                          </p:stCondLst>
                                        </p:cTn>
                                        <p:tgtEl>
                                          <p:spTgt spid="44"/>
                                        </p:tgtEl>
                                        <p:attrNameLst>
                                          <p:attrName>style.visibility</p:attrName>
                                        </p:attrNameLst>
                                      </p:cBhvr>
                                      <p:to>
                                        <p:strVal val="visible"/>
                                      </p:to>
                                    </p:set>
                                    <p:animEffect transition="in" filter="fade">
                                      <p:cBhvr>
                                        <p:cTn id="103" dur="400"/>
                                        <p:tgtEl>
                                          <p:spTgt spid="44"/>
                                        </p:tgtEl>
                                      </p:cBhvr>
                                    </p:animEffect>
                                  </p:childTnLst>
                                </p:cTn>
                              </p:par>
                              <p:par>
                                <p:cTn id="104" presetID="10" presetClass="entr" presetSubtype="0" fill="hold" grpId="0" nodeType="withEffect">
                                  <p:stCondLst>
                                    <p:cond delay="110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400"/>
                                        <p:tgtEl>
                                          <p:spTgt spid="45"/>
                                        </p:tgtEl>
                                      </p:cBhvr>
                                    </p:animEffect>
                                  </p:childTnLst>
                                </p:cTn>
                              </p:par>
                              <p:par>
                                <p:cTn id="107" presetID="10" presetClass="entr" presetSubtype="0" fill="hold" grpId="0" nodeType="withEffect">
                                  <p:stCondLst>
                                    <p:cond delay="1320"/>
                                  </p:stCondLst>
                                  <p:childTnLst>
                                    <p:set>
                                      <p:cBhvr>
                                        <p:cTn id="108" dur="1" fill="hold">
                                          <p:stCondLst>
                                            <p:cond delay="0"/>
                                          </p:stCondLst>
                                        </p:cTn>
                                        <p:tgtEl>
                                          <p:spTgt spid="15"/>
                                        </p:tgtEl>
                                        <p:attrNameLst>
                                          <p:attrName>style.visibility</p:attrName>
                                        </p:attrNameLst>
                                      </p:cBhvr>
                                      <p:to>
                                        <p:strVal val="visible"/>
                                      </p:to>
                                    </p:set>
                                    <p:animEffect transition="in" filter="fade">
                                      <p:cBhvr>
                                        <p:cTn id="109" dur="400"/>
                                        <p:tgtEl>
                                          <p:spTgt spid="15"/>
                                        </p:tgtEl>
                                      </p:cBhvr>
                                    </p:animEffect>
                                  </p:childTnLst>
                                </p:cTn>
                              </p:par>
                              <p:par>
                                <p:cTn id="110" presetID="10" presetClass="entr" presetSubtype="0" fill="hold" grpId="0" nodeType="withEffect">
                                  <p:stCondLst>
                                    <p:cond delay="1320"/>
                                  </p:stCondLst>
                                  <p:childTnLst>
                                    <p:set>
                                      <p:cBhvr>
                                        <p:cTn id="111" dur="1" fill="hold">
                                          <p:stCondLst>
                                            <p:cond delay="0"/>
                                          </p:stCondLst>
                                        </p:cTn>
                                        <p:tgtEl>
                                          <p:spTgt spid="46"/>
                                        </p:tgtEl>
                                        <p:attrNameLst>
                                          <p:attrName>style.visibility</p:attrName>
                                        </p:attrNameLst>
                                      </p:cBhvr>
                                      <p:to>
                                        <p:strVal val="visible"/>
                                      </p:to>
                                    </p:set>
                                    <p:animEffect transition="in" filter="fade">
                                      <p:cBhvr>
                                        <p:cTn id="112" dur="400"/>
                                        <p:tgtEl>
                                          <p:spTgt spid="46"/>
                                        </p:tgtEl>
                                      </p:cBhvr>
                                    </p:animEffect>
                                  </p:childTnLst>
                                </p:cTn>
                              </p:par>
                              <p:par>
                                <p:cTn id="113" presetID="10" presetClass="entr" presetSubtype="0" fill="hold" grpId="0" nodeType="withEffect">
                                  <p:stCondLst>
                                    <p:cond delay="1320"/>
                                  </p:stCondLst>
                                  <p:childTnLst>
                                    <p:set>
                                      <p:cBhvr>
                                        <p:cTn id="114" dur="1" fill="hold">
                                          <p:stCondLst>
                                            <p:cond delay="0"/>
                                          </p:stCondLst>
                                        </p:cTn>
                                        <p:tgtEl>
                                          <p:spTgt spid="47"/>
                                        </p:tgtEl>
                                        <p:attrNameLst>
                                          <p:attrName>style.visibility</p:attrName>
                                        </p:attrNameLst>
                                      </p:cBhvr>
                                      <p:to>
                                        <p:strVal val="visible"/>
                                      </p:to>
                                    </p:set>
                                    <p:animEffect transition="in" filter="fade">
                                      <p:cBhvr>
                                        <p:cTn id="115" dur="400"/>
                                        <p:tgtEl>
                                          <p:spTgt spid="47"/>
                                        </p:tgtEl>
                                      </p:cBhvr>
                                    </p:animEffect>
                                  </p:childTnLst>
                                </p:cTn>
                              </p:par>
                              <p:par>
                                <p:cTn id="116" presetID="10" presetClass="entr" presetSubtype="0" fill="hold" grpId="0" nodeType="withEffect">
                                  <p:stCondLst>
                                    <p:cond delay="1320"/>
                                  </p:stCondLst>
                                  <p:childTnLst>
                                    <p:set>
                                      <p:cBhvr>
                                        <p:cTn id="117" dur="1" fill="hold">
                                          <p:stCondLst>
                                            <p:cond delay="0"/>
                                          </p:stCondLst>
                                        </p:cTn>
                                        <p:tgtEl>
                                          <p:spTgt spid="48"/>
                                        </p:tgtEl>
                                        <p:attrNameLst>
                                          <p:attrName>style.visibility</p:attrName>
                                        </p:attrNameLst>
                                      </p:cBhvr>
                                      <p:to>
                                        <p:strVal val="visible"/>
                                      </p:to>
                                    </p:set>
                                    <p:animEffect transition="in" filter="fade">
                                      <p:cBhvr>
                                        <p:cTn id="118" dur="400"/>
                                        <p:tgtEl>
                                          <p:spTgt spid="48"/>
                                        </p:tgtEl>
                                      </p:cBhvr>
                                    </p:animEffect>
                                  </p:childTnLst>
                                </p:cTn>
                              </p:par>
                              <p:par>
                                <p:cTn id="119" presetID="10" presetClass="entr" presetSubtype="0" fill="hold" grpId="0" nodeType="withEffect">
                                  <p:stCondLst>
                                    <p:cond delay="1320"/>
                                  </p:stCondLst>
                                  <p:childTnLst>
                                    <p:set>
                                      <p:cBhvr>
                                        <p:cTn id="120" dur="1" fill="hold">
                                          <p:stCondLst>
                                            <p:cond delay="0"/>
                                          </p:stCondLst>
                                        </p:cTn>
                                        <p:tgtEl>
                                          <p:spTgt spid="49"/>
                                        </p:tgtEl>
                                        <p:attrNameLst>
                                          <p:attrName>style.visibility</p:attrName>
                                        </p:attrNameLst>
                                      </p:cBhvr>
                                      <p:to>
                                        <p:strVal val="visible"/>
                                      </p:to>
                                    </p:set>
                                    <p:animEffect transition="in" filter="fade">
                                      <p:cBhvr>
                                        <p:cTn id="121" dur="400"/>
                                        <p:tgtEl>
                                          <p:spTgt spid="49"/>
                                        </p:tgtEl>
                                      </p:cBhvr>
                                    </p:animEffect>
                                  </p:childTnLst>
                                </p:cTn>
                              </p:par>
                              <p:par>
                                <p:cTn id="122" presetID="10" presetClass="entr" presetSubtype="0" fill="hold" grpId="0" nodeType="withEffect">
                                  <p:stCondLst>
                                    <p:cond delay="1320"/>
                                  </p:stCondLst>
                                  <p:childTnLst>
                                    <p:set>
                                      <p:cBhvr>
                                        <p:cTn id="123" dur="1" fill="hold">
                                          <p:stCondLst>
                                            <p:cond delay="0"/>
                                          </p:stCondLst>
                                        </p:cTn>
                                        <p:tgtEl>
                                          <p:spTgt spid="50"/>
                                        </p:tgtEl>
                                        <p:attrNameLst>
                                          <p:attrName>style.visibility</p:attrName>
                                        </p:attrNameLst>
                                      </p:cBhvr>
                                      <p:to>
                                        <p:strVal val="visible"/>
                                      </p:to>
                                    </p:set>
                                    <p:animEffect transition="in" filter="fade">
                                      <p:cBhvr>
                                        <p:cTn id="124" dur="400"/>
                                        <p:tgtEl>
                                          <p:spTgt spid="50"/>
                                        </p:tgtEl>
                                      </p:cBhvr>
                                    </p:animEffect>
                                  </p:childTnLst>
                                </p:cTn>
                              </p:par>
                              <p:par>
                                <p:cTn id="125" presetID="10" presetClass="entr" presetSubtype="0" fill="hold" grpId="0" nodeType="withEffect">
                                  <p:stCondLst>
                                    <p:cond delay="1320"/>
                                  </p:stCondLst>
                                  <p:childTnLst>
                                    <p:set>
                                      <p:cBhvr>
                                        <p:cTn id="126" dur="1" fill="hold">
                                          <p:stCondLst>
                                            <p:cond delay="0"/>
                                          </p:stCondLst>
                                        </p:cTn>
                                        <p:tgtEl>
                                          <p:spTgt spid="51"/>
                                        </p:tgtEl>
                                        <p:attrNameLst>
                                          <p:attrName>style.visibility</p:attrName>
                                        </p:attrNameLst>
                                      </p:cBhvr>
                                      <p:to>
                                        <p:strVal val="visible"/>
                                      </p:to>
                                    </p:set>
                                    <p:animEffect transition="in" filter="fade">
                                      <p:cBhvr>
                                        <p:cTn id="127" dur="400"/>
                                        <p:tgtEl>
                                          <p:spTgt spid="51"/>
                                        </p:tgtEl>
                                      </p:cBhvr>
                                    </p:animEffect>
                                  </p:childTnLst>
                                </p:cTn>
                              </p:par>
                              <p:par>
                                <p:cTn id="128" presetID="10" presetClass="entr" presetSubtype="0" fill="hold" grpId="0" nodeType="withEffect">
                                  <p:stCondLst>
                                    <p:cond delay="1320"/>
                                  </p:stCondLst>
                                  <p:childTnLst>
                                    <p:set>
                                      <p:cBhvr>
                                        <p:cTn id="129" dur="1" fill="hold">
                                          <p:stCondLst>
                                            <p:cond delay="0"/>
                                          </p:stCondLst>
                                        </p:cTn>
                                        <p:tgtEl>
                                          <p:spTgt spid="52"/>
                                        </p:tgtEl>
                                        <p:attrNameLst>
                                          <p:attrName>style.visibility</p:attrName>
                                        </p:attrNameLst>
                                      </p:cBhvr>
                                      <p:to>
                                        <p:strVal val="visible"/>
                                      </p:to>
                                    </p:set>
                                    <p:animEffect transition="in" filter="fade">
                                      <p:cBhvr>
                                        <p:cTn id="130" dur="400"/>
                                        <p:tgtEl>
                                          <p:spTgt spid="52"/>
                                        </p:tgtEl>
                                      </p:cBhvr>
                                    </p:animEffect>
                                  </p:childTnLst>
                                </p:cTn>
                              </p:par>
                              <p:par>
                                <p:cTn id="131" presetID="10" presetClass="entr" presetSubtype="0" fill="hold" grpId="0" nodeType="withEffect">
                                  <p:stCondLst>
                                    <p:cond delay="1540"/>
                                  </p:stCondLst>
                                  <p:childTnLst>
                                    <p:set>
                                      <p:cBhvr>
                                        <p:cTn id="132" dur="1" fill="hold">
                                          <p:stCondLst>
                                            <p:cond delay="0"/>
                                          </p:stCondLst>
                                        </p:cTn>
                                        <p:tgtEl>
                                          <p:spTgt spid="53"/>
                                        </p:tgtEl>
                                        <p:attrNameLst>
                                          <p:attrName>style.visibility</p:attrName>
                                        </p:attrNameLst>
                                      </p:cBhvr>
                                      <p:to>
                                        <p:strVal val="visible"/>
                                      </p:to>
                                    </p:set>
                                    <p:animEffect transition="in" filter="fade">
                                      <p:cBhvr>
                                        <p:cTn id="133" dur="400"/>
                                        <p:tgtEl>
                                          <p:spTgt spid="53"/>
                                        </p:tgtEl>
                                      </p:cBhvr>
                                    </p:animEffect>
                                  </p:childTnLst>
                                </p:cTn>
                              </p:par>
                              <p:par>
                                <p:cTn id="134" presetID="10" presetClass="entr" presetSubtype="0" fill="hold" grpId="0" nodeType="withEffect">
                                  <p:stCondLst>
                                    <p:cond delay="1760"/>
                                  </p:stCondLst>
                                  <p:childTnLst>
                                    <p:set>
                                      <p:cBhvr>
                                        <p:cTn id="135" dur="1" fill="hold">
                                          <p:stCondLst>
                                            <p:cond delay="0"/>
                                          </p:stCondLst>
                                        </p:cTn>
                                        <p:tgtEl>
                                          <p:spTgt spid="13"/>
                                        </p:tgtEl>
                                        <p:attrNameLst>
                                          <p:attrName>style.visibility</p:attrName>
                                        </p:attrNameLst>
                                      </p:cBhvr>
                                      <p:to>
                                        <p:strVal val="visible"/>
                                      </p:to>
                                    </p:set>
                                    <p:animEffect transition="in" filter="fade">
                                      <p:cBhvr>
                                        <p:cTn id="136" dur="400"/>
                                        <p:tgtEl>
                                          <p:spTgt spid="13"/>
                                        </p:tgtEl>
                                      </p:cBhvr>
                                    </p:animEffect>
                                  </p:childTnLst>
                                </p:cTn>
                              </p:par>
                              <p:par>
                                <p:cTn id="137" presetID="10" presetClass="entr" presetSubtype="0" fill="hold" grpId="0" nodeType="withEffect">
                                  <p:stCondLst>
                                    <p:cond delay="1760"/>
                                  </p:stCondLst>
                                  <p:childTnLst>
                                    <p:set>
                                      <p:cBhvr>
                                        <p:cTn id="138" dur="1" fill="hold">
                                          <p:stCondLst>
                                            <p:cond delay="0"/>
                                          </p:stCondLst>
                                        </p:cTn>
                                        <p:tgtEl>
                                          <p:spTgt spid="54"/>
                                        </p:tgtEl>
                                        <p:attrNameLst>
                                          <p:attrName>style.visibility</p:attrName>
                                        </p:attrNameLst>
                                      </p:cBhvr>
                                      <p:to>
                                        <p:strVal val="visible"/>
                                      </p:to>
                                    </p:set>
                                    <p:animEffect transition="in" filter="fade">
                                      <p:cBhvr>
                                        <p:cTn id="139" dur="400"/>
                                        <p:tgtEl>
                                          <p:spTgt spid="54"/>
                                        </p:tgtEl>
                                      </p:cBhvr>
                                    </p:animEffect>
                                  </p:childTnLst>
                                </p:cTn>
                              </p:par>
                              <p:par>
                                <p:cTn id="140" presetID="10" presetClass="entr" presetSubtype="0" fill="hold" grpId="0" nodeType="withEffect">
                                  <p:stCondLst>
                                    <p:cond delay="1760"/>
                                  </p:stCondLst>
                                  <p:childTnLst>
                                    <p:set>
                                      <p:cBhvr>
                                        <p:cTn id="141" dur="1" fill="hold">
                                          <p:stCondLst>
                                            <p:cond delay="0"/>
                                          </p:stCondLst>
                                        </p:cTn>
                                        <p:tgtEl>
                                          <p:spTgt spid="55"/>
                                        </p:tgtEl>
                                        <p:attrNameLst>
                                          <p:attrName>style.visibility</p:attrName>
                                        </p:attrNameLst>
                                      </p:cBhvr>
                                      <p:to>
                                        <p:strVal val="visible"/>
                                      </p:to>
                                    </p:set>
                                    <p:animEffect transition="in" filter="fade">
                                      <p:cBhvr>
                                        <p:cTn id="142" dur="400"/>
                                        <p:tgtEl>
                                          <p:spTgt spid="55"/>
                                        </p:tgtEl>
                                      </p:cBhvr>
                                    </p:animEffect>
                                  </p:childTnLst>
                                </p:cTn>
                              </p:par>
                              <p:par>
                                <p:cTn id="143" presetID="10" presetClass="entr" presetSubtype="0" fill="hold" grpId="0" nodeType="withEffect">
                                  <p:stCondLst>
                                    <p:cond delay="1760"/>
                                  </p:stCondLst>
                                  <p:childTnLst>
                                    <p:set>
                                      <p:cBhvr>
                                        <p:cTn id="144" dur="1" fill="hold">
                                          <p:stCondLst>
                                            <p:cond delay="0"/>
                                          </p:stCondLst>
                                        </p:cTn>
                                        <p:tgtEl>
                                          <p:spTgt spid="56"/>
                                        </p:tgtEl>
                                        <p:attrNameLst>
                                          <p:attrName>style.visibility</p:attrName>
                                        </p:attrNameLst>
                                      </p:cBhvr>
                                      <p:to>
                                        <p:strVal val="visible"/>
                                      </p:to>
                                    </p:set>
                                    <p:animEffect transition="in" filter="fade">
                                      <p:cBhvr>
                                        <p:cTn id="145" dur="400"/>
                                        <p:tgtEl>
                                          <p:spTgt spid="56"/>
                                        </p:tgtEl>
                                      </p:cBhvr>
                                    </p:animEffect>
                                  </p:childTnLst>
                                </p:cTn>
                              </p:par>
                              <p:par>
                                <p:cTn id="146" presetID="10" presetClass="entr" presetSubtype="0" fill="hold" grpId="0" nodeType="withEffect">
                                  <p:stCondLst>
                                    <p:cond delay="1760"/>
                                  </p:stCondLst>
                                  <p:childTnLst>
                                    <p:set>
                                      <p:cBhvr>
                                        <p:cTn id="147" dur="1" fill="hold">
                                          <p:stCondLst>
                                            <p:cond delay="0"/>
                                          </p:stCondLst>
                                        </p:cTn>
                                        <p:tgtEl>
                                          <p:spTgt spid="57"/>
                                        </p:tgtEl>
                                        <p:attrNameLst>
                                          <p:attrName>style.visibility</p:attrName>
                                        </p:attrNameLst>
                                      </p:cBhvr>
                                      <p:to>
                                        <p:strVal val="visible"/>
                                      </p:to>
                                    </p:set>
                                    <p:animEffect transition="in" filter="fade">
                                      <p:cBhvr>
                                        <p:cTn id="148" dur="400"/>
                                        <p:tgtEl>
                                          <p:spTgt spid="57"/>
                                        </p:tgtEl>
                                      </p:cBhvr>
                                    </p:animEffect>
                                  </p:childTnLst>
                                </p:cTn>
                              </p:par>
                              <p:par>
                                <p:cTn id="149" presetID="10" presetClass="entr" presetSubtype="0" fill="hold" grpId="0" nodeType="withEffect">
                                  <p:stCondLst>
                                    <p:cond delay="1760"/>
                                  </p:stCondLst>
                                  <p:childTnLst>
                                    <p:set>
                                      <p:cBhvr>
                                        <p:cTn id="150" dur="1" fill="hold">
                                          <p:stCondLst>
                                            <p:cond delay="0"/>
                                          </p:stCondLst>
                                        </p:cTn>
                                        <p:tgtEl>
                                          <p:spTgt spid="58"/>
                                        </p:tgtEl>
                                        <p:attrNameLst>
                                          <p:attrName>style.visibility</p:attrName>
                                        </p:attrNameLst>
                                      </p:cBhvr>
                                      <p:to>
                                        <p:strVal val="visible"/>
                                      </p:to>
                                    </p:set>
                                    <p:animEffect transition="in" filter="fade">
                                      <p:cBhvr>
                                        <p:cTn id="151" dur="400"/>
                                        <p:tgtEl>
                                          <p:spTgt spid="58"/>
                                        </p:tgtEl>
                                      </p:cBhvr>
                                    </p:animEffect>
                                  </p:childTnLst>
                                </p:cTn>
                              </p:par>
                              <p:par>
                                <p:cTn id="152" presetID="10" presetClass="entr" presetSubtype="0" fill="hold" grpId="0" nodeType="withEffect">
                                  <p:stCondLst>
                                    <p:cond delay="1760"/>
                                  </p:stCondLst>
                                  <p:childTnLst>
                                    <p:set>
                                      <p:cBhvr>
                                        <p:cTn id="153" dur="1" fill="hold">
                                          <p:stCondLst>
                                            <p:cond delay="0"/>
                                          </p:stCondLst>
                                        </p:cTn>
                                        <p:tgtEl>
                                          <p:spTgt spid="59"/>
                                        </p:tgtEl>
                                        <p:attrNameLst>
                                          <p:attrName>style.visibility</p:attrName>
                                        </p:attrNameLst>
                                      </p:cBhvr>
                                      <p:to>
                                        <p:strVal val="visible"/>
                                      </p:to>
                                    </p:set>
                                    <p:animEffect transition="in" filter="fade">
                                      <p:cBhvr>
                                        <p:cTn id="154" dur="400"/>
                                        <p:tgtEl>
                                          <p:spTgt spid="59"/>
                                        </p:tgtEl>
                                      </p:cBhvr>
                                    </p:animEffect>
                                  </p:childTnLst>
                                </p:cTn>
                              </p:par>
                              <p:par>
                                <p:cTn id="155" presetID="10" presetClass="entr" presetSubtype="0" fill="hold" grpId="0" nodeType="withEffect">
                                  <p:stCondLst>
                                    <p:cond delay="1760"/>
                                  </p:stCondLst>
                                  <p:childTnLst>
                                    <p:set>
                                      <p:cBhvr>
                                        <p:cTn id="156" dur="1" fill="hold">
                                          <p:stCondLst>
                                            <p:cond delay="0"/>
                                          </p:stCondLst>
                                        </p:cTn>
                                        <p:tgtEl>
                                          <p:spTgt spid="60"/>
                                        </p:tgtEl>
                                        <p:attrNameLst>
                                          <p:attrName>style.visibility</p:attrName>
                                        </p:attrNameLst>
                                      </p:cBhvr>
                                      <p:to>
                                        <p:strVal val="visible"/>
                                      </p:to>
                                    </p:set>
                                    <p:animEffect transition="in" filter="fade">
                                      <p:cBhvr>
                                        <p:cTn id="157"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16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DỮ LIỆU &amp; DỰ BÁO</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Mỗi đợt thiên tai để lại dữ liệu cho đợt sau</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Shape 8"/>
          <p:cNvSpPr/>
          <p:nvPr/>
        </p:nvSpPr>
        <p:spPr>
          <a:xfrm>
            <a:off x="713232" y="1964182"/>
            <a:ext cx="2485568" cy="2148840"/>
          </a:xfrm>
          <a:prstGeom prst="roundRect">
            <a:avLst>
              <a:gd name="adj" fmla="val 5106"/>
            </a:avLst>
          </a:prstGeom>
          <a:solidFill>
            <a:srgbClr val="091B2D">
              <a:alpha val="66000"/>
            </a:srgbClr>
          </a:solidFill>
          <a:ln w="12700">
            <a:solidFill>
              <a:srgbClr val="FFFFFF">
                <a:alpha val="12000"/>
              </a:srgbClr>
            </a:solidFill>
            <a:prstDash val="solid"/>
          </a:ln>
        </p:spPr>
      </p:sp>
      <p:sp>
        <p:nvSpPr>
          <p:cNvPr id="13" name="Shape 9"/>
          <p:cNvSpPr/>
          <p:nvPr/>
        </p:nvSpPr>
        <p:spPr>
          <a:xfrm>
            <a:off x="713232" y="1964182"/>
            <a:ext cx="50292" cy="2148840"/>
          </a:xfrm>
          <a:prstGeom prst="roundRect">
            <a:avLst>
              <a:gd name="adj" fmla="val 54545"/>
            </a:avLst>
          </a:prstGeom>
          <a:solidFill>
            <a:srgbClr val="22C55E">
              <a:alpha val="95000"/>
            </a:srgbClr>
          </a:solidFill>
          <a:ln/>
        </p:spPr>
      </p:sp>
      <p:sp>
        <p:nvSpPr>
          <p:cNvPr id="14" name="Text 10"/>
          <p:cNvSpPr/>
          <p:nvPr/>
        </p:nvSpPr>
        <p:spPr>
          <a:xfrm>
            <a:off x="1005840" y="2220214"/>
            <a:ext cx="1991792" cy="549402"/>
          </a:xfrm>
          <a:prstGeom prst="rect">
            <a:avLst/>
          </a:prstGeom>
          <a:noFill/>
          <a:ln/>
        </p:spPr>
        <p:txBody>
          <a:bodyPr wrap="square" lIns="0" tIns="0" rIns="0" bIns="0" rtlCol="0" anchor="t"/>
          <a:lstStyle/>
          <a:p>
            <a:pPr algn="l" indent="0" marL="0">
              <a:lnSpc>
                <a:spcPts val="1875"/>
              </a:lnSpc>
              <a:buNone/>
            </a:pPr>
            <a:r>
              <a:rPr lang="en-US" sz="1500" b="1" dirty="0">
                <a:solidFill>
                  <a:srgbClr val="FFFFFF"/>
                </a:solidFill>
                <a:latin typeface="Be Vietnam Pro" pitchFamily="34" charset="0"/>
                <a:ea typeface="Be Vietnam Pro" pitchFamily="34" charset="-122"/>
                <a:cs typeface="Be Vietnam Pro" pitchFamily="34" charset="-120"/>
              </a:rPr>
              <a:t>Nhiệm vụ đã hoàn</a:t>
            </a:r>
            <a:endParaRPr lang="en-US" sz="1500" dirty="0"/>
          </a:p>
          <a:p>
            <a:pPr algn="l" indent="0" marL="0">
              <a:lnSpc>
                <a:spcPts val="1875"/>
              </a:lnSpc>
              <a:buNone/>
            </a:pPr>
            <a:r>
              <a:rPr lang="en-US" sz="1500" b="1" dirty="0">
                <a:solidFill>
                  <a:srgbClr val="FFFFFF"/>
                </a:solidFill>
                <a:latin typeface="Be Vietnam Pro" pitchFamily="34" charset="0"/>
                <a:ea typeface="Be Vietnam Pro" pitchFamily="34" charset="-122"/>
                <a:cs typeface="Be Vietnam Pro" pitchFamily="34" charset="-120"/>
              </a:rPr>
              <a:t>thành</a:t>
            </a:r>
            <a:endParaRPr lang="en-US" sz="1500" dirty="0"/>
          </a:p>
        </p:txBody>
      </p:sp>
      <p:sp>
        <p:nvSpPr>
          <p:cNvPr id="15" name="Text 11"/>
          <p:cNvSpPr/>
          <p:nvPr/>
        </p:nvSpPr>
        <p:spPr>
          <a:xfrm>
            <a:off x="1005840" y="2988310"/>
            <a:ext cx="1991792" cy="736092"/>
          </a:xfrm>
          <a:prstGeom prst="rect">
            <a:avLst/>
          </a:prstGeom>
          <a:noFill/>
          <a:ln/>
        </p:spPr>
        <p:txBody>
          <a:bodyPr wrap="square" lIns="0" tIns="0" rIns="0" bIns="0" rtlCol="0" anchor="t"/>
          <a:lstStyle/>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Bao nhiêu nhiệm vụ hoàn</a:t>
            </a:r>
            <a:endParaRPr lang="en-US" sz="1200" dirty="0"/>
          </a:p>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thành, bao nhiêu còn</a:t>
            </a:r>
            <a:endParaRPr lang="en-US" sz="1200" dirty="0"/>
          </a:p>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dang dở sau mỗi đợt.</a:t>
            </a:r>
            <a:endParaRPr lang="en-US" sz="1200" dirty="0"/>
          </a:p>
        </p:txBody>
      </p:sp>
      <p:sp>
        <p:nvSpPr>
          <p:cNvPr id="16" name="Shape 12"/>
          <p:cNvSpPr/>
          <p:nvPr/>
        </p:nvSpPr>
        <p:spPr>
          <a:xfrm>
            <a:off x="3473120" y="1964182"/>
            <a:ext cx="2485568" cy="2148840"/>
          </a:xfrm>
          <a:prstGeom prst="roundRect">
            <a:avLst>
              <a:gd name="adj" fmla="val 5106"/>
            </a:avLst>
          </a:prstGeom>
          <a:solidFill>
            <a:srgbClr val="091B2D">
              <a:alpha val="66000"/>
            </a:srgbClr>
          </a:solidFill>
          <a:ln w="12700">
            <a:solidFill>
              <a:srgbClr val="FFFFFF">
                <a:alpha val="12000"/>
              </a:srgbClr>
            </a:solidFill>
            <a:prstDash val="solid"/>
          </a:ln>
        </p:spPr>
      </p:sp>
      <p:sp>
        <p:nvSpPr>
          <p:cNvPr id="17" name="Shape 13"/>
          <p:cNvSpPr/>
          <p:nvPr/>
        </p:nvSpPr>
        <p:spPr>
          <a:xfrm>
            <a:off x="3473120" y="1964182"/>
            <a:ext cx="50292" cy="2148840"/>
          </a:xfrm>
          <a:prstGeom prst="roundRect">
            <a:avLst>
              <a:gd name="adj" fmla="val 54545"/>
            </a:avLst>
          </a:prstGeom>
          <a:solidFill>
            <a:srgbClr val="38BDF8">
              <a:alpha val="95000"/>
            </a:srgbClr>
          </a:solidFill>
          <a:ln/>
        </p:spPr>
      </p:sp>
      <p:sp>
        <p:nvSpPr>
          <p:cNvPr id="18" name="Text 14"/>
          <p:cNvSpPr/>
          <p:nvPr/>
        </p:nvSpPr>
        <p:spPr>
          <a:xfrm>
            <a:off x="3765728" y="2220214"/>
            <a:ext cx="1991792" cy="311277"/>
          </a:xfrm>
          <a:prstGeom prst="rect">
            <a:avLst/>
          </a:prstGeom>
          <a:noFill/>
          <a:ln/>
        </p:spPr>
        <p:txBody>
          <a:bodyPr wrap="square" lIns="0" tIns="0" rIns="0" bIns="0" rtlCol="0" anchor="t"/>
          <a:lstStyle/>
          <a:p>
            <a:pPr algn="l" indent="0" marL="0">
              <a:lnSpc>
                <a:spcPts val="1875"/>
              </a:lnSpc>
              <a:buNone/>
            </a:pPr>
            <a:r>
              <a:rPr lang="en-US" sz="1500" b="1" dirty="0">
                <a:solidFill>
                  <a:srgbClr val="FFFFFF"/>
                </a:solidFill>
                <a:latin typeface="Be Vietnam Pro" pitchFamily="34" charset="0"/>
                <a:ea typeface="Be Vietnam Pro" pitchFamily="34" charset="-122"/>
                <a:cs typeface="Be Vietnam Pro" pitchFamily="34" charset="-120"/>
              </a:rPr>
              <a:t>Vật tư đã sử dụng</a:t>
            </a:r>
            <a:endParaRPr lang="en-US" sz="1500" dirty="0"/>
          </a:p>
        </p:txBody>
      </p:sp>
      <p:sp>
        <p:nvSpPr>
          <p:cNvPr id="19" name="Text 15"/>
          <p:cNvSpPr/>
          <p:nvPr/>
        </p:nvSpPr>
        <p:spPr>
          <a:xfrm>
            <a:off x="3765728" y="2988310"/>
            <a:ext cx="1991792" cy="736092"/>
          </a:xfrm>
          <a:prstGeom prst="rect">
            <a:avLst/>
          </a:prstGeom>
          <a:noFill/>
          <a:ln/>
        </p:spPr>
        <p:txBody>
          <a:bodyPr wrap="square" lIns="0" tIns="0" rIns="0" bIns="0" rtlCol="0" anchor="t"/>
          <a:lstStyle/>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Thống kê chính xác lượng</a:t>
            </a:r>
            <a:endParaRPr lang="en-US" sz="1200" dirty="0"/>
          </a:p>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vật tư đã cấp phát cho</a:t>
            </a:r>
            <a:endParaRPr lang="en-US" sz="1200" dirty="0"/>
          </a:p>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từng nhiệm vụ.</a:t>
            </a:r>
            <a:endParaRPr lang="en-US" sz="1200" dirty="0"/>
          </a:p>
        </p:txBody>
      </p:sp>
      <p:sp>
        <p:nvSpPr>
          <p:cNvPr id="20" name="Shape 16"/>
          <p:cNvSpPr/>
          <p:nvPr/>
        </p:nvSpPr>
        <p:spPr>
          <a:xfrm>
            <a:off x="6233008" y="1964182"/>
            <a:ext cx="2485568" cy="2148840"/>
          </a:xfrm>
          <a:prstGeom prst="roundRect">
            <a:avLst>
              <a:gd name="adj" fmla="val 5106"/>
            </a:avLst>
          </a:prstGeom>
          <a:solidFill>
            <a:srgbClr val="091B2D">
              <a:alpha val="66000"/>
            </a:srgbClr>
          </a:solidFill>
          <a:ln w="12700">
            <a:solidFill>
              <a:srgbClr val="FFFFFF">
                <a:alpha val="12000"/>
              </a:srgbClr>
            </a:solidFill>
            <a:prstDash val="solid"/>
          </a:ln>
        </p:spPr>
      </p:sp>
      <p:sp>
        <p:nvSpPr>
          <p:cNvPr id="21" name="Shape 17"/>
          <p:cNvSpPr/>
          <p:nvPr/>
        </p:nvSpPr>
        <p:spPr>
          <a:xfrm>
            <a:off x="6233008" y="1964182"/>
            <a:ext cx="50292" cy="2148840"/>
          </a:xfrm>
          <a:prstGeom prst="roundRect">
            <a:avLst>
              <a:gd name="adj" fmla="val 54545"/>
            </a:avLst>
          </a:prstGeom>
          <a:solidFill>
            <a:srgbClr val="F87171">
              <a:alpha val="95000"/>
            </a:srgbClr>
          </a:solidFill>
          <a:ln/>
        </p:spPr>
      </p:sp>
      <p:sp>
        <p:nvSpPr>
          <p:cNvPr id="22" name="Text 18"/>
          <p:cNvSpPr/>
          <p:nvPr/>
        </p:nvSpPr>
        <p:spPr>
          <a:xfrm>
            <a:off x="6525616" y="2220214"/>
            <a:ext cx="1991792" cy="311277"/>
          </a:xfrm>
          <a:prstGeom prst="rect">
            <a:avLst/>
          </a:prstGeom>
          <a:noFill/>
          <a:ln/>
        </p:spPr>
        <p:txBody>
          <a:bodyPr wrap="square" lIns="0" tIns="0" rIns="0" bIns="0" rtlCol="0" anchor="t"/>
          <a:lstStyle/>
          <a:p>
            <a:pPr algn="l" indent="0" marL="0">
              <a:lnSpc>
                <a:spcPts val="1875"/>
              </a:lnSpc>
              <a:buNone/>
            </a:pPr>
            <a:r>
              <a:rPr lang="en-US" sz="1500" b="1" dirty="0">
                <a:solidFill>
                  <a:srgbClr val="FFFFFF"/>
                </a:solidFill>
                <a:latin typeface="Be Vietnam Pro" pitchFamily="34" charset="0"/>
                <a:ea typeface="Be Vietnam Pro" pitchFamily="34" charset="-122"/>
                <a:cs typeface="Be Vietnam Pro" pitchFamily="34" charset="-120"/>
              </a:rPr>
              <a:t>Vật tư thất thoát</a:t>
            </a:r>
            <a:endParaRPr lang="en-US" sz="1500" dirty="0"/>
          </a:p>
        </p:txBody>
      </p:sp>
      <p:sp>
        <p:nvSpPr>
          <p:cNvPr id="23" name="Text 19"/>
          <p:cNvSpPr/>
          <p:nvPr/>
        </p:nvSpPr>
        <p:spPr>
          <a:xfrm>
            <a:off x="6525616" y="2988310"/>
            <a:ext cx="1991792" cy="736092"/>
          </a:xfrm>
          <a:prstGeom prst="rect">
            <a:avLst/>
          </a:prstGeom>
          <a:noFill/>
          <a:ln/>
        </p:spPr>
        <p:txBody>
          <a:bodyPr wrap="square" lIns="0" tIns="0" rIns="0" bIns="0" rtlCol="0" anchor="t"/>
          <a:lstStyle/>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Ghi nhận phần thất thoát</a:t>
            </a:r>
            <a:endParaRPr lang="en-US" sz="1200" dirty="0"/>
          </a:p>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trong quá trình cứu hộ để</a:t>
            </a:r>
            <a:endParaRPr lang="en-US" sz="1200" dirty="0"/>
          </a:p>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rút kinh nghiệm.</a:t>
            </a:r>
            <a:endParaRPr lang="en-US" sz="1200" dirty="0"/>
          </a:p>
        </p:txBody>
      </p:sp>
      <p:sp>
        <p:nvSpPr>
          <p:cNvPr id="24" name="Shape 20"/>
          <p:cNvSpPr/>
          <p:nvPr/>
        </p:nvSpPr>
        <p:spPr>
          <a:xfrm>
            <a:off x="8992895" y="1964182"/>
            <a:ext cx="2485568" cy="2148840"/>
          </a:xfrm>
          <a:prstGeom prst="roundRect">
            <a:avLst>
              <a:gd name="adj" fmla="val 5106"/>
            </a:avLst>
          </a:prstGeom>
          <a:solidFill>
            <a:srgbClr val="091B2D">
              <a:alpha val="66000"/>
            </a:srgbClr>
          </a:solidFill>
          <a:ln w="12700">
            <a:solidFill>
              <a:srgbClr val="FFFFFF">
                <a:alpha val="12000"/>
              </a:srgbClr>
            </a:solidFill>
            <a:prstDash val="solid"/>
          </a:ln>
        </p:spPr>
      </p:sp>
      <p:sp>
        <p:nvSpPr>
          <p:cNvPr id="25" name="Shape 21"/>
          <p:cNvSpPr/>
          <p:nvPr/>
        </p:nvSpPr>
        <p:spPr>
          <a:xfrm>
            <a:off x="8992895" y="1964182"/>
            <a:ext cx="50292" cy="2148840"/>
          </a:xfrm>
          <a:prstGeom prst="roundRect">
            <a:avLst>
              <a:gd name="adj" fmla="val 54545"/>
            </a:avLst>
          </a:prstGeom>
          <a:solidFill>
            <a:srgbClr val="FBBF24">
              <a:alpha val="95000"/>
            </a:srgbClr>
          </a:solidFill>
          <a:ln/>
        </p:spPr>
      </p:sp>
      <p:sp>
        <p:nvSpPr>
          <p:cNvPr id="26" name="Text 22"/>
          <p:cNvSpPr/>
          <p:nvPr/>
        </p:nvSpPr>
        <p:spPr>
          <a:xfrm>
            <a:off x="9285503" y="2220214"/>
            <a:ext cx="1991792" cy="311277"/>
          </a:xfrm>
          <a:prstGeom prst="rect">
            <a:avLst/>
          </a:prstGeom>
          <a:noFill/>
          <a:ln/>
        </p:spPr>
        <p:txBody>
          <a:bodyPr wrap="square" lIns="0" tIns="0" rIns="0" bIns="0" rtlCol="0" anchor="t"/>
          <a:lstStyle/>
          <a:p>
            <a:pPr algn="l" indent="0" marL="0">
              <a:lnSpc>
                <a:spcPts val="1875"/>
              </a:lnSpc>
              <a:buNone/>
            </a:pPr>
            <a:r>
              <a:rPr lang="en-US" sz="1500" b="1" dirty="0">
                <a:solidFill>
                  <a:srgbClr val="FFFFFF"/>
                </a:solidFill>
                <a:latin typeface="Be Vietnam Pro" pitchFamily="34" charset="0"/>
                <a:ea typeface="Be Vietnam Pro" pitchFamily="34" charset="-122"/>
                <a:cs typeface="Be Vietnam Pro" pitchFamily="34" charset="-120"/>
              </a:rPr>
              <a:t>Lưu trữ lâu dài</a:t>
            </a:r>
            <a:endParaRPr lang="en-US" sz="1500" dirty="0"/>
          </a:p>
        </p:txBody>
      </p:sp>
      <p:sp>
        <p:nvSpPr>
          <p:cNvPr id="27" name="Text 23"/>
          <p:cNvSpPr/>
          <p:nvPr/>
        </p:nvSpPr>
        <p:spPr>
          <a:xfrm>
            <a:off x="9285503" y="2988310"/>
            <a:ext cx="1991792" cy="736092"/>
          </a:xfrm>
          <a:prstGeom prst="rect">
            <a:avLst/>
          </a:prstGeom>
          <a:noFill/>
          <a:ln/>
        </p:spPr>
        <p:txBody>
          <a:bodyPr wrap="square" lIns="0" tIns="0" rIns="0" bIns="0" rtlCol="0" anchor="t"/>
          <a:lstStyle/>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Tra cứu dữ liệu của nhiều</a:t>
            </a:r>
            <a:endParaRPr lang="en-US" sz="1200" dirty="0"/>
          </a:p>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năm trước chỉ trong vài</a:t>
            </a:r>
            <a:endParaRPr lang="en-US" sz="1200" dirty="0"/>
          </a:p>
          <a:p>
            <a:pPr algn="l" indent="0" marL="0">
              <a:lnSpc>
                <a:spcPts val="1740"/>
              </a:lnSpc>
              <a:buNone/>
            </a:pPr>
            <a:r>
              <a:rPr lang="en-US" sz="1200" dirty="0">
                <a:solidFill>
                  <a:srgbClr val="D9E6F2"/>
                </a:solidFill>
                <a:latin typeface="Be Vietnam Pro" pitchFamily="34" charset="0"/>
                <a:ea typeface="Be Vietnam Pro" pitchFamily="34" charset="-122"/>
                <a:cs typeface="Be Vietnam Pro" pitchFamily="34" charset="-120"/>
              </a:rPr>
              <a:t>giây.</a:t>
            </a:r>
            <a:endParaRPr lang="en-US" sz="1200" dirty="0"/>
          </a:p>
        </p:txBody>
      </p:sp>
      <p:sp>
        <p:nvSpPr>
          <p:cNvPr id="28" name="Shape 24"/>
          <p:cNvSpPr/>
          <p:nvPr/>
        </p:nvSpPr>
        <p:spPr>
          <a:xfrm>
            <a:off x="713232" y="4497070"/>
            <a:ext cx="10765231" cy="1051560"/>
          </a:xfrm>
          <a:prstGeom prst="roundRect">
            <a:avLst>
              <a:gd name="adj" fmla="val 10435"/>
            </a:avLst>
          </a:prstGeom>
          <a:solidFill>
            <a:srgbClr val="22C55E">
              <a:alpha val="12000"/>
            </a:srgbClr>
          </a:solidFill>
          <a:ln w="12700">
            <a:solidFill>
              <a:srgbClr val="22C55E">
                <a:alpha val="45000"/>
              </a:srgbClr>
            </a:solidFill>
            <a:prstDash val="solid"/>
          </a:ln>
        </p:spPr>
      </p:sp>
      <p:sp>
        <p:nvSpPr>
          <p:cNvPr id="29" name="Shape 25"/>
          <p:cNvSpPr/>
          <p:nvPr/>
        </p:nvSpPr>
        <p:spPr>
          <a:xfrm>
            <a:off x="713232" y="4497070"/>
            <a:ext cx="54864" cy="1051560"/>
          </a:xfrm>
          <a:prstGeom prst="roundRect">
            <a:avLst>
              <a:gd name="adj" fmla="val 50000"/>
            </a:avLst>
          </a:prstGeom>
          <a:solidFill>
            <a:srgbClr val="22C55E"/>
          </a:solidFill>
          <a:ln/>
        </p:spPr>
      </p:sp>
      <p:sp>
        <p:nvSpPr>
          <p:cNvPr id="30" name="Text 26"/>
          <p:cNvSpPr/>
          <p:nvPr/>
        </p:nvSpPr>
        <p:spPr>
          <a:xfrm>
            <a:off x="1097280" y="4698238"/>
            <a:ext cx="10088575" cy="607187"/>
          </a:xfrm>
          <a:prstGeom prst="rect">
            <a:avLst/>
          </a:prstGeom>
          <a:noFill/>
          <a:ln/>
        </p:spPr>
        <p:txBody>
          <a:bodyPr wrap="square" lIns="0" tIns="0" rIns="0" bIns="0" rtlCol="0" anchor="t"/>
          <a:lstStyle/>
          <a:p>
            <a:pPr algn="l" indent="0" marL="0">
              <a:lnSpc>
                <a:spcPts val="2103"/>
              </a:lnSpc>
              <a:buNone/>
            </a:pPr>
            <a:r>
              <a:rPr lang="en-US" sz="1450" b="1" dirty="0">
                <a:solidFill>
                  <a:srgbClr val="FFFFFF"/>
                </a:solidFill>
                <a:latin typeface="Be Vietnam Pro" pitchFamily="34" charset="0"/>
                <a:ea typeface="Be Vietnam Pro" pitchFamily="34" charset="-122"/>
                <a:cs typeface="Be Vietnam Pro" pitchFamily="34" charset="-120"/>
              </a:rPr>
              <a:t>Dựa trên dữ liệu thực tế của những năm trước, người quản lý lập kế hoạch dự trữ sát với nhu cầu hơn — chuẩn</a:t>
            </a:r>
            <a:endParaRPr lang="en-US" sz="1450" dirty="0"/>
          </a:p>
          <a:p>
            <a:pPr algn="l" indent="0" marL="0">
              <a:lnSpc>
                <a:spcPts val="2103"/>
              </a:lnSpc>
              <a:buNone/>
            </a:pPr>
            <a:r>
              <a:rPr lang="en-US" sz="1450" b="1" dirty="0">
                <a:solidFill>
                  <a:srgbClr val="FFFFFF"/>
                </a:solidFill>
                <a:latin typeface="Be Vietnam Pro" pitchFamily="34" charset="0"/>
                <a:ea typeface="Be Vietnam Pro" pitchFamily="34" charset="-122"/>
                <a:cs typeface="Be Vietnam Pro" pitchFamily="34" charset="-120"/>
              </a:rPr>
              <a:t>bị trước khi thiên tai đến, thay vì xoay xở khi đã xảy ra.</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66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fill="hold" grpId="0" nodeType="withEffect">
                                  <p:stCondLst>
                                    <p:cond delay="66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88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88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88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88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11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110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110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withEffect">
                                  <p:stCondLst>
                                    <p:cond delay="110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132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withEffect">
                                  <p:stCondLst>
                                    <p:cond delay="132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132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17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PHẦN KHO · TỔNG QUAN</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Điều phối chỉ đúng khi số liệu kho là thật</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Text 8"/>
          <p:cNvSpPr/>
          <p:nvPr/>
        </p:nvSpPr>
        <p:spPr>
          <a:xfrm>
            <a:off x="713232" y="1945894"/>
            <a:ext cx="10515600" cy="570992"/>
          </a:xfrm>
          <a:prstGeom prst="rect">
            <a:avLst/>
          </a:prstGeom>
          <a:noFill/>
          <a:ln/>
        </p:spPr>
        <p:txBody>
          <a:bodyPr wrap="square" lIns="0" tIns="0" rIns="0" bIns="0" rtlCol="0" anchor="t"/>
          <a:lstStyle/>
          <a:p>
            <a:pPr algn="l" indent="0" marL="0">
              <a:lnSpc>
                <a:spcPts val="1960"/>
              </a:lnSpc>
              <a:buNone/>
            </a:pPr>
            <a:r>
              <a:rPr lang="en-US" sz="1400" dirty="0">
                <a:solidFill>
                  <a:srgbClr val="9BB0C6"/>
                </a:solidFill>
                <a:latin typeface="Be Vietnam Pro" pitchFamily="34" charset="0"/>
                <a:ea typeface="Be Vietnam Pro" pitchFamily="34" charset="-122"/>
                <a:cs typeface="Be Vietnam Pro" pitchFamily="34" charset="-120"/>
              </a:rPr>
              <a:t>Toàn bộ luồng ở trên đứng trên một giả định: hệ thống biết chính xác mỗi kho đang có gì và dùng được bao nhiêu.</a:t>
            </a:r>
            <a:endParaRPr lang="en-US" sz="1400" dirty="0"/>
          </a:p>
          <a:p>
            <a:pPr algn="l" indent="0" marL="0">
              <a:lnSpc>
                <a:spcPts val="1960"/>
              </a:lnSpc>
              <a:buNone/>
            </a:pPr>
            <a:r>
              <a:rPr lang="en-US" sz="1400" dirty="0">
                <a:solidFill>
                  <a:srgbClr val="9BB0C6"/>
                </a:solidFill>
                <a:latin typeface="Be Vietnam Pro" pitchFamily="34" charset="0"/>
                <a:ea typeface="Be Vietnam Pro" pitchFamily="34" charset="-122"/>
                <a:cs typeface="Be Vietnam Pro" pitchFamily="34" charset="-120"/>
              </a:rPr>
              <a:t>6 phần tiếp theo nói về cách chúng em giữ cho con số đó đáng tin.</a:t>
            </a:r>
            <a:endParaRPr lang="en-US" sz="1400" dirty="0"/>
          </a:p>
        </p:txBody>
      </p:sp>
      <p:sp>
        <p:nvSpPr>
          <p:cNvPr id="13" name="Shape 9"/>
          <p:cNvSpPr/>
          <p:nvPr/>
        </p:nvSpPr>
        <p:spPr>
          <a:xfrm>
            <a:off x="713232" y="2827782"/>
            <a:ext cx="3405530" cy="1316736"/>
          </a:xfrm>
          <a:prstGeom prst="roundRect">
            <a:avLst>
              <a:gd name="adj" fmla="val 8333"/>
            </a:avLst>
          </a:prstGeom>
          <a:solidFill>
            <a:srgbClr val="091B2D">
              <a:alpha val="66000"/>
            </a:srgbClr>
          </a:solidFill>
          <a:ln w="12700">
            <a:solidFill>
              <a:srgbClr val="FFFFFF">
                <a:alpha val="12000"/>
              </a:srgbClr>
            </a:solidFill>
            <a:prstDash val="solid"/>
          </a:ln>
        </p:spPr>
      </p:sp>
      <p:sp>
        <p:nvSpPr>
          <p:cNvPr id="14" name="Shape 10"/>
          <p:cNvSpPr/>
          <p:nvPr/>
        </p:nvSpPr>
        <p:spPr>
          <a:xfrm>
            <a:off x="713232" y="2827782"/>
            <a:ext cx="50292" cy="1316736"/>
          </a:xfrm>
          <a:prstGeom prst="roundRect">
            <a:avLst>
              <a:gd name="adj" fmla="val 54545"/>
            </a:avLst>
          </a:prstGeom>
          <a:solidFill>
            <a:srgbClr val="22C55E">
              <a:alpha val="95000"/>
            </a:srgbClr>
          </a:solidFill>
          <a:ln/>
        </p:spPr>
      </p:sp>
      <p:sp>
        <p:nvSpPr>
          <p:cNvPr id="15" name="Text 11"/>
          <p:cNvSpPr/>
          <p:nvPr/>
        </p:nvSpPr>
        <p:spPr>
          <a:xfrm>
            <a:off x="987552" y="3047238"/>
            <a:ext cx="640080" cy="296037"/>
          </a:xfrm>
          <a:prstGeom prst="rect">
            <a:avLst/>
          </a:prstGeom>
          <a:noFill/>
          <a:ln/>
        </p:spPr>
        <p:txBody>
          <a:bodyPr wrap="square" lIns="0" tIns="0" rIns="0" bIns="0" rtlCol="0" anchor="t"/>
          <a:lstStyle/>
          <a:p>
            <a:pPr algn="l" indent="0" marL="0">
              <a:lnSpc>
                <a:spcPts val="1755"/>
              </a:lnSpc>
              <a:buNone/>
            </a:pPr>
            <a:r>
              <a:rPr lang="en-US" sz="1300" b="1" spc="60" kern="0" dirty="0">
                <a:solidFill>
                  <a:srgbClr val="22C55E"/>
                </a:solidFill>
                <a:latin typeface="Be Vietnam Pro" pitchFamily="34" charset="0"/>
                <a:ea typeface="Be Vietnam Pro" pitchFamily="34" charset="-122"/>
                <a:cs typeface="Be Vietnam Pro" pitchFamily="34" charset="-120"/>
              </a:rPr>
              <a:t>01</a:t>
            </a:r>
            <a:endParaRPr lang="en-US" sz="1300" dirty="0"/>
          </a:p>
        </p:txBody>
      </p:sp>
      <p:sp>
        <p:nvSpPr>
          <p:cNvPr id="16" name="Text 12"/>
          <p:cNvSpPr/>
          <p:nvPr/>
        </p:nvSpPr>
        <p:spPr>
          <a:xfrm>
            <a:off x="1536192" y="3028950"/>
            <a:ext cx="2399690" cy="321755"/>
          </a:xfrm>
          <a:prstGeom prst="rect">
            <a:avLst/>
          </a:prstGeom>
          <a:noFill/>
          <a:ln/>
        </p:spPr>
        <p:txBody>
          <a:bodyPr wrap="square" lIns="0" tIns="0" rIns="0" bIns="0" rtlCol="0" anchor="t"/>
          <a:lstStyle/>
          <a:p>
            <a:pPr algn="l" indent="0" marL="0">
              <a:lnSpc>
                <a:spcPts val="1958"/>
              </a:lnSpc>
              <a:buNone/>
            </a:pPr>
            <a:r>
              <a:rPr lang="en-US" sz="1450" b="1" dirty="0">
                <a:solidFill>
                  <a:srgbClr val="FFFFFF"/>
                </a:solidFill>
                <a:latin typeface="Be Vietnam Pro" pitchFamily="34" charset="0"/>
                <a:ea typeface="Be Vietnam Pro" pitchFamily="34" charset="-122"/>
                <a:cs typeface="Be Vietnam Pro" pitchFamily="34" charset="-120"/>
              </a:rPr>
              <a:t>Quản lý kho tập trung</a:t>
            </a:r>
            <a:endParaRPr lang="en-US" sz="1450" dirty="0"/>
          </a:p>
        </p:txBody>
      </p:sp>
      <p:sp>
        <p:nvSpPr>
          <p:cNvPr id="17" name="Text 13"/>
          <p:cNvSpPr/>
          <p:nvPr/>
        </p:nvSpPr>
        <p:spPr>
          <a:xfrm>
            <a:off x="987552" y="3467862"/>
            <a:ext cx="2948330" cy="482092"/>
          </a:xfrm>
          <a:prstGeom prst="rect">
            <a:avLst/>
          </a:prstGeom>
          <a:noFill/>
          <a:ln/>
        </p:spPr>
        <p:txBody>
          <a:bodyPr wrap="square" lIns="0" tIns="0" rIns="0" bIns="0" rtlCol="0" anchor="t"/>
          <a:lstStyle/>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18 kho chung một sổ, mỗi lô hàng mang</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hai chiều trạng thái tách rời.</a:t>
            </a:r>
            <a:endParaRPr lang="en-US" sz="1150" dirty="0"/>
          </a:p>
        </p:txBody>
      </p:sp>
      <p:sp>
        <p:nvSpPr>
          <p:cNvPr id="18" name="Shape 14"/>
          <p:cNvSpPr/>
          <p:nvPr/>
        </p:nvSpPr>
        <p:spPr>
          <a:xfrm>
            <a:off x="4393082" y="2827782"/>
            <a:ext cx="3405530" cy="1316736"/>
          </a:xfrm>
          <a:prstGeom prst="roundRect">
            <a:avLst>
              <a:gd name="adj" fmla="val 8333"/>
            </a:avLst>
          </a:prstGeom>
          <a:solidFill>
            <a:srgbClr val="091B2D">
              <a:alpha val="66000"/>
            </a:srgbClr>
          </a:solidFill>
          <a:ln w="12700">
            <a:solidFill>
              <a:srgbClr val="FFFFFF">
                <a:alpha val="12000"/>
              </a:srgbClr>
            </a:solidFill>
            <a:prstDash val="solid"/>
          </a:ln>
        </p:spPr>
      </p:sp>
      <p:sp>
        <p:nvSpPr>
          <p:cNvPr id="19" name="Shape 15"/>
          <p:cNvSpPr/>
          <p:nvPr/>
        </p:nvSpPr>
        <p:spPr>
          <a:xfrm>
            <a:off x="4393082" y="2827782"/>
            <a:ext cx="50292" cy="1316736"/>
          </a:xfrm>
          <a:prstGeom prst="roundRect">
            <a:avLst>
              <a:gd name="adj" fmla="val 54545"/>
            </a:avLst>
          </a:prstGeom>
          <a:solidFill>
            <a:srgbClr val="38BDF8">
              <a:alpha val="95000"/>
            </a:srgbClr>
          </a:solidFill>
          <a:ln/>
        </p:spPr>
      </p:sp>
      <p:sp>
        <p:nvSpPr>
          <p:cNvPr id="20" name="Text 16"/>
          <p:cNvSpPr/>
          <p:nvPr/>
        </p:nvSpPr>
        <p:spPr>
          <a:xfrm>
            <a:off x="4667402" y="3047238"/>
            <a:ext cx="640080" cy="296037"/>
          </a:xfrm>
          <a:prstGeom prst="rect">
            <a:avLst/>
          </a:prstGeom>
          <a:noFill/>
          <a:ln/>
        </p:spPr>
        <p:txBody>
          <a:bodyPr wrap="square" lIns="0" tIns="0" rIns="0" bIns="0" rtlCol="0" anchor="t"/>
          <a:lstStyle/>
          <a:p>
            <a:pPr algn="l" indent="0" marL="0">
              <a:lnSpc>
                <a:spcPts val="1755"/>
              </a:lnSpc>
              <a:buNone/>
            </a:pPr>
            <a:r>
              <a:rPr lang="en-US" sz="1300" b="1" spc="60" kern="0" dirty="0">
                <a:solidFill>
                  <a:srgbClr val="38BDF8"/>
                </a:solidFill>
                <a:latin typeface="Be Vietnam Pro" pitchFamily="34" charset="0"/>
                <a:ea typeface="Be Vietnam Pro" pitchFamily="34" charset="-122"/>
                <a:cs typeface="Be Vietnam Pro" pitchFamily="34" charset="-120"/>
              </a:rPr>
              <a:t>02</a:t>
            </a:r>
            <a:endParaRPr lang="en-US" sz="1300" dirty="0"/>
          </a:p>
        </p:txBody>
      </p:sp>
      <p:sp>
        <p:nvSpPr>
          <p:cNvPr id="21" name="Text 17"/>
          <p:cNvSpPr/>
          <p:nvPr/>
        </p:nvSpPr>
        <p:spPr>
          <a:xfrm>
            <a:off x="5216042" y="3028950"/>
            <a:ext cx="2399690" cy="321755"/>
          </a:xfrm>
          <a:prstGeom prst="rect">
            <a:avLst/>
          </a:prstGeom>
          <a:noFill/>
          <a:ln/>
        </p:spPr>
        <p:txBody>
          <a:bodyPr wrap="square" lIns="0" tIns="0" rIns="0" bIns="0" rtlCol="0" anchor="t"/>
          <a:lstStyle/>
          <a:p>
            <a:pPr algn="l" indent="0" marL="0">
              <a:lnSpc>
                <a:spcPts val="1958"/>
              </a:lnSpc>
              <a:buNone/>
            </a:pPr>
            <a:r>
              <a:rPr lang="en-US" sz="1450" b="1" dirty="0">
                <a:solidFill>
                  <a:srgbClr val="FFFFFF"/>
                </a:solidFill>
                <a:latin typeface="Be Vietnam Pro" pitchFamily="34" charset="0"/>
                <a:ea typeface="Be Vietnam Pro" pitchFamily="34" charset="-122"/>
                <a:cs typeface="Be Vietnam Pro" pitchFamily="34" charset="-120"/>
              </a:rPr>
              <a:t>Chỉ số sẵn sàng</a:t>
            </a:r>
            <a:endParaRPr lang="en-US" sz="1450" dirty="0"/>
          </a:p>
        </p:txBody>
      </p:sp>
      <p:sp>
        <p:nvSpPr>
          <p:cNvPr id="22" name="Text 18"/>
          <p:cNvSpPr/>
          <p:nvPr/>
        </p:nvSpPr>
        <p:spPr>
          <a:xfrm>
            <a:off x="4667402" y="3467862"/>
            <a:ext cx="2948330" cy="482092"/>
          </a:xfrm>
          <a:prstGeom prst="rect">
            <a:avLst/>
          </a:prstGeom>
          <a:noFill/>
          <a:ln/>
        </p:spPr>
        <p:txBody>
          <a:bodyPr wrap="square" lIns="0" tIns="0" rIns="0" bIns="0" rtlCol="0" anchor="t"/>
          <a:lstStyle/>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Chấm theo 6 chiều ở 4 cấp, mỗi điểm</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trừ kèm lý do và việc phải làm.</a:t>
            </a:r>
            <a:endParaRPr lang="en-US" sz="1150" dirty="0"/>
          </a:p>
        </p:txBody>
      </p:sp>
      <p:sp>
        <p:nvSpPr>
          <p:cNvPr id="23" name="Shape 19"/>
          <p:cNvSpPr/>
          <p:nvPr/>
        </p:nvSpPr>
        <p:spPr>
          <a:xfrm>
            <a:off x="8072933" y="2827782"/>
            <a:ext cx="3405530" cy="1316736"/>
          </a:xfrm>
          <a:prstGeom prst="roundRect">
            <a:avLst>
              <a:gd name="adj" fmla="val 8333"/>
            </a:avLst>
          </a:prstGeom>
          <a:solidFill>
            <a:srgbClr val="091B2D">
              <a:alpha val="66000"/>
            </a:srgbClr>
          </a:solidFill>
          <a:ln w="12700">
            <a:solidFill>
              <a:srgbClr val="FFFFFF">
                <a:alpha val="12000"/>
              </a:srgbClr>
            </a:solidFill>
            <a:prstDash val="solid"/>
          </a:ln>
        </p:spPr>
      </p:sp>
      <p:sp>
        <p:nvSpPr>
          <p:cNvPr id="24" name="Shape 20"/>
          <p:cNvSpPr/>
          <p:nvPr/>
        </p:nvSpPr>
        <p:spPr>
          <a:xfrm>
            <a:off x="8072933" y="2827782"/>
            <a:ext cx="50292" cy="1316736"/>
          </a:xfrm>
          <a:prstGeom prst="roundRect">
            <a:avLst>
              <a:gd name="adj" fmla="val 54545"/>
            </a:avLst>
          </a:prstGeom>
          <a:solidFill>
            <a:srgbClr val="FBBF24">
              <a:alpha val="95000"/>
            </a:srgbClr>
          </a:solidFill>
          <a:ln/>
        </p:spPr>
      </p:sp>
      <p:sp>
        <p:nvSpPr>
          <p:cNvPr id="25" name="Text 21"/>
          <p:cNvSpPr/>
          <p:nvPr/>
        </p:nvSpPr>
        <p:spPr>
          <a:xfrm>
            <a:off x="8347253" y="3047238"/>
            <a:ext cx="640080" cy="296037"/>
          </a:xfrm>
          <a:prstGeom prst="rect">
            <a:avLst/>
          </a:prstGeom>
          <a:noFill/>
          <a:ln/>
        </p:spPr>
        <p:txBody>
          <a:bodyPr wrap="square" lIns="0" tIns="0" rIns="0" bIns="0" rtlCol="0" anchor="t"/>
          <a:lstStyle/>
          <a:p>
            <a:pPr algn="l" indent="0" marL="0">
              <a:lnSpc>
                <a:spcPts val="1755"/>
              </a:lnSpc>
              <a:buNone/>
            </a:pPr>
            <a:r>
              <a:rPr lang="en-US" sz="1300" b="1" spc="60" kern="0" dirty="0">
                <a:solidFill>
                  <a:srgbClr val="FBBF24"/>
                </a:solidFill>
                <a:latin typeface="Be Vietnam Pro" pitchFamily="34" charset="0"/>
                <a:ea typeface="Be Vietnam Pro" pitchFamily="34" charset="-122"/>
                <a:cs typeface="Be Vietnam Pro" pitchFamily="34" charset="-120"/>
              </a:rPr>
              <a:t>03</a:t>
            </a:r>
            <a:endParaRPr lang="en-US" sz="1300" dirty="0"/>
          </a:p>
        </p:txBody>
      </p:sp>
      <p:sp>
        <p:nvSpPr>
          <p:cNvPr id="26" name="Text 22"/>
          <p:cNvSpPr/>
          <p:nvPr/>
        </p:nvSpPr>
        <p:spPr>
          <a:xfrm>
            <a:off x="8895893" y="3028950"/>
            <a:ext cx="2399690" cy="321755"/>
          </a:xfrm>
          <a:prstGeom prst="rect">
            <a:avLst/>
          </a:prstGeom>
          <a:noFill/>
          <a:ln/>
        </p:spPr>
        <p:txBody>
          <a:bodyPr wrap="square" lIns="0" tIns="0" rIns="0" bIns="0" rtlCol="0" anchor="t"/>
          <a:lstStyle/>
          <a:p>
            <a:pPr algn="l" indent="0" marL="0">
              <a:lnSpc>
                <a:spcPts val="1958"/>
              </a:lnSpc>
              <a:buNone/>
            </a:pPr>
            <a:r>
              <a:rPr lang="en-US" sz="1450" b="1" dirty="0">
                <a:solidFill>
                  <a:srgbClr val="FFFFFF"/>
                </a:solidFill>
                <a:latin typeface="Be Vietnam Pro" pitchFamily="34" charset="0"/>
                <a:ea typeface="Be Vietnam Pro" pitchFamily="34" charset="-122"/>
                <a:cs typeface="Be Vietnam Pro" pitchFamily="34" charset="-120"/>
              </a:rPr>
              <a:t>Tồn kho toàn xã</a:t>
            </a:r>
            <a:endParaRPr lang="en-US" sz="1450" dirty="0"/>
          </a:p>
        </p:txBody>
      </p:sp>
      <p:sp>
        <p:nvSpPr>
          <p:cNvPr id="27" name="Text 23"/>
          <p:cNvSpPr/>
          <p:nvPr/>
        </p:nvSpPr>
        <p:spPr>
          <a:xfrm>
            <a:off x="8347253" y="3467862"/>
            <a:ext cx="2948330" cy="482092"/>
          </a:xfrm>
          <a:prstGeom prst="rect">
            <a:avLst/>
          </a:prstGeom>
          <a:noFill/>
          <a:ln/>
        </p:spPr>
        <p:txBody>
          <a:bodyPr wrap="square" lIns="0" tIns="0" rIns="0" bIns="0" rtlCol="0" anchor="t"/>
          <a:lstStyle/>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Gộp cả xã vào một bảng để không xin</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chi viện khi hàng còn ở thôn bên.</a:t>
            </a:r>
            <a:endParaRPr lang="en-US" sz="1150" dirty="0"/>
          </a:p>
        </p:txBody>
      </p:sp>
      <p:sp>
        <p:nvSpPr>
          <p:cNvPr id="28" name="Shape 24"/>
          <p:cNvSpPr/>
          <p:nvPr/>
        </p:nvSpPr>
        <p:spPr>
          <a:xfrm>
            <a:off x="713232" y="4382262"/>
            <a:ext cx="3405530" cy="1316736"/>
          </a:xfrm>
          <a:prstGeom prst="roundRect">
            <a:avLst>
              <a:gd name="adj" fmla="val 8333"/>
            </a:avLst>
          </a:prstGeom>
          <a:solidFill>
            <a:srgbClr val="091B2D">
              <a:alpha val="66000"/>
            </a:srgbClr>
          </a:solidFill>
          <a:ln w="12700">
            <a:solidFill>
              <a:srgbClr val="FFFFFF">
                <a:alpha val="12000"/>
              </a:srgbClr>
            </a:solidFill>
            <a:prstDash val="solid"/>
          </a:ln>
        </p:spPr>
      </p:sp>
      <p:sp>
        <p:nvSpPr>
          <p:cNvPr id="29" name="Shape 25"/>
          <p:cNvSpPr/>
          <p:nvPr/>
        </p:nvSpPr>
        <p:spPr>
          <a:xfrm>
            <a:off x="713232" y="4382262"/>
            <a:ext cx="50292" cy="1316736"/>
          </a:xfrm>
          <a:prstGeom prst="roundRect">
            <a:avLst>
              <a:gd name="adj" fmla="val 54545"/>
            </a:avLst>
          </a:prstGeom>
          <a:solidFill>
            <a:srgbClr val="FB923C">
              <a:alpha val="95000"/>
            </a:srgbClr>
          </a:solidFill>
          <a:ln/>
        </p:spPr>
      </p:sp>
      <p:sp>
        <p:nvSpPr>
          <p:cNvPr id="30" name="Text 26"/>
          <p:cNvSpPr/>
          <p:nvPr/>
        </p:nvSpPr>
        <p:spPr>
          <a:xfrm>
            <a:off x="987552" y="4601718"/>
            <a:ext cx="640080" cy="296037"/>
          </a:xfrm>
          <a:prstGeom prst="rect">
            <a:avLst/>
          </a:prstGeom>
          <a:noFill/>
          <a:ln/>
        </p:spPr>
        <p:txBody>
          <a:bodyPr wrap="square" lIns="0" tIns="0" rIns="0" bIns="0" rtlCol="0" anchor="t"/>
          <a:lstStyle/>
          <a:p>
            <a:pPr algn="l" indent="0" marL="0">
              <a:lnSpc>
                <a:spcPts val="1755"/>
              </a:lnSpc>
              <a:buNone/>
            </a:pPr>
            <a:r>
              <a:rPr lang="en-US" sz="1300" b="1" spc="60" kern="0" dirty="0">
                <a:solidFill>
                  <a:srgbClr val="FB923C"/>
                </a:solidFill>
                <a:latin typeface="Be Vietnam Pro" pitchFamily="34" charset="0"/>
                <a:ea typeface="Be Vietnam Pro" pitchFamily="34" charset="-122"/>
                <a:cs typeface="Be Vietnam Pro" pitchFamily="34" charset="-120"/>
              </a:rPr>
              <a:t>04</a:t>
            </a:r>
            <a:endParaRPr lang="en-US" sz="1300" dirty="0"/>
          </a:p>
        </p:txBody>
      </p:sp>
      <p:sp>
        <p:nvSpPr>
          <p:cNvPr id="31" name="Text 27"/>
          <p:cNvSpPr/>
          <p:nvPr/>
        </p:nvSpPr>
        <p:spPr>
          <a:xfrm>
            <a:off x="1536192" y="4583430"/>
            <a:ext cx="2399690" cy="321755"/>
          </a:xfrm>
          <a:prstGeom prst="rect">
            <a:avLst/>
          </a:prstGeom>
          <a:noFill/>
          <a:ln/>
        </p:spPr>
        <p:txBody>
          <a:bodyPr wrap="square" lIns="0" tIns="0" rIns="0" bIns="0" rtlCol="0" anchor="t"/>
          <a:lstStyle/>
          <a:p>
            <a:pPr algn="l" indent="0" marL="0">
              <a:lnSpc>
                <a:spcPts val="1958"/>
              </a:lnSpc>
              <a:buNone/>
            </a:pPr>
            <a:r>
              <a:rPr lang="en-US" sz="1450" b="1" dirty="0">
                <a:solidFill>
                  <a:srgbClr val="FFFFFF"/>
                </a:solidFill>
                <a:latin typeface="Be Vietnam Pro" pitchFamily="34" charset="0"/>
                <a:ea typeface="Be Vietnam Pro" pitchFamily="34" charset="-122"/>
                <a:cs typeface="Be Vietnam Pro" pitchFamily="34" charset="-120"/>
              </a:rPr>
              <a:t>Cảm biến IoT</a:t>
            </a:r>
            <a:endParaRPr lang="en-US" sz="1450" dirty="0"/>
          </a:p>
        </p:txBody>
      </p:sp>
      <p:sp>
        <p:nvSpPr>
          <p:cNvPr id="32" name="Text 28"/>
          <p:cNvSpPr/>
          <p:nvPr/>
        </p:nvSpPr>
        <p:spPr>
          <a:xfrm>
            <a:off x="987552" y="5022342"/>
            <a:ext cx="2948330" cy="482092"/>
          </a:xfrm>
          <a:prstGeom prst="rect">
            <a:avLst/>
          </a:prstGeom>
          <a:noFill/>
          <a:ln/>
        </p:spPr>
        <p:txBody>
          <a:bodyPr wrap="square" lIns="0" tIns="0" rIns="0" bIns="0" rtlCol="0" anchor="t"/>
          <a:lstStyle/>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Theo dõi môi trường kho, lọc báo động</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giả và không bỏ qua thiết bị im lặng.</a:t>
            </a:r>
            <a:endParaRPr lang="en-US" sz="1150" dirty="0"/>
          </a:p>
        </p:txBody>
      </p:sp>
      <p:sp>
        <p:nvSpPr>
          <p:cNvPr id="33" name="Shape 29"/>
          <p:cNvSpPr/>
          <p:nvPr/>
        </p:nvSpPr>
        <p:spPr>
          <a:xfrm>
            <a:off x="4393082" y="4382262"/>
            <a:ext cx="3405530" cy="1316736"/>
          </a:xfrm>
          <a:prstGeom prst="roundRect">
            <a:avLst>
              <a:gd name="adj" fmla="val 8333"/>
            </a:avLst>
          </a:prstGeom>
          <a:solidFill>
            <a:srgbClr val="091B2D">
              <a:alpha val="66000"/>
            </a:srgbClr>
          </a:solidFill>
          <a:ln w="12700">
            <a:solidFill>
              <a:srgbClr val="FFFFFF">
                <a:alpha val="12000"/>
              </a:srgbClr>
            </a:solidFill>
            <a:prstDash val="solid"/>
          </a:ln>
        </p:spPr>
      </p:sp>
      <p:sp>
        <p:nvSpPr>
          <p:cNvPr id="34" name="Shape 30"/>
          <p:cNvSpPr/>
          <p:nvPr/>
        </p:nvSpPr>
        <p:spPr>
          <a:xfrm>
            <a:off x="4393082" y="4382262"/>
            <a:ext cx="50292" cy="1316736"/>
          </a:xfrm>
          <a:prstGeom prst="roundRect">
            <a:avLst>
              <a:gd name="adj" fmla="val 54545"/>
            </a:avLst>
          </a:prstGeom>
          <a:solidFill>
            <a:srgbClr val="F87171">
              <a:alpha val="95000"/>
            </a:srgbClr>
          </a:solidFill>
          <a:ln/>
        </p:spPr>
      </p:sp>
      <p:sp>
        <p:nvSpPr>
          <p:cNvPr id="35" name="Text 31"/>
          <p:cNvSpPr/>
          <p:nvPr/>
        </p:nvSpPr>
        <p:spPr>
          <a:xfrm>
            <a:off x="4667402" y="4601718"/>
            <a:ext cx="640080" cy="296037"/>
          </a:xfrm>
          <a:prstGeom prst="rect">
            <a:avLst/>
          </a:prstGeom>
          <a:noFill/>
          <a:ln/>
        </p:spPr>
        <p:txBody>
          <a:bodyPr wrap="square" lIns="0" tIns="0" rIns="0" bIns="0" rtlCol="0" anchor="t"/>
          <a:lstStyle/>
          <a:p>
            <a:pPr algn="l" indent="0" marL="0">
              <a:lnSpc>
                <a:spcPts val="1755"/>
              </a:lnSpc>
              <a:buNone/>
            </a:pPr>
            <a:r>
              <a:rPr lang="en-US" sz="1300" b="1" spc="60" kern="0" dirty="0">
                <a:solidFill>
                  <a:srgbClr val="F87171"/>
                </a:solidFill>
                <a:latin typeface="Be Vietnam Pro" pitchFamily="34" charset="0"/>
                <a:ea typeface="Be Vietnam Pro" pitchFamily="34" charset="-122"/>
                <a:cs typeface="Be Vietnam Pro" pitchFamily="34" charset="-120"/>
              </a:rPr>
              <a:t>05</a:t>
            </a:r>
            <a:endParaRPr lang="en-US" sz="1300" dirty="0"/>
          </a:p>
        </p:txBody>
      </p:sp>
      <p:sp>
        <p:nvSpPr>
          <p:cNvPr id="36" name="Text 32"/>
          <p:cNvSpPr/>
          <p:nvPr/>
        </p:nvSpPr>
        <p:spPr>
          <a:xfrm>
            <a:off x="5216042" y="4583430"/>
            <a:ext cx="2399690" cy="321755"/>
          </a:xfrm>
          <a:prstGeom prst="rect">
            <a:avLst/>
          </a:prstGeom>
          <a:noFill/>
          <a:ln/>
        </p:spPr>
        <p:txBody>
          <a:bodyPr wrap="square" lIns="0" tIns="0" rIns="0" bIns="0" rtlCol="0" anchor="t"/>
          <a:lstStyle/>
          <a:p>
            <a:pPr algn="l" indent="0" marL="0">
              <a:lnSpc>
                <a:spcPts val="1958"/>
              </a:lnSpc>
              <a:buNone/>
            </a:pPr>
            <a:r>
              <a:rPr lang="en-US" sz="1450" b="1" dirty="0">
                <a:solidFill>
                  <a:srgbClr val="FFFFFF"/>
                </a:solidFill>
                <a:latin typeface="Be Vietnam Pro" pitchFamily="34" charset="0"/>
                <a:ea typeface="Be Vietnam Pro" pitchFamily="34" charset="-122"/>
                <a:cs typeface="Be Vietnam Pro" pitchFamily="34" charset="-120"/>
              </a:rPr>
              <a:t>Nói thẳng về phần cứng</a:t>
            </a:r>
            <a:endParaRPr lang="en-US" sz="1450" dirty="0"/>
          </a:p>
        </p:txBody>
      </p:sp>
      <p:sp>
        <p:nvSpPr>
          <p:cNvPr id="37" name="Text 33"/>
          <p:cNvSpPr/>
          <p:nvPr/>
        </p:nvSpPr>
        <p:spPr>
          <a:xfrm>
            <a:off x="4667402" y="5022342"/>
            <a:ext cx="2948330" cy="482092"/>
          </a:xfrm>
          <a:prstGeom prst="rect">
            <a:avLst/>
          </a:prstGeom>
          <a:noFill/>
          <a:ln/>
        </p:spPr>
        <p:txBody>
          <a:bodyPr wrap="square" lIns="0" tIns="0" rIns="0" bIns="0" rtlCol="0" anchor="t"/>
          <a:lstStyle/>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Phần nào đã chạy thật, phần nào còn là</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bản sao số đang mô phỏng.</a:t>
            </a:r>
            <a:endParaRPr lang="en-US" sz="1150" dirty="0"/>
          </a:p>
        </p:txBody>
      </p:sp>
      <p:sp>
        <p:nvSpPr>
          <p:cNvPr id="38" name="Shape 34"/>
          <p:cNvSpPr/>
          <p:nvPr/>
        </p:nvSpPr>
        <p:spPr>
          <a:xfrm>
            <a:off x="8072933" y="4382262"/>
            <a:ext cx="3405530" cy="1316736"/>
          </a:xfrm>
          <a:prstGeom prst="roundRect">
            <a:avLst>
              <a:gd name="adj" fmla="val 8333"/>
            </a:avLst>
          </a:prstGeom>
          <a:solidFill>
            <a:srgbClr val="091B2D">
              <a:alpha val="66000"/>
            </a:srgbClr>
          </a:solidFill>
          <a:ln w="12700">
            <a:solidFill>
              <a:srgbClr val="FFFFFF">
                <a:alpha val="12000"/>
              </a:srgbClr>
            </a:solidFill>
            <a:prstDash val="solid"/>
          </a:ln>
        </p:spPr>
      </p:sp>
      <p:sp>
        <p:nvSpPr>
          <p:cNvPr id="39" name="Shape 35"/>
          <p:cNvSpPr/>
          <p:nvPr/>
        </p:nvSpPr>
        <p:spPr>
          <a:xfrm>
            <a:off x="8072933" y="4382262"/>
            <a:ext cx="50292" cy="1316736"/>
          </a:xfrm>
          <a:prstGeom prst="roundRect">
            <a:avLst>
              <a:gd name="adj" fmla="val 54545"/>
            </a:avLst>
          </a:prstGeom>
          <a:solidFill>
            <a:srgbClr val="6EE7A8">
              <a:alpha val="95000"/>
            </a:srgbClr>
          </a:solidFill>
          <a:ln/>
        </p:spPr>
      </p:sp>
      <p:sp>
        <p:nvSpPr>
          <p:cNvPr id="40" name="Text 36"/>
          <p:cNvSpPr/>
          <p:nvPr/>
        </p:nvSpPr>
        <p:spPr>
          <a:xfrm>
            <a:off x="8347253" y="4601718"/>
            <a:ext cx="640080" cy="296037"/>
          </a:xfrm>
          <a:prstGeom prst="rect">
            <a:avLst/>
          </a:prstGeom>
          <a:noFill/>
          <a:ln/>
        </p:spPr>
        <p:txBody>
          <a:bodyPr wrap="square" lIns="0" tIns="0" rIns="0" bIns="0" rtlCol="0" anchor="t"/>
          <a:lstStyle/>
          <a:p>
            <a:pPr algn="l" indent="0" marL="0">
              <a:lnSpc>
                <a:spcPts val="1755"/>
              </a:lnSpc>
              <a:buNone/>
            </a:pPr>
            <a:r>
              <a:rPr lang="en-US" sz="1300" b="1" spc="60" kern="0" dirty="0">
                <a:solidFill>
                  <a:srgbClr val="6EE7A8"/>
                </a:solidFill>
                <a:latin typeface="Be Vietnam Pro" pitchFamily="34" charset="0"/>
                <a:ea typeface="Be Vietnam Pro" pitchFamily="34" charset="-122"/>
                <a:cs typeface="Be Vietnam Pro" pitchFamily="34" charset="-120"/>
              </a:rPr>
              <a:t>06</a:t>
            </a:r>
            <a:endParaRPr lang="en-US" sz="1300" dirty="0"/>
          </a:p>
        </p:txBody>
      </p:sp>
      <p:sp>
        <p:nvSpPr>
          <p:cNvPr id="41" name="Text 37"/>
          <p:cNvSpPr/>
          <p:nvPr/>
        </p:nvSpPr>
        <p:spPr>
          <a:xfrm>
            <a:off x="8895893" y="4583430"/>
            <a:ext cx="2399690" cy="321755"/>
          </a:xfrm>
          <a:prstGeom prst="rect">
            <a:avLst/>
          </a:prstGeom>
          <a:noFill/>
          <a:ln/>
        </p:spPr>
        <p:txBody>
          <a:bodyPr wrap="square" lIns="0" tIns="0" rIns="0" bIns="0" rtlCol="0" anchor="t"/>
          <a:lstStyle/>
          <a:p>
            <a:pPr algn="l" indent="0" marL="0">
              <a:lnSpc>
                <a:spcPts val="1958"/>
              </a:lnSpc>
              <a:buNone/>
            </a:pPr>
            <a:r>
              <a:rPr lang="en-US" sz="1450" b="1" dirty="0">
                <a:solidFill>
                  <a:srgbClr val="FFFFFF"/>
                </a:solidFill>
                <a:latin typeface="Be Vietnam Pro" pitchFamily="34" charset="0"/>
                <a:ea typeface="Be Vietnam Pro" pitchFamily="34" charset="-122"/>
                <a:cs typeface="Be Vietnam Pro" pitchFamily="34" charset="-120"/>
              </a:rPr>
              <a:t>Trợ lý AI hỏi đáp kho</a:t>
            </a:r>
            <a:endParaRPr lang="en-US" sz="1450" dirty="0"/>
          </a:p>
        </p:txBody>
      </p:sp>
      <p:sp>
        <p:nvSpPr>
          <p:cNvPr id="42" name="Text 38"/>
          <p:cNvSpPr/>
          <p:nvPr/>
        </p:nvSpPr>
        <p:spPr>
          <a:xfrm>
            <a:off x="8347253" y="5022342"/>
            <a:ext cx="2948330" cy="482092"/>
          </a:xfrm>
          <a:prstGeom prst="rect">
            <a:avLst/>
          </a:prstGeom>
          <a:noFill/>
          <a:ln/>
        </p:spPr>
        <p:txBody>
          <a:bodyPr wrap="square" lIns="0" tIns="0" rIns="0" bIns="0" rtlCol="0" anchor="t"/>
          <a:lstStyle/>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Mọi con số trong câu trả lời đều đối</a:t>
            </a:r>
            <a:endParaRPr lang="en-US" sz="1150" dirty="0"/>
          </a:p>
          <a:p>
            <a:pPr algn="l" indent="0" marL="0">
              <a:lnSpc>
                <a:spcPts val="1610"/>
              </a:lnSpc>
              <a:buNone/>
            </a:pPr>
            <a:r>
              <a:rPr lang="en-US" sz="1150" dirty="0">
                <a:solidFill>
                  <a:srgbClr val="9BB0C6"/>
                </a:solidFill>
                <a:latin typeface="Be Vietnam Pro" pitchFamily="34" charset="0"/>
                <a:ea typeface="Be Vietnam Pro" pitchFamily="34" charset="-122"/>
                <a:cs typeface="Be Vietnam Pro" pitchFamily="34" charset="-120"/>
              </a:rPr>
              <a:t>chiếu lại với dữ liệu kho.</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66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66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66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66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fill="hold" grpId="0" nodeType="withEffect">
                                  <p:stCondLst>
                                    <p:cond delay="88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88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88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88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88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110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11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110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110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withEffect">
                                  <p:stCondLst>
                                    <p:cond delay="110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132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withEffect">
                                  <p:stCondLst>
                                    <p:cond delay="132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132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grpId="0" nodeType="withEffect">
                                  <p:stCondLst>
                                    <p:cond delay="132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132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154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par>
                                <p:cTn id="77" presetID="10" presetClass="entr" presetSubtype="0" fill="hold" grpId="0" nodeType="withEffect">
                                  <p:stCondLst>
                                    <p:cond delay="154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400"/>
                                        <p:tgtEl>
                                          <p:spTgt spid="34"/>
                                        </p:tgtEl>
                                      </p:cBhvr>
                                    </p:animEffect>
                                  </p:childTnLst>
                                </p:cTn>
                              </p:par>
                              <p:par>
                                <p:cTn id="80" presetID="10" presetClass="entr" presetSubtype="0" fill="hold" grpId="0" nodeType="withEffect">
                                  <p:stCondLst>
                                    <p:cond delay="1540"/>
                                  </p:stCondLst>
                                  <p:childTnLst>
                                    <p:set>
                                      <p:cBhvr>
                                        <p:cTn id="81" dur="1" fill="hold">
                                          <p:stCondLst>
                                            <p:cond delay="0"/>
                                          </p:stCondLst>
                                        </p:cTn>
                                        <p:tgtEl>
                                          <p:spTgt spid="35"/>
                                        </p:tgtEl>
                                        <p:attrNameLst>
                                          <p:attrName>style.visibility</p:attrName>
                                        </p:attrNameLst>
                                      </p:cBhvr>
                                      <p:to>
                                        <p:strVal val="visible"/>
                                      </p:to>
                                    </p:set>
                                    <p:animEffect transition="in" filter="fade">
                                      <p:cBhvr>
                                        <p:cTn id="82" dur="400"/>
                                        <p:tgtEl>
                                          <p:spTgt spid="35"/>
                                        </p:tgtEl>
                                      </p:cBhvr>
                                    </p:animEffect>
                                  </p:childTnLst>
                                </p:cTn>
                              </p:par>
                              <p:par>
                                <p:cTn id="83" presetID="10" presetClass="entr" presetSubtype="0" fill="hold" grpId="0" nodeType="withEffect">
                                  <p:stCondLst>
                                    <p:cond delay="1540"/>
                                  </p:stCondLst>
                                  <p:childTnLst>
                                    <p:set>
                                      <p:cBhvr>
                                        <p:cTn id="84" dur="1" fill="hold">
                                          <p:stCondLst>
                                            <p:cond delay="0"/>
                                          </p:stCondLst>
                                        </p:cTn>
                                        <p:tgtEl>
                                          <p:spTgt spid="36"/>
                                        </p:tgtEl>
                                        <p:attrNameLst>
                                          <p:attrName>style.visibility</p:attrName>
                                        </p:attrNameLst>
                                      </p:cBhvr>
                                      <p:to>
                                        <p:strVal val="visible"/>
                                      </p:to>
                                    </p:set>
                                    <p:animEffect transition="in" filter="fade">
                                      <p:cBhvr>
                                        <p:cTn id="85" dur="400"/>
                                        <p:tgtEl>
                                          <p:spTgt spid="36"/>
                                        </p:tgtEl>
                                      </p:cBhvr>
                                    </p:animEffect>
                                  </p:childTnLst>
                                </p:cTn>
                              </p:par>
                              <p:par>
                                <p:cTn id="86" presetID="10" presetClass="entr" presetSubtype="0" fill="hold" grpId="0" nodeType="withEffect">
                                  <p:stCondLst>
                                    <p:cond delay="154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400"/>
                                        <p:tgtEl>
                                          <p:spTgt spid="37"/>
                                        </p:tgtEl>
                                      </p:cBhvr>
                                    </p:animEffect>
                                  </p:childTnLst>
                                </p:cTn>
                              </p:par>
                              <p:par>
                                <p:cTn id="89" presetID="10" presetClass="entr" presetSubtype="0" fill="hold" grpId="0" nodeType="withEffect">
                                  <p:stCondLst>
                                    <p:cond delay="176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400"/>
                                        <p:tgtEl>
                                          <p:spTgt spid="38"/>
                                        </p:tgtEl>
                                      </p:cBhvr>
                                    </p:animEffect>
                                  </p:childTnLst>
                                </p:cTn>
                              </p:par>
                              <p:par>
                                <p:cTn id="92" presetID="10" presetClass="entr" presetSubtype="0" fill="hold" grpId="0" nodeType="withEffect">
                                  <p:stCondLst>
                                    <p:cond delay="1760"/>
                                  </p:stCondLst>
                                  <p:childTnLst>
                                    <p:set>
                                      <p:cBhvr>
                                        <p:cTn id="93" dur="1" fill="hold">
                                          <p:stCondLst>
                                            <p:cond delay="0"/>
                                          </p:stCondLst>
                                        </p:cTn>
                                        <p:tgtEl>
                                          <p:spTgt spid="39"/>
                                        </p:tgtEl>
                                        <p:attrNameLst>
                                          <p:attrName>style.visibility</p:attrName>
                                        </p:attrNameLst>
                                      </p:cBhvr>
                                      <p:to>
                                        <p:strVal val="visible"/>
                                      </p:to>
                                    </p:set>
                                    <p:animEffect transition="in" filter="fade">
                                      <p:cBhvr>
                                        <p:cTn id="94" dur="400"/>
                                        <p:tgtEl>
                                          <p:spTgt spid="39"/>
                                        </p:tgtEl>
                                      </p:cBhvr>
                                    </p:animEffect>
                                  </p:childTnLst>
                                </p:cTn>
                              </p:par>
                              <p:par>
                                <p:cTn id="95" presetID="10" presetClass="entr" presetSubtype="0" fill="hold" grpId="0" nodeType="withEffect">
                                  <p:stCondLst>
                                    <p:cond delay="176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400"/>
                                        <p:tgtEl>
                                          <p:spTgt spid="40"/>
                                        </p:tgtEl>
                                      </p:cBhvr>
                                    </p:animEffect>
                                  </p:childTnLst>
                                </p:cTn>
                              </p:par>
                              <p:par>
                                <p:cTn id="98" presetID="10" presetClass="entr" presetSubtype="0" fill="hold" grpId="0" nodeType="withEffect">
                                  <p:stCondLst>
                                    <p:cond delay="1760"/>
                                  </p:stCondLst>
                                  <p:childTnLst>
                                    <p:set>
                                      <p:cBhvr>
                                        <p:cTn id="99" dur="1" fill="hold">
                                          <p:stCondLst>
                                            <p:cond delay="0"/>
                                          </p:stCondLst>
                                        </p:cTn>
                                        <p:tgtEl>
                                          <p:spTgt spid="41"/>
                                        </p:tgtEl>
                                        <p:attrNameLst>
                                          <p:attrName>style.visibility</p:attrName>
                                        </p:attrNameLst>
                                      </p:cBhvr>
                                      <p:to>
                                        <p:strVal val="visible"/>
                                      </p:to>
                                    </p:set>
                                    <p:animEffect transition="in" filter="fade">
                                      <p:cBhvr>
                                        <p:cTn id="100" dur="400"/>
                                        <p:tgtEl>
                                          <p:spTgt spid="41"/>
                                        </p:tgtEl>
                                      </p:cBhvr>
                                    </p:animEffect>
                                  </p:childTnLst>
                                </p:cTn>
                              </p:par>
                              <p:par>
                                <p:cTn id="101" presetID="10" presetClass="entr" presetSubtype="0" fill="hold" grpId="0" nodeType="withEffect">
                                  <p:stCondLst>
                                    <p:cond delay="1760"/>
                                  </p:stCondLst>
                                  <p:childTnLst>
                                    <p:set>
                                      <p:cBhvr>
                                        <p:cTn id="102" dur="1" fill="hold">
                                          <p:stCondLst>
                                            <p:cond delay="0"/>
                                          </p:stCondLst>
                                        </p:cTn>
                                        <p:tgtEl>
                                          <p:spTgt spid="42"/>
                                        </p:tgtEl>
                                        <p:attrNameLst>
                                          <p:attrName>style.visibility</p:attrName>
                                        </p:attrNameLst>
                                      </p:cBhvr>
                                      <p:to>
                                        <p:strVal val="visible"/>
                                      </p:to>
                                    </p:set>
                                    <p:animEffect transition="in" filter="fade">
                                      <p:cBhvr>
                                        <p:cTn id="103"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18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QUẢN LÝ KHO TẬP TRUNG</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Không hỏi còn bao nhiêu — hỏi dùng được bao nhiêu</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Shape 8"/>
          <p:cNvSpPr/>
          <p:nvPr/>
        </p:nvSpPr>
        <p:spPr>
          <a:xfrm>
            <a:off x="713232" y="1964182"/>
            <a:ext cx="4114800" cy="3017520"/>
          </a:xfrm>
          <a:prstGeom prst="roundRect">
            <a:avLst>
              <a:gd name="adj" fmla="val 3636"/>
            </a:avLst>
          </a:prstGeom>
          <a:solidFill>
            <a:srgbClr val="091B2D">
              <a:alpha val="66000"/>
            </a:srgbClr>
          </a:solidFill>
          <a:ln w="12700">
            <a:solidFill>
              <a:srgbClr val="FFFFFF">
                <a:alpha val="12000"/>
              </a:srgbClr>
            </a:solidFill>
            <a:prstDash val="solid"/>
          </a:ln>
        </p:spPr>
      </p:sp>
      <p:sp>
        <p:nvSpPr>
          <p:cNvPr id="13" name="Shape 9"/>
          <p:cNvSpPr/>
          <p:nvPr/>
        </p:nvSpPr>
        <p:spPr>
          <a:xfrm>
            <a:off x="713232" y="1964182"/>
            <a:ext cx="50292" cy="3017520"/>
          </a:xfrm>
          <a:prstGeom prst="roundRect">
            <a:avLst>
              <a:gd name="adj" fmla="val 54545"/>
            </a:avLst>
          </a:prstGeom>
          <a:solidFill>
            <a:srgbClr val="22C55E">
              <a:alpha val="95000"/>
            </a:srgbClr>
          </a:solidFill>
          <a:ln/>
        </p:spPr>
      </p:sp>
      <p:sp>
        <p:nvSpPr>
          <p:cNvPr id="14" name="Text 10"/>
          <p:cNvSpPr/>
          <p:nvPr/>
        </p:nvSpPr>
        <p:spPr>
          <a:xfrm>
            <a:off x="1024128" y="2220214"/>
            <a:ext cx="3584448" cy="253175"/>
          </a:xfrm>
          <a:prstGeom prst="rect">
            <a:avLst/>
          </a:prstGeom>
          <a:noFill/>
          <a:ln/>
        </p:spPr>
        <p:txBody>
          <a:bodyPr wrap="square" lIns="0" tIns="0" rIns="0" bIns="0" rtlCol="0" anchor="t"/>
          <a:lstStyle/>
          <a:p>
            <a:pPr algn="l" indent="0" marL="0">
              <a:lnSpc>
                <a:spcPts val="1418"/>
              </a:lnSpc>
              <a:buNone/>
            </a:pPr>
            <a:r>
              <a:rPr lang="en-US" sz="1050" b="1" spc="180" kern="0" dirty="0">
                <a:solidFill>
                  <a:srgbClr val="22C55E"/>
                </a:solidFill>
                <a:latin typeface="Be Vietnam Pro" pitchFamily="34" charset="0"/>
                <a:ea typeface="Be Vietnam Pro" pitchFamily="34" charset="-122"/>
                <a:cs typeface="Be Vietnam Pro" pitchFamily="34" charset="-120"/>
              </a:rPr>
              <a:t>MỘT SỔ KHO DUY NHẤT</a:t>
            </a:r>
            <a:endParaRPr lang="en-US" sz="1050" dirty="0"/>
          </a:p>
        </p:txBody>
      </p:sp>
      <p:sp>
        <p:nvSpPr>
          <p:cNvPr id="15" name="Shape 11"/>
          <p:cNvSpPr/>
          <p:nvPr/>
        </p:nvSpPr>
        <p:spPr>
          <a:xfrm>
            <a:off x="1024128" y="2622550"/>
            <a:ext cx="3493008" cy="768096"/>
          </a:xfrm>
          <a:prstGeom prst="roundRect">
            <a:avLst>
              <a:gd name="adj" fmla="val 11905"/>
            </a:avLst>
          </a:prstGeom>
          <a:solidFill>
            <a:srgbClr val="FFFFFF">
              <a:alpha val="7000"/>
            </a:srgbClr>
          </a:solidFill>
          <a:ln w="12700">
            <a:solidFill>
              <a:srgbClr val="FFFFFF">
                <a:alpha val="14000"/>
              </a:srgbClr>
            </a:solidFill>
            <a:prstDash val="solid"/>
          </a:ln>
        </p:spPr>
      </p:sp>
      <p:sp>
        <p:nvSpPr>
          <p:cNvPr id="16" name="Text 12"/>
          <p:cNvSpPr/>
          <p:nvPr/>
        </p:nvSpPr>
        <p:spPr>
          <a:xfrm>
            <a:off x="1207008" y="2732278"/>
            <a:ext cx="1005840" cy="518922"/>
          </a:xfrm>
          <a:prstGeom prst="rect">
            <a:avLst/>
          </a:prstGeom>
          <a:noFill/>
          <a:ln/>
        </p:spPr>
        <p:txBody>
          <a:bodyPr wrap="square" lIns="0" tIns="0" rIns="0" bIns="0" rtlCol="0" anchor="t"/>
          <a:lstStyle/>
          <a:p>
            <a:pPr algn="l" indent="0" marL="0">
              <a:lnSpc>
                <a:spcPts val="3510"/>
              </a:lnSpc>
              <a:buNone/>
            </a:pPr>
            <a:r>
              <a:rPr lang="en-US" sz="2600" b="1" dirty="0">
                <a:solidFill>
                  <a:srgbClr val="6EE7A8"/>
                </a:solidFill>
                <a:latin typeface="Be Vietnam Pro" pitchFamily="34" charset="0"/>
                <a:ea typeface="Be Vietnam Pro" pitchFamily="34" charset="-122"/>
                <a:cs typeface="Be Vietnam Pro" pitchFamily="34" charset="-120"/>
              </a:rPr>
              <a:t>01</a:t>
            </a:r>
            <a:endParaRPr lang="en-US" sz="2600" dirty="0"/>
          </a:p>
        </p:txBody>
      </p:sp>
      <p:sp>
        <p:nvSpPr>
          <p:cNvPr id="17" name="Text 13"/>
          <p:cNvSpPr/>
          <p:nvPr/>
        </p:nvSpPr>
        <p:spPr>
          <a:xfrm>
            <a:off x="2066544" y="2869438"/>
            <a:ext cx="2468880" cy="313182"/>
          </a:xfrm>
          <a:prstGeom prst="rect">
            <a:avLst/>
          </a:prstGeom>
          <a:noFill/>
          <a:ln/>
        </p:spPr>
        <p:txBody>
          <a:bodyPr wrap="square" lIns="0" tIns="0" rIns="0" bIns="0" rtlCol="0" anchor="t"/>
          <a:lstStyle/>
          <a:p>
            <a:pPr algn="l" indent="0" marL="0">
              <a:lnSpc>
                <a:spcPts val="1890"/>
              </a:lnSpc>
              <a:buNone/>
            </a:pPr>
            <a:r>
              <a:rPr lang="en-US" sz="1400" b="1" dirty="0">
                <a:solidFill>
                  <a:srgbClr val="D9E6F2"/>
                </a:solidFill>
                <a:latin typeface="Be Vietnam Pro" pitchFamily="34" charset="0"/>
                <a:ea typeface="Be Vietnam Pro" pitchFamily="34" charset="-122"/>
                <a:cs typeface="Be Vietnam Pro" pitchFamily="34" charset="-120"/>
              </a:rPr>
              <a:t>kho tổng</a:t>
            </a:r>
            <a:endParaRPr lang="en-US" sz="1400" dirty="0"/>
          </a:p>
        </p:txBody>
      </p:sp>
      <p:sp>
        <p:nvSpPr>
          <p:cNvPr id="18" name="Shape 14"/>
          <p:cNvSpPr/>
          <p:nvPr/>
        </p:nvSpPr>
        <p:spPr>
          <a:xfrm>
            <a:off x="1024128" y="3482086"/>
            <a:ext cx="3493008" cy="768096"/>
          </a:xfrm>
          <a:prstGeom prst="roundRect">
            <a:avLst>
              <a:gd name="adj" fmla="val 11905"/>
            </a:avLst>
          </a:prstGeom>
          <a:solidFill>
            <a:srgbClr val="FFFFFF">
              <a:alpha val="7000"/>
            </a:srgbClr>
          </a:solidFill>
          <a:ln w="12700">
            <a:solidFill>
              <a:srgbClr val="FFFFFF">
                <a:alpha val="14000"/>
              </a:srgbClr>
            </a:solidFill>
            <a:prstDash val="solid"/>
          </a:ln>
        </p:spPr>
      </p:sp>
      <p:sp>
        <p:nvSpPr>
          <p:cNvPr id="19" name="Text 15"/>
          <p:cNvSpPr/>
          <p:nvPr/>
        </p:nvSpPr>
        <p:spPr>
          <a:xfrm>
            <a:off x="1207008" y="3591814"/>
            <a:ext cx="1005840" cy="518922"/>
          </a:xfrm>
          <a:prstGeom prst="rect">
            <a:avLst/>
          </a:prstGeom>
          <a:noFill/>
          <a:ln/>
        </p:spPr>
        <p:txBody>
          <a:bodyPr wrap="square" lIns="0" tIns="0" rIns="0" bIns="0" rtlCol="0" anchor="t"/>
          <a:lstStyle/>
          <a:p>
            <a:pPr algn="l" indent="0" marL="0">
              <a:lnSpc>
                <a:spcPts val="3510"/>
              </a:lnSpc>
              <a:buNone/>
            </a:pPr>
            <a:r>
              <a:rPr lang="en-US" sz="2600" b="1" dirty="0">
                <a:solidFill>
                  <a:srgbClr val="6EE7A8"/>
                </a:solidFill>
                <a:latin typeface="Be Vietnam Pro" pitchFamily="34" charset="0"/>
                <a:ea typeface="Be Vietnam Pro" pitchFamily="34" charset="-122"/>
                <a:cs typeface="Be Vietnam Pro" pitchFamily="34" charset="-120"/>
              </a:rPr>
              <a:t>17</a:t>
            </a:r>
            <a:endParaRPr lang="en-US" sz="2600" dirty="0"/>
          </a:p>
        </p:txBody>
      </p:sp>
      <p:sp>
        <p:nvSpPr>
          <p:cNvPr id="20" name="Text 16"/>
          <p:cNvSpPr/>
          <p:nvPr/>
        </p:nvSpPr>
        <p:spPr>
          <a:xfrm>
            <a:off x="2066544" y="3728974"/>
            <a:ext cx="2468880" cy="313182"/>
          </a:xfrm>
          <a:prstGeom prst="rect">
            <a:avLst/>
          </a:prstGeom>
          <a:noFill/>
          <a:ln/>
        </p:spPr>
        <p:txBody>
          <a:bodyPr wrap="square" lIns="0" tIns="0" rIns="0" bIns="0" rtlCol="0" anchor="t"/>
          <a:lstStyle/>
          <a:p>
            <a:pPr algn="l" indent="0" marL="0">
              <a:lnSpc>
                <a:spcPts val="1890"/>
              </a:lnSpc>
              <a:buNone/>
            </a:pPr>
            <a:r>
              <a:rPr lang="en-US" sz="1400" b="1" dirty="0">
                <a:solidFill>
                  <a:srgbClr val="D9E6F2"/>
                </a:solidFill>
                <a:latin typeface="Be Vietnam Pro" pitchFamily="34" charset="0"/>
                <a:ea typeface="Be Vietnam Pro" pitchFamily="34" charset="-122"/>
                <a:cs typeface="Be Vietnam Pro" pitchFamily="34" charset="-120"/>
              </a:rPr>
              <a:t>kho thôn</a:t>
            </a:r>
            <a:endParaRPr lang="en-US" sz="1400" dirty="0"/>
          </a:p>
        </p:txBody>
      </p:sp>
      <p:sp>
        <p:nvSpPr>
          <p:cNvPr id="21" name="Text 17"/>
          <p:cNvSpPr/>
          <p:nvPr/>
        </p:nvSpPr>
        <p:spPr>
          <a:xfrm>
            <a:off x="1024128" y="4378198"/>
            <a:ext cx="3584448" cy="533527"/>
          </a:xfrm>
          <a:prstGeom prst="rect">
            <a:avLst/>
          </a:prstGeom>
          <a:noFill/>
          <a:ln/>
        </p:spPr>
        <p:txBody>
          <a:bodyPr wrap="square" lIns="0" tIns="0" rIns="0" bIns="0" rtlCol="0" anchor="t"/>
          <a:lstStyle/>
          <a:p>
            <a:pPr algn="l" indent="0" marL="0">
              <a:lnSpc>
                <a:spcPts val="1813"/>
              </a:lnSpc>
              <a:buNone/>
            </a:pPr>
            <a:r>
              <a:rPr lang="en-US" sz="1250" dirty="0">
                <a:solidFill>
                  <a:srgbClr val="D9E6F2"/>
                </a:solidFill>
                <a:latin typeface="Be Vietnam Pro" pitchFamily="34" charset="0"/>
                <a:ea typeface="Be Vietnam Pro" pitchFamily="34" charset="-122"/>
                <a:cs typeface="Be Vietnam Pro" pitchFamily="34" charset="-120"/>
              </a:rPr>
              <a:t>Tồn kho, lịch sử nhập — xuất và thông tin</a:t>
            </a:r>
            <a:endParaRPr lang="en-US" sz="1250" dirty="0"/>
          </a:p>
          <a:p>
            <a:pPr algn="l" indent="0" marL="0">
              <a:lnSpc>
                <a:spcPts val="1813"/>
              </a:lnSpc>
              <a:buNone/>
            </a:pPr>
            <a:r>
              <a:rPr lang="en-US" sz="1250" dirty="0">
                <a:solidFill>
                  <a:srgbClr val="D9E6F2"/>
                </a:solidFill>
                <a:latin typeface="Be Vietnam Pro" pitchFamily="34" charset="0"/>
                <a:ea typeface="Be Vietnam Pro" pitchFamily="34" charset="-122"/>
                <a:cs typeface="Be Vietnam Pro" pitchFamily="34" charset="-120"/>
              </a:rPr>
              <a:t>từng kho nằm chung một hệ thống.</a:t>
            </a:r>
            <a:endParaRPr lang="en-US" sz="1250" dirty="0"/>
          </a:p>
        </p:txBody>
      </p:sp>
      <p:sp>
        <p:nvSpPr>
          <p:cNvPr id="22" name="Shape 18"/>
          <p:cNvSpPr/>
          <p:nvPr/>
        </p:nvSpPr>
        <p:spPr>
          <a:xfrm>
            <a:off x="5175504" y="1964182"/>
            <a:ext cx="3014320" cy="2395728"/>
          </a:xfrm>
          <a:prstGeom prst="roundRect">
            <a:avLst>
              <a:gd name="adj" fmla="val 4580"/>
            </a:avLst>
          </a:prstGeom>
          <a:solidFill>
            <a:srgbClr val="091B2D">
              <a:alpha val="66000"/>
            </a:srgbClr>
          </a:solidFill>
          <a:ln w="12700">
            <a:solidFill>
              <a:srgbClr val="FFFFFF">
                <a:alpha val="12000"/>
              </a:srgbClr>
            </a:solidFill>
            <a:prstDash val="solid"/>
          </a:ln>
        </p:spPr>
      </p:sp>
      <p:sp>
        <p:nvSpPr>
          <p:cNvPr id="23" name="Shape 19"/>
          <p:cNvSpPr/>
          <p:nvPr/>
        </p:nvSpPr>
        <p:spPr>
          <a:xfrm>
            <a:off x="5175504" y="1964182"/>
            <a:ext cx="50292" cy="2395728"/>
          </a:xfrm>
          <a:prstGeom prst="roundRect">
            <a:avLst>
              <a:gd name="adj" fmla="val 54545"/>
            </a:avLst>
          </a:prstGeom>
          <a:solidFill>
            <a:srgbClr val="38BDF8">
              <a:alpha val="95000"/>
            </a:srgbClr>
          </a:solidFill>
          <a:ln/>
        </p:spPr>
      </p:sp>
      <p:sp>
        <p:nvSpPr>
          <p:cNvPr id="24" name="Text 20"/>
          <p:cNvSpPr/>
          <p:nvPr/>
        </p:nvSpPr>
        <p:spPr>
          <a:xfrm>
            <a:off x="5468112" y="2220214"/>
            <a:ext cx="2520544"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38BDF8"/>
                </a:solidFill>
                <a:latin typeface="Be Vietnam Pro" pitchFamily="34" charset="0"/>
                <a:ea typeface="Be Vietnam Pro" pitchFamily="34" charset="-122"/>
                <a:cs typeface="Be Vietnam Pro" pitchFamily="34" charset="-120"/>
              </a:rPr>
              <a:t>TÌNH TRẠNG VẬT LÝ</a:t>
            </a:r>
            <a:endParaRPr lang="en-US" sz="1050" dirty="0"/>
          </a:p>
        </p:txBody>
      </p:sp>
      <p:sp>
        <p:nvSpPr>
          <p:cNvPr id="25" name="Shape 21"/>
          <p:cNvSpPr/>
          <p:nvPr/>
        </p:nvSpPr>
        <p:spPr>
          <a:xfrm>
            <a:off x="5468112" y="2750566"/>
            <a:ext cx="82296" cy="82296"/>
          </a:xfrm>
          <a:prstGeom prst="roundRect">
            <a:avLst>
              <a:gd name="adj" fmla="val 50000"/>
            </a:avLst>
          </a:prstGeom>
          <a:solidFill>
            <a:srgbClr val="38BDF8">
              <a:alpha val="95000"/>
            </a:srgbClr>
          </a:solidFill>
          <a:ln/>
        </p:spPr>
      </p:sp>
      <p:sp>
        <p:nvSpPr>
          <p:cNvPr id="26" name="Text 22"/>
          <p:cNvSpPr/>
          <p:nvPr/>
        </p:nvSpPr>
        <p:spPr>
          <a:xfrm>
            <a:off x="5705856" y="2659126"/>
            <a:ext cx="2282800" cy="296037"/>
          </a:xfrm>
          <a:prstGeom prst="rect">
            <a:avLst/>
          </a:prstGeom>
          <a:noFill/>
          <a:ln/>
        </p:spPr>
        <p:txBody>
          <a:bodyPr wrap="square" lIns="0" tIns="0" rIns="0" bIns="0" rtlCol="0" anchor="t"/>
          <a:lstStyle/>
          <a:p>
            <a:pPr algn="l" indent="0" marL="0">
              <a:lnSpc>
                <a:spcPts val="1755"/>
              </a:lnSpc>
              <a:buNone/>
            </a:pPr>
            <a:r>
              <a:rPr lang="en-US" sz="1300" b="1" dirty="0">
                <a:solidFill>
                  <a:srgbClr val="FFFFFF"/>
                </a:solidFill>
                <a:latin typeface="Be Vietnam Pro" pitchFamily="34" charset="0"/>
                <a:ea typeface="Be Vietnam Pro" pitchFamily="34" charset="-122"/>
                <a:cs typeface="Be Vietnam Pro" pitchFamily="34" charset="-120"/>
              </a:rPr>
              <a:t>Mới</a:t>
            </a:r>
            <a:endParaRPr lang="en-US" sz="1300" dirty="0"/>
          </a:p>
        </p:txBody>
      </p:sp>
      <p:sp>
        <p:nvSpPr>
          <p:cNvPr id="27" name="Shape 23"/>
          <p:cNvSpPr/>
          <p:nvPr/>
        </p:nvSpPr>
        <p:spPr>
          <a:xfrm>
            <a:off x="5468112" y="3171190"/>
            <a:ext cx="82296" cy="82296"/>
          </a:xfrm>
          <a:prstGeom prst="roundRect">
            <a:avLst>
              <a:gd name="adj" fmla="val 50000"/>
            </a:avLst>
          </a:prstGeom>
          <a:solidFill>
            <a:srgbClr val="38BDF8">
              <a:alpha val="95000"/>
            </a:srgbClr>
          </a:solidFill>
          <a:ln/>
        </p:spPr>
      </p:sp>
      <p:sp>
        <p:nvSpPr>
          <p:cNvPr id="28" name="Text 24"/>
          <p:cNvSpPr/>
          <p:nvPr/>
        </p:nvSpPr>
        <p:spPr>
          <a:xfrm>
            <a:off x="5705856" y="3079750"/>
            <a:ext cx="2282800" cy="296037"/>
          </a:xfrm>
          <a:prstGeom prst="rect">
            <a:avLst/>
          </a:prstGeom>
          <a:noFill/>
          <a:ln/>
        </p:spPr>
        <p:txBody>
          <a:bodyPr wrap="square" lIns="0" tIns="0" rIns="0" bIns="0" rtlCol="0" anchor="t"/>
          <a:lstStyle/>
          <a:p>
            <a:pPr algn="l" indent="0" marL="0">
              <a:lnSpc>
                <a:spcPts val="1755"/>
              </a:lnSpc>
              <a:buNone/>
            </a:pPr>
            <a:r>
              <a:rPr lang="en-US" sz="1300" b="1" dirty="0">
                <a:solidFill>
                  <a:srgbClr val="FFFFFF"/>
                </a:solidFill>
                <a:latin typeface="Be Vietnam Pro" pitchFamily="34" charset="0"/>
                <a:ea typeface="Be Vietnam Pro" pitchFamily="34" charset="-122"/>
                <a:cs typeface="Be Vietnam Pro" pitchFamily="34" charset="-120"/>
              </a:rPr>
              <a:t>Đã dùng</a:t>
            </a:r>
            <a:endParaRPr lang="en-US" sz="1300" dirty="0"/>
          </a:p>
        </p:txBody>
      </p:sp>
      <p:sp>
        <p:nvSpPr>
          <p:cNvPr id="29" name="Shape 25"/>
          <p:cNvSpPr/>
          <p:nvPr/>
        </p:nvSpPr>
        <p:spPr>
          <a:xfrm>
            <a:off x="5468112" y="3591814"/>
            <a:ext cx="82296" cy="82296"/>
          </a:xfrm>
          <a:prstGeom prst="roundRect">
            <a:avLst>
              <a:gd name="adj" fmla="val 50000"/>
            </a:avLst>
          </a:prstGeom>
          <a:solidFill>
            <a:srgbClr val="38BDF8">
              <a:alpha val="95000"/>
            </a:srgbClr>
          </a:solidFill>
          <a:ln/>
        </p:spPr>
      </p:sp>
      <p:sp>
        <p:nvSpPr>
          <p:cNvPr id="30" name="Text 26"/>
          <p:cNvSpPr/>
          <p:nvPr/>
        </p:nvSpPr>
        <p:spPr>
          <a:xfrm>
            <a:off x="5705856" y="3500374"/>
            <a:ext cx="2282800" cy="296037"/>
          </a:xfrm>
          <a:prstGeom prst="rect">
            <a:avLst/>
          </a:prstGeom>
          <a:noFill/>
          <a:ln/>
        </p:spPr>
        <p:txBody>
          <a:bodyPr wrap="square" lIns="0" tIns="0" rIns="0" bIns="0" rtlCol="0" anchor="t"/>
          <a:lstStyle/>
          <a:p>
            <a:pPr algn="l" indent="0" marL="0">
              <a:lnSpc>
                <a:spcPts val="1755"/>
              </a:lnSpc>
              <a:buNone/>
            </a:pPr>
            <a:r>
              <a:rPr lang="en-US" sz="1300" b="1" dirty="0">
                <a:solidFill>
                  <a:srgbClr val="FFFFFF"/>
                </a:solidFill>
                <a:latin typeface="Be Vietnam Pro" pitchFamily="34" charset="0"/>
                <a:ea typeface="Be Vietnam Pro" pitchFamily="34" charset="-122"/>
                <a:cs typeface="Be Vietnam Pro" pitchFamily="34" charset="-120"/>
              </a:rPr>
              <a:t>Cần kiểm tra</a:t>
            </a:r>
            <a:endParaRPr lang="en-US" sz="1300" dirty="0"/>
          </a:p>
        </p:txBody>
      </p:sp>
      <p:sp>
        <p:nvSpPr>
          <p:cNvPr id="31" name="Shape 27"/>
          <p:cNvSpPr/>
          <p:nvPr/>
        </p:nvSpPr>
        <p:spPr>
          <a:xfrm>
            <a:off x="5468112" y="4012438"/>
            <a:ext cx="82296" cy="82296"/>
          </a:xfrm>
          <a:prstGeom prst="roundRect">
            <a:avLst>
              <a:gd name="adj" fmla="val 50000"/>
            </a:avLst>
          </a:prstGeom>
          <a:solidFill>
            <a:srgbClr val="38BDF8">
              <a:alpha val="95000"/>
            </a:srgbClr>
          </a:solidFill>
          <a:ln/>
        </p:spPr>
      </p:sp>
      <p:sp>
        <p:nvSpPr>
          <p:cNvPr id="32" name="Text 28"/>
          <p:cNvSpPr/>
          <p:nvPr/>
        </p:nvSpPr>
        <p:spPr>
          <a:xfrm>
            <a:off x="5705856" y="3920998"/>
            <a:ext cx="2282800" cy="296037"/>
          </a:xfrm>
          <a:prstGeom prst="rect">
            <a:avLst/>
          </a:prstGeom>
          <a:noFill/>
          <a:ln/>
        </p:spPr>
        <p:txBody>
          <a:bodyPr wrap="square" lIns="0" tIns="0" rIns="0" bIns="0" rtlCol="0" anchor="t"/>
          <a:lstStyle/>
          <a:p>
            <a:pPr algn="l" indent="0" marL="0">
              <a:lnSpc>
                <a:spcPts val="1755"/>
              </a:lnSpc>
              <a:buNone/>
            </a:pPr>
            <a:r>
              <a:rPr lang="en-US" sz="1300" b="1" dirty="0">
                <a:solidFill>
                  <a:srgbClr val="FFFFFF"/>
                </a:solidFill>
                <a:latin typeface="Be Vietnam Pro" pitchFamily="34" charset="0"/>
                <a:ea typeface="Be Vietnam Pro" pitchFamily="34" charset="-122"/>
                <a:cs typeface="Be Vietnam Pro" pitchFamily="34" charset="-120"/>
              </a:rPr>
              <a:t>Hỏng</a:t>
            </a:r>
            <a:endParaRPr lang="en-US" sz="1300" dirty="0"/>
          </a:p>
        </p:txBody>
      </p:sp>
      <p:sp>
        <p:nvSpPr>
          <p:cNvPr id="33" name="Shape 29"/>
          <p:cNvSpPr/>
          <p:nvPr/>
        </p:nvSpPr>
        <p:spPr>
          <a:xfrm>
            <a:off x="8464144" y="1964182"/>
            <a:ext cx="3014320" cy="2395728"/>
          </a:xfrm>
          <a:prstGeom prst="roundRect">
            <a:avLst>
              <a:gd name="adj" fmla="val 4580"/>
            </a:avLst>
          </a:prstGeom>
          <a:solidFill>
            <a:srgbClr val="091B2D">
              <a:alpha val="66000"/>
            </a:srgbClr>
          </a:solidFill>
          <a:ln w="12700">
            <a:solidFill>
              <a:srgbClr val="FFFFFF">
                <a:alpha val="12000"/>
              </a:srgbClr>
            </a:solidFill>
            <a:prstDash val="solid"/>
          </a:ln>
        </p:spPr>
      </p:sp>
      <p:sp>
        <p:nvSpPr>
          <p:cNvPr id="34" name="Shape 30"/>
          <p:cNvSpPr/>
          <p:nvPr/>
        </p:nvSpPr>
        <p:spPr>
          <a:xfrm>
            <a:off x="8464144" y="1964182"/>
            <a:ext cx="50292" cy="2395728"/>
          </a:xfrm>
          <a:prstGeom prst="roundRect">
            <a:avLst>
              <a:gd name="adj" fmla="val 54545"/>
            </a:avLst>
          </a:prstGeom>
          <a:solidFill>
            <a:srgbClr val="FBBF24">
              <a:alpha val="95000"/>
            </a:srgbClr>
          </a:solidFill>
          <a:ln/>
        </p:spPr>
      </p:sp>
      <p:sp>
        <p:nvSpPr>
          <p:cNvPr id="35" name="Text 31"/>
          <p:cNvSpPr/>
          <p:nvPr/>
        </p:nvSpPr>
        <p:spPr>
          <a:xfrm>
            <a:off x="8756752" y="2220214"/>
            <a:ext cx="2520544"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FBBF24"/>
                </a:solidFill>
                <a:latin typeface="Be Vietnam Pro" pitchFamily="34" charset="0"/>
                <a:ea typeface="Be Vietnam Pro" pitchFamily="34" charset="-122"/>
                <a:cs typeface="Be Vietnam Pro" pitchFamily="34" charset="-120"/>
              </a:rPr>
              <a:t>TRẠNG THÁI LƯU HÀNH</a:t>
            </a:r>
            <a:endParaRPr lang="en-US" sz="1050" dirty="0"/>
          </a:p>
        </p:txBody>
      </p:sp>
      <p:sp>
        <p:nvSpPr>
          <p:cNvPr id="36" name="Shape 32"/>
          <p:cNvSpPr/>
          <p:nvPr/>
        </p:nvSpPr>
        <p:spPr>
          <a:xfrm>
            <a:off x="8756752" y="2750566"/>
            <a:ext cx="82296" cy="82296"/>
          </a:xfrm>
          <a:prstGeom prst="roundRect">
            <a:avLst>
              <a:gd name="adj" fmla="val 50000"/>
            </a:avLst>
          </a:prstGeom>
          <a:solidFill>
            <a:srgbClr val="FBBF24">
              <a:alpha val="95000"/>
            </a:srgbClr>
          </a:solidFill>
          <a:ln/>
        </p:spPr>
      </p:sp>
      <p:sp>
        <p:nvSpPr>
          <p:cNvPr id="37" name="Text 33"/>
          <p:cNvSpPr/>
          <p:nvPr/>
        </p:nvSpPr>
        <p:spPr>
          <a:xfrm>
            <a:off x="8994496" y="2659126"/>
            <a:ext cx="2282800" cy="296037"/>
          </a:xfrm>
          <a:prstGeom prst="rect">
            <a:avLst/>
          </a:prstGeom>
          <a:noFill/>
          <a:ln/>
        </p:spPr>
        <p:txBody>
          <a:bodyPr wrap="square" lIns="0" tIns="0" rIns="0" bIns="0" rtlCol="0" anchor="t"/>
          <a:lstStyle/>
          <a:p>
            <a:pPr algn="l" indent="0" marL="0">
              <a:lnSpc>
                <a:spcPts val="1755"/>
              </a:lnSpc>
              <a:buNone/>
            </a:pPr>
            <a:r>
              <a:rPr lang="en-US" sz="1300" b="1" dirty="0">
                <a:solidFill>
                  <a:srgbClr val="FFFFFF"/>
                </a:solidFill>
                <a:latin typeface="Be Vietnam Pro" pitchFamily="34" charset="0"/>
                <a:ea typeface="Be Vietnam Pro" pitchFamily="34" charset="-122"/>
                <a:cs typeface="Be Vietnam Pro" pitchFamily="34" charset="-120"/>
              </a:rPr>
              <a:t>Đang trong kho</a:t>
            </a:r>
            <a:endParaRPr lang="en-US" sz="1300" dirty="0"/>
          </a:p>
        </p:txBody>
      </p:sp>
      <p:sp>
        <p:nvSpPr>
          <p:cNvPr id="38" name="Shape 34"/>
          <p:cNvSpPr/>
          <p:nvPr/>
        </p:nvSpPr>
        <p:spPr>
          <a:xfrm>
            <a:off x="8756752" y="3171190"/>
            <a:ext cx="82296" cy="82296"/>
          </a:xfrm>
          <a:prstGeom prst="roundRect">
            <a:avLst>
              <a:gd name="adj" fmla="val 50000"/>
            </a:avLst>
          </a:prstGeom>
          <a:solidFill>
            <a:srgbClr val="FBBF24">
              <a:alpha val="95000"/>
            </a:srgbClr>
          </a:solidFill>
          <a:ln/>
        </p:spPr>
      </p:sp>
      <p:sp>
        <p:nvSpPr>
          <p:cNvPr id="39" name="Text 35"/>
          <p:cNvSpPr/>
          <p:nvPr/>
        </p:nvSpPr>
        <p:spPr>
          <a:xfrm>
            <a:off x="8994496" y="3079750"/>
            <a:ext cx="2282800" cy="296037"/>
          </a:xfrm>
          <a:prstGeom prst="rect">
            <a:avLst/>
          </a:prstGeom>
          <a:noFill/>
          <a:ln/>
        </p:spPr>
        <p:txBody>
          <a:bodyPr wrap="square" lIns="0" tIns="0" rIns="0" bIns="0" rtlCol="0" anchor="t"/>
          <a:lstStyle/>
          <a:p>
            <a:pPr algn="l" indent="0" marL="0">
              <a:lnSpc>
                <a:spcPts val="1755"/>
              </a:lnSpc>
              <a:buNone/>
            </a:pPr>
            <a:r>
              <a:rPr lang="en-US" sz="1300" b="1" dirty="0">
                <a:solidFill>
                  <a:srgbClr val="FFFFFF"/>
                </a:solidFill>
                <a:latin typeface="Be Vietnam Pro" pitchFamily="34" charset="0"/>
                <a:ea typeface="Be Vietnam Pro" pitchFamily="34" charset="-122"/>
                <a:cs typeface="Be Vietnam Pro" pitchFamily="34" charset="-120"/>
              </a:rPr>
              <a:t>Đang cho mượn</a:t>
            </a:r>
            <a:endParaRPr lang="en-US" sz="1300" dirty="0"/>
          </a:p>
        </p:txBody>
      </p:sp>
      <p:sp>
        <p:nvSpPr>
          <p:cNvPr id="40" name="Shape 36"/>
          <p:cNvSpPr/>
          <p:nvPr/>
        </p:nvSpPr>
        <p:spPr>
          <a:xfrm>
            <a:off x="8756752" y="3591814"/>
            <a:ext cx="82296" cy="82296"/>
          </a:xfrm>
          <a:prstGeom prst="roundRect">
            <a:avLst>
              <a:gd name="adj" fmla="val 50000"/>
            </a:avLst>
          </a:prstGeom>
          <a:solidFill>
            <a:srgbClr val="FBBF24">
              <a:alpha val="95000"/>
            </a:srgbClr>
          </a:solidFill>
          <a:ln/>
        </p:spPr>
      </p:sp>
      <p:sp>
        <p:nvSpPr>
          <p:cNvPr id="41" name="Text 37"/>
          <p:cNvSpPr/>
          <p:nvPr/>
        </p:nvSpPr>
        <p:spPr>
          <a:xfrm>
            <a:off x="8994496" y="3500374"/>
            <a:ext cx="2282800" cy="296037"/>
          </a:xfrm>
          <a:prstGeom prst="rect">
            <a:avLst/>
          </a:prstGeom>
          <a:noFill/>
          <a:ln/>
        </p:spPr>
        <p:txBody>
          <a:bodyPr wrap="square" lIns="0" tIns="0" rIns="0" bIns="0" rtlCol="0" anchor="t"/>
          <a:lstStyle/>
          <a:p>
            <a:pPr algn="l" indent="0" marL="0">
              <a:lnSpc>
                <a:spcPts val="1755"/>
              </a:lnSpc>
              <a:buNone/>
            </a:pPr>
            <a:r>
              <a:rPr lang="en-US" sz="1300" b="1" dirty="0">
                <a:solidFill>
                  <a:srgbClr val="FFFFFF"/>
                </a:solidFill>
                <a:latin typeface="Be Vietnam Pro" pitchFamily="34" charset="0"/>
                <a:ea typeface="Be Vietnam Pro" pitchFamily="34" charset="-122"/>
                <a:cs typeface="Be Vietnam Pro" pitchFamily="34" charset="-120"/>
              </a:rPr>
              <a:t>Đã xuất</a:t>
            </a:r>
            <a:endParaRPr lang="en-US" sz="1300" dirty="0"/>
          </a:p>
        </p:txBody>
      </p:sp>
      <p:sp>
        <p:nvSpPr>
          <p:cNvPr id="42" name="Text 38"/>
          <p:cNvSpPr/>
          <p:nvPr/>
        </p:nvSpPr>
        <p:spPr>
          <a:xfrm>
            <a:off x="5175504" y="4487926"/>
            <a:ext cx="6394399" cy="270320"/>
          </a:xfrm>
          <a:prstGeom prst="rect">
            <a:avLst/>
          </a:prstGeom>
          <a:noFill/>
          <a:ln/>
        </p:spPr>
        <p:txBody>
          <a:bodyPr wrap="square" lIns="0" tIns="0" rIns="0" bIns="0" rtlCol="0" anchor="t"/>
          <a:lstStyle/>
          <a:p>
            <a:pPr algn="l" indent="0" marL="0">
              <a:lnSpc>
                <a:spcPts val="1553"/>
              </a:lnSpc>
              <a:buNone/>
            </a:pPr>
            <a:r>
              <a:rPr lang="en-US" sz="1150" dirty="0">
                <a:solidFill>
                  <a:srgbClr val="9BB0C6"/>
                </a:solidFill>
                <a:latin typeface="Be Vietnam Pro" pitchFamily="34" charset="0"/>
                <a:ea typeface="Be Vietnam Pro" pitchFamily="34" charset="-122"/>
                <a:cs typeface="Be Vietnam Pro" pitchFamily="34" charset="-120"/>
              </a:rPr>
              <a:t>Mỗi lô hàng mang hai chiều trạng thái tách rời nhau.</a:t>
            </a:r>
            <a:endParaRPr lang="en-US" sz="1150" dirty="0"/>
          </a:p>
        </p:txBody>
      </p:sp>
      <p:sp>
        <p:nvSpPr>
          <p:cNvPr id="43" name="Shape 39"/>
          <p:cNvSpPr/>
          <p:nvPr/>
        </p:nvSpPr>
        <p:spPr>
          <a:xfrm>
            <a:off x="713232" y="5219446"/>
            <a:ext cx="10765231" cy="713232"/>
          </a:xfrm>
          <a:prstGeom prst="roundRect">
            <a:avLst>
              <a:gd name="adj" fmla="val 12821"/>
            </a:avLst>
          </a:prstGeom>
          <a:solidFill>
            <a:srgbClr val="F87171">
              <a:alpha val="12000"/>
            </a:srgbClr>
          </a:solidFill>
          <a:ln w="12700">
            <a:solidFill>
              <a:srgbClr val="F87171">
                <a:alpha val="42000"/>
              </a:srgbClr>
            </a:solidFill>
            <a:prstDash val="solid"/>
          </a:ln>
        </p:spPr>
      </p:sp>
      <p:sp>
        <p:nvSpPr>
          <p:cNvPr id="44" name="Shape 40"/>
          <p:cNvSpPr/>
          <p:nvPr/>
        </p:nvSpPr>
        <p:spPr>
          <a:xfrm>
            <a:off x="713232" y="5219446"/>
            <a:ext cx="50292" cy="713232"/>
          </a:xfrm>
          <a:prstGeom prst="roundRect">
            <a:avLst>
              <a:gd name="adj" fmla="val 54545"/>
            </a:avLst>
          </a:prstGeom>
          <a:solidFill>
            <a:srgbClr val="F87171">
              <a:alpha val="95000"/>
            </a:srgbClr>
          </a:solidFill>
          <a:ln/>
        </p:spPr>
      </p:sp>
      <p:sp>
        <p:nvSpPr>
          <p:cNvPr id="45" name="Text 41"/>
          <p:cNvSpPr/>
          <p:nvPr/>
        </p:nvSpPr>
        <p:spPr>
          <a:xfrm>
            <a:off x="1078992" y="5402326"/>
            <a:ext cx="10125151" cy="321755"/>
          </a:xfrm>
          <a:prstGeom prst="rect">
            <a:avLst/>
          </a:prstGeom>
          <a:noFill/>
          <a:ln/>
        </p:spPr>
        <p:txBody>
          <a:bodyPr wrap="square" lIns="0" tIns="0" rIns="0" bIns="0" rtlCol="0" anchor="t"/>
          <a:lstStyle/>
          <a:p>
            <a:pPr algn="l" indent="0" marL="0">
              <a:lnSpc>
                <a:spcPts val="1958"/>
              </a:lnSpc>
              <a:buNone/>
            </a:pPr>
            <a:r>
              <a:rPr lang="en-US" sz="1450" b="1" dirty="0">
                <a:solidFill>
                  <a:srgbClr val="FFFFFF"/>
                </a:solidFill>
                <a:latin typeface="Be Vietnam Pro" pitchFamily="34" charset="0"/>
                <a:ea typeface="Be Vietnam Pro" pitchFamily="34" charset="-122"/>
                <a:cs typeface="Be Vietnam Pro" pitchFamily="34" charset="-120"/>
              </a:rPr>
              <a:t>Áo phao đang cho mượn ≠ áo phao khả dụng, đây là chỗ phần mềm kho thông thường hay đếm nhầm.</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par>
                                <p:cTn id="23" presetID="10" presetClass="entr" presetSubtype="0" fill="hold" grpId="0" nodeType="withEffect">
                                  <p:stCondLst>
                                    <p:cond delay="66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66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88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par>
                                <p:cTn id="35" presetID="10" presetClass="entr" presetSubtype="0" fill="hold" grpId="0" nodeType="withEffect">
                                  <p:stCondLst>
                                    <p:cond delay="88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childTnLst>
                                </p:cTn>
                              </p:par>
                              <p:par>
                                <p:cTn id="38" presetID="10" presetClass="entr" presetSubtype="0" fill="hold" grpId="0" nodeType="withEffect">
                                  <p:stCondLst>
                                    <p:cond delay="88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withEffect">
                                  <p:stCondLst>
                                    <p:cond delay="110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110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11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110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110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withEffect">
                                  <p:stCondLst>
                                    <p:cond delay="110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110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withEffect">
                                  <p:stCondLst>
                                    <p:cond delay="110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110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grpId="0" nodeType="withEffect">
                                  <p:stCondLst>
                                    <p:cond delay="110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110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132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par>
                                <p:cTn id="77" presetID="10" presetClass="entr" presetSubtype="0" fill="hold" grpId="0" nodeType="withEffect">
                                  <p:stCondLst>
                                    <p:cond delay="132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400"/>
                                        <p:tgtEl>
                                          <p:spTgt spid="34"/>
                                        </p:tgtEl>
                                      </p:cBhvr>
                                    </p:animEffect>
                                  </p:childTnLst>
                                </p:cTn>
                              </p:par>
                              <p:par>
                                <p:cTn id="80" presetID="10" presetClass="entr" presetSubtype="0" fill="hold" grpId="0" nodeType="withEffect">
                                  <p:stCondLst>
                                    <p:cond delay="1320"/>
                                  </p:stCondLst>
                                  <p:childTnLst>
                                    <p:set>
                                      <p:cBhvr>
                                        <p:cTn id="81" dur="1" fill="hold">
                                          <p:stCondLst>
                                            <p:cond delay="0"/>
                                          </p:stCondLst>
                                        </p:cTn>
                                        <p:tgtEl>
                                          <p:spTgt spid="35"/>
                                        </p:tgtEl>
                                        <p:attrNameLst>
                                          <p:attrName>style.visibility</p:attrName>
                                        </p:attrNameLst>
                                      </p:cBhvr>
                                      <p:to>
                                        <p:strVal val="visible"/>
                                      </p:to>
                                    </p:set>
                                    <p:animEffect transition="in" filter="fade">
                                      <p:cBhvr>
                                        <p:cTn id="82" dur="400"/>
                                        <p:tgtEl>
                                          <p:spTgt spid="35"/>
                                        </p:tgtEl>
                                      </p:cBhvr>
                                    </p:animEffect>
                                  </p:childTnLst>
                                </p:cTn>
                              </p:par>
                              <p:par>
                                <p:cTn id="83" presetID="10" presetClass="entr" presetSubtype="0" fill="hold" grpId="0" nodeType="withEffect">
                                  <p:stCondLst>
                                    <p:cond delay="1320"/>
                                  </p:stCondLst>
                                  <p:childTnLst>
                                    <p:set>
                                      <p:cBhvr>
                                        <p:cTn id="84" dur="1" fill="hold">
                                          <p:stCondLst>
                                            <p:cond delay="0"/>
                                          </p:stCondLst>
                                        </p:cTn>
                                        <p:tgtEl>
                                          <p:spTgt spid="36"/>
                                        </p:tgtEl>
                                        <p:attrNameLst>
                                          <p:attrName>style.visibility</p:attrName>
                                        </p:attrNameLst>
                                      </p:cBhvr>
                                      <p:to>
                                        <p:strVal val="visible"/>
                                      </p:to>
                                    </p:set>
                                    <p:animEffect transition="in" filter="fade">
                                      <p:cBhvr>
                                        <p:cTn id="85" dur="400"/>
                                        <p:tgtEl>
                                          <p:spTgt spid="36"/>
                                        </p:tgtEl>
                                      </p:cBhvr>
                                    </p:animEffect>
                                  </p:childTnLst>
                                </p:cTn>
                              </p:par>
                              <p:par>
                                <p:cTn id="86" presetID="10" presetClass="entr" presetSubtype="0" fill="hold" grpId="0" nodeType="withEffect">
                                  <p:stCondLst>
                                    <p:cond delay="132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400"/>
                                        <p:tgtEl>
                                          <p:spTgt spid="37"/>
                                        </p:tgtEl>
                                      </p:cBhvr>
                                    </p:animEffect>
                                  </p:childTnLst>
                                </p:cTn>
                              </p:par>
                              <p:par>
                                <p:cTn id="89" presetID="10" presetClass="entr" presetSubtype="0" fill="hold" grpId="0" nodeType="withEffect">
                                  <p:stCondLst>
                                    <p:cond delay="132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400"/>
                                        <p:tgtEl>
                                          <p:spTgt spid="38"/>
                                        </p:tgtEl>
                                      </p:cBhvr>
                                    </p:animEffect>
                                  </p:childTnLst>
                                </p:cTn>
                              </p:par>
                              <p:par>
                                <p:cTn id="92" presetID="10" presetClass="entr" presetSubtype="0" fill="hold" grpId="0" nodeType="withEffect">
                                  <p:stCondLst>
                                    <p:cond delay="1320"/>
                                  </p:stCondLst>
                                  <p:childTnLst>
                                    <p:set>
                                      <p:cBhvr>
                                        <p:cTn id="93" dur="1" fill="hold">
                                          <p:stCondLst>
                                            <p:cond delay="0"/>
                                          </p:stCondLst>
                                        </p:cTn>
                                        <p:tgtEl>
                                          <p:spTgt spid="39"/>
                                        </p:tgtEl>
                                        <p:attrNameLst>
                                          <p:attrName>style.visibility</p:attrName>
                                        </p:attrNameLst>
                                      </p:cBhvr>
                                      <p:to>
                                        <p:strVal val="visible"/>
                                      </p:to>
                                    </p:set>
                                    <p:animEffect transition="in" filter="fade">
                                      <p:cBhvr>
                                        <p:cTn id="94" dur="400"/>
                                        <p:tgtEl>
                                          <p:spTgt spid="39"/>
                                        </p:tgtEl>
                                      </p:cBhvr>
                                    </p:animEffect>
                                  </p:childTnLst>
                                </p:cTn>
                              </p:par>
                              <p:par>
                                <p:cTn id="95" presetID="10" presetClass="entr" presetSubtype="0" fill="hold" grpId="0" nodeType="withEffect">
                                  <p:stCondLst>
                                    <p:cond delay="132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400"/>
                                        <p:tgtEl>
                                          <p:spTgt spid="40"/>
                                        </p:tgtEl>
                                      </p:cBhvr>
                                    </p:animEffect>
                                  </p:childTnLst>
                                </p:cTn>
                              </p:par>
                              <p:par>
                                <p:cTn id="98" presetID="10" presetClass="entr" presetSubtype="0" fill="hold" grpId="0" nodeType="withEffect">
                                  <p:stCondLst>
                                    <p:cond delay="1320"/>
                                  </p:stCondLst>
                                  <p:childTnLst>
                                    <p:set>
                                      <p:cBhvr>
                                        <p:cTn id="99" dur="1" fill="hold">
                                          <p:stCondLst>
                                            <p:cond delay="0"/>
                                          </p:stCondLst>
                                        </p:cTn>
                                        <p:tgtEl>
                                          <p:spTgt spid="41"/>
                                        </p:tgtEl>
                                        <p:attrNameLst>
                                          <p:attrName>style.visibility</p:attrName>
                                        </p:attrNameLst>
                                      </p:cBhvr>
                                      <p:to>
                                        <p:strVal val="visible"/>
                                      </p:to>
                                    </p:set>
                                    <p:animEffect transition="in" filter="fade">
                                      <p:cBhvr>
                                        <p:cTn id="100" dur="400"/>
                                        <p:tgtEl>
                                          <p:spTgt spid="41"/>
                                        </p:tgtEl>
                                      </p:cBhvr>
                                    </p:animEffect>
                                  </p:childTnLst>
                                </p:cTn>
                              </p:par>
                              <p:par>
                                <p:cTn id="101" presetID="10" presetClass="entr" presetSubtype="0" fill="hold" grpId="0" nodeType="withEffect">
                                  <p:stCondLst>
                                    <p:cond delay="1320"/>
                                  </p:stCondLst>
                                  <p:childTnLst>
                                    <p:set>
                                      <p:cBhvr>
                                        <p:cTn id="102" dur="1" fill="hold">
                                          <p:stCondLst>
                                            <p:cond delay="0"/>
                                          </p:stCondLst>
                                        </p:cTn>
                                        <p:tgtEl>
                                          <p:spTgt spid="42"/>
                                        </p:tgtEl>
                                        <p:attrNameLst>
                                          <p:attrName>style.visibility</p:attrName>
                                        </p:attrNameLst>
                                      </p:cBhvr>
                                      <p:to>
                                        <p:strVal val="visible"/>
                                      </p:to>
                                    </p:set>
                                    <p:animEffect transition="in" filter="fade">
                                      <p:cBhvr>
                                        <p:cTn id="103" dur="400"/>
                                        <p:tgtEl>
                                          <p:spTgt spid="42"/>
                                        </p:tgtEl>
                                      </p:cBhvr>
                                    </p:animEffect>
                                  </p:childTnLst>
                                </p:cTn>
                              </p:par>
                              <p:par>
                                <p:cTn id="104" presetID="10" presetClass="entr" presetSubtype="0" fill="hold" grpId="0" nodeType="withEffect">
                                  <p:stCondLst>
                                    <p:cond delay="1540"/>
                                  </p:stCondLst>
                                  <p:childTnLst>
                                    <p:set>
                                      <p:cBhvr>
                                        <p:cTn id="105" dur="1" fill="hold">
                                          <p:stCondLst>
                                            <p:cond delay="0"/>
                                          </p:stCondLst>
                                        </p:cTn>
                                        <p:tgtEl>
                                          <p:spTgt spid="43"/>
                                        </p:tgtEl>
                                        <p:attrNameLst>
                                          <p:attrName>style.visibility</p:attrName>
                                        </p:attrNameLst>
                                      </p:cBhvr>
                                      <p:to>
                                        <p:strVal val="visible"/>
                                      </p:to>
                                    </p:set>
                                    <p:animEffect transition="in" filter="fade">
                                      <p:cBhvr>
                                        <p:cTn id="106" dur="400"/>
                                        <p:tgtEl>
                                          <p:spTgt spid="43"/>
                                        </p:tgtEl>
                                      </p:cBhvr>
                                    </p:animEffect>
                                  </p:childTnLst>
                                </p:cTn>
                              </p:par>
                              <p:par>
                                <p:cTn id="107" presetID="10" presetClass="entr" presetSubtype="0" fill="hold" grpId="0" nodeType="withEffect">
                                  <p:stCondLst>
                                    <p:cond delay="1540"/>
                                  </p:stCondLst>
                                  <p:childTnLst>
                                    <p:set>
                                      <p:cBhvr>
                                        <p:cTn id="108" dur="1" fill="hold">
                                          <p:stCondLst>
                                            <p:cond delay="0"/>
                                          </p:stCondLst>
                                        </p:cTn>
                                        <p:tgtEl>
                                          <p:spTgt spid="44"/>
                                        </p:tgtEl>
                                        <p:attrNameLst>
                                          <p:attrName>style.visibility</p:attrName>
                                        </p:attrNameLst>
                                      </p:cBhvr>
                                      <p:to>
                                        <p:strVal val="visible"/>
                                      </p:to>
                                    </p:set>
                                    <p:animEffect transition="in" filter="fade">
                                      <p:cBhvr>
                                        <p:cTn id="109" dur="400"/>
                                        <p:tgtEl>
                                          <p:spTgt spid="44"/>
                                        </p:tgtEl>
                                      </p:cBhvr>
                                    </p:animEffect>
                                  </p:childTnLst>
                                </p:cTn>
                              </p:par>
                              <p:par>
                                <p:cTn id="110" presetID="10" presetClass="entr" presetSubtype="0" fill="hold" grpId="0" nodeType="withEffect">
                                  <p:stCondLst>
                                    <p:cond delay="1540"/>
                                  </p:stCondLst>
                                  <p:childTnLst>
                                    <p:set>
                                      <p:cBhvr>
                                        <p:cTn id="111" dur="1" fill="hold">
                                          <p:stCondLst>
                                            <p:cond delay="0"/>
                                          </p:stCondLst>
                                        </p:cTn>
                                        <p:tgtEl>
                                          <p:spTgt spid="45"/>
                                        </p:tgtEl>
                                        <p:attrNameLst>
                                          <p:attrName>style.visibility</p:attrName>
                                        </p:attrNameLst>
                                      </p:cBhvr>
                                      <p:to>
                                        <p:strVal val="visible"/>
                                      </p:to>
                                    </p:set>
                                    <p:animEffect transition="in" filter="fade">
                                      <p:cBhvr>
                                        <p:cTn id="112"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19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CHỈ SỐ SẴN SÀNG CỦA KHO</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Một kết luận vận hành, không phải một con số</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Shape 8"/>
          <p:cNvSpPr/>
          <p:nvPr/>
        </p:nvSpPr>
        <p:spPr>
          <a:xfrm>
            <a:off x="713232" y="1964182"/>
            <a:ext cx="4480560" cy="3931920"/>
          </a:xfrm>
          <a:prstGeom prst="roundRect">
            <a:avLst>
              <a:gd name="adj" fmla="val 2791"/>
            </a:avLst>
          </a:prstGeom>
          <a:solidFill>
            <a:srgbClr val="091B2D">
              <a:alpha val="66000"/>
            </a:srgbClr>
          </a:solidFill>
          <a:ln w="12700">
            <a:solidFill>
              <a:srgbClr val="FFFFFF">
                <a:alpha val="12000"/>
              </a:srgbClr>
            </a:solidFill>
            <a:prstDash val="solid"/>
          </a:ln>
        </p:spPr>
      </p:sp>
      <p:sp>
        <p:nvSpPr>
          <p:cNvPr id="13" name="Shape 9"/>
          <p:cNvSpPr/>
          <p:nvPr/>
        </p:nvSpPr>
        <p:spPr>
          <a:xfrm>
            <a:off x="713232" y="1964182"/>
            <a:ext cx="50292" cy="3931920"/>
          </a:xfrm>
          <a:prstGeom prst="roundRect">
            <a:avLst>
              <a:gd name="adj" fmla="val 54545"/>
            </a:avLst>
          </a:prstGeom>
          <a:solidFill>
            <a:srgbClr val="22C55E">
              <a:alpha val="95000"/>
            </a:srgbClr>
          </a:solidFill>
          <a:ln/>
        </p:spPr>
      </p:sp>
      <p:sp>
        <p:nvSpPr>
          <p:cNvPr id="14" name="Text 10"/>
          <p:cNvSpPr/>
          <p:nvPr/>
        </p:nvSpPr>
        <p:spPr>
          <a:xfrm>
            <a:off x="1042416" y="2238502"/>
            <a:ext cx="3913632" cy="253175"/>
          </a:xfrm>
          <a:prstGeom prst="rect">
            <a:avLst/>
          </a:prstGeom>
          <a:noFill/>
          <a:ln/>
        </p:spPr>
        <p:txBody>
          <a:bodyPr wrap="square" lIns="0" tIns="0" rIns="0" bIns="0" rtlCol="0" anchor="t"/>
          <a:lstStyle/>
          <a:p>
            <a:pPr algn="l" indent="0" marL="0">
              <a:lnSpc>
                <a:spcPts val="1418"/>
              </a:lnSpc>
              <a:buNone/>
            </a:pPr>
            <a:r>
              <a:rPr lang="en-US" sz="1050" b="1" spc="180" kern="0" dirty="0">
                <a:solidFill>
                  <a:srgbClr val="22C55E"/>
                </a:solidFill>
                <a:latin typeface="Be Vietnam Pro" pitchFamily="34" charset="0"/>
                <a:ea typeface="Be Vietnam Pro" pitchFamily="34" charset="-122"/>
                <a:cs typeface="Be Vietnam Pro" pitchFamily="34" charset="-120"/>
              </a:rPr>
              <a:t>CÁCH CHẤM ĐIỂM</a:t>
            </a:r>
            <a:endParaRPr lang="en-US" sz="1050" dirty="0"/>
          </a:p>
        </p:txBody>
      </p:sp>
      <p:sp>
        <p:nvSpPr>
          <p:cNvPr id="15" name="Shape 11"/>
          <p:cNvSpPr/>
          <p:nvPr/>
        </p:nvSpPr>
        <p:spPr>
          <a:xfrm>
            <a:off x="1042416" y="2659126"/>
            <a:ext cx="3822192" cy="786384"/>
          </a:xfrm>
          <a:prstGeom prst="roundRect">
            <a:avLst>
              <a:gd name="adj" fmla="val 11628"/>
            </a:avLst>
          </a:prstGeom>
          <a:solidFill>
            <a:srgbClr val="FFFFFF">
              <a:alpha val="7000"/>
            </a:srgbClr>
          </a:solidFill>
          <a:ln w="12700">
            <a:solidFill>
              <a:srgbClr val="FFFFFF">
                <a:alpha val="14000"/>
              </a:srgbClr>
            </a:solidFill>
            <a:prstDash val="solid"/>
          </a:ln>
        </p:spPr>
      </p:sp>
      <p:sp>
        <p:nvSpPr>
          <p:cNvPr id="16" name="Text 12"/>
          <p:cNvSpPr/>
          <p:nvPr/>
        </p:nvSpPr>
        <p:spPr>
          <a:xfrm>
            <a:off x="1225296" y="2787142"/>
            <a:ext cx="731520" cy="484632"/>
          </a:xfrm>
          <a:prstGeom prst="rect">
            <a:avLst/>
          </a:prstGeom>
          <a:noFill/>
          <a:ln/>
        </p:spPr>
        <p:txBody>
          <a:bodyPr wrap="square" lIns="0" tIns="0" rIns="0" bIns="0" rtlCol="0" anchor="t"/>
          <a:lstStyle/>
          <a:p>
            <a:pPr algn="l" indent="0" marL="0">
              <a:lnSpc>
                <a:spcPts val="3240"/>
              </a:lnSpc>
              <a:buNone/>
            </a:pPr>
            <a:r>
              <a:rPr lang="en-US" sz="2400" b="1" dirty="0">
                <a:solidFill>
                  <a:srgbClr val="6EE7A8"/>
                </a:solidFill>
                <a:latin typeface="Be Vietnam Pro" pitchFamily="34" charset="0"/>
                <a:ea typeface="Be Vietnam Pro" pitchFamily="34" charset="-122"/>
                <a:cs typeface="Be Vietnam Pro" pitchFamily="34" charset="-120"/>
              </a:rPr>
              <a:t>6</a:t>
            </a:r>
            <a:endParaRPr lang="en-US" sz="2400" dirty="0"/>
          </a:p>
        </p:txBody>
      </p:sp>
      <p:sp>
        <p:nvSpPr>
          <p:cNvPr id="17" name="Text 13"/>
          <p:cNvSpPr/>
          <p:nvPr/>
        </p:nvSpPr>
        <p:spPr>
          <a:xfrm>
            <a:off x="1865376" y="2915158"/>
            <a:ext cx="3017520" cy="287465"/>
          </a:xfrm>
          <a:prstGeom prst="rect">
            <a:avLst/>
          </a:prstGeom>
          <a:noFill/>
          <a:ln/>
        </p:spPr>
        <p:txBody>
          <a:bodyPr wrap="square" lIns="0" tIns="0" rIns="0" bIns="0" rtlCol="0" anchor="t"/>
          <a:lstStyle/>
          <a:p>
            <a:pPr algn="l" indent="0" marL="0">
              <a:lnSpc>
                <a:spcPts val="1688"/>
              </a:lnSpc>
              <a:buNone/>
            </a:pPr>
            <a:r>
              <a:rPr lang="en-US" sz="1250" b="1" dirty="0">
                <a:solidFill>
                  <a:srgbClr val="D9E6F2"/>
                </a:solidFill>
                <a:latin typeface="Be Vietnam Pro" pitchFamily="34" charset="0"/>
                <a:ea typeface="Be Vietnam Pro" pitchFamily="34" charset="-122"/>
                <a:cs typeface="Be Vietnam Pro" pitchFamily="34" charset="-120"/>
              </a:rPr>
              <a:t>Chiều đánh giá</a:t>
            </a:r>
            <a:endParaRPr lang="en-US" sz="1250" dirty="0"/>
          </a:p>
        </p:txBody>
      </p:sp>
      <p:sp>
        <p:nvSpPr>
          <p:cNvPr id="18" name="Shape 14"/>
          <p:cNvSpPr/>
          <p:nvPr/>
        </p:nvSpPr>
        <p:spPr>
          <a:xfrm>
            <a:off x="1042416" y="3573526"/>
            <a:ext cx="3822192" cy="786384"/>
          </a:xfrm>
          <a:prstGeom prst="roundRect">
            <a:avLst>
              <a:gd name="adj" fmla="val 11628"/>
            </a:avLst>
          </a:prstGeom>
          <a:solidFill>
            <a:srgbClr val="FFFFFF">
              <a:alpha val="7000"/>
            </a:srgbClr>
          </a:solidFill>
          <a:ln w="12700">
            <a:solidFill>
              <a:srgbClr val="FFFFFF">
                <a:alpha val="14000"/>
              </a:srgbClr>
            </a:solidFill>
            <a:prstDash val="solid"/>
          </a:ln>
        </p:spPr>
      </p:sp>
      <p:sp>
        <p:nvSpPr>
          <p:cNvPr id="19" name="Text 15"/>
          <p:cNvSpPr/>
          <p:nvPr/>
        </p:nvSpPr>
        <p:spPr>
          <a:xfrm>
            <a:off x="1225296" y="3701542"/>
            <a:ext cx="731520" cy="484632"/>
          </a:xfrm>
          <a:prstGeom prst="rect">
            <a:avLst/>
          </a:prstGeom>
          <a:noFill/>
          <a:ln/>
        </p:spPr>
        <p:txBody>
          <a:bodyPr wrap="square" lIns="0" tIns="0" rIns="0" bIns="0" rtlCol="0" anchor="t"/>
          <a:lstStyle/>
          <a:p>
            <a:pPr algn="l" indent="0" marL="0">
              <a:lnSpc>
                <a:spcPts val="3240"/>
              </a:lnSpc>
              <a:buNone/>
            </a:pPr>
            <a:r>
              <a:rPr lang="en-US" sz="2400" b="1" dirty="0">
                <a:solidFill>
                  <a:srgbClr val="6EE7A8"/>
                </a:solidFill>
                <a:latin typeface="Be Vietnam Pro" pitchFamily="34" charset="0"/>
                <a:ea typeface="Be Vietnam Pro" pitchFamily="34" charset="-122"/>
                <a:cs typeface="Be Vietnam Pro" pitchFamily="34" charset="-120"/>
              </a:rPr>
              <a:t>4</a:t>
            </a:r>
            <a:endParaRPr lang="en-US" sz="2400" dirty="0"/>
          </a:p>
        </p:txBody>
      </p:sp>
      <p:sp>
        <p:nvSpPr>
          <p:cNvPr id="20" name="Text 16"/>
          <p:cNvSpPr/>
          <p:nvPr/>
        </p:nvSpPr>
        <p:spPr>
          <a:xfrm>
            <a:off x="1865376" y="3829558"/>
            <a:ext cx="3017520" cy="287465"/>
          </a:xfrm>
          <a:prstGeom prst="rect">
            <a:avLst/>
          </a:prstGeom>
          <a:noFill/>
          <a:ln/>
        </p:spPr>
        <p:txBody>
          <a:bodyPr wrap="square" lIns="0" tIns="0" rIns="0" bIns="0" rtlCol="0" anchor="t"/>
          <a:lstStyle/>
          <a:p>
            <a:pPr algn="l" indent="0" marL="0">
              <a:lnSpc>
                <a:spcPts val="1688"/>
              </a:lnSpc>
              <a:buNone/>
            </a:pPr>
            <a:r>
              <a:rPr lang="en-US" sz="1250" b="1" dirty="0">
                <a:solidFill>
                  <a:srgbClr val="D9E6F2"/>
                </a:solidFill>
                <a:latin typeface="Be Vietnam Pro" pitchFamily="34" charset="0"/>
                <a:ea typeface="Be Vietnam Pro" pitchFamily="34" charset="-122"/>
                <a:cs typeface="Be Vietnam Pro" pitchFamily="34" charset="-120"/>
              </a:rPr>
              <a:t>Cấp: Lô → Kệ → Khu → Toàn kho</a:t>
            </a:r>
            <a:endParaRPr lang="en-US" sz="1250" dirty="0"/>
          </a:p>
        </p:txBody>
      </p:sp>
      <p:sp>
        <p:nvSpPr>
          <p:cNvPr id="21" name="Text 17"/>
          <p:cNvSpPr/>
          <p:nvPr/>
        </p:nvSpPr>
        <p:spPr>
          <a:xfrm>
            <a:off x="1042416" y="4689094"/>
            <a:ext cx="3913632" cy="551942"/>
          </a:xfrm>
          <a:prstGeom prst="rect">
            <a:avLst/>
          </a:prstGeom>
          <a:noFill/>
          <a:ln/>
        </p:spPr>
        <p:txBody>
          <a:bodyPr wrap="square" lIns="0" tIns="0" rIns="0" bIns="0" rtlCol="0" anchor="t"/>
          <a:lstStyle/>
          <a:p>
            <a:pPr algn="l" indent="0" marL="0">
              <a:lnSpc>
                <a:spcPts val="1885"/>
              </a:lnSpc>
              <a:buNone/>
            </a:pPr>
            <a:r>
              <a:rPr lang="en-US" sz="1300" b="1" dirty="0">
                <a:solidFill>
                  <a:srgbClr val="6EE7A8"/>
                </a:solidFill>
                <a:latin typeface="Be Vietnam Pro" pitchFamily="34" charset="0"/>
                <a:ea typeface="Be Vietnam Pro" pitchFamily="34" charset="-122"/>
                <a:cs typeface="Be Vietnam Pro" pitchFamily="34" charset="-120"/>
              </a:rPr>
              <a:t>Mỗi điểm bị trừ đều kèm lý do và việc phải làm,</a:t>
            </a:r>
            <a:endParaRPr lang="en-US" sz="1300" dirty="0"/>
          </a:p>
          <a:p>
            <a:pPr algn="l" indent="0" marL="0">
              <a:lnSpc>
                <a:spcPts val="1885"/>
              </a:lnSpc>
              <a:buNone/>
            </a:pPr>
            <a:r>
              <a:rPr lang="en-US" sz="1300" b="1" dirty="0">
                <a:solidFill>
                  <a:srgbClr val="6EE7A8"/>
                </a:solidFill>
                <a:latin typeface="Be Vietnam Pro" pitchFamily="34" charset="0"/>
                <a:ea typeface="Be Vietnam Pro" pitchFamily="34" charset="-122"/>
                <a:cs typeface="Be Vietnam Pro" pitchFamily="34" charset="-120"/>
              </a:rPr>
              <a:t>thay vì chỉ đưa ra một con số.</a:t>
            </a:r>
            <a:endParaRPr lang="en-US" sz="1300" dirty="0"/>
          </a:p>
        </p:txBody>
      </p:sp>
      <p:sp>
        <p:nvSpPr>
          <p:cNvPr id="22" name="Shape 18"/>
          <p:cNvSpPr/>
          <p:nvPr/>
        </p:nvSpPr>
        <p:spPr>
          <a:xfrm>
            <a:off x="5541264" y="1964182"/>
            <a:ext cx="5937199" cy="1078992"/>
          </a:xfrm>
          <a:prstGeom prst="roundRect">
            <a:avLst>
              <a:gd name="adj" fmla="val 10169"/>
            </a:avLst>
          </a:prstGeom>
          <a:solidFill>
            <a:srgbClr val="091B2D">
              <a:alpha val="66000"/>
            </a:srgbClr>
          </a:solidFill>
          <a:ln w="12700">
            <a:solidFill>
              <a:srgbClr val="FFFFFF">
                <a:alpha val="12000"/>
              </a:srgbClr>
            </a:solidFill>
            <a:prstDash val="solid"/>
          </a:ln>
        </p:spPr>
      </p:sp>
      <p:sp>
        <p:nvSpPr>
          <p:cNvPr id="23" name="Shape 19"/>
          <p:cNvSpPr/>
          <p:nvPr/>
        </p:nvSpPr>
        <p:spPr>
          <a:xfrm>
            <a:off x="5541264" y="1964182"/>
            <a:ext cx="50292" cy="1078992"/>
          </a:xfrm>
          <a:prstGeom prst="roundRect">
            <a:avLst>
              <a:gd name="adj" fmla="val 54545"/>
            </a:avLst>
          </a:prstGeom>
          <a:solidFill>
            <a:srgbClr val="22C55E">
              <a:alpha val="95000"/>
            </a:srgbClr>
          </a:solidFill>
          <a:ln/>
        </p:spPr>
      </p:sp>
      <p:sp>
        <p:nvSpPr>
          <p:cNvPr id="24" name="Text 20"/>
          <p:cNvSpPr/>
          <p:nvPr/>
        </p:nvSpPr>
        <p:spPr>
          <a:xfrm>
            <a:off x="5833872" y="2147062"/>
            <a:ext cx="5443423" cy="330327"/>
          </a:xfrm>
          <a:prstGeom prst="rect">
            <a:avLst/>
          </a:prstGeom>
          <a:noFill/>
          <a:ln/>
        </p:spPr>
        <p:txBody>
          <a:bodyPr wrap="square" lIns="0" tIns="0" rIns="0" bIns="0" rtlCol="0" anchor="t"/>
          <a:lstStyle/>
          <a:p>
            <a:pPr algn="l" indent="0" marL="0">
              <a:lnSpc>
                <a:spcPts val="2025"/>
              </a:lnSpc>
              <a:buNone/>
            </a:pPr>
            <a:r>
              <a:rPr lang="en-US" sz="1500" b="1" dirty="0">
                <a:solidFill>
                  <a:srgbClr val="FFFFFF"/>
                </a:solidFill>
                <a:latin typeface="Be Vietnam Pro" pitchFamily="34" charset="0"/>
                <a:ea typeface="Be Vietnam Pro" pitchFamily="34" charset="-122"/>
                <a:cs typeface="Be Vietnam Pro" pitchFamily="34" charset="-120"/>
              </a:rPr>
              <a:t>Kho trung tâm: 95 / 100 điểm</a:t>
            </a:r>
            <a:endParaRPr lang="en-US" sz="1500" dirty="0"/>
          </a:p>
        </p:txBody>
      </p:sp>
      <p:sp>
        <p:nvSpPr>
          <p:cNvPr id="25" name="Text 21"/>
          <p:cNvSpPr/>
          <p:nvPr/>
        </p:nvSpPr>
        <p:spPr>
          <a:xfrm>
            <a:off x="5833872" y="2549398"/>
            <a:ext cx="5443423" cy="278892"/>
          </a:xfrm>
          <a:prstGeom prst="rect">
            <a:avLst/>
          </a:prstGeom>
          <a:noFill/>
          <a:ln/>
        </p:spPr>
        <p:txBody>
          <a:bodyPr wrap="square" lIns="0" tIns="0" rIns="0" bIns="0" rtlCol="0" anchor="t"/>
          <a:lstStyle/>
          <a:p>
            <a:pPr algn="l" indent="0" marL="0">
              <a:lnSpc>
                <a:spcPts val="1620"/>
              </a:lnSpc>
              <a:buNone/>
            </a:pPr>
            <a:r>
              <a:rPr lang="en-US" sz="1200" dirty="0">
                <a:solidFill>
                  <a:srgbClr val="9BB0C6"/>
                </a:solidFill>
                <a:latin typeface="Be Vietnam Pro" pitchFamily="34" charset="0"/>
                <a:ea typeface="Be Vietnam Pro" pitchFamily="34" charset="-122"/>
                <a:cs typeface="Be Vietnam Pro" pitchFamily="34" charset="-120"/>
              </a:rPr>
              <a:t>Nhìn con số thì rất đẹp.</a:t>
            </a:r>
            <a:endParaRPr lang="en-US" sz="1200" dirty="0"/>
          </a:p>
        </p:txBody>
      </p:sp>
      <p:sp>
        <p:nvSpPr>
          <p:cNvPr id="26" name="Shape 22"/>
          <p:cNvSpPr/>
          <p:nvPr/>
        </p:nvSpPr>
        <p:spPr>
          <a:xfrm rot="10800000">
            <a:off x="8409280" y="3070606"/>
            <a:ext cx="201168" cy="201168"/>
          </a:xfrm>
          <a:prstGeom prst="triangle">
            <a:avLst/>
          </a:prstGeom>
          <a:solidFill>
            <a:srgbClr val="22C55E">
              <a:alpha val="80000"/>
            </a:srgbClr>
          </a:solidFill>
          <a:ln/>
        </p:spPr>
      </p:sp>
      <p:sp>
        <p:nvSpPr>
          <p:cNvPr id="27" name="Shape 23"/>
          <p:cNvSpPr/>
          <p:nvPr/>
        </p:nvSpPr>
        <p:spPr>
          <a:xfrm>
            <a:off x="5541264" y="3299206"/>
            <a:ext cx="5937199" cy="1078992"/>
          </a:xfrm>
          <a:prstGeom prst="roundRect">
            <a:avLst>
              <a:gd name="adj" fmla="val 10169"/>
            </a:avLst>
          </a:prstGeom>
          <a:solidFill>
            <a:srgbClr val="091B2D">
              <a:alpha val="66000"/>
            </a:srgbClr>
          </a:solidFill>
          <a:ln w="12700">
            <a:solidFill>
              <a:srgbClr val="FFFFFF">
                <a:alpha val="12000"/>
              </a:srgbClr>
            </a:solidFill>
            <a:prstDash val="solid"/>
          </a:ln>
        </p:spPr>
      </p:sp>
      <p:sp>
        <p:nvSpPr>
          <p:cNvPr id="28" name="Shape 24"/>
          <p:cNvSpPr/>
          <p:nvPr/>
        </p:nvSpPr>
        <p:spPr>
          <a:xfrm>
            <a:off x="5541264" y="3299206"/>
            <a:ext cx="50292" cy="1078992"/>
          </a:xfrm>
          <a:prstGeom prst="roundRect">
            <a:avLst>
              <a:gd name="adj" fmla="val 54545"/>
            </a:avLst>
          </a:prstGeom>
          <a:solidFill>
            <a:srgbClr val="FBBF24">
              <a:alpha val="95000"/>
            </a:srgbClr>
          </a:solidFill>
          <a:ln/>
        </p:spPr>
      </p:sp>
      <p:sp>
        <p:nvSpPr>
          <p:cNvPr id="29" name="Text 25"/>
          <p:cNvSpPr/>
          <p:nvPr/>
        </p:nvSpPr>
        <p:spPr>
          <a:xfrm>
            <a:off x="5833872" y="3482086"/>
            <a:ext cx="5443423" cy="330327"/>
          </a:xfrm>
          <a:prstGeom prst="rect">
            <a:avLst/>
          </a:prstGeom>
          <a:noFill/>
          <a:ln/>
        </p:spPr>
        <p:txBody>
          <a:bodyPr wrap="square" lIns="0" tIns="0" rIns="0" bIns="0" rtlCol="0" anchor="t"/>
          <a:lstStyle/>
          <a:p>
            <a:pPr algn="l" indent="0" marL="0">
              <a:lnSpc>
                <a:spcPts val="2025"/>
              </a:lnSpc>
              <a:buNone/>
            </a:pPr>
            <a:r>
              <a:rPr lang="en-US" sz="1500" b="1" dirty="0">
                <a:solidFill>
                  <a:srgbClr val="FFFFFF"/>
                </a:solidFill>
                <a:latin typeface="Be Vietnam Pro" pitchFamily="34" charset="0"/>
                <a:ea typeface="Be Vietnam Pro" pitchFamily="34" charset="-122"/>
                <a:cs typeface="Be Vietnam Pro" pitchFamily="34" charset="-120"/>
              </a:rPr>
              <a:t>Cảm biến khói vượt ngưỡng, nhiệt độ tăng vọt</a:t>
            </a:r>
            <a:endParaRPr lang="en-US" sz="1500" dirty="0"/>
          </a:p>
        </p:txBody>
      </p:sp>
      <p:sp>
        <p:nvSpPr>
          <p:cNvPr id="30" name="Text 26"/>
          <p:cNvSpPr/>
          <p:nvPr/>
        </p:nvSpPr>
        <p:spPr>
          <a:xfrm>
            <a:off x="5833872" y="3884422"/>
            <a:ext cx="5443423" cy="278892"/>
          </a:xfrm>
          <a:prstGeom prst="rect">
            <a:avLst/>
          </a:prstGeom>
          <a:noFill/>
          <a:ln/>
        </p:spPr>
        <p:txBody>
          <a:bodyPr wrap="square" lIns="0" tIns="0" rIns="0" bIns="0" rtlCol="0" anchor="t"/>
          <a:lstStyle/>
          <a:p>
            <a:pPr algn="l" indent="0" marL="0">
              <a:lnSpc>
                <a:spcPts val="1620"/>
              </a:lnSpc>
              <a:buNone/>
            </a:pPr>
            <a:r>
              <a:rPr lang="en-US" sz="1200" dirty="0">
                <a:solidFill>
                  <a:srgbClr val="9BB0C6"/>
                </a:solidFill>
                <a:latin typeface="Be Vietnam Pro" pitchFamily="34" charset="0"/>
                <a:ea typeface="Be Vietnam Pro" pitchFamily="34" charset="-122"/>
                <a:cs typeface="Be Vietnam Pro" pitchFamily="34" charset="-120"/>
              </a:rPr>
              <a:t>Hệ thống mở sự cố nguy cơ cháy.</a:t>
            </a:r>
            <a:endParaRPr lang="en-US" sz="1200" dirty="0"/>
          </a:p>
        </p:txBody>
      </p:sp>
      <p:sp>
        <p:nvSpPr>
          <p:cNvPr id="31" name="Shape 27"/>
          <p:cNvSpPr/>
          <p:nvPr/>
        </p:nvSpPr>
        <p:spPr>
          <a:xfrm rot="10800000">
            <a:off x="8409280" y="4405630"/>
            <a:ext cx="201168" cy="201168"/>
          </a:xfrm>
          <a:prstGeom prst="triangle">
            <a:avLst/>
          </a:prstGeom>
          <a:solidFill>
            <a:srgbClr val="22C55E">
              <a:alpha val="80000"/>
            </a:srgbClr>
          </a:solidFill>
          <a:ln/>
        </p:spPr>
      </p:sp>
      <p:sp>
        <p:nvSpPr>
          <p:cNvPr id="32" name="Shape 28"/>
          <p:cNvSpPr/>
          <p:nvPr/>
        </p:nvSpPr>
        <p:spPr>
          <a:xfrm>
            <a:off x="5541264" y="4634230"/>
            <a:ext cx="5937199" cy="1078992"/>
          </a:xfrm>
          <a:prstGeom prst="roundRect">
            <a:avLst>
              <a:gd name="adj" fmla="val 10169"/>
            </a:avLst>
          </a:prstGeom>
          <a:solidFill>
            <a:srgbClr val="091B2D">
              <a:alpha val="66000"/>
            </a:srgbClr>
          </a:solidFill>
          <a:ln w="12700">
            <a:solidFill>
              <a:srgbClr val="FFFFFF">
                <a:alpha val="12000"/>
              </a:srgbClr>
            </a:solidFill>
            <a:prstDash val="solid"/>
          </a:ln>
        </p:spPr>
      </p:sp>
      <p:sp>
        <p:nvSpPr>
          <p:cNvPr id="33" name="Shape 29"/>
          <p:cNvSpPr/>
          <p:nvPr/>
        </p:nvSpPr>
        <p:spPr>
          <a:xfrm>
            <a:off x="5541264" y="4634230"/>
            <a:ext cx="50292" cy="1078992"/>
          </a:xfrm>
          <a:prstGeom prst="roundRect">
            <a:avLst>
              <a:gd name="adj" fmla="val 54545"/>
            </a:avLst>
          </a:prstGeom>
          <a:solidFill>
            <a:srgbClr val="F87171">
              <a:alpha val="95000"/>
            </a:srgbClr>
          </a:solidFill>
          <a:ln/>
        </p:spPr>
      </p:sp>
      <p:sp>
        <p:nvSpPr>
          <p:cNvPr id="34" name="Text 30"/>
          <p:cNvSpPr/>
          <p:nvPr/>
        </p:nvSpPr>
        <p:spPr>
          <a:xfrm>
            <a:off x="5833872" y="4817110"/>
            <a:ext cx="5443423" cy="330327"/>
          </a:xfrm>
          <a:prstGeom prst="rect">
            <a:avLst/>
          </a:prstGeom>
          <a:noFill/>
          <a:ln/>
        </p:spPr>
        <p:txBody>
          <a:bodyPr wrap="square" lIns="0" tIns="0" rIns="0" bIns="0" rtlCol="0" anchor="t"/>
          <a:lstStyle/>
          <a:p>
            <a:pPr algn="l" indent="0" marL="0">
              <a:lnSpc>
                <a:spcPts val="2025"/>
              </a:lnSpc>
              <a:buNone/>
            </a:pPr>
            <a:r>
              <a:rPr lang="en-US" sz="1500" b="1" dirty="0">
                <a:solidFill>
                  <a:srgbClr val="F87171"/>
                </a:solidFill>
                <a:latin typeface="Be Vietnam Pro" pitchFamily="34" charset="0"/>
                <a:ea typeface="Be Vietnam Pro" pitchFamily="34" charset="-122"/>
                <a:cs typeface="Be Vietnam Pro" pitchFamily="34" charset="-120"/>
              </a:rPr>
              <a:t>KHÔNG ĐIỀU PHỐI ĐƯỢC</a:t>
            </a:r>
            <a:endParaRPr lang="en-US" sz="1500" dirty="0"/>
          </a:p>
        </p:txBody>
      </p:sp>
      <p:sp>
        <p:nvSpPr>
          <p:cNvPr id="35" name="Text 31"/>
          <p:cNvSpPr/>
          <p:nvPr/>
        </p:nvSpPr>
        <p:spPr>
          <a:xfrm>
            <a:off x="5833872" y="5219446"/>
            <a:ext cx="5443423" cy="484632"/>
          </a:xfrm>
          <a:prstGeom prst="rect">
            <a:avLst/>
          </a:prstGeom>
          <a:noFill/>
          <a:ln/>
        </p:spPr>
        <p:txBody>
          <a:bodyPr wrap="square" lIns="0" tIns="0" rIns="0" bIns="0" rtlCol="0" anchor="t"/>
          <a:lstStyle/>
          <a:p>
            <a:pPr algn="l" indent="0" marL="0">
              <a:lnSpc>
                <a:spcPts val="1620"/>
              </a:lnSpc>
              <a:buNone/>
            </a:pPr>
            <a:r>
              <a:rPr lang="en-US" sz="1200" dirty="0">
                <a:solidFill>
                  <a:srgbClr val="9BB0C6"/>
                </a:solidFill>
                <a:latin typeface="Be Vietnam Pro" pitchFamily="34" charset="0"/>
                <a:ea typeface="Be Vietnam Pro" pitchFamily="34" charset="-122"/>
                <a:cs typeface="Be Vietnam Pro" pitchFamily="34" charset="-120"/>
              </a:rPr>
              <a:t>Người điều phối biết ngay: không được lên phương án lấy hàng từ kho</a:t>
            </a:r>
            <a:endParaRPr lang="en-US" sz="1200" dirty="0"/>
          </a:p>
          <a:p>
            <a:pPr algn="l" indent="0" marL="0">
              <a:lnSpc>
                <a:spcPts val="1620"/>
              </a:lnSpc>
              <a:buNone/>
            </a:pPr>
            <a:r>
              <a:rPr lang="en-US" sz="1200" dirty="0">
                <a:solidFill>
                  <a:srgbClr val="9BB0C6"/>
                </a:solidFill>
                <a:latin typeface="Be Vietnam Pro" pitchFamily="34" charset="0"/>
                <a:ea typeface="Be Vietnam Pro" pitchFamily="34" charset="-122"/>
                <a:cs typeface="Be Vietnam Pro" pitchFamily="34" charset="-120"/>
              </a:rPr>
              <a:t>này.</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par>
                                <p:cTn id="23" presetID="10" presetClass="entr" presetSubtype="0" fill="hold" grpId="0" nodeType="withEffect">
                                  <p:stCondLst>
                                    <p:cond delay="66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66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88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par>
                                <p:cTn id="35" presetID="10" presetClass="entr" presetSubtype="0" fill="hold" grpId="0" nodeType="withEffect">
                                  <p:stCondLst>
                                    <p:cond delay="88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childTnLst>
                                </p:cTn>
                              </p:par>
                              <p:par>
                                <p:cTn id="38" presetID="10" presetClass="entr" presetSubtype="0" fill="hold" grpId="0" nodeType="withEffect">
                                  <p:stCondLst>
                                    <p:cond delay="88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withEffect">
                                  <p:stCondLst>
                                    <p:cond delay="110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110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11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110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132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withEffect">
                                  <p:stCondLst>
                                    <p:cond delay="132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132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withEffect">
                                  <p:stCondLst>
                                    <p:cond delay="132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132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grpId="0" nodeType="withEffect">
                                  <p:stCondLst>
                                    <p:cond delay="154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154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154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par>
                                <p:cTn id="77" presetID="10" presetClass="entr" presetSubtype="0" fill="hold" grpId="0" nodeType="withEffect">
                                  <p:stCondLst>
                                    <p:cond delay="154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400"/>
                                        <p:tgtEl>
                                          <p:spTgt spid="34"/>
                                        </p:tgtEl>
                                      </p:cBhvr>
                                    </p:animEffect>
                                  </p:childTnLst>
                                </p:cTn>
                              </p:par>
                              <p:par>
                                <p:cTn id="80" presetID="10" presetClass="entr" presetSubtype="0" fill="hold" grpId="0" nodeType="withEffect">
                                  <p:stCondLst>
                                    <p:cond delay="1540"/>
                                  </p:stCondLst>
                                  <p:childTnLst>
                                    <p:set>
                                      <p:cBhvr>
                                        <p:cTn id="81" dur="1" fill="hold">
                                          <p:stCondLst>
                                            <p:cond delay="0"/>
                                          </p:stCondLst>
                                        </p:cTn>
                                        <p:tgtEl>
                                          <p:spTgt spid="35"/>
                                        </p:tgtEl>
                                        <p:attrNameLst>
                                          <p:attrName>style.visibility</p:attrName>
                                        </p:attrNameLst>
                                      </p:cBhvr>
                                      <p:to>
                                        <p:strVal val="visible"/>
                                      </p:to>
                                    </p:set>
                                    <p:animEffect transition="in" filter="fade">
                                      <p:cBhvr>
                                        <p:cTn id="8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20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TỒN KHO TOÀN XÃ</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Thiếu ở kho tổng, có thể đang thừa ở thôn bên</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Shape 8"/>
          <p:cNvSpPr/>
          <p:nvPr/>
        </p:nvSpPr>
        <p:spPr>
          <a:xfrm>
            <a:off x="713232" y="1964182"/>
            <a:ext cx="5099152" cy="2697480"/>
          </a:xfrm>
          <a:prstGeom prst="roundRect">
            <a:avLst>
              <a:gd name="adj" fmla="val 4068"/>
            </a:avLst>
          </a:prstGeom>
          <a:solidFill>
            <a:srgbClr val="091B2D">
              <a:alpha val="66000"/>
            </a:srgbClr>
          </a:solidFill>
          <a:ln w="12700">
            <a:solidFill>
              <a:srgbClr val="FFFFFF">
                <a:alpha val="12000"/>
              </a:srgbClr>
            </a:solidFill>
            <a:prstDash val="solid"/>
          </a:ln>
        </p:spPr>
      </p:sp>
      <p:sp>
        <p:nvSpPr>
          <p:cNvPr id="13" name="Shape 9"/>
          <p:cNvSpPr/>
          <p:nvPr/>
        </p:nvSpPr>
        <p:spPr>
          <a:xfrm>
            <a:off x="713232" y="1964182"/>
            <a:ext cx="50292" cy="2697480"/>
          </a:xfrm>
          <a:prstGeom prst="roundRect">
            <a:avLst>
              <a:gd name="adj" fmla="val 54545"/>
            </a:avLst>
          </a:prstGeom>
          <a:solidFill>
            <a:srgbClr val="F87171">
              <a:alpha val="95000"/>
            </a:srgbClr>
          </a:solidFill>
          <a:ln/>
        </p:spPr>
      </p:sp>
      <p:sp>
        <p:nvSpPr>
          <p:cNvPr id="14" name="Text 10"/>
          <p:cNvSpPr/>
          <p:nvPr/>
        </p:nvSpPr>
        <p:spPr>
          <a:xfrm>
            <a:off x="1042416" y="2238502"/>
            <a:ext cx="4532224" cy="253175"/>
          </a:xfrm>
          <a:prstGeom prst="rect">
            <a:avLst/>
          </a:prstGeom>
          <a:noFill/>
          <a:ln/>
        </p:spPr>
        <p:txBody>
          <a:bodyPr wrap="square" lIns="0" tIns="0" rIns="0" bIns="0" rtlCol="0" anchor="t"/>
          <a:lstStyle/>
          <a:p>
            <a:pPr algn="l" indent="0" marL="0">
              <a:lnSpc>
                <a:spcPts val="1418"/>
              </a:lnSpc>
              <a:buNone/>
            </a:pPr>
            <a:r>
              <a:rPr lang="en-US" sz="1050" b="1" spc="180" kern="0" dirty="0">
                <a:solidFill>
                  <a:srgbClr val="F87171"/>
                </a:solidFill>
                <a:latin typeface="Be Vietnam Pro" pitchFamily="34" charset="0"/>
                <a:ea typeface="Be Vietnam Pro" pitchFamily="34" charset="-122"/>
                <a:cs typeface="Be Vietnam Pro" pitchFamily="34" charset="-120"/>
              </a:rPr>
              <a:t>KHO TỔNG</a:t>
            </a:r>
            <a:endParaRPr lang="en-US" sz="1050" dirty="0"/>
          </a:p>
        </p:txBody>
      </p:sp>
      <p:sp>
        <p:nvSpPr>
          <p:cNvPr id="15" name="Text 11"/>
          <p:cNvSpPr/>
          <p:nvPr/>
        </p:nvSpPr>
        <p:spPr>
          <a:xfrm>
            <a:off x="1042416" y="2732278"/>
            <a:ext cx="4532224" cy="484632"/>
          </a:xfrm>
          <a:prstGeom prst="rect">
            <a:avLst/>
          </a:prstGeom>
          <a:noFill/>
          <a:ln/>
        </p:spPr>
        <p:txBody>
          <a:bodyPr wrap="square" lIns="0" tIns="0" rIns="0" bIns="0" rtlCol="0" anchor="t"/>
          <a:lstStyle/>
          <a:p>
            <a:pPr algn="l" indent="0" marL="0">
              <a:lnSpc>
                <a:spcPts val="3240"/>
              </a:lnSpc>
              <a:buNone/>
            </a:pPr>
            <a:r>
              <a:rPr lang="en-US" sz="2700" b="1" dirty="0">
                <a:solidFill>
                  <a:srgbClr val="FFFFFF"/>
                </a:solidFill>
                <a:latin typeface="Be Vietnam Pro" pitchFamily="34" charset="0"/>
                <a:ea typeface="Be Vietnam Pro" pitchFamily="34" charset="-122"/>
                <a:cs typeface="Be Vietnam Pro" pitchFamily="34" charset="-120"/>
              </a:rPr>
              <a:t>Gần hết bộ sơ cứu</a:t>
            </a:r>
            <a:endParaRPr lang="en-US" sz="2700" dirty="0"/>
          </a:p>
        </p:txBody>
      </p:sp>
      <p:sp>
        <p:nvSpPr>
          <p:cNvPr id="16" name="Text 12"/>
          <p:cNvSpPr/>
          <p:nvPr/>
        </p:nvSpPr>
        <p:spPr>
          <a:xfrm>
            <a:off x="1042416" y="3866134"/>
            <a:ext cx="4532224" cy="295402"/>
          </a:xfrm>
          <a:prstGeom prst="rect">
            <a:avLst/>
          </a:prstGeom>
          <a:noFill/>
          <a:ln/>
        </p:spPr>
        <p:txBody>
          <a:bodyPr wrap="square" lIns="0" tIns="0" rIns="0" bIns="0" rtlCol="0" anchor="t"/>
          <a:lstStyle/>
          <a:p>
            <a:pPr algn="l" indent="0" marL="0">
              <a:lnSpc>
                <a:spcPts val="1750"/>
              </a:lnSpc>
              <a:buNone/>
            </a:pPr>
            <a:r>
              <a:rPr lang="en-US" sz="1250" dirty="0">
                <a:solidFill>
                  <a:srgbClr val="9BB0C6"/>
                </a:solidFill>
                <a:latin typeface="Be Vietnam Pro" pitchFamily="34" charset="0"/>
                <a:ea typeface="Be Vietnam Pro" pitchFamily="34" charset="-122"/>
                <a:cs typeface="Be Vietnam Pro" pitchFamily="34" charset="-120"/>
              </a:rPr>
              <a:t>Nhìn riêng con số ở đây rất dễ kết luận cả xã đã hết hàng.</a:t>
            </a:r>
            <a:endParaRPr lang="en-US" sz="1250" dirty="0"/>
          </a:p>
        </p:txBody>
      </p:sp>
      <p:sp>
        <p:nvSpPr>
          <p:cNvPr id="17" name="Shape 13"/>
          <p:cNvSpPr/>
          <p:nvPr/>
        </p:nvSpPr>
        <p:spPr>
          <a:xfrm>
            <a:off x="6379312" y="1964182"/>
            <a:ext cx="5099152" cy="2697480"/>
          </a:xfrm>
          <a:prstGeom prst="roundRect">
            <a:avLst>
              <a:gd name="adj" fmla="val 4068"/>
            </a:avLst>
          </a:prstGeom>
          <a:solidFill>
            <a:srgbClr val="091B2D">
              <a:alpha val="66000"/>
            </a:srgbClr>
          </a:solidFill>
          <a:ln w="12700">
            <a:solidFill>
              <a:srgbClr val="FFFFFF">
                <a:alpha val="12000"/>
              </a:srgbClr>
            </a:solidFill>
            <a:prstDash val="solid"/>
          </a:ln>
        </p:spPr>
      </p:sp>
      <p:sp>
        <p:nvSpPr>
          <p:cNvPr id="18" name="Shape 14"/>
          <p:cNvSpPr/>
          <p:nvPr/>
        </p:nvSpPr>
        <p:spPr>
          <a:xfrm>
            <a:off x="6379312" y="1964182"/>
            <a:ext cx="50292" cy="2697480"/>
          </a:xfrm>
          <a:prstGeom prst="roundRect">
            <a:avLst>
              <a:gd name="adj" fmla="val 54545"/>
            </a:avLst>
          </a:prstGeom>
          <a:solidFill>
            <a:srgbClr val="22C55E">
              <a:alpha val="95000"/>
            </a:srgbClr>
          </a:solidFill>
          <a:ln/>
        </p:spPr>
      </p:sp>
      <p:sp>
        <p:nvSpPr>
          <p:cNvPr id="19" name="Text 15"/>
          <p:cNvSpPr/>
          <p:nvPr/>
        </p:nvSpPr>
        <p:spPr>
          <a:xfrm>
            <a:off x="6708496" y="2238502"/>
            <a:ext cx="4532224" cy="253175"/>
          </a:xfrm>
          <a:prstGeom prst="rect">
            <a:avLst/>
          </a:prstGeom>
          <a:noFill/>
          <a:ln/>
        </p:spPr>
        <p:txBody>
          <a:bodyPr wrap="square" lIns="0" tIns="0" rIns="0" bIns="0" rtlCol="0" anchor="t"/>
          <a:lstStyle/>
          <a:p>
            <a:pPr algn="l" indent="0" marL="0">
              <a:lnSpc>
                <a:spcPts val="1418"/>
              </a:lnSpc>
              <a:buNone/>
            </a:pPr>
            <a:r>
              <a:rPr lang="en-US" sz="1050" b="1" spc="180" kern="0" dirty="0">
                <a:solidFill>
                  <a:srgbClr val="22C55E"/>
                </a:solidFill>
                <a:latin typeface="Be Vietnam Pro" pitchFamily="34" charset="0"/>
                <a:ea typeface="Be Vietnam Pro" pitchFamily="34" charset="-122"/>
                <a:cs typeface="Be Vietnam Pro" pitchFamily="34" charset="-120"/>
              </a:rPr>
              <a:t>KHO THÔN LONG CHÂU</a:t>
            </a:r>
            <a:endParaRPr lang="en-US" sz="1050" dirty="0"/>
          </a:p>
        </p:txBody>
      </p:sp>
      <p:sp>
        <p:nvSpPr>
          <p:cNvPr id="20" name="Text 16"/>
          <p:cNvSpPr/>
          <p:nvPr/>
        </p:nvSpPr>
        <p:spPr>
          <a:xfrm>
            <a:off x="6708496" y="2732278"/>
            <a:ext cx="4532224" cy="484632"/>
          </a:xfrm>
          <a:prstGeom prst="rect">
            <a:avLst/>
          </a:prstGeom>
          <a:noFill/>
          <a:ln/>
        </p:spPr>
        <p:txBody>
          <a:bodyPr wrap="square" lIns="0" tIns="0" rIns="0" bIns="0" rtlCol="0" anchor="t"/>
          <a:lstStyle/>
          <a:p>
            <a:pPr algn="l" indent="0" marL="0">
              <a:lnSpc>
                <a:spcPts val="3240"/>
              </a:lnSpc>
              <a:buNone/>
            </a:pPr>
            <a:r>
              <a:rPr lang="en-US" sz="2700" b="1" dirty="0">
                <a:solidFill>
                  <a:srgbClr val="FFFFFF"/>
                </a:solidFill>
                <a:latin typeface="Be Vietnam Pro" pitchFamily="34" charset="0"/>
                <a:ea typeface="Be Vietnam Pro" pitchFamily="34" charset="-122"/>
                <a:cs typeface="Be Vietnam Pro" pitchFamily="34" charset="-120"/>
              </a:rPr>
              <a:t>Hơn 1.600 bộ</a:t>
            </a:r>
            <a:endParaRPr lang="en-US" sz="2700" dirty="0"/>
          </a:p>
        </p:txBody>
      </p:sp>
      <p:sp>
        <p:nvSpPr>
          <p:cNvPr id="21" name="Text 17"/>
          <p:cNvSpPr/>
          <p:nvPr/>
        </p:nvSpPr>
        <p:spPr>
          <a:xfrm>
            <a:off x="6708496" y="3866134"/>
            <a:ext cx="4532224" cy="517652"/>
          </a:xfrm>
          <a:prstGeom prst="rect">
            <a:avLst/>
          </a:prstGeom>
          <a:noFill/>
          <a:ln/>
        </p:spPr>
        <p:txBody>
          <a:bodyPr wrap="square" lIns="0" tIns="0" rIns="0" bIns="0" rtlCol="0" anchor="t"/>
          <a:lstStyle/>
          <a:p>
            <a:pPr algn="l" indent="0" marL="0">
              <a:lnSpc>
                <a:spcPts val="1750"/>
              </a:lnSpc>
              <a:buNone/>
            </a:pPr>
            <a:r>
              <a:rPr lang="en-US" sz="1250" dirty="0">
                <a:solidFill>
                  <a:srgbClr val="9BB0C6"/>
                </a:solidFill>
                <a:latin typeface="Be Vietnam Pro" pitchFamily="34" charset="0"/>
                <a:ea typeface="Be Vietnam Pro" pitchFamily="34" charset="-122"/>
                <a:cs typeface="Be Vietnam Pro" pitchFamily="34" charset="-120"/>
              </a:rPr>
              <a:t>Thứ đang cần vẫn còn nguyên, chỉ cách hiện trường vài</a:t>
            </a:r>
            <a:endParaRPr lang="en-US" sz="1250" dirty="0"/>
          </a:p>
          <a:p>
            <a:pPr algn="l" indent="0" marL="0">
              <a:lnSpc>
                <a:spcPts val="1750"/>
              </a:lnSpc>
              <a:buNone/>
            </a:pPr>
            <a:r>
              <a:rPr lang="en-US" sz="1250" dirty="0">
                <a:solidFill>
                  <a:srgbClr val="9BB0C6"/>
                </a:solidFill>
                <a:latin typeface="Be Vietnam Pro" pitchFamily="34" charset="0"/>
                <a:ea typeface="Be Vietnam Pro" pitchFamily="34" charset="-122"/>
                <a:cs typeface="Be Vietnam Pro" pitchFamily="34" charset="-120"/>
              </a:rPr>
              <a:t>ki-lô-mét.</a:t>
            </a:r>
            <a:endParaRPr lang="en-US" sz="1250" dirty="0"/>
          </a:p>
        </p:txBody>
      </p:sp>
      <p:sp>
        <p:nvSpPr>
          <p:cNvPr id="22" name="Shape 18"/>
          <p:cNvSpPr/>
          <p:nvPr/>
        </p:nvSpPr>
        <p:spPr>
          <a:xfrm rot="5400000">
            <a:off x="5967832" y="3184906"/>
            <a:ext cx="256032" cy="256032"/>
          </a:xfrm>
          <a:prstGeom prst="triangle">
            <a:avLst/>
          </a:prstGeom>
          <a:solidFill>
            <a:srgbClr val="6EE7A8">
              <a:alpha val="90000"/>
            </a:srgbClr>
          </a:solidFill>
          <a:ln/>
        </p:spPr>
      </p:sp>
      <p:sp>
        <p:nvSpPr>
          <p:cNvPr id="23" name="Shape 19"/>
          <p:cNvSpPr/>
          <p:nvPr/>
        </p:nvSpPr>
        <p:spPr>
          <a:xfrm>
            <a:off x="713232" y="4954270"/>
            <a:ext cx="10765231" cy="822960"/>
          </a:xfrm>
          <a:prstGeom prst="roundRect">
            <a:avLst>
              <a:gd name="adj" fmla="val 11111"/>
            </a:avLst>
          </a:prstGeom>
          <a:solidFill>
            <a:srgbClr val="22C55E">
              <a:alpha val="12000"/>
            </a:srgbClr>
          </a:solidFill>
          <a:ln w="12700">
            <a:solidFill>
              <a:srgbClr val="22C55E">
                <a:alpha val="40000"/>
              </a:srgbClr>
            </a:solidFill>
            <a:prstDash val="solid"/>
          </a:ln>
        </p:spPr>
      </p:sp>
      <p:sp>
        <p:nvSpPr>
          <p:cNvPr id="24" name="Shape 20"/>
          <p:cNvSpPr/>
          <p:nvPr/>
        </p:nvSpPr>
        <p:spPr>
          <a:xfrm>
            <a:off x="713232" y="4954270"/>
            <a:ext cx="50292" cy="822960"/>
          </a:xfrm>
          <a:prstGeom prst="roundRect">
            <a:avLst>
              <a:gd name="adj" fmla="val 54545"/>
            </a:avLst>
          </a:prstGeom>
          <a:solidFill>
            <a:srgbClr val="22C55E">
              <a:alpha val="95000"/>
            </a:srgbClr>
          </a:solidFill>
          <a:ln/>
        </p:spPr>
      </p:sp>
      <p:sp>
        <p:nvSpPr>
          <p:cNvPr id="25" name="Text 21"/>
          <p:cNvSpPr/>
          <p:nvPr/>
        </p:nvSpPr>
        <p:spPr>
          <a:xfrm>
            <a:off x="1078992" y="5100574"/>
            <a:ext cx="10125151" cy="322072"/>
          </a:xfrm>
          <a:prstGeom prst="rect">
            <a:avLst/>
          </a:prstGeom>
          <a:noFill/>
          <a:ln/>
        </p:spPr>
        <p:txBody>
          <a:bodyPr wrap="square" lIns="0" tIns="0" rIns="0" bIns="0" rtlCol="0" anchor="t"/>
          <a:lstStyle/>
          <a:p>
            <a:pPr algn="l" indent="0" marL="0">
              <a:lnSpc>
                <a:spcPts val="1960"/>
              </a:lnSpc>
              <a:buNone/>
            </a:pPr>
            <a:r>
              <a:rPr lang="en-US" sz="1400" b="1" dirty="0">
                <a:solidFill>
                  <a:srgbClr val="FFFFFF"/>
                </a:solidFill>
                <a:latin typeface="Be Vietnam Pro" pitchFamily="34" charset="0"/>
                <a:ea typeface="Be Vietnam Pro" pitchFamily="34" charset="-122"/>
                <a:cs typeface="Be Vietnam Pro" pitchFamily="34" charset="-120"/>
              </a:rPr>
              <a:t>Màn hình tồn kho toàn xã gộp cả 18 kho vào một bảng: xe chạy 4 ki-lô-mét, thay vì gọi điện xin chi viện xã bên.</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44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fill="hold" grpId="0" nodeType="withEffect">
                                  <p:stCondLst>
                                    <p:cond delay="66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66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66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88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88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88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21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CẢM BIẾN IoT TẠI KHO</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Cảnh báo trước khi mất hàng</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Shape 8"/>
          <p:cNvSpPr/>
          <p:nvPr/>
        </p:nvSpPr>
        <p:spPr>
          <a:xfrm>
            <a:off x="713232" y="1964182"/>
            <a:ext cx="5245456" cy="868680"/>
          </a:xfrm>
          <a:prstGeom prst="roundRect">
            <a:avLst>
              <a:gd name="adj" fmla="val 12632"/>
            </a:avLst>
          </a:prstGeom>
          <a:solidFill>
            <a:srgbClr val="091B2D">
              <a:alpha val="66000"/>
            </a:srgbClr>
          </a:solidFill>
          <a:ln w="12700">
            <a:solidFill>
              <a:srgbClr val="FFFFFF">
                <a:alpha val="12000"/>
              </a:srgbClr>
            </a:solidFill>
            <a:prstDash val="solid"/>
          </a:ln>
        </p:spPr>
      </p:sp>
      <p:sp>
        <p:nvSpPr>
          <p:cNvPr id="13" name="Shape 9"/>
          <p:cNvSpPr/>
          <p:nvPr/>
        </p:nvSpPr>
        <p:spPr>
          <a:xfrm>
            <a:off x="713232" y="1964182"/>
            <a:ext cx="50292" cy="868680"/>
          </a:xfrm>
          <a:prstGeom prst="roundRect">
            <a:avLst>
              <a:gd name="adj" fmla="val 54545"/>
            </a:avLst>
          </a:prstGeom>
          <a:solidFill>
            <a:srgbClr val="38BDF8">
              <a:alpha val="95000"/>
            </a:srgbClr>
          </a:solidFill>
          <a:ln/>
        </p:spPr>
      </p:sp>
      <p:sp>
        <p:nvSpPr>
          <p:cNvPr id="14" name="Text 10"/>
          <p:cNvSpPr/>
          <p:nvPr/>
        </p:nvSpPr>
        <p:spPr>
          <a:xfrm>
            <a:off x="1005840" y="2073910"/>
            <a:ext cx="4751680" cy="330327"/>
          </a:xfrm>
          <a:prstGeom prst="rect">
            <a:avLst/>
          </a:prstGeom>
          <a:noFill/>
          <a:ln/>
        </p:spPr>
        <p:txBody>
          <a:bodyPr wrap="square" lIns="0" tIns="0" rIns="0" bIns="0" rtlCol="0" anchor="t"/>
          <a:lstStyle/>
          <a:p>
            <a:pPr algn="l" indent="0" marL="0">
              <a:lnSpc>
                <a:spcPts val="2025"/>
              </a:lnSpc>
              <a:buNone/>
            </a:pPr>
            <a:r>
              <a:rPr lang="en-US" sz="1500" b="1" dirty="0">
                <a:solidFill>
                  <a:srgbClr val="FFFFFF"/>
                </a:solidFill>
                <a:latin typeface="Be Vietnam Pro" pitchFamily="34" charset="0"/>
                <a:ea typeface="Be Vietnam Pro" pitchFamily="34" charset="-122"/>
                <a:cs typeface="Be Vietnam Pro" pitchFamily="34" charset="-120"/>
              </a:rPr>
              <a:t>9 loại thiết bị</a:t>
            </a:r>
            <a:endParaRPr lang="en-US" sz="1500" dirty="0"/>
          </a:p>
        </p:txBody>
      </p:sp>
      <p:sp>
        <p:nvSpPr>
          <p:cNvPr id="15" name="Text 11"/>
          <p:cNvSpPr/>
          <p:nvPr/>
        </p:nvSpPr>
        <p:spPr>
          <a:xfrm>
            <a:off x="1005840" y="2421382"/>
            <a:ext cx="4751680" cy="467487"/>
          </a:xfrm>
          <a:prstGeom prst="rect">
            <a:avLst/>
          </a:prstGeom>
          <a:noFill/>
          <a:ln/>
        </p:spPr>
        <p:txBody>
          <a:bodyPr wrap="square" lIns="0" tIns="0" rIns="0" bIns="0" rtlCol="0" anchor="t"/>
          <a:lstStyle/>
          <a:p>
            <a:pPr algn="l" indent="0" marL="0">
              <a:lnSpc>
                <a:spcPts val="1553"/>
              </a:lnSpc>
              <a:buNone/>
            </a:pPr>
            <a:r>
              <a:rPr lang="en-US" sz="1150" dirty="0">
                <a:solidFill>
                  <a:srgbClr val="9BB0C6"/>
                </a:solidFill>
                <a:latin typeface="Be Vietnam Pro" pitchFamily="34" charset="0"/>
                <a:ea typeface="Be Vietnam Pro" pitchFamily="34" charset="-122"/>
                <a:cs typeface="Be Vietnam Pro" pitchFamily="34" charset="-120"/>
              </a:rPr>
              <a:t>Cân kệ, nhiệt độ, độ ẩm, khói, cảm biến cửa, cổng RFID, camera,</a:t>
            </a:r>
            <a:endParaRPr lang="en-US" sz="1150" dirty="0"/>
          </a:p>
          <a:p>
            <a:pPr algn="l" indent="0" marL="0">
              <a:lnSpc>
                <a:spcPts val="1553"/>
              </a:lnSpc>
              <a:buNone/>
            </a:pPr>
            <a:r>
              <a:rPr lang="en-US" sz="1150" dirty="0">
                <a:solidFill>
                  <a:srgbClr val="9BB0C6"/>
                </a:solidFill>
                <a:latin typeface="Be Vietnam Pro" pitchFamily="34" charset="0"/>
                <a:ea typeface="Be Vietnam Pro" pitchFamily="34" charset="-122"/>
                <a:cs typeface="Be Vietnam Pro" pitchFamily="34" charset="-120"/>
              </a:rPr>
              <a:t>nguồn điện…</a:t>
            </a:r>
            <a:endParaRPr lang="en-US" sz="1150" dirty="0"/>
          </a:p>
        </p:txBody>
      </p:sp>
      <p:sp>
        <p:nvSpPr>
          <p:cNvPr id="16" name="Shape 12"/>
          <p:cNvSpPr/>
          <p:nvPr/>
        </p:nvSpPr>
        <p:spPr>
          <a:xfrm>
            <a:off x="6233008" y="1964182"/>
            <a:ext cx="5245456" cy="868680"/>
          </a:xfrm>
          <a:prstGeom prst="roundRect">
            <a:avLst>
              <a:gd name="adj" fmla="val 12632"/>
            </a:avLst>
          </a:prstGeom>
          <a:solidFill>
            <a:srgbClr val="091B2D">
              <a:alpha val="66000"/>
            </a:srgbClr>
          </a:solidFill>
          <a:ln w="12700">
            <a:solidFill>
              <a:srgbClr val="FFFFFF">
                <a:alpha val="12000"/>
              </a:srgbClr>
            </a:solidFill>
            <a:prstDash val="solid"/>
          </a:ln>
        </p:spPr>
      </p:sp>
      <p:sp>
        <p:nvSpPr>
          <p:cNvPr id="17" name="Shape 13"/>
          <p:cNvSpPr/>
          <p:nvPr/>
        </p:nvSpPr>
        <p:spPr>
          <a:xfrm>
            <a:off x="6233008" y="1964182"/>
            <a:ext cx="50292" cy="868680"/>
          </a:xfrm>
          <a:prstGeom prst="roundRect">
            <a:avLst>
              <a:gd name="adj" fmla="val 54545"/>
            </a:avLst>
          </a:prstGeom>
          <a:solidFill>
            <a:srgbClr val="22C55E">
              <a:alpha val="95000"/>
            </a:srgbClr>
          </a:solidFill>
          <a:ln/>
        </p:spPr>
      </p:sp>
      <p:sp>
        <p:nvSpPr>
          <p:cNvPr id="18" name="Text 14"/>
          <p:cNvSpPr/>
          <p:nvPr/>
        </p:nvSpPr>
        <p:spPr>
          <a:xfrm>
            <a:off x="6525616" y="2073910"/>
            <a:ext cx="4751680" cy="330327"/>
          </a:xfrm>
          <a:prstGeom prst="rect">
            <a:avLst/>
          </a:prstGeom>
          <a:noFill/>
          <a:ln/>
        </p:spPr>
        <p:txBody>
          <a:bodyPr wrap="square" lIns="0" tIns="0" rIns="0" bIns="0" rtlCol="0" anchor="t"/>
          <a:lstStyle/>
          <a:p>
            <a:pPr algn="l" indent="0" marL="0">
              <a:lnSpc>
                <a:spcPts val="2025"/>
              </a:lnSpc>
              <a:buNone/>
            </a:pPr>
            <a:r>
              <a:rPr lang="en-US" sz="1500" b="1" dirty="0">
                <a:solidFill>
                  <a:srgbClr val="FFFFFF"/>
                </a:solidFill>
                <a:latin typeface="Be Vietnam Pro" pitchFamily="34" charset="0"/>
                <a:ea typeface="Be Vietnam Pro" pitchFamily="34" charset="-122"/>
                <a:cs typeface="Be Vietnam Pro" pitchFamily="34" charset="-120"/>
              </a:rPr>
              <a:t>9 loại sự cố được quét tự động</a:t>
            </a:r>
            <a:endParaRPr lang="en-US" sz="1500" dirty="0"/>
          </a:p>
        </p:txBody>
      </p:sp>
      <p:sp>
        <p:nvSpPr>
          <p:cNvPr id="19" name="Text 15"/>
          <p:cNvSpPr/>
          <p:nvPr/>
        </p:nvSpPr>
        <p:spPr>
          <a:xfrm>
            <a:off x="6525616" y="2421382"/>
            <a:ext cx="4751680" cy="467487"/>
          </a:xfrm>
          <a:prstGeom prst="rect">
            <a:avLst/>
          </a:prstGeom>
          <a:noFill/>
          <a:ln/>
        </p:spPr>
        <p:txBody>
          <a:bodyPr wrap="square" lIns="0" tIns="0" rIns="0" bIns="0" rtlCol="0" anchor="t"/>
          <a:lstStyle/>
          <a:p>
            <a:pPr algn="l" indent="0" marL="0">
              <a:lnSpc>
                <a:spcPts val="1553"/>
              </a:lnSpc>
              <a:buNone/>
            </a:pPr>
            <a:r>
              <a:rPr lang="en-US" sz="1150" dirty="0">
                <a:solidFill>
                  <a:srgbClr val="9BB0C6"/>
                </a:solidFill>
                <a:latin typeface="Be Vietnam Pro" pitchFamily="34" charset="0"/>
                <a:ea typeface="Be Vietnam Pro" pitchFamily="34" charset="-122"/>
                <a:cs typeface="Be Vietnam Pro" pitchFamily="34" charset="-120"/>
              </a:rPr>
              <a:t>Hệ thống mở hồ sơ sự cố kèm bằng chứng và báo theo thời gian</a:t>
            </a:r>
            <a:endParaRPr lang="en-US" sz="1150" dirty="0"/>
          </a:p>
          <a:p>
            <a:pPr algn="l" indent="0" marL="0">
              <a:lnSpc>
                <a:spcPts val="1553"/>
              </a:lnSpc>
              <a:buNone/>
            </a:pPr>
            <a:r>
              <a:rPr lang="en-US" sz="1150" dirty="0">
                <a:solidFill>
                  <a:srgbClr val="9BB0C6"/>
                </a:solidFill>
                <a:latin typeface="Be Vietnam Pro" pitchFamily="34" charset="0"/>
                <a:ea typeface="Be Vietnam Pro" pitchFamily="34" charset="-122"/>
                <a:cs typeface="Be Vietnam Pro" pitchFamily="34" charset="-120"/>
              </a:rPr>
              <a:t>thực.</a:t>
            </a:r>
            <a:endParaRPr lang="en-US" sz="1150" dirty="0"/>
          </a:p>
        </p:txBody>
      </p:sp>
      <p:sp>
        <p:nvSpPr>
          <p:cNvPr id="20" name="Shape 16"/>
          <p:cNvSpPr/>
          <p:nvPr/>
        </p:nvSpPr>
        <p:spPr>
          <a:xfrm>
            <a:off x="713232" y="3043174"/>
            <a:ext cx="5245456" cy="1691640"/>
          </a:xfrm>
          <a:prstGeom prst="roundRect">
            <a:avLst>
              <a:gd name="adj" fmla="val 6486"/>
            </a:avLst>
          </a:prstGeom>
          <a:solidFill>
            <a:srgbClr val="091B2D">
              <a:alpha val="66000"/>
            </a:srgbClr>
          </a:solidFill>
          <a:ln w="12700">
            <a:solidFill>
              <a:srgbClr val="FFFFFF">
                <a:alpha val="12000"/>
              </a:srgbClr>
            </a:solidFill>
            <a:prstDash val="solid"/>
          </a:ln>
        </p:spPr>
      </p:sp>
      <p:sp>
        <p:nvSpPr>
          <p:cNvPr id="21" name="Shape 17"/>
          <p:cNvSpPr/>
          <p:nvPr/>
        </p:nvSpPr>
        <p:spPr>
          <a:xfrm>
            <a:off x="713232" y="3043174"/>
            <a:ext cx="50292" cy="1691640"/>
          </a:xfrm>
          <a:prstGeom prst="roundRect">
            <a:avLst>
              <a:gd name="adj" fmla="val 54545"/>
            </a:avLst>
          </a:prstGeom>
          <a:solidFill>
            <a:srgbClr val="FB923C">
              <a:alpha val="95000"/>
            </a:srgbClr>
          </a:solidFill>
          <a:ln/>
        </p:spPr>
      </p:sp>
      <p:sp>
        <p:nvSpPr>
          <p:cNvPr id="22" name="Text 18"/>
          <p:cNvSpPr/>
          <p:nvPr/>
        </p:nvSpPr>
        <p:spPr>
          <a:xfrm>
            <a:off x="1005840" y="3226054"/>
            <a:ext cx="4751680" cy="330327"/>
          </a:xfrm>
          <a:prstGeom prst="rect">
            <a:avLst/>
          </a:prstGeom>
          <a:noFill/>
          <a:ln/>
        </p:spPr>
        <p:txBody>
          <a:bodyPr wrap="square" lIns="0" tIns="0" rIns="0" bIns="0" rtlCol="0" anchor="t"/>
          <a:lstStyle/>
          <a:p>
            <a:pPr algn="l" indent="0" marL="0">
              <a:lnSpc>
                <a:spcPts val="2025"/>
              </a:lnSpc>
              <a:buNone/>
            </a:pPr>
            <a:r>
              <a:rPr lang="en-US" sz="1500" b="1" dirty="0">
                <a:solidFill>
                  <a:srgbClr val="FFFFFF"/>
                </a:solidFill>
                <a:latin typeface="Be Vietnam Pro" pitchFamily="34" charset="0"/>
                <a:ea typeface="Be Vietnam Pro" pitchFamily="34" charset="-122"/>
                <a:cs typeface="Be Vietnam Pro" pitchFamily="34" charset="-120"/>
              </a:rPr>
              <a:t>Nguy cơ cháy đòi hai dấu hiệu cùng lúc</a:t>
            </a:r>
            <a:endParaRPr lang="en-US" sz="1500" dirty="0"/>
          </a:p>
        </p:txBody>
      </p:sp>
      <p:sp>
        <p:nvSpPr>
          <p:cNvPr id="23" name="Text 19"/>
          <p:cNvSpPr/>
          <p:nvPr/>
        </p:nvSpPr>
        <p:spPr>
          <a:xfrm>
            <a:off x="1005840" y="3628390"/>
            <a:ext cx="4751680" cy="902716"/>
          </a:xfrm>
          <a:prstGeom prst="rect">
            <a:avLst/>
          </a:prstGeom>
          <a:noFill/>
          <a:ln/>
        </p:spPr>
        <p:txBody>
          <a:bodyPr wrap="square" lIns="0" tIns="0" rIns="0" bIns="0" rtlCol="0" anchor="t"/>
          <a:lstStyle/>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Khói vượt 30 ppm VÀ nhiệt độ tăng từ 15 độ trở lên trong cùng</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một cửa sổ quét.</a:t>
            </a:r>
            <a:endParaRPr lang="en-US" sz="1150" dirty="0"/>
          </a:p>
          <a:p>
            <a:pPr algn="l" indent="0" marL="0">
              <a:lnSpc>
                <a:spcPts val="1633"/>
              </a:lnSpc>
              <a:buNone/>
            </a:pP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Một hệ thống báo động giả vài lần sẽ bị người ta tắt đi.</a:t>
            </a:r>
            <a:endParaRPr lang="en-US" sz="1150" dirty="0"/>
          </a:p>
        </p:txBody>
      </p:sp>
      <p:sp>
        <p:nvSpPr>
          <p:cNvPr id="24" name="Shape 20"/>
          <p:cNvSpPr/>
          <p:nvPr/>
        </p:nvSpPr>
        <p:spPr>
          <a:xfrm>
            <a:off x="6233008" y="3043174"/>
            <a:ext cx="5245456" cy="1691640"/>
          </a:xfrm>
          <a:prstGeom prst="roundRect">
            <a:avLst>
              <a:gd name="adj" fmla="val 6486"/>
            </a:avLst>
          </a:prstGeom>
          <a:solidFill>
            <a:srgbClr val="091B2D">
              <a:alpha val="66000"/>
            </a:srgbClr>
          </a:solidFill>
          <a:ln w="12700">
            <a:solidFill>
              <a:srgbClr val="FFFFFF">
                <a:alpha val="12000"/>
              </a:srgbClr>
            </a:solidFill>
            <a:prstDash val="solid"/>
          </a:ln>
        </p:spPr>
      </p:sp>
      <p:sp>
        <p:nvSpPr>
          <p:cNvPr id="25" name="Shape 21"/>
          <p:cNvSpPr/>
          <p:nvPr/>
        </p:nvSpPr>
        <p:spPr>
          <a:xfrm>
            <a:off x="6233008" y="3043174"/>
            <a:ext cx="50292" cy="1691640"/>
          </a:xfrm>
          <a:prstGeom prst="roundRect">
            <a:avLst>
              <a:gd name="adj" fmla="val 54545"/>
            </a:avLst>
          </a:prstGeom>
          <a:solidFill>
            <a:srgbClr val="FBBF24">
              <a:alpha val="95000"/>
            </a:srgbClr>
          </a:solidFill>
          <a:ln/>
        </p:spPr>
      </p:sp>
      <p:sp>
        <p:nvSpPr>
          <p:cNvPr id="26" name="Text 22"/>
          <p:cNvSpPr/>
          <p:nvPr/>
        </p:nvSpPr>
        <p:spPr>
          <a:xfrm>
            <a:off x="6525616" y="3226054"/>
            <a:ext cx="4751680" cy="330327"/>
          </a:xfrm>
          <a:prstGeom prst="rect">
            <a:avLst/>
          </a:prstGeom>
          <a:noFill/>
          <a:ln/>
        </p:spPr>
        <p:txBody>
          <a:bodyPr wrap="square" lIns="0" tIns="0" rIns="0" bIns="0" rtlCol="0" anchor="t"/>
          <a:lstStyle/>
          <a:p>
            <a:pPr algn="l" indent="0" marL="0">
              <a:lnSpc>
                <a:spcPts val="2025"/>
              </a:lnSpc>
              <a:buNone/>
            </a:pPr>
            <a:r>
              <a:rPr lang="en-US" sz="1500" b="1" dirty="0">
                <a:solidFill>
                  <a:srgbClr val="FFFFFF"/>
                </a:solidFill>
                <a:latin typeface="Be Vietnam Pro" pitchFamily="34" charset="0"/>
                <a:ea typeface="Be Vietnam Pro" pitchFamily="34" charset="-122"/>
                <a:cs typeface="Be Vietnam Pro" pitchFamily="34" charset="-120"/>
              </a:rPr>
              <a:t>Sự im lặng cũng là một sự cố</a:t>
            </a:r>
            <a:endParaRPr lang="en-US" sz="1500" dirty="0"/>
          </a:p>
        </p:txBody>
      </p:sp>
      <p:sp>
        <p:nvSpPr>
          <p:cNvPr id="27" name="Text 23"/>
          <p:cNvSpPr/>
          <p:nvPr/>
        </p:nvSpPr>
        <p:spPr>
          <a:xfrm>
            <a:off x="6525616" y="3628390"/>
            <a:ext cx="4751680" cy="902716"/>
          </a:xfrm>
          <a:prstGeom prst="rect">
            <a:avLst/>
          </a:prstGeom>
          <a:noFill/>
          <a:ln/>
        </p:spPr>
        <p:txBody>
          <a:bodyPr wrap="square" lIns="0" tIns="0" rIns="0" bIns="0" rtlCol="0" anchor="t"/>
          <a:lstStyle/>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Bỏ lỡ 3 chu kỳ báo thì cảnh báo; bỏ lỡ 10 chu kỳ thì coi như thiết bị</a:t>
            </a: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đã chết.</a:t>
            </a:r>
            <a:endParaRPr lang="en-US" sz="1150" dirty="0"/>
          </a:p>
          <a:p>
            <a:pPr algn="l" indent="0" marL="0">
              <a:lnSpc>
                <a:spcPts val="1633"/>
              </a:lnSpc>
              <a:buNone/>
            </a:pPr>
            <a:endParaRPr lang="en-US" sz="1150" dirty="0"/>
          </a:p>
          <a:p>
            <a:pPr algn="l" indent="0" marL="0">
              <a:lnSpc>
                <a:spcPts val="1633"/>
              </a:lnSpc>
              <a:buNone/>
            </a:pPr>
            <a:r>
              <a:rPr lang="en-US" sz="1150" dirty="0">
                <a:solidFill>
                  <a:srgbClr val="D9E6F2"/>
                </a:solidFill>
                <a:latin typeface="Be Vietnam Pro" pitchFamily="34" charset="0"/>
                <a:ea typeface="Be Vietnam Pro" pitchFamily="34" charset="-122"/>
                <a:cs typeface="Be Vietnam Pro" pitchFamily="34" charset="-120"/>
              </a:rPr>
              <a:t>Im lặng rất dễ bị hiểu nhầm là “mọi thứ bình thường”.</a:t>
            </a:r>
            <a:endParaRPr lang="en-US" sz="1150" dirty="0"/>
          </a:p>
        </p:txBody>
      </p:sp>
      <p:sp>
        <p:nvSpPr>
          <p:cNvPr id="28" name="Shape 24"/>
          <p:cNvSpPr/>
          <p:nvPr/>
        </p:nvSpPr>
        <p:spPr>
          <a:xfrm>
            <a:off x="713232" y="4972558"/>
            <a:ext cx="5245456" cy="914400"/>
          </a:xfrm>
          <a:prstGeom prst="roundRect">
            <a:avLst>
              <a:gd name="adj" fmla="val 12000"/>
            </a:avLst>
          </a:prstGeom>
          <a:solidFill>
            <a:srgbClr val="091B2D">
              <a:alpha val="66000"/>
            </a:srgbClr>
          </a:solidFill>
          <a:ln w="12700">
            <a:solidFill>
              <a:srgbClr val="FFFFFF">
                <a:alpha val="12000"/>
              </a:srgbClr>
            </a:solidFill>
            <a:prstDash val="solid"/>
          </a:ln>
        </p:spPr>
      </p:sp>
      <p:sp>
        <p:nvSpPr>
          <p:cNvPr id="29" name="Shape 25"/>
          <p:cNvSpPr/>
          <p:nvPr/>
        </p:nvSpPr>
        <p:spPr>
          <a:xfrm>
            <a:off x="713232" y="4972558"/>
            <a:ext cx="50292" cy="914400"/>
          </a:xfrm>
          <a:prstGeom prst="roundRect">
            <a:avLst>
              <a:gd name="adj" fmla="val 54545"/>
            </a:avLst>
          </a:prstGeom>
          <a:solidFill>
            <a:srgbClr val="22C55E">
              <a:alpha val="95000"/>
            </a:srgbClr>
          </a:solidFill>
          <a:ln/>
        </p:spPr>
      </p:sp>
      <p:sp>
        <p:nvSpPr>
          <p:cNvPr id="30" name="Text 26"/>
          <p:cNvSpPr/>
          <p:nvPr/>
        </p:nvSpPr>
        <p:spPr>
          <a:xfrm>
            <a:off x="1005840" y="5100574"/>
            <a:ext cx="4751680" cy="296037"/>
          </a:xfrm>
          <a:prstGeom prst="rect">
            <a:avLst/>
          </a:prstGeom>
          <a:noFill/>
          <a:ln/>
        </p:spPr>
        <p:txBody>
          <a:bodyPr wrap="square" lIns="0" tIns="0" rIns="0" bIns="0" rtlCol="0" anchor="t"/>
          <a:lstStyle/>
          <a:p>
            <a:pPr algn="l" indent="0" marL="0">
              <a:lnSpc>
                <a:spcPts val="1755"/>
              </a:lnSpc>
              <a:buNone/>
            </a:pPr>
            <a:r>
              <a:rPr lang="en-US" sz="1300" b="1" dirty="0">
                <a:solidFill>
                  <a:srgbClr val="FFFFFF"/>
                </a:solidFill>
                <a:latin typeface="Be Vietnam Pro" pitchFamily="34" charset="0"/>
                <a:ea typeface="Be Vietnam Pro" pitchFamily="34" charset="-122"/>
                <a:cs typeface="Be Vietnam Pro" pitchFamily="34" charset="-120"/>
              </a:rPr>
              <a:t>Thư cảnh báo ghi 3 mốc thời gian</a:t>
            </a:r>
            <a:endParaRPr lang="en-US" sz="1300" dirty="0"/>
          </a:p>
        </p:txBody>
      </p:sp>
      <p:sp>
        <p:nvSpPr>
          <p:cNvPr id="31" name="Text 27"/>
          <p:cNvSpPr/>
          <p:nvPr/>
        </p:nvSpPr>
        <p:spPr>
          <a:xfrm>
            <a:off x="1005840" y="5411470"/>
            <a:ext cx="4751680" cy="452882"/>
          </a:xfrm>
          <a:prstGeom prst="rect">
            <a:avLst/>
          </a:prstGeom>
          <a:noFill/>
          <a:ln/>
        </p:spPr>
        <p:txBody>
          <a:bodyPr wrap="square" lIns="0" tIns="0" rIns="0" bIns="0" rtlCol="0" anchor="t"/>
          <a:lstStyle/>
          <a:p>
            <a:pPr algn="l" indent="0" marL="0">
              <a:lnSpc>
                <a:spcPts val="1495"/>
              </a:lnSpc>
              <a:buNone/>
            </a:pPr>
            <a:r>
              <a:rPr lang="en-US" sz="1150" dirty="0">
                <a:solidFill>
                  <a:srgbClr val="9BB0C6"/>
                </a:solidFill>
                <a:latin typeface="Be Vietnam Pro" pitchFamily="34" charset="0"/>
                <a:ea typeface="Be Vietnam Pro" pitchFamily="34" charset="-122"/>
                <a:cs typeface="Be Vietnam Pro" pitchFamily="34" charset="-120"/>
              </a:rPr>
              <a:t>Lúc phát hiện · lúc hệ thống nhận · lúc gửi đi — mất mạng thì nằm</a:t>
            </a:r>
            <a:endParaRPr lang="en-US" sz="1150" dirty="0"/>
          </a:p>
          <a:p>
            <a:pPr algn="l" indent="0" marL="0">
              <a:lnSpc>
                <a:spcPts val="1495"/>
              </a:lnSpc>
              <a:buNone/>
            </a:pPr>
            <a:r>
              <a:rPr lang="en-US" sz="1150" dirty="0">
                <a:solidFill>
                  <a:srgbClr val="9BB0C6"/>
                </a:solidFill>
                <a:latin typeface="Be Vietnam Pro" pitchFamily="34" charset="0"/>
                <a:ea typeface="Be Vietnam Pro" pitchFamily="34" charset="-122"/>
                <a:cs typeface="Be Vietnam Pro" pitchFamily="34" charset="-120"/>
              </a:rPr>
              <a:t>hàng chờ và gửi lại sau.</a:t>
            </a:r>
            <a:endParaRPr lang="en-US" sz="1150" dirty="0"/>
          </a:p>
        </p:txBody>
      </p:sp>
      <p:sp>
        <p:nvSpPr>
          <p:cNvPr id="32" name="Shape 28"/>
          <p:cNvSpPr/>
          <p:nvPr/>
        </p:nvSpPr>
        <p:spPr>
          <a:xfrm>
            <a:off x="6233008" y="4972558"/>
            <a:ext cx="5245456" cy="914400"/>
          </a:xfrm>
          <a:prstGeom prst="roundRect">
            <a:avLst>
              <a:gd name="adj" fmla="val 12000"/>
            </a:avLst>
          </a:prstGeom>
          <a:solidFill>
            <a:srgbClr val="091B2D">
              <a:alpha val="66000"/>
            </a:srgbClr>
          </a:solidFill>
          <a:ln w="12700">
            <a:solidFill>
              <a:srgbClr val="FFFFFF">
                <a:alpha val="12000"/>
              </a:srgbClr>
            </a:solidFill>
            <a:prstDash val="solid"/>
          </a:ln>
        </p:spPr>
      </p:sp>
      <p:sp>
        <p:nvSpPr>
          <p:cNvPr id="33" name="Shape 29"/>
          <p:cNvSpPr/>
          <p:nvPr/>
        </p:nvSpPr>
        <p:spPr>
          <a:xfrm>
            <a:off x="6233008" y="4972558"/>
            <a:ext cx="50292" cy="914400"/>
          </a:xfrm>
          <a:prstGeom prst="roundRect">
            <a:avLst>
              <a:gd name="adj" fmla="val 54545"/>
            </a:avLst>
          </a:prstGeom>
          <a:solidFill>
            <a:srgbClr val="38BDF8">
              <a:alpha val="95000"/>
            </a:srgbClr>
          </a:solidFill>
          <a:ln/>
        </p:spPr>
      </p:sp>
      <p:sp>
        <p:nvSpPr>
          <p:cNvPr id="34" name="Text 30"/>
          <p:cNvSpPr/>
          <p:nvPr/>
        </p:nvSpPr>
        <p:spPr>
          <a:xfrm>
            <a:off x="6525616" y="5100574"/>
            <a:ext cx="4751680" cy="296037"/>
          </a:xfrm>
          <a:prstGeom prst="rect">
            <a:avLst/>
          </a:prstGeom>
          <a:noFill/>
          <a:ln/>
        </p:spPr>
        <p:txBody>
          <a:bodyPr wrap="square" lIns="0" tIns="0" rIns="0" bIns="0" rtlCol="0" anchor="t"/>
          <a:lstStyle/>
          <a:p>
            <a:pPr algn="l" indent="0" marL="0">
              <a:lnSpc>
                <a:spcPts val="1755"/>
              </a:lnSpc>
              <a:buNone/>
            </a:pPr>
            <a:r>
              <a:rPr lang="en-US" sz="1300" b="1" dirty="0">
                <a:solidFill>
                  <a:srgbClr val="FFFFFF"/>
                </a:solidFill>
                <a:latin typeface="Be Vietnam Pro" pitchFamily="34" charset="0"/>
                <a:ea typeface="Be Vietnam Pro" pitchFamily="34" charset="-122"/>
                <a:cs typeface="Be Vietnam Pro" pitchFamily="34" charset="-120"/>
              </a:rPr>
              <a:t>2 giờ sáng, độ ẩm lên 88% vì mái dột</a:t>
            </a:r>
            <a:endParaRPr lang="en-US" sz="1300" dirty="0"/>
          </a:p>
        </p:txBody>
      </p:sp>
      <p:sp>
        <p:nvSpPr>
          <p:cNvPr id="35" name="Text 31"/>
          <p:cNvSpPr/>
          <p:nvPr/>
        </p:nvSpPr>
        <p:spPr>
          <a:xfrm>
            <a:off x="6525616" y="5411470"/>
            <a:ext cx="4751680" cy="452882"/>
          </a:xfrm>
          <a:prstGeom prst="rect">
            <a:avLst/>
          </a:prstGeom>
          <a:noFill/>
          <a:ln/>
        </p:spPr>
        <p:txBody>
          <a:bodyPr wrap="square" lIns="0" tIns="0" rIns="0" bIns="0" rtlCol="0" anchor="t"/>
          <a:lstStyle/>
          <a:p>
            <a:pPr algn="l" indent="0" marL="0">
              <a:lnSpc>
                <a:spcPts val="1495"/>
              </a:lnSpc>
              <a:buNone/>
            </a:pPr>
            <a:r>
              <a:rPr lang="en-US" sz="1150" dirty="0">
                <a:solidFill>
                  <a:srgbClr val="9BB0C6"/>
                </a:solidFill>
                <a:latin typeface="Be Vietnam Pro" pitchFamily="34" charset="0"/>
                <a:ea typeface="Be Vietnam Pro" pitchFamily="34" charset="-122"/>
                <a:cs typeface="Be Vietnam Pro" pitchFamily="34" charset="-120"/>
              </a:rPr>
              <a:t>Hệ thống mở sự cố bảo quản xấu và gửi thư ngay. Sáng ra, thuốc</a:t>
            </a:r>
            <a:endParaRPr lang="en-US" sz="1150" dirty="0"/>
          </a:p>
          <a:p>
            <a:pPr algn="l" indent="0" marL="0">
              <a:lnSpc>
                <a:spcPts val="1495"/>
              </a:lnSpc>
              <a:buNone/>
            </a:pPr>
            <a:r>
              <a:rPr lang="en-US" sz="1150" dirty="0">
                <a:solidFill>
                  <a:srgbClr val="9BB0C6"/>
                </a:solidFill>
                <a:latin typeface="Be Vietnam Pro" pitchFamily="34" charset="0"/>
                <a:ea typeface="Be Vietnam Pro" pitchFamily="34" charset="-122"/>
                <a:cs typeface="Be Vietnam Pro" pitchFamily="34" charset="-120"/>
              </a:rPr>
              <a:t>và lương khô vẫn dùng được.</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66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fill="hold" grpId="0" nodeType="withEffect">
                                  <p:stCondLst>
                                    <p:cond delay="66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88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88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88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88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11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110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110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withEffect">
                                  <p:stCondLst>
                                    <p:cond delay="110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132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withEffect">
                                  <p:stCondLst>
                                    <p:cond delay="132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132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grpId="0" nodeType="withEffect">
                                  <p:stCondLst>
                                    <p:cond delay="132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154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154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par>
                                <p:cTn id="77" presetID="10" presetClass="entr" presetSubtype="0" fill="hold" grpId="0" nodeType="withEffect">
                                  <p:stCondLst>
                                    <p:cond delay="154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400"/>
                                        <p:tgtEl>
                                          <p:spTgt spid="34"/>
                                        </p:tgtEl>
                                      </p:cBhvr>
                                    </p:animEffect>
                                  </p:childTnLst>
                                </p:cTn>
                              </p:par>
                              <p:par>
                                <p:cTn id="80" presetID="10" presetClass="entr" presetSubtype="0" fill="hold" grpId="0" nodeType="withEffect">
                                  <p:stCondLst>
                                    <p:cond delay="1540"/>
                                  </p:stCondLst>
                                  <p:childTnLst>
                                    <p:set>
                                      <p:cBhvr>
                                        <p:cTn id="81" dur="1" fill="hold">
                                          <p:stCondLst>
                                            <p:cond delay="0"/>
                                          </p:stCondLst>
                                        </p:cTn>
                                        <p:tgtEl>
                                          <p:spTgt spid="35"/>
                                        </p:tgtEl>
                                        <p:attrNameLst>
                                          <p:attrName>style.visibility</p:attrName>
                                        </p:attrNameLst>
                                      </p:cBhvr>
                                      <p:to>
                                        <p:strVal val="visible"/>
                                      </p:to>
                                    </p:set>
                                    <p:animEffect transition="in" filter="fade">
                                      <p:cBhvr>
                                        <p:cTn id="8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22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NÓI THẲNG VỀ PHẦN CỨNG</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Hôm nay: bản sao số. Ngày mai: cảm biến thật.</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Shape 8"/>
          <p:cNvSpPr/>
          <p:nvPr/>
        </p:nvSpPr>
        <p:spPr>
          <a:xfrm>
            <a:off x="713232" y="1964182"/>
            <a:ext cx="3405530" cy="2834640"/>
          </a:xfrm>
          <a:prstGeom prst="roundRect">
            <a:avLst>
              <a:gd name="adj" fmla="val 3871"/>
            </a:avLst>
          </a:prstGeom>
          <a:solidFill>
            <a:srgbClr val="091B2D">
              <a:alpha val="66000"/>
            </a:srgbClr>
          </a:solidFill>
          <a:ln w="12700">
            <a:solidFill>
              <a:srgbClr val="FFFFFF">
                <a:alpha val="12000"/>
              </a:srgbClr>
            </a:solidFill>
            <a:prstDash val="solid"/>
          </a:ln>
        </p:spPr>
      </p:sp>
      <p:sp>
        <p:nvSpPr>
          <p:cNvPr id="13" name="Shape 9"/>
          <p:cNvSpPr/>
          <p:nvPr/>
        </p:nvSpPr>
        <p:spPr>
          <a:xfrm>
            <a:off x="713232" y="1964182"/>
            <a:ext cx="50292" cy="2834640"/>
          </a:xfrm>
          <a:prstGeom prst="roundRect">
            <a:avLst>
              <a:gd name="adj" fmla="val 54545"/>
            </a:avLst>
          </a:prstGeom>
          <a:solidFill>
            <a:srgbClr val="38BDF8">
              <a:alpha val="95000"/>
            </a:srgbClr>
          </a:solidFill>
          <a:ln/>
        </p:spPr>
      </p:sp>
      <p:sp>
        <p:nvSpPr>
          <p:cNvPr id="14" name="Text 10"/>
          <p:cNvSpPr/>
          <p:nvPr/>
        </p:nvSpPr>
        <p:spPr>
          <a:xfrm>
            <a:off x="1024128" y="2238502"/>
            <a:ext cx="2875178" cy="327152"/>
          </a:xfrm>
          <a:prstGeom prst="rect">
            <a:avLst/>
          </a:prstGeom>
          <a:noFill/>
          <a:ln/>
        </p:spPr>
        <p:txBody>
          <a:bodyPr wrap="square" lIns="0" tIns="0" rIns="0" bIns="0" rtlCol="0" anchor="t"/>
          <a:lstStyle/>
          <a:p>
            <a:pPr algn="l" indent="0" marL="0">
              <a:lnSpc>
                <a:spcPts val="2000"/>
              </a:lnSpc>
              <a:buNone/>
            </a:pPr>
            <a:r>
              <a:rPr lang="en-US" sz="1600" b="1" dirty="0">
                <a:solidFill>
                  <a:srgbClr val="FFFFFF"/>
                </a:solidFill>
                <a:latin typeface="Be Vietnam Pro" pitchFamily="34" charset="0"/>
                <a:ea typeface="Be Vietnam Pro" pitchFamily="34" charset="-122"/>
                <a:cs typeface="Be Vietnam Pro" pitchFamily="34" charset="-120"/>
              </a:rPr>
              <a:t>Vì sao làm như vậy</a:t>
            </a:r>
            <a:endParaRPr lang="en-US" sz="1600" dirty="0"/>
          </a:p>
        </p:txBody>
      </p:sp>
      <p:sp>
        <p:nvSpPr>
          <p:cNvPr id="15" name="Text 11"/>
          <p:cNvSpPr/>
          <p:nvPr/>
        </p:nvSpPr>
        <p:spPr>
          <a:xfrm>
            <a:off x="1024128" y="2860294"/>
            <a:ext cx="2875178" cy="1025652"/>
          </a:xfrm>
          <a:prstGeom prst="rect">
            <a:avLst/>
          </a:prstGeom>
          <a:noFill/>
          <a:ln/>
        </p:spPr>
        <p:txBody>
          <a:bodyPr wrap="square" lIns="0" tIns="0" rIns="0" bIns="0" rtlCol="0" anchor="t"/>
          <a:lstStyle/>
          <a:p>
            <a:pPr algn="l" indent="0" marL="0">
              <a:lnSpc>
                <a:spcPts val="1875"/>
              </a:lnSpc>
              <a:buNone/>
            </a:pPr>
            <a:r>
              <a:rPr lang="en-US" sz="1250" dirty="0">
                <a:solidFill>
                  <a:srgbClr val="D9E6F2"/>
                </a:solidFill>
                <a:latin typeface="Be Vietnam Pro" pitchFamily="34" charset="0"/>
                <a:ea typeface="Be Vietnam Pro" pitchFamily="34" charset="-122"/>
                <a:cs typeface="Be Vietnam Pro" pitchFamily="34" charset="-120"/>
              </a:rPr>
              <a:t>Một ứng dụng mô phỏng đủ 9 loại</a:t>
            </a:r>
            <a:endParaRPr lang="en-US" sz="1250" dirty="0"/>
          </a:p>
          <a:p>
            <a:pPr algn="l" indent="0" marL="0">
              <a:lnSpc>
                <a:spcPts val="1875"/>
              </a:lnSpc>
              <a:buNone/>
            </a:pPr>
            <a:r>
              <a:rPr lang="en-US" sz="1250" dirty="0">
                <a:solidFill>
                  <a:srgbClr val="D9E6F2"/>
                </a:solidFill>
                <a:latin typeface="Be Vietnam Pro" pitchFamily="34" charset="0"/>
                <a:ea typeface="Be Vietnam Pro" pitchFamily="34" charset="-122"/>
                <a:cs typeface="Be Vietnam Pro" pitchFamily="34" charset="-120"/>
              </a:rPr>
              <a:t>thiết bị, để kiểm thử trọn chuỗi tín</a:t>
            </a:r>
            <a:endParaRPr lang="en-US" sz="1250" dirty="0"/>
          </a:p>
          <a:p>
            <a:pPr algn="l" indent="0" marL="0">
              <a:lnSpc>
                <a:spcPts val="1875"/>
              </a:lnSpc>
              <a:buNone/>
            </a:pPr>
            <a:r>
              <a:rPr lang="en-US" sz="1250" dirty="0">
                <a:solidFill>
                  <a:srgbClr val="D9E6F2"/>
                </a:solidFill>
                <a:latin typeface="Be Vietnam Pro" pitchFamily="34" charset="0"/>
                <a:ea typeface="Be Vietnam Pro" pitchFamily="34" charset="-122"/>
                <a:cs typeface="Be Vietnam Pro" pitchFamily="34" charset="-120"/>
              </a:rPr>
              <a:t>hiệu → sự cố → cảnh báo → chỉ số sẵn</a:t>
            </a:r>
            <a:endParaRPr lang="en-US" sz="1250" dirty="0"/>
          </a:p>
          <a:p>
            <a:pPr algn="l" indent="0" marL="0">
              <a:lnSpc>
                <a:spcPts val="1875"/>
              </a:lnSpc>
              <a:buNone/>
            </a:pPr>
            <a:r>
              <a:rPr lang="en-US" sz="1250" dirty="0">
                <a:solidFill>
                  <a:srgbClr val="D9E6F2"/>
                </a:solidFill>
                <a:latin typeface="Be Vietnam Pro" pitchFamily="34" charset="0"/>
                <a:ea typeface="Be Vietnam Pro" pitchFamily="34" charset="-122"/>
                <a:cs typeface="Be Vietnam Pro" pitchFamily="34" charset="-120"/>
              </a:rPr>
              <a:t>sàng trước khi bỏ tiền mua thiết bị.</a:t>
            </a:r>
            <a:endParaRPr lang="en-US" sz="1250" dirty="0"/>
          </a:p>
        </p:txBody>
      </p:sp>
      <p:sp>
        <p:nvSpPr>
          <p:cNvPr id="16" name="Shape 12"/>
          <p:cNvSpPr/>
          <p:nvPr/>
        </p:nvSpPr>
        <p:spPr>
          <a:xfrm>
            <a:off x="4393082" y="1964182"/>
            <a:ext cx="3405530" cy="2834640"/>
          </a:xfrm>
          <a:prstGeom prst="roundRect">
            <a:avLst>
              <a:gd name="adj" fmla="val 3871"/>
            </a:avLst>
          </a:prstGeom>
          <a:solidFill>
            <a:srgbClr val="091B2D">
              <a:alpha val="66000"/>
            </a:srgbClr>
          </a:solidFill>
          <a:ln w="12700">
            <a:solidFill>
              <a:srgbClr val="FFFFFF">
                <a:alpha val="12000"/>
              </a:srgbClr>
            </a:solidFill>
            <a:prstDash val="solid"/>
          </a:ln>
        </p:spPr>
      </p:sp>
      <p:sp>
        <p:nvSpPr>
          <p:cNvPr id="17" name="Shape 13"/>
          <p:cNvSpPr/>
          <p:nvPr/>
        </p:nvSpPr>
        <p:spPr>
          <a:xfrm>
            <a:off x="4393082" y="1964182"/>
            <a:ext cx="50292" cy="2834640"/>
          </a:xfrm>
          <a:prstGeom prst="roundRect">
            <a:avLst>
              <a:gd name="adj" fmla="val 54545"/>
            </a:avLst>
          </a:prstGeom>
          <a:solidFill>
            <a:srgbClr val="22C55E">
              <a:alpha val="95000"/>
            </a:srgbClr>
          </a:solidFill>
          <a:ln/>
        </p:spPr>
      </p:sp>
      <p:sp>
        <p:nvSpPr>
          <p:cNvPr id="18" name="Text 14"/>
          <p:cNvSpPr/>
          <p:nvPr/>
        </p:nvSpPr>
        <p:spPr>
          <a:xfrm>
            <a:off x="4703978" y="2238502"/>
            <a:ext cx="2875178" cy="581152"/>
          </a:xfrm>
          <a:prstGeom prst="rect">
            <a:avLst/>
          </a:prstGeom>
          <a:noFill/>
          <a:ln/>
        </p:spPr>
        <p:txBody>
          <a:bodyPr wrap="square" lIns="0" tIns="0" rIns="0" bIns="0" rtlCol="0" anchor="t"/>
          <a:lstStyle/>
          <a:p>
            <a:pPr algn="l" indent="0" marL="0">
              <a:lnSpc>
                <a:spcPts val="2000"/>
              </a:lnSpc>
              <a:buNone/>
            </a:pPr>
            <a:r>
              <a:rPr lang="en-US" sz="1600" b="1" dirty="0">
                <a:solidFill>
                  <a:srgbClr val="FFFFFF"/>
                </a:solidFill>
                <a:latin typeface="Be Vietnam Pro" pitchFamily="34" charset="0"/>
                <a:ea typeface="Be Vietnam Pro" pitchFamily="34" charset="-122"/>
                <a:cs typeface="Be Vietnam Pro" pitchFamily="34" charset="-120"/>
              </a:rPr>
              <a:t>Chung một đường ống dữ</a:t>
            </a:r>
            <a:endParaRPr lang="en-US" sz="1600" dirty="0"/>
          </a:p>
          <a:p>
            <a:pPr algn="l" indent="0" marL="0">
              <a:lnSpc>
                <a:spcPts val="2000"/>
              </a:lnSpc>
              <a:buNone/>
            </a:pPr>
            <a:r>
              <a:rPr lang="en-US" sz="1600" b="1" dirty="0">
                <a:solidFill>
                  <a:srgbClr val="FFFFFF"/>
                </a:solidFill>
                <a:latin typeface="Be Vietnam Pro" pitchFamily="34" charset="0"/>
                <a:ea typeface="Be Vietnam Pro" pitchFamily="34" charset="-122"/>
                <a:cs typeface="Be Vietnam Pro" pitchFamily="34" charset="-120"/>
              </a:rPr>
              <a:t>liệu</a:t>
            </a:r>
            <a:endParaRPr lang="en-US" sz="1600" dirty="0"/>
          </a:p>
        </p:txBody>
      </p:sp>
      <p:sp>
        <p:nvSpPr>
          <p:cNvPr id="19" name="Text 15"/>
          <p:cNvSpPr/>
          <p:nvPr/>
        </p:nvSpPr>
        <p:spPr>
          <a:xfrm>
            <a:off x="4703978" y="2860294"/>
            <a:ext cx="2875178" cy="1025652"/>
          </a:xfrm>
          <a:prstGeom prst="rect">
            <a:avLst/>
          </a:prstGeom>
          <a:noFill/>
          <a:ln/>
        </p:spPr>
        <p:txBody>
          <a:bodyPr wrap="square" lIns="0" tIns="0" rIns="0" bIns="0" rtlCol="0" anchor="t"/>
          <a:lstStyle/>
          <a:p>
            <a:pPr algn="l" indent="0" marL="0">
              <a:lnSpc>
                <a:spcPts val="1875"/>
              </a:lnSpc>
              <a:buNone/>
            </a:pPr>
            <a:r>
              <a:rPr lang="en-US" sz="1250" dirty="0">
                <a:solidFill>
                  <a:srgbClr val="D9E6F2"/>
                </a:solidFill>
                <a:latin typeface="Be Vietnam Pro" pitchFamily="34" charset="0"/>
                <a:ea typeface="Be Vietnam Pro" pitchFamily="34" charset="-122"/>
                <a:cs typeface="Be Vietnam Pro" pitchFamily="34" charset="-120"/>
              </a:rPr>
              <a:t>Cảm biến thật và thiết bị mô phỏng</a:t>
            </a:r>
            <a:endParaRPr lang="en-US" sz="1250" dirty="0"/>
          </a:p>
          <a:p>
            <a:pPr algn="l" indent="0" marL="0">
              <a:lnSpc>
                <a:spcPts val="1875"/>
              </a:lnSpc>
              <a:buNone/>
            </a:pPr>
            <a:r>
              <a:rPr lang="en-US" sz="1250" dirty="0">
                <a:solidFill>
                  <a:srgbClr val="D9E6F2"/>
                </a:solidFill>
                <a:latin typeface="Be Vietnam Pro" pitchFamily="34" charset="0"/>
                <a:ea typeface="Be Vietnam Pro" pitchFamily="34" charset="-122"/>
                <a:cs typeface="Be Vietnam Pro" pitchFamily="34" charset="-120"/>
              </a:rPr>
              <a:t>đi chung một lối vào. Mỗi cổng thu</a:t>
            </a:r>
            <a:endParaRPr lang="en-US" sz="1250" dirty="0"/>
          </a:p>
          <a:p>
            <a:pPr algn="l" indent="0" marL="0">
              <a:lnSpc>
                <a:spcPts val="1875"/>
              </a:lnSpc>
              <a:buNone/>
            </a:pPr>
            <a:r>
              <a:rPr lang="en-US" sz="1250" dirty="0">
                <a:solidFill>
                  <a:srgbClr val="D9E6F2"/>
                </a:solidFill>
                <a:latin typeface="Be Vietnam Pro" pitchFamily="34" charset="0"/>
                <a:ea typeface="Be Vietnam Pro" pitchFamily="34" charset="-122"/>
                <a:cs typeface="Be Vietnam Pro" pitchFamily="34" charset="-120"/>
              </a:rPr>
              <a:t>phát có khóa riêng và chỉ gửi được</a:t>
            </a:r>
            <a:endParaRPr lang="en-US" sz="1250" dirty="0"/>
          </a:p>
          <a:p>
            <a:pPr algn="l" indent="0" marL="0">
              <a:lnSpc>
                <a:spcPts val="1875"/>
              </a:lnSpc>
              <a:buNone/>
            </a:pPr>
            <a:r>
              <a:rPr lang="en-US" sz="1250" dirty="0">
                <a:solidFill>
                  <a:srgbClr val="D9E6F2"/>
                </a:solidFill>
                <a:latin typeface="Be Vietnam Pro" pitchFamily="34" charset="0"/>
                <a:ea typeface="Be Vietnam Pro" pitchFamily="34" charset="-122"/>
                <a:cs typeface="Be Vietnam Pro" pitchFamily="34" charset="-120"/>
              </a:rPr>
              <a:t>cho đúng kho của mình.</a:t>
            </a:r>
            <a:endParaRPr lang="en-US" sz="1250" dirty="0"/>
          </a:p>
        </p:txBody>
      </p:sp>
      <p:sp>
        <p:nvSpPr>
          <p:cNvPr id="20" name="Shape 16"/>
          <p:cNvSpPr/>
          <p:nvPr/>
        </p:nvSpPr>
        <p:spPr>
          <a:xfrm>
            <a:off x="8072933" y="1964182"/>
            <a:ext cx="3405530" cy="2834640"/>
          </a:xfrm>
          <a:prstGeom prst="roundRect">
            <a:avLst>
              <a:gd name="adj" fmla="val 3871"/>
            </a:avLst>
          </a:prstGeom>
          <a:solidFill>
            <a:srgbClr val="091B2D">
              <a:alpha val="66000"/>
            </a:srgbClr>
          </a:solidFill>
          <a:ln w="12700">
            <a:solidFill>
              <a:srgbClr val="FFFFFF">
                <a:alpha val="12000"/>
              </a:srgbClr>
            </a:solidFill>
            <a:prstDash val="solid"/>
          </a:ln>
        </p:spPr>
      </p:sp>
      <p:sp>
        <p:nvSpPr>
          <p:cNvPr id="21" name="Shape 17"/>
          <p:cNvSpPr/>
          <p:nvPr/>
        </p:nvSpPr>
        <p:spPr>
          <a:xfrm>
            <a:off x="8072933" y="1964182"/>
            <a:ext cx="50292" cy="2834640"/>
          </a:xfrm>
          <a:prstGeom prst="roundRect">
            <a:avLst>
              <a:gd name="adj" fmla="val 54545"/>
            </a:avLst>
          </a:prstGeom>
          <a:solidFill>
            <a:srgbClr val="FBBF24">
              <a:alpha val="95000"/>
            </a:srgbClr>
          </a:solidFill>
          <a:ln/>
        </p:spPr>
      </p:sp>
      <p:sp>
        <p:nvSpPr>
          <p:cNvPr id="22" name="Text 18"/>
          <p:cNvSpPr/>
          <p:nvPr/>
        </p:nvSpPr>
        <p:spPr>
          <a:xfrm>
            <a:off x="8383829" y="2238502"/>
            <a:ext cx="2875178" cy="327152"/>
          </a:xfrm>
          <a:prstGeom prst="rect">
            <a:avLst/>
          </a:prstGeom>
          <a:noFill/>
          <a:ln/>
        </p:spPr>
        <p:txBody>
          <a:bodyPr wrap="square" lIns="0" tIns="0" rIns="0" bIns="0" rtlCol="0" anchor="t"/>
          <a:lstStyle/>
          <a:p>
            <a:pPr algn="l" indent="0" marL="0">
              <a:lnSpc>
                <a:spcPts val="2000"/>
              </a:lnSpc>
              <a:buNone/>
            </a:pPr>
            <a:r>
              <a:rPr lang="en-US" sz="1600" b="1" dirty="0">
                <a:solidFill>
                  <a:srgbClr val="FFFFFF"/>
                </a:solidFill>
                <a:latin typeface="Be Vietnam Pro" pitchFamily="34" charset="0"/>
                <a:ea typeface="Be Vietnam Pro" pitchFamily="34" charset="-122"/>
                <a:cs typeface="Be Vietnam Pro" pitchFamily="34" charset="-120"/>
              </a:rPr>
              <a:t>Khi gắn thiết bị thật</a:t>
            </a:r>
            <a:endParaRPr lang="en-US" sz="1600" dirty="0"/>
          </a:p>
        </p:txBody>
      </p:sp>
      <p:sp>
        <p:nvSpPr>
          <p:cNvPr id="23" name="Text 19"/>
          <p:cNvSpPr/>
          <p:nvPr/>
        </p:nvSpPr>
        <p:spPr>
          <a:xfrm>
            <a:off x="8383829" y="2860294"/>
            <a:ext cx="2875178" cy="1025652"/>
          </a:xfrm>
          <a:prstGeom prst="rect">
            <a:avLst/>
          </a:prstGeom>
          <a:noFill/>
          <a:ln/>
        </p:spPr>
        <p:txBody>
          <a:bodyPr wrap="square" lIns="0" tIns="0" rIns="0" bIns="0" rtlCol="0" anchor="t"/>
          <a:lstStyle/>
          <a:p>
            <a:pPr algn="l" indent="0" marL="0">
              <a:lnSpc>
                <a:spcPts val="1875"/>
              </a:lnSpc>
              <a:buNone/>
            </a:pPr>
            <a:r>
              <a:rPr lang="en-US" sz="1250" dirty="0">
                <a:solidFill>
                  <a:srgbClr val="D9E6F2"/>
                </a:solidFill>
                <a:latin typeface="Be Vietnam Pro" pitchFamily="34" charset="0"/>
                <a:ea typeface="Be Vietnam Pro" pitchFamily="34" charset="-122"/>
                <a:cs typeface="Be Vietnam Pro" pitchFamily="34" charset="-120"/>
              </a:rPr>
              <a:t>Phần nghiệp vụ phía sau không phải</a:t>
            </a:r>
            <a:endParaRPr lang="en-US" sz="1250" dirty="0"/>
          </a:p>
          <a:p>
            <a:pPr algn="l" indent="0" marL="0">
              <a:lnSpc>
                <a:spcPts val="1875"/>
              </a:lnSpc>
              <a:buNone/>
            </a:pPr>
            <a:r>
              <a:rPr lang="en-US" sz="1250" dirty="0">
                <a:solidFill>
                  <a:srgbClr val="D9E6F2"/>
                </a:solidFill>
                <a:latin typeface="Be Vietnam Pro" pitchFamily="34" charset="0"/>
                <a:ea typeface="Be Vietnam Pro" pitchFamily="34" charset="-122"/>
                <a:cs typeface="Be Vietnam Pro" pitchFamily="34" charset="-120"/>
              </a:rPr>
              <a:t>sửa — chỉ thay nguồn phát tín hiệu,</a:t>
            </a:r>
            <a:endParaRPr lang="en-US" sz="1250" dirty="0"/>
          </a:p>
          <a:p>
            <a:pPr algn="l" indent="0" marL="0">
              <a:lnSpc>
                <a:spcPts val="1875"/>
              </a:lnSpc>
              <a:buNone/>
            </a:pPr>
            <a:r>
              <a:rPr lang="en-US" sz="1250" dirty="0">
                <a:solidFill>
                  <a:srgbClr val="D9E6F2"/>
                </a:solidFill>
                <a:latin typeface="Be Vietnam Pro" pitchFamily="34" charset="0"/>
                <a:ea typeface="Be Vietnam Pro" pitchFamily="34" charset="-122"/>
                <a:cs typeface="Be Vietnam Pro" pitchFamily="34" charset="-120"/>
              </a:rPr>
              <a:t>toàn bộ luồng sự cố và cảnh báo giữ</a:t>
            </a:r>
            <a:endParaRPr lang="en-US" sz="1250" dirty="0"/>
          </a:p>
          <a:p>
            <a:pPr algn="l" indent="0" marL="0">
              <a:lnSpc>
                <a:spcPts val="1875"/>
              </a:lnSpc>
              <a:buNone/>
            </a:pPr>
            <a:r>
              <a:rPr lang="en-US" sz="1250" dirty="0">
                <a:solidFill>
                  <a:srgbClr val="D9E6F2"/>
                </a:solidFill>
                <a:latin typeface="Be Vietnam Pro" pitchFamily="34" charset="0"/>
                <a:ea typeface="Be Vietnam Pro" pitchFamily="34" charset="-122"/>
                <a:cs typeface="Be Vietnam Pro" pitchFamily="34" charset="-120"/>
              </a:rPr>
              <a:t>nguyên.</a:t>
            </a:r>
            <a:endParaRPr lang="en-US" sz="1250" dirty="0"/>
          </a:p>
        </p:txBody>
      </p:sp>
      <p:sp>
        <p:nvSpPr>
          <p:cNvPr id="24" name="Shape 20"/>
          <p:cNvSpPr/>
          <p:nvPr/>
        </p:nvSpPr>
        <p:spPr>
          <a:xfrm>
            <a:off x="713232" y="5073142"/>
            <a:ext cx="10765231" cy="749808"/>
          </a:xfrm>
          <a:prstGeom prst="roundRect">
            <a:avLst>
              <a:gd name="adj" fmla="val 12195"/>
            </a:avLst>
          </a:prstGeom>
          <a:solidFill>
            <a:srgbClr val="FFFFFF">
              <a:alpha val="8000"/>
            </a:srgbClr>
          </a:solidFill>
          <a:ln w="12700">
            <a:solidFill>
              <a:srgbClr val="FFFFFF">
                <a:alpha val="18000"/>
              </a:srgbClr>
            </a:solidFill>
            <a:prstDash val="solid"/>
          </a:ln>
        </p:spPr>
      </p:sp>
      <p:sp>
        <p:nvSpPr>
          <p:cNvPr id="25" name="Shape 21"/>
          <p:cNvSpPr/>
          <p:nvPr/>
        </p:nvSpPr>
        <p:spPr>
          <a:xfrm>
            <a:off x="713232" y="5073142"/>
            <a:ext cx="50292" cy="749808"/>
          </a:xfrm>
          <a:prstGeom prst="roundRect">
            <a:avLst>
              <a:gd name="adj" fmla="val 54545"/>
            </a:avLst>
          </a:prstGeom>
          <a:solidFill>
            <a:srgbClr val="6EE7A8">
              <a:alpha val="95000"/>
            </a:srgbClr>
          </a:solidFill>
          <a:ln/>
        </p:spPr>
      </p:sp>
      <p:sp>
        <p:nvSpPr>
          <p:cNvPr id="26" name="Text 22"/>
          <p:cNvSpPr/>
          <p:nvPr/>
        </p:nvSpPr>
        <p:spPr>
          <a:xfrm>
            <a:off x="1078992" y="5283454"/>
            <a:ext cx="10125151" cy="330327"/>
          </a:xfrm>
          <a:prstGeom prst="rect">
            <a:avLst/>
          </a:prstGeom>
          <a:noFill/>
          <a:ln/>
        </p:spPr>
        <p:txBody>
          <a:bodyPr wrap="square" lIns="0" tIns="0" rIns="0" bIns="0" rtlCol="0" anchor="t"/>
          <a:lstStyle/>
          <a:p>
            <a:pPr algn="l" indent="0" marL="0">
              <a:lnSpc>
                <a:spcPts val="2025"/>
              </a:lnSpc>
              <a:buNone/>
            </a:pPr>
            <a:r>
              <a:rPr lang="en-US" sz="1500" b="1" dirty="0">
                <a:solidFill>
                  <a:srgbClr val="FFFFFF"/>
                </a:solidFill>
                <a:latin typeface="Be Vietnam Pro" pitchFamily="34" charset="0"/>
                <a:ea typeface="Be Vietnam Pro" pitchFamily="34" charset="-122"/>
                <a:cs typeface="Be Vietnam Pro" pitchFamily="34" charset="-120"/>
              </a:rPr>
              <a:t>Không tuyên bố tương thích phần cứng trước khi nghiệm thu thiết bị thật.</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66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fill="hold" grpId="0" nodeType="withEffect">
                                  <p:stCondLst>
                                    <p:cond delay="66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88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88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88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88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11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110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110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23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TRỢ LÝ AI</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Hỏi bằng tiếng Việt. Nhưng không được bịa số.</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pic>
        <p:nvPicPr>
          <p:cNvPr id="12" name="Image 2" descr="anh/da-cat/tro-ly-ai.png">    </p:cNvPr>
          <p:cNvPicPr>
            <a:picLocks noChangeAspect="1"/>
          </p:cNvPicPr>
          <p:nvPr/>
        </p:nvPicPr>
        <p:blipFill>
          <a:blip r:embed="rId3"/>
          <a:stretch>
            <a:fillRect/>
          </a:stretch>
        </p:blipFill>
        <p:spPr>
          <a:xfrm>
            <a:off x="713232" y="1964182"/>
            <a:ext cx="4185209" cy="2926080"/>
          </a:xfrm>
          <a:prstGeom prst="roundRect">
            <a:avLst>
              <a:gd name="adj" fmla="val 3750"/>
            </a:avLst>
          </a:prstGeom>
        </p:spPr>
      </p:pic>
      <p:sp>
        <p:nvSpPr>
          <p:cNvPr id="13" name="Shape 8"/>
          <p:cNvSpPr/>
          <p:nvPr/>
        </p:nvSpPr>
        <p:spPr>
          <a:xfrm>
            <a:off x="713232" y="1964182"/>
            <a:ext cx="4185209" cy="2926080"/>
          </a:xfrm>
          <a:prstGeom prst="roundRect">
            <a:avLst>
              <a:gd name="adj" fmla="val 3750"/>
            </a:avLst>
          </a:prstGeom>
          <a:solidFill>
            <a:srgbClr val="FFFFFF">
              <a:alpha val="0"/>
            </a:srgbClr>
          </a:solidFill>
          <a:ln w="12700">
            <a:solidFill>
              <a:srgbClr val="FFFFFF">
                <a:alpha val="18000"/>
              </a:srgbClr>
            </a:solidFill>
            <a:prstDash val="solid"/>
          </a:ln>
        </p:spPr>
      </p:sp>
      <p:sp>
        <p:nvSpPr>
          <p:cNvPr id="14" name="Shape 9"/>
          <p:cNvSpPr/>
          <p:nvPr/>
        </p:nvSpPr>
        <p:spPr>
          <a:xfrm>
            <a:off x="5245913" y="1964182"/>
            <a:ext cx="6232550" cy="859536"/>
          </a:xfrm>
          <a:prstGeom prst="roundRect">
            <a:avLst>
              <a:gd name="adj" fmla="val 12766"/>
            </a:avLst>
          </a:prstGeom>
          <a:solidFill>
            <a:srgbClr val="091B2D">
              <a:alpha val="66000"/>
            </a:srgbClr>
          </a:solidFill>
          <a:ln w="12700">
            <a:solidFill>
              <a:srgbClr val="FFFFFF">
                <a:alpha val="12000"/>
              </a:srgbClr>
            </a:solidFill>
            <a:prstDash val="solid"/>
          </a:ln>
        </p:spPr>
      </p:sp>
      <p:sp>
        <p:nvSpPr>
          <p:cNvPr id="15" name="Shape 10"/>
          <p:cNvSpPr/>
          <p:nvPr/>
        </p:nvSpPr>
        <p:spPr>
          <a:xfrm>
            <a:off x="5245913" y="1964182"/>
            <a:ext cx="50292" cy="859536"/>
          </a:xfrm>
          <a:prstGeom prst="roundRect">
            <a:avLst>
              <a:gd name="adj" fmla="val 54545"/>
            </a:avLst>
          </a:prstGeom>
          <a:solidFill>
            <a:srgbClr val="22C55E">
              <a:alpha val="95000"/>
            </a:srgbClr>
          </a:solidFill>
          <a:ln/>
        </p:spPr>
      </p:sp>
      <p:sp>
        <p:nvSpPr>
          <p:cNvPr id="16" name="Text 11"/>
          <p:cNvSpPr/>
          <p:nvPr/>
        </p:nvSpPr>
        <p:spPr>
          <a:xfrm>
            <a:off x="5520233" y="2092198"/>
            <a:ext cx="5775350" cy="304610"/>
          </a:xfrm>
          <a:prstGeom prst="rect">
            <a:avLst/>
          </a:prstGeom>
          <a:noFill/>
          <a:ln/>
        </p:spPr>
        <p:txBody>
          <a:bodyPr wrap="square" lIns="0" tIns="0" rIns="0" bIns="0" rtlCol="0" anchor="t"/>
          <a:lstStyle/>
          <a:p>
            <a:pPr algn="l" indent="0" marL="0">
              <a:lnSpc>
                <a:spcPts val="1823"/>
              </a:lnSpc>
              <a:buNone/>
            </a:pPr>
            <a:r>
              <a:rPr lang="en-US" sz="1350" b="1" dirty="0">
                <a:solidFill>
                  <a:srgbClr val="FFFFFF"/>
                </a:solidFill>
                <a:latin typeface="Be Vietnam Pro" pitchFamily="34" charset="0"/>
                <a:ea typeface="Be Vietnam Pro" pitchFamily="34" charset="-122"/>
                <a:cs typeface="Be Vietnam Pro" pitchFamily="34" charset="-120"/>
              </a:rPr>
              <a:t>Đối chiếu từng con số</a:t>
            </a:r>
            <a:endParaRPr lang="en-US" sz="1350" dirty="0"/>
          </a:p>
        </p:txBody>
      </p:sp>
      <p:sp>
        <p:nvSpPr>
          <p:cNvPr id="17" name="Text 12"/>
          <p:cNvSpPr/>
          <p:nvPr/>
        </p:nvSpPr>
        <p:spPr>
          <a:xfrm>
            <a:off x="5520233" y="2384806"/>
            <a:ext cx="5775350" cy="452882"/>
          </a:xfrm>
          <a:prstGeom prst="rect">
            <a:avLst/>
          </a:prstGeom>
          <a:noFill/>
          <a:ln/>
        </p:spPr>
        <p:txBody>
          <a:bodyPr wrap="square" lIns="0" tIns="0" rIns="0" bIns="0" rtlCol="0" anchor="t"/>
          <a:lstStyle/>
          <a:p>
            <a:pPr algn="l" indent="0" marL="0">
              <a:lnSpc>
                <a:spcPts val="1495"/>
              </a:lnSpc>
              <a:buNone/>
            </a:pPr>
            <a:r>
              <a:rPr lang="en-US" sz="1150" dirty="0">
                <a:solidFill>
                  <a:srgbClr val="9BB0C6"/>
                </a:solidFill>
                <a:latin typeface="Be Vietnam Pro" pitchFamily="34" charset="0"/>
                <a:ea typeface="Be Vietnam Pro" pitchFamily="34" charset="-122"/>
                <a:cs typeface="Be Vietnam Pro" pitchFamily="34" charset="-120"/>
              </a:rPr>
              <a:t>Câu trả lời được soi lại với dữ liệu kho tại thời điểm hỏi;</a:t>
            </a:r>
            <a:endParaRPr lang="en-US" sz="1150" dirty="0"/>
          </a:p>
          <a:p>
            <a:pPr algn="l" indent="0" marL="0">
              <a:lnSpc>
                <a:spcPts val="1495"/>
              </a:lnSpc>
              <a:buNone/>
            </a:pPr>
            <a:r>
              <a:rPr lang="en-US" sz="1150" dirty="0">
                <a:solidFill>
                  <a:srgbClr val="9BB0C6"/>
                </a:solidFill>
                <a:latin typeface="Be Vietnam Pro" pitchFamily="34" charset="0"/>
                <a:ea typeface="Be Vietnam Pro" pitchFamily="34" charset="-122"/>
                <a:cs typeface="Be Vietnam Pro" pitchFamily="34" charset="-120"/>
              </a:rPr>
              <a:t>lệch thì chặn, không hiển thị.</a:t>
            </a:r>
            <a:endParaRPr lang="en-US" sz="1150" dirty="0"/>
          </a:p>
        </p:txBody>
      </p:sp>
      <p:sp>
        <p:nvSpPr>
          <p:cNvPr id="18" name="Shape 13"/>
          <p:cNvSpPr/>
          <p:nvPr/>
        </p:nvSpPr>
        <p:spPr>
          <a:xfrm>
            <a:off x="5245913" y="2997454"/>
            <a:ext cx="6232550" cy="859536"/>
          </a:xfrm>
          <a:prstGeom prst="roundRect">
            <a:avLst>
              <a:gd name="adj" fmla="val 12766"/>
            </a:avLst>
          </a:prstGeom>
          <a:solidFill>
            <a:srgbClr val="091B2D">
              <a:alpha val="66000"/>
            </a:srgbClr>
          </a:solidFill>
          <a:ln w="12700">
            <a:solidFill>
              <a:srgbClr val="FFFFFF">
                <a:alpha val="12000"/>
              </a:srgbClr>
            </a:solidFill>
            <a:prstDash val="solid"/>
          </a:ln>
        </p:spPr>
      </p:sp>
      <p:sp>
        <p:nvSpPr>
          <p:cNvPr id="19" name="Shape 14"/>
          <p:cNvSpPr/>
          <p:nvPr/>
        </p:nvSpPr>
        <p:spPr>
          <a:xfrm>
            <a:off x="5245913" y="2997454"/>
            <a:ext cx="50292" cy="859536"/>
          </a:xfrm>
          <a:prstGeom prst="roundRect">
            <a:avLst>
              <a:gd name="adj" fmla="val 54545"/>
            </a:avLst>
          </a:prstGeom>
          <a:solidFill>
            <a:srgbClr val="FBBF24">
              <a:alpha val="95000"/>
            </a:srgbClr>
          </a:solidFill>
          <a:ln/>
        </p:spPr>
      </p:sp>
      <p:sp>
        <p:nvSpPr>
          <p:cNvPr id="20" name="Text 15"/>
          <p:cNvSpPr/>
          <p:nvPr/>
        </p:nvSpPr>
        <p:spPr>
          <a:xfrm>
            <a:off x="5520233" y="3125470"/>
            <a:ext cx="5775350" cy="304610"/>
          </a:xfrm>
          <a:prstGeom prst="rect">
            <a:avLst/>
          </a:prstGeom>
          <a:noFill/>
          <a:ln/>
        </p:spPr>
        <p:txBody>
          <a:bodyPr wrap="square" lIns="0" tIns="0" rIns="0" bIns="0" rtlCol="0" anchor="t"/>
          <a:lstStyle/>
          <a:p>
            <a:pPr algn="l" indent="0" marL="0">
              <a:lnSpc>
                <a:spcPts val="1823"/>
              </a:lnSpc>
              <a:buNone/>
            </a:pPr>
            <a:r>
              <a:rPr lang="en-US" sz="1350" b="1" dirty="0">
                <a:solidFill>
                  <a:srgbClr val="FFFFFF"/>
                </a:solidFill>
                <a:latin typeface="Be Vietnam Pro" pitchFamily="34" charset="0"/>
                <a:ea typeface="Be Vietnam Pro" pitchFamily="34" charset="-122"/>
                <a:cs typeface="Be Vietnam Pro" pitchFamily="34" charset="-120"/>
              </a:rPr>
              <a:t>Bắt buộc trích nguồn</a:t>
            </a:r>
            <a:endParaRPr lang="en-US" sz="1350" dirty="0"/>
          </a:p>
        </p:txBody>
      </p:sp>
      <p:sp>
        <p:nvSpPr>
          <p:cNvPr id="21" name="Text 16"/>
          <p:cNvSpPr/>
          <p:nvPr/>
        </p:nvSpPr>
        <p:spPr>
          <a:xfrm>
            <a:off x="5520233" y="3418078"/>
            <a:ext cx="5775350" cy="452882"/>
          </a:xfrm>
          <a:prstGeom prst="rect">
            <a:avLst/>
          </a:prstGeom>
          <a:noFill/>
          <a:ln/>
        </p:spPr>
        <p:txBody>
          <a:bodyPr wrap="square" lIns="0" tIns="0" rIns="0" bIns="0" rtlCol="0" anchor="t"/>
          <a:lstStyle/>
          <a:p>
            <a:pPr algn="l" indent="0" marL="0">
              <a:lnSpc>
                <a:spcPts val="1495"/>
              </a:lnSpc>
              <a:buNone/>
            </a:pPr>
            <a:r>
              <a:rPr lang="en-US" sz="1150" dirty="0">
                <a:solidFill>
                  <a:srgbClr val="9BB0C6"/>
                </a:solidFill>
                <a:latin typeface="Be Vietnam Pro" pitchFamily="34" charset="0"/>
                <a:ea typeface="Be Vietnam Pro" pitchFamily="34" charset="-122"/>
                <a:cs typeface="Be Vietnam Pro" pitchFamily="34" charset="-120"/>
              </a:rPr>
              <a:t>Định mức và quy trình sơ cứu dựa trên Sphere Standards, IFRC, WHO</a:t>
            </a:r>
            <a:endParaRPr lang="en-US" sz="1150" dirty="0"/>
          </a:p>
          <a:p>
            <a:pPr algn="l" indent="0" marL="0">
              <a:lnSpc>
                <a:spcPts val="1495"/>
              </a:lnSpc>
              <a:buNone/>
            </a:pPr>
            <a:r>
              <a:rPr lang="en-US" sz="1150" dirty="0">
                <a:solidFill>
                  <a:srgbClr val="9BB0C6"/>
                </a:solidFill>
                <a:latin typeface="Be Vietnam Pro" pitchFamily="34" charset="0"/>
                <a:ea typeface="Be Vietnam Pro" pitchFamily="34" charset="-122"/>
                <a:cs typeface="Be Vietnam Pro" pitchFamily="34" charset="-120"/>
              </a:rPr>
              <a:t>và cơ quan phòng chống thiên tai Việt Nam.</a:t>
            </a:r>
            <a:endParaRPr lang="en-US" sz="1150" dirty="0"/>
          </a:p>
        </p:txBody>
      </p:sp>
      <p:sp>
        <p:nvSpPr>
          <p:cNvPr id="22" name="Shape 17"/>
          <p:cNvSpPr/>
          <p:nvPr/>
        </p:nvSpPr>
        <p:spPr>
          <a:xfrm>
            <a:off x="5245913" y="4030726"/>
            <a:ext cx="6232550" cy="859536"/>
          </a:xfrm>
          <a:prstGeom prst="roundRect">
            <a:avLst>
              <a:gd name="adj" fmla="val 12766"/>
            </a:avLst>
          </a:prstGeom>
          <a:solidFill>
            <a:srgbClr val="091B2D">
              <a:alpha val="66000"/>
            </a:srgbClr>
          </a:solidFill>
          <a:ln w="12700">
            <a:solidFill>
              <a:srgbClr val="FFFFFF">
                <a:alpha val="12000"/>
              </a:srgbClr>
            </a:solidFill>
            <a:prstDash val="solid"/>
          </a:ln>
        </p:spPr>
      </p:sp>
      <p:sp>
        <p:nvSpPr>
          <p:cNvPr id="23" name="Shape 18"/>
          <p:cNvSpPr/>
          <p:nvPr/>
        </p:nvSpPr>
        <p:spPr>
          <a:xfrm>
            <a:off x="5245913" y="4030726"/>
            <a:ext cx="50292" cy="859536"/>
          </a:xfrm>
          <a:prstGeom prst="roundRect">
            <a:avLst>
              <a:gd name="adj" fmla="val 54545"/>
            </a:avLst>
          </a:prstGeom>
          <a:solidFill>
            <a:srgbClr val="38BDF8">
              <a:alpha val="95000"/>
            </a:srgbClr>
          </a:solidFill>
          <a:ln/>
        </p:spPr>
      </p:sp>
      <p:sp>
        <p:nvSpPr>
          <p:cNvPr id="24" name="Text 19"/>
          <p:cNvSpPr/>
          <p:nvPr/>
        </p:nvSpPr>
        <p:spPr>
          <a:xfrm>
            <a:off x="5520233" y="4158742"/>
            <a:ext cx="5775350" cy="304610"/>
          </a:xfrm>
          <a:prstGeom prst="rect">
            <a:avLst/>
          </a:prstGeom>
          <a:noFill/>
          <a:ln/>
        </p:spPr>
        <p:txBody>
          <a:bodyPr wrap="square" lIns="0" tIns="0" rIns="0" bIns="0" rtlCol="0" anchor="t"/>
          <a:lstStyle/>
          <a:p>
            <a:pPr algn="l" indent="0" marL="0">
              <a:lnSpc>
                <a:spcPts val="1823"/>
              </a:lnSpc>
              <a:buNone/>
            </a:pPr>
            <a:r>
              <a:rPr lang="en-US" sz="1350" b="1" dirty="0">
                <a:solidFill>
                  <a:srgbClr val="FFFFFF"/>
                </a:solidFill>
                <a:latin typeface="Be Vietnam Pro" pitchFamily="34" charset="0"/>
                <a:ea typeface="Be Vietnam Pro" pitchFamily="34" charset="-122"/>
                <a:cs typeface="Be Vietnam Pro" pitchFamily="34" charset="-120"/>
              </a:rPr>
              <a:t>Chạy tại chỗ</a:t>
            </a:r>
            <a:endParaRPr lang="en-US" sz="1350" dirty="0"/>
          </a:p>
        </p:txBody>
      </p:sp>
      <p:sp>
        <p:nvSpPr>
          <p:cNvPr id="25" name="Text 20"/>
          <p:cNvSpPr/>
          <p:nvPr/>
        </p:nvSpPr>
        <p:spPr>
          <a:xfrm>
            <a:off x="5520233" y="4451350"/>
            <a:ext cx="5775350" cy="452882"/>
          </a:xfrm>
          <a:prstGeom prst="rect">
            <a:avLst/>
          </a:prstGeom>
          <a:noFill/>
          <a:ln/>
        </p:spPr>
        <p:txBody>
          <a:bodyPr wrap="square" lIns="0" tIns="0" rIns="0" bIns="0" rtlCol="0" anchor="t"/>
          <a:lstStyle/>
          <a:p>
            <a:pPr algn="l" indent="0" marL="0">
              <a:lnSpc>
                <a:spcPts val="1495"/>
              </a:lnSpc>
              <a:buNone/>
            </a:pPr>
            <a:r>
              <a:rPr lang="en-US" sz="1150" dirty="0">
                <a:solidFill>
                  <a:srgbClr val="9BB0C6"/>
                </a:solidFill>
                <a:latin typeface="Be Vietnam Pro" pitchFamily="34" charset="0"/>
                <a:ea typeface="Be Vietnam Pro" pitchFamily="34" charset="-122"/>
                <a:cs typeface="Be Vietnam Pro" pitchFamily="34" charset="-120"/>
              </a:rPr>
              <a:t>Mô hình chạy trên máy đặt tại xã: không gửi dữ liệu ra ngoài,</a:t>
            </a:r>
            <a:endParaRPr lang="en-US" sz="1150" dirty="0"/>
          </a:p>
          <a:p>
            <a:pPr algn="l" indent="0" marL="0">
              <a:lnSpc>
                <a:spcPts val="1495"/>
              </a:lnSpc>
              <a:buNone/>
            </a:pPr>
            <a:r>
              <a:rPr lang="en-US" sz="1150" dirty="0">
                <a:solidFill>
                  <a:srgbClr val="9BB0C6"/>
                </a:solidFill>
                <a:latin typeface="Be Vietnam Pro" pitchFamily="34" charset="0"/>
                <a:ea typeface="Be Vietnam Pro" pitchFamily="34" charset="-122"/>
                <a:cs typeface="Be Vietnam Pro" pitchFamily="34" charset="-120"/>
              </a:rPr>
              <a:t>0 đồng mỗi lượt gọi.</a:t>
            </a:r>
            <a:endParaRPr lang="en-US" sz="1150" dirty="0"/>
          </a:p>
        </p:txBody>
      </p:sp>
      <p:sp>
        <p:nvSpPr>
          <p:cNvPr id="26" name="Shape 21"/>
          <p:cNvSpPr/>
          <p:nvPr/>
        </p:nvSpPr>
        <p:spPr>
          <a:xfrm>
            <a:off x="713232" y="5146294"/>
            <a:ext cx="10765231" cy="749808"/>
          </a:xfrm>
          <a:prstGeom prst="roundRect">
            <a:avLst>
              <a:gd name="adj" fmla="val 12195"/>
            </a:avLst>
          </a:prstGeom>
          <a:solidFill>
            <a:srgbClr val="F87171">
              <a:alpha val="12000"/>
            </a:srgbClr>
          </a:solidFill>
          <a:ln w="12700">
            <a:solidFill>
              <a:srgbClr val="F87171">
                <a:alpha val="42000"/>
              </a:srgbClr>
            </a:solidFill>
            <a:prstDash val="solid"/>
          </a:ln>
        </p:spPr>
      </p:sp>
      <p:sp>
        <p:nvSpPr>
          <p:cNvPr id="27" name="Shape 22"/>
          <p:cNvSpPr/>
          <p:nvPr/>
        </p:nvSpPr>
        <p:spPr>
          <a:xfrm>
            <a:off x="713232" y="5146294"/>
            <a:ext cx="50292" cy="749808"/>
          </a:xfrm>
          <a:prstGeom prst="roundRect">
            <a:avLst>
              <a:gd name="adj" fmla="val 54545"/>
            </a:avLst>
          </a:prstGeom>
          <a:solidFill>
            <a:srgbClr val="F87171">
              <a:alpha val="95000"/>
            </a:srgbClr>
          </a:solidFill>
          <a:ln/>
        </p:spPr>
      </p:sp>
      <p:sp>
        <p:nvSpPr>
          <p:cNvPr id="28" name="Text 23"/>
          <p:cNvSpPr/>
          <p:nvPr/>
        </p:nvSpPr>
        <p:spPr>
          <a:xfrm>
            <a:off x="1078992" y="5347462"/>
            <a:ext cx="10125151" cy="330327"/>
          </a:xfrm>
          <a:prstGeom prst="rect">
            <a:avLst/>
          </a:prstGeom>
          <a:noFill/>
          <a:ln/>
        </p:spPr>
        <p:txBody>
          <a:bodyPr wrap="square" lIns="0" tIns="0" rIns="0" bIns="0" rtlCol="0" anchor="t"/>
          <a:lstStyle/>
          <a:p>
            <a:pPr algn="l" indent="0" marL="0">
              <a:lnSpc>
                <a:spcPts val="2025"/>
              </a:lnSpc>
              <a:buNone/>
            </a:pPr>
            <a:r>
              <a:rPr lang="en-US" sz="1500" b="1" dirty="0">
                <a:solidFill>
                  <a:srgbClr val="FFFFFF"/>
                </a:solidFill>
                <a:latin typeface="Be Vietnam Pro" pitchFamily="34" charset="0"/>
                <a:ea typeface="Be Vietnam Pro" pitchFamily="34" charset="-122"/>
                <a:cs typeface="Be Vietnam Pro" pitchFamily="34" charset="-120"/>
              </a:rPr>
              <a:t>Một câu trả lời sai nghe rất thuyết phục còn nguy hiểm hơn là không có câu trả lời nào.</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66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66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66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fill="hold" grpId="0" nodeType="withEffect">
                                  <p:stCondLst>
                                    <p:cond delay="88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88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88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88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110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110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11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110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132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withEffect">
                                  <p:stCondLst>
                                    <p:cond delay="132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132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24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HỘI CHỮ THẬP ĐỎ XÃ ĐỒNG XUÂN</a:t>
            </a:r>
            <a:endParaRPr lang="en-US" sz="1150" dirty="0"/>
          </a:p>
        </p:txBody>
      </p:sp>
      <p:sp>
        <p:nvSpPr>
          <p:cNvPr id="9" name="Text 5"/>
          <p:cNvSpPr/>
          <p:nvPr/>
        </p:nvSpPr>
        <p:spPr>
          <a:xfrm>
            <a:off x="713232" y="1024128"/>
            <a:ext cx="10490911" cy="537718"/>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Sản phẩm này có một nơi để về</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pic>
        <p:nvPicPr>
          <p:cNvPr id="12" name="Image 2" descr="anh/da-cat/thu-quan-tam.jpg">    </p:cNvPr>
          <p:cNvPicPr>
            <a:picLocks noChangeAspect="1"/>
          </p:cNvPicPr>
          <p:nvPr/>
        </p:nvPicPr>
        <p:blipFill>
          <a:blip r:embed="rId3"/>
          <a:stretch>
            <a:fillRect/>
          </a:stretch>
        </p:blipFill>
        <p:spPr>
          <a:xfrm>
            <a:off x="713232" y="1964182"/>
            <a:ext cx="3008376" cy="4005072"/>
          </a:xfrm>
          <a:prstGeom prst="roundRect">
            <a:avLst>
              <a:gd name="adj" fmla="val 3647"/>
            </a:avLst>
          </a:prstGeom>
        </p:spPr>
      </p:pic>
      <p:sp>
        <p:nvSpPr>
          <p:cNvPr id="13" name="Shape 8"/>
          <p:cNvSpPr/>
          <p:nvPr/>
        </p:nvSpPr>
        <p:spPr>
          <a:xfrm>
            <a:off x="713232" y="1964182"/>
            <a:ext cx="3008376" cy="4005072"/>
          </a:xfrm>
          <a:prstGeom prst="roundRect">
            <a:avLst>
              <a:gd name="adj" fmla="val 3647"/>
            </a:avLst>
          </a:prstGeom>
          <a:solidFill>
            <a:srgbClr val="FFFFFF">
              <a:alpha val="0"/>
            </a:srgbClr>
          </a:solidFill>
          <a:ln w="12700">
            <a:solidFill>
              <a:srgbClr val="FFFFFF">
                <a:alpha val="18000"/>
              </a:srgbClr>
            </a:solidFill>
            <a:prstDash val="solid"/>
          </a:ln>
        </p:spPr>
      </p:sp>
      <p:sp>
        <p:nvSpPr>
          <p:cNvPr id="14" name="Shape 9"/>
          <p:cNvSpPr/>
          <p:nvPr/>
        </p:nvSpPr>
        <p:spPr>
          <a:xfrm>
            <a:off x="4123944" y="1964182"/>
            <a:ext cx="7354519" cy="1213104"/>
          </a:xfrm>
          <a:prstGeom prst="roundRect">
            <a:avLst>
              <a:gd name="adj" fmla="val 9045"/>
            </a:avLst>
          </a:prstGeom>
          <a:solidFill>
            <a:srgbClr val="091B2D">
              <a:alpha val="66000"/>
            </a:srgbClr>
          </a:solidFill>
          <a:ln w="12700">
            <a:solidFill>
              <a:srgbClr val="FFFFFF">
                <a:alpha val="12000"/>
              </a:srgbClr>
            </a:solidFill>
            <a:prstDash val="solid"/>
          </a:ln>
        </p:spPr>
      </p:sp>
      <p:sp>
        <p:nvSpPr>
          <p:cNvPr id="15" name="Shape 10"/>
          <p:cNvSpPr/>
          <p:nvPr/>
        </p:nvSpPr>
        <p:spPr>
          <a:xfrm>
            <a:off x="4123944" y="1964182"/>
            <a:ext cx="50292" cy="1213104"/>
          </a:xfrm>
          <a:prstGeom prst="roundRect">
            <a:avLst>
              <a:gd name="adj" fmla="val 54545"/>
            </a:avLst>
          </a:prstGeom>
          <a:solidFill>
            <a:srgbClr val="22C55E">
              <a:alpha val="95000"/>
            </a:srgbClr>
          </a:solidFill>
          <a:ln/>
        </p:spPr>
      </p:sp>
      <p:sp>
        <p:nvSpPr>
          <p:cNvPr id="16" name="Shape 11"/>
          <p:cNvSpPr/>
          <p:nvPr/>
        </p:nvSpPr>
        <p:spPr>
          <a:xfrm>
            <a:off x="4379976" y="2147062"/>
            <a:ext cx="402336" cy="402336"/>
          </a:xfrm>
          <a:prstGeom prst="roundRect">
            <a:avLst>
              <a:gd name="adj" fmla="val 50000"/>
            </a:avLst>
          </a:prstGeom>
          <a:solidFill>
            <a:srgbClr val="04101F">
              <a:alpha val="88000"/>
            </a:srgbClr>
          </a:solidFill>
          <a:ln/>
        </p:spPr>
      </p:sp>
      <p:sp>
        <p:nvSpPr>
          <p:cNvPr id="17" name="Shape 12"/>
          <p:cNvSpPr/>
          <p:nvPr/>
        </p:nvSpPr>
        <p:spPr>
          <a:xfrm>
            <a:off x="4379976" y="2147062"/>
            <a:ext cx="402336" cy="402336"/>
          </a:xfrm>
          <a:prstGeom prst="roundRect">
            <a:avLst>
              <a:gd name="adj" fmla="val 50000"/>
            </a:avLst>
          </a:prstGeom>
          <a:solidFill>
            <a:srgbClr val="22C55E">
              <a:alpha val="20000"/>
            </a:srgbClr>
          </a:solidFill>
          <a:ln w="15240">
            <a:solidFill>
              <a:srgbClr val="22C55E">
                <a:alpha val="70000"/>
              </a:srgbClr>
            </a:solidFill>
            <a:prstDash val="solid"/>
          </a:ln>
        </p:spPr>
      </p:sp>
      <p:sp>
        <p:nvSpPr>
          <p:cNvPr id="18" name="Text 13"/>
          <p:cNvSpPr/>
          <p:nvPr/>
        </p:nvSpPr>
        <p:spPr>
          <a:xfrm>
            <a:off x="4334256" y="2211070"/>
            <a:ext cx="493776"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01</a:t>
            </a:r>
            <a:endParaRPr lang="en-US" sz="1500" dirty="0"/>
          </a:p>
        </p:txBody>
      </p:sp>
      <p:sp>
        <p:nvSpPr>
          <p:cNvPr id="19" name="Text 14"/>
          <p:cNvSpPr/>
          <p:nvPr/>
        </p:nvSpPr>
        <p:spPr>
          <a:xfrm>
            <a:off x="4910328" y="2183638"/>
            <a:ext cx="6385255" cy="321755"/>
          </a:xfrm>
          <a:prstGeom prst="rect">
            <a:avLst/>
          </a:prstGeom>
          <a:noFill/>
          <a:ln/>
        </p:spPr>
        <p:txBody>
          <a:bodyPr wrap="square" lIns="0" tIns="0" rIns="0" bIns="0" rtlCol="0" anchor="t"/>
          <a:lstStyle/>
          <a:p>
            <a:pPr algn="l" indent="0" marL="0">
              <a:lnSpc>
                <a:spcPts val="1958"/>
              </a:lnSpc>
              <a:buNone/>
            </a:pPr>
            <a:r>
              <a:rPr lang="en-US" sz="1450" b="1" dirty="0">
                <a:solidFill>
                  <a:srgbClr val="FFFFFF"/>
                </a:solidFill>
                <a:latin typeface="Be Vietnam Pro" pitchFamily="34" charset="0"/>
                <a:ea typeface="Be Vietnam Pro" pitchFamily="34" charset="-122"/>
                <a:cs typeface="Be Vietnam Pro" pitchFamily="34" charset="-120"/>
              </a:rPr>
              <a:t>Xác nhận thực trạng</a:t>
            </a:r>
            <a:endParaRPr lang="en-US" sz="1450" dirty="0"/>
          </a:p>
        </p:txBody>
      </p:sp>
      <p:sp>
        <p:nvSpPr>
          <p:cNvPr id="20" name="Text 15"/>
          <p:cNvSpPr/>
          <p:nvPr/>
        </p:nvSpPr>
        <p:spPr>
          <a:xfrm>
            <a:off x="4379976" y="2622550"/>
            <a:ext cx="6933895" cy="467487"/>
          </a:xfrm>
          <a:prstGeom prst="rect">
            <a:avLst/>
          </a:prstGeom>
          <a:noFill/>
          <a:ln/>
        </p:spPr>
        <p:txBody>
          <a:bodyPr wrap="square" lIns="0" tIns="0" rIns="0" bIns="0" rtlCol="0" anchor="t"/>
          <a:lstStyle/>
          <a:p>
            <a:pPr algn="l" indent="0" marL="0">
              <a:lnSpc>
                <a:spcPts val="1553"/>
              </a:lnSpc>
              <a:buNone/>
            </a:pPr>
            <a:r>
              <a:rPr lang="en-US" sz="1150" dirty="0">
                <a:solidFill>
                  <a:srgbClr val="D9E6F2"/>
                </a:solidFill>
                <a:latin typeface="Be Vietnam Pro" pitchFamily="34" charset="0"/>
                <a:ea typeface="Be Vietnam Pro" pitchFamily="34" charset="-122"/>
                <a:cs typeface="Be Vietnam Pro" pitchFamily="34" charset="-120"/>
              </a:rPr>
              <a:t>Kho còn quản lý bằng sổ và Excel, bão lũ 2025 vật tư hết hạn, hư hỏng, số liệu lệch giữa các</a:t>
            </a:r>
            <a:endParaRPr lang="en-US" sz="1150" dirty="0"/>
          </a:p>
          <a:p>
            <a:pPr algn="l" indent="0" marL="0">
              <a:lnSpc>
                <a:spcPts val="1553"/>
              </a:lnSpc>
              <a:buNone/>
            </a:pPr>
            <a:r>
              <a:rPr lang="en-US" sz="1150" dirty="0">
                <a:solidFill>
                  <a:srgbClr val="D9E6F2"/>
                </a:solidFill>
                <a:latin typeface="Be Vietnam Pro" pitchFamily="34" charset="0"/>
                <a:ea typeface="Be Vietnam Pro" pitchFamily="34" charset="-122"/>
                <a:cs typeface="Be Vietnam Pro" pitchFamily="34" charset="-120"/>
              </a:rPr>
              <a:t>thôn.</a:t>
            </a:r>
            <a:endParaRPr lang="en-US" sz="1150" dirty="0"/>
          </a:p>
        </p:txBody>
      </p:sp>
      <p:sp>
        <p:nvSpPr>
          <p:cNvPr id="21" name="Shape 16"/>
          <p:cNvSpPr/>
          <p:nvPr/>
        </p:nvSpPr>
        <p:spPr>
          <a:xfrm>
            <a:off x="4123944" y="3360166"/>
            <a:ext cx="7354519" cy="1213104"/>
          </a:xfrm>
          <a:prstGeom prst="roundRect">
            <a:avLst>
              <a:gd name="adj" fmla="val 9045"/>
            </a:avLst>
          </a:prstGeom>
          <a:solidFill>
            <a:srgbClr val="091B2D">
              <a:alpha val="66000"/>
            </a:srgbClr>
          </a:solidFill>
          <a:ln w="12700">
            <a:solidFill>
              <a:srgbClr val="FFFFFF">
                <a:alpha val="12000"/>
              </a:srgbClr>
            </a:solidFill>
            <a:prstDash val="solid"/>
          </a:ln>
        </p:spPr>
      </p:sp>
      <p:sp>
        <p:nvSpPr>
          <p:cNvPr id="22" name="Shape 17"/>
          <p:cNvSpPr/>
          <p:nvPr/>
        </p:nvSpPr>
        <p:spPr>
          <a:xfrm>
            <a:off x="4123944" y="3360166"/>
            <a:ext cx="50292" cy="1213104"/>
          </a:xfrm>
          <a:prstGeom prst="roundRect">
            <a:avLst>
              <a:gd name="adj" fmla="val 54545"/>
            </a:avLst>
          </a:prstGeom>
          <a:solidFill>
            <a:srgbClr val="22C55E">
              <a:alpha val="95000"/>
            </a:srgbClr>
          </a:solidFill>
          <a:ln/>
        </p:spPr>
      </p:sp>
      <p:sp>
        <p:nvSpPr>
          <p:cNvPr id="23" name="Shape 18"/>
          <p:cNvSpPr/>
          <p:nvPr/>
        </p:nvSpPr>
        <p:spPr>
          <a:xfrm>
            <a:off x="4379976" y="3543046"/>
            <a:ext cx="402336" cy="402336"/>
          </a:xfrm>
          <a:prstGeom prst="roundRect">
            <a:avLst>
              <a:gd name="adj" fmla="val 50000"/>
            </a:avLst>
          </a:prstGeom>
          <a:solidFill>
            <a:srgbClr val="04101F">
              <a:alpha val="88000"/>
            </a:srgbClr>
          </a:solidFill>
          <a:ln/>
        </p:spPr>
      </p:sp>
      <p:sp>
        <p:nvSpPr>
          <p:cNvPr id="24" name="Shape 19"/>
          <p:cNvSpPr/>
          <p:nvPr/>
        </p:nvSpPr>
        <p:spPr>
          <a:xfrm>
            <a:off x="4379976" y="3543046"/>
            <a:ext cx="402336" cy="402336"/>
          </a:xfrm>
          <a:prstGeom prst="roundRect">
            <a:avLst>
              <a:gd name="adj" fmla="val 50000"/>
            </a:avLst>
          </a:prstGeom>
          <a:solidFill>
            <a:srgbClr val="22C55E">
              <a:alpha val="20000"/>
            </a:srgbClr>
          </a:solidFill>
          <a:ln w="15240">
            <a:solidFill>
              <a:srgbClr val="22C55E">
                <a:alpha val="70000"/>
              </a:srgbClr>
            </a:solidFill>
            <a:prstDash val="solid"/>
          </a:ln>
        </p:spPr>
      </p:sp>
      <p:sp>
        <p:nvSpPr>
          <p:cNvPr id="25" name="Text 20"/>
          <p:cNvSpPr/>
          <p:nvPr/>
        </p:nvSpPr>
        <p:spPr>
          <a:xfrm>
            <a:off x="4334256" y="3607054"/>
            <a:ext cx="493776"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02</a:t>
            </a:r>
            <a:endParaRPr lang="en-US" sz="1500" dirty="0"/>
          </a:p>
        </p:txBody>
      </p:sp>
      <p:sp>
        <p:nvSpPr>
          <p:cNvPr id="26" name="Text 21"/>
          <p:cNvSpPr/>
          <p:nvPr/>
        </p:nvSpPr>
        <p:spPr>
          <a:xfrm>
            <a:off x="4910328" y="3579622"/>
            <a:ext cx="6385255" cy="321755"/>
          </a:xfrm>
          <a:prstGeom prst="rect">
            <a:avLst/>
          </a:prstGeom>
          <a:noFill/>
          <a:ln/>
        </p:spPr>
        <p:txBody>
          <a:bodyPr wrap="square" lIns="0" tIns="0" rIns="0" bIns="0" rtlCol="0" anchor="t"/>
          <a:lstStyle/>
          <a:p>
            <a:pPr algn="l" indent="0" marL="0">
              <a:lnSpc>
                <a:spcPts val="1958"/>
              </a:lnSpc>
              <a:buNone/>
            </a:pPr>
            <a:r>
              <a:rPr lang="en-US" sz="1450" b="1" dirty="0">
                <a:solidFill>
                  <a:srgbClr val="FFFFFF"/>
                </a:solidFill>
                <a:latin typeface="Be Vietnam Pro" pitchFamily="34" charset="0"/>
                <a:ea typeface="Be Vietnam Pro" pitchFamily="34" charset="-122"/>
                <a:cs typeface="Be Vietnam Pro" pitchFamily="34" charset="-120"/>
              </a:rPr>
              <a:t>Xác nhận nhu cầu thật</a:t>
            </a:r>
            <a:endParaRPr lang="en-US" sz="1450" dirty="0"/>
          </a:p>
        </p:txBody>
      </p:sp>
      <p:sp>
        <p:nvSpPr>
          <p:cNvPr id="27" name="Text 22"/>
          <p:cNvSpPr/>
          <p:nvPr/>
        </p:nvSpPr>
        <p:spPr>
          <a:xfrm>
            <a:off x="4379976" y="4018534"/>
            <a:ext cx="6933895" cy="270320"/>
          </a:xfrm>
          <a:prstGeom prst="rect">
            <a:avLst/>
          </a:prstGeom>
          <a:noFill/>
          <a:ln/>
        </p:spPr>
        <p:txBody>
          <a:bodyPr wrap="square" lIns="0" tIns="0" rIns="0" bIns="0" rtlCol="0" anchor="t"/>
          <a:lstStyle/>
          <a:p>
            <a:pPr algn="l" indent="0" marL="0">
              <a:lnSpc>
                <a:spcPts val="1553"/>
              </a:lnSpc>
              <a:buNone/>
            </a:pPr>
            <a:r>
              <a:rPr lang="en-US" sz="1150" dirty="0">
                <a:solidFill>
                  <a:srgbClr val="D9E6F2"/>
                </a:solidFill>
                <a:latin typeface="Be Vietnam Pro" pitchFamily="34" charset="0"/>
                <a:ea typeface="Be Vietnam Pro" pitchFamily="34" charset="-122"/>
                <a:cs typeface="Be Vietnam Pro" pitchFamily="34" charset="-120"/>
              </a:rPr>
              <a:t>Xã cần một hệ thống quản lý kho và điều phối vật tư như Ứng Phó Nhanh.</a:t>
            </a:r>
            <a:endParaRPr lang="en-US" sz="1150" dirty="0"/>
          </a:p>
        </p:txBody>
      </p:sp>
      <p:sp>
        <p:nvSpPr>
          <p:cNvPr id="28" name="Shape 23"/>
          <p:cNvSpPr/>
          <p:nvPr/>
        </p:nvSpPr>
        <p:spPr>
          <a:xfrm>
            <a:off x="4123944" y="4756150"/>
            <a:ext cx="7354519" cy="1213104"/>
          </a:xfrm>
          <a:prstGeom prst="roundRect">
            <a:avLst>
              <a:gd name="adj" fmla="val 9045"/>
            </a:avLst>
          </a:prstGeom>
          <a:solidFill>
            <a:srgbClr val="091B2D">
              <a:alpha val="66000"/>
            </a:srgbClr>
          </a:solidFill>
          <a:ln w="12700">
            <a:solidFill>
              <a:srgbClr val="FFFFFF">
                <a:alpha val="12000"/>
              </a:srgbClr>
            </a:solidFill>
            <a:prstDash val="solid"/>
          </a:ln>
        </p:spPr>
      </p:sp>
      <p:sp>
        <p:nvSpPr>
          <p:cNvPr id="29" name="Shape 24"/>
          <p:cNvSpPr/>
          <p:nvPr/>
        </p:nvSpPr>
        <p:spPr>
          <a:xfrm>
            <a:off x="4123944" y="4756150"/>
            <a:ext cx="50292" cy="1213104"/>
          </a:xfrm>
          <a:prstGeom prst="roundRect">
            <a:avLst>
              <a:gd name="adj" fmla="val 54545"/>
            </a:avLst>
          </a:prstGeom>
          <a:solidFill>
            <a:srgbClr val="22C55E">
              <a:alpha val="95000"/>
            </a:srgbClr>
          </a:solidFill>
          <a:ln/>
        </p:spPr>
      </p:sp>
      <p:sp>
        <p:nvSpPr>
          <p:cNvPr id="30" name="Shape 25"/>
          <p:cNvSpPr/>
          <p:nvPr/>
        </p:nvSpPr>
        <p:spPr>
          <a:xfrm>
            <a:off x="4379976" y="4939030"/>
            <a:ext cx="402336" cy="402336"/>
          </a:xfrm>
          <a:prstGeom prst="roundRect">
            <a:avLst>
              <a:gd name="adj" fmla="val 50000"/>
            </a:avLst>
          </a:prstGeom>
          <a:solidFill>
            <a:srgbClr val="04101F">
              <a:alpha val="88000"/>
            </a:srgbClr>
          </a:solidFill>
          <a:ln/>
        </p:spPr>
      </p:sp>
      <p:sp>
        <p:nvSpPr>
          <p:cNvPr id="31" name="Shape 26"/>
          <p:cNvSpPr/>
          <p:nvPr/>
        </p:nvSpPr>
        <p:spPr>
          <a:xfrm>
            <a:off x="4379976" y="4939030"/>
            <a:ext cx="402336" cy="402336"/>
          </a:xfrm>
          <a:prstGeom prst="roundRect">
            <a:avLst>
              <a:gd name="adj" fmla="val 50000"/>
            </a:avLst>
          </a:prstGeom>
          <a:solidFill>
            <a:srgbClr val="22C55E">
              <a:alpha val="20000"/>
            </a:srgbClr>
          </a:solidFill>
          <a:ln w="15240">
            <a:solidFill>
              <a:srgbClr val="22C55E">
                <a:alpha val="70000"/>
              </a:srgbClr>
            </a:solidFill>
            <a:prstDash val="solid"/>
          </a:ln>
        </p:spPr>
      </p:sp>
      <p:sp>
        <p:nvSpPr>
          <p:cNvPr id="32" name="Text 27"/>
          <p:cNvSpPr/>
          <p:nvPr/>
        </p:nvSpPr>
        <p:spPr>
          <a:xfrm>
            <a:off x="4334256" y="5003038"/>
            <a:ext cx="493776" cy="330327"/>
          </a:xfrm>
          <a:prstGeom prst="rect">
            <a:avLst/>
          </a:prstGeom>
          <a:noFill/>
          <a:ln/>
        </p:spPr>
        <p:txBody>
          <a:bodyPr wrap="square" lIns="0" tIns="0" rIns="0" bIns="0" rtlCol="0" anchor="t"/>
          <a:lstStyle/>
          <a:p>
            <a:pPr algn="ctr" indent="0" marL="0">
              <a:lnSpc>
                <a:spcPts val="2025"/>
              </a:lnSpc>
              <a:buNone/>
            </a:pPr>
            <a:r>
              <a:rPr lang="en-US" sz="1500" b="1" dirty="0">
                <a:solidFill>
                  <a:srgbClr val="22C55E"/>
                </a:solidFill>
                <a:latin typeface="Be Vietnam Pro" pitchFamily="34" charset="0"/>
                <a:ea typeface="Be Vietnam Pro" pitchFamily="34" charset="-122"/>
                <a:cs typeface="Be Vietnam Pro" pitchFamily="34" charset="-120"/>
              </a:rPr>
              <a:t>03</a:t>
            </a:r>
            <a:endParaRPr lang="en-US" sz="1500" dirty="0"/>
          </a:p>
        </p:txBody>
      </p:sp>
      <p:sp>
        <p:nvSpPr>
          <p:cNvPr id="33" name="Text 28"/>
          <p:cNvSpPr/>
          <p:nvPr/>
        </p:nvSpPr>
        <p:spPr>
          <a:xfrm>
            <a:off x="4910328" y="4975606"/>
            <a:ext cx="6385255" cy="321755"/>
          </a:xfrm>
          <a:prstGeom prst="rect">
            <a:avLst/>
          </a:prstGeom>
          <a:noFill/>
          <a:ln/>
        </p:spPr>
        <p:txBody>
          <a:bodyPr wrap="square" lIns="0" tIns="0" rIns="0" bIns="0" rtlCol="0" anchor="t"/>
          <a:lstStyle/>
          <a:p>
            <a:pPr algn="l" indent="0" marL="0">
              <a:lnSpc>
                <a:spcPts val="1958"/>
              </a:lnSpc>
              <a:buNone/>
            </a:pPr>
            <a:r>
              <a:rPr lang="en-US" sz="1450" b="1" dirty="0">
                <a:solidFill>
                  <a:srgbClr val="FFFFFF"/>
                </a:solidFill>
                <a:latin typeface="Be Vietnam Pro" pitchFamily="34" charset="0"/>
                <a:ea typeface="Be Vietnam Pro" pitchFamily="34" charset="-122"/>
                <a:cs typeface="Be Vietnam Pro" pitchFamily="34" charset="-120"/>
              </a:rPr>
              <a:t>Đồng ý cho khảo sát và thử nghiệm</a:t>
            </a:r>
            <a:endParaRPr lang="en-US" sz="1450" dirty="0"/>
          </a:p>
        </p:txBody>
      </p:sp>
      <p:sp>
        <p:nvSpPr>
          <p:cNvPr id="34" name="Text 29"/>
          <p:cNvSpPr/>
          <p:nvPr/>
        </p:nvSpPr>
        <p:spPr>
          <a:xfrm>
            <a:off x="4379976" y="5414518"/>
            <a:ext cx="6933895" cy="270320"/>
          </a:xfrm>
          <a:prstGeom prst="rect">
            <a:avLst/>
          </a:prstGeom>
          <a:noFill/>
          <a:ln/>
        </p:spPr>
        <p:txBody>
          <a:bodyPr wrap="square" lIns="0" tIns="0" rIns="0" bIns="0" rtlCol="0" anchor="t"/>
          <a:lstStyle/>
          <a:p>
            <a:pPr algn="l" indent="0" marL="0">
              <a:lnSpc>
                <a:spcPts val="1553"/>
              </a:lnSpc>
              <a:buNone/>
            </a:pPr>
            <a:r>
              <a:rPr lang="en-US" sz="1150" dirty="0">
                <a:solidFill>
                  <a:srgbClr val="D9E6F2"/>
                </a:solidFill>
                <a:latin typeface="Be Vietnam Pro" pitchFamily="34" charset="0"/>
                <a:ea typeface="Be Vietnam Pro" pitchFamily="34" charset="-122"/>
                <a:cs typeface="Be Vietnam Pro" pitchFamily="34" charset="-120"/>
              </a:rPr>
              <a:t>Tạo điều kiện cho nhóm khảo sát quy trình thật và triển khai thử nghiệm tại xã sau cuộc thi.</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66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66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66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fill="hold" grpId="0" nodeType="withEffect">
                                  <p:stCondLst>
                                    <p:cond delay="66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88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88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88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88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88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88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withEffect">
                                  <p:stCondLst>
                                    <p:cond delay="88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110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withEffect">
                                  <p:stCondLst>
                                    <p:cond delay="110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110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grpId="0" nodeType="withEffect">
                                  <p:stCondLst>
                                    <p:cond delay="110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110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110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par>
                                <p:cTn id="77" presetID="10" presetClass="entr" presetSubtype="0" fill="hold" grpId="0" nodeType="withEffect">
                                  <p:stCondLst>
                                    <p:cond delay="110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4101F"/>
        </a:solidFill>
      </p:bgPr>
    </p:bg>
    <p:spTree>
      <p:nvGrpSpPr>
        <p:cNvPr id="1" name=""/>
        <p:cNvGrpSpPr/>
        <p:nvPr/>
      </p:nvGrpSpPr>
      <p:grpSpPr>
        <a:xfrm>
          <a:off x="0" y="0"/>
          <a:ext cx="0" cy="0"/>
          <a:chOff x="0" y="0"/>
          <a:chExt cx="0" cy="0"/>
        </a:xfrm>
      </p:grpSpPr>
      <p:pic>
        <p:nvPicPr>
          <p:cNvPr id="2" name="Image 0" descr="bg-conte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F">
              <a:alpha val="34000"/>
            </a:srgbClr>
          </a:solidFill>
          <a:ln/>
        </p:spPr>
      </p:sp>
      <p:pic>
        <p:nvPicPr>
          <p:cNvPr id="4" name="Image 1" descr="mark-sm.png">    </p:cNvPr>
          <p:cNvPicPr>
            <a:picLocks noChangeAspect="1"/>
          </p:cNvPicPr>
          <p:nvPr/>
        </p:nvPicPr>
        <p:blipFill>
          <a:blip r:embed="rId2"/>
          <a:stretch>
            <a:fillRect/>
          </a:stretch>
        </p:blipFill>
        <p:spPr>
          <a:xfrm>
            <a:off x="713232" y="256032"/>
            <a:ext cx="274320" cy="274320"/>
          </a:xfrm>
          <a:prstGeom prst="rect">
            <a:avLst/>
          </a:prstGeom>
        </p:spPr>
      </p:pic>
      <p:sp>
        <p:nvSpPr>
          <p:cNvPr id="5" name="Text 1"/>
          <p:cNvSpPr/>
          <p:nvPr/>
        </p:nvSpPr>
        <p:spPr>
          <a:xfrm>
            <a:off x="1115568" y="283464"/>
            <a:ext cx="3749040" cy="253175"/>
          </a:xfrm>
          <a:prstGeom prst="rect">
            <a:avLst/>
          </a:prstGeom>
          <a:noFill/>
          <a:ln/>
        </p:spPr>
        <p:txBody>
          <a:bodyPr wrap="square" lIns="0" tIns="0" rIns="0" bIns="0" rtlCol="0" anchor="t"/>
          <a:lstStyle/>
          <a:p>
            <a:pPr algn="l" indent="0" marL="0">
              <a:lnSpc>
                <a:spcPts val="1418"/>
              </a:lnSpc>
              <a:buNone/>
            </a:pPr>
            <a:r>
              <a:rPr lang="en-US" sz="1050" b="1" spc="160" kern="0" dirty="0">
                <a:solidFill>
                  <a:srgbClr val="6EE7A8"/>
                </a:solidFill>
                <a:latin typeface="Be Vietnam Pro" pitchFamily="34" charset="0"/>
                <a:ea typeface="Be Vietnam Pro" pitchFamily="34" charset="-122"/>
                <a:cs typeface="Be Vietnam Pro" pitchFamily="34" charset="-120"/>
              </a:rPr>
              <a:t>ỨNG PHÓ NHANH</a:t>
            </a:r>
            <a:endParaRPr lang="en-US" sz="1050" dirty="0"/>
          </a:p>
        </p:txBody>
      </p:sp>
      <p:sp>
        <p:nvSpPr>
          <p:cNvPr id="6" name="Text 2"/>
          <p:cNvSpPr/>
          <p:nvPr/>
        </p:nvSpPr>
        <p:spPr>
          <a:xfrm>
            <a:off x="8643823" y="283464"/>
            <a:ext cx="2834640" cy="253175"/>
          </a:xfrm>
          <a:prstGeom prst="rect">
            <a:avLst/>
          </a:prstGeom>
          <a:noFill/>
          <a:ln/>
        </p:spPr>
        <p:txBody>
          <a:bodyPr wrap="square" lIns="0" tIns="0" rIns="0" bIns="0" rtlCol="0" anchor="t"/>
          <a:lstStyle/>
          <a:p>
            <a:pPr algn="r" indent="0" marL="0">
              <a:lnSpc>
                <a:spcPts val="1418"/>
              </a:lnSpc>
              <a:buNone/>
            </a:pPr>
            <a:r>
              <a:rPr lang="en-US" sz="1050" b="1" dirty="0">
                <a:solidFill>
                  <a:srgbClr val="7189A2"/>
                </a:solidFill>
                <a:latin typeface="Be Vietnam Pro" pitchFamily="34" charset="0"/>
                <a:ea typeface="Be Vietnam Pro" pitchFamily="34" charset="-122"/>
                <a:cs typeface="Be Vietnam Pro" pitchFamily="34" charset="-120"/>
              </a:rPr>
              <a:t>25 / 26</a:t>
            </a:r>
            <a:endParaRPr lang="en-US" sz="1050" dirty="0"/>
          </a:p>
        </p:txBody>
      </p:sp>
      <p:sp>
        <p:nvSpPr>
          <p:cNvPr id="7" name="Shape 3"/>
          <p:cNvSpPr/>
          <p:nvPr/>
        </p:nvSpPr>
        <p:spPr>
          <a:xfrm>
            <a:off x="713232" y="658368"/>
            <a:ext cx="10765231" cy="10973"/>
          </a:xfrm>
          <a:prstGeom prst="rect">
            <a:avLst/>
          </a:prstGeom>
          <a:solidFill>
            <a:srgbClr val="FFFFFF">
              <a:alpha val="16000"/>
            </a:srgbClr>
          </a:solidFill>
          <a:ln/>
        </p:spPr>
      </p:sp>
      <p:sp>
        <p:nvSpPr>
          <p:cNvPr id="8" name="Text 4"/>
          <p:cNvSpPr/>
          <p:nvPr/>
        </p:nvSpPr>
        <p:spPr>
          <a:xfrm>
            <a:off x="713232" y="786384"/>
            <a:ext cx="8321040" cy="270320"/>
          </a:xfrm>
          <a:prstGeom prst="rect">
            <a:avLst/>
          </a:prstGeom>
          <a:noFill/>
          <a:ln/>
        </p:spPr>
        <p:txBody>
          <a:bodyPr wrap="square" lIns="0" tIns="0" rIns="0" bIns="0" rtlCol="0" anchor="t"/>
          <a:lstStyle/>
          <a:p>
            <a:pPr algn="l" indent="0" marL="0">
              <a:lnSpc>
                <a:spcPts val="1553"/>
              </a:lnSpc>
              <a:buNone/>
            </a:pPr>
            <a:r>
              <a:rPr lang="en-US" sz="1150" b="1" spc="220" kern="0" dirty="0">
                <a:solidFill>
                  <a:srgbClr val="22C55E"/>
                </a:solidFill>
                <a:latin typeface="Be Vietnam Pro" pitchFamily="34" charset="0"/>
                <a:ea typeface="Be Vietnam Pro" pitchFamily="34" charset="-122"/>
                <a:cs typeface="Be Vietnam Pro" pitchFamily="34" charset="-120"/>
              </a:rPr>
              <a:t>GIÁ TRỊ MANG LẠI</a:t>
            </a:r>
            <a:endParaRPr lang="en-US" sz="1150" dirty="0"/>
          </a:p>
        </p:txBody>
      </p:sp>
      <p:sp>
        <p:nvSpPr>
          <p:cNvPr id="9" name="Text 5"/>
          <p:cNvSpPr/>
          <p:nvPr/>
        </p:nvSpPr>
        <p:spPr>
          <a:xfrm>
            <a:off x="713232" y="1024128"/>
            <a:ext cx="10490911" cy="1002284"/>
          </a:xfrm>
          <a:prstGeom prst="rect">
            <a:avLst/>
          </a:prstGeom>
          <a:noFill/>
          <a:ln/>
        </p:spPr>
        <p:txBody>
          <a:bodyPr wrap="square" lIns="0" tIns="0" rIns="0" bIns="0" rtlCol="0" anchor="t"/>
          <a:lstStyle/>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Không chỉ là phần mềm kho, cũng không chỉ là một</a:t>
            </a:r>
            <a:endParaRPr lang="en-US" sz="3100" dirty="0"/>
          </a:p>
          <a:p>
            <a:pPr algn="l" indent="0" marL="0">
              <a:lnSpc>
                <a:spcPts val="3658"/>
              </a:lnSpc>
              <a:buNone/>
            </a:pPr>
            <a:r>
              <a:rPr lang="en-US" sz="3100" b="1" dirty="0">
                <a:solidFill>
                  <a:srgbClr val="FFFFFF"/>
                </a:solidFill>
                <a:latin typeface="Be Vietnam Pro" pitchFamily="34" charset="0"/>
                <a:ea typeface="Be Vietnam Pro" pitchFamily="34" charset="-122"/>
                <a:cs typeface="Be Vietnam Pro" pitchFamily="34" charset="-120"/>
              </a:rPr>
              <a:t>công cụ AI</a:t>
            </a:r>
            <a:endParaRPr lang="en-US" sz="3100" dirty="0"/>
          </a:p>
        </p:txBody>
      </p:sp>
      <p:sp>
        <p:nvSpPr>
          <p:cNvPr id="10" name="Shape 6"/>
          <p:cNvSpPr/>
          <p:nvPr/>
        </p:nvSpPr>
        <p:spPr>
          <a:xfrm>
            <a:off x="713232" y="6272784"/>
            <a:ext cx="10765231" cy="9144"/>
          </a:xfrm>
          <a:prstGeom prst="rect">
            <a:avLst/>
          </a:prstGeom>
          <a:solidFill>
            <a:srgbClr val="FFFFFF">
              <a:alpha val="10000"/>
            </a:srgbClr>
          </a:solidFill>
          <a:ln/>
        </p:spPr>
      </p:sp>
      <p:sp>
        <p:nvSpPr>
          <p:cNvPr id="11" name="Text 7"/>
          <p:cNvSpPr/>
          <p:nvPr/>
        </p:nvSpPr>
        <p:spPr>
          <a:xfrm>
            <a:off x="8643823" y="6382512"/>
            <a:ext cx="2834640" cy="236030"/>
          </a:xfrm>
          <a:prstGeom prst="rect">
            <a:avLst/>
          </a:prstGeom>
          <a:noFill/>
          <a:ln/>
        </p:spPr>
        <p:txBody>
          <a:bodyPr wrap="square" lIns="0" tIns="0" rIns="0" bIns="0" rtlCol="0" anchor="t"/>
          <a:lstStyle/>
          <a:p>
            <a:pPr algn="r" indent="0" marL="0">
              <a:lnSpc>
                <a:spcPts val="1283"/>
              </a:lnSpc>
              <a:buNone/>
            </a:pPr>
            <a:r>
              <a:rPr lang="en-US" sz="950" dirty="0">
                <a:solidFill>
                  <a:srgbClr val="7189A2"/>
                </a:solidFill>
                <a:latin typeface="Be Vietnam Pro" pitchFamily="34" charset="0"/>
                <a:ea typeface="Be Vietnam Pro" pitchFamily="34" charset="-122"/>
                <a:cs typeface="Be Vietnam Pro" pitchFamily="34" charset="-120"/>
              </a:rPr>
              <a:t>ungphonhanh.life</a:t>
            </a:r>
            <a:endParaRPr lang="en-US" sz="950" dirty="0"/>
          </a:p>
        </p:txBody>
      </p:sp>
      <p:sp>
        <p:nvSpPr>
          <p:cNvPr id="12" name="Shape 8"/>
          <p:cNvSpPr/>
          <p:nvPr/>
        </p:nvSpPr>
        <p:spPr>
          <a:xfrm>
            <a:off x="713232" y="2428748"/>
            <a:ext cx="3381146" cy="2194560"/>
          </a:xfrm>
          <a:prstGeom prst="roundRect">
            <a:avLst>
              <a:gd name="adj" fmla="val 5000"/>
            </a:avLst>
          </a:prstGeom>
          <a:solidFill>
            <a:srgbClr val="091B2D">
              <a:alpha val="66000"/>
            </a:srgbClr>
          </a:solidFill>
          <a:ln w="12700">
            <a:solidFill>
              <a:srgbClr val="FFFFFF">
                <a:alpha val="12000"/>
              </a:srgbClr>
            </a:solidFill>
            <a:prstDash val="solid"/>
          </a:ln>
        </p:spPr>
      </p:sp>
      <p:sp>
        <p:nvSpPr>
          <p:cNvPr id="13" name="Shape 9"/>
          <p:cNvSpPr/>
          <p:nvPr/>
        </p:nvSpPr>
        <p:spPr>
          <a:xfrm>
            <a:off x="713232" y="2428748"/>
            <a:ext cx="50292" cy="2194560"/>
          </a:xfrm>
          <a:prstGeom prst="roundRect">
            <a:avLst>
              <a:gd name="adj" fmla="val 54545"/>
            </a:avLst>
          </a:prstGeom>
          <a:solidFill>
            <a:srgbClr val="38BDF8">
              <a:alpha val="95000"/>
            </a:srgbClr>
          </a:solidFill>
          <a:ln/>
        </p:spPr>
      </p:sp>
      <p:sp>
        <p:nvSpPr>
          <p:cNvPr id="14" name="Text 10"/>
          <p:cNvSpPr/>
          <p:nvPr/>
        </p:nvSpPr>
        <p:spPr>
          <a:xfrm>
            <a:off x="1024128" y="2684780"/>
            <a:ext cx="2850794" cy="518922"/>
          </a:xfrm>
          <a:prstGeom prst="rect">
            <a:avLst/>
          </a:prstGeom>
          <a:noFill/>
          <a:ln/>
        </p:spPr>
        <p:txBody>
          <a:bodyPr wrap="square" lIns="0" tIns="0" rIns="0" bIns="0" rtlCol="0" anchor="t"/>
          <a:lstStyle/>
          <a:p>
            <a:pPr algn="l" indent="0" marL="0">
              <a:lnSpc>
                <a:spcPts val="3510"/>
              </a:lnSpc>
              <a:buNone/>
            </a:pPr>
            <a:r>
              <a:rPr lang="en-US" sz="2600" b="1" dirty="0">
                <a:solidFill>
                  <a:srgbClr val="38BDF8"/>
                </a:solidFill>
                <a:latin typeface="Be Vietnam Pro" pitchFamily="34" charset="0"/>
                <a:ea typeface="Be Vietnam Pro" pitchFamily="34" charset="-122"/>
                <a:cs typeface="Be Vietnam Pro" pitchFamily="34" charset="-120"/>
              </a:rPr>
              <a:t>01</a:t>
            </a:r>
            <a:endParaRPr lang="en-US" sz="2600" dirty="0"/>
          </a:p>
        </p:txBody>
      </p:sp>
      <p:sp>
        <p:nvSpPr>
          <p:cNvPr id="15" name="Text 11"/>
          <p:cNvSpPr/>
          <p:nvPr/>
        </p:nvSpPr>
        <p:spPr>
          <a:xfrm>
            <a:off x="1024128" y="3324860"/>
            <a:ext cx="2850794" cy="364617"/>
          </a:xfrm>
          <a:prstGeom prst="rect">
            <a:avLst/>
          </a:prstGeom>
          <a:noFill/>
          <a:ln/>
        </p:spPr>
        <p:txBody>
          <a:bodyPr wrap="square" lIns="0" tIns="0" rIns="0" bIns="0" rtlCol="0" anchor="t"/>
          <a:lstStyle/>
          <a:p>
            <a:pPr algn="l" indent="0" marL="0">
              <a:lnSpc>
                <a:spcPts val="2295"/>
              </a:lnSpc>
              <a:buNone/>
            </a:pPr>
            <a:r>
              <a:rPr lang="en-US" sz="1700" b="1" dirty="0">
                <a:solidFill>
                  <a:srgbClr val="FFFFFF"/>
                </a:solidFill>
                <a:latin typeface="Be Vietnam Pro" pitchFamily="34" charset="0"/>
                <a:ea typeface="Be Vietnam Pro" pitchFamily="34" charset="-122"/>
                <a:cs typeface="Be Vietnam Pro" pitchFamily="34" charset="-120"/>
              </a:rPr>
              <a:t>Điều phối nguồn lực</a:t>
            </a:r>
            <a:endParaRPr lang="en-US" sz="1700" dirty="0"/>
          </a:p>
        </p:txBody>
      </p:sp>
      <p:sp>
        <p:nvSpPr>
          <p:cNvPr id="16" name="Text 12"/>
          <p:cNvSpPr/>
          <p:nvPr/>
        </p:nvSpPr>
        <p:spPr>
          <a:xfrm>
            <a:off x="1024128" y="3763772"/>
            <a:ext cx="2850794" cy="533527"/>
          </a:xfrm>
          <a:prstGeom prst="rect">
            <a:avLst/>
          </a:prstGeom>
          <a:noFill/>
          <a:ln/>
        </p:spPr>
        <p:txBody>
          <a:bodyPr wrap="square" lIns="0" tIns="0" rIns="0" bIns="0" rtlCol="0" anchor="t"/>
          <a:lstStyle/>
          <a:p>
            <a:pPr algn="l" indent="0" marL="0">
              <a:lnSpc>
                <a:spcPts val="1813"/>
              </a:lnSpc>
              <a:buNone/>
            </a:pPr>
            <a:r>
              <a:rPr lang="en-US" sz="1250" dirty="0">
                <a:solidFill>
                  <a:srgbClr val="D9E6F2"/>
                </a:solidFill>
                <a:latin typeface="Be Vietnam Pro" pitchFamily="34" charset="0"/>
                <a:ea typeface="Be Vietnam Pro" pitchFamily="34" charset="-122"/>
                <a:cs typeface="Be Vietnam Pro" pitchFamily="34" charset="-120"/>
              </a:rPr>
              <a:t>Vật tư đi từ đúng kho, đến đúng nơi,</a:t>
            </a:r>
            <a:endParaRPr lang="en-US" sz="1250" dirty="0"/>
          </a:p>
          <a:p>
            <a:pPr algn="l" indent="0" marL="0">
              <a:lnSpc>
                <a:spcPts val="1813"/>
              </a:lnSpc>
              <a:buNone/>
            </a:pPr>
            <a:r>
              <a:rPr lang="en-US" sz="1250" dirty="0">
                <a:solidFill>
                  <a:srgbClr val="D9E6F2"/>
                </a:solidFill>
                <a:latin typeface="Be Vietnam Pro" pitchFamily="34" charset="0"/>
                <a:ea typeface="Be Vietnam Pro" pitchFamily="34" charset="-122"/>
                <a:cs typeface="Be Vietnam Pro" pitchFamily="34" charset="-120"/>
              </a:rPr>
              <a:t>trong thời gian ngắn nhất.</a:t>
            </a:r>
            <a:endParaRPr lang="en-US" sz="1250" dirty="0"/>
          </a:p>
        </p:txBody>
      </p:sp>
      <p:sp>
        <p:nvSpPr>
          <p:cNvPr id="17" name="Shape 13"/>
          <p:cNvSpPr/>
          <p:nvPr/>
        </p:nvSpPr>
        <p:spPr>
          <a:xfrm>
            <a:off x="4405274" y="2428748"/>
            <a:ext cx="3381146" cy="2194560"/>
          </a:xfrm>
          <a:prstGeom prst="roundRect">
            <a:avLst>
              <a:gd name="adj" fmla="val 5000"/>
            </a:avLst>
          </a:prstGeom>
          <a:solidFill>
            <a:srgbClr val="091B2D">
              <a:alpha val="66000"/>
            </a:srgbClr>
          </a:solidFill>
          <a:ln w="12700">
            <a:solidFill>
              <a:srgbClr val="FFFFFF">
                <a:alpha val="12000"/>
              </a:srgbClr>
            </a:solidFill>
            <a:prstDash val="solid"/>
          </a:ln>
        </p:spPr>
      </p:sp>
      <p:sp>
        <p:nvSpPr>
          <p:cNvPr id="18" name="Shape 14"/>
          <p:cNvSpPr/>
          <p:nvPr/>
        </p:nvSpPr>
        <p:spPr>
          <a:xfrm>
            <a:off x="4405274" y="2428748"/>
            <a:ext cx="50292" cy="2194560"/>
          </a:xfrm>
          <a:prstGeom prst="roundRect">
            <a:avLst>
              <a:gd name="adj" fmla="val 54545"/>
            </a:avLst>
          </a:prstGeom>
          <a:solidFill>
            <a:srgbClr val="22C55E">
              <a:alpha val="95000"/>
            </a:srgbClr>
          </a:solidFill>
          <a:ln/>
        </p:spPr>
      </p:sp>
      <p:sp>
        <p:nvSpPr>
          <p:cNvPr id="19" name="Text 15"/>
          <p:cNvSpPr/>
          <p:nvPr/>
        </p:nvSpPr>
        <p:spPr>
          <a:xfrm>
            <a:off x="4716170" y="2684780"/>
            <a:ext cx="2850794" cy="518922"/>
          </a:xfrm>
          <a:prstGeom prst="rect">
            <a:avLst/>
          </a:prstGeom>
          <a:noFill/>
          <a:ln/>
        </p:spPr>
        <p:txBody>
          <a:bodyPr wrap="square" lIns="0" tIns="0" rIns="0" bIns="0" rtlCol="0" anchor="t"/>
          <a:lstStyle/>
          <a:p>
            <a:pPr algn="l" indent="0" marL="0">
              <a:lnSpc>
                <a:spcPts val="3510"/>
              </a:lnSpc>
              <a:buNone/>
            </a:pPr>
            <a:r>
              <a:rPr lang="en-US" sz="2600" b="1" dirty="0">
                <a:solidFill>
                  <a:srgbClr val="22C55E"/>
                </a:solidFill>
                <a:latin typeface="Be Vietnam Pro" pitchFamily="34" charset="0"/>
                <a:ea typeface="Be Vietnam Pro" pitchFamily="34" charset="-122"/>
                <a:cs typeface="Be Vietnam Pro" pitchFamily="34" charset="-120"/>
              </a:rPr>
              <a:t>02</a:t>
            </a:r>
            <a:endParaRPr lang="en-US" sz="2600" dirty="0"/>
          </a:p>
        </p:txBody>
      </p:sp>
      <p:sp>
        <p:nvSpPr>
          <p:cNvPr id="20" name="Text 16"/>
          <p:cNvSpPr/>
          <p:nvPr/>
        </p:nvSpPr>
        <p:spPr>
          <a:xfrm>
            <a:off x="4716170" y="3324860"/>
            <a:ext cx="2850794" cy="364617"/>
          </a:xfrm>
          <a:prstGeom prst="rect">
            <a:avLst/>
          </a:prstGeom>
          <a:noFill/>
          <a:ln/>
        </p:spPr>
        <p:txBody>
          <a:bodyPr wrap="square" lIns="0" tIns="0" rIns="0" bIns="0" rtlCol="0" anchor="t"/>
          <a:lstStyle/>
          <a:p>
            <a:pPr algn="l" indent="0" marL="0">
              <a:lnSpc>
                <a:spcPts val="2295"/>
              </a:lnSpc>
              <a:buNone/>
            </a:pPr>
            <a:r>
              <a:rPr lang="en-US" sz="1700" b="1" dirty="0">
                <a:solidFill>
                  <a:srgbClr val="FFFFFF"/>
                </a:solidFill>
                <a:latin typeface="Be Vietnam Pro" pitchFamily="34" charset="0"/>
                <a:ea typeface="Be Vietnam Pro" pitchFamily="34" charset="-122"/>
                <a:cs typeface="Be Vietnam Pro" pitchFamily="34" charset="-120"/>
              </a:rPr>
              <a:t>Hỗ trợ ra quyết định</a:t>
            </a:r>
            <a:endParaRPr lang="en-US" sz="1700" dirty="0"/>
          </a:p>
        </p:txBody>
      </p:sp>
      <p:sp>
        <p:nvSpPr>
          <p:cNvPr id="21" name="Text 17"/>
          <p:cNvSpPr/>
          <p:nvPr/>
        </p:nvSpPr>
        <p:spPr>
          <a:xfrm>
            <a:off x="4716170" y="3763772"/>
            <a:ext cx="2850794" cy="763714"/>
          </a:xfrm>
          <a:prstGeom prst="rect">
            <a:avLst/>
          </a:prstGeom>
          <a:noFill/>
          <a:ln/>
        </p:spPr>
        <p:txBody>
          <a:bodyPr wrap="square" lIns="0" tIns="0" rIns="0" bIns="0" rtlCol="0" anchor="t"/>
          <a:lstStyle/>
          <a:p>
            <a:pPr algn="l" indent="0" marL="0">
              <a:lnSpc>
                <a:spcPts val="1813"/>
              </a:lnSpc>
              <a:buNone/>
            </a:pPr>
            <a:r>
              <a:rPr lang="en-US" sz="1250" dirty="0">
                <a:solidFill>
                  <a:srgbClr val="D9E6F2"/>
                </a:solidFill>
                <a:latin typeface="Be Vietnam Pro" pitchFamily="34" charset="0"/>
                <a:ea typeface="Be Vietnam Pro" pitchFamily="34" charset="-122"/>
                <a:cs typeface="Be Vietnam Pro" pitchFamily="34" charset="-120"/>
              </a:rPr>
              <a:t>AI phân tích và tham mưu, con</a:t>
            </a:r>
            <a:endParaRPr lang="en-US" sz="1250" dirty="0"/>
          </a:p>
          <a:p>
            <a:pPr algn="l" indent="0" marL="0">
              <a:lnSpc>
                <a:spcPts val="1813"/>
              </a:lnSpc>
              <a:buNone/>
            </a:pPr>
            <a:r>
              <a:rPr lang="en-US" sz="1250" dirty="0">
                <a:solidFill>
                  <a:srgbClr val="D9E6F2"/>
                </a:solidFill>
                <a:latin typeface="Be Vietnam Pro" pitchFamily="34" charset="0"/>
                <a:ea typeface="Be Vietnam Pro" pitchFamily="34" charset="-122"/>
                <a:cs typeface="Be Vietnam Pro" pitchFamily="34" charset="-120"/>
              </a:rPr>
              <a:t>người giữ quyền quyết định cuối</a:t>
            </a:r>
            <a:endParaRPr lang="en-US" sz="1250" dirty="0"/>
          </a:p>
          <a:p>
            <a:pPr algn="l" indent="0" marL="0">
              <a:lnSpc>
                <a:spcPts val="1813"/>
              </a:lnSpc>
              <a:buNone/>
            </a:pPr>
            <a:r>
              <a:rPr lang="en-US" sz="1250" dirty="0">
                <a:solidFill>
                  <a:srgbClr val="D9E6F2"/>
                </a:solidFill>
                <a:latin typeface="Be Vietnam Pro" pitchFamily="34" charset="0"/>
                <a:ea typeface="Be Vietnam Pro" pitchFamily="34" charset="-122"/>
                <a:cs typeface="Be Vietnam Pro" pitchFamily="34" charset="-120"/>
              </a:rPr>
              <a:t>cùng.</a:t>
            </a:r>
            <a:endParaRPr lang="en-US" sz="1250" dirty="0"/>
          </a:p>
        </p:txBody>
      </p:sp>
      <p:sp>
        <p:nvSpPr>
          <p:cNvPr id="22" name="Shape 18"/>
          <p:cNvSpPr/>
          <p:nvPr/>
        </p:nvSpPr>
        <p:spPr>
          <a:xfrm>
            <a:off x="8097317" y="2428748"/>
            <a:ext cx="3381146" cy="2194560"/>
          </a:xfrm>
          <a:prstGeom prst="roundRect">
            <a:avLst>
              <a:gd name="adj" fmla="val 5000"/>
            </a:avLst>
          </a:prstGeom>
          <a:solidFill>
            <a:srgbClr val="091B2D">
              <a:alpha val="66000"/>
            </a:srgbClr>
          </a:solidFill>
          <a:ln w="12700">
            <a:solidFill>
              <a:srgbClr val="FFFFFF">
                <a:alpha val="12000"/>
              </a:srgbClr>
            </a:solidFill>
            <a:prstDash val="solid"/>
          </a:ln>
        </p:spPr>
      </p:sp>
      <p:sp>
        <p:nvSpPr>
          <p:cNvPr id="23" name="Shape 19"/>
          <p:cNvSpPr/>
          <p:nvPr/>
        </p:nvSpPr>
        <p:spPr>
          <a:xfrm>
            <a:off x="8097317" y="2428748"/>
            <a:ext cx="50292" cy="2194560"/>
          </a:xfrm>
          <a:prstGeom prst="roundRect">
            <a:avLst>
              <a:gd name="adj" fmla="val 54545"/>
            </a:avLst>
          </a:prstGeom>
          <a:solidFill>
            <a:srgbClr val="FBBF24">
              <a:alpha val="95000"/>
            </a:srgbClr>
          </a:solidFill>
          <a:ln/>
        </p:spPr>
      </p:sp>
      <p:sp>
        <p:nvSpPr>
          <p:cNvPr id="24" name="Text 20"/>
          <p:cNvSpPr/>
          <p:nvPr/>
        </p:nvSpPr>
        <p:spPr>
          <a:xfrm>
            <a:off x="8408213" y="2684780"/>
            <a:ext cx="2850794" cy="518922"/>
          </a:xfrm>
          <a:prstGeom prst="rect">
            <a:avLst/>
          </a:prstGeom>
          <a:noFill/>
          <a:ln/>
        </p:spPr>
        <p:txBody>
          <a:bodyPr wrap="square" lIns="0" tIns="0" rIns="0" bIns="0" rtlCol="0" anchor="t"/>
          <a:lstStyle/>
          <a:p>
            <a:pPr algn="l" indent="0" marL="0">
              <a:lnSpc>
                <a:spcPts val="3510"/>
              </a:lnSpc>
              <a:buNone/>
            </a:pPr>
            <a:r>
              <a:rPr lang="en-US" sz="2600" b="1" dirty="0">
                <a:solidFill>
                  <a:srgbClr val="FBBF24"/>
                </a:solidFill>
                <a:latin typeface="Be Vietnam Pro" pitchFamily="34" charset="0"/>
                <a:ea typeface="Be Vietnam Pro" pitchFamily="34" charset="-122"/>
                <a:cs typeface="Be Vietnam Pro" pitchFamily="34" charset="-120"/>
              </a:rPr>
              <a:t>03</a:t>
            </a:r>
            <a:endParaRPr lang="en-US" sz="2600" dirty="0"/>
          </a:p>
        </p:txBody>
      </p:sp>
      <p:sp>
        <p:nvSpPr>
          <p:cNvPr id="25" name="Text 21"/>
          <p:cNvSpPr/>
          <p:nvPr/>
        </p:nvSpPr>
        <p:spPr>
          <a:xfrm>
            <a:off x="8408213" y="3324860"/>
            <a:ext cx="2850794" cy="364617"/>
          </a:xfrm>
          <a:prstGeom prst="rect">
            <a:avLst/>
          </a:prstGeom>
          <a:noFill/>
          <a:ln/>
        </p:spPr>
        <p:txBody>
          <a:bodyPr wrap="square" lIns="0" tIns="0" rIns="0" bIns="0" rtlCol="0" anchor="t"/>
          <a:lstStyle/>
          <a:p>
            <a:pPr algn="l" indent="0" marL="0">
              <a:lnSpc>
                <a:spcPts val="2295"/>
              </a:lnSpc>
              <a:buNone/>
            </a:pPr>
            <a:r>
              <a:rPr lang="en-US" sz="1700" b="1" dirty="0">
                <a:solidFill>
                  <a:srgbClr val="FFFFFF"/>
                </a:solidFill>
                <a:latin typeface="Be Vietnam Pro" pitchFamily="34" charset="0"/>
                <a:ea typeface="Be Vietnam Pro" pitchFamily="34" charset="-122"/>
                <a:cs typeface="Be Vietnam Pro" pitchFamily="34" charset="-120"/>
              </a:rPr>
              <a:t>Quản lý kho thông minh</a:t>
            </a:r>
            <a:endParaRPr lang="en-US" sz="1700" dirty="0"/>
          </a:p>
        </p:txBody>
      </p:sp>
      <p:sp>
        <p:nvSpPr>
          <p:cNvPr id="26" name="Text 22"/>
          <p:cNvSpPr/>
          <p:nvPr/>
        </p:nvSpPr>
        <p:spPr>
          <a:xfrm>
            <a:off x="8408213" y="3763772"/>
            <a:ext cx="2850794" cy="533527"/>
          </a:xfrm>
          <a:prstGeom prst="rect">
            <a:avLst/>
          </a:prstGeom>
          <a:noFill/>
          <a:ln/>
        </p:spPr>
        <p:txBody>
          <a:bodyPr wrap="square" lIns="0" tIns="0" rIns="0" bIns="0" rtlCol="0" anchor="t"/>
          <a:lstStyle/>
          <a:p>
            <a:pPr algn="l" indent="0" marL="0">
              <a:lnSpc>
                <a:spcPts val="1813"/>
              </a:lnSpc>
              <a:buNone/>
            </a:pPr>
            <a:r>
              <a:rPr lang="en-US" sz="1250" dirty="0">
                <a:solidFill>
                  <a:srgbClr val="D9E6F2"/>
                </a:solidFill>
                <a:latin typeface="Be Vietnam Pro" pitchFamily="34" charset="0"/>
                <a:ea typeface="Be Vietnam Pro" pitchFamily="34" charset="-122"/>
                <a:cs typeface="Be Vietnam Pro" pitchFamily="34" charset="-120"/>
              </a:rPr>
              <a:t>AI theo dõi hàng ngày, dự báo nhu</a:t>
            </a:r>
            <a:endParaRPr lang="en-US" sz="1250" dirty="0"/>
          </a:p>
          <a:p>
            <a:pPr algn="l" indent="0" marL="0">
              <a:lnSpc>
                <a:spcPts val="1813"/>
              </a:lnSpc>
              <a:buNone/>
            </a:pPr>
            <a:r>
              <a:rPr lang="en-US" sz="1250" dirty="0">
                <a:solidFill>
                  <a:srgbClr val="D9E6F2"/>
                </a:solidFill>
                <a:latin typeface="Be Vietnam Pro" pitchFamily="34" charset="0"/>
                <a:ea typeface="Be Vietnam Pro" pitchFamily="34" charset="-122"/>
                <a:cs typeface="Be Vietnam Pro" pitchFamily="34" charset="-120"/>
              </a:rPr>
              <a:t>cầu và cảnh báo kịp thời.</a:t>
            </a:r>
            <a:endParaRPr lang="en-US" sz="1250" dirty="0"/>
          </a:p>
        </p:txBody>
      </p:sp>
      <p:sp>
        <p:nvSpPr>
          <p:cNvPr id="27" name="Shape 23"/>
          <p:cNvSpPr/>
          <p:nvPr/>
        </p:nvSpPr>
        <p:spPr>
          <a:xfrm>
            <a:off x="713232" y="4970780"/>
            <a:ext cx="10765231" cy="896112"/>
          </a:xfrm>
          <a:prstGeom prst="roundRect">
            <a:avLst>
              <a:gd name="adj" fmla="val 12245"/>
            </a:avLst>
          </a:prstGeom>
          <a:solidFill>
            <a:srgbClr val="FFFFFF">
              <a:alpha val="7000"/>
            </a:srgbClr>
          </a:solidFill>
          <a:ln w="12700">
            <a:solidFill>
              <a:srgbClr val="FFFFFF">
                <a:alpha val="16000"/>
              </a:srgbClr>
            </a:solidFill>
            <a:prstDash val="solid"/>
          </a:ln>
        </p:spPr>
      </p:sp>
      <p:sp>
        <p:nvSpPr>
          <p:cNvPr id="28" name="Text 24"/>
          <p:cNvSpPr/>
          <p:nvPr/>
        </p:nvSpPr>
        <p:spPr>
          <a:xfrm>
            <a:off x="1078992" y="5190236"/>
            <a:ext cx="10125151" cy="357632"/>
          </a:xfrm>
          <a:prstGeom prst="rect">
            <a:avLst/>
          </a:prstGeom>
          <a:noFill/>
          <a:ln/>
        </p:spPr>
        <p:txBody>
          <a:bodyPr wrap="square" lIns="0" tIns="0" rIns="0" bIns="0" rtlCol="0" anchor="t"/>
          <a:lstStyle/>
          <a:p>
            <a:pPr algn="l" indent="0" marL="0">
              <a:lnSpc>
                <a:spcPts val="2240"/>
              </a:lnSpc>
              <a:buNone/>
            </a:pPr>
            <a:r>
              <a:rPr lang="en-US" sz="1600" b="1" dirty="0">
                <a:solidFill>
                  <a:srgbClr val="FFFFFF"/>
                </a:solidFill>
                <a:latin typeface="Be Vietnam Pro" pitchFamily="34" charset="0"/>
                <a:ea typeface="Be Vietnam Pro" pitchFamily="34" charset="-122"/>
                <a:cs typeface="Be Vietnam Pro" pitchFamily="34" charset="-120"/>
              </a:rPr>
              <a:t>Để công nghệ chia sẻ một phần áp lực với những con người đang trực tiếp đứng ở tuyến đầu.</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4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4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44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44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44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fill="hold" grpId="0" nodeType="withEffect">
                                  <p:stCondLst>
                                    <p:cond delay="66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66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88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88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88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88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88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withEffect">
                                  <p:stCondLst>
                                    <p:cond delay="110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110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4101F"/>
        </a:solidFill>
      </p:bgPr>
    </p:bg>
    <p:spTree>
      <p:nvGrpSpPr>
        <p:cNvPr id="1" name=""/>
        <p:cNvGrpSpPr/>
        <p:nvPr/>
      </p:nvGrpSpPr>
      <p:grpSpPr>
        <a:xfrm>
          <a:off x="0" y="0"/>
          <a:ext cx="0" cy="0"/>
          <a:chOff x="0" y="0"/>
          <a:chExt cx="0" cy="0"/>
        </a:xfrm>
      </p:grpSpPr>
      <p:pic>
        <p:nvPicPr>
          <p:cNvPr id="2" name="Image 0" descr="bg-closing.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scrim-bottom.png">    </p:cNvPr>
          <p:cNvPicPr>
            <a:picLocks noChangeAspect="1"/>
          </p:cNvPicPr>
          <p:nvPr/>
        </p:nvPicPr>
        <p:blipFill>
          <a:blip r:embed="rId2"/>
          <a:stretch>
            <a:fillRect/>
          </a:stretch>
        </p:blipFill>
        <p:spPr>
          <a:xfrm>
            <a:off x="0" y="0"/>
            <a:ext cx="12191695" cy="6858000"/>
          </a:xfrm>
          <a:prstGeom prst="rect">
            <a:avLst/>
          </a:prstGeom>
        </p:spPr>
      </p:pic>
      <p:sp>
        <p:nvSpPr>
          <p:cNvPr id="4" name="Shape 0"/>
          <p:cNvSpPr/>
          <p:nvPr/>
        </p:nvSpPr>
        <p:spPr>
          <a:xfrm>
            <a:off x="0" y="0"/>
            <a:ext cx="12191695" cy="6858000"/>
          </a:xfrm>
          <a:prstGeom prst="rect">
            <a:avLst/>
          </a:prstGeom>
          <a:solidFill>
            <a:srgbClr val="04101F">
              <a:alpha val="50000"/>
            </a:srgbClr>
          </a:solidFill>
          <a:ln/>
        </p:spPr>
      </p:sp>
      <p:pic>
        <p:nvPicPr>
          <p:cNvPr id="5" name="Image 2" descr="mark-sm.png">    </p:cNvPr>
          <p:cNvPicPr>
            <a:picLocks noChangeAspect="1"/>
          </p:cNvPicPr>
          <p:nvPr/>
        </p:nvPicPr>
        <p:blipFill>
          <a:blip r:embed="rId3"/>
          <a:stretch>
            <a:fillRect/>
          </a:stretch>
        </p:blipFill>
        <p:spPr>
          <a:xfrm>
            <a:off x="5784952" y="749808"/>
            <a:ext cx="621792" cy="621792"/>
          </a:xfrm>
          <a:prstGeom prst="rect">
            <a:avLst/>
          </a:prstGeom>
        </p:spPr>
      </p:pic>
      <p:sp>
        <p:nvSpPr>
          <p:cNvPr id="6" name="Text 1"/>
          <p:cNvSpPr/>
          <p:nvPr/>
        </p:nvSpPr>
        <p:spPr>
          <a:xfrm>
            <a:off x="1417320" y="1645920"/>
            <a:ext cx="9357055" cy="287465"/>
          </a:xfrm>
          <a:prstGeom prst="rect">
            <a:avLst/>
          </a:prstGeom>
          <a:noFill/>
          <a:ln/>
        </p:spPr>
        <p:txBody>
          <a:bodyPr wrap="square" lIns="0" tIns="0" rIns="0" bIns="0" rtlCol="0" anchor="t"/>
          <a:lstStyle/>
          <a:p>
            <a:pPr algn="ctr" indent="0" marL="0">
              <a:lnSpc>
                <a:spcPts val="1688"/>
              </a:lnSpc>
              <a:buNone/>
            </a:pPr>
            <a:r>
              <a:rPr lang="en-US" sz="1250" b="1" spc="240" kern="0" dirty="0">
                <a:solidFill>
                  <a:srgbClr val="6EE7A8"/>
                </a:solidFill>
                <a:latin typeface="Be Vietnam Pro" pitchFamily="34" charset="0"/>
                <a:ea typeface="Be Vietnam Pro" pitchFamily="34" charset="-122"/>
                <a:cs typeface="Be Vietnam Pro" pitchFamily="34" charset="-120"/>
              </a:rPr>
              <a:t>CHUẨN BỊ TỐT HƠN · PHỐI HỢP NHANH HƠN · ỨNG PHÓ HIỆU QUẢ HƠN</a:t>
            </a:r>
            <a:endParaRPr lang="en-US" sz="1250" dirty="0"/>
          </a:p>
        </p:txBody>
      </p:sp>
      <p:sp>
        <p:nvSpPr>
          <p:cNvPr id="7" name="Text 2"/>
          <p:cNvSpPr/>
          <p:nvPr/>
        </p:nvSpPr>
        <p:spPr>
          <a:xfrm>
            <a:off x="1188720" y="2130552"/>
            <a:ext cx="9814255" cy="1559052"/>
          </a:xfrm>
          <a:prstGeom prst="rect">
            <a:avLst/>
          </a:prstGeom>
          <a:noFill/>
          <a:ln/>
        </p:spPr>
        <p:txBody>
          <a:bodyPr wrap="square" lIns="0" tIns="0" rIns="0" bIns="0" rtlCol="0" anchor="t"/>
          <a:lstStyle/>
          <a:p>
            <a:pPr algn="ctr" indent="0" marL="0">
              <a:lnSpc>
                <a:spcPts val="3900"/>
              </a:lnSpc>
              <a:buNone/>
            </a:pPr>
            <a:r>
              <a:rPr lang="en-US" sz="3000" b="1" dirty="0">
                <a:solidFill>
                  <a:srgbClr val="FFFFFF"/>
                </a:solidFill>
                <a:latin typeface="Be Vietnam Pro" pitchFamily="34" charset="0"/>
                <a:ea typeface="Be Vietnam Pro" pitchFamily="34" charset="-122"/>
                <a:cs typeface="Be Vietnam Pro" pitchFamily="34" charset="-120"/>
              </a:rPr>
              <a:t>Chúng ta có thể không kiểm soát được khi nào</a:t>
            </a:r>
            <a:endParaRPr lang="en-US" sz="3000" dirty="0"/>
          </a:p>
          <a:p>
            <a:pPr algn="ctr" indent="0" marL="0">
              <a:lnSpc>
                <a:spcPts val="3900"/>
              </a:lnSpc>
              <a:buNone/>
            </a:pPr>
            <a:r>
              <a:rPr lang="en-US" sz="3000" b="1" dirty="0">
                <a:solidFill>
                  <a:srgbClr val="FFFFFF"/>
                </a:solidFill>
                <a:latin typeface="Be Vietnam Pro" pitchFamily="34" charset="0"/>
                <a:ea typeface="Be Vietnam Pro" pitchFamily="34" charset="-122"/>
                <a:cs typeface="Be Vietnam Pro" pitchFamily="34" charset="-120"/>
              </a:rPr>
              <a:t>thiên tai xảy ra, nhưng có thể chuẩn bị tốt hơn khi</a:t>
            </a:r>
            <a:endParaRPr lang="en-US" sz="3000" dirty="0"/>
          </a:p>
          <a:p>
            <a:pPr algn="ctr" indent="0" marL="0">
              <a:lnSpc>
                <a:spcPts val="3900"/>
              </a:lnSpc>
              <a:buNone/>
            </a:pPr>
            <a:r>
              <a:rPr lang="en-US" sz="3000" b="1" dirty="0">
                <a:solidFill>
                  <a:srgbClr val="FFFFFF"/>
                </a:solidFill>
                <a:latin typeface="Be Vietnam Pro" pitchFamily="34" charset="0"/>
                <a:ea typeface="Be Vietnam Pro" pitchFamily="34" charset="-122"/>
                <a:cs typeface="Be Vietnam Pro" pitchFamily="34" charset="-120"/>
              </a:rPr>
              <a:t>thiên tai thực sự ập đến.</a:t>
            </a:r>
            <a:endParaRPr lang="en-US" sz="3000" dirty="0"/>
          </a:p>
        </p:txBody>
      </p:sp>
      <p:sp>
        <p:nvSpPr>
          <p:cNvPr id="8" name="Shape 3"/>
          <p:cNvSpPr/>
          <p:nvPr/>
        </p:nvSpPr>
        <p:spPr>
          <a:xfrm>
            <a:off x="5410048" y="3950208"/>
            <a:ext cx="1371600" cy="68580"/>
          </a:xfrm>
          <a:prstGeom prst="roundRect">
            <a:avLst>
              <a:gd name="adj" fmla="val 49333"/>
            </a:avLst>
          </a:prstGeom>
          <a:solidFill>
            <a:srgbClr val="22C55E"/>
          </a:solidFill>
          <a:ln/>
        </p:spPr>
      </p:sp>
      <p:sp>
        <p:nvSpPr>
          <p:cNvPr id="9" name="Text 4"/>
          <p:cNvSpPr/>
          <p:nvPr/>
        </p:nvSpPr>
        <p:spPr>
          <a:xfrm>
            <a:off x="1965960" y="4261104"/>
            <a:ext cx="8259775" cy="347472"/>
          </a:xfrm>
          <a:prstGeom prst="rect">
            <a:avLst/>
          </a:prstGeom>
          <a:noFill/>
          <a:ln/>
        </p:spPr>
        <p:txBody>
          <a:bodyPr wrap="square" lIns="0" tIns="0" rIns="0" bIns="0" rtlCol="0" anchor="t"/>
          <a:lstStyle/>
          <a:p>
            <a:pPr algn="ctr" indent="0" marL="0">
              <a:lnSpc>
                <a:spcPts val="2160"/>
              </a:lnSpc>
              <a:buNone/>
            </a:pPr>
            <a:r>
              <a:rPr lang="en-US" sz="1600" dirty="0">
                <a:solidFill>
                  <a:srgbClr val="D9E6F2"/>
                </a:solidFill>
                <a:latin typeface="Be Vietnam Pro" pitchFamily="34" charset="0"/>
                <a:ea typeface="Be Vietnam Pro" pitchFamily="34" charset="-122"/>
                <a:cs typeface="Be Vietnam Pro" pitchFamily="34" charset="-120"/>
              </a:rPr>
              <a:t>Phần trình bày tiếp theo: Hệ thống Ứng Phó Nhanh</a:t>
            </a:r>
            <a:endParaRPr lang="en-US" sz="1600" dirty="0"/>
          </a:p>
        </p:txBody>
      </p:sp>
      <p:sp>
        <p:nvSpPr>
          <p:cNvPr id="10" name="Text 5"/>
          <p:cNvSpPr/>
          <p:nvPr/>
        </p:nvSpPr>
        <p:spPr>
          <a:xfrm>
            <a:off x="1965960" y="5010912"/>
            <a:ext cx="8259775" cy="313182"/>
          </a:xfrm>
          <a:prstGeom prst="rect">
            <a:avLst/>
          </a:prstGeom>
          <a:noFill/>
          <a:ln/>
        </p:spPr>
        <p:txBody>
          <a:bodyPr wrap="square" lIns="0" tIns="0" rIns="0" bIns="0" rtlCol="0" anchor="t"/>
          <a:lstStyle/>
          <a:p>
            <a:pPr algn="ctr" indent="0" marL="0">
              <a:lnSpc>
                <a:spcPts val="1890"/>
              </a:lnSpc>
              <a:buNone/>
            </a:pPr>
            <a:r>
              <a:rPr lang="en-US" sz="1400" b="1" dirty="0">
                <a:solidFill>
                  <a:srgbClr val="FFFFFF"/>
                </a:solidFill>
                <a:latin typeface="Be Vietnam Pro" pitchFamily="34" charset="0"/>
                <a:ea typeface="Be Vietnam Pro" pitchFamily="34" charset="-122"/>
                <a:cs typeface="Be Vietnam Pro" pitchFamily="34" charset="-120"/>
              </a:rPr>
              <a:t>Trân trọng cảm ơn Ban Lãnh đạo, Ban Tổ chức và Ban Giám khảo</a:t>
            </a:r>
            <a:endParaRPr lang="en-US" sz="1400" dirty="0"/>
          </a:p>
        </p:txBody>
      </p:sp>
      <p:sp>
        <p:nvSpPr>
          <p:cNvPr id="11" name="Text 6"/>
          <p:cNvSpPr/>
          <p:nvPr/>
        </p:nvSpPr>
        <p:spPr>
          <a:xfrm>
            <a:off x="1965960" y="5925312"/>
            <a:ext cx="8259775" cy="278892"/>
          </a:xfrm>
          <a:prstGeom prst="rect">
            <a:avLst/>
          </a:prstGeom>
          <a:noFill/>
          <a:ln/>
        </p:spPr>
        <p:txBody>
          <a:bodyPr wrap="square" lIns="0" tIns="0" rIns="0" bIns="0" rtlCol="0" anchor="t"/>
          <a:lstStyle/>
          <a:p>
            <a:pPr algn="ctr" indent="0" marL="0">
              <a:lnSpc>
                <a:spcPts val="1620"/>
              </a:lnSpc>
              <a:buNone/>
            </a:pPr>
            <a:r>
              <a:rPr lang="en-US" sz="1200" dirty="0">
                <a:solidFill>
                  <a:srgbClr val="9BB0C6"/>
                </a:solidFill>
                <a:latin typeface="Be Vietnam Pro" pitchFamily="34" charset="0"/>
                <a:ea typeface="Be Vietnam Pro" pitchFamily="34" charset="-122"/>
                <a:cs typeface="Be Vietnam Pro" pitchFamily="34" charset="-120"/>
              </a:rPr>
              <a:t>ungphonhanh.life</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22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22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22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Ứng Phó Nhanh — Giải pháp cứu hộ, cứu nạn và hậu cần thông minh</dc:title>
  <dc:subject>PptxGenJS Presentation</dc:subject>
  <dc:creator>Nhóm Ứng Phó Nhanh</dc:creator>
  <cp:lastModifiedBy>Nhóm Ứng Phó Nhanh</cp:lastModifiedBy>
  <cp:revision>1</cp:revision>
  <dcterms:created xsi:type="dcterms:W3CDTF">2026-09-13T13:44:12Z</dcterms:created>
  <dcterms:modified xsi:type="dcterms:W3CDTF">2026-09-13T13:44:12Z</dcterms:modified>
</cp:coreProperties>
</file>