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33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94055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quý Ban Lãnh đạo, Ban Tổ chức và Ban Giám khảo. Nhóm chúng em xin trình bày dự án Ứng Phó Nhanh - Giải pháp cứu hộ, cứu nạn và hậu cần thông minh.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Chúng em sinh ra và lớn lên tại vùng đất năm nào cũng chịu ảnh hưởng của bão lũ. Trong nhóm có thành viên là chiến sĩ Công an nhân dân, đã trực tiếp tham gia cứu hộ trong đợt bão lũ lịch sử năm 2025.</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2025 là dấu mốc trực tiếp thúc đẩy nhóm em bắt tay vào làm. Đợt mưa lũ giữa tháng 11, mưa phổ biến bốn trăm đến sáu trăm mi-li-mét, có nơi trên tám trăm. Lũ trên sông Ba và sông Kỳ Lộ vượt các đỉnh lũ lịch sử. Tính đến ngày hai mươi tháng mười một, toàn tỉnh có mười chín người chết, sáu người mất tích, hơn tám mươi lăm nghìn bảy trăm lượt nhà bị ngập, hơn mười hai nghìn tám trăm hộ bị cô lập. Bốn mươi xã phường phải công bố tình huống khẩn cấp, trong đó có xã Đồng Xuân quê em. Tổng thiệt hại vượt chín nghìn bảy trăm ba mươi tỷ đồng. Đoạn này nói chậm, để con số tự nói.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hiện trường thật ở quê chúng em trong đợt lũ tháng mười một. Nói ngắn, để ảnh tự kể. Nếu chưa kịp có ảnh thì bỏ hẳn slide này thay vì để khung trống.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quyết định vẫn phải đưa ra nhanh chóng: Cần vật tư gì? Lấy ở đâu? Kho nào còn đủ? Và làm sao để tất cả các bộ phận cùng nhận được thông tin nhanh chóng, chính xác?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Trưởng thôn báo tình huống, người điều phối dùng AI lập phương án. Ngay khi phương án được duyệt, bộ phận kho và đội cứu hộ nhận thông tin cùng một lúc chứ không truyền tin nối tiếp qua nhau.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sơ bộ toàn bộ quy trình: từ tin báo của trưởng thôn, AI phân tích, chọn kho, xác nhận và thông báo, đội cứu hộ báo cáo hoàn thành, cuối cùng là kho xác nhận hoàn trả vật tư. Sau đây nhóm em xin đi sâu từng bước.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bắt đầu từ tin báo của trưởng thôn, sau đó AI phân tích tình hình để người điều phối chốt phương án.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đọc mô tả bằng lời thành số liệu, đề xuất vật tư và chọn kho tối ưu để rút ngắn thời gian ứng cứu.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có danh mục vật tư, hệ thống chọn kho tiếp tế gần điểm gặp nạn nhất.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tính quãng đường thực tế từ điểm gặp nạn tới từng kho, ưu tiên kho gần nhất. Kho gần nhất không đủ thì lấy hết phần đang có rồi tràn sang kho gần thứ hai, thứ ba. Kho đang có sự cố hoặc vật tư hỏng, hết hạn sẽ bị loại khỏi phương án.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điều phối xác nhận phương án, kho và đội cứu hộ nhận thông báo cùng lúc.</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người điều phối xác nhận, kho và đội cứu hộ nhận thông tin cùng một lúc. Kho có phiếu yêu cầu riêng để chuẩn bị và xuất vật tư; đội cứu hộ thấy điểm gặp nạn trên bản đồ, biết cần nhận vật tư gì và phải tới những kho nào.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Hoàn thành nhiệm vụ, đội cứu hộ xác nhận trên hệ thống và gửi kèm hình ảnh tại hiện trường.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 xác nhận phần vật tư đội cứu hộ hoàn trả. Toàn bộ vòng đời nhiệm vụ được ghi lại đầy đủ trong hệ thống.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lưu lại toàn bộ dữ liệu từng đợt cứu hộ, trở thành nguồn thông tin để phân tích và dự báo nhu cầu vật tư cho những đợt tiếp theo.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vừa rồi là luồng điều phối. Sáu slide tiếp theo đi vào phần kho — nơi giữ cho số liệu mà luồng điều phối dựa vào luôn đúng: cách quản lý vật tư, chấm điểm sẵn sàng của kho, nhìn tồn kho toàn xã, cảm biến IoT, lựa chọn phần cứng và trợ lý AI hỏi đáp.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xã có một kho tổng và mười bảy kho thôn. Biết còn bao nhiêu là chưa đủ: ba mươi áo phao còn tốt nhưng đang cho đội xung kích mượn đi diễn tập thì không được tính là khả dụng.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số chấm theo sáu chiều, tính ở bốn cấp: lô, kệ, khu, toàn kho. Khi cảm biến báo nguy cơ cháy, kho đang chín mươi lăm điểm lập tức chuyển sang trạng thái không điều phối được.</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ngăn một sai lầm đã thấy ngoài đời: người trực nhìn con số ở kho tổng, kết luận cả xã hết hàng rồi đi xin chi viện, trong khi thứ mình cần đang nằm ở thôn bên cạnh. Nếu dư thời gian, nói thêm ở đây về dự báo nhu cầu theo lượng mưa 72 giờ và bản tin đầu ngày.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quy tắc này thể hiện rõ nhất cách nhóm em suy nghĩ: không để báo động giả làm người ta tắt hệ thống, và không coi sự im lặng của thiết bị là mọi thứ bình thường.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lựa chọn kỹ thuật, không phải thiếu sót. Nói bình thản, không hạ giọng.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mô hình viết xong câu trả lời, hệ thống đối chiếu từng con số với ảnh chụp dữ liệu kho tại thời điểm hỏi. Không khớp thì chặn lại và hiện thông báo chưa thể tạo câu trả lời an toàn từ dữ liệu hiện có.</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Dự án bắt đầu từ quê nhà của chúng em — xã Đồng Xuân. Đoạn này nói chậm nhất, nhìn thẳng xuống ban giám khảo. Nếu thư chưa ký kịp: đổi tiêu đề thành “Đưa sản phẩm về đúng nơi nó sinh ra”, bỏ khung ảnh và giữ ba gạch đầu dòng ở thì tương lai.</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chúng em muốn xây dựng là một hệ thống kết nối thông tin, hỗ trợ ra quyết định và điều phối nguồn lực.</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Chúng ta có thể không kiểm soát được khi nào thiên tai xảy ra, nhưng có thể chuẩn bị tốt hơn, phối hợp nhanh hơn và ứng phó hiệu quả hơn. Mời quý Ban Giám khảo theo dõi phần demo.</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6.jp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7" Type="http://schemas.openxmlformats.org/officeDocument/2006/relationships/image" Target="../media/image9.jp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jpg"/><Relationship Id="rId5" Type="http://schemas.openxmlformats.org/officeDocument/2006/relationships/image" Target="../media/image7.jp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10.jp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101F"/>
        </a:solidFill>
        <a:effectLst/>
      </p:bgPr>
    </p:bg>
    <p:spTree>
      <p:nvGrpSpPr>
        <p:cNvPr id="1" name=""/>
        <p:cNvGrpSpPr/>
        <p:nvPr/>
      </p:nvGrpSpPr>
      <p:grpSpPr>
        <a:xfrm>
          <a:off x="0" y="0"/>
          <a:ext cx="0" cy="0"/>
          <a:chOff x="0" y="0"/>
          <a:chExt cx="0" cy="0"/>
        </a:xfrm>
      </p:grpSpPr>
      <p:pic>
        <p:nvPicPr>
          <p:cNvPr id="2" name="Image 0" descr="bg-title.jpg"/>
          <p:cNvPicPr>
            <a:picLocks noChangeAspect="1"/>
          </p:cNvPicPr>
          <p:nvPr/>
        </p:nvPicPr>
        <p:blipFill>
          <a:blip r:embed="rId3"/>
          <a:stretch>
            <a:fillRect/>
          </a:stretch>
        </p:blipFill>
        <p:spPr>
          <a:xfrm>
            <a:off x="0" y="0"/>
            <a:ext cx="12191695" cy="6858000"/>
          </a:xfrm>
          <a:prstGeom prst="rect">
            <a:avLst/>
          </a:prstGeom>
        </p:spPr>
      </p:pic>
      <p:pic>
        <p:nvPicPr>
          <p:cNvPr id="3" name="Image 1" descr="scrim-left.png"/>
          <p:cNvPicPr>
            <a:picLocks noChangeAspect="1"/>
          </p:cNvPicPr>
          <p:nvPr/>
        </p:nvPicPr>
        <p:blipFill>
          <a:blip r:embed="rId4"/>
          <a:stretch>
            <a:fillRect/>
          </a:stretch>
        </p:blipFill>
        <p:spPr>
          <a:xfrm>
            <a:off x="0" y="0"/>
            <a:ext cx="12191695" cy="6858000"/>
          </a:xfrm>
          <a:prstGeom prst="rect">
            <a:avLst/>
          </a:prstGeom>
        </p:spPr>
      </p:pic>
      <p:pic>
        <p:nvPicPr>
          <p:cNvPr id="4" name="Image 2" descr="scrim-bottom.png"/>
          <p:cNvPicPr>
            <a:picLocks noChangeAspect="1"/>
          </p:cNvPicPr>
          <p:nvPr/>
        </p:nvPicPr>
        <p:blipFill>
          <a:blip r:embed="rId5"/>
          <a:stretch>
            <a:fillRect/>
          </a:stretch>
        </p:blipFill>
        <p:spPr>
          <a:xfrm>
            <a:off x="0" y="0"/>
            <a:ext cx="12191695" cy="6858000"/>
          </a:xfrm>
          <a:prstGeom prst="rect">
            <a:avLst/>
          </a:prstGeom>
        </p:spPr>
      </p:pic>
      <p:sp>
        <p:nvSpPr>
          <p:cNvPr id="5" name="Shape 0"/>
          <p:cNvSpPr/>
          <p:nvPr/>
        </p:nvSpPr>
        <p:spPr>
          <a:xfrm>
            <a:off x="0" y="0"/>
            <a:ext cx="12191695" cy="6858000"/>
          </a:xfrm>
          <a:prstGeom prst="rect">
            <a:avLst/>
          </a:prstGeom>
          <a:solidFill>
            <a:srgbClr val="04101F">
              <a:alpha val="22000"/>
            </a:srgbClr>
          </a:solidFill>
          <a:ln/>
        </p:spPr>
      </p:sp>
      <p:sp>
        <p:nvSpPr>
          <p:cNvPr id="8" name="Text 2"/>
          <p:cNvSpPr/>
          <p:nvPr/>
        </p:nvSpPr>
        <p:spPr>
          <a:xfrm>
            <a:off x="713232" y="2560320"/>
            <a:ext cx="8321040" cy="923544"/>
          </a:xfrm>
          <a:prstGeom prst="rect">
            <a:avLst/>
          </a:prstGeom>
          <a:noFill/>
          <a:ln/>
        </p:spPr>
        <p:txBody>
          <a:bodyPr wrap="square" lIns="0" tIns="0" rIns="0" bIns="0" rtlCol="0" anchor="t"/>
          <a:lstStyle/>
          <a:p>
            <a:pPr marL="0" indent="0" algn="l">
              <a:lnSpc>
                <a:spcPts val="6696"/>
              </a:lnSpc>
              <a:buNone/>
            </a:pPr>
            <a:r>
              <a:rPr lang="en-US" sz="6200" b="1" dirty="0">
                <a:solidFill>
                  <a:srgbClr val="FFFFFF"/>
                </a:solidFill>
                <a:latin typeface="Be Vietnam Pro" pitchFamily="34" charset="0"/>
                <a:ea typeface="Be Vietnam Pro" pitchFamily="34" charset="-122"/>
                <a:cs typeface="Be Vietnam Pro" pitchFamily="34" charset="-120"/>
              </a:rPr>
              <a:t>ỨNG PHÓ NHANH</a:t>
            </a:r>
            <a:endParaRPr lang="en-US" sz="6200" dirty="0"/>
          </a:p>
        </p:txBody>
      </p:sp>
      <p:sp>
        <p:nvSpPr>
          <p:cNvPr id="9" name="Shape 3"/>
          <p:cNvSpPr/>
          <p:nvPr/>
        </p:nvSpPr>
        <p:spPr>
          <a:xfrm>
            <a:off x="713232" y="3767328"/>
            <a:ext cx="1325880" cy="68580"/>
          </a:xfrm>
          <a:prstGeom prst="roundRect">
            <a:avLst>
              <a:gd name="adj" fmla="val 49333"/>
            </a:avLst>
          </a:prstGeom>
          <a:solidFill>
            <a:srgbClr val="22C55E"/>
          </a:solidFill>
          <a:ln/>
        </p:spPr>
      </p:sp>
      <p:sp>
        <p:nvSpPr>
          <p:cNvPr id="10" name="Text 4"/>
          <p:cNvSpPr/>
          <p:nvPr/>
        </p:nvSpPr>
        <p:spPr>
          <a:xfrm>
            <a:off x="713232" y="4023360"/>
            <a:ext cx="7040880" cy="419862"/>
          </a:xfrm>
          <a:prstGeom prst="rect">
            <a:avLst/>
          </a:prstGeom>
          <a:noFill/>
          <a:ln/>
        </p:spPr>
        <p:txBody>
          <a:bodyPr wrap="square" lIns="0" tIns="0" rIns="0" bIns="0" rtlCol="0" anchor="t"/>
          <a:lstStyle/>
          <a:p>
            <a:pPr marL="0" indent="0" algn="l">
              <a:lnSpc>
                <a:spcPts val="2730"/>
              </a:lnSpc>
              <a:buNone/>
            </a:pPr>
            <a:r>
              <a:rPr lang="en-US" sz="2100" dirty="0">
                <a:solidFill>
                  <a:srgbClr val="E8F1FA"/>
                </a:solidFill>
                <a:latin typeface="Be Vietnam Pro" pitchFamily="34" charset="0"/>
                <a:ea typeface="Be Vietnam Pro" pitchFamily="34" charset="-122"/>
                <a:cs typeface="Be Vietnam Pro" pitchFamily="34" charset="-120"/>
              </a:rPr>
              <a:t>Giải pháp cứu hộ, cứu nạn và hậu cần thông minh</a:t>
            </a:r>
            <a:endParaRPr lang="en-US" sz="2100" dirty="0"/>
          </a:p>
        </p:txBody>
      </p:sp>
      <p:sp>
        <p:nvSpPr>
          <p:cNvPr id="11" name="Shape 5"/>
          <p:cNvSpPr/>
          <p:nvPr/>
        </p:nvSpPr>
        <p:spPr>
          <a:xfrm>
            <a:off x="713232" y="4828032"/>
            <a:ext cx="1591767" cy="329184"/>
          </a:xfrm>
          <a:prstGeom prst="roundRect">
            <a:avLst>
              <a:gd name="adj" fmla="val 50000"/>
            </a:avLst>
          </a:prstGeom>
          <a:solidFill>
            <a:srgbClr val="6EE7A8">
              <a:alpha val="18000"/>
            </a:srgbClr>
          </a:solidFill>
          <a:ln w="12700">
            <a:solidFill>
              <a:srgbClr val="6EE7A8">
                <a:alpha val="55000"/>
              </a:srgbClr>
            </a:solidFill>
            <a:prstDash val="solid"/>
          </a:ln>
        </p:spPr>
      </p:sp>
      <p:sp>
        <p:nvSpPr>
          <p:cNvPr id="12" name="Text 6"/>
          <p:cNvSpPr/>
          <p:nvPr/>
        </p:nvSpPr>
        <p:spPr>
          <a:xfrm>
            <a:off x="667512" y="4887468"/>
            <a:ext cx="1683207" cy="270320"/>
          </a:xfrm>
          <a:prstGeom prst="rect">
            <a:avLst/>
          </a:prstGeom>
          <a:noFill/>
          <a:ln/>
        </p:spPr>
        <p:txBody>
          <a:bodyPr wrap="square" lIns="0" tIns="0" rIns="0" bIns="0" rtlCol="0" anchor="t"/>
          <a:lstStyle/>
          <a:p>
            <a:pPr marL="0" indent="0" algn="ctr">
              <a:lnSpc>
                <a:spcPts val="1553"/>
              </a:lnSpc>
              <a:buNone/>
            </a:pPr>
            <a:r>
              <a:rPr lang="en-US" sz="1150" b="1" dirty="0" err="1">
                <a:solidFill>
                  <a:srgbClr val="6EE7A8"/>
                </a:solidFill>
                <a:latin typeface="Be Vietnam Pro" pitchFamily="34" charset="0"/>
                <a:ea typeface="Be Vietnam Pro" pitchFamily="34" charset="-122"/>
              </a:rPr>
              <a:t>Điều</a:t>
            </a:r>
            <a:r>
              <a:rPr lang="en-US" sz="1150" b="1" dirty="0">
                <a:solidFill>
                  <a:srgbClr val="6EE7A8"/>
                </a:solidFill>
                <a:latin typeface="Be Vietnam Pro" pitchFamily="34" charset="0"/>
                <a:ea typeface="Be Vietnam Pro" pitchFamily="34" charset="-122"/>
              </a:rPr>
              <a:t> </a:t>
            </a:r>
            <a:r>
              <a:rPr lang="en-US" sz="1150" b="1" dirty="0" err="1">
                <a:solidFill>
                  <a:srgbClr val="6EE7A8"/>
                </a:solidFill>
                <a:latin typeface="Be Vietnam Pro" pitchFamily="34" charset="0"/>
                <a:ea typeface="Be Vietnam Pro" pitchFamily="34" charset="-122"/>
              </a:rPr>
              <a:t>phối</a:t>
            </a:r>
            <a:r>
              <a:rPr lang="en-US" sz="1150" b="1" dirty="0">
                <a:solidFill>
                  <a:srgbClr val="6EE7A8"/>
                </a:solidFill>
                <a:latin typeface="Be Vietnam Pro" pitchFamily="34" charset="0"/>
                <a:ea typeface="Be Vietnam Pro" pitchFamily="34" charset="-122"/>
              </a:rPr>
              <a:t> </a:t>
            </a:r>
            <a:r>
              <a:rPr lang="en-US" sz="1150" b="1" dirty="0" err="1">
                <a:solidFill>
                  <a:srgbClr val="6EE7A8"/>
                </a:solidFill>
                <a:latin typeface="Be Vietnam Pro" pitchFamily="34" charset="0"/>
                <a:ea typeface="Be Vietnam Pro" pitchFamily="34" charset="-122"/>
              </a:rPr>
              <a:t>nguồn</a:t>
            </a:r>
            <a:r>
              <a:rPr lang="en-US" sz="1150" b="1" dirty="0">
                <a:solidFill>
                  <a:srgbClr val="6EE7A8"/>
                </a:solidFill>
                <a:latin typeface="Be Vietnam Pro" pitchFamily="34" charset="0"/>
                <a:ea typeface="Be Vietnam Pro" pitchFamily="34" charset="-122"/>
              </a:rPr>
              <a:t> </a:t>
            </a:r>
            <a:r>
              <a:rPr lang="en-US" sz="1150" b="1" dirty="0" err="1">
                <a:solidFill>
                  <a:srgbClr val="6EE7A8"/>
                </a:solidFill>
                <a:latin typeface="Be Vietnam Pro" pitchFamily="34" charset="0"/>
                <a:ea typeface="Be Vietnam Pro" pitchFamily="34" charset="-122"/>
              </a:rPr>
              <a:t>lực</a:t>
            </a:r>
            <a:endParaRPr lang="en-US" sz="1150" dirty="0"/>
          </a:p>
        </p:txBody>
      </p:sp>
      <p:sp>
        <p:nvSpPr>
          <p:cNvPr id="13" name="Shape 7"/>
          <p:cNvSpPr/>
          <p:nvPr/>
        </p:nvSpPr>
        <p:spPr>
          <a:xfrm>
            <a:off x="2469591" y="4828032"/>
            <a:ext cx="1840782" cy="329184"/>
          </a:xfrm>
          <a:prstGeom prst="roundRect">
            <a:avLst>
              <a:gd name="adj" fmla="val 50000"/>
            </a:avLst>
          </a:prstGeom>
          <a:solidFill>
            <a:srgbClr val="FBBF24">
              <a:alpha val="18000"/>
            </a:srgbClr>
          </a:solidFill>
          <a:ln w="12700">
            <a:solidFill>
              <a:srgbClr val="FBBF24">
                <a:alpha val="55000"/>
              </a:srgbClr>
            </a:solidFill>
            <a:prstDash val="solid"/>
          </a:ln>
        </p:spPr>
      </p:sp>
      <p:sp>
        <p:nvSpPr>
          <p:cNvPr id="14" name="Text 8"/>
          <p:cNvSpPr/>
          <p:nvPr/>
        </p:nvSpPr>
        <p:spPr>
          <a:xfrm>
            <a:off x="2423871" y="4887468"/>
            <a:ext cx="1932222" cy="270320"/>
          </a:xfrm>
          <a:prstGeom prst="rect">
            <a:avLst/>
          </a:prstGeom>
          <a:noFill/>
          <a:ln/>
        </p:spPr>
        <p:txBody>
          <a:bodyPr wrap="square" lIns="0" tIns="0" rIns="0" bIns="0" rtlCol="0" anchor="t"/>
          <a:lstStyle/>
          <a:p>
            <a:pPr marL="0" indent="0" algn="ctr">
              <a:lnSpc>
                <a:spcPts val="1553"/>
              </a:lnSpc>
              <a:buNone/>
            </a:pPr>
            <a:r>
              <a:rPr lang="en-US" sz="1150" b="1" dirty="0">
                <a:solidFill>
                  <a:srgbClr val="FBBF24"/>
                </a:solidFill>
                <a:latin typeface="Be Vietnam Pro" pitchFamily="34" charset="0"/>
                <a:ea typeface="Be Vietnam Pro" pitchFamily="34" charset="-122"/>
                <a:cs typeface="Be Vietnam Pro" pitchFamily="34" charset="-120"/>
              </a:rPr>
              <a:t>Hỗ trợ ra quyết định</a:t>
            </a:r>
            <a:endParaRPr lang="en-US" sz="1150" dirty="0"/>
          </a:p>
        </p:txBody>
      </p:sp>
      <p:sp>
        <p:nvSpPr>
          <p:cNvPr id="15" name="Shape 9"/>
          <p:cNvSpPr/>
          <p:nvPr/>
        </p:nvSpPr>
        <p:spPr>
          <a:xfrm>
            <a:off x="4474966" y="4828032"/>
            <a:ext cx="1823841" cy="329184"/>
          </a:xfrm>
          <a:prstGeom prst="roundRect">
            <a:avLst>
              <a:gd name="adj" fmla="val 50000"/>
            </a:avLst>
          </a:prstGeom>
          <a:solidFill>
            <a:srgbClr val="38BDF8">
              <a:alpha val="18000"/>
            </a:srgbClr>
          </a:solidFill>
          <a:ln w="12700">
            <a:solidFill>
              <a:srgbClr val="38BDF8">
                <a:alpha val="55000"/>
              </a:srgbClr>
            </a:solidFill>
            <a:prstDash val="solid"/>
          </a:ln>
        </p:spPr>
      </p:sp>
      <p:sp>
        <p:nvSpPr>
          <p:cNvPr id="16" name="Text 10"/>
          <p:cNvSpPr/>
          <p:nvPr/>
        </p:nvSpPr>
        <p:spPr>
          <a:xfrm>
            <a:off x="4429246" y="4887468"/>
            <a:ext cx="1915281" cy="270320"/>
          </a:xfrm>
          <a:prstGeom prst="rect">
            <a:avLst/>
          </a:prstGeom>
          <a:noFill/>
          <a:ln/>
        </p:spPr>
        <p:txBody>
          <a:bodyPr wrap="square" lIns="0" tIns="0" rIns="0" bIns="0" rtlCol="0" anchor="t"/>
          <a:lstStyle/>
          <a:p>
            <a:pPr marL="0" indent="0" algn="ctr">
              <a:lnSpc>
                <a:spcPts val="1553"/>
              </a:lnSpc>
              <a:buNone/>
            </a:pPr>
            <a:r>
              <a:rPr lang="en-US" sz="1150" b="1" dirty="0" err="1">
                <a:solidFill>
                  <a:srgbClr val="38BDF8"/>
                </a:solidFill>
                <a:latin typeface="Be Vietnam Pro" pitchFamily="34" charset="0"/>
                <a:ea typeface="Be Vietnam Pro" pitchFamily="34" charset="-122"/>
                <a:cs typeface="Be Vietnam Pro" pitchFamily="34" charset="-120"/>
              </a:rPr>
              <a:t>Quản</a:t>
            </a:r>
            <a:r>
              <a:rPr lang="en-US" sz="1150" b="1" dirty="0">
                <a:solidFill>
                  <a:srgbClr val="38BDF8"/>
                </a:solidFill>
                <a:latin typeface="Be Vietnam Pro" pitchFamily="34" charset="0"/>
                <a:ea typeface="Be Vietnam Pro" pitchFamily="34" charset="-122"/>
                <a:cs typeface="Be Vietnam Pro" pitchFamily="34" charset="-120"/>
              </a:rPr>
              <a:t> </a:t>
            </a:r>
            <a:r>
              <a:rPr lang="en-US" sz="1150" b="1" dirty="0" err="1">
                <a:solidFill>
                  <a:srgbClr val="38BDF8"/>
                </a:solidFill>
                <a:latin typeface="Be Vietnam Pro" pitchFamily="34" charset="0"/>
                <a:ea typeface="Be Vietnam Pro" pitchFamily="34" charset="-122"/>
                <a:cs typeface="Be Vietnam Pro" pitchFamily="34" charset="-120"/>
              </a:rPr>
              <a:t>lý</a:t>
            </a:r>
            <a:r>
              <a:rPr lang="en-US" sz="1150" b="1" dirty="0">
                <a:solidFill>
                  <a:srgbClr val="38BDF8"/>
                </a:solidFill>
                <a:latin typeface="Be Vietnam Pro" pitchFamily="34" charset="0"/>
                <a:ea typeface="Be Vietnam Pro" pitchFamily="34" charset="-122"/>
                <a:cs typeface="Be Vietnam Pro" pitchFamily="34" charset="-120"/>
              </a:rPr>
              <a:t> </a:t>
            </a:r>
            <a:r>
              <a:rPr lang="en-US" sz="1150" b="1" dirty="0" err="1">
                <a:solidFill>
                  <a:srgbClr val="38BDF8"/>
                </a:solidFill>
                <a:latin typeface="Be Vietnam Pro" pitchFamily="34" charset="0"/>
                <a:ea typeface="Be Vietnam Pro" pitchFamily="34" charset="-122"/>
                <a:cs typeface="Be Vietnam Pro" pitchFamily="34" charset="-120"/>
              </a:rPr>
              <a:t>kho</a:t>
            </a:r>
            <a:r>
              <a:rPr lang="en-US" sz="1150" b="1" dirty="0">
                <a:solidFill>
                  <a:srgbClr val="38BDF8"/>
                </a:solidFill>
                <a:latin typeface="Be Vietnam Pro" pitchFamily="34" charset="0"/>
                <a:ea typeface="Be Vietnam Pro" pitchFamily="34" charset="-122"/>
                <a:cs typeface="Be Vietnam Pro" pitchFamily="34" charset="-120"/>
              </a:rPr>
              <a:t> </a:t>
            </a:r>
            <a:r>
              <a:rPr lang="en-US" sz="1150" b="1" dirty="0" err="1">
                <a:solidFill>
                  <a:srgbClr val="38BDF8"/>
                </a:solidFill>
                <a:latin typeface="Be Vietnam Pro" pitchFamily="34" charset="0"/>
                <a:ea typeface="Be Vietnam Pro" pitchFamily="34" charset="-122"/>
                <a:cs typeface="Be Vietnam Pro" pitchFamily="34" charset="-120"/>
              </a:rPr>
              <a:t>thông</a:t>
            </a:r>
            <a:r>
              <a:rPr lang="en-US" sz="1150" b="1" dirty="0">
                <a:solidFill>
                  <a:srgbClr val="38BDF8"/>
                </a:solidFill>
                <a:latin typeface="Be Vietnam Pro" pitchFamily="34" charset="0"/>
                <a:ea typeface="Be Vietnam Pro" pitchFamily="34" charset="-122"/>
                <a:cs typeface="Be Vietnam Pro" pitchFamily="34" charset="-120"/>
              </a:rPr>
              <a:t> </a:t>
            </a:r>
            <a:r>
              <a:rPr lang="en-US" sz="1150" b="1" dirty="0" err="1">
                <a:solidFill>
                  <a:srgbClr val="38BDF8"/>
                </a:solidFill>
                <a:latin typeface="Be Vietnam Pro" pitchFamily="34" charset="0"/>
                <a:ea typeface="Be Vietnam Pro" pitchFamily="34" charset="-122"/>
                <a:cs typeface="Be Vietnam Pro" pitchFamily="34" charset="-120"/>
              </a:rPr>
              <a:t>minh</a:t>
            </a:r>
            <a:endParaRPr lang="en-US" sz="1150" dirty="0"/>
          </a:p>
        </p:txBody>
      </p:sp>
      <p:sp>
        <p:nvSpPr>
          <p:cNvPr id="17" name="Text 11"/>
          <p:cNvSpPr/>
          <p:nvPr/>
        </p:nvSpPr>
        <p:spPr>
          <a:xfrm>
            <a:off x="713232" y="5925312"/>
            <a:ext cx="7406640" cy="270320"/>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Nhóm phát triển Ứng Phó Nhanh · Lũ Trẻ</a:t>
            </a:r>
            <a:endParaRPr lang="en-US" sz="1150" dirty="0"/>
          </a:p>
        </p:txBody>
      </p:sp>
      <p:pic>
        <p:nvPicPr>
          <p:cNvPr id="19" name="Image 1" descr="mark-sm.png">
            <a:extLst>
              <a:ext uri="{FF2B5EF4-FFF2-40B4-BE49-F238E27FC236}">
                <a16:creationId xmlns:a16="http://schemas.microsoft.com/office/drawing/2014/main" id="{8D55EF64-2D4B-90B6-2C7B-B13279C7BC0A}"/>
              </a:ext>
            </a:extLst>
          </p:cNvPr>
          <p:cNvPicPr>
            <a:picLocks noChangeAspect="1"/>
          </p:cNvPicPr>
          <p:nvPr/>
        </p:nvPicPr>
        <p:blipFill>
          <a:blip r:embed="rId6"/>
          <a:stretch>
            <a:fillRect/>
          </a:stretch>
        </p:blipFill>
        <p:spPr>
          <a:xfrm>
            <a:off x="1396230" y="768382"/>
            <a:ext cx="1407128" cy="1407128"/>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00"/>
                                        <p:tgtEl>
                                          <p:spTgt spid="10"/>
                                        </p:tgtEl>
                                      </p:cBhvr>
                                    </p:animEffect>
                                  </p:childTnLst>
                                </p:cTn>
                              </p:par>
                              <p:par>
                                <p:cTn id="14" presetID="10" presetClass="entr" presetSubtype="0" fill="hold" nodeType="withEffect">
                                  <p:stCondLst>
                                    <p:cond delay="22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00"/>
                                        <p:tgtEl>
                                          <p:spTgt spid="11"/>
                                        </p:tgtEl>
                                      </p:cBhvr>
                                    </p:animEffect>
                                  </p:childTnLst>
                                </p:cTn>
                              </p:par>
                              <p:par>
                                <p:cTn id="17" presetID="10" presetClass="entr" presetSubtype="0" fill="hold" nodeType="withEffect">
                                  <p:stCondLst>
                                    <p:cond delay="22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00"/>
                                        <p:tgtEl>
                                          <p:spTgt spid="12"/>
                                        </p:tgtEl>
                                      </p:cBhvr>
                                    </p:animEffect>
                                  </p:childTnLst>
                                </p:cTn>
                              </p:par>
                              <p:par>
                                <p:cTn id="20" presetID="10" presetClass="entr" presetSubtype="0" fill="hold" nodeType="withEffect">
                                  <p:stCondLst>
                                    <p:cond delay="44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00"/>
                                        <p:tgtEl>
                                          <p:spTgt spid="13"/>
                                        </p:tgtEl>
                                      </p:cBhvr>
                                    </p:animEffect>
                                  </p:childTnLst>
                                </p:cTn>
                              </p:par>
                              <p:par>
                                <p:cTn id="23" presetID="10" presetClass="entr" presetSubtype="0" fill="hold" nodeType="withEffect">
                                  <p:stCondLst>
                                    <p:cond delay="44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400"/>
                                        <p:tgtEl>
                                          <p:spTgt spid="14"/>
                                        </p:tgtEl>
                                      </p:cBhvr>
                                    </p:animEffect>
                                  </p:childTnLst>
                                </p:cTn>
                              </p:par>
                              <p:par>
                                <p:cTn id="26" presetID="10" presetClass="entr" presetSubtype="0" fill="hold" nodeType="withEffect">
                                  <p:stCondLst>
                                    <p:cond delay="66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00"/>
                                        <p:tgtEl>
                                          <p:spTgt spid="15"/>
                                        </p:tgtEl>
                                      </p:cBhvr>
                                    </p:animEffect>
                                  </p:childTnLst>
                                </p:cTn>
                              </p:par>
                              <p:par>
                                <p:cTn id="29" presetID="10" presetClass="entr" presetSubtype="0" fill="hold" nodeType="withEffect">
                                  <p:stCondLst>
                                    <p:cond delay="66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00"/>
                                        <p:tgtEl>
                                          <p:spTgt spid="16"/>
                                        </p:tgtEl>
                                      </p:cBhvr>
                                    </p:animEffect>
                                  </p:childTnLst>
                                </p:cTn>
                              </p:par>
                              <p:par>
                                <p:cTn id="32" presetID="10" presetClass="entr" presetSubtype="0" fill="hold" nodeType="withEffect">
                                  <p:stCondLst>
                                    <p:cond delay="66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02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BỐI CẢNH</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Lớn lên cùng những mùa bão lũ</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pic>
        <p:nvPicPr>
          <p:cNvPr id="12" name="Image 2" descr="anh/da-cat/boi-canh.jpg"/>
          <p:cNvPicPr>
            <a:picLocks noChangeAspect="1"/>
          </p:cNvPicPr>
          <p:nvPr/>
        </p:nvPicPr>
        <p:blipFill>
          <a:blip r:embed="rId5"/>
          <a:stretch>
            <a:fillRect/>
          </a:stretch>
        </p:blipFill>
        <p:spPr>
          <a:xfrm>
            <a:off x="713232" y="2220214"/>
            <a:ext cx="4846320" cy="2651760"/>
          </a:xfrm>
          <a:prstGeom prst="rect">
            <a:avLst/>
          </a:prstGeom>
        </p:spPr>
      </p:pic>
      <p:sp>
        <p:nvSpPr>
          <p:cNvPr id="13" name="Shape 8"/>
          <p:cNvSpPr/>
          <p:nvPr/>
        </p:nvSpPr>
        <p:spPr>
          <a:xfrm>
            <a:off x="713232" y="2220214"/>
            <a:ext cx="4846320" cy="2651760"/>
          </a:xfrm>
          <a:prstGeom prst="roundRect">
            <a:avLst>
              <a:gd name="adj" fmla="val 4138"/>
            </a:avLst>
          </a:prstGeom>
          <a:solidFill>
            <a:srgbClr val="FFFFFF">
              <a:alpha val="0"/>
            </a:srgbClr>
          </a:solidFill>
          <a:ln w="12700">
            <a:solidFill>
              <a:srgbClr val="FFFFFF">
                <a:alpha val="18000"/>
              </a:srgbClr>
            </a:solidFill>
            <a:prstDash val="solid"/>
          </a:ln>
        </p:spPr>
      </p:sp>
      <p:sp>
        <p:nvSpPr>
          <p:cNvPr id="14" name="Text 9"/>
          <p:cNvSpPr/>
          <p:nvPr/>
        </p:nvSpPr>
        <p:spPr>
          <a:xfrm>
            <a:off x="713232" y="4945126"/>
            <a:ext cx="4937760" cy="253175"/>
          </a:xfrm>
          <a:prstGeom prst="rect">
            <a:avLst/>
          </a:prstGeom>
          <a:noFill/>
          <a:ln/>
        </p:spPr>
        <p:txBody>
          <a:bodyPr wrap="square" lIns="0" tIns="0" rIns="0" bIns="0" rtlCol="0" anchor="t"/>
          <a:lstStyle/>
          <a:p>
            <a:pPr marL="0" indent="0" algn="ctr">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Cả khu dân cư chìm trong nước lũ, nhìn từ trên cao.</a:t>
            </a:r>
            <a:endParaRPr lang="en-US" sz="1050" dirty="0"/>
          </a:p>
        </p:txBody>
      </p:sp>
      <p:sp>
        <p:nvSpPr>
          <p:cNvPr id="15" name="Shape 10"/>
          <p:cNvSpPr/>
          <p:nvPr/>
        </p:nvSpPr>
        <p:spPr>
          <a:xfrm>
            <a:off x="5907024" y="2220214"/>
            <a:ext cx="5571439" cy="864680"/>
          </a:xfrm>
          <a:prstGeom prst="roundRect">
            <a:avLst>
              <a:gd name="adj" fmla="val 12690"/>
            </a:avLst>
          </a:prstGeom>
          <a:solidFill>
            <a:srgbClr val="091B2D">
              <a:alpha val="66000"/>
            </a:srgbClr>
          </a:solidFill>
          <a:ln w="12700">
            <a:solidFill>
              <a:srgbClr val="FFFFFF">
                <a:alpha val="12000"/>
              </a:srgbClr>
            </a:solidFill>
            <a:prstDash val="solid"/>
          </a:ln>
        </p:spPr>
      </p:sp>
      <p:sp>
        <p:nvSpPr>
          <p:cNvPr id="16" name="Shape 11"/>
          <p:cNvSpPr/>
          <p:nvPr/>
        </p:nvSpPr>
        <p:spPr>
          <a:xfrm>
            <a:off x="5907024" y="2220214"/>
            <a:ext cx="50292" cy="864680"/>
          </a:xfrm>
          <a:prstGeom prst="roundRect">
            <a:avLst>
              <a:gd name="adj" fmla="val 54545"/>
            </a:avLst>
          </a:prstGeom>
          <a:solidFill>
            <a:srgbClr val="38BDF8">
              <a:alpha val="95000"/>
            </a:srgbClr>
          </a:solidFill>
          <a:ln/>
        </p:spPr>
      </p:sp>
      <p:sp>
        <p:nvSpPr>
          <p:cNvPr id="17" name="Text 12"/>
          <p:cNvSpPr/>
          <p:nvPr/>
        </p:nvSpPr>
        <p:spPr>
          <a:xfrm>
            <a:off x="6199632" y="2272951"/>
            <a:ext cx="5077663"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chúng em tận mắt chứng kiến</a:t>
            </a:r>
            <a:endParaRPr lang="en-US" sz="1400" dirty="0"/>
          </a:p>
        </p:txBody>
      </p:sp>
      <p:sp>
        <p:nvSpPr>
          <p:cNvPr id="18" name="Text 13"/>
          <p:cNvSpPr/>
          <p:nvPr/>
        </p:nvSpPr>
        <p:spPr>
          <a:xfrm>
            <a:off x="6199632" y="2586641"/>
            <a:ext cx="5077663" cy="482092"/>
          </a:xfrm>
          <a:prstGeom prst="rect">
            <a:avLst/>
          </a:prstGeom>
          <a:noFill/>
          <a:ln/>
        </p:spPr>
        <p:txBody>
          <a:bodyPr wrap="square" lIns="0" tIns="0" rIns="0" bIns="0" rtlCol="0" anchor="t"/>
          <a:lstStyle/>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Nhà dân bị ngập, tuyến đường bị chia cắt, nhiều khu vực bị </a:t>
            </a:r>
            <a:r>
              <a:rPr lang="en-US" sz="1150" dirty="0" err="1">
                <a:solidFill>
                  <a:srgbClr val="D9E6F2"/>
                </a:solidFill>
                <a:latin typeface="Be Vietnam Pro" pitchFamily="34" charset="0"/>
                <a:ea typeface="Be Vietnam Pro" pitchFamily="34" charset="-122"/>
                <a:cs typeface="Be Vietnam Pro" pitchFamily="34" charset="-120"/>
              </a:rPr>
              <a:t>cô</a:t>
            </a:r>
            <a:r>
              <a:rPr lang="en-US" sz="1150" dirty="0">
                <a:solidFill>
                  <a:srgbClr val="D9E6F2"/>
                </a:solidFill>
                <a:latin typeface="Be Vietnam Pro" pitchFamily="34" charset="0"/>
                <a:ea typeface="Be Vietnam Pro" pitchFamily="34" charset="-122"/>
                <a:cs typeface="Be Vietnam Pro" pitchFamily="34" charset="-120"/>
              </a:rPr>
              <a:t> </a:t>
            </a:r>
            <a:r>
              <a:rPr lang="en-US" sz="1150" dirty="0" err="1">
                <a:solidFill>
                  <a:srgbClr val="D9E6F2"/>
                </a:solidFill>
                <a:latin typeface="Be Vietnam Pro" pitchFamily="34" charset="0"/>
                <a:ea typeface="Be Vietnam Pro" pitchFamily="34" charset="-122"/>
                <a:cs typeface="Be Vietnam Pro" pitchFamily="34" charset="-120"/>
              </a:rPr>
              <a:t>lập</a:t>
            </a:r>
            <a:r>
              <a:rPr lang="en-US" sz="1150" dirty="0"/>
              <a:t> </a:t>
            </a:r>
            <a:r>
              <a:rPr lang="en-US" sz="1150" dirty="0" err="1">
                <a:solidFill>
                  <a:srgbClr val="D9E6F2"/>
                </a:solidFill>
                <a:latin typeface="Be Vietnam Pro" pitchFamily="34" charset="0"/>
                <a:ea typeface="Be Vietnam Pro" pitchFamily="34" charset="-122"/>
                <a:cs typeface="Be Vietnam Pro" pitchFamily="34" charset="-120"/>
              </a:rPr>
              <a:t>hoàn</a:t>
            </a:r>
            <a:r>
              <a:rPr lang="en-US" sz="1150" dirty="0">
                <a:solidFill>
                  <a:srgbClr val="D9E6F2"/>
                </a:solidFill>
                <a:latin typeface="Be Vietnam Pro" pitchFamily="34" charset="0"/>
                <a:ea typeface="Be Vietnam Pro" pitchFamily="34" charset="-122"/>
                <a:cs typeface="Be Vietnam Pro" pitchFamily="34" charset="-120"/>
              </a:rPr>
              <a:t> toàn.</a:t>
            </a:r>
            <a:endParaRPr lang="en-US" sz="1150" dirty="0"/>
          </a:p>
        </p:txBody>
      </p:sp>
      <p:sp>
        <p:nvSpPr>
          <p:cNvPr id="19" name="Shape 14"/>
          <p:cNvSpPr/>
          <p:nvPr/>
        </p:nvSpPr>
        <p:spPr>
          <a:xfrm>
            <a:off x="5907024" y="3249485"/>
            <a:ext cx="5571439" cy="864680"/>
          </a:xfrm>
          <a:prstGeom prst="roundRect">
            <a:avLst>
              <a:gd name="adj" fmla="val 12690"/>
            </a:avLst>
          </a:prstGeom>
          <a:solidFill>
            <a:srgbClr val="091B2D">
              <a:alpha val="66000"/>
            </a:srgbClr>
          </a:solidFill>
          <a:ln w="12700">
            <a:solidFill>
              <a:srgbClr val="FFFFFF">
                <a:alpha val="12000"/>
              </a:srgbClr>
            </a:solidFill>
            <a:prstDash val="solid"/>
          </a:ln>
        </p:spPr>
      </p:sp>
      <p:sp>
        <p:nvSpPr>
          <p:cNvPr id="20" name="Shape 15"/>
          <p:cNvSpPr/>
          <p:nvPr/>
        </p:nvSpPr>
        <p:spPr>
          <a:xfrm>
            <a:off x="5907024" y="3249485"/>
            <a:ext cx="50292" cy="864680"/>
          </a:xfrm>
          <a:prstGeom prst="roundRect">
            <a:avLst>
              <a:gd name="adj" fmla="val 54545"/>
            </a:avLst>
          </a:prstGeom>
          <a:solidFill>
            <a:srgbClr val="FB923C">
              <a:alpha val="95000"/>
            </a:srgbClr>
          </a:solidFill>
          <a:ln/>
        </p:spPr>
      </p:sp>
      <p:sp>
        <p:nvSpPr>
          <p:cNvPr id="21" name="Text 16"/>
          <p:cNvSpPr/>
          <p:nvPr/>
        </p:nvSpPr>
        <p:spPr>
          <a:xfrm>
            <a:off x="6199632" y="3302222"/>
            <a:ext cx="5077663"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Những người ở tuyến đầu</a:t>
            </a:r>
            <a:endParaRPr lang="en-US" sz="1400" dirty="0"/>
          </a:p>
        </p:txBody>
      </p:sp>
      <p:sp>
        <p:nvSpPr>
          <p:cNvPr id="22" name="Text 17"/>
          <p:cNvSpPr/>
          <p:nvPr/>
        </p:nvSpPr>
        <p:spPr>
          <a:xfrm>
            <a:off x="6199632" y="3615912"/>
            <a:ext cx="5077663" cy="482092"/>
          </a:xfrm>
          <a:prstGeom prst="rect">
            <a:avLst/>
          </a:prstGeom>
          <a:noFill/>
          <a:ln/>
        </p:spPr>
        <p:txBody>
          <a:bodyPr wrap="square" lIns="0" tIns="0" rIns="0" bIns="0" rtlCol="0" anchor="t"/>
          <a:lstStyle/>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Lực lượng cứu hộ làm việc liên tục ngày đêm để đưa người dân </a:t>
            </a:r>
            <a:r>
              <a:rPr lang="en-US" sz="1150" dirty="0" err="1">
                <a:solidFill>
                  <a:srgbClr val="D9E6F2"/>
                </a:solidFill>
                <a:latin typeface="Be Vietnam Pro" pitchFamily="34" charset="0"/>
                <a:ea typeface="Be Vietnam Pro" pitchFamily="34" charset="-122"/>
                <a:cs typeface="Be Vietnam Pro" pitchFamily="34" charset="-120"/>
              </a:rPr>
              <a:t>đến</a:t>
            </a:r>
            <a:r>
              <a:rPr lang="en-US" sz="1150" dirty="0">
                <a:solidFill>
                  <a:srgbClr val="D9E6F2"/>
                </a:solidFill>
                <a:latin typeface="Be Vietnam Pro" pitchFamily="34" charset="0"/>
                <a:ea typeface="Be Vietnam Pro" pitchFamily="34" charset="-122"/>
                <a:cs typeface="Be Vietnam Pro" pitchFamily="34" charset="-120"/>
              </a:rPr>
              <a:t> </a:t>
            </a:r>
            <a:r>
              <a:rPr lang="en-US" sz="1150" dirty="0" err="1">
                <a:solidFill>
                  <a:srgbClr val="D9E6F2"/>
                </a:solidFill>
                <a:latin typeface="Be Vietnam Pro" pitchFamily="34" charset="0"/>
                <a:ea typeface="Be Vietnam Pro" pitchFamily="34" charset="-122"/>
                <a:cs typeface="Be Vietnam Pro" pitchFamily="34" charset="-120"/>
              </a:rPr>
              <a:t>nơi</a:t>
            </a:r>
            <a:r>
              <a:rPr lang="en-US" sz="1150" dirty="0"/>
              <a:t> </a:t>
            </a:r>
            <a:r>
              <a:rPr lang="en-US" sz="1150" dirty="0">
                <a:solidFill>
                  <a:srgbClr val="D9E6F2"/>
                </a:solidFill>
                <a:latin typeface="Be Vietnam Pro" pitchFamily="34" charset="0"/>
                <a:ea typeface="Be Vietnam Pro" pitchFamily="34" charset="-122"/>
                <a:cs typeface="Be Vietnam Pro" pitchFamily="34" charset="-120"/>
              </a:rPr>
              <a:t>an toàn.</a:t>
            </a:r>
            <a:endParaRPr lang="en-US" sz="1150" dirty="0"/>
          </a:p>
        </p:txBody>
      </p:sp>
      <p:sp>
        <p:nvSpPr>
          <p:cNvPr id="23" name="Shape 18"/>
          <p:cNvSpPr/>
          <p:nvPr/>
        </p:nvSpPr>
        <p:spPr>
          <a:xfrm>
            <a:off x="5907024" y="4278757"/>
            <a:ext cx="5571439" cy="864680"/>
          </a:xfrm>
          <a:prstGeom prst="roundRect">
            <a:avLst>
              <a:gd name="adj" fmla="val 12690"/>
            </a:avLst>
          </a:prstGeom>
          <a:solidFill>
            <a:srgbClr val="091B2D">
              <a:alpha val="66000"/>
            </a:srgbClr>
          </a:solidFill>
          <a:ln w="12700">
            <a:solidFill>
              <a:srgbClr val="FFFFFF">
                <a:alpha val="12000"/>
              </a:srgbClr>
            </a:solidFill>
            <a:prstDash val="solid"/>
          </a:ln>
        </p:spPr>
      </p:sp>
      <p:sp>
        <p:nvSpPr>
          <p:cNvPr id="24" name="Shape 19"/>
          <p:cNvSpPr/>
          <p:nvPr/>
        </p:nvSpPr>
        <p:spPr>
          <a:xfrm>
            <a:off x="5907024" y="4278757"/>
            <a:ext cx="50292" cy="864680"/>
          </a:xfrm>
          <a:prstGeom prst="roundRect">
            <a:avLst>
              <a:gd name="adj" fmla="val 54545"/>
            </a:avLst>
          </a:prstGeom>
          <a:solidFill>
            <a:srgbClr val="22C55E">
              <a:alpha val="95000"/>
            </a:srgbClr>
          </a:solidFill>
          <a:ln/>
        </p:spPr>
      </p:sp>
      <p:sp>
        <p:nvSpPr>
          <p:cNvPr id="25" name="Text 20"/>
          <p:cNvSpPr/>
          <p:nvPr/>
        </p:nvSpPr>
        <p:spPr>
          <a:xfrm>
            <a:off x="6199632" y="4331494"/>
            <a:ext cx="5077663"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Trải nghiệm thực chiến</a:t>
            </a:r>
            <a:endParaRPr lang="en-US" sz="1400" dirty="0"/>
          </a:p>
        </p:txBody>
      </p:sp>
      <p:sp>
        <p:nvSpPr>
          <p:cNvPr id="26" name="Text 21"/>
          <p:cNvSpPr/>
          <p:nvPr/>
        </p:nvSpPr>
        <p:spPr>
          <a:xfrm>
            <a:off x="6199632" y="4645184"/>
            <a:ext cx="5077663" cy="482092"/>
          </a:xfrm>
          <a:prstGeom prst="rect">
            <a:avLst/>
          </a:prstGeom>
          <a:noFill/>
          <a:ln/>
        </p:spPr>
        <p:txBody>
          <a:bodyPr wrap="square" lIns="0" tIns="0" rIns="0" bIns="0" rtlCol="0" anchor="t"/>
          <a:lstStyle/>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Thành viên nhóm là chiến sĩ Công an nhân dân, trực tiếp tham </a:t>
            </a:r>
            <a:r>
              <a:rPr lang="en-US" sz="1150" dirty="0" err="1">
                <a:solidFill>
                  <a:srgbClr val="D9E6F2"/>
                </a:solidFill>
                <a:latin typeface="Be Vietnam Pro" pitchFamily="34" charset="0"/>
                <a:ea typeface="Be Vietnam Pro" pitchFamily="34" charset="-122"/>
                <a:cs typeface="Be Vietnam Pro" pitchFamily="34" charset="-120"/>
              </a:rPr>
              <a:t>gia</a:t>
            </a:r>
            <a:r>
              <a:rPr lang="en-US" sz="1150" dirty="0">
                <a:solidFill>
                  <a:srgbClr val="D9E6F2"/>
                </a:solidFill>
                <a:latin typeface="Be Vietnam Pro" pitchFamily="34" charset="0"/>
                <a:ea typeface="Be Vietnam Pro" pitchFamily="34" charset="-122"/>
                <a:cs typeface="Be Vietnam Pro" pitchFamily="34" charset="-120"/>
              </a:rPr>
              <a:t> </a:t>
            </a:r>
            <a:r>
              <a:rPr lang="en-US" sz="1150" dirty="0" err="1">
                <a:solidFill>
                  <a:srgbClr val="D9E6F2"/>
                </a:solidFill>
                <a:latin typeface="Be Vietnam Pro" pitchFamily="34" charset="0"/>
                <a:ea typeface="Be Vietnam Pro" pitchFamily="34" charset="-122"/>
                <a:cs typeface="Be Vietnam Pro" pitchFamily="34" charset="-120"/>
              </a:rPr>
              <a:t>cứu</a:t>
            </a:r>
            <a:r>
              <a:rPr lang="en-US" sz="1150" dirty="0"/>
              <a:t> </a:t>
            </a:r>
            <a:r>
              <a:rPr lang="en-US" sz="1150" dirty="0" err="1">
                <a:solidFill>
                  <a:srgbClr val="D9E6F2"/>
                </a:solidFill>
                <a:latin typeface="Be Vietnam Pro" pitchFamily="34" charset="0"/>
                <a:ea typeface="Be Vietnam Pro" pitchFamily="34" charset="-122"/>
                <a:cs typeface="Be Vietnam Pro" pitchFamily="34" charset="-120"/>
              </a:rPr>
              <a:t>hộ</a:t>
            </a:r>
            <a:r>
              <a:rPr lang="en-US" sz="1150" dirty="0">
                <a:solidFill>
                  <a:srgbClr val="D9E6F2"/>
                </a:solidFill>
                <a:latin typeface="Be Vietnam Pro" pitchFamily="34" charset="0"/>
                <a:ea typeface="Be Vietnam Pro" pitchFamily="34" charset="-122"/>
                <a:cs typeface="Be Vietnam Pro" pitchFamily="34" charset="-120"/>
              </a:rPr>
              <a:t> đợt bão </a:t>
            </a:r>
            <a:r>
              <a:rPr lang="en-US" sz="1150" dirty="0" err="1">
                <a:solidFill>
                  <a:srgbClr val="D9E6F2"/>
                </a:solidFill>
                <a:latin typeface="Be Vietnam Pro" pitchFamily="34" charset="0"/>
                <a:ea typeface="Be Vietnam Pro" pitchFamily="34" charset="-122"/>
                <a:cs typeface="Be Vietnam Pro" pitchFamily="34" charset="-120"/>
              </a:rPr>
              <a:t>lũ</a:t>
            </a:r>
            <a:r>
              <a:rPr lang="en-US" sz="1150" dirty="0">
                <a:solidFill>
                  <a:srgbClr val="D9E6F2"/>
                </a:solidFill>
                <a:latin typeface="Be Vietnam Pro" pitchFamily="34" charset="0"/>
                <a:ea typeface="Be Vietnam Pro" pitchFamily="34" charset="-122"/>
                <a:cs typeface="Be Vietnam Pro" pitchFamily="34" charset="-120"/>
              </a:rPr>
              <a:t>  </a:t>
            </a:r>
            <a:r>
              <a:rPr lang="en-US" sz="1150" dirty="0" err="1">
                <a:solidFill>
                  <a:srgbClr val="D9E6F2"/>
                </a:solidFill>
                <a:latin typeface="Be Vietnam Pro" pitchFamily="34" charset="0"/>
                <a:ea typeface="Be Vietnam Pro" pitchFamily="34" charset="-122"/>
                <a:cs typeface="Be Vietnam Pro" pitchFamily="34" charset="-120"/>
              </a:rPr>
              <a:t>năm</a:t>
            </a:r>
            <a:r>
              <a:rPr lang="en-US" sz="1150" dirty="0">
                <a:solidFill>
                  <a:srgbClr val="D9E6F2"/>
                </a:solidFill>
                <a:latin typeface="Be Vietnam Pro" pitchFamily="34" charset="0"/>
                <a:ea typeface="Be Vietnam Pro" pitchFamily="34" charset="-122"/>
                <a:cs typeface="Be Vietnam Pro" pitchFamily="34" charset="-120"/>
              </a:rPr>
              <a:t> 2025.</a:t>
            </a:r>
            <a:endParaRPr lang="en-US" sz="1150" dirty="0"/>
          </a:p>
        </p:txBody>
      </p:sp>
      <p:sp>
        <p:nvSpPr>
          <p:cNvPr id="27" name="Shape 22"/>
          <p:cNvSpPr/>
          <p:nvPr/>
        </p:nvSpPr>
        <p:spPr>
          <a:xfrm>
            <a:off x="713232" y="5381181"/>
            <a:ext cx="10765231" cy="822960"/>
          </a:xfrm>
          <a:prstGeom prst="roundRect">
            <a:avLst>
              <a:gd name="adj" fmla="val 13333"/>
            </a:avLst>
          </a:prstGeom>
          <a:solidFill>
            <a:srgbClr val="22C55E">
              <a:alpha val="12000"/>
            </a:srgbClr>
          </a:solidFill>
          <a:ln w="12700">
            <a:solidFill>
              <a:srgbClr val="22C55E">
                <a:alpha val="45000"/>
              </a:srgbClr>
            </a:solidFill>
            <a:prstDash val="solid"/>
          </a:ln>
        </p:spPr>
      </p:sp>
      <p:sp>
        <p:nvSpPr>
          <p:cNvPr id="28" name="Shape 23"/>
          <p:cNvSpPr/>
          <p:nvPr/>
        </p:nvSpPr>
        <p:spPr>
          <a:xfrm>
            <a:off x="713232" y="5381181"/>
            <a:ext cx="54864" cy="822960"/>
          </a:xfrm>
          <a:prstGeom prst="roundRect">
            <a:avLst>
              <a:gd name="adj" fmla="val 50000"/>
            </a:avLst>
          </a:prstGeom>
          <a:solidFill>
            <a:srgbClr val="22C55E"/>
          </a:solidFill>
          <a:ln/>
        </p:spPr>
      </p:sp>
      <p:sp>
        <p:nvSpPr>
          <p:cNvPr id="29" name="Text 24"/>
          <p:cNvSpPr/>
          <p:nvPr/>
        </p:nvSpPr>
        <p:spPr>
          <a:xfrm>
            <a:off x="1097280" y="5509197"/>
            <a:ext cx="10125151" cy="624332"/>
          </a:xfrm>
          <a:prstGeom prst="rect">
            <a:avLst/>
          </a:prstGeom>
          <a:noFill/>
          <a:ln/>
        </p:spPr>
        <p:txBody>
          <a:bodyPr wrap="square" lIns="0" tIns="0" rIns="0" bIns="0" rtlCol="0" anchor="t"/>
          <a:lstStyle/>
          <a:p>
            <a:pPr marL="0" indent="0" algn="l">
              <a:lnSpc>
                <a:spcPts val="2170"/>
              </a:lnSpc>
              <a:buNone/>
            </a:pPr>
            <a:r>
              <a:rPr lang="en-US" sz="1550" b="1" dirty="0">
                <a:solidFill>
                  <a:srgbClr val="FFFFFF"/>
                </a:solidFill>
                <a:latin typeface="Be Vietnam Pro" pitchFamily="34" charset="0"/>
                <a:ea typeface="Be Vietnam Pro" pitchFamily="34" charset="-122"/>
                <a:cs typeface="Be Vietnam Pro" pitchFamily="34" charset="-120"/>
              </a:rPr>
              <a:t>Chúng em trăn trở: liệu công nghệ và AI có thể giảm bớt gánh nặng cho những người đang </a:t>
            </a:r>
            <a:r>
              <a:rPr lang="en-US" sz="1550" b="1" dirty="0" err="1">
                <a:solidFill>
                  <a:srgbClr val="FFFFFF"/>
                </a:solidFill>
                <a:latin typeface="Be Vietnam Pro" pitchFamily="34" charset="0"/>
                <a:ea typeface="Be Vietnam Pro" pitchFamily="34" charset="-122"/>
                <a:cs typeface="Be Vietnam Pro" pitchFamily="34" charset="-120"/>
              </a:rPr>
              <a:t>trực</a:t>
            </a:r>
            <a:r>
              <a:rPr lang="en-US" sz="1550" b="1" dirty="0">
                <a:solidFill>
                  <a:srgbClr val="FFFFFF"/>
                </a:solidFill>
                <a:latin typeface="Be Vietnam Pro" pitchFamily="34" charset="0"/>
                <a:ea typeface="Be Vietnam Pro" pitchFamily="34" charset="-122"/>
                <a:cs typeface="Be Vietnam Pro" pitchFamily="34" charset="-120"/>
              </a:rPr>
              <a:t> </a:t>
            </a:r>
            <a:r>
              <a:rPr lang="en-US" sz="1550" b="1" dirty="0" err="1">
                <a:solidFill>
                  <a:srgbClr val="FFFFFF"/>
                </a:solidFill>
                <a:latin typeface="Be Vietnam Pro" pitchFamily="34" charset="0"/>
                <a:ea typeface="Be Vietnam Pro" pitchFamily="34" charset="-122"/>
                <a:cs typeface="Be Vietnam Pro" pitchFamily="34" charset="-120"/>
              </a:rPr>
              <a:t>tiếp</a:t>
            </a:r>
            <a:r>
              <a:rPr lang="en-US" sz="1550" dirty="0"/>
              <a:t> </a:t>
            </a:r>
            <a:r>
              <a:rPr lang="en-US" sz="1550" b="1" dirty="0" err="1">
                <a:solidFill>
                  <a:srgbClr val="FFFFFF"/>
                </a:solidFill>
                <a:latin typeface="Be Vietnam Pro" pitchFamily="34" charset="0"/>
                <a:ea typeface="Be Vietnam Pro" pitchFamily="34" charset="-122"/>
                <a:cs typeface="Be Vietnam Pro" pitchFamily="34" charset="-120"/>
              </a:rPr>
              <a:t>điều</a:t>
            </a:r>
            <a:r>
              <a:rPr lang="en-US" sz="1550" b="1" dirty="0">
                <a:solidFill>
                  <a:srgbClr val="FFFFFF"/>
                </a:solidFill>
                <a:latin typeface="Be Vietnam Pro" pitchFamily="34" charset="0"/>
                <a:ea typeface="Be Vietnam Pro" pitchFamily="34" charset="-122"/>
                <a:cs typeface="Be Vietnam Pro" pitchFamily="34" charset="-120"/>
              </a:rPr>
              <a:t> phối cứu hộ? </a:t>
            </a:r>
          </a:p>
          <a:p>
            <a:pPr marL="0" indent="0" algn="l">
              <a:lnSpc>
                <a:spcPts val="2170"/>
              </a:lnSpc>
              <a:buNone/>
            </a:pPr>
            <a:r>
              <a:rPr lang="en-US" sz="1550" b="1" dirty="0" err="1">
                <a:solidFill>
                  <a:srgbClr val="FFFFFF"/>
                </a:solidFill>
                <a:latin typeface="Be Vietnam Pro" pitchFamily="34" charset="0"/>
                <a:ea typeface="Be Vietnam Pro" pitchFamily="34" charset="-122"/>
                <a:cs typeface="Be Vietnam Pro" pitchFamily="34" charset="-120"/>
              </a:rPr>
              <a:t>Đó</a:t>
            </a:r>
            <a:r>
              <a:rPr lang="en-US" sz="1550" b="1" dirty="0">
                <a:solidFill>
                  <a:srgbClr val="FFFFFF"/>
                </a:solidFill>
                <a:latin typeface="Be Vietnam Pro" pitchFamily="34" charset="0"/>
                <a:ea typeface="Be Vietnam Pro" pitchFamily="34" charset="-122"/>
                <a:cs typeface="Be Vietnam Pro" pitchFamily="34" charset="-120"/>
              </a:rPr>
              <a:t> là lý do Ứng Phó Nhanh ra đời.</a:t>
            </a:r>
            <a:endParaRPr lang="en-US" sz="15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32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03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ĐỢT MƯA LŨ THÁNG 11/2025</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Sông Ba và sông Kỳ Lộ vượt đỉnh lũ lịch sử</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424160" cy="32207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Mưa phổ </a:t>
            </a:r>
            <a:r>
              <a:rPr lang="en-US" sz="1400" dirty="0" err="1">
                <a:solidFill>
                  <a:srgbClr val="9BB0C6"/>
                </a:solidFill>
                <a:latin typeface="Be Vietnam Pro" pitchFamily="34" charset="0"/>
                <a:ea typeface="Be Vietnam Pro" pitchFamily="34" charset="-122"/>
                <a:cs typeface="Be Vietnam Pro" pitchFamily="34" charset="-120"/>
              </a:rPr>
              <a:t>biến</a:t>
            </a:r>
            <a:r>
              <a:rPr lang="en-US" sz="1400" dirty="0">
                <a:solidFill>
                  <a:srgbClr val="9BB0C6"/>
                </a:solidFill>
                <a:latin typeface="Be Vietnam Pro" pitchFamily="34" charset="0"/>
                <a:ea typeface="Be Vietnam Pro" pitchFamily="34" charset="-122"/>
                <a:cs typeface="Be Vietnam Pro" pitchFamily="34" charset="-120"/>
              </a:rPr>
              <a:t> 400 – 600 mm, có nơi trên 800 mm, đợt thiên tai trực tiếp thúc đẩy nhóm em bắt tay vào làm dự án này.</a:t>
            </a:r>
            <a:endParaRPr lang="en-US" sz="1400" dirty="0"/>
          </a:p>
        </p:txBody>
      </p:sp>
      <p:sp>
        <p:nvSpPr>
          <p:cNvPr id="13" name="Shape 9"/>
          <p:cNvSpPr/>
          <p:nvPr/>
        </p:nvSpPr>
        <p:spPr>
          <a:xfrm>
            <a:off x="713232"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14" name="Shape 10"/>
          <p:cNvSpPr/>
          <p:nvPr/>
        </p:nvSpPr>
        <p:spPr>
          <a:xfrm>
            <a:off x="713232" y="2834894"/>
            <a:ext cx="50292" cy="1920240"/>
          </a:xfrm>
          <a:prstGeom prst="roundRect">
            <a:avLst>
              <a:gd name="adj" fmla="val 54545"/>
            </a:avLst>
          </a:prstGeom>
          <a:solidFill>
            <a:srgbClr val="F87171">
              <a:alpha val="95000"/>
            </a:srgbClr>
          </a:solidFill>
          <a:ln/>
        </p:spPr>
      </p:sp>
      <p:sp>
        <p:nvSpPr>
          <p:cNvPr id="15" name="Text 11"/>
          <p:cNvSpPr/>
          <p:nvPr/>
        </p:nvSpPr>
        <p:spPr>
          <a:xfrm>
            <a:off x="1005840"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F87171"/>
                </a:solidFill>
                <a:latin typeface="Be Vietnam Pro" pitchFamily="34" charset="0"/>
                <a:ea typeface="Be Vietnam Pro" pitchFamily="34" charset="-122"/>
                <a:cs typeface="Be Vietnam Pro" pitchFamily="34" charset="-120"/>
              </a:rPr>
              <a:t>19</a:t>
            </a:r>
            <a:endParaRPr lang="en-US" sz="3400" dirty="0"/>
          </a:p>
        </p:txBody>
      </p:sp>
      <p:sp>
        <p:nvSpPr>
          <p:cNvPr id="16" name="Text 12"/>
          <p:cNvSpPr/>
          <p:nvPr/>
        </p:nvSpPr>
        <p:spPr>
          <a:xfrm>
            <a:off x="1005840"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người chết</a:t>
            </a:r>
            <a:endParaRPr lang="en-US" sz="1400" dirty="0"/>
          </a:p>
        </p:txBody>
      </p:sp>
      <p:sp>
        <p:nvSpPr>
          <p:cNvPr id="17" name="Text 13"/>
          <p:cNvSpPr/>
          <p:nvPr/>
        </p:nvSpPr>
        <p:spPr>
          <a:xfrm>
            <a:off x="1005840" y="4060190"/>
            <a:ext cx="1991792"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Cùng 6 người mất tích,</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tính đến ngày 20/11/2025.</a:t>
            </a:r>
            <a:endParaRPr lang="en-US" sz="1150" dirty="0"/>
          </a:p>
        </p:txBody>
      </p:sp>
      <p:sp>
        <p:nvSpPr>
          <p:cNvPr id="18" name="Shape 14"/>
          <p:cNvSpPr/>
          <p:nvPr/>
        </p:nvSpPr>
        <p:spPr>
          <a:xfrm>
            <a:off x="3473120"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19" name="Shape 15"/>
          <p:cNvSpPr/>
          <p:nvPr/>
        </p:nvSpPr>
        <p:spPr>
          <a:xfrm>
            <a:off x="3473120" y="2834894"/>
            <a:ext cx="50292" cy="1920240"/>
          </a:xfrm>
          <a:prstGeom prst="roundRect">
            <a:avLst>
              <a:gd name="adj" fmla="val 54545"/>
            </a:avLst>
          </a:prstGeom>
          <a:solidFill>
            <a:srgbClr val="38BDF8">
              <a:alpha val="95000"/>
            </a:srgbClr>
          </a:solidFill>
          <a:ln/>
        </p:spPr>
      </p:sp>
      <p:sp>
        <p:nvSpPr>
          <p:cNvPr id="20" name="Text 16"/>
          <p:cNvSpPr/>
          <p:nvPr/>
        </p:nvSpPr>
        <p:spPr>
          <a:xfrm>
            <a:off x="3765728"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38BDF8"/>
                </a:solidFill>
                <a:latin typeface="Be Vietnam Pro" pitchFamily="34" charset="0"/>
                <a:ea typeface="Be Vietnam Pro" pitchFamily="34" charset="-122"/>
                <a:cs typeface="Be Vietnam Pro" pitchFamily="34" charset="-120"/>
              </a:rPr>
              <a:t>85.700+</a:t>
            </a:r>
            <a:endParaRPr lang="en-US" sz="3400" dirty="0"/>
          </a:p>
        </p:txBody>
      </p:sp>
      <p:sp>
        <p:nvSpPr>
          <p:cNvPr id="21" name="Text 17"/>
          <p:cNvSpPr/>
          <p:nvPr/>
        </p:nvSpPr>
        <p:spPr>
          <a:xfrm>
            <a:off x="3765728"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lượt nhà bị ngập</a:t>
            </a:r>
            <a:endParaRPr lang="en-US" sz="1400" dirty="0"/>
          </a:p>
        </p:txBody>
      </p:sp>
      <p:sp>
        <p:nvSpPr>
          <p:cNvPr id="22" name="Text 18"/>
          <p:cNvSpPr/>
          <p:nvPr/>
        </p:nvSpPr>
        <p:spPr>
          <a:xfrm>
            <a:off x="3765728" y="4060190"/>
            <a:ext cx="1991792" cy="68656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Nước lên nhanh, nhiều khu</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dân cư ngập </a:t>
            </a:r>
            <a:r>
              <a:rPr lang="en-US" sz="1150" dirty="0" err="1">
                <a:solidFill>
                  <a:srgbClr val="9BB0C6"/>
                </a:solidFill>
                <a:latin typeface="Be Vietnam Pro" pitchFamily="34" charset="0"/>
                <a:ea typeface="Be Vietnam Pro" pitchFamily="34" charset="-122"/>
                <a:cs typeface="Be Vietnam Pro" pitchFamily="34" charset="-120"/>
              </a:rPr>
              <a:t>sâu</a:t>
            </a:r>
            <a:r>
              <a:rPr lang="en-US" sz="1150" dirty="0">
                <a:solidFill>
                  <a:srgbClr val="9BB0C6"/>
                </a:solidFill>
                <a:latin typeface="Be Vietnam Pro" pitchFamily="34" charset="0"/>
                <a:ea typeface="Be Vietnam Pro" pitchFamily="34" charset="-122"/>
                <a:cs typeface="Be Vietnam Pro" pitchFamily="34" charset="-120"/>
              </a:rPr>
              <a:t> </a:t>
            </a:r>
            <a:r>
              <a:rPr lang="en-US" sz="1150" dirty="0" err="1">
                <a:solidFill>
                  <a:srgbClr val="9BB0C6"/>
                </a:solidFill>
                <a:latin typeface="Be Vietnam Pro" pitchFamily="34" charset="0"/>
                <a:ea typeface="Be Vietnam Pro" pitchFamily="34" charset="-122"/>
                <a:cs typeface="Be Vietnam Pro" pitchFamily="34" charset="-120"/>
              </a:rPr>
              <a:t>nhiều</a:t>
            </a:r>
            <a:r>
              <a:rPr lang="en-US" sz="1150" dirty="0"/>
              <a:t> </a:t>
            </a:r>
            <a:r>
              <a:rPr lang="en-US" sz="1150" dirty="0" err="1">
                <a:solidFill>
                  <a:srgbClr val="9BB0C6"/>
                </a:solidFill>
                <a:latin typeface="Be Vietnam Pro" pitchFamily="34" charset="0"/>
                <a:ea typeface="Be Vietnam Pro" pitchFamily="34" charset="-122"/>
                <a:cs typeface="Be Vietnam Pro" pitchFamily="34" charset="-120"/>
              </a:rPr>
              <a:t>ngày</a:t>
            </a:r>
            <a:r>
              <a:rPr lang="en-US" sz="1150" dirty="0">
                <a:solidFill>
                  <a:srgbClr val="9BB0C6"/>
                </a:solidFill>
                <a:latin typeface="Be Vietnam Pro" pitchFamily="34" charset="0"/>
                <a:ea typeface="Be Vietnam Pro" pitchFamily="34" charset="-122"/>
                <a:cs typeface="Be Vietnam Pro" pitchFamily="34" charset="-120"/>
              </a:rPr>
              <a:t>.</a:t>
            </a:r>
            <a:endParaRPr lang="en-US" sz="1150" dirty="0"/>
          </a:p>
        </p:txBody>
      </p:sp>
      <p:sp>
        <p:nvSpPr>
          <p:cNvPr id="23" name="Shape 19"/>
          <p:cNvSpPr/>
          <p:nvPr/>
        </p:nvSpPr>
        <p:spPr>
          <a:xfrm>
            <a:off x="6233008"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24" name="Shape 20"/>
          <p:cNvSpPr/>
          <p:nvPr/>
        </p:nvSpPr>
        <p:spPr>
          <a:xfrm>
            <a:off x="6233008" y="2834894"/>
            <a:ext cx="50292" cy="1920240"/>
          </a:xfrm>
          <a:prstGeom prst="roundRect">
            <a:avLst>
              <a:gd name="adj" fmla="val 54545"/>
            </a:avLst>
          </a:prstGeom>
          <a:solidFill>
            <a:srgbClr val="FB923C">
              <a:alpha val="95000"/>
            </a:srgbClr>
          </a:solidFill>
          <a:ln/>
        </p:spPr>
      </p:sp>
      <p:sp>
        <p:nvSpPr>
          <p:cNvPr id="25" name="Text 21"/>
          <p:cNvSpPr/>
          <p:nvPr/>
        </p:nvSpPr>
        <p:spPr>
          <a:xfrm>
            <a:off x="6525616"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FB923C"/>
                </a:solidFill>
                <a:latin typeface="Be Vietnam Pro" pitchFamily="34" charset="0"/>
                <a:ea typeface="Be Vietnam Pro" pitchFamily="34" charset="-122"/>
                <a:cs typeface="Be Vietnam Pro" pitchFamily="34" charset="-120"/>
              </a:rPr>
              <a:t>12.800+</a:t>
            </a:r>
            <a:endParaRPr lang="en-US" sz="3400" dirty="0"/>
          </a:p>
        </p:txBody>
      </p:sp>
      <p:sp>
        <p:nvSpPr>
          <p:cNvPr id="26" name="Text 22"/>
          <p:cNvSpPr/>
          <p:nvPr/>
        </p:nvSpPr>
        <p:spPr>
          <a:xfrm>
            <a:off x="6525616"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hộ bị cô lập</a:t>
            </a:r>
            <a:endParaRPr lang="en-US" sz="1400" dirty="0"/>
          </a:p>
        </p:txBody>
      </p:sp>
      <p:sp>
        <p:nvSpPr>
          <p:cNvPr id="27" name="Text 23"/>
          <p:cNvSpPr/>
          <p:nvPr/>
        </p:nvSpPr>
        <p:spPr>
          <a:xfrm>
            <a:off x="6525616" y="4060190"/>
            <a:ext cx="1991792" cy="68656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Đường bị chia cắt, </a:t>
            </a:r>
            <a:r>
              <a:rPr lang="en-US" sz="1150" dirty="0" err="1">
                <a:solidFill>
                  <a:srgbClr val="9BB0C6"/>
                </a:solidFill>
                <a:latin typeface="Be Vietnam Pro" pitchFamily="34" charset="0"/>
                <a:ea typeface="Be Vietnam Pro" pitchFamily="34" charset="-122"/>
                <a:cs typeface="Be Vietnam Pro" pitchFamily="34" charset="-120"/>
              </a:rPr>
              <a:t>vật</a:t>
            </a:r>
            <a:r>
              <a:rPr lang="en-US" sz="1150" dirty="0">
                <a:solidFill>
                  <a:srgbClr val="9BB0C6"/>
                </a:solidFill>
                <a:latin typeface="Be Vietnam Pro" pitchFamily="34" charset="0"/>
                <a:ea typeface="Be Vietnam Pro" pitchFamily="34" charset="-122"/>
                <a:cs typeface="Be Vietnam Pro" pitchFamily="34" charset="-120"/>
              </a:rPr>
              <a:t> </a:t>
            </a:r>
            <a:r>
              <a:rPr lang="en-US" sz="1150" dirty="0" err="1">
                <a:solidFill>
                  <a:srgbClr val="9BB0C6"/>
                </a:solidFill>
                <a:latin typeface="Be Vietnam Pro" pitchFamily="34" charset="0"/>
                <a:ea typeface="Be Vietnam Pro" pitchFamily="34" charset="-122"/>
                <a:cs typeface="Be Vietnam Pro" pitchFamily="34" charset="-120"/>
              </a:rPr>
              <a:t>tư</a:t>
            </a:r>
            <a:r>
              <a:rPr lang="en-US" sz="1150" dirty="0"/>
              <a:t> </a:t>
            </a:r>
            <a:r>
              <a:rPr lang="en-US" sz="1150" dirty="0" err="1">
                <a:solidFill>
                  <a:srgbClr val="9BB0C6"/>
                </a:solidFill>
                <a:latin typeface="Be Vietnam Pro" pitchFamily="34" charset="0"/>
                <a:ea typeface="Be Vietnam Pro" pitchFamily="34" charset="-122"/>
                <a:cs typeface="Be Vietnam Pro" pitchFamily="34" charset="-120"/>
              </a:rPr>
              <a:t>cứu</a:t>
            </a:r>
            <a:r>
              <a:rPr lang="en-US" sz="1150" dirty="0">
                <a:solidFill>
                  <a:srgbClr val="9BB0C6"/>
                </a:solidFill>
                <a:latin typeface="Be Vietnam Pro" pitchFamily="34" charset="0"/>
                <a:ea typeface="Be Vietnam Pro" pitchFamily="34" charset="-122"/>
                <a:cs typeface="Be Vietnam Pro" pitchFamily="34" charset="-120"/>
              </a:rPr>
              <a:t> trợ không </a:t>
            </a:r>
            <a:r>
              <a:rPr lang="en-US" sz="1150" dirty="0" err="1">
                <a:solidFill>
                  <a:srgbClr val="9BB0C6"/>
                </a:solidFill>
                <a:latin typeface="Be Vietnam Pro" pitchFamily="34" charset="0"/>
                <a:ea typeface="Be Vietnam Pro" pitchFamily="34" charset="-122"/>
                <a:cs typeface="Be Vietnam Pro" pitchFamily="34" charset="-120"/>
              </a:rPr>
              <a:t>vào</a:t>
            </a:r>
            <a:r>
              <a:rPr lang="en-US" sz="1150" dirty="0">
                <a:solidFill>
                  <a:srgbClr val="9BB0C6"/>
                </a:solidFill>
                <a:latin typeface="Be Vietnam Pro" pitchFamily="34" charset="0"/>
                <a:ea typeface="Be Vietnam Pro" pitchFamily="34" charset="-122"/>
                <a:cs typeface="Be Vietnam Pro" pitchFamily="34" charset="-120"/>
              </a:rPr>
              <a:t> </a:t>
            </a:r>
            <a:r>
              <a:rPr lang="en-US" sz="1150" dirty="0" err="1">
                <a:solidFill>
                  <a:srgbClr val="9BB0C6"/>
                </a:solidFill>
                <a:latin typeface="Be Vietnam Pro" pitchFamily="34" charset="0"/>
                <a:ea typeface="Be Vietnam Pro" pitchFamily="34" charset="-122"/>
                <a:cs typeface="Be Vietnam Pro" pitchFamily="34" charset="-120"/>
              </a:rPr>
              <a:t>được</a:t>
            </a:r>
            <a:r>
              <a:rPr lang="en-US" sz="1150" dirty="0"/>
              <a:t> </a:t>
            </a:r>
            <a:r>
              <a:rPr lang="en-US" sz="1150" dirty="0" err="1">
                <a:solidFill>
                  <a:srgbClr val="9BB0C6"/>
                </a:solidFill>
                <a:latin typeface="Be Vietnam Pro" pitchFamily="34" charset="0"/>
                <a:ea typeface="Be Vietnam Pro" pitchFamily="34" charset="-122"/>
                <a:cs typeface="Be Vietnam Pro" pitchFamily="34" charset="-120"/>
              </a:rPr>
              <a:t>bằng</a:t>
            </a:r>
            <a:r>
              <a:rPr lang="en-US" sz="1150" dirty="0">
                <a:solidFill>
                  <a:srgbClr val="9BB0C6"/>
                </a:solidFill>
                <a:latin typeface="Be Vietnam Pro" pitchFamily="34" charset="0"/>
                <a:ea typeface="Be Vietnam Pro" pitchFamily="34" charset="-122"/>
                <a:cs typeface="Be Vietnam Pro" pitchFamily="34" charset="-120"/>
              </a:rPr>
              <a:t> đường bộ.</a:t>
            </a:r>
            <a:endParaRPr lang="en-US" sz="1150" dirty="0"/>
          </a:p>
        </p:txBody>
      </p:sp>
      <p:sp>
        <p:nvSpPr>
          <p:cNvPr id="28" name="Shape 24"/>
          <p:cNvSpPr/>
          <p:nvPr/>
        </p:nvSpPr>
        <p:spPr>
          <a:xfrm>
            <a:off x="8992895"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29" name="Shape 25"/>
          <p:cNvSpPr/>
          <p:nvPr/>
        </p:nvSpPr>
        <p:spPr>
          <a:xfrm>
            <a:off x="8992895" y="2834894"/>
            <a:ext cx="50292" cy="1920240"/>
          </a:xfrm>
          <a:prstGeom prst="roundRect">
            <a:avLst>
              <a:gd name="adj" fmla="val 54545"/>
            </a:avLst>
          </a:prstGeom>
          <a:solidFill>
            <a:srgbClr val="FBBF24">
              <a:alpha val="95000"/>
            </a:srgbClr>
          </a:solidFill>
          <a:ln/>
        </p:spPr>
      </p:sp>
      <p:sp>
        <p:nvSpPr>
          <p:cNvPr id="30" name="Text 26"/>
          <p:cNvSpPr/>
          <p:nvPr/>
        </p:nvSpPr>
        <p:spPr>
          <a:xfrm>
            <a:off x="9285503"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FBBF24"/>
                </a:solidFill>
                <a:latin typeface="Be Vietnam Pro" pitchFamily="34" charset="0"/>
                <a:ea typeface="Be Vietnam Pro" pitchFamily="34" charset="-122"/>
                <a:cs typeface="Be Vietnam Pro" pitchFamily="34" charset="-120"/>
              </a:rPr>
              <a:t>40</a:t>
            </a:r>
            <a:endParaRPr lang="en-US" sz="3400" dirty="0"/>
          </a:p>
        </p:txBody>
      </p:sp>
      <p:sp>
        <p:nvSpPr>
          <p:cNvPr id="31" name="Text 27"/>
          <p:cNvSpPr/>
          <p:nvPr/>
        </p:nvSpPr>
        <p:spPr>
          <a:xfrm>
            <a:off x="9285503"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xã, phường</a:t>
            </a:r>
            <a:endParaRPr lang="en-US" sz="1400" dirty="0"/>
          </a:p>
        </p:txBody>
      </p:sp>
      <p:sp>
        <p:nvSpPr>
          <p:cNvPr id="32" name="Text 28"/>
          <p:cNvSpPr/>
          <p:nvPr/>
        </p:nvSpPr>
        <p:spPr>
          <a:xfrm>
            <a:off x="9285503" y="4060190"/>
            <a:ext cx="1991792" cy="68656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Phải công bố </a:t>
            </a:r>
            <a:r>
              <a:rPr lang="en-US" sz="1150" dirty="0" err="1">
                <a:solidFill>
                  <a:srgbClr val="9BB0C6"/>
                </a:solidFill>
                <a:latin typeface="Be Vietnam Pro" pitchFamily="34" charset="0"/>
                <a:ea typeface="Be Vietnam Pro" pitchFamily="34" charset="-122"/>
                <a:cs typeface="Be Vietnam Pro" pitchFamily="34" charset="-120"/>
              </a:rPr>
              <a:t>tình</a:t>
            </a:r>
            <a:r>
              <a:rPr lang="en-US" sz="1150" dirty="0">
                <a:solidFill>
                  <a:srgbClr val="9BB0C6"/>
                </a:solidFill>
                <a:latin typeface="Be Vietnam Pro" pitchFamily="34" charset="0"/>
                <a:ea typeface="Be Vietnam Pro" pitchFamily="34" charset="-122"/>
                <a:cs typeface="Be Vietnam Pro" pitchFamily="34" charset="-120"/>
              </a:rPr>
              <a:t> </a:t>
            </a:r>
            <a:r>
              <a:rPr lang="en-US" sz="1150" dirty="0" err="1">
                <a:solidFill>
                  <a:srgbClr val="9BB0C6"/>
                </a:solidFill>
                <a:latin typeface="Be Vietnam Pro" pitchFamily="34" charset="0"/>
                <a:ea typeface="Be Vietnam Pro" pitchFamily="34" charset="-122"/>
                <a:cs typeface="Be Vietnam Pro" pitchFamily="34" charset="-120"/>
              </a:rPr>
              <a:t>huống</a:t>
            </a:r>
            <a:r>
              <a:rPr lang="en-US" sz="1150" dirty="0"/>
              <a:t> </a:t>
            </a:r>
            <a:r>
              <a:rPr lang="en-US" sz="1150" dirty="0" err="1">
                <a:solidFill>
                  <a:srgbClr val="9BB0C6"/>
                </a:solidFill>
                <a:latin typeface="Be Vietnam Pro" pitchFamily="34" charset="0"/>
                <a:ea typeface="Be Vietnam Pro" pitchFamily="34" charset="-122"/>
                <a:cs typeface="Be Vietnam Pro" pitchFamily="34" charset="-120"/>
              </a:rPr>
              <a:t>khẩn</a:t>
            </a:r>
            <a:r>
              <a:rPr lang="en-US" sz="1150" dirty="0">
                <a:solidFill>
                  <a:srgbClr val="9BB0C6"/>
                </a:solidFill>
                <a:latin typeface="Be Vietnam Pro" pitchFamily="34" charset="0"/>
                <a:ea typeface="Be Vietnam Pro" pitchFamily="34" charset="-122"/>
                <a:cs typeface="Be Vietnam Pro" pitchFamily="34" charset="-120"/>
              </a:rPr>
              <a:t> cấp về </a:t>
            </a:r>
            <a:r>
              <a:rPr lang="en-US" sz="1150" dirty="0" err="1">
                <a:solidFill>
                  <a:srgbClr val="9BB0C6"/>
                </a:solidFill>
                <a:latin typeface="Be Vietnam Pro" pitchFamily="34" charset="0"/>
                <a:ea typeface="Be Vietnam Pro" pitchFamily="34" charset="-122"/>
                <a:cs typeface="Be Vietnam Pro" pitchFamily="34" charset="-120"/>
              </a:rPr>
              <a:t>thiên</a:t>
            </a:r>
            <a:r>
              <a:rPr lang="en-US" sz="1150" dirty="0">
                <a:solidFill>
                  <a:srgbClr val="9BB0C6"/>
                </a:solidFill>
                <a:latin typeface="Be Vietnam Pro" pitchFamily="34" charset="0"/>
                <a:ea typeface="Be Vietnam Pro" pitchFamily="34" charset="-122"/>
                <a:cs typeface="Be Vietnam Pro" pitchFamily="34" charset="-120"/>
              </a:rPr>
              <a:t> tai,</a:t>
            </a:r>
            <a:r>
              <a:rPr lang="en-US" sz="1150" dirty="0"/>
              <a:t> </a:t>
            </a:r>
            <a:r>
              <a:rPr lang="en-US" sz="1150" dirty="0" err="1">
                <a:solidFill>
                  <a:srgbClr val="9BB0C6"/>
                </a:solidFill>
                <a:latin typeface="Be Vietnam Pro" pitchFamily="34" charset="0"/>
                <a:ea typeface="Be Vietnam Pro" pitchFamily="34" charset="-122"/>
                <a:cs typeface="Be Vietnam Pro" pitchFamily="34" charset="-120"/>
              </a:rPr>
              <a:t>trong</a:t>
            </a:r>
            <a:r>
              <a:rPr lang="en-US" sz="1150" dirty="0">
                <a:solidFill>
                  <a:srgbClr val="9BB0C6"/>
                </a:solidFill>
                <a:latin typeface="Be Vietnam Pro" pitchFamily="34" charset="0"/>
                <a:ea typeface="Be Vietnam Pro" pitchFamily="34" charset="-122"/>
                <a:cs typeface="Be Vietnam Pro" pitchFamily="34" charset="-120"/>
              </a:rPr>
              <a:t> đó có xã Đồng Xuân.</a:t>
            </a:r>
            <a:endParaRPr lang="en-US" sz="1150" dirty="0"/>
          </a:p>
        </p:txBody>
      </p:sp>
      <p:sp>
        <p:nvSpPr>
          <p:cNvPr id="33" name="Shape 29"/>
          <p:cNvSpPr/>
          <p:nvPr/>
        </p:nvSpPr>
        <p:spPr>
          <a:xfrm>
            <a:off x="713232" y="5029454"/>
            <a:ext cx="10765231" cy="859536"/>
          </a:xfrm>
          <a:prstGeom prst="roundRect">
            <a:avLst>
              <a:gd name="adj" fmla="val 12766"/>
            </a:avLst>
          </a:prstGeom>
          <a:solidFill>
            <a:srgbClr val="F87171">
              <a:alpha val="12000"/>
            </a:srgbClr>
          </a:solidFill>
          <a:ln w="12700">
            <a:solidFill>
              <a:srgbClr val="F87171">
                <a:alpha val="45000"/>
              </a:srgbClr>
            </a:solidFill>
            <a:prstDash val="solid"/>
          </a:ln>
        </p:spPr>
      </p:sp>
      <p:sp>
        <p:nvSpPr>
          <p:cNvPr id="34" name="Shape 30"/>
          <p:cNvSpPr/>
          <p:nvPr/>
        </p:nvSpPr>
        <p:spPr>
          <a:xfrm>
            <a:off x="713232" y="5029454"/>
            <a:ext cx="54864" cy="859536"/>
          </a:xfrm>
          <a:prstGeom prst="roundRect">
            <a:avLst>
              <a:gd name="adj" fmla="val 50000"/>
            </a:avLst>
          </a:prstGeom>
          <a:solidFill>
            <a:srgbClr val="F87171"/>
          </a:solidFill>
          <a:ln/>
        </p:spPr>
      </p:sp>
      <p:sp>
        <p:nvSpPr>
          <p:cNvPr id="35" name="Text 31"/>
          <p:cNvSpPr/>
          <p:nvPr/>
        </p:nvSpPr>
        <p:spPr>
          <a:xfrm>
            <a:off x="1097280" y="5166614"/>
            <a:ext cx="2926080" cy="492252"/>
          </a:xfrm>
          <a:prstGeom prst="rect">
            <a:avLst/>
          </a:prstGeom>
          <a:noFill/>
          <a:ln/>
        </p:spPr>
        <p:txBody>
          <a:bodyPr wrap="square" lIns="0" tIns="0" rIns="0" bIns="0" rtlCol="0" anchor="t"/>
          <a:lstStyle/>
          <a:p>
            <a:pPr marL="0" indent="0" algn="l">
              <a:lnSpc>
                <a:spcPts val="3300"/>
              </a:lnSpc>
              <a:buNone/>
            </a:pPr>
            <a:r>
              <a:rPr lang="en-US" sz="3000" b="1" dirty="0">
                <a:solidFill>
                  <a:srgbClr val="F87171"/>
                </a:solidFill>
                <a:latin typeface="Be Vietnam Pro" pitchFamily="34" charset="0"/>
                <a:ea typeface="Be Vietnam Pro" pitchFamily="34" charset="-122"/>
                <a:cs typeface="Be Vietnam Pro" pitchFamily="34" charset="-120"/>
              </a:rPr>
              <a:t>9.730 </a:t>
            </a:r>
            <a:r>
              <a:rPr lang="en-US" sz="3000" b="1" dirty="0" err="1">
                <a:solidFill>
                  <a:srgbClr val="F87171"/>
                </a:solidFill>
                <a:latin typeface="Be Vietnam Pro" pitchFamily="34" charset="0"/>
                <a:ea typeface="Be Vietnam Pro" pitchFamily="34" charset="-122"/>
                <a:cs typeface="Be Vietnam Pro" pitchFamily="34" charset="-120"/>
              </a:rPr>
              <a:t>tỷ</a:t>
            </a:r>
            <a:r>
              <a:rPr lang="en-US" sz="3000" b="1" dirty="0">
                <a:solidFill>
                  <a:srgbClr val="F87171"/>
                </a:solidFill>
                <a:latin typeface="Be Vietnam Pro" pitchFamily="34" charset="0"/>
                <a:ea typeface="Be Vietnam Pro" pitchFamily="34" charset="-122"/>
                <a:cs typeface="Be Vietnam Pro" pitchFamily="34" charset="-120"/>
              </a:rPr>
              <a:t> </a:t>
            </a:r>
            <a:r>
              <a:rPr lang="en-US" sz="3000" b="1" dirty="0" err="1">
                <a:solidFill>
                  <a:srgbClr val="F87171"/>
                </a:solidFill>
                <a:latin typeface="Be Vietnam Pro" pitchFamily="34" charset="0"/>
                <a:ea typeface="Be Vietnam Pro" pitchFamily="34" charset="-122"/>
                <a:cs typeface="Be Vietnam Pro" pitchFamily="34" charset="-120"/>
              </a:rPr>
              <a:t>đồng</a:t>
            </a:r>
            <a:endParaRPr lang="en-US" sz="3000" dirty="0"/>
          </a:p>
        </p:txBody>
      </p:sp>
      <p:sp>
        <p:nvSpPr>
          <p:cNvPr id="36" name="Text 32"/>
          <p:cNvSpPr/>
          <p:nvPr/>
        </p:nvSpPr>
        <p:spPr>
          <a:xfrm>
            <a:off x="3913632" y="5203190"/>
            <a:ext cx="7290511" cy="588772"/>
          </a:xfrm>
          <a:prstGeom prst="rect">
            <a:avLst/>
          </a:prstGeom>
          <a:noFill/>
          <a:ln/>
        </p:spPr>
        <p:txBody>
          <a:bodyPr wrap="square" lIns="0" tIns="0" rIns="0" bIns="0" rtlCol="0" anchor="t"/>
          <a:lstStyle/>
          <a:p>
            <a:pPr marL="0" indent="0" algn="l">
              <a:lnSpc>
                <a:spcPts val="2030"/>
              </a:lnSpc>
              <a:buNone/>
            </a:pPr>
            <a:r>
              <a:rPr lang="en-US" sz="1450" b="1" dirty="0" err="1">
                <a:solidFill>
                  <a:srgbClr val="FFFFFF"/>
                </a:solidFill>
                <a:latin typeface="Be Vietnam Pro" pitchFamily="34" charset="0"/>
                <a:ea typeface="Be Vietnam Pro" pitchFamily="34" charset="-122"/>
                <a:cs typeface="Be Vietnam Pro" pitchFamily="34" charset="-120"/>
              </a:rPr>
              <a:t>Tổng</a:t>
            </a:r>
            <a:r>
              <a:rPr lang="en-US" sz="1450" b="1" dirty="0">
                <a:solidFill>
                  <a:srgbClr val="FFFFFF"/>
                </a:solidFill>
                <a:latin typeface="Be Vietnam Pro" pitchFamily="34" charset="0"/>
                <a:ea typeface="Be Vietnam Pro" pitchFamily="34" charset="-122"/>
                <a:cs typeface="Be Vietnam Pro" pitchFamily="34" charset="-120"/>
              </a:rPr>
              <a:t> thiệt hại thiên tai của tỉnh trong năm 2025. </a:t>
            </a:r>
          </a:p>
          <a:p>
            <a:pPr marL="0" indent="0" algn="l">
              <a:lnSpc>
                <a:spcPts val="2030"/>
              </a:lnSpc>
              <a:buNone/>
            </a:pPr>
            <a:r>
              <a:rPr lang="en-US" sz="1450" b="1" dirty="0" err="1">
                <a:solidFill>
                  <a:srgbClr val="FFFFFF"/>
                </a:solidFill>
                <a:latin typeface="Be Vietnam Pro" pitchFamily="34" charset="0"/>
                <a:ea typeface="Be Vietnam Pro" pitchFamily="34" charset="-122"/>
                <a:cs typeface="Be Vietnam Pro" pitchFamily="34" charset="-120"/>
              </a:rPr>
              <a:t>Mỗi</a:t>
            </a:r>
            <a:r>
              <a:rPr lang="en-US" sz="1450" b="1" dirty="0">
                <a:solidFill>
                  <a:srgbClr val="FFFFFF"/>
                </a:solidFill>
                <a:latin typeface="Be Vietnam Pro" pitchFamily="34" charset="0"/>
                <a:ea typeface="Be Vietnam Pro" pitchFamily="34" charset="-122"/>
                <a:cs typeface="Be Vietnam Pro" pitchFamily="34" charset="-120"/>
              </a:rPr>
              <a:t> con số ở </a:t>
            </a:r>
            <a:r>
              <a:rPr lang="en-US" sz="1450" b="1" dirty="0" err="1">
                <a:solidFill>
                  <a:srgbClr val="FFFFFF"/>
                </a:solidFill>
                <a:latin typeface="Be Vietnam Pro" pitchFamily="34" charset="0"/>
                <a:ea typeface="Be Vietnam Pro" pitchFamily="34" charset="-122"/>
                <a:cs typeface="Be Vietnam Pro" pitchFamily="34" charset="-120"/>
              </a:rPr>
              <a:t>đây</a:t>
            </a:r>
            <a:r>
              <a:rPr lang="en-US" sz="1450" b="1" dirty="0">
                <a:solidFill>
                  <a:srgbClr val="FFFFFF"/>
                </a:solidFill>
                <a:latin typeface="Be Vietnam Pro" pitchFamily="34" charset="0"/>
                <a:ea typeface="Be Vietnam Pro" pitchFamily="34" charset="-122"/>
                <a:cs typeface="Be Vietnam Pro" pitchFamily="34" charset="-120"/>
              </a:rPr>
              <a:t> </a:t>
            </a:r>
            <a:r>
              <a:rPr lang="en-US" sz="1450" b="1" dirty="0" err="1">
                <a:solidFill>
                  <a:srgbClr val="FFFFFF"/>
                </a:solidFill>
                <a:latin typeface="Be Vietnam Pro" pitchFamily="34" charset="0"/>
                <a:ea typeface="Be Vietnam Pro" pitchFamily="34" charset="-122"/>
                <a:cs typeface="Be Vietnam Pro" pitchFamily="34" charset="-120"/>
              </a:rPr>
              <a:t>là</a:t>
            </a:r>
            <a:r>
              <a:rPr lang="en-US" sz="1450" dirty="0"/>
              <a:t> </a:t>
            </a:r>
            <a:r>
              <a:rPr lang="en-US" sz="1450" b="1" dirty="0" err="1">
                <a:solidFill>
                  <a:srgbClr val="FFFFFF"/>
                </a:solidFill>
                <a:latin typeface="Be Vietnam Pro" pitchFamily="34" charset="0"/>
                <a:ea typeface="Be Vietnam Pro" pitchFamily="34" charset="-122"/>
                <a:cs typeface="Be Vietnam Pro" pitchFamily="34" charset="-120"/>
              </a:rPr>
              <a:t>một</a:t>
            </a:r>
            <a:r>
              <a:rPr lang="en-US" sz="1450" b="1" dirty="0">
                <a:solidFill>
                  <a:srgbClr val="FFFFFF"/>
                </a:solidFill>
                <a:latin typeface="Be Vietnam Pro" pitchFamily="34" charset="0"/>
                <a:ea typeface="Be Vietnam Pro" pitchFamily="34" charset="-122"/>
                <a:cs typeface="Be Vietnam Pro" pitchFamily="34" charset="-120"/>
              </a:rPr>
              <a:t> lần vật tư phải đến đúng nơi, đúng lúc.</a:t>
            </a:r>
            <a:endParaRPr lang="en-US" sz="1450" dirty="0"/>
          </a:p>
        </p:txBody>
      </p:sp>
      <p:sp>
        <p:nvSpPr>
          <p:cNvPr id="37" name="Text 33"/>
          <p:cNvSpPr/>
          <p:nvPr/>
        </p:nvSpPr>
        <p:spPr>
          <a:xfrm>
            <a:off x="713232" y="5962142"/>
            <a:ext cx="10856671" cy="236030"/>
          </a:xfrm>
          <a:prstGeom prst="rect">
            <a:avLst/>
          </a:prstGeom>
          <a:noFill/>
          <a:ln/>
        </p:spPr>
        <p:txBody>
          <a:bodyPr wrap="square" lIns="0" tIns="0" rIns="0" bIns="0" rtlCol="0" anchor="t"/>
          <a:lstStyle/>
          <a:p>
            <a:pPr marL="0" indent="0" algn="l">
              <a:lnSpc>
                <a:spcPts val="1283"/>
              </a:lnSpc>
              <a:buNone/>
            </a:pPr>
            <a:r>
              <a:rPr lang="en-US" sz="950" dirty="0">
                <a:solidFill>
                  <a:srgbClr val="7189A2"/>
                </a:solidFill>
                <a:latin typeface="Be Vietnam Pro" pitchFamily="34" charset="0"/>
                <a:ea typeface="Be Vietnam Pro" pitchFamily="34" charset="-122"/>
                <a:cs typeface="Be Vietnam Pro" pitchFamily="34" charset="-120"/>
              </a:rPr>
              <a:t>Nguồn: báo cáo thiệt hại của tỉnh Đắk Lắk (địa bàn Phú Yên cũ sau sáp nhập), số liệu tính đến ngày 20/11/2025.</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44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66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88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88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10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10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10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10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32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32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32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32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32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04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HIỆN TRƯỜNG THÁNG 11/2025</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Những gì chúng em nhìn thấy tận mắt</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332720" cy="32207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Đằng sau mỗi con số ở slide trước là những ngày nước ngập tới mái nhà, đường bị cắt và vật tư không kịp tới nơi cần.</a:t>
            </a:r>
            <a:endParaRPr lang="en-US" sz="1400" dirty="0"/>
          </a:p>
        </p:txBody>
      </p:sp>
      <p:pic>
        <p:nvPicPr>
          <p:cNvPr id="13" name="Image 2" descr="anh/da-cat/hien-truong-1.jpg"/>
          <p:cNvPicPr>
            <a:picLocks noChangeAspect="1"/>
          </p:cNvPicPr>
          <p:nvPr/>
        </p:nvPicPr>
        <p:blipFill>
          <a:blip r:embed="rId5"/>
          <a:stretch>
            <a:fillRect/>
          </a:stretch>
        </p:blipFill>
        <p:spPr>
          <a:xfrm>
            <a:off x="713232" y="2834894"/>
            <a:ext cx="3401568" cy="2468880"/>
          </a:xfrm>
          <a:prstGeom prst="rect">
            <a:avLst/>
          </a:prstGeom>
        </p:spPr>
      </p:pic>
      <p:sp>
        <p:nvSpPr>
          <p:cNvPr id="14" name="Shape 9"/>
          <p:cNvSpPr/>
          <p:nvPr/>
        </p:nvSpPr>
        <p:spPr>
          <a:xfrm>
            <a:off x="713232" y="2834894"/>
            <a:ext cx="3401568" cy="2468880"/>
          </a:xfrm>
          <a:prstGeom prst="roundRect">
            <a:avLst>
              <a:gd name="adj" fmla="val 4444"/>
            </a:avLst>
          </a:prstGeom>
          <a:solidFill>
            <a:srgbClr val="FFFFFF">
              <a:alpha val="0"/>
            </a:srgbClr>
          </a:solidFill>
          <a:ln w="12700">
            <a:solidFill>
              <a:srgbClr val="FFFFFF">
                <a:alpha val="18000"/>
              </a:srgbClr>
            </a:solidFill>
            <a:prstDash val="solid"/>
          </a:ln>
        </p:spPr>
      </p:sp>
      <p:sp>
        <p:nvSpPr>
          <p:cNvPr id="15" name="Text 10"/>
          <p:cNvSpPr/>
          <p:nvPr/>
        </p:nvSpPr>
        <p:spPr>
          <a:xfrm>
            <a:off x="713232" y="5376926"/>
            <a:ext cx="3493008" cy="433197"/>
          </a:xfrm>
          <a:prstGeom prst="rect">
            <a:avLst/>
          </a:prstGeom>
          <a:noFill/>
          <a:ln/>
        </p:spPr>
        <p:txBody>
          <a:bodyPr wrap="square" lIns="0" tIns="0" rIns="0" bIns="0" rtlCol="0" anchor="t"/>
          <a:lstStyle/>
          <a:p>
            <a:pPr marL="0" indent="0" algn="ctr">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Nước ngập gần </a:t>
            </a:r>
            <a:r>
              <a:rPr lang="en-US" sz="1050" dirty="0" err="1">
                <a:solidFill>
                  <a:srgbClr val="9BB0C6"/>
                </a:solidFill>
                <a:latin typeface="Be Vietnam Pro" pitchFamily="34" charset="0"/>
                <a:ea typeface="Be Vietnam Pro" pitchFamily="34" charset="-122"/>
                <a:cs typeface="Be Vietnam Pro" pitchFamily="34" charset="-120"/>
              </a:rPr>
              <a:t>tới</a:t>
            </a:r>
            <a:r>
              <a:rPr lang="en-US" sz="1050" dirty="0">
                <a:solidFill>
                  <a:srgbClr val="9BB0C6"/>
                </a:solidFill>
                <a:latin typeface="Be Vietnam Pro" pitchFamily="34" charset="0"/>
                <a:ea typeface="Be Vietnam Pro" pitchFamily="34" charset="-122"/>
                <a:cs typeface="Be Vietnam Pro" pitchFamily="34" charset="-120"/>
              </a:rPr>
              <a:t> </a:t>
            </a:r>
            <a:r>
              <a:rPr lang="en-US" sz="1050" dirty="0" err="1">
                <a:solidFill>
                  <a:srgbClr val="9BB0C6"/>
                </a:solidFill>
                <a:latin typeface="Be Vietnam Pro" pitchFamily="34" charset="0"/>
                <a:ea typeface="Be Vietnam Pro" pitchFamily="34" charset="-122"/>
                <a:cs typeface="Be Vietnam Pro" pitchFamily="34" charset="-120"/>
              </a:rPr>
              <a:t>mái</a:t>
            </a:r>
            <a:r>
              <a:rPr lang="en-US" sz="1050" dirty="0">
                <a:solidFill>
                  <a:srgbClr val="9BB0C6"/>
                </a:solidFill>
                <a:latin typeface="Be Vietnam Pro" pitchFamily="34" charset="0"/>
                <a:ea typeface="Be Vietnam Pro" pitchFamily="34" charset="-122"/>
                <a:cs typeface="Be Vietnam Pro" pitchFamily="34" charset="-120"/>
              </a:rPr>
              <a:t>, </a:t>
            </a:r>
            <a:r>
              <a:rPr lang="en-US" sz="1050" dirty="0" err="1">
                <a:solidFill>
                  <a:srgbClr val="9BB0C6"/>
                </a:solidFill>
                <a:latin typeface="Be Vietnam Pro" pitchFamily="34" charset="0"/>
                <a:ea typeface="Be Vietnam Pro" pitchFamily="34" charset="-122"/>
                <a:cs typeface="Be Vietnam Pro" pitchFamily="34" charset="-120"/>
              </a:rPr>
              <a:t>người</a:t>
            </a:r>
            <a:r>
              <a:rPr lang="en-US" sz="1050" dirty="0">
                <a:solidFill>
                  <a:srgbClr val="9BB0C6"/>
                </a:solidFill>
                <a:latin typeface="Be Vietnam Pro" pitchFamily="34" charset="0"/>
                <a:ea typeface="Be Vietnam Pro" pitchFamily="34" charset="-122"/>
                <a:cs typeface="Be Vietnam Pro" pitchFamily="34" charset="-120"/>
              </a:rPr>
              <a:t> dân phải trèo </a:t>
            </a:r>
            <a:r>
              <a:rPr lang="en-US" sz="1050" dirty="0" err="1">
                <a:solidFill>
                  <a:srgbClr val="9BB0C6"/>
                </a:solidFill>
                <a:latin typeface="Be Vietnam Pro" pitchFamily="34" charset="0"/>
                <a:ea typeface="Be Vietnam Pro" pitchFamily="34" charset="-122"/>
                <a:cs typeface="Be Vietnam Pro" pitchFamily="34" charset="-120"/>
              </a:rPr>
              <a:t>lên</a:t>
            </a:r>
            <a:r>
              <a:rPr lang="en-US" sz="1050" dirty="0">
                <a:solidFill>
                  <a:srgbClr val="9BB0C6"/>
                </a:solidFill>
                <a:latin typeface="Be Vietnam Pro" pitchFamily="34" charset="0"/>
                <a:ea typeface="Be Vietnam Pro" pitchFamily="34" charset="-122"/>
                <a:cs typeface="Be Vietnam Pro" pitchFamily="34" charset="-120"/>
              </a:rPr>
              <a:t> </a:t>
            </a:r>
          </a:p>
          <a:p>
            <a:pPr marL="0" indent="0" algn="ctr">
              <a:lnSpc>
                <a:spcPts val="1418"/>
              </a:lnSpc>
              <a:buNone/>
            </a:pPr>
            <a:r>
              <a:rPr lang="en-US" sz="1050" dirty="0" err="1">
                <a:solidFill>
                  <a:srgbClr val="9BB0C6"/>
                </a:solidFill>
                <a:latin typeface="Be Vietnam Pro" pitchFamily="34" charset="0"/>
                <a:ea typeface="Be Vietnam Pro" pitchFamily="34" charset="-122"/>
                <a:cs typeface="Be Vietnam Pro" pitchFamily="34" charset="-120"/>
              </a:rPr>
              <a:t>nóc</a:t>
            </a:r>
            <a:r>
              <a:rPr lang="en-US" sz="1050" dirty="0"/>
              <a:t> </a:t>
            </a:r>
            <a:r>
              <a:rPr lang="en-US" sz="1050" dirty="0" err="1">
                <a:solidFill>
                  <a:srgbClr val="9BB0C6"/>
                </a:solidFill>
                <a:latin typeface="Be Vietnam Pro" pitchFamily="34" charset="0"/>
                <a:ea typeface="Be Vietnam Pro" pitchFamily="34" charset="-122"/>
                <a:cs typeface="Be Vietnam Pro" pitchFamily="34" charset="-120"/>
              </a:rPr>
              <a:t>nhà</a:t>
            </a:r>
            <a:r>
              <a:rPr lang="en-US" sz="1050" dirty="0">
                <a:solidFill>
                  <a:srgbClr val="9BB0C6"/>
                </a:solidFill>
                <a:latin typeface="Be Vietnam Pro" pitchFamily="34" charset="0"/>
                <a:ea typeface="Be Vietnam Pro" pitchFamily="34" charset="-122"/>
                <a:cs typeface="Be Vietnam Pro" pitchFamily="34" charset="-120"/>
              </a:rPr>
              <a:t> chờ cứu hộ.</a:t>
            </a:r>
            <a:endParaRPr lang="en-US" sz="1050" dirty="0"/>
          </a:p>
        </p:txBody>
      </p:sp>
      <p:pic>
        <p:nvPicPr>
          <p:cNvPr id="16" name="Image 3" descr="anh/da-cat/hien-truong-2.jpg"/>
          <p:cNvPicPr>
            <a:picLocks noChangeAspect="1"/>
          </p:cNvPicPr>
          <p:nvPr/>
        </p:nvPicPr>
        <p:blipFill>
          <a:blip r:embed="rId6"/>
          <a:stretch>
            <a:fillRect/>
          </a:stretch>
        </p:blipFill>
        <p:spPr>
          <a:xfrm>
            <a:off x="4389120" y="2834894"/>
            <a:ext cx="3401568" cy="2468880"/>
          </a:xfrm>
          <a:prstGeom prst="rect">
            <a:avLst/>
          </a:prstGeom>
        </p:spPr>
      </p:pic>
      <p:sp>
        <p:nvSpPr>
          <p:cNvPr id="17" name="Shape 11"/>
          <p:cNvSpPr/>
          <p:nvPr/>
        </p:nvSpPr>
        <p:spPr>
          <a:xfrm>
            <a:off x="4389120" y="2834894"/>
            <a:ext cx="3401568" cy="2468880"/>
          </a:xfrm>
          <a:prstGeom prst="roundRect">
            <a:avLst>
              <a:gd name="adj" fmla="val 4444"/>
            </a:avLst>
          </a:prstGeom>
          <a:solidFill>
            <a:srgbClr val="FFFFFF">
              <a:alpha val="0"/>
            </a:srgbClr>
          </a:solidFill>
          <a:ln w="12700">
            <a:solidFill>
              <a:srgbClr val="FFFFFF">
                <a:alpha val="18000"/>
              </a:srgbClr>
            </a:solidFill>
            <a:prstDash val="solid"/>
          </a:ln>
        </p:spPr>
      </p:sp>
      <p:sp>
        <p:nvSpPr>
          <p:cNvPr id="18" name="Text 12"/>
          <p:cNvSpPr/>
          <p:nvPr/>
        </p:nvSpPr>
        <p:spPr>
          <a:xfrm>
            <a:off x="4389120" y="5376926"/>
            <a:ext cx="3493008" cy="433197"/>
          </a:xfrm>
          <a:prstGeom prst="rect">
            <a:avLst/>
          </a:prstGeom>
          <a:noFill/>
          <a:ln/>
        </p:spPr>
        <p:txBody>
          <a:bodyPr wrap="square" lIns="0" tIns="0" rIns="0" bIns="0" rtlCol="0" anchor="t"/>
          <a:lstStyle/>
          <a:p>
            <a:pPr marL="0" indent="0" algn="ctr">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Lực lượng cứu hộ đưa người già và trẻ nhỏ </a:t>
            </a:r>
            <a:r>
              <a:rPr lang="en-US" sz="1050" dirty="0" err="1">
                <a:solidFill>
                  <a:srgbClr val="9BB0C6"/>
                </a:solidFill>
                <a:latin typeface="Be Vietnam Pro" pitchFamily="34" charset="0"/>
                <a:ea typeface="Be Vietnam Pro" pitchFamily="34" charset="-122"/>
                <a:cs typeface="Be Vietnam Pro" pitchFamily="34" charset="-120"/>
              </a:rPr>
              <a:t>ra</a:t>
            </a:r>
            <a:r>
              <a:rPr lang="en-US" sz="1050" dirty="0">
                <a:solidFill>
                  <a:srgbClr val="9BB0C6"/>
                </a:solidFill>
                <a:latin typeface="Be Vietnam Pro" pitchFamily="34" charset="0"/>
                <a:ea typeface="Be Vietnam Pro" pitchFamily="34" charset="-122"/>
                <a:cs typeface="Be Vietnam Pro" pitchFamily="34" charset="-120"/>
              </a:rPr>
              <a:t> </a:t>
            </a:r>
            <a:r>
              <a:rPr lang="en-US" sz="1050" dirty="0" err="1">
                <a:solidFill>
                  <a:srgbClr val="9BB0C6"/>
                </a:solidFill>
                <a:latin typeface="Be Vietnam Pro" pitchFamily="34" charset="0"/>
                <a:ea typeface="Be Vietnam Pro" pitchFamily="34" charset="-122"/>
                <a:cs typeface="Be Vietnam Pro" pitchFamily="34" charset="-120"/>
              </a:rPr>
              <a:t>khỏi</a:t>
            </a:r>
            <a:r>
              <a:rPr lang="en-US" sz="1050" dirty="0"/>
              <a:t> </a:t>
            </a:r>
            <a:r>
              <a:rPr lang="en-US" sz="1050" dirty="0" err="1">
                <a:solidFill>
                  <a:srgbClr val="9BB0C6"/>
                </a:solidFill>
                <a:latin typeface="Be Vietnam Pro" pitchFamily="34" charset="0"/>
                <a:ea typeface="Be Vietnam Pro" pitchFamily="34" charset="-122"/>
                <a:cs typeface="Be Vietnam Pro" pitchFamily="34" charset="-120"/>
              </a:rPr>
              <a:t>vùng</a:t>
            </a:r>
            <a:r>
              <a:rPr lang="en-US" sz="1050" dirty="0">
                <a:solidFill>
                  <a:srgbClr val="9BB0C6"/>
                </a:solidFill>
                <a:latin typeface="Be Vietnam Pro" pitchFamily="34" charset="0"/>
                <a:ea typeface="Be Vietnam Pro" pitchFamily="34" charset="-122"/>
                <a:cs typeface="Be Vietnam Pro" pitchFamily="34" charset="-120"/>
              </a:rPr>
              <a:t> </a:t>
            </a:r>
            <a:r>
              <a:rPr lang="en-US" sz="1050" dirty="0" err="1">
                <a:solidFill>
                  <a:srgbClr val="9BB0C6"/>
                </a:solidFill>
                <a:latin typeface="Be Vietnam Pro" pitchFamily="34" charset="0"/>
                <a:ea typeface="Be Vietnam Pro" pitchFamily="34" charset="-122"/>
                <a:cs typeface="Be Vietnam Pro" pitchFamily="34" charset="-120"/>
              </a:rPr>
              <a:t>ngập</a:t>
            </a:r>
            <a:endParaRPr lang="en-US" sz="1050" dirty="0"/>
          </a:p>
        </p:txBody>
      </p:sp>
      <p:pic>
        <p:nvPicPr>
          <p:cNvPr id="19" name="Image 4" descr="anh/da-cat/hien-truong-3.jpg"/>
          <p:cNvPicPr>
            <a:picLocks noChangeAspect="1"/>
          </p:cNvPicPr>
          <p:nvPr/>
        </p:nvPicPr>
        <p:blipFill>
          <a:blip r:embed="rId7"/>
          <a:stretch>
            <a:fillRect/>
          </a:stretch>
        </p:blipFill>
        <p:spPr>
          <a:xfrm>
            <a:off x="8065008" y="2834894"/>
            <a:ext cx="3401568" cy="2468880"/>
          </a:xfrm>
          <a:prstGeom prst="rect">
            <a:avLst/>
          </a:prstGeom>
        </p:spPr>
      </p:pic>
      <p:sp>
        <p:nvSpPr>
          <p:cNvPr id="20" name="Shape 13"/>
          <p:cNvSpPr/>
          <p:nvPr/>
        </p:nvSpPr>
        <p:spPr>
          <a:xfrm>
            <a:off x="8065008" y="2834894"/>
            <a:ext cx="3401568" cy="2468880"/>
          </a:xfrm>
          <a:prstGeom prst="roundRect">
            <a:avLst>
              <a:gd name="adj" fmla="val 4444"/>
            </a:avLst>
          </a:prstGeom>
          <a:solidFill>
            <a:srgbClr val="FFFFFF">
              <a:alpha val="0"/>
            </a:srgbClr>
          </a:solidFill>
          <a:ln w="12700">
            <a:solidFill>
              <a:srgbClr val="FFFFFF">
                <a:alpha val="18000"/>
              </a:srgbClr>
            </a:solidFill>
            <a:prstDash val="solid"/>
          </a:ln>
        </p:spPr>
      </p:sp>
      <p:sp>
        <p:nvSpPr>
          <p:cNvPr id="21" name="Text 14"/>
          <p:cNvSpPr/>
          <p:nvPr/>
        </p:nvSpPr>
        <p:spPr>
          <a:xfrm>
            <a:off x="8065008" y="5376926"/>
            <a:ext cx="3493008" cy="253175"/>
          </a:xfrm>
          <a:prstGeom prst="rect">
            <a:avLst/>
          </a:prstGeom>
          <a:noFill/>
          <a:ln/>
        </p:spPr>
        <p:txBody>
          <a:bodyPr wrap="square" lIns="0" tIns="0" rIns="0" bIns="0" rtlCol="0" anchor="t"/>
          <a:lstStyle/>
          <a:p>
            <a:pPr marL="0" indent="0" algn="ctr">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Vật tư cứu trợ được đưa tới từng nhà bằng xuồng.</a:t>
            </a:r>
            <a:endParaRPr lang="en-US" sz="1050" dirty="0"/>
          </a:p>
        </p:txBody>
      </p:sp>
      <p:sp>
        <p:nvSpPr>
          <p:cNvPr id="22" name="Text 15"/>
          <p:cNvSpPr/>
          <p:nvPr/>
        </p:nvSpPr>
        <p:spPr>
          <a:xfrm>
            <a:off x="713232" y="5956427"/>
            <a:ext cx="10856671" cy="261747"/>
          </a:xfrm>
          <a:prstGeom prst="rect">
            <a:avLst/>
          </a:prstGeom>
          <a:noFill/>
          <a:ln/>
        </p:spPr>
        <p:txBody>
          <a:bodyPr wrap="square" lIns="0" tIns="0" rIns="0" bIns="0" rtlCol="0" anchor="t"/>
          <a:lstStyle/>
          <a:p>
            <a:pPr marL="0" indent="0" algn="l">
              <a:lnSpc>
                <a:spcPts val="1485"/>
              </a:lnSpc>
              <a:buNone/>
            </a:pPr>
            <a:r>
              <a:rPr lang="en-US" sz="1100" dirty="0">
                <a:solidFill>
                  <a:srgbClr val="7189A2"/>
                </a:solidFill>
                <a:latin typeface="Be Vietnam Pro" pitchFamily="34" charset="0"/>
                <a:ea typeface="Be Vietnam Pro" pitchFamily="34" charset="-122"/>
                <a:cs typeface="Be Vietnam Pro" pitchFamily="34" charset="-120"/>
              </a:rPr>
              <a:t>Nguồn ảnh: Báo Thanh Niên, Báo Dân Trí — đợt mưa lũ tháng 11/2025.</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05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VẤN ĐỀ</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Bài toán trong những giờ khẩn cấp</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069080" cy="3657600"/>
          </a:xfrm>
          <a:prstGeom prst="roundRect">
            <a:avLst>
              <a:gd name="adj" fmla="val 300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657600"/>
          </a:xfrm>
          <a:prstGeom prst="roundRect">
            <a:avLst>
              <a:gd name="adj" fmla="val 54545"/>
            </a:avLst>
          </a:prstGeom>
          <a:solidFill>
            <a:srgbClr val="FB923C">
              <a:alpha val="95000"/>
            </a:srgbClr>
          </a:solidFill>
          <a:ln/>
        </p:spPr>
      </p:sp>
      <p:sp>
        <p:nvSpPr>
          <p:cNvPr id="14" name="Text 10"/>
          <p:cNvSpPr/>
          <p:nvPr/>
        </p:nvSpPr>
        <p:spPr>
          <a:xfrm>
            <a:off x="1042416" y="2531110"/>
            <a:ext cx="3502152" cy="643128"/>
          </a:xfrm>
          <a:prstGeom prst="rect">
            <a:avLst/>
          </a:prstGeom>
          <a:noFill/>
          <a:ln/>
        </p:spPr>
        <p:txBody>
          <a:bodyPr wrap="square" lIns="0" tIns="0" rIns="0" bIns="0" rtlCol="0" anchor="t"/>
          <a:lstStyle/>
          <a:p>
            <a:pPr marL="0" indent="0" algn="l">
              <a:lnSpc>
                <a:spcPts val="2244"/>
              </a:lnSpc>
              <a:buNone/>
            </a:pPr>
            <a:r>
              <a:rPr lang="en-US" sz="1700" b="1" dirty="0">
                <a:solidFill>
                  <a:srgbClr val="FFFFFF"/>
                </a:solidFill>
                <a:latin typeface="Be Vietnam Pro" pitchFamily="34" charset="0"/>
                <a:ea typeface="Be Vietnam Pro" pitchFamily="34" charset="-122"/>
                <a:cs typeface="Be Vietnam Pro" pitchFamily="34" charset="-120"/>
              </a:rPr>
              <a:t>Phía sau mỗi nhiệm vụ cứu hộ</a:t>
            </a:r>
            <a:endParaRPr lang="en-US" sz="1700" dirty="0"/>
          </a:p>
          <a:p>
            <a:pPr marL="0" indent="0" algn="l">
              <a:lnSpc>
                <a:spcPts val="2244"/>
              </a:lnSpc>
              <a:buNone/>
            </a:pPr>
            <a:r>
              <a:rPr lang="en-US" sz="1700" b="1" dirty="0">
                <a:solidFill>
                  <a:srgbClr val="FFFFFF"/>
                </a:solidFill>
                <a:latin typeface="Be Vietnam Pro" pitchFamily="34" charset="0"/>
                <a:ea typeface="Be Vietnam Pro" pitchFamily="34" charset="-122"/>
                <a:cs typeface="Be Vietnam Pro" pitchFamily="34" charset="-120"/>
              </a:rPr>
              <a:t>không chỉ là lòng dũng cảm</a:t>
            </a:r>
            <a:endParaRPr lang="en-US" sz="1700" dirty="0"/>
          </a:p>
        </p:txBody>
      </p:sp>
      <p:sp>
        <p:nvSpPr>
          <p:cNvPr id="15" name="Text 11"/>
          <p:cNvSpPr/>
          <p:nvPr/>
        </p:nvSpPr>
        <p:spPr>
          <a:xfrm>
            <a:off x="1042416" y="3193192"/>
            <a:ext cx="3502152" cy="568452"/>
          </a:xfrm>
          <a:prstGeom prst="rect">
            <a:avLst/>
          </a:prstGeom>
          <a:noFill/>
          <a:ln/>
        </p:spPr>
        <p:txBody>
          <a:bodyPr wrap="square" lIns="0" tIns="0" rIns="0" bIns="0" rtlCol="0" anchor="t"/>
          <a:lstStyle/>
          <a:p>
            <a:pPr marL="0" indent="0" algn="l">
              <a:lnSpc>
                <a:spcPts val="1950"/>
              </a:lnSpc>
              <a:buNone/>
            </a:pPr>
            <a:r>
              <a:rPr lang="en-US" sz="1300" dirty="0">
                <a:solidFill>
                  <a:srgbClr val="D9E6F2"/>
                </a:solidFill>
                <a:latin typeface="Be Vietnam Pro" pitchFamily="34" charset="0"/>
                <a:ea typeface="Be Vietnam Pro" pitchFamily="34" charset="-122"/>
                <a:cs typeface="Be Vietnam Pro" pitchFamily="34" charset="-120"/>
              </a:rPr>
              <a:t>Đó còn là bài toán về thời gian, con người,</a:t>
            </a:r>
            <a:endParaRPr lang="en-US" sz="1300" dirty="0"/>
          </a:p>
          <a:p>
            <a:pPr marL="0" indent="0" algn="l">
              <a:lnSpc>
                <a:spcPts val="1950"/>
              </a:lnSpc>
              <a:buNone/>
            </a:pPr>
            <a:r>
              <a:rPr lang="en-US" sz="1300" dirty="0">
                <a:solidFill>
                  <a:srgbClr val="D9E6F2"/>
                </a:solidFill>
                <a:latin typeface="Be Vietnam Pro" pitchFamily="34" charset="0"/>
                <a:ea typeface="Be Vietnam Pro" pitchFamily="34" charset="-122"/>
                <a:cs typeface="Be Vietnam Pro" pitchFamily="34" charset="-120"/>
              </a:rPr>
              <a:t>vật tư và khả năng điều phối.</a:t>
            </a:r>
            <a:endParaRPr lang="en-US" sz="1300" dirty="0"/>
          </a:p>
        </p:txBody>
      </p:sp>
      <p:sp>
        <p:nvSpPr>
          <p:cNvPr id="16" name="Shape 12"/>
          <p:cNvSpPr/>
          <p:nvPr/>
        </p:nvSpPr>
        <p:spPr>
          <a:xfrm>
            <a:off x="1042416" y="4014454"/>
            <a:ext cx="3410712" cy="9144"/>
          </a:xfrm>
          <a:prstGeom prst="rect">
            <a:avLst/>
          </a:prstGeom>
          <a:solidFill>
            <a:srgbClr val="FFFFFF">
              <a:alpha val="16000"/>
            </a:srgbClr>
          </a:solidFill>
          <a:ln/>
        </p:spPr>
      </p:sp>
      <p:sp>
        <p:nvSpPr>
          <p:cNvPr id="17" name="Text 13"/>
          <p:cNvSpPr/>
          <p:nvPr/>
        </p:nvSpPr>
        <p:spPr>
          <a:xfrm>
            <a:off x="1037844" y="4341193"/>
            <a:ext cx="3502152" cy="1030732"/>
          </a:xfrm>
          <a:prstGeom prst="rect">
            <a:avLst/>
          </a:prstGeom>
          <a:noFill/>
          <a:ln/>
        </p:spPr>
        <p:txBody>
          <a:bodyPr wrap="square" lIns="0" tIns="0" rIns="0" bIns="0" rtlCol="0" anchor="t"/>
          <a:lstStyle/>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Sau nhiều giờ, thậm chí nhiều ngày liên</a:t>
            </a:r>
            <a:endParaRPr lang="en-US" sz="1300" dirty="0"/>
          </a:p>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tục, con người sẽ xuống sức — trong khi</a:t>
            </a:r>
            <a:endParaRPr lang="en-US" sz="1300" dirty="0"/>
          </a:p>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quyết định vẫn phải đưa ra trong vài</a:t>
            </a:r>
            <a:endParaRPr lang="en-US" sz="1300" dirty="0"/>
          </a:p>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phút.</a:t>
            </a:r>
            <a:endParaRPr lang="en-US" sz="1300" dirty="0"/>
          </a:p>
        </p:txBody>
      </p:sp>
      <p:sp>
        <p:nvSpPr>
          <p:cNvPr id="18" name="Shape 14"/>
          <p:cNvSpPr/>
          <p:nvPr/>
        </p:nvSpPr>
        <p:spPr>
          <a:xfrm>
            <a:off x="5093208" y="222021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19" name="Shape 15"/>
          <p:cNvSpPr/>
          <p:nvPr/>
        </p:nvSpPr>
        <p:spPr>
          <a:xfrm>
            <a:off x="5093208" y="2220214"/>
            <a:ext cx="50292" cy="1691640"/>
          </a:xfrm>
          <a:prstGeom prst="roundRect">
            <a:avLst>
              <a:gd name="adj" fmla="val 54545"/>
            </a:avLst>
          </a:prstGeom>
          <a:solidFill>
            <a:srgbClr val="F87171">
              <a:alpha val="95000"/>
            </a:srgbClr>
          </a:solidFill>
          <a:ln/>
        </p:spPr>
      </p:sp>
      <p:sp>
        <p:nvSpPr>
          <p:cNvPr id="20" name="Text 16"/>
          <p:cNvSpPr/>
          <p:nvPr/>
        </p:nvSpPr>
        <p:spPr>
          <a:xfrm>
            <a:off x="5367528" y="2457958"/>
            <a:ext cx="2598268" cy="303340"/>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Cần những vật tư gì?</a:t>
            </a:r>
            <a:endParaRPr lang="en-US" sz="1450" dirty="0"/>
          </a:p>
        </p:txBody>
      </p:sp>
      <p:sp>
        <p:nvSpPr>
          <p:cNvPr id="21" name="Text 17"/>
          <p:cNvSpPr/>
          <p:nvPr/>
        </p:nvSpPr>
        <p:spPr>
          <a:xfrm>
            <a:off x="5367528" y="2756472"/>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Chủng loại, số lượng phù hợp với</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quy mô ảnh hưởng.</a:t>
            </a:r>
            <a:endParaRPr lang="en-US" sz="1150" dirty="0"/>
          </a:p>
        </p:txBody>
      </p:sp>
      <p:sp>
        <p:nvSpPr>
          <p:cNvPr id="22" name="Shape 18"/>
          <p:cNvSpPr/>
          <p:nvPr/>
        </p:nvSpPr>
        <p:spPr>
          <a:xfrm>
            <a:off x="8422996" y="222021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3" name="Shape 19"/>
          <p:cNvSpPr/>
          <p:nvPr/>
        </p:nvSpPr>
        <p:spPr>
          <a:xfrm>
            <a:off x="8422996" y="2220214"/>
            <a:ext cx="50292" cy="1691640"/>
          </a:xfrm>
          <a:prstGeom prst="roundRect">
            <a:avLst>
              <a:gd name="adj" fmla="val 54545"/>
            </a:avLst>
          </a:prstGeom>
          <a:solidFill>
            <a:srgbClr val="F87171">
              <a:alpha val="95000"/>
            </a:srgbClr>
          </a:solidFill>
          <a:ln/>
        </p:spPr>
      </p:sp>
      <p:sp>
        <p:nvSpPr>
          <p:cNvPr id="24" name="Text 20"/>
          <p:cNvSpPr/>
          <p:nvPr/>
        </p:nvSpPr>
        <p:spPr>
          <a:xfrm>
            <a:off x="8697316" y="2457958"/>
            <a:ext cx="2598268" cy="303340"/>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Lấy vật tư ở đâu?</a:t>
            </a:r>
            <a:endParaRPr lang="en-US" sz="1450" dirty="0"/>
          </a:p>
        </p:txBody>
      </p:sp>
      <p:sp>
        <p:nvSpPr>
          <p:cNvPr id="25" name="Text 21"/>
          <p:cNvSpPr/>
          <p:nvPr/>
        </p:nvSpPr>
        <p:spPr>
          <a:xfrm>
            <a:off x="8697316" y="2754453"/>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Kho nào gần hiện trường nhất để</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rút ngắn thời gian.</a:t>
            </a:r>
            <a:endParaRPr lang="en-US" sz="1150" dirty="0"/>
          </a:p>
        </p:txBody>
      </p:sp>
      <p:sp>
        <p:nvSpPr>
          <p:cNvPr id="26" name="Shape 22"/>
          <p:cNvSpPr/>
          <p:nvPr/>
        </p:nvSpPr>
        <p:spPr>
          <a:xfrm>
            <a:off x="5093208" y="418617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7" name="Shape 23"/>
          <p:cNvSpPr/>
          <p:nvPr/>
        </p:nvSpPr>
        <p:spPr>
          <a:xfrm>
            <a:off x="5093208" y="4186174"/>
            <a:ext cx="50292" cy="1691640"/>
          </a:xfrm>
          <a:prstGeom prst="roundRect">
            <a:avLst>
              <a:gd name="adj" fmla="val 54545"/>
            </a:avLst>
          </a:prstGeom>
          <a:solidFill>
            <a:srgbClr val="F87171">
              <a:alpha val="95000"/>
            </a:srgbClr>
          </a:solidFill>
          <a:ln/>
        </p:spPr>
      </p:sp>
      <p:sp>
        <p:nvSpPr>
          <p:cNvPr id="28" name="Text 24"/>
          <p:cNvSpPr/>
          <p:nvPr/>
        </p:nvSpPr>
        <p:spPr>
          <a:xfrm>
            <a:off x="5367528" y="4423918"/>
            <a:ext cx="2598268" cy="303340"/>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Kho nào còn đủ?</a:t>
            </a:r>
            <a:endParaRPr lang="en-US" sz="1450" dirty="0"/>
          </a:p>
        </p:txBody>
      </p:sp>
      <p:sp>
        <p:nvSpPr>
          <p:cNvPr id="29" name="Text 25"/>
          <p:cNvSpPr/>
          <p:nvPr/>
        </p:nvSpPr>
        <p:spPr>
          <a:xfrm>
            <a:off x="5367528" y="4716399"/>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Tồn kho thực tế thay đổi liên tục</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trong thiên tai.</a:t>
            </a:r>
            <a:endParaRPr lang="en-US" sz="1150" dirty="0"/>
          </a:p>
        </p:txBody>
      </p:sp>
      <p:sp>
        <p:nvSpPr>
          <p:cNvPr id="30" name="Shape 26"/>
          <p:cNvSpPr/>
          <p:nvPr/>
        </p:nvSpPr>
        <p:spPr>
          <a:xfrm>
            <a:off x="8422996" y="418617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31" name="Shape 27"/>
          <p:cNvSpPr/>
          <p:nvPr/>
        </p:nvSpPr>
        <p:spPr>
          <a:xfrm>
            <a:off x="8422996" y="4186174"/>
            <a:ext cx="50292" cy="1691640"/>
          </a:xfrm>
          <a:prstGeom prst="roundRect">
            <a:avLst>
              <a:gd name="adj" fmla="val 54545"/>
            </a:avLst>
          </a:prstGeom>
          <a:solidFill>
            <a:srgbClr val="F87171">
              <a:alpha val="95000"/>
            </a:srgbClr>
          </a:solidFill>
          <a:ln/>
        </p:spPr>
      </p:sp>
      <p:sp>
        <p:nvSpPr>
          <p:cNvPr id="32" name="Text 28"/>
          <p:cNvSpPr/>
          <p:nvPr/>
        </p:nvSpPr>
        <p:spPr>
          <a:xfrm>
            <a:off x="8697316" y="4423918"/>
            <a:ext cx="2598268" cy="533527"/>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Làm sao để mọi bộ phận</a:t>
            </a:r>
            <a:endParaRPr lang="en-US" sz="1450" dirty="0"/>
          </a:p>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nắm thông tin tức thời?</a:t>
            </a:r>
            <a:endParaRPr lang="en-US" sz="1450" dirty="0"/>
          </a:p>
        </p:txBody>
      </p:sp>
      <p:sp>
        <p:nvSpPr>
          <p:cNvPr id="33" name="Text 29"/>
          <p:cNvSpPr/>
          <p:nvPr/>
        </p:nvSpPr>
        <p:spPr>
          <a:xfrm>
            <a:off x="8697316" y="4969182"/>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Thông tin phải đến đúng người,</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nhanh và chính xác.</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66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66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66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66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88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88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88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88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110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110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par>
                                <p:cTn id="56" presetID="10" presetClass="entr" presetSubtype="0" fill="hold" nodeType="withEffect">
                                  <p:stCondLst>
                                    <p:cond delay="110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400"/>
                                        <p:tgtEl>
                                          <p:spTgt spid="28"/>
                                        </p:tgtEl>
                                      </p:cBhvr>
                                    </p:animEffect>
                                  </p:childTnLst>
                                </p:cTn>
                              </p:par>
                              <p:par>
                                <p:cTn id="59" presetID="10" presetClass="entr" presetSubtype="0" fill="hold" nodeType="withEffect">
                                  <p:stCondLst>
                                    <p:cond delay="110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nodeType="withEffect">
                                  <p:stCondLst>
                                    <p:cond delay="132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nodeType="withEffect">
                                  <p:stCondLst>
                                    <p:cond delay="132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400"/>
                                        <p:tgtEl>
                                          <p:spTgt spid="31"/>
                                        </p:tgtEl>
                                      </p:cBhvr>
                                    </p:animEffect>
                                  </p:childTnLst>
                                </p:cTn>
                              </p:par>
                              <p:par>
                                <p:cTn id="68" presetID="10" presetClass="entr" presetSubtype="0" fill="hold" nodeType="withEffect">
                                  <p:stCondLst>
                                    <p:cond delay="132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par>
                                <p:cTn id="71" presetID="10" presetClass="entr" presetSubtype="0" fill="hold" nodeType="withEffect">
                                  <p:stCondLst>
                                    <p:cond delay="1320"/>
                                  </p:stCondLst>
                                  <p:childTnLst>
                                    <p:set>
                                      <p:cBhvr>
                                        <p:cTn id="72" dur="1" fill="hold">
                                          <p:stCondLst>
                                            <p:cond delay="0"/>
                                          </p:stCondLst>
                                        </p:cTn>
                                        <p:tgtEl>
                                          <p:spTgt spid="33"/>
                                        </p:tgtEl>
                                        <p:attrNameLst>
                                          <p:attrName>style.visibility</p:attrName>
                                        </p:attrNameLst>
                                      </p:cBhvr>
                                      <p:to>
                                        <p:strVal val="visible"/>
                                      </p:to>
                                    </p:set>
                                    <p:animEffect transition="in" filter="fade">
                                      <p:cBhvr>
                                        <p:cTn id="73"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06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GIẢI PHÁP</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Một hệ thống — bốn mắt xích — một luồng thông tin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332720" cy="32207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Kết nối xuyên suốt các bộ phận, đồng thời ứng dụng AI để phân tích và hỗ trợ ra quyết định trong thời điểm khẩn cấp.</a:t>
            </a:r>
            <a:endParaRPr lang="en-US" sz="1400" dirty="0"/>
          </a:p>
        </p:txBody>
      </p:sp>
      <p:sp>
        <p:nvSpPr>
          <p:cNvPr id="13" name="Shape 9"/>
          <p:cNvSpPr/>
          <p:nvPr/>
        </p:nvSpPr>
        <p:spPr>
          <a:xfrm>
            <a:off x="713232" y="3392678"/>
            <a:ext cx="2743200"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4" name="Shape 10"/>
          <p:cNvSpPr/>
          <p:nvPr/>
        </p:nvSpPr>
        <p:spPr>
          <a:xfrm>
            <a:off x="713232" y="3392678"/>
            <a:ext cx="50292" cy="2194560"/>
          </a:xfrm>
          <a:prstGeom prst="roundRect">
            <a:avLst>
              <a:gd name="adj" fmla="val 54545"/>
            </a:avLst>
          </a:prstGeom>
          <a:solidFill>
            <a:srgbClr val="38BDF8">
              <a:alpha val="95000"/>
            </a:srgbClr>
          </a:solidFill>
          <a:ln/>
        </p:spPr>
      </p:sp>
      <p:sp>
        <p:nvSpPr>
          <p:cNvPr id="15" name="Shape 11"/>
          <p:cNvSpPr/>
          <p:nvPr/>
        </p:nvSpPr>
        <p:spPr>
          <a:xfrm>
            <a:off x="987552" y="3666998"/>
            <a:ext cx="457200" cy="457200"/>
          </a:xfrm>
          <a:prstGeom prst="roundRect">
            <a:avLst>
              <a:gd name="adj" fmla="val 50000"/>
            </a:avLst>
          </a:prstGeom>
          <a:solidFill>
            <a:srgbClr val="04101F">
              <a:alpha val="88000"/>
            </a:srgbClr>
          </a:solidFill>
          <a:ln/>
        </p:spPr>
      </p:sp>
      <p:sp>
        <p:nvSpPr>
          <p:cNvPr id="16" name="Shape 12"/>
          <p:cNvSpPr/>
          <p:nvPr/>
        </p:nvSpPr>
        <p:spPr>
          <a:xfrm>
            <a:off x="987552" y="3666998"/>
            <a:ext cx="457200" cy="457200"/>
          </a:xfrm>
          <a:prstGeom prst="roundRect">
            <a:avLst>
              <a:gd name="adj" fmla="val 50000"/>
            </a:avLst>
          </a:prstGeom>
          <a:solidFill>
            <a:srgbClr val="38BDF8">
              <a:alpha val="20000"/>
            </a:srgbClr>
          </a:solidFill>
          <a:ln w="15240">
            <a:solidFill>
              <a:srgbClr val="38BDF8">
                <a:alpha val="70000"/>
              </a:srgbClr>
            </a:solidFill>
            <a:prstDash val="solid"/>
          </a:ln>
        </p:spPr>
      </p:sp>
      <p:sp>
        <p:nvSpPr>
          <p:cNvPr id="17" name="Text 13"/>
          <p:cNvSpPr/>
          <p:nvPr/>
        </p:nvSpPr>
        <p:spPr>
          <a:xfrm>
            <a:off x="941832" y="3758438"/>
            <a:ext cx="548640" cy="330327"/>
          </a:xfrm>
          <a:prstGeom prst="rect">
            <a:avLst/>
          </a:prstGeom>
          <a:noFill/>
          <a:ln/>
        </p:spPr>
        <p:txBody>
          <a:bodyPr wrap="square" lIns="0" tIns="0" rIns="0" bIns="0" rtlCol="0" anchor="t"/>
          <a:lstStyle/>
          <a:p>
            <a:pPr marL="0" indent="0" algn="ctr">
              <a:lnSpc>
                <a:spcPts val="2025"/>
              </a:lnSpc>
              <a:buNone/>
            </a:pPr>
            <a:r>
              <a:rPr lang="en-US" sz="1500" b="1" dirty="0">
                <a:solidFill>
                  <a:srgbClr val="38BDF8"/>
                </a:solidFill>
                <a:latin typeface="Be Vietnam Pro" pitchFamily="34" charset="0"/>
                <a:ea typeface="Be Vietnam Pro" pitchFamily="34" charset="-122"/>
                <a:cs typeface="Be Vietnam Pro" pitchFamily="34" charset="-120"/>
              </a:rPr>
              <a:t>01</a:t>
            </a:r>
            <a:endParaRPr lang="en-US" sz="1500" dirty="0"/>
          </a:p>
        </p:txBody>
      </p:sp>
      <p:sp>
        <p:nvSpPr>
          <p:cNvPr id="18" name="Text 14"/>
          <p:cNvSpPr/>
          <p:nvPr/>
        </p:nvSpPr>
        <p:spPr>
          <a:xfrm>
            <a:off x="987552" y="4288790"/>
            <a:ext cx="228600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Trưởng thôn</a:t>
            </a:r>
            <a:endParaRPr lang="en-US" sz="1600" dirty="0"/>
          </a:p>
        </p:txBody>
      </p:sp>
      <p:sp>
        <p:nvSpPr>
          <p:cNvPr id="19" name="Text 15"/>
          <p:cNvSpPr/>
          <p:nvPr/>
        </p:nvSpPr>
        <p:spPr>
          <a:xfrm>
            <a:off x="987552" y="4672838"/>
            <a:ext cx="2286000" cy="51511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Báo cáo tình huống và định vị</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vị trí gặp nạn trên bản đồ.</a:t>
            </a:r>
            <a:endParaRPr lang="en-US" sz="1200" dirty="0"/>
          </a:p>
        </p:txBody>
      </p:sp>
      <p:sp>
        <p:nvSpPr>
          <p:cNvPr id="20" name="Shape 16"/>
          <p:cNvSpPr/>
          <p:nvPr/>
        </p:nvSpPr>
        <p:spPr>
          <a:xfrm>
            <a:off x="3959352" y="3392678"/>
            <a:ext cx="2926080"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21" name="Shape 17"/>
          <p:cNvSpPr/>
          <p:nvPr/>
        </p:nvSpPr>
        <p:spPr>
          <a:xfrm>
            <a:off x="3959352" y="3392678"/>
            <a:ext cx="50292" cy="2194560"/>
          </a:xfrm>
          <a:prstGeom prst="roundRect">
            <a:avLst>
              <a:gd name="adj" fmla="val 54545"/>
            </a:avLst>
          </a:prstGeom>
          <a:solidFill>
            <a:srgbClr val="22C55E">
              <a:alpha val="95000"/>
            </a:srgbClr>
          </a:solidFill>
          <a:ln/>
        </p:spPr>
      </p:sp>
      <p:sp>
        <p:nvSpPr>
          <p:cNvPr id="22" name="Shape 18"/>
          <p:cNvSpPr/>
          <p:nvPr/>
        </p:nvSpPr>
        <p:spPr>
          <a:xfrm>
            <a:off x="4233672" y="3666998"/>
            <a:ext cx="457200" cy="457200"/>
          </a:xfrm>
          <a:prstGeom prst="roundRect">
            <a:avLst>
              <a:gd name="adj" fmla="val 50000"/>
            </a:avLst>
          </a:prstGeom>
          <a:solidFill>
            <a:srgbClr val="04101F">
              <a:alpha val="88000"/>
            </a:srgbClr>
          </a:solidFill>
          <a:ln/>
        </p:spPr>
      </p:sp>
      <p:sp>
        <p:nvSpPr>
          <p:cNvPr id="23" name="Shape 19"/>
          <p:cNvSpPr/>
          <p:nvPr/>
        </p:nvSpPr>
        <p:spPr>
          <a:xfrm>
            <a:off x="4233672" y="3666998"/>
            <a:ext cx="457200" cy="457200"/>
          </a:xfrm>
          <a:prstGeom prst="roundRect">
            <a:avLst>
              <a:gd name="adj" fmla="val 50000"/>
            </a:avLst>
          </a:prstGeom>
          <a:solidFill>
            <a:srgbClr val="22C55E">
              <a:alpha val="20000"/>
            </a:srgbClr>
          </a:solidFill>
          <a:ln w="15240">
            <a:solidFill>
              <a:srgbClr val="22C55E">
                <a:alpha val="70000"/>
              </a:srgbClr>
            </a:solidFill>
            <a:prstDash val="solid"/>
          </a:ln>
        </p:spPr>
      </p:sp>
      <p:sp>
        <p:nvSpPr>
          <p:cNvPr id="24" name="Text 20"/>
          <p:cNvSpPr/>
          <p:nvPr/>
        </p:nvSpPr>
        <p:spPr>
          <a:xfrm>
            <a:off x="4187952" y="3758438"/>
            <a:ext cx="548640"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02</a:t>
            </a:r>
            <a:endParaRPr lang="en-US" sz="1500" dirty="0"/>
          </a:p>
        </p:txBody>
      </p:sp>
      <p:sp>
        <p:nvSpPr>
          <p:cNvPr id="25" name="Text 21"/>
          <p:cNvSpPr/>
          <p:nvPr/>
        </p:nvSpPr>
        <p:spPr>
          <a:xfrm>
            <a:off x="4233672" y="4288790"/>
            <a:ext cx="246888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Người điều phối</a:t>
            </a:r>
            <a:endParaRPr lang="en-US" sz="1600" dirty="0"/>
          </a:p>
        </p:txBody>
      </p:sp>
      <p:sp>
        <p:nvSpPr>
          <p:cNvPr id="26" name="Text 22"/>
          <p:cNvSpPr/>
          <p:nvPr/>
        </p:nvSpPr>
        <p:spPr>
          <a:xfrm>
            <a:off x="4233672" y="4672838"/>
            <a:ext cx="2468880"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Dùng AI phân tích tình hình, phê</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duyệt phương án và lập kế</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hoạch cứu hộ.</a:t>
            </a:r>
            <a:endParaRPr lang="en-US" sz="1200" dirty="0"/>
          </a:p>
        </p:txBody>
      </p:sp>
      <p:sp>
        <p:nvSpPr>
          <p:cNvPr id="27" name="Shape 23"/>
          <p:cNvSpPr/>
          <p:nvPr/>
        </p:nvSpPr>
        <p:spPr>
          <a:xfrm>
            <a:off x="7452360" y="2834894"/>
            <a:ext cx="4023360" cy="1517904"/>
          </a:xfrm>
          <a:prstGeom prst="roundRect">
            <a:avLst>
              <a:gd name="adj" fmla="val 7229"/>
            </a:avLst>
          </a:prstGeom>
          <a:solidFill>
            <a:srgbClr val="091B2D">
              <a:alpha val="66000"/>
            </a:srgbClr>
          </a:solidFill>
          <a:ln w="12700">
            <a:solidFill>
              <a:srgbClr val="FFFFFF">
                <a:alpha val="12000"/>
              </a:srgbClr>
            </a:solidFill>
            <a:prstDash val="solid"/>
          </a:ln>
        </p:spPr>
      </p:sp>
      <p:sp>
        <p:nvSpPr>
          <p:cNvPr id="28" name="Shape 24"/>
          <p:cNvSpPr/>
          <p:nvPr/>
        </p:nvSpPr>
        <p:spPr>
          <a:xfrm>
            <a:off x="7452360" y="2834894"/>
            <a:ext cx="50292" cy="1517904"/>
          </a:xfrm>
          <a:prstGeom prst="roundRect">
            <a:avLst>
              <a:gd name="adj" fmla="val 54545"/>
            </a:avLst>
          </a:prstGeom>
          <a:solidFill>
            <a:srgbClr val="FBBF24">
              <a:alpha val="95000"/>
            </a:srgbClr>
          </a:solidFill>
          <a:ln/>
        </p:spPr>
      </p:sp>
      <p:sp>
        <p:nvSpPr>
          <p:cNvPr id="29" name="Shape 25"/>
          <p:cNvSpPr/>
          <p:nvPr/>
        </p:nvSpPr>
        <p:spPr>
          <a:xfrm>
            <a:off x="7726680" y="3072638"/>
            <a:ext cx="420624" cy="420624"/>
          </a:xfrm>
          <a:prstGeom prst="roundRect">
            <a:avLst>
              <a:gd name="adj" fmla="val 50000"/>
            </a:avLst>
          </a:prstGeom>
          <a:solidFill>
            <a:srgbClr val="04101F">
              <a:alpha val="88000"/>
            </a:srgbClr>
          </a:solidFill>
          <a:ln/>
        </p:spPr>
      </p:sp>
      <p:sp>
        <p:nvSpPr>
          <p:cNvPr id="30" name="Shape 26"/>
          <p:cNvSpPr/>
          <p:nvPr/>
        </p:nvSpPr>
        <p:spPr>
          <a:xfrm>
            <a:off x="7726680" y="3072638"/>
            <a:ext cx="420624" cy="420624"/>
          </a:xfrm>
          <a:prstGeom prst="roundRect">
            <a:avLst>
              <a:gd name="adj" fmla="val 50000"/>
            </a:avLst>
          </a:prstGeom>
          <a:solidFill>
            <a:srgbClr val="FBBF24">
              <a:alpha val="20000"/>
            </a:srgbClr>
          </a:solidFill>
          <a:ln w="15240">
            <a:solidFill>
              <a:srgbClr val="FBBF24">
                <a:alpha val="70000"/>
              </a:srgbClr>
            </a:solidFill>
            <a:prstDash val="solid"/>
          </a:ln>
        </p:spPr>
      </p:sp>
      <p:sp>
        <p:nvSpPr>
          <p:cNvPr id="31" name="Text 27"/>
          <p:cNvSpPr/>
          <p:nvPr/>
        </p:nvSpPr>
        <p:spPr>
          <a:xfrm>
            <a:off x="7680960" y="3145790"/>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FBBF24"/>
                </a:solidFill>
                <a:latin typeface="Be Vietnam Pro" pitchFamily="34" charset="0"/>
                <a:ea typeface="Be Vietnam Pro" pitchFamily="34" charset="-122"/>
                <a:cs typeface="Be Vietnam Pro" pitchFamily="34" charset="-120"/>
              </a:rPr>
              <a:t>03</a:t>
            </a:r>
            <a:endParaRPr lang="en-US" sz="1500" dirty="0"/>
          </a:p>
        </p:txBody>
      </p:sp>
      <p:sp>
        <p:nvSpPr>
          <p:cNvPr id="32" name="Text 28"/>
          <p:cNvSpPr/>
          <p:nvPr/>
        </p:nvSpPr>
        <p:spPr>
          <a:xfrm>
            <a:off x="8275320" y="3118358"/>
            <a:ext cx="301752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Bộ phận kho</a:t>
            </a:r>
            <a:endParaRPr lang="en-US" sz="1600" dirty="0"/>
          </a:p>
        </p:txBody>
      </p:sp>
      <p:sp>
        <p:nvSpPr>
          <p:cNvPr id="33" name="Text 29"/>
          <p:cNvSpPr/>
          <p:nvPr/>
        </p:nvSpPr>
        <p:spPr>
          <a:xfrm>
            <a:off x="7726680" y="3657854"/>
            <a:ext cx="3566160" cy="51511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Nhận thông báo tức thì để chuẩn bị và xuất</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vật tư theo lệnh.</a:t>
            </a:r>
            <a:endParaRPr lang="en-US" sz="1200" dirty="0"/>
          </a:p>
        </p:txBody>
      </p:sp>
      <p:sp>
        <p:nvSpPr>
          <p:cNvPr id="34" name="Shape 30"/>
          <p:cNvSpPr/>
          <p:nvPr/>
        </p:nvSpPr>
        <p:spPr>
          <a:xfrm>
            <a:off x="7452360" y="4627118"/>
            <a:ext cx="4023360" cy="1517904"/>
          </a:xfrm>
          <a:prstGeom prst="roundRect">
            <a:avLst>
              <a:gd name="adj" fmla="val 7229"/>
            </a:avLst>
          </a:prstGeom>
          <a:solidFill>
            <a:srgbClr val="091B2D">
              <a:alpha val="66000"/>
            </a:srgbClr>
          </a:solidFill>
          <a:ln w="12700">
            <a:solidFill>
              <a:srgbClr val="FFFFFF">
                <a:alpha val="12000"/>
              </a:srgbClr>
            </a:solidFill>
            <a:prstDash val="solid"/>
          </a:ln>
        </p:spPr>
      </p:sp>
      <p:sp>
        <p:nvSpPr>
          <p:cNvPr id="35" name="Shape 31"/>
          <p:cNvSpPr/>
          <p:nvPr/>
        </p:nvSpPr>
        <p:spPr>
          <a:xfrm>
            <a:off x="7452360" y="4627118"/>
            <a:ext cx="50292" cy="1517904"/>
          </a:xfrm>
          <a:prstGeom prst="roundRect">
            <a:avLst>
              <a:gd name="adj" fmla="val 54545"/>
            </a:avLst>
          </a:prstGeom>
          <a:solidFill>
            <a:srgbClr val="FB923C">
              <a:alpha val="95000"/>
            </a:srgbClr>
          </a:solidFill>
          <a:ln/>
        </p:spPr>
      </p:sp>
      <p:sp>
        <p:nvSpPr>
          <p:cNvPr id="36" name="Shape 32"/>
          <p:cNvSpPr/>
          <p:nvPr/>
        </p:nvSpPr>
        <p:spPr>
          <a:xfrm>
            <a:off x="7726680" y="4864862"/>
            <a:ext cx="420624" cy="420624"/>
          </a:xfrm>
          <a:prstGeom prst="roundRect">
            <a:avLst>
              <a:gd name="adj" fmla="val 50000"/>
            </a:avLst>
          </a:prstGeom>
          <a:solidFill>
            <a:srgbClr val="04101F">
              <a:alpha val="88000"/>
            </a:srgbClr>
          </a:solidFill>
          <a:ln/>
        </p:spPr>
      </p:sp>
      <p:sp>
        <p:nvSpPr>
          <p:cNvPr id="37" name="Shape 33"/>
          <p:cNvSpPr/>
          <p:nvPr/>
        </p:nvSpPr>
        <p:spPr>
          <a:xfrm>
            <a:off x="7726680" y="4864862"/>
            <a:ext cx="420624" cy="420624"/>
          </a:xfrm>
          <a:prstGeom prst="roundRect">
            <a:avLst>
              <a:gd name="adj" fmla="val 50000"/>
            </a:avLst>
          </a:prstGeom>
          <a:solidFill>
            <a:srgbClr val="FB923C">
              <a:alpha val="20000"/>
            </a:srgbClr>
          </a:solidFill>
          <a:ln w="15240">
            <a:solidFill>
              <a:srgbClr val="FB923C">
                <a:alpha val="70000"/>
              </a:srgbClr>
            </a:solidFill>
            <a:prstDash val="solid"/>
          </a:ln>
        </p:spPr>
      </p:sp>
      <p:sp>
        <p:nvSpPr>
          <p:cNvPr id="38" name="Text 34"/>
          <p:cNvSpPr/>
          <p:nvPr/>
        </p:nvSpPr>
        <p:spPr>
          <a:xfrm>
            <a:off x="7680960" y="4938014"/>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FB923C"/>
                </a:solidFill>
                <a:latin typeface="Be Vietnam Pro" pitchFamily="34" charset="0"/>
                <a:ea typeface="Be Vietnam Pro" pitchFamily="34" charset="-122"/>
                <a:cs typeface="Be Vietnam Pro" pitchFamily="34" charset="-120"/>
              </a:rPr>
              <a:t>04</a:t>
            </a:r>
            <a:endParaRPr lang="en-US" sz="1500" dirty="0"/>
          </a:p>
        </p:txBody>
      </p:sp>
      <p:sp>
        <p:nvSpPr>
          <p:cNvPr id="39" name="Text 35"/>
          <p:cNvSpPr/>
          <p:nvPr/>
        </p:nvSpPr>
        <p:spPr>
          <a:xfrm>
            <a:off x="8275320" y="4910582"/>
            <a:ext cx="301752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Đội cứu hộ</a:t>
            </a:r>
            <a:endParaRPr lang="en-US" sz="1600" dirty="0"/>
          </a:p>
        </p:txBody>
      </p:sp>
      <p:sp>
        <p:nvSpPr>
          <p:cNvPr id="40" name="Text 36"/>
          <p:cNvSpPr/>
          <p:nvPr/>
        </p:nvSpPr>
        <p:spPr>
          <a:xfrm>
            <a:off x="7726680" y="5450078"/>
            <a:ext cx="3566160" cy="51511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Nhận nhiệm vụ, danh sách vật tư và vị trí kho</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trên bản đồ.</a:t>
            </a:r>
            <a:endParaRPr lang="en-US" sz="1200" dirty="0"/>
          </a:p>
        </p:txBody>
      </p:sp>
      <p:sp>
        <p:nvSpPr>
          <p:cNvPr id="41" name="Shape 37"/>
          <p:cNvSpPr/>
          <p:nvPr/>
        </p:nvSpPr>
        <p:spPr>
          <a:xfrm rot="5400000">
            <a:off x="3589020" y="4371086"/>
            <a:ext cx="237744" cy="237744"/>
          </a:xfrm>
          <a:prstGeom prst="triangle">
            <a:avLst/>
          </a:prstGeom>
          <a:solidFill>
            <a:srgbClr val="22C55E">
              <a:alpha val="80000"/>
            </a:srgbClr>
          </a:solidFill>
          <a:ln/>
        </p:spPr>
      </p:sp>
      <p:sp>
        <p:nvSpPr>
          <p:cNvPr id="42" name="Shape 38"/>
          <p:cNvSpPr/>
          <p:nvPr/>
        </p:nvSpPr>
        <p:spPr>
          <a:xfrm>
            <a:off x="6940296" y="4479900"/>
            <a:ext cx="219456" cy="20117"/>
          </a:xfrm>
          <a:prstGeom prst="rect">
            <a:avLst/>
          </a:prstGeom>
          <a:solidFill>
            <a:srgbClr val="2E7D55">
              <a:alpha val="85000"/>
            </a:srgbClr>
          </a:solidFill>
          <a:ln/>
        </p:spPr>
      </p:sp>
      <p:sp>
        <p:nvSpPr>
          <p:cNvPr id="43" name="Shape 39"/>
          <p:cNvSpPr/>
          <p:nvPr/>
        </p:nvSpPr>
        <p:spPr>
          <a:xfrm>
            <a:off x="7149694" y="3593846"/>
            <a:ext cx="20117" cy="1792224"/>
          </a:xfrm>
          <a:prstGeom prst="rect">
            <a:avLst/>
          </a:prstGeom>
          <a:solidFill>
            <a:srgbClr val="2E7D55">
              <a:alpha val="85000"/>
            </a:srgbClr>
          </a:solidFill>
          <a:ln/>
        </p:spPr>
      </p:sp>
      <p:sp>
        <p:nvSpPr>
          <p:cNvPr id="44" name="Shape 40"/>
          <p:cNvSpPr/>
          <p:nvPr/>
        </p:nvSpPr>
        <p:spPr>
          <a:xfrm>
            <a:off x="7159752" y="3583788"/>
            <a:ext cx="73152" cy="20117"/>
          </a:xfrm>
          <a:prstGeom prst="rect">
            <a:avLst/>
          </a:prstGeom>
          <a:solidFill>
            <a:srgbClr val="2E7D55">
              <a:alpha val="85000"/>
            </a:srgbClr>
          </a:solidFill>
          <a:ln/>
        </p:spPr>
      </p:sp>
      <p:sp>
        <p:nvSpPr>
          <p:cNvPr id="45" name="Shape 41"/>
          <p:cNvSpPr/>
          <p:nvPr/>
        </p:nvSpPr>
        <p:spPr>
          <a:xfrm rot="5400000">
            <a:off x="7205472" y="3474974"/>
            <a:ext cx="237744" cy="237744"/>
          </a:xfrm>
          <a:prstGeom prst="triangle">
            <a:avLst/>
          </a:prstGeom>
          <a:solidFill>
            <a:srgbClr val="22C55E">
              <a:alpha val="80000"/>
            </a:srgbClr>
          </a:solidFill>
          <a:ln/>
        </p:spPr>
      </p:sp>
      <p:sp>
        <p:nvSpPr>
          <p:cNvPr id="46" name="Shape 42"/>
          <p:cNvSpPr/>
          <p:nvPr/>
        </p:nvSpPr>
        <p:spPr>
          <a:xfrm>
            <a:off x="7159752" y="5376012"/>
            <a:ext cx="73152" cy="20117"/>
          </a:xfrm>
          <a:prstGeom prst="rect">
            <a:avLst/>
          </a:prstGeom>
          <a:solidFill>
            <a:srgbClr val="2E7D55">
              <a:alpha val="85000"/>
            </a:srgbClr>
          </a:solidFill>
          <a:ln/>
        </p:spPr>
      </p:sp>
      <p:sp>
        <p:nvSpPr>
          <p:cNvPr id="47" name="Shape 43"/>
          <p:cNvSpPr/>
          <p:nvPr/>
        </p:nvSpPr>
        <p:spPr>
          <a:xfrm rot="5400000">
            <a:off x="7205472" y="5267198"/>
            <a:ext cx="237744" cy="237744"/>
          </a:xfrm>
          <a:prstGeom prst="triangle">
            <a:avLst/>
          </a:prstGeom>
          <a:solidFill>
            <a:srgbClr val="22C55E">
              <a:alpha val="80000"/>
            </a:srgbClr>
          </a:solidFill>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44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44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66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66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66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66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88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88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88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88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88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88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88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10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10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10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10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110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10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10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10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10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10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par>
                                <p:cTn id="113" presetID="10" presetClass="entr" presetSubtype="0" fill="hold" nodeType="withEffect">
                                  <p:stCondLst>
                                    <p:cond delay="110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10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07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TOÀN BỘ 6 BƯỚC</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Nhiệm vụ được theo dõi minh bạch từ đầu đến cuối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19" name="Shape 15"/>
          <p:cNvSpPr/>
          <p:nvPr/>
        </p:nvSpPr>
        <p:spPr>
          <a:xfrm>
            <a:off x="713232" y="2220214"/>
            <a:ext cx="50292" cy="1737360"/>
          </a:xfrm>
          <a:prstGeom prst="roundRect">
            <a:avLst>
              <a:gd name="adj" fmla="val 54545"/>
            </a:avLst>
          </a:prstGeom>
          <a:solidFill>
            <a:srgbClr val="22C55E">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26" name="Shape 22"/>
          <p:cNvSpPr/>
          <p:nvPr/>
        </p:nvSpPr>
        <p:spPr>
          <a:xfrm>
            <a:off x="4405274" y="2220214"/>
            <a:ext cx="50292" cy="1737360"/>
          </a:xfrm>
          <a:prstGeom prst="roundRect">
            <a:avLst>
              <a:gd name="adj" fmla="val 54545"/>
            </a:avLst>
          </a:prstGeom>
          <a:solidFill>
            <a:srgbClr val="22C55E">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33" name="Shape 29"/>
          <p:cNvSpPr/>
          <p:nvPr/>
        </p:nvSpPr>
        <p:spPr>
          <a:xfrm>
            <a:off x="8097317" y="2220214"/>
            <a:ext cx="50292" cy="1737360"/>
          </a:xfrm>
          <a:prstGeom prst="roundRect">
            <a:avLst>
              <a:gd name="adj" fmla="val 54545"/>
            </a:avLst>
          </a:prstGeom>
          <a:solidFill>
            <a:srgbClr val="22C55E">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40" name="Shape 36"/>
          <p:cNvSpPr/>
          <p:nvPr/>
        </p:nvSpPr>
        <p:spPr>
          <a:xfrm>
            <a:off x="8097317" y="4359910"/>
            <a:ext cx="50292" cy="1737360"/>
          </a:xfrm>
          <a:prstGeom prst="roundRect">
            <a:avLst>
              <a:gd name="adj" fmla="val 54545"/>
            </a:avLst>
          </a:prstGeom>
          <a:solidFill>
            <a:srgbClr val="22C55E">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lúc.</a:t>
            </a:r>
            <a:endParaRPr lang="en-US" sz="1150" dirty="0"/>
          </a:p>
        </p:txBody>
      </p:sp>
      <p:sp>
        <p:nvSpPr>
          <p:cNvPr id="46" name="Shape 42"/>
          <p:cNvSpPr/>
          <p:nvPr/>
        </p:nvSpPr>
        <p:spPr>
          <a:xfrm>
            <a:off x="4405274"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47" name="Shape 43"/>
          <p:cNvSpPr/>
          <p:nvPr/>
        </p:nvSpPr>
        <p:spPr>
          <a:xfrm>
            <a:off x="4405274" y="4359910"/>
            <a:ext cx="50292" cy="1737360"/>
          </a:xfrm>
          <a:prstGeom prst="roundRect">
            <a:avLst>
              <a:gd name="adj" fmla="val 54545"/>
            </a:avLst>
          </a:prstGeom>
          <a:solidFill>
            <a:srgbClr val="22C55E">
              <a:alpha val="95000"/>
            </a:srgbClr>
          </a:solidFill>
          <a:ln/>
        </p:spPr>
      </p:sp>
      <p:sp>
        <p:nvSpPr>
          <p:cNvPr id="48" name="Shape 44"/>
          <p:cNvSpPr/>
          <p:nvPr/>
        </p:nvSpPr>
        <p:spPr>
          <a:xfrm>
            <a:off x="4679594" y="4579366"/>
            <a:ext cx="420624" cy="420624"/>
          </a:xfrm>
          <a:prstGeom prst="roundRect">
            <a:avLst>
              <a:gd name="adj" fmla="val 50000"/>
            </a:avLst>
          </a:prstGeom>
          <a:solidFill>
            <a:srgbClr val="04101F">
              <a:alpha val="88000"/>
            </a:srgbClr>
          </a:solidFill>
          <a:ln/>
        </p:spPr>
      </p:sp>
      <p:sp>
        <p:nvSpPr>
          <p:cNvPr id="49" name="Shape 45"/>
          <p:cNvSpPr/>
          <p:nvPr/>
        </p:nvSpPr>
        <p:spPr>
          <a:xfrm>
            <a:off x="4679594"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0" name="Text 46"/>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5</a:t>
            </a:r>
            <a:endParaRPr lang="en-US" sz="1500" dirty="0"/>
          </a:p>
        </p:txBody>
      </p:sp>
      <p:sp>
        <p:nvSpPr>
          <p:cNvPr id="51" name="Text 47"/>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thành</a:t>
            </a:r>
            <a:endParaRPr lang="en-US" sz="1400" dirty="0"/>
          </a:p>
        </p:txBody>
      </p:sp>
      <p:sp>
        <p:nvSpPr>
          <p:cNvPr id="52" name="Text 48"/>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tại hiện trường.</a:t>
            </a:r>
            <a:endParaRPr lang="en-US" sz="1150" dirty="0"/>
          </a:p>
        </p:txBody>
      </p:sp>
      <p:sp>
        <p:nvSpPr>
          <p:cNvPr id="53" name="Shape 49"/>
          <p:cNvSpPr/>
          <p:nvPr/>
        </p:nvSpPr>
        <p:spPr>
          <a:xfrm>
            <a:off x="713232"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54" name="Shape 50"/>
          <p:cNvSpPr/>
          <p:nvPr/>
        </p:nvSpPr>
        <p:spPr>
          <a:xfrm>
            <a:off x="713232" y="4359910"/>
            <a:ext cx="50292" cy="1737360"/>
          </a:xfrm>
          <a:prstGeom prst="roundRect">
            <a:avLst>
              <a:gd name="adj" fmla="val 54545"/>
            </a:avLst>
          </a:prstGeom>
          <a:solidFill>
            <a:srgbClr val="22C55E">
              <a:alpha val="95000"/>
            </a:srgbClr>
          </a:solidFill>
          <a:ln/>
        </p:spPr>
      </p:sp>
      <p:sp>
        <p:nvSpPr>
          <p:cNvPr id="55" name="Shape 51"/>
          <p:cNvSpPr/>
          <p:nvPr/>
        </p:nvSpPr>
        <p:spPr>
          <a:xfrm>
            <a:off x="987552" y="4579366"/>
            <a:ext cx="420624" cy="420624"/>
          </a:xfrm>
          <a:prstGeom prst="roundRect">
            <a:avLst>
              <a:gd name="adj" fmla="val 50000"/>
            </a:avLst>
          </a:prstGeom>
          <a:solidFill>
            <a:srgbClr val="04101F">
              <a:alpha val="88000"/>
            </a:srgbClr>
          </a:solidFill>
          <a:ln/>
        </p:spPr>
      </p:sp>
      <p:sp>
        <p:nvSpPr>
          <p:cNvPr id="56" name="Shape 52"/>
          <p:cNvSpPr/>
          <p:nvPr/>
        </p:nvSpPr>
        <p:spPr>
          <a:xfrm>
            <a:off x="987552"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7" name="Text 53"/>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6</a:t>
            </a:r>
            <a:endParaRPr lang="en-US" sz="1500" dirty="0"/>
          </a:p>
        </p:txBody>
      </p:sp>
      <p:sp>
        <p:nvSpPr>
          <p:cNvPr id="58" name="Text 54"/>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vật tư</a:t>
            </a:r>
            <a:endParaRPr lang="en-US" sz="1400" dirty="0"/>
          </a:p>
        </p:txBody>
      </p:sp>
      <p:sp>
        <p:nvSpPr>
          <p:cNvPr id="59" name="Text 55"/>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22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22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22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22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22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44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44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44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44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44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44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66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66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66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66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66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66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88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88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88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88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88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88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88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10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10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10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10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10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par>
                                <p:cTn id="113" presetID="10" presetClass="entr" presetSubtype="0" fill="hold" nodeType="withEffect">
                                  <p:stCondLst>
                                    <p:cond delay="132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32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par>
                                <p:cTn id="119" presetID="10" presetClass="entr" presetSubtype="0" fill="hold" nodeType="withEffect">
                                  <p:stCondLst>
                                    <p:cond delay="132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400"/>
                                        <p:tgtEl>
                                          <p:spTgt spid="48"/>
                                        </p:tgtEl>
                                      </p:cBhvr>
                                    </p:animEffect>
                                  </p:childTnLst>
                                </p:cTn>
                              </p:par>
                              <p:par>
                                <p:cTn id="122" presetID="10" presetClass="entr" presetSubtype="0" fill="hold" nodeType="withEffect">
                                  <p:stCondLst>
                                    <p:cond delay="132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400"/>
                                        <p:tgtEl>
                                          <p:spTgt spid="49"/>
                                        </p:tgtEl>
                                      </p:cBhvr>
                                    </p:animEffect>
                                  </p:childTnLst>
                                </p:cTn>
                              </p:par>
                              <p:par>
                                <p:cTn id="125" presetID="10" presetClass="entr" presetSubtype="0" fill="hold" nodeType="withEffect">
                                  <p:stCondLst>
                                    <p:cond delay="132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400"/>
                                        <p:tgtEl>
                                          <p:spTgt spid="50"/>
                                        </p:tgtEl>
                                      </p:cBhvr>
                                    </p:animEffect>
                                  </p:childTnLst>
                                </p:cTn>
                              </p:par>
                              <p:par>
                                <p:cTn id="128" presetID="10" presetClass="entr" presetSubtype="0" fill="hold" nodeType="withEffect">
                                  <p:stCondLst>
                                    <p:cond delay="132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400"/>
                                        <p:tgtEl>
                                          <p:spTgt spid="51"/>
                                        </p:tgtEl>
                                      </p:cBhvr>
                                    </p:animEffect>
                                  </p:childTnLst>
                                </p:cTn>
                              </p:par>
                              <p:par>
                                <p:cTn id="131" presetID="10" presetClass="entr" presetSubtype="0" fill="hold" nodeType="withEffect">
                                  <p:stCondLst>
                                    <p:cond delay="1320"/>
                                  </p:stCondLst>
                                  <p:childTnLst>
                                    <p:set>
                                      <p:cBhvr>
                                        <p:cTn id="132" dur="1" fill="hold">
                                          <p:stCondLst>
                                            <p:cond delay="0"/>
                                          </p:stCondLst>
                                        </p:cTn>
                                        <p:tgtEl>
                                          <p:spTgt spid="52"/>
                                        </p:tgtEl>
                                        <p:attrNameLst>
                                          <p:attrName>style.visibility</p:attrName>
                                        </p:attrNameLst>
                                      </p:cBhvr>
                                      <p:to>
                                        <p:strVal val="visible"/>
                                      </p:to>
                                    </p:set>
                                    <p:animEffect transition="in" filter="fade">
                                      <p:cBhvr>
                                        <p:cTn id="133" dur="400"/>
                                        <p:tgtEl>
                                          <p:spTgt spid="52"/>
                                        </p:tgtEl>
                                      </p:cBhvr>
                                    </p:animEffect>
                                  </p:childTnLst>
                                </p:cTn>
                              </p:par>
                              <p:par>
                                <p:cTn id="134" presetID="10" presetClass="entr" presetSubtype="0" fill="hold" nodeType="withEffect">
                                  <p:stCondLst>
                                    <p:cond delay="1540"/>
                                  </p:stCondLst>
                                  <p:childTnLst>
                                    <p:set>
                                      <p:cBhvr>
                                        <p:cTn id="135" dur="1" fill="hold">
                                          <p:stCondLst>
                                            <p:cond delay="0"/>
                                          </p:stCondLst>
                                        </p:cTn>
                                        <p:tgtEl>
                                          <p:spTgt spid="53"/>
                                        </p:tgtEl>
                                        <p:attrNameLst>
                                          <p:attrName>style.visibility</p:attrName>
                                        </p:attrNameLst>
                                      </p:cBhvr>
                                      <p:to>
                                        <p:strVal val="visible"/>
                                      </p:to>
                                    </p:set>
                                    <p:animEffect transition="in" filter="fade">
                                      <p:cBhvr>
                                        <p:cTn id="136" dur="400"/>
                                        <p:tgtEl>
                                          <p:spTgt spid="53"/>
                                        </p:tgtEl>
                                      </p:cBhvr>
                                    </p:animEffect>
                                  </p:childTnLst>
                                </p:cTn>
                              </p:par>
                              <p:par>
                                <p:cTn id="137" presetID="10" presetClass="entr" presetSubtype="0" fill="hold" nodeType="withEffect">
                                  <p:stCondLst>
                                    <p:cond delay="154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54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54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54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54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54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08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1 → 2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Ghi nhận đúng chỗ, phân tích đúng nhu cầu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658368" y="2165350"/>
            <a:ext cx="3490874" cy="1847088"/>
          </a:xfrm>
          <a:prstGeom prst="roundRect">
            <a:avLst>
              <a:gd name="adj" fmla="val 7921"/>
            </a:avLst>
          </a:prstGeom>
          <a:solidFill>
            <a:srgbClr val="22C55E">
              <a:alpha val="18000"/>
            </a:srgbClr>
          </a:solidFill>
          <a:ln/>
        </p:spPr>
      </p:sp>
      <p:sp>
        <p:nvSpPr>
          <p:cNvPr id="19" name="Shape 15"/>
          <p:cNvSpPr/>
          <p:nvPr/>
        </p:nvSpPr>
        <p:spPr>
          <a:xfrm>
            <a:off x="713232"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20" name="Shape 16"/>
          <p:cNvSpPr/>
          <p:nvPr/>
        </p:nvSpPr>
        <p:spPr>
          <a:xfrm>
            <a:off x="713232" y="2220214"/>
            <a:ext cx="50292" cy="1737360"/>
          </a:xfrm>
          <a:prstGeom prst="roundRect">
            <a:avLst>
              <a:gd name="adj" fmla="val 54545"/>
            </a:avLst>
          </a:prstGeom>
          <a:solidFill>
            <a:srgbClr val="22C55E">
              <a:alpha val="95000"/>
            </a:srgbClr>
          </a:solidFill>
          <a:ln/>
        </p:spPr>
      </p:sp>
      <p:sp>
        <p:nvSpPr>
          <p:cNvPr id="21" name="Shape 17"/>
          <p:cNvSpPr/>
          <p:nvPr/>
        </p:nvSpPr>
        <p:spPr>
          <a:xfrm>
            <a:off x="987552" y="2439670"/>
            <a:ext cx="420624" cy="420624"/>
          </a:xfrm>
          <a:prstGeom prst="roundRect">
            <a:avLst>
              <a:gd name="adj" fmla="val 50000"/>
            </a:avLst>
          </a:prstGeom>
          <a:solidFill>
            <a:srgbClr val="04101F">
              <a:alpha val="88000"/>
            </a:srgbClr>
          </a:solidFill>
          <a:ln/>
        </p:spPr>
      </p:sp>
      <p:sp>
        <p:nvSpPr>
          <p:cNvPr id="22" name="Shape 18"/>
          <p:cNvSpPr/>
          <p:nvPr/>
        </p:nvSpPr>
        <p:spPr>
          <a:xfrm>
            <a:off x="987552"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3" name="Text 19"/>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1</a:t>
            </a:r>
            <a:endParaRPr lang="en-US" sz="1500" dirty="0"/>
          </a:p>
        </p:txBody>
      </p:sp>
      <p:sp>
        <p:nvSpPr>
          <p:cNvPr id="24" name="Text 20"/>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Ghi nhận tình huống</a:t>
            </a:r>
            <a:endParaRPr lang="en-US" sz="1400" dirty="0"/>
          </a:p>
        </p:txBody>
      </p:sp>
      <p:sp>
        <p:nvSpPr>
          <p:cNvPr id="25" name="Text 21"/>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nạn lên bản đồ.</a:t>
            </a:r>
            <a:endParaRPr lang="en-US" sz="1150" dirty="0"/>
          </a:p>
        </p:txBody>
      </p:sp>
      <p:sp>
        <p:nvSpPr>
          <p:cNvPr id="26" name="Shape 22"/>
          <p:cNvSpPr/>
          <p:nvPr/>
        </p:nvSpPr>
        <p:spPr>
          <a:xfrm>
            <a:off x="4350410" y="2165350"/>
            <a:ext cx="3490874" cy="1847088"/>
          </a:xfrm>
          <a:prstGeom prst="roundRect">
            <a:avLst>
              <a:gd name="adj" fmla="val 7921"/>
            </a:avLst>
          </a:prstGeom>
          <a:solidFill>
            <a:srgbClr val="22C55E">
              <a:alpha val="18000"/>
            </a:srgbClr>
          </a:solidFill>
          <a:ln/>
        </p:spPr>
      </p:sp>
      <p:sp>
        <p:nvSpPr>
          <p:cNvPr id="27" name="Shape 23"/>
          <p:cNvSpPr/>
          <p:nvPr/>
        </p:nvSpPr>
        <p:spPr>
          <a:xfrm>
            <a:off x="4405274"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28" name="Shape 24"/>
          <p:cNvSpPr/>
          <p:nvPr/>
        </p:nvSpPr>
        <p:spPr>
          <a:xfrm>
            <a:off x="4405274" y="2220214"/>
            <a:ext cx="50292" cy="1737360"/>
          </a:xfrm>
          <a:prstGeom prst="roundRect">
            <a:avLst>
              <a:gd name="adj" fmla="val 54545"/>
            </a:avLst>
          </a:prstGeom>
          <a:solidFill>
            <a:srgbClr val="22C55E">
              <a:alpha val="95000"/>
            </a:srgbClr>
          </a:solidFill>
          <a:ln/>
        </p:spPr>
      </p:sp>
      <p:sp>
        <p:nvSpPr>
          <p:cNvPr id="29" name="Shape 25"/>
          <p:cNvSpPr/>
          <p:nvPr/>
        </p:nvSpPr>
        <p:spPr>
          <a:xfrm>
            <a:off x="4679594" y="2439670"/>
            <a:ext cx="420624" cy="420624"/>
          </a:xfrm>
          <a:prstGeom prst="roundRect">
            <a:avLst>
              <a:gd name="adj" fmla="val 50000"/>
            </a:avLst>
          </a:prstGeom>
          <a:solidFill>
            <a:srgbClr val="04101F">
              <a:alpha val="88000"/>
            </a:srgbClr>
          </a:solidFill>
          <a:ln/>
        </p:spPr>
      </p:sp>
      <p:sp>
        <p:nvSpPr>
          <p:cNvPr id="30" name="Shape 26"/>
          <p:cNvSpPr/>
          <p:nvPr/>
        </p:nvSpPr>
        <p:spPr>
          <a:xfrm>
            <a:off x="4679594"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1" name="Text 27"/>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2</a:t>
            </a:r>
            <a:endParaRPr lang="en-US" sz="1500" dirty="0"/>
          </a:p>
        </p:txBody>
      </p:sp>
      <p:sp>
        <p:nvSpPr>
          <p:cNvPr id="32" name="Text 28"/>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phối</a:t>
            </a:r>
            <a:endParaRPr lang="en-US" sz="1400" dirty="0"/>
          </a:p>
        </p:txBody>
      </p:sp>
      <p:sp>
        <p:nvSpPr>
          <p:cNvPr id="33" name="Text 29"/>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phương án.</a:t>
            </a:r>
            <a:endParaRPr lang="en-US" sz="1150" dirty="0"/>
          </a:p>
        </p:txBody>
      </p:sp>
      <p:sp>
        <p:nvSpPr>
          <p:cNvPr id="34" name="Shape 30"/>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5" name="Shape 31"/>
          <p:cNvSpPr/>
          <p:nvPr/>
        </p:nvSpPr>
        <p:spPr>
          <a:xfrm>
            <a:off x="8097317" y="2220214"/>
            <a:ext cx="50292" cy="1737360"/>
          </a:xfrm>
          <a:prstGeom prst="roundRect">
            <a:avLst>
              <a:gd name="adj" fmla="val 54545"/>
            </a:avLst>
          </a:prstGeom>
          <a:solidFill>
            <a:srgbClr val="3C5468">
              <a:alpha val="95000"/>
            </a:srgbClr>
          </a:solidFill>
          <a:ln/>
        </p:spPr>
      </p:sp>
      <p:sp>
        <p:nvSpPr>
          <p:cNvPr id="36" name="Shape 32"/>
          <p:cNvSpPr/>
          <p:nvPr/>
        </p:nvSpPr>
        <p:spPr>
          <a:xfrm>
            <a:off x="8371637" y="2439670"/>
            <a:ext cx="420624" cy="420624"/>
          </a:xfrm>
          <a:prstGeom prst="roundRect">
            <a:avLst>
              <a:gd name="adj" fmla="val 50000"/>
            </a:avLst>
          </a:prstGeom>
          <a:solidFill>
            <a:srgbClr val="04101F">
              <a:alpha val="88000"/>
            </a:srgbClr>
          </a:solidFill>
          <a:ln/>
        </p:spPr>
      </p:sp>
      <p:sp>
        <p:nvSpPr>
          <p:cNvPr id="37" name="Shape 33"/>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8" name="Text 34"/>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9" name="Text 35"/>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40" name="Text 36"/>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41" name="Shape 37"/>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2" name="Shape 38"/>
          <p:cNvSpPr/>
          <p:nvPr/>
        </p:nvSpPr>
        <p:spPr>
          <a:xfrm>
            <a:off x="8097317" y="4359910"/>
            <a:ext cx="50292" cy="1737360"/>
          </a:xfrm>
          <a:prstGeom prst="roundRect">
            <a:avLst>
              <a:gd name="adj" fmla="val 54545"/>
            </a:avLst>
          </a:prstGeom>
          <a:solidFill>
            <a:srgbClr val="3C5468">
              <a:alpha val="95000"/>
            </a:srgbClr>
          </a:solidFill>
          <a:ln/>
        </p:spPr>
      </p:sp>
      <p:sp>
        <p:nvSpPr>
          <p:cNvPr id="43" name="Shape 39"/>
          <p:cNvSpPr/>
          <p:nvPr/>
        </p:nvSpPr>
        <p:spPr>
          <a:xfrm>
            <a:off x="8371637" y="4579366"/>
            <a:ext cx="420624" cy="420624"/>
          </a:xfrm>
          <a:prstGeom prst="roundRect">
            <a:avLst>
              <a:gd name="adj" fmla="val 50000"/>
            </a:avLst>
          </a:prstGeom>
          <a:solidFill>
            <a:srgbClr val="04101F">
              <a:alpha val="88000"/>
            </a:srgbClr>
          </a:solidFill>
          <a:ln/>
        </p:spPr>
      </p:sp>
      <p:sp>
        <p:nvSpPr>
          <p:cNvPr id="44" name="Shape 40"/>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5" name="Text 41"/>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6" name="Text 42"/>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7" name="Text 43"/>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8" name="Shape 44"/>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9" name="Shape 45"/>
          <p:cNvSpPr/>
          <p:nvPr/>
        </p:nvSpPr>
        <p:spPr>
          <a:xfrm>
            <a:off x="4405274" y="4359910"/>
            <a:ext cx="50292" cy="1737360"/>
          </a:xfrm>
          <a:prstGeom prst="roundRect">
            <a:avLst>
              <a:gd name="adj" fmla="val 54545"/>
            </a:avLst>
          </a:prstGeom>
          <a:solidFill>
            <a:srgbClr val="3C5468">
              <a:alpha val="95000"/>
            </a:srgbClr>
          </a:solidFill>
          <a:ln/>
        </p:spPr>
      </p:sp>
      <p:sp>
        <p:nvSpPr>
          <p:cNvPr id="50" name="Shape 46"/>
          <p:cNvSpPr/>
          <p:nvPr/>
        </p:nvSpPr>
        <p:spPr>
          <a:xfrm>
            <a:off x="4679594" y="4579366"/>
            <a:ext cx="420624" cy="420624"/>
          </a:xfrm>
          <a:prstGeom prst="roundRect">
            <a:avLst>
              <a:gd name="adj" fmla="val 50000"/>
            </a:avLst>
          </a:prstGeom>
          <a:solidFill>
            <a:srgbClr val="04101F">
              <a:alpha val="88000"/>
            </a:srgbClr>
          </a:solidFill>
          <a:ln/>
        </p:spPr>
      </p:sp>
      <p:sp>
        <p:nvSpPr>
          <p:cNvPr id="51" name="Shape 47"/>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2" name="Text 48"/>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3" name="Text 49"/>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4" name="Text 50"/>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5" name="Shape 51"/>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6" name="Shape 52"/>
          <p:cNvSpPr/>
          <p:nvPr/>
        </p:nvSpPr>
        <p:spPr>
          <a:xfrm>
            <a:off x="713232" y="4359910"/>
            <a:ext cx="50292" cy="1737360"/>
          </a:xfrm>
          <a:prstGeom prst="roundRect">
            <a:avLst>
              <a:gd name="adj" fmla="val 54545"/>
            </a:avLst>
          </a:prstGeom>
          <a:solidFill>
            <a:srgbClr val="3C5468">
              <a:alpha val="95000"/>
            </a:srgbClr>
          </a:solidFill>
          <a:ln/>
        </p:spPr>
      </p:sp>
      <p:sp>
        <p:nvSpPr>
          <p:cNvPr id="57" name="Shape 53"/>
          <p:cNvSpPr/>
          <p:nvPr/>
        </p:nvSpPr>
        <p:spPr>
          <a:xfrm>
            <a:off x="987552" y="4579366"/>
            <a:ext cx="420624" cy="420624"/>
          </a:xfrm>
          <a:prstGeom prst="roundRect">
            <a:avLst>
              <a:gd name="adj" fmla="val 50000"/>
            </a:avLst>
          </a:prstGeom>
          <a:solidFill>
            <a:srgbClr val="04101F">
              <a:alpha val="88000"/>
            </a:srgbClr>
          </a:solidFill>
          <a:ln/>
        </p:spPr>
      </p:sp>
      <p:sp>
        <p:nvSpPr>
          <p:cNvPr id="58" name="Shape 54"/>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9" name="Text 55"/>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60" name="Text 56"/>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1" name="Text 57"/>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22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22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22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22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22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66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66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66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88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10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10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10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10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10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32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32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32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32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132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32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32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54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54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54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54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54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par>
                                <p:cTn id="113" presetID="10" presetClass="entr" presetSubtype="0" fill="hold" nodeType="withEffect">
                                  <p:stCondLst>
                                    <p:cond delay="154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54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par>
                                <p:cTn id="119" presetID="10" presetClass="entr" presetSubtype="0" fill="hold" nodeType="withEffect">
                                  <p:stCondLst>
                                    <p:cond delay="176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400"/>
                                        <p:tgtEl>
                                          <p:spTgt spid="48"/>
                                        </p:tgtEl>
                                      </p:cBhvr>
                                    </p:animEffect>
                                  </p:childTnLst>
                                </p:cTn>
                              </p:par>
                              <p:par>
                                <p:cTn id="122" presetID="10" presetClass="entr" presetSubtype="0" fill="hold" nodeType="withEffect">
                                  <p:stCondLst>
                                    <p:cond delay="176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400"/>
                                        <p:tgtEl>
                                          <p:spTgt spid="49"/>
                                        </p:tgtEl>
                                      </p:cBhvr>
                                    </p:animEffect>
                                  </p:childTnLst>
                                </p:cTn>
                              </p:par>
                              <p:par>
                                <p:cTn id="125" presetID="10" presetClass="entr" presetSubtype="0" fill="hold" nodeType="withEffect">
                                  <p:stCondLst>
                                    <p:cond delay="176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400"/>
                                        <p:tgtEl>
                                          <p:spTgt spid="50"/>
                                        </p:tgtEl>
                                      </p:cBhvr>
                                    </p:animEffect>
                                  </p:childTnLst>
                                </p:cTn>
                              </p:par>
                              <p:par>
                                <p:cTn id="128" presetID="10" presetClass="entr" presetSubtype="0" fill="hold" nodeType="withEffect">
                                  <p:stCondLst>
                                    <p:cond delay="176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400"/>
                                        <p:tgtEl>
                                          <p:spTgt spid="51"/>
                                        </p:tgtEl>
                                      </p:cBhvr>
                                    </p:animEffect>
                                  </p:childTnLst>
                                </p:cTn>
                              </p:par>
                              <p:par>
                                <p:cTn id="131" presetID="10" presetClass="entr" presetSubtype="0" fill="hold" nodeType="withEffect">
                                  <p:stCondLst>
                                    <p:cond delay="1760"/>
                                  </p:stCondLst>
                                  <p:childTnLst>
                                    <p:set>
                                      <p:cBhvr>
                                        <p:cTn id="132" dur="1" fill="hold">
                                          <p:stCondLst>
                                            <p:cond delay="0"/>
                                          </p:stCondLst>
                                        </p:cTn>
                                        <p:tgtEl>
                                          <p:spTgt spid="52"/>
                                        </p:tgtEl>
                                        <p:attrNameLst>
                                          <p:attrName>style.visibility</p:attrName>
                                        </p:attrNameLst>
                                      </p:cBhvr>
                                      <p:to>
                                        <p:strVal val="visible"/>
                                      </p:to>
                                    </p:set>
                                    <p:animEffect transition="in" filter="fade">
                                      <p:cBhvr>
                                        <p:cTn id="133" dur="400"/>
                                        <p:tgtEl>
                                          <p:spTgt spid="52"/>
                                        </p:tgtEl>
                                      </p:cBhvr>
                                    </p:animEffect>
                                  </p:childTnLst>
                                </p:cTn>
                              </p:par>
                              <p:par>
                                <p:cTn id="134" presetID="10" presetClass="entr" presetSubtype="0" fill="hold" nodeType="withEffect">
                                  <p:stCondLst>
                                    <p:cond delay="1760"/>
                                  </p:stCondLst>
                                  <p:childTnLst>
                                    <p:set>
                                      <p:cBhvr>
                                        <p:cTn id="135" dur="1" fill="hold">
                                          <p:stCondLst>
                                            <p:cond delay="0"/>
                                          </p:stCondLst>
                                        </p:cTn>
                                        <p:tgtEl>
                                          <p:spTgt spid="53"/>
                                        </p:tgtEl>
                                        <p:attrNameLst>
                                          <p:attrName>style.visibility</p:attrName>
                                        </p:attrNameLst>
                                      </p:cBhvr>
                                      <p:to>
                                        <p:strVal val="visible"/>
                                      </p:to>
                                    </p:set>
                                    <p:animEffect transition="in" filter="fade">
                                      <p:cBhvr>
                                        <p:cTn id="136" dur="400"/>
                                        <p:tgtEl>
                                          <p:spTgt spid="5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98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98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98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98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98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98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par>
                                <p:cTn id="158" presetID="10" presetClass="entr" presetSubtype="0" fill="hold" nodeType="withEffect">
                                  <p:stCondLst>
                                    <p:cond delay="1980"/>
                                  </p:stCondLst>
                                  <p:childTnLst>
                                    <p:set>
                                      <p:cBhvr>
                                        <p:cTn id="159" dur="1" fill="hold">
                                          <p:stCondLst>
                                            <p:cond delay="0"/>
                                          </p:stCondLst>
                                        </p:cTn>
                                        <p:tgtEl>
                                          <p:spTgt spid="61"/>
                                        </p:tgtEl>
                                        <p:attrNameLst>
                                          <p:attrName>style.visibility</p:attrName>
                                        </p:attrNameLst>
                                      </p:cBhvr>
                                      <p:to>
                                        <p:strVal val="visible"/>
                                      </p:to>
                                    </p:set>
                                    <p:animEffect transition="in" filter="fade">
                                      <p:cBhvr>
                                        <p:cTn id="16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09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AI THAM MƯU</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Kể bằng lời — AI lập bản tham mưu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663440" cy="3803904"/>
          </a:xfrm>
          <a:prstGeom prst="roundRect">
            <a:avLst>
              <a:gd name="adj" fmla="val 2885"/>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803904"/>
          </a:xfrm>
          <a:prstGeom prst="roundRect">
            <a:avLst>
              <a:gd name="adj" fmla="val 54545"/>
            </a:avLst>
          </a:prstGeom>
          <a:solidFill>
            <a:srgbClr val="38BDF8">
              <a:alpha val="95000"/>
            </a:srgbClr>
          </a:solidFill>
          <a:ln/>
        </p:spPr>
      </p:sp>
      <p:sp>
        <p:nvSpPr>
          <p:cNvPr id="14" name="Text 10"/>
          <p:cNvSpPr/>
          <p:nvPr/>
        </p:nvSpPr>
        <p:spPr>
          <a:xfrm>
            <a:off x="1024128" y="2476246"/>
            <a:ext cx="4133088"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38BDF8"/>
                </a:solidFill>
                <a:latin typeface="Be Vietnam Pro" pitchFamily="34" charset="0"/>
                <a:ea typeface="Be Vietnam Pro" pitchFamily="34" charset="-122"/>
                <a:cs typeface="Be Vietnam Pro" pitchFamily="34" charset="-120"/>
              </a:rPr>
              <a:t>NGƯỜI ĐIỀU PHỐI NHẬP</a:t>
            </a:r>
            <a:endParaRPr lang="en-US" sz="1050" dirty="0"/>
          </a:p>
        </p:txBody>
      </p:sp>
      <p:sp>
        <p:nvSpPr>
          <p:cNvPr id="15" name="Shape 11"/>
          <p:cNvSpPr/>
          <p:nvPr/>
        </p:nvSpPr>
        <p:spPr>
          <a:xfrm>
            <a:off x="1024128" y="2906014"/>
            <a:ext cx="4041648" cy="1371600"/>
          </a:xfrm>
          <a:prstGeom prst="roundRect">
            <a:avLst>
              <a:gd name="adj" fmla="val 6667"/>
            </a:avLst>
          </a:prstGeom>
          <a:solidFill>
            <a:srgbClr val="FFFFFF">
              <a:alpha val="8000"/>
            </a:srgbClr>
          </a:solidFill>
          <a:ln w="12700">
            <a:solidFill>
              <a:srgbClr val="FFFFFF">
                <a:alpha val="18000"/>
              </a:srgbClr>
            </a:solidFill>
            <a:prstDash val="solid"/>
          </a:ln>
        </p:spPr>
      </p:sp>
      <p:sp>
        <p:nvSpPr>
          <p:cNvPr id="16" name="Text 12"/>
          <p:cNvSpPr/>
          <p:nvPr/>
        </p:nvSpPr>
        <p:spPr>
          <a:xfrm>
            <a:off x="1225296" y="3098038"/>
            <a:ext cx="3730752" cy="846582"/>
          </a:xfrm>
          <a:prstGeom prst="rect">
            <a:avLst/>
          </a:prstGeom>
          <a:noFill/>
          <a:ln/>
        </p:spPr>
        <p:txBody>
          <a:bodyPr wrap="square" lIns="0" tIns="0" rIns="0" bIns="0" rtlCol="0" anchor="t"/>
          <a:lstStyle/>
          <a:p>
            <a:pPr marL="0" indent="0" algn="l">
              <a:lnSpc>
                <a:spcPts val="2030"/>
              </a:lnSpc>
              <a:buNone/>
            </a:pPr>
            <a:r>
              <a:rPr lang="en-US" sz="1400" dirty="0">
                <a:solidFill>
                  <a:srgbClr val="FFFFFF"/>
                </a:solidFill>
                <a:latin typeface="Be Vietnam Pro" pitchFamily="34" charset="0"/>
                <a:ea typeface="Be Vietnam Pro" pitchFamily="34" charset="-122"/>
                <a:cs typeface="Be Vietnam Pro" pitchFamily="34" charset="-120"/>
              </a:rPr>
              <a:t>“Lũ quét xã Đồng Xuân, khoảng 200</a:t>
            </a:r>
            <a:endParaRPr lang="en-US" sz="1400" dirty="0"/>
          </a:p>
          <a:p>
            <a:pPr marL="0" indent="0" algn="l">
              <a:lnSpc>
                <a:spcPts val="2030"/>
              </a:lnSpc>
              <a:buNone/>
            </a:pPr>
            <a:r>
              <a:rPr lang="en-US" sz="1400" dirty="0">
                <a:solidFill>
                  <a:srgbClr val="FFFFFF"/>
                </a:solidFill>
                <a:latin typeface="Be Vietnam Pro" pitchFamily="34" charset="0"/>
                <a:ea typeface="Be Vietnam Pro" pitchFamily="34" charset="-122"/>
                <a:cs typeface="Be Vietnam Pro" pitchFamily="34" charset="-120"/>
              </a:rPr>
              <a:t>người mắc kẹt, có 10 cháu nhỏ, 3 ngày</a:t>
            </a:r>
            <a:endParaRPr lang="en-US" sz="1400" dirty="0"/>
          </a:p>
          <a:p>
            <a:pPr marL="0" indent="0" algn="l">
              <a:lnSpc>
                <a:spcPts val="2030"/>
              </a:lnSpc>
              <a:buNone/>
            </a:pPr>
            <a:r>
              <a:rPr lang="en-US" sz="1400" dirty="0">
                <a:solidFill>
                  <a:srgbClr val="FFFFFF"/>
                </a:solidFill>
                <a:latin typeface="Be Vietnam Pro" pitchFamily="34" charset="0"/>
                <a:ea typeface="Be Vietnam Pro" pitchFamily="34" charset="-122"/>
                <a:cs typeface="Be Vietnam Pro" pitchFamily="34" charset="-120"/>
              </a:rPr>
              <a:t>chưa có nước sạch.”</a:t>
            </a:r>
            <a:endParaRPr lang="en-US" sz="1400" dirty="0"/>
          </a:p>
        </p:txBody>
      </p:sp>
      <p:sp>
        <p:nvSpPr>
          <p:cNvPr id="17" name="Text 13"/>
          <p:cNvSpPr/>
          <p:nvPr/>
        </p:nvSpPr>
        <p:spPr>
          <a:xfrm>
            <a:off x="1024128" y="4597654"/>
            <a:ext cx="4133088" cy="515112"/>
          </a:xfrm>
          <a:prstGeom prst="rect">
            <a:avLst/>
          </a:prstGeom>
          <a:noFill/>
          <a:ln/>
        </p:spPr>
        <p:txBody>
          <a:bodyPr wrap="square" lIns="0" tIns="0" rIns="0" bIns="0" rtlCol="0" anchor="t"/>
          <a:lstStyle/>
          <a:p>
            <a:pPr marL="0" indent="0" algn="l">
              <a:lnSpc>
                <a:spcPts val="1740"/>
              </a:lnSpc>
              <a:buNone/>
            </a:pPr>
            <a:r>
              <a:rPr lang="en-US" sz="1200" dirty="0">
                <a:solidFill>
                  <a:srgbClr val="9BB0C6"/>
                </a:solidFill>
                <a:latin typeface="Be Vietnam Pro" pitchFamily="34" charset="0"/>
                <a:ea typeface="Be Vietnam Pro" pitchFamily="34" charset="-122"/>
                <a:cs typeface="Be Vietnam Pro" pitchFamily="34" charset="-120"/>
              </a:rPr>
              <a:t>Gõ hoặc bấm “Nói để nhập” — không phải điền form</a:t>
            </a:r>
            <a:endParaRPr lang="en-US" sz="1200" dirty="0"/>
          </a:p>
          <a:p>
            <a:pPr marL="0" indent="0" algn="l">
              <a:lnSpc>
                <a:spcPts val="1740"/>
              </a:lnSpc>
              <a:buNone/>
            </a:pPr>
            <a:r>
              <a:rPr lang="en-US" sz="1200" dirty="0">
                <a:solidFill>
                  <a:srgbClr val="9BB0C6"/>
                </a:solidFill>
                <a:latin typeface="Be Vietnam Pro" pitchFamily="34" charset="0"/>
                <a:ea typeface="Be Vietnam Pro" pitchFamily="34" charset="-122"/>
                <a:cs typeface="Be Vietnam Pro" pitchFamily="34" charset="-120"/>
              </a:rPr>
              <a:t>trong lúc khẩn cấp.</a:t>
            </a:r>
            <a:endParaRPr lang="en-US" sz="1200" dirty="0"/>
          </a:p>
        </p:txBody>
      </p:sp>
      <p:sp>
        <p:nvSpPr>
          <p:cNvPr id="18" name="Shape 14"/>
          <p:cNvSpPr/>
          <p:nvPr/>
        </p:nvSpPr>
        <p:spPr>
          <a:xfrm>
            <a:off x="1024128" y="5292598"/>
            <a:ext cx="1680858" cy="329184"/>
          </a:xfrm>
          <a:prstGeom prst="roundRect">
            <a:avLst>
              <a:gd name="adj" fmla="val 50000"/>
            </a:avLst>
          </a:prstGeom>
          <a:solidFill>
            <a:srgbClr val="6EE7A8">
              <a:alpha val="18000"/>
            </a:srgbClr>
          </a:solidFill>
          <a:ln w="12700">
            <a:solidFill>
              <a:srgbClr val="6EE7A8">
                <a:alpha val="55000"/>
              </a:srgbClr>
            </a:solidFill>
            <a:prstDash val="solid"/>
          </a:ln>
        </p:spPr>
      </p:sp>
      <p:sp>
        <p:nvSpPr>
          <p:cNvPr id="19" name="Text 15"/>
          <p:cNvSpPr/>
          <p:nvPr/>
        </p:nvSpPr>
        <p:spPr>
          <a:xfrm>
            <a:off x="978408" y="5352034"/>
            <a:ext cx="1772298" cy="270320"/>
          </a:xfrm>
          <a:prstGeom prst="rect">
            <a:avLst/>
          </a:prstGeom>
          <a:noFill/>
          <a:ln/>
        </p:spPr>
        <p:txBody>
          <a:bodyPr wrap="square" lIns="0" tIns="0" rIns="0" bIns="0" rtlCol="0" anchor="t"/>
          <a:lstStyle/>
          <a:p>
            <a:pPr marL="0" indent="0" algn="ctr">
              <a:lnSpc>
                <a:spcPts val="1553"/>
              </a:lnSpc>
              <a:buNone/>
            </a:pPr>
            <a:r>
              <a:rPr lang="en-US" sz="1150" b="1" dirty="0">
                <a:solidFill>
                  <a:srgbClr val="6EE7A8"/>
                </a:solidFill>
                <a:latin typeface="Be Vietnam Pro" pitchFamily="34" charset="0"/>
                <a:ea typeface="Be Vietnam Pro" pitchFamily="34" charset="-122"/>
                <a:cs typeface="Be Vietnam Pro" pitchFamily="34" charset="-120"/>
              </a:rPr>
              <a:t>Phân tích bằng AI</a:t>
            </a:r>
            <a:endParaRPr lang="en-US" sz="1150" dirty="0"/>
          </a:p>
        </p:txBody>
      </p:sp>
      <p:sp>
        <p:nvSpPr>
          <p:cNvPr id="20" name="Shape 16"/>
          <p:cNvSpPr/>
          <p:nvPr/>
        </p:nvSpPr>
        <p:spPr>
          <a:xfrm rot="5400000">
            <a:off x="5577840" y="3985006"/>
            <a:ext cx="274320" cy="274320"/>
          </a:xfrm>
          <a:prstGeom prst="triangle">
            <a:avLst/>
          </a:prstGeom>
          <a:solidFill>
            <a:srgbClr val="6EE7A8">
              <a:alpha val="90000"/>
            </a:srgbClr>
          </a:solidFill>
          <a:ln/>
        </p:spPr>
      </p:sp>
      <p:sp>
        <p:nvSpPr>
          <p:cNvPr id="21" name="Shape 17"/>
          <p:cNvSpPr/>
          <p:nvPr/>
        </p:nvSpPr>
        <p:spPr>
          <a:xfrm>
            <a:off x="6053328" y="2220214"/>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22" name="Shape 18"/>
          <p:cNvSpPr/>
          <p:nvPr/>
        </p:nvSpPr>
        <p:spPr>
          <a:xfrm>
            <a:off x="6053328" y="2220214"/>
            <a:ext cx="50292" cy="868680"/>
          </a:xfrm>
          <a:prstGeom prst="roundRect">
            <a:avLst>
              <a:gd name="adj" fmla="val 54545"/>
            </a:avLst>
          </a:prstGeom>
          <a:solidFill>
            <a:srgbClr val="22C55E">
              <a:alpha val="95000"/>
            </a:srgbClr>
          </a:solidFill>
          <a:ln/>
        </p:spPr>
      </p:sp>
      <p:sp>
        <p:nvSpPr>
          <p:cNvPr id="23" name="Text 19"/>
          <p:cNvSpPr/>
          <p:nvPr/>
        </p:nvSpPr>
        <p:spPr>
          <a:xfrm>
            <a:off x="6327648" y="2384806"/>
            <a:ext cx="4967935"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Số liệu ngay lập tức điền sẵn để người điều phối kiểm tra</a:t>
            </a:r>
            <a:endParaRPr lang="en-US" sz="1350" dirty="0"/>
          </a:p>
        </p:txBody>
      </p:sp>
      <p:sp>
        <p:nvSpPr>
          <p:cNvPr id="24" name="Text 20"/>
          <p:cNvSpPr/>
          <p:nvPr/>
        </p:nvSpPr>
        <p:spPr>
          <a:xfrm>
            <a:off x="6327648" y="2677414"/>
            <a:ext cx="4967935"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Loại tình huống, số người, số giờ cô lập, trẻ em, người già, ca y tế.</a:t>
            </a:r>
            <a:endParaRPr lang="en-US" sz="1150" dirty="0"/>
          </a:p>
        </p:txBody>
      </p:sp>
      <p:sp>
        <p:nvSpPr>
          <p:cNvPr id="25" name="Shape 21"/>
          <p:cNvSpPr/>
          <p:nvPr/>
        </p:nvSpPr>
        <p:spPr>
          <a:xfrm>
            <a:off x="6053328" y="3198622"/>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26" name="Shape 22"/>
          <p:cNvSpPr/>
          <p:nvPr/>
        </p:nvSpPr>
        <p:spPr>
          <a:xfrm>
            <a:off x="6053328" y="3198622"/>
            <a:ext cx="50292" cy="868680"/>
          </a:xfrm>
          <a:prstGeom prst="roundRect">
            <a:avLst>
              <a:gd name="adj" fmla="val 54545"/>
            </a:avLst>
          </a:prstGeom>
          <a:solidFill>
            <a:srgbClr val="FBBF24">
              <a:alpha val="95000"/>
            </a:srgbClr>
          </a:solidFill>
          <a:ln/>
        </p:spPr>
      </p:sp>
      <p:sp>
        <p:nvSpPr>
          <p:cNvPr id="27" name="Text 23"/>
          <p:cNvSpPr/>
          <p:nvPr/>
        </p:nvSpPr>
        <p:spPr>
          <a:xfrm>
            <a:off x="6327648" y="3363214"/>
            <a:ext cx="4967935"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Danh mục vật tư đề xuất</a:t>
            </a:r>
            <a:endParaRPr lang="en-US" sz="1350" dirty="0"/>
          </a:p>
        </p:txBody>
      </p:sp>
      <p:sp>
        <p:nvSpPr>
          <p:cNvPr id="28" name="Text 24"/>
          <p:cNvSpPr/>
          <p:nvPr/>
        </p:nvSpPr>
        <p:spPr>
          <a:xfrm>
            <a:off x="6327648" y="3655822"/>
            <a:ext cx="4967935"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Vật tư, thiết bị và nguồn lực cần thiết cho nhiệm vụ.</a:t>
            </a:r>
            <a:endParaRPr lang="en-US" sz="1150" dirty="0"/>
          </a:p>
        </p:txBody>
      </p:sp>
      <p:sp>
        <p:nvSpPr>
          <p:cNvPr id="29" name="Shape 25"/>
          <p:cNvSpPr/>
          <p:nvPr/>
        </p:nvSpPr>
        <p:spPr>
          <a:xfrm>
            <a:off x="6053328" y="4177030"/>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30" name="Shape 26"/>
          <p:cNvSpPr/>
          <p:nvPr/>
        </p:nvSpPr>
        <p:spPr>
          <a:xfrm>
            <a:off x="6053328" y="4177030"/>
            <a:ext cx="50292" cy="868680"/>
          </a:xfrm>
          <a:prstGeom prst="roundRect">
            <a:avLst>
              <a:gd name="adj" fmla="val 54545"/>
            </a:avLst>
          </a:prstGeom>
          <a:solidFill>
            <a:srgbClr val="38BDF8">
              <a:alpha val="95000"/>
            </a:srgbClr>
          </a:solidFill>
          <a:ln/>
        </p:spPr>
      </p:sp>
      <p:sp>
        <p:nvSpPr>
          <p:cNvPr id="31" name="Text 27"/>
          <p:cNvSpPr/>
          <p:nvPr/>
        </p:nvSpPr>
        <p:spPr>
          <a:xfrm>
            <a:off x="6327648" y="4341622"/>
            <a:ext cx="4967935"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xuất hàng tối ưu</a:t>
            </a:r>
            <a:endParaRPr lang="en-US" sz="1350" dirty="0"/>
          </a:p>
        </p:txBody>
      </p:sp>
      <p:sp>
        <p:nvSpPr>
          <p:cNvPr id="32" name="Text 28"/>
          <p:cNvSpPr/>
          <p:nvPr/>
        </p:nvSpPr>
        <p:spPr>
          <a:xfrm>
            <a:off x="6327648" y="4634230"/>
            <a:ext cx="4967935"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Dựa trên vị trí, tồn kho và khả năng đáp ứng của từng kho.</a:t>
            </a:r>
            <a:endParaRPr lang="en-US" sz="1150" dirty="0"/>
          </a:p>
        </p:txBody>
      </p:sp>
      <p:sp>
        <p:nvSpPr>
          <p:cNvPr id="33" name="Shape 29"/>
          <p:cNvSpPr/>
          <p:nvPr/>
        </p:nvSpPr>
        <p:spPr>
          <a:xfrm>
            <a:off x="6053328" y="5155438"/>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34" name="Shape 30"/>
          <p:cNvSpPr/>
          <p:nvPr/>
        </p:nvSpPr>
        <p:spPr>
          <a:xfrm>
            <a:off x="6053328" y="5155438"/>
            <a:ext cx="50292" cy="868680"/>
          </a:xfrm>
          <a:prstGeom prst="roundRect">
            <a:avLst>
              <a:gd name="adj" fmla="val 54545"/>
            </a:avLst>
          </a:prstGeom>
          <a:solidFill>
            <a:srgbClr val="FB923C">
              <a:alpha val="95000"/>
            </a:srgbClr>
          </a:solidFill>
          <a:ln/>
        </p:spPr>
      </p:sp>
      <p:sp>
        <p:nvSpPr>
          <p:cNvPr id="35" name="Text 31"/>
          <p:cNvSpPr/>
          <p:nvPr/>
        </p:nvSpPr>
        <p:spPr>
          <a:xfrm>
            <a:off x="6327648" y="5320030"/>
            <a:ext cx="4967935"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Bản tham mưu sẵn sàng duyệt</a:t>
            </a:r>
            <a:endParaRPr lang="en-US" sz="1350" dirty="0"/>
          </a:p>
        </p:txBody>
      </p:sp>
      <p:sp>
        <p:nvSpPr>
          <p:cNvPr id="36" name="Text 32"/>
          <p:cNvSpPr/>
          <p:nvPr/>
        </p:nvSpPr>
        <p:spPr>
          <a:xfrm>
            <a:off x="6327648" y="5612638"/>
            <a:ext cx="4967935"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Người điều phối chỉ cần kiểm tra, chỉnh sửa và xác nhận phương án.</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nodeType="withEffect">
                                  <p:stCondLst>
                                    <p:cond delay="66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nodeType="withEffect">
                                  <p:stCondLst>
                                    <p:cond delay="66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nodeType="withEffect">
                                  <p:stCondLst>
                                    <p:cond delay="88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110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110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32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32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32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54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54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54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54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76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76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76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76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10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3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Chọn kho theo khoảng cách và khả năng đáp ứng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a:t>
            </a:r>
            <a:r>
              <a:rPr lang="en-US" sz="1150" dirty="0" err="1">
                <a:solidFill>
                  <a:srgbClr val="5F7488"/>
                </a:solidFill>
                <a:latin typeface="Be Vietnam Pro" pitchFamily="34" charset="0"/>
                <a:ea typeface="Be Vietnam Pro" pitchFamily="34" charset="-122"/>
                <a:cs typeface="Be Vietnam Pro" pitchFamily="34" charset="-120"/>
              </a:rPr>
              <a:t>điểm</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gặp</a:t>
            </a:r>
            <a:endParaRPr lang="en-US" sz="1150" dirty="0"/>
          </a:p>
          <a:p>
            <a:pPr marL="0" indent="0" algn="l">
              <a:lnSpc>
                <a:spcPts val="1633"/>
              </a:lnSpc>
              <a:buNone/>
            </a:pPr>
            <a:r>
              <a:rPr lang="en-US" sz="1150" dirty="0" err="1">
                <a:solidFill>
                  <a:srgbClr val="5F7488"/>
                </a:solidFill>
                <a:latin typeface="Be Vietnam Pro" pitchFamily="34" charset="0"/>
                <a:ea typeface="Be Vietnam Pro" pitchFamily="34" charset="-122"/>
                <a:cs typeface="Be Vietnam Pro" pitchFamily="34" charset="-120"/>
              </a:rPr>
              <a:t>nạn</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lên</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bản</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đồ</a:t>
            </a:r>
            <a:r>
              <a:rPr lang="en-US" sz="1150" dirty="0">
                <a:solidFill>
                  <a:srgbClr val="5F7488"/>
                </a:solidFill>
                <a:latin typeface="Be Vietnam Pro" pitchFamily="34" charset="0"/>
                <a:ea typeface="Be Vietnam Pro" pitchFamily="34" charset="-122"/>
                <a:cs typeface="Be Vietnam Pro" pitchFamily="34" charset="-120"/>
              </a:rPr>
              <a:t>.</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a:t>
            </a:r>
            <a:r>
              <a:rPr lang="en-US" sz="1150" dirty="0" err="1">
                <a:solidFill>
                  <a:srgbClr val="5F7488"/>
                </a:solidFill>
                <a:latin typeface="Be Vietnam Pro" pitchFamily="34" charset="0"/>
                <a:ea typeface="Be Vietnam Pro" pitchFamily="34" charset="-122"/>
                <a:cs typeface="Be Vietnam Pro" pitchFamily="34" charset="-120"/>
              </a:rPr>
              <a:t>liệu</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và</a:t>
            </a:r>
            <a:endParaRPr lang="en-US" sz="1150" dirty="0"/>
          </a:p>
          <a:p>
            <a:pPr marL="0" indent="0" algn="l">
              <a:lnSpc>
                <a:spcPts val="1633"/>
              </a:lnSpc>
              <a:buNone/>
            </a:pPr>
            <a:r>
              <a:rPr lang="en-US" sz="1150" dirty="0" err="1">
                <a:solidFill>
                  <a:srgbClr val="5F7488"/>
                </a:solidFill>
                <a:latin typeface="Be Vietnam Pro" pitchFamily="34" charset="0"/>
                <a:ea typeface="Be Vietnam Pro" pitchFamily="34" charset="-122"/>
                <a:cs typeface="Be Vietnam Pro" pitchFamily="34" charset="-120"/>
              </a:rPr>
              <a:t>đề</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xuất</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vật</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tư</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người</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điều</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phối</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sẽ</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chốt</a:t>
            </a:r>
            <a:endParaRPr lang="en-US" sz="1150" dirty="0"/>
          </a:p>
          <a:p>
            <a:pPr marL="0" indent="0" algn="l">
              <a:lnSpc>
                <a:spcPts val="1633"/>
              </a:lnSpc>
              <a:buNone/>
            </a:pPr>
            <a:r>
              <a:rPr lang="en-US" sz="1150" dirty="0" err="1">
                <a:solidFill>
                  <a:srgbClr val="5F7488"/>
                </a:solidFill>
                <a:latin typeface="Be Vietnam Pro" pitchFamily="34" charset="0"/>
                <a:ea typeface="Be Vietnam Pro" pitchFamily="34" charset="-122"/>
                <a:cs typeface="Be Vietnam Pro" pitchFamily="34" charset="-120"/>
              </a:rPr>
              <a:t>phương</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án</a:t>
            </a:r>
            <a:r>
              <a:rPr lang="en-US" sz="1150" dirty="0">
                <a:solidFill>
                  <a:srgbClr val="5F7488"/>
                </a:solidFill>
                <a:latin typeface="Be Vietnam Pro" pitchFamily="34" charset="0"/>
                <a:ea typeface="Be Vietnam Pro" pitchFamily="34" charset="-122"/>
                <a:cs typeface="Be Vietnam Pro" pitchFamily="34" charset="-120"/>
              </a:rPr>
              <a:t>.</a:t>
            </a:r>
            <a:endParaRPr lang="en-US" sz="1150" dirty="0"/>
          </a:p>
        </p:txBody>
      </p:sp>
      <p:sp>
        <p:nvSpPr>
          <p:cNvPr id="32" name="Shape 28"/>
          <p:cNvSpPr/>
          <p:nvPr/>
        </p:nvSpPr>
        <p:spPr>
          <a:xfrm>
            <a:off x="8042453" y="2165350"/>
            <a:ext cx="3490874" cy="1847088"/>
          </a:xfrm>
          <a:prstGeom prst="roundRect">
            <a:avLst>
              <a:gd name="adj" fmla="val 7921"/>
            </a:avLst>
          </a:prstGeom>
          <a:solidFill>
            <a:srgbClr val="22C55E">
              <a:alpha val="18000"/>
            </a:srgbClr>
          </a:solidFill>
          <a:ln/>
        </p:spPr>
      </p:sp>
      <p:sp>
        <p:nvSpPr>
          <p:cNvPr id="33" name="Shape 29"/>
          <p:cNvSpPr/>
          <p:nvPr/>
        </p:nvSpPr>
        <p:spPr>
          <a:xfrm>
            <a:off x="8097317"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34" name="Shape 30"/>
          <p:cNvSpPr/>
          <p:nvPr/>
        </p:nvSpPr>
        <p:spPr>
          <a:xfrm>
            <a:off x="8097317" y="2220214"/>
            <a:ext cx="50292" cy="1737360"/>
          </a:xfrm>
          <a:prstGeom prst="roundRect">
            <a:avLst>
              <a:gd name="adj" fmla="val 54545"/>
            </a:avLst>
          </a:prstGeom>
          <a:solidFill>
            <a:srgbClr val="22C55E">
              <a:alpha val="95000"/>
            </a:srgbClr>
          </a:solidFill>
          <a:ln/>
        </p:spPr>
      </p:sp>
      <p:sp>
        <p:nvSpPr>
          <p:cNvPr id="35" name="Shape 31"/>
          <p:cNvSpPr/>
          <p:nvPr/>
        </p:nvSpPr>
        <p:spPr>
          <a:xfrm>
            <a:off x="8371637" y="2439670"/>
            <a:ext cx="420624" cy="420624"/>
          </a:xfrm>
          <a:prstGeom prst="roundRect">
            <a:avLst>
              <a:gd name="adj" fmla="val 50000"/>
            </a:avLst>
          </a:prstGeom>
          <a:solidFill>
            <a:srgbClr val="04101F">
              <a:alpha val="88000"/>
            </a:srgbClr>
          </a:solidFill>
          <a:ln/>
        </p:spPr>
      </p:sp>
      <p:sp>
        <p:nvSpPr>
          <p:cNvPr id="36" name="Shape 32"/>
          <p:cNvSpPr/>
          <p:nvPr/>
        </p:nvSpPr>
        <p:spPr>
          <a:xfrm>
            <a:off x="8371637"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7" name="Text 33"/>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3</a:t>
            </a:r>
            <a:endParaRPr lang="en-US" sz="1500" dirty="0"/>
          </a:p>
        </p:txBody>
      </p:sp>
      <p:sp>
        <p:nvSpPr>
          <p:cNvPr id="38" name="Text 34"/>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9" name="Text 35"/>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40" name="Shape 36"/>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1" name="Shape 37"/>
          <p:cNvSpPr/>
          <p:nvPr/>
        </p:nvSpPr>
        <p:spPr>
          <a:xfrm>
            <a:off x="8097317" y="4359910"/>
            <a:ext cx="50292" cy="1737360"/>
          </a:xfrm>
          <a:prstGeom prst="roundRect">
            <a:avLst>
              <a:gd name="adj" fmla="val 54545"/>
            </a:avLst>
          </a:prstGeom>
          <a:solidFill>
            <a:srgbClr val="3C5468">
              <a:alpha val="95000"/>
            </a:srgbClr>
          </a:solidFill>
          <a:ln/>
        </p:spPr>
      </p:sp>
      <p:sp>
        <p:nvSpPr>
          <p:cNvPr id="42" name="Shape 38"/>
          <p:cNvSpPr/>
          <p:nvPr/>
        </p:nvSpPr>
        <p:spPr>
          <a:xfrm>
            <a:off x="8371637" y="4579366"/>
            <a:ext cx="420624" cy="420624"/>
          </a:xfrm>
          <a:prstGeom prst="roundRect">
            <a:avLst>
              <a:gd name="adj" fmla="val 50000"/>
            </a:avLst>
          </a:prstGeom>
          <a:solidFill>
            <a:srgbClr val="04101F">
              <a:alpha val="88000"/>
            </a:srgbClr>
          </a:solidFill>
          <a:ln/>
        </p:spPr>
      </p:sp>
      <p:sp>
        <p:nvSpPr>
          <p:cNvPr id="43" name="Shape 39"/>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4" name="Text 40"/>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5" name="Text 41"/>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6" name="Text 42"/>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7" name="Shape 43"/>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8" name="Shape 44"/>
          <p:cNvSpPr/>
          <p:nvPr/>
        </p:nvSpPr>
        <p:spPr>
          <a:xfrm>
            <a:off x="4405274" y="4359910"/>
            <a:ext cx="50292" cy="1737360"/>
          </a:xfrm>
          <a:prstGeom prst="roundRect">
            <a:avLst>
              <a:gd name="adj" fmla="val 54545"/>
            </a:avLst>
          </a:prstGeom>
          <a:solidFill>
            <a:srgbClr val="3C5468">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22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22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22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22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22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44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44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44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44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44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44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66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66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66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66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66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66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88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10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10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10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10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10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110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10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32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32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32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32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32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32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par>
                                <p:cTn id="113" presetID="10" presetClass="entr" presetSubtype="0" fill="hold" nodeType="withEffect">
                                  <p:stCondLst>
                                    <p:cond delay="132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54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par>
                                <p:cTn id="119" presetID="10" presetClass="entr" presetSubtype="0" fill="hold" nodeType="withEffect">
                                  <p:stCondLst>
                                    <p:cond delay="154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400"/>
                                        <p:tgtEl>
                                          <p:spTgt spid="48"/>
                                        </p:tgtEl>
                                      </p:cBhvr>
                                    </p:animEffect>
                                  </p:childTnLst>
                                </p:cTn>
                              </p:par>
                              <p:par>
                                <p:cTn id="122" presetID="10" presetClass="entr" presetSubtype="0" fill="hold" nodeType="withEffect">
                                  <p:stCondLst>
                                    <p:cond delay="154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400"/>
                                        <p:tgtEl>
                                          <p:spTgt spid="49"/>
                                        </p:tgtEl>
                                      </p:cBhvr>
                                    </p:animEffect>
                                  </p:childTnLst>
                                </p:cTn>
                              </p:par>
                              <p:par>
                                <p:cTn id="125" presetID="10" presetClass="entr" presetSubtype="0" fill="hold" nodeType="withEffect">
                                  <p:stCondLst>
                                    <p:cond delay="154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400"/>
                                        <p:tgtEl>
                                          <p:spTgt spid="50"/>
                                        </p:tgtEl>
                                      </p:cBhvr>
                                    </p:animEffect>
                                  </p:childTnLst>
                                </p:cTn>
                              </p:par>
                              <p:par>
                                <p:cTn id="128" presetID="10" presetClass="entr" presetSubtype="0" fill="hold" nodeType="withEffect">
                                  <p:stCondLst>
                                    <p:cond delay="154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400"/>
                                        <p:tgtEl>
                                          <p:spTgt spid="51"/>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52"/>
                                        </p:tgtEl>
                                        <p:attrNameLst>
                                          <p:attrName>style.visibility</p:attrName>
                                        </p:attrNameLst>
                                      </p:cBhvr>
                                      <p:to>
                                        <p:strVal val="visible"/>
                                      </p:to>
                                    </p:set>
                                    <p:animEffect transition="in" filter="fade">
                                      <p:cBhvr>
                                        <p:cTn id="133" dur="400"/>
                                        <p:tgtEl>
                                          <p:spTgt spid="52"/>
                                        </p:tgtEl>
                                      </p:cBhvr>
                                    </p:animEffect>
                                  </p:childTnLst>
                                </p:cTn>
                              </p:par>
                              <p:par>
                                <p:cTn id="134" presetID="10" presetClass="entr" presetSubtype="0" fill="hold" nodeType="withEffect">
                                  <p:stCondLst>
                                    <p:cond delay="1540"/>
                                  </p:stCondLst>
                                  <p:childTnLst>
                                    <p:set>
                                      <p:cBhvr>
                                        <p:cTn id="135" dur="1" fill="hold">
                                          <p:stCondLst>
                                            <p:cond delay="0"/>
                                          </p:stCondLst>
                                        </p:cTn>
                                        <p:tgtEl>
                                          <p:spTgt spid="53"/>
                                        </p:tgtEl>
                                        <p:attrNameLst>
                                          <p:attrName>style.visibility</p:attrName>
                                        </p:attrNameLst>
                                      </p:cBhvr>
                                      <p:to>
                                        <p:strVal val="visible"/>
                                      </p:to>
                                    </p:set>
                                    <p:animEffect transition="in" filter="fade">
                                      <p:cBhvr>
                                        <p:cTn id="136" dur="400"/>
                                        <p:tgtEl>
                                          <p:spTgt spid="5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11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BƯỚC 3 · CHỌN KHO TIẾP TẾ</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Kho nào gần nhất? Không đủ thì lấy tiếp ở đâu?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074920" cy="3931920"/>
          </a:xfrm>
          <a:prstGeom prst="roundRect">
            <a:avLst>
              <a:gd name="adj" fmla="val 279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931920"/>
          </a:xfrm>
          <a:prstGeom prst="roundRect">
            <a:avLst>
              <a:gd name="adj" fmla="val 54545"/>
            </a:avLst>
          </a:prstGeom>
          <a:solidFill>
            <a:srgbClr val="38BDF8">
              <a:alpha val="95000"/>
            </a:srgbClr>
          </a:solidFill>
          <a:ln/>
        </p:spPr>
      </p:sp>
      <p:sp>
        <p:nvSpPr>
          <p:cNvPr id="14" name="Text 10"/>
          <p:cNvSpPr/>
          <p:nvPr/>
        </p:nvSpPr>
        <p:spPr>
          <a:xfrm>
            <a:off x="1005840" y="2457958"/>
            <a:ext cx="4581144" cy="253175"/>
          </a:xfrm>
          <a:prstGeom prst="rect">
            <a:avLst/>
          </a:prstGeom>
          <a:noFill/>
          <a:ln/>
        </p:spPr>
        <p:txBody>
          <a:bodyPr wrap="square" lIns="0" tIns="0" rIns="0" bIns="0" rtlCol="0" anchor="t"/>
          <a:lstStyle/>
          <a:p>
            <a:pPr marL="0" indent="0" algn="l">
              <a:lnSpc>
                <a:spcPts val="1418"/>
              </a:lnSpc>
              <a:buNone/>
            </a:pPr>
            <a:r>
              <a:rPr lang="en-US" sz="1050" b="1" kern="0" spc="160" dirty="0">
                <a:solidFill>
                  <a:srgbClr val="38BDF8"/>
                </a:solidFill>
                <a:latin typeface="Be Vietnam Pro" pitchFamily="34" charset="0"/>
                <a:ea typeface="Be Vietnam Pro" pitchFamily="34" charset="-122"/>
                <a:cs typeface="Be Vietnam Pro" pitchFamily="34" charset="-120"/>
              </a:rPr>
              <a:t>VÍ DỤ: NHIỆM VỤ CẦN 100 ÁO PHAO</a:t>
            </a:r>
            <a:endParaRPr lang="en-US" sz="1050" dirty="0"/>
          </a:p>
        </p:txBody>
      </p:sp>
      <p:sp>
        <p:nvSpPr>
          <p:cNvPr id="15" name="Shape 11"/>
          <p:cNvSpPr/>
          <p:nvPr/>
        </p:nvSpPr>
        <p:spPr>
          <a:xfrm>
            <a:off x="1005840" y="2970022"/>
            <a:ext cx="4489704" cy="749808"/>
          </a:xfrm>
          <a:prstGeom prst="roundRect">
            <a:avLst>
              <a:gd name="adj" fmla="val 12195"/>
            </a:avLst>
          </a:prstGeom>
          <a:solidFill>
            <a:srgbClr val="FFFFFF">
              <a:alpha val="6000"/>
            </a:srgbClr>
          </a:solidFill>
          <a:ln w="12700">
            <a:solidFill>
              <a:srgbClr val="22C55E">
                <a:alpha val="30000"/>
              </a:srgbClr>
            </a:solidFill>
            <a:prstDash val="solid"/>
          </a:ln>
        </p:spPr>
      </p:sp>
      <p:sp>
        <p:nvSpPr>
          <p:cNvPr id="16" name="Text 12"/>
          <p:cNvSpPr/>
          <p:nvPr/>
        </p:nvSpPr>
        <p:spPr>
          <a:xfrm>
            <a:off x="1170432" y="3079750"/>
            <a:ext cx="3063240"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thôn Long Bình</a:t>
            </a:r>
            <a:endParaRPr lang="en-US" sz="1350" dirty="0"/>
          </a:p>
        </p:txBody>
      </p:sp>
      <p:sp>
        <p:nvSpPr>
          <p:cNvPr id="17" name="Text 13"/>
          <p:cNvSpPr/>
          <p:nvPr/>
        </p:nvSpPr>
        <p:spPr>
          <a:xfrm>
            <a:off x="1170432" y="3372358"/>
            <a:ext cx="3063240" cy="270320"/>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1,2 km · còn 40 áo phao</a:t>
            </a:r>
            <a:endParaRPr lang="en-US" sz="1150" dirty="0"/>
          </a:p>
        </p:txBody>
      </p:sp>
      <p:sp>
        <p:nvSpPr>
          <p:cNvPr id="18" name="Text 14"/>
          <p:cNvSpPr/>
          <p:nvPr/>
        </p:nvSpPr>
        <p:spPr>
          <a:xfrm>
            <a:off x="4096512" y="3189478"/>
            <a:ext cx="1371600" cy="330327"/>
          </a:xfrm>
          <a:prstGeom prst="rect">
            <a:avLst/>
          </a:prstGeom>
          <a:noFill/>
          <a:ln/>
        </p:spPr>
        <p:txBody>
          <a:bodyPr wrap="square" lIns="0" tIns="0" rIns="0" bIns="0" rtlCol="0" anchor="t"/>
          <a:lstStyle/>
          <a:p>
            <a:pPr marL="0" indent="0" algn="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lấy 40</a:t>
            </a:r>
            <a:endParaRPr lang="en-US" sz="1500" dirty="0"/>
          </a:p>
        </p:txBody>
      </p:sp>
      <p:sp>
        <p:nvSpPr>
          <p:cNvPr id="19" name="Shape 15"/>
          <p:cNvSpPr/>
          <p:nvPr/>
        </p:nvSpPr>
        <p:spPr>
          <a:xfrm>
            <a:off x="1005840" y="3838702"/>
            <a:ext cx="4489704" cy="749808"/>
          </a:xfrm>
          <a:prstGeom prst="roundRect">
            <a:avLst>
              <a:gd name="adj" fmla="val 12195"/>
            </a:avLst>
          </a:prstGeom>
          <a:solidFill>
            <a:srgbClr val="FFFFFF">
              <a:alpha val="6000"/>
            </a:srgbClr>
          </a:solidFill>
          <a:ln w="12700">
            <a:solidFill>
              <a:srgbClr val="22C55E">
                <a:alpha val="30000"/>
              </a:srgbClr>
            </a:solidFill>
            <a:prstDash val="solid"/>
          </a:ln>
        </p:spPr>
      </p:sp>
      <p:sp>
        <p:nvSpPr>
          <p:cNvPr id="20" name="Text 16"/>
          <p:cNvSpPr/>
          <p:nvPr/>
        </p:nvSpPr>
        <p:spPr>
          <a:xfrm>
            <a:off x="1170432" y="3948430"/>
            <a:ext cx="3063240"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thôn Long Mỹ</a:t>
            </a:r>
            <a:endParaRPr lang="en-US" sz="1350" dirty="0"/>
          </a:p>
        </p:txBody>
      </p:sp>
      <p:sp>
        <p:nvSpPr>
          <p:cNvPr id="21" name="Text 17"/>
          <p:cNvSpPr/>
          <p:nvPr/>
        </p:nvSpPr>
        <p:spPr>
          <a:xfrm>
            <a:off x="1170432" y="4241038"/>
            <a:ext cx="3063240" cy="270320"/>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1,6 km · còn 35 áo phao</a:t>
            </a:r>
            <a:endParaRPr lang="en-US" sz="1150" dirty="0"/>
          </a:p>
        </p:txBody>
      </p:sp>
      <p:sp>
        <p:nvSpPr>
          <p:cNvPr id="22" name="Text 18"/>
          <p:cNvSpPr/>
          <p:nvPr/>
        </p:nvSpPr>
        <p:spPr>
          <a:xfrm>
            <a:off x="4096512" y="4058158"/>
            <a:ext cx="1371600" cy="330327"/>
          </a:xfrm>
          <a:prstGeom prst="rect">
            <a:avLst/>
          </a:prstGeom>
          <a:noFill/>
          <a:ln/>
        </p:spPr>
        <p:txBody>
          <a:bodyPr wrap="square" lIns="0" tIns="0" rIns="0" bIns="0" rtlCol="0" anchor="t"/>
          <a:lstStyle/>
          <a:p>
            <a:pPr marL="0" indent="0" algn="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lấy 35</a:t>
            </a:r>
            <a:endParaRPr lang="en-US" sz="1500" dirty="0"/>
          </a:p>
        </p:txBody>
      </p:sp>
      <p:sp>
        <p:nvSpPr>
          <p:cNvPr id="23" name="Shape 19"/>
          <p:cNvSpPr/>
          <p:nvPr/>
        </p:nvSpPr>
        <p:spPr>
          <a:xfrm>
            <a:off x="1005840" y="4707382"/>
            <a:ext cx="4489704" cy="749808"/>
          </a:xfrm>
          <a:prstGeom prst="roundRect">
            <a:avLst>
              <a:gd name="adj" fmla="val 12195"/>
            </a:avLst>
          </a:prstGeom>
          <a:solidFill>
            <a:srgbClr val="FFFFFF">
              <a:alpha val="6000"/>
            </a:srgbClr>
          </a:solidFill>
          <a:ln w="12700">
            <a:solidFill>
              <a:srgbClr val="22C55E">
                <a:alpha val="30000"/>
              </a:srgbClr>
            </a:solidFill>
            <a:prstDash val="solid"/>
          </a:ln>
        </p:spPr>
      </p:sp>
      <p:sp>
        <p:nvSpPr>
          <p:cNvPr id="24" name="Text 20"/>
          <p:cNvSpPr/>
          <p:nvPr/>
        </p:nvSpPr>
        <p:spPr>
          <a:xfrm>
            <a:off x="1170432" y="4817110"/>
            <a:ext cx="3063240"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thôn Long Thạnh</a:t>
            </a:r>
            <a:endParaRPr lang="en-US" sz="1350" dirty="0"/>
          </a:p>
        </p:txBody>
      </p:sp>
      <p:sp>
        <p:nvSpPr>
          <p:cNvPr id="25" name="Text 21"/>
          <p:cNvSpPr/>
          <p:nvPr/>
        </p:nvSpPr>
        <p:spPr>
          <a:xfrm>
            <a:off x="1170432" y="5109718"/>
            <a:ext cx="3063240" cy="270320"/>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2,0 km · còn 60 áo phao</a:t>
            </a:r>
            <a:endParaRPr lang="en-US" sz="1150" dirty="0"/>
          </a:p>
        </p:txBody>
      </p:sp>
      <p:sp>
        <p:nvSpPr>
          <p:cNvPr id="26" name="Text 22"/>
          <p:cNvSpPr/>
          <p:nvPr/>
        </p:nvSpPr>
        <p:spPr>
          <a:xfrm>
            <a:off x="4096512" y="4926838"/>
            <a:ext cx="1371600" cy="330327"/>
          </a:xfrm>
          <a:prstGeom prst="rect">
            <a:avLst/>
          </a:prstGeom>
          <a:noFill/>
          <a:ln/>
        </p:spPr>
        <p:txBody>
          <a:bodyPr wrap="square" lIns="0" tIns="0" rIns="0" bIns="0" rtlCol="0" anchor="t"/>
          <a:lstStyle/>
          <a:p>
            <a:pPr marL="0" indent="0" algn="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lấy 25</a:t>
            </a:r>
            <a:endParaRPr lang="en-US" sz="1500" dirty="0"/>
          </a:p>
        </p:txBody>
      </p:sp>
      <p:sp>
        <p:nvSpPr>
          <p:cNvPr id="27" name="Shape 23"/>
          <p:cNvSpPr/>
          <p:nvPr/>
        </p:nvSpPr>
        <p:spPr>
          <a:xfrm>
            <a:off x="1005840" y="5713222"/>
            <a:ext cx="4489704" cy="9144"/>
          </a:xfrm>
          <a:prstGeom prst="rect">
            <a:avLst/>
          </a:prstGeom>
          <a:solidFill>
            <a:srgbClr val="FFFFFF">
              <a:alpha val="14000"/>
            </a:srgbClr>
          </a:solidFill>
          <a:ln/>
        </p:spPr>
      </p:sp>
      <p:sp>
        <p:nvSpPr>
          <p:cNvPr id="28" name="Text 24"/>
          <p:cNvSpPr/>
          <p:nvPr/>
        </p:nvSpPr>
        <p:spPr>
          <a:xfrm>
            <a:off x="1005840" y="5822950"/>
            <a:ext cx="4581144" cy="287465"/>
          </a:xfrm>
          <a:prstGeom prst="rect">
            <a:avLst/>
          </a:prstGeom>
          <a:noFill/>
          <a:ln/>
        </p:spPr>
        <p:txBody>
          <a:bodyPr wrap="square" lIns="0" tIns="0" rIns="0" bIns="0" rtlCol="0" anchor="t"/>
          <a:lstStyle/>
          <a:p>
            <a:pPr marL="0" indent="0" algn="l">
              <a:lnSpc>
                <a:spcPts val="1688"/>
              </a:lnSpc>
              <a:buNone/>
            </a:pPr>
            <a:r>
              <a:rPr lang="en-US" sz="1250" b="1" dirty="0">
                <a:solidFill>
                  <a:srgbClr val="6EE7A8"/>
                </a:solidFill>
                <a:latin typeface="Be Vietnam Pro" pitchFamily="34" charset="0"/>
                <a:ea typeface="Be Vietnam Pro" pitchFamily="34" charset="-122"/>
                <a:cs typeface="Be Vietnam Pro" pitchFamily="34" charset="-120"/>
              </a:rPr>
              <a:t>Đủ 100 áo phao từ 3 kho, gần trước — xa sau.</a:t>
            </a:r>
            <a:endParaRPr lang="en-US" sz="1250" dirty="0"/>
          </a:p>
        </p:txBody>
      </p:sp>
      <p:sp>
        <p:nvSpPr>
          <p:cNvPr id="29" name="Shape 25"/>
          <p:cNvSpPr/>
          <p:nvPr/>
        </p:nvSpPr>
        <p:spPr>
          <a:xfrm>
            <a:off x="6135624" y="2220214"/>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30" name="Shape 26"/>
          <p:cNvSpPr/>
          <p:nvPr/>
        </p:nvSpPr>
        <p:spPr>
          <a:xfrm>
            <a:off x="6135624" y="2220214"/>
            <a:ext cx="50292" cy="713232"/>
          </a:xfrm>
          <a:prstGeom prst="roundRect">
            <a:avLst>
              <a:gd name="adj" fmla="val 54545"/>
            </a:avLst>
          </a:prstGeom>
          <a:solidFill>
            <a:srgbClr val="22C55E">
              <a:alpha val="95000"/>
            </a:srgbClr>
          </a:solidFill>
          <a:ln/>
        </p:spPr>
      </p:sp>
      <p:sp>
        <p:nvSpPr>
          <p:cNvPr id="31" name="Text 27"/>
          <p:cNvSpPr/>
          <p:nvPr/>
        </p:nvSpPr>
        <p:spPr>
          <a:xfrm>
            <a:off x="6409944" y="2320798"/>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Đường đi thực tế, không phải đường chim bay</a:t>
            </a:r>
            <a:endParaRPr lang="en-US" sz="1300" dirty="0"/>
          </a:p>
        </p:txBody>
      </p:sp>
      <p:sp>
        <p:nvSpPr>
          <p:cNvPr id="32" name="Text 28"/>
          <p:cNvSpPr/>
          <p:nvPr/>
        </p:nvSpPr>
        <p:spPr>
          <a:xfrm>
            <a:off x="6409944" y="2585974"/>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định tuyến theo đường sá thật, không đo đường thẳng.</a:t>
            </a:r>
            <a:endParaRPr lang="en-US" sz="1150" dirty="0"/>
          </a:p>
        </p:txBody>
      </p:sp>
      <p:sp>
        <p:nvSpPr>
          <p:cNvPr id="33" name="Shape 29"/>
          <p:cNvSpPr/>
          <p:nvPr/>
        </p:nvSpPr>
        <p:spPr>
          <a:xfrm>
            <a:off x="6135624" y="3029458"/>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34" name="Shape 30"/>
          <p:cNvSpPr/>
          <p:nvPr/>
        </p:nvSpPr>
        <p:spPr>
          <a:xfrm>
            <a:off x="6135624" y="3029458"/>
            <a:ext cx="50292" cy="713232"/>
          </a:xfrm>
          <a:prstGeom prst="roundRect">
            <a:avLst>
              <a:gd name="adj" fmla="val 54545"/>
            </a:avLst>
          </a:prstGeom>
          <a:solidFill>
            <a:srgbClr val="FBBF24">
              <a:alpha val="95000"/>
            </a:srgbClr>
          </a:solidFill>
          <a:ln/>
        </p:spPr>
      </p:sp>
      <p:sp>
        <p:nvSpPr>
          <p:cNvPr id="35" name="Text 31"/>
          <p:cNvSpPr/>
          <p:nvPr/>
        </p:nvSpPr>
        <p:spPr>
          <a:xfrm>
            <a:off x="6409944" y="3130042"/>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Gần trước, hạn dùng gần hết trước</a:t>
            </a:r>
            <a:endParaRPr lang="en-US" sz="1300" dirty="0"/>
          </a:p>
        </p:txBody>
      </p:sp>
      <p:sp>
        <p:nvSpPr>
          <p:cNvPr id="36" name="Text 32"/>
          <p:cNvSpPr/>
          <p:nvPr/>
        </p:nvSpPr>
        <p:spPr>
          <a:xfrm>
            <a:off x="6409944" y="3395218"/>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Cùng khoảng cách thì ưu tiên lô sắp hết hạn, tránh lãng phí.</a:t>
            </a:r>
            <a:endParaRPr lang="en-US" sz="1150" dirty="0"/>
          </a:p>
        </p:txBody>
      </p:sp>
      <p:sp>
        <p:nvSpPr>
          <p:cNvPr id="37" name="Shape 33"/>
          <p:cNvSpPr/>
          <p:nvPr/>
        </p:nvSpPr>
        <p:spPr>
          <a:xfrm>
            <a:off x="6135624" y="3838702"/>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38" name="Shape 34"/>
          <p:cNvSpPr/>
          <p:nvPr/>
        </p:nvSpPr>
        <p:spPr>
          <a:xfrm>
            <a:off x="6135624" y="3838702"/>
            <a:ext cx="50292" cy="713232"/>
          </a:xfrm>
          <a:prstGeom prst="roundRect">
            <a:avLst>
              <a:gd name="adj" fmla="val 54545"/>
            </a:avLst>
          </a:prstGeom>
          <a:solidFill>
            <a:srgbClr val="38BDF8">
              <a:alpha val="95000"/>
            </a:srgbClr>
          </a:solidFill>
          <a:ln/>
        </p:spPr>
      </p:sp>
      <p:sp>
        <p:nvSpPr>
          <p:cNvPr id="39" name="Text 35"/>
          <p:cNvSpPr/>
          <p:nvPr/>
        </p:nvSpPr>
        <p:spPr>
          <a:xfrm>
            <a:off x="6409944" y="3939286"/>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Thiếu thì tràn sang kho kế tiếp</a:t>
            </a:r>
            <a:endParaRPr lang="en-US" sz="1300" dirty="0"/>
          </a:p>
        </p:txBody>
      </p:sp>
      <p:sp>
        <p:nvSpPr>
          <p:cNvPr id="40" name="Text 36"/>
          <p:cNvSpPr/>
          <p:nvPr/>
        </p:nvSpPr>
        <p:spPr>
          <a:xfrm>
            <a:off x="6409944" y="4204462"/>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Lấy hết phần kho gần có, phần thiếu chuyển sang kho gần kế tiếp.</a:t>
            </a:r>
            <a:endParaRPr lang="en-US" sz="1150" dirty="0"/>
          </a:p>
        </p:txBody>
      </p:sp>
      <p:sp>
        <p:nvSpPr>
          <p:cNvPr id="41" name="Shape 37"/>
          <p:cNvSpPr/>
          <p:nvPr/>
        </p:nvSpPr>
        <p:spPr>
          <a:xfrm>
            <a:off x="6135624" y="4647946"/>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42" name="Shape 38"/>
          <p:cNvSpPr/>
          <p:nvPr/>
        </p:nvSpPr>
        <p:spPr>
          <a:xfrm>
            <a:off x="6135624" y="4647946"/>
            <a:ext cx="50292" cy="713232"/>
          </a:xfrm>
          <a:prstGeom prst="roundRect">
            <a:avLst>
              <a:gd name="adj" fmla="val 54545"/>
            </a:avLst>
          </a:prstGeom>
          <a:solidFill>
            <a:srgbClr val="FB923C">
              <a:alpha val="95000"/>
            </a:srgbClr>
          </a:solidFill>
          <a:ln/>
        </p:spPr>
      </p:sp>
      <p:sp>
        <p:nvSpPr>
          <p:cNvPr id="43" name="Text 39"/>
          <p:cNvSpPr/>
          <p:nvPr/>
        </p:nvSpPr>
        <p:spPr>
          <a:xfrm>
            <a:off x="6409944" y="4748530"/>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Tự loại kho không thể xuất</a:t>
            </a:r>
            <a:endParaRPr lang="en-US" sz="1300" dirty="0"/>
          </a:p>
        </p:txBody>
      </p:sp>
      <p:sp>
        <p:nvSpPr>
          <p:cNvPr id="44" name="Text 40"/>
          <p:cNvSpPr/>
          <p:nvPr/>
        </p:nvSpPr>
        <p:spPr>
          <a:xfrm>
            <a:off x="6409944" y="5013706"/>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Kho đang có sự cố, vật tư hỏng hoặc hết hạn đều bị loại.</a:t>
            </a:r>
            <a:endParaRPr lang="en-US" sz="1150" dirty="0"/>
          </a:p>
        </p:txBody>
      </p:sp>
      <p:sp>
        <p:nvSpPr>
          <p:cNvPr id="45" name="Shape 41"/>
          <p:cNvSpPr/>
          <p:nvPr/>
        </p:nvSpPr>
        <p:spPr>
          <a:xfrm>
            <a:off x="6135624" y="5457190"/>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46" name="Shape 42"/>
          <p:cNvSpPr/>
          <p:nvPr/>
        </p:nvSpPr>
        <p:spPr>
          <a:xfrm>
            <a:off x="6135624" y="5457190"/>
            <a:ext cx="50292" cy="713232"/>
          </a:xfrm>
          <a:prstGeom prst="roundRect">
            <a:avLst>
              <a:gd name="adj" fmla="val 54545"/>
            </a:avLst>
          </a:prstGeom>
          <a:solidFill>
            <a:srgbClr val="F87171">
              <a:alpha val="95000"/>
            </a:srgbClr>
          </a:solidFill>
          <a:ln/>
        </p:spPr>
      </p:sp>
      <p:sp>
        <p:nvSpPr>
          <p:cNvPr id="47" name="Text 43"/>
          <p:cNvSpPr/>
          <p:nvPr/>
        </p:nvSpPr>
        <p:spPr>
          <a:xfrm>
            <a:off x="6409944" y="5557774"/>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Cả xã vẫn không đủ?</a:t>
            </a:r>
            <a:endParaRPr lang="en-US" sz="1300" dirty="0"/>
          </a:p>
        </p:txBody>
      </p:sp>
      <p:sp>
        <p:nvSpPr>
          <p:cNvPr id="48" name="Text 44"/>
          <p:cNvSpPr/>
          <p:nvPr/>
        </p:nvSpPr>
        <p:spPr>
          <a:xfrm>
            <a:off x="6409944" y="5822950"/>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gợi ý kho của xã lân cận để người điều phối liên hệ.</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18"/>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36"/>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36"/>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36"/>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36"/>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par>
                                <p:cTn id="23" presetID="10" presetClass="entr" presetSubtype="0" fill="hold" nodeType="withEffect">
                                  <p:stCondLst>
                                    <p:cond delay="654"/>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nodeType="withEffect">
                                  <p:stCondLst>
                                    <p:cond delay="654"/>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nodeType="withEffect">
                                  <p:stCondLst>
                                    <p:cond delay="654"/>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nodeType="withEffect">
                                  <p:stCondLst>
                                    <p:cond delay="654"/>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nodeType="withEffect">
                                  <p:stCondLst>
                                    <p:cond delay="872"/>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nodeType="withEffect">
                                  <p:stCondLst>
                                    <p:cond delay="872"/>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nodeType="withEffect">
                                  <p:stCondLst>
                                    <p:cond delay="872"/>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nodeType="withEffect">
                                  <p:stCondLst>
                                    <p:cond delay="872"/>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par>
                                <p:cTn id="47" presetID="10" presetClass="entr" presetSubtype="0" fill="hold" nodeType="withEffect">
                                  <p:stCondLst>
                                    <p:cond delay="109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400"/>
                                        <p:tgtEl>
                                          <p:spTgt spid="23"/>
                                        </p:tgtEl>
                                      </p:cBhvr>
                                    </p:animEffect>
                                  </p:childTnLst>
                                </p:cTn>
                              </p:par>
                              <p:par>
                                <p:cTn id="50" presetID="10" presetClass="entr" presetSubtype="0" fill="hold" nodeType="withEffect">
                                  <p:stCondLst>
                                    <p:cond delay="1090"/>
                                  </p:stCondLst>
                                  <p:childTnLst>
                                    <p:set>
                                      <p:cBhvr>
                                        <p:cTn id="51" dur="1" fill="hold">
                                          <p:stCondLst>
                                            <p:cond delay="0"/>
                                          </p:stCondLst>
                                        </p:cTn>
                                        <p:tgtEl>
                                          <p:spTgt spid="24"/>
                                        </p:tgtEl>
                                        <p:attrNameLst>
                                          <p:attrName>style.visibility</p:attrName>
                                        </p:attrNameLst>
                                      </p:cBhvr>
                                      <p:to>
                                        <p:strVal val="visible"/>
                                      </p:to>
                                    </p:set>
                                    <p:animEffect transition="in" filter="fade">
                                      <p:cBhvr>
                                        <p:cTn id="52" dur="400"/>
                                        <p:tgtEl>
                                          <p:spTgt spid="24"/>
                                        </p:tgtEl>
                                      </p:cBhvr>
                                    </p:animEffect>
                                  </p:childTnLst>
                                </p:cTn>
                              </p:par>
                              <p:par>
                                <p:cTn id="53" presetID="10" presetClass="entr" presetSubtype="0" fill="hold" nodeType="withEffect">
                                  <p:stCondLst>
                                    <p:cond delay="109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nodeType="withEffect">
                                  <p:stCondLst>
                                    <p:cond delay="109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nodeType="withEffect">
                                  <p:stCondLst>
                                    <p:cond delay="1308"/>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nodeType="withEffect">
                                  <p:stCondLst>
                                    <p:cond delay="1308"/>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nodeType="withEffect">
                                  <p:stCondLst>
                                    <p:cond delay="1308"/>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400"/>
                                        <p:tgtEl>
                                          <p:spTgt spid="31"/>
                                        </p:tgtEl>
                                      </p:cBhvr>
                                    </p:animEffect>
                                  </p:childTnLst>
                                </p:cTn>
                              </p:par>
                              <p:par>
                                <p:cTn id="68" presetID="10" presetClass="entr" presetSubtype="0" fill="hold" nodeType="withEffect">
                                  <p:stCondLst>
                                    <p:cond delay="1308"/>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par>
                                <p:cTn id="71" presetID="10" presetClass="entr" presetSubtype="0" fill="hold" nodeType="withEffect">
                                  <p:stCondLst>
                                    <p:cond delay="1526"/>
                                  </p:stCondLst>
                                  <p:childTnLst>
                                    <p:set>
                                      <p:cBhvr>
                                        <p:cTn id="72" dur="1" fill="hold">
                                          <p:stCondLst>
                                            <p:cond delay="0"/>
                                          </p:stCondLst>
                                        </p:cTn>
                                        <p:tgtEl>
                                          <p:spTgt spid="33"/>
                                        </p:tgtEl>
                                        <p:attrNameLst>
                                          <p:attrName>style.visibility</p:attrName>
                                        </p:attrNameLst>
                                      </p:cBhvr>
                                      <p:to>
                                        <p:strVal val="visible"/>
                                      </p:to>
                                    </p:set>
                                    <p:animEffect transition="in" filter="fade">
                                      <p:cBhvr>
                                        <p:cTn id="73" dur="400"/>
                                        <p:tgtEl>
                                          <p:spTgt spid="33"/>
                                        </p:tgtEl>
                                      </p:cBhvr>
                                    </p:animEffect>
                                  </p:childTnLst>
                                </p:cTn>
                              </p:par>
                              <p:par>
                                <p:cTn id="74" presetID="10" presetClass="entr" presetSubtype="0" fill="hold" nodeType="withEffect">
                                  <p:stCondLst>
                                    <p:cond delay="1526"/>
                                  </p:stCondLst>
                                  <p:childTnLst>
                                    <p:set>
                                      <p:cBhvr>
                                        <p:cTn id="75" dur="1" fill="hold">
                                          <p:stCondLst>
                                            <p:cond delay="0"/>
                                          </p:stCondLst>
                                        </p:cTn>
                                        <p:tgtEl>
                                          <p:spTgt spid="34"/>
                                        </p:tgtEl>
                                        <p:attrNameLst>
                                          <p:attrName>style.visibility</p:attrName>
                                        </p:attrNameLst>
                                      </p:cBhvr>
                                      <p:to>
                                        <p:strVal val="visible"/>
                                      </p:to>
                                    </p:set>
                                    <p:animEffect transition="in" filter="fade">
                                      <p:cBhvr>
                                        <p:cTn id="76" dur="400"/>
                                        <p:tgtEl>
                                          <p:spTgt spid="34"/>
                                        </p:tgtEl>
                                      </p:cBhvr>
                                    </p:animEffect>
                                  </p:childTnLst>
                                </p:cTn>
                              </p:par>
                              <p:par>
                                <p:cTn id="77" presetID="10" presetClass="entr" presetSubtype="0" fill="hold" nodeType="withEffect">
                                  <p:stCondLst>
                                    <p:cond delay="1526"/>
                                  </p:stCondLst>
                                  <p:childTnLst>
                                    <p:set>
                                      <p:cBhvr>
                                        <p:cTn id="78" dur="1" fill="hold">
                                          <p:stCondLst>
                                            <p:cond delay="0"/>
                                          </p:stCondLst>
                                        </p:cTn>
                                        <p:tgtEl>
                                          <p:spTgt spid="35"/>
                                        </p:tgtEl>
                                        <p:attrNameLst>
                                          <p:attrName>style.visibility</p:attrName>
                                        </p:attrNameLst>
                                      </p:cBhvr>
                                      <p:to>
                                        <p:strVal val="visible"/>
                                      </p:to>
                                    </p:set>
                                    <p:animEffect transition="in" filter="fade">
                                      <p:cBhvr>
                                        <p:cTn id="79" dur="400"/>
                                        <p:tgtEl>
                                          <p:spTgt spid="35"/>
                                        </p:tgtEl>
                                      </p:cBhvr>
                                    </p:animEffect>
                                  </p:childTnLst>
                                </p:cTn>
                              </p:par>
                              <p:par>
                                <p:cTn id="80" presetID="10" presetClass="entr" presetSubtype="0" fill="hold" nodeType="withEffect">
                                  <p:stCondLst>
                                    <p:cond delay="1526"/>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childTnLst>
                                </p:cTn>
                              </p:par>
                              <p:par>
                                <p:cTn id="83" presetID="10" presetClass="entr" presetSubtype="0" fill="hold" nodeType="withEffect">
                                  <p:stCondLst>
                                    <p:cond delay="1744"/>
                                  </p:stCondLst>
                                  <p:childTnLst>
                                    <p:set>
                                      <p:cBhvr>
                                        <p:cTn id="84" dur="1" fill="hold">
                                          <p:stCondLst>
                                            <p:cond delay="0"/>
                                          </p:stCondLst>
                                        </p:cTn>
                                        <p:tgtEl>
                                          <p:spTgt spid="37"/>
                                        </p:tgtEl>
                                        <p:attrNameLst>
                                          <p:attrName>style.visibility</p:attrName>
                                        </p:attrNameLst>
                                      </p:cBhvr>
                                      <p:to>
                                        <p:strVal val="visible"/>
                                      </p:to>
                                    </p:set>
                                    <p:animEffect transition="in" filter="fade">
                                      <p:cBhvr>
                                        <p:cTn id="85" dur="400"/>
                                        <p:tgtEl>
                                          <p:spTgt spid="37"/>
                                        </p:tgtEl>
                                      </p:cBhvr>
                                    </p:animEffect>
                                  </p:childTnLst>
                                </p:cTn>
                              </p:par>
                              <p:par>
                                <p:cTn id="86" presetID="10" presetClass="entr" presetSubtype="0" fill="hold" nodeType="withEffect">
                                  <p:stCondLst>
                                    <p:cond delay="1744"/>
                                  </p:stCondLst>
                                  <p:childTnLst>
                                    <p:set>
                                      <p:cBhvr>
                                        <p:cTn id="87" dur="1" fill="hold">
                                          <p:stCondLst>
                                            <p:cond delay="0"/>
                                          </p:stCondLst>
                                        </p:cTn>
                                        <p:tgtEl>
                                          <p:spTgt spid="38"/>
                                        </p:tgtEl>
                                        <p:attrNameLst>
                                          <p:attrName>style.visibility</p:attrName>
                                        </p:attrNameLst>
                                      </p:cBhvr>
                                      <p:to>
                                        <p:strVal val="visible"/>
                                      </p:to>
                                    </p:set>
                                    <p:animEffect transition="in" filter="fade">
                                      <p:cBhvr>
                                        <p:cTn id="88" dur="400"/>
                                        <p:tgtEl>
                                          <p:spTgt spid="38"/>
                                        </p:tgtEl>
                                      </p:cBhvr>
                                    </p:animEffect>
                                  </p:childTnLst>
                                </p:cTn>
                              </p:par>
                              <p:par>
                                <p:cTn id="89" presetID="10" presetClass="entr" presetSubtype="0" fill="hold" nodeType="withEffect">
                                  <p:stCondLst>
                                    <p:cond delay="1744"/>
                                  </p:stCondLst>
                                  <p:childTnLst>
                                    <p:set>
                                      <p:cBhvr>
                                        <p:cTn id="90" dur="1" fill="hold">
                                          <p:stCondLst>
                                            <p:cond delay="0"/>
                                          </p:stCondLst>
                                        </p:cTn>
                                        <p:tgtEl>
                                          <p:spTgt spid="39"/>
                                        </p:tgtEl>
                                        <p:attrNameLst>
                                          <p:attrName>style.visibility</p:attrName>
                                        </p:attrNameLst>
                                      </p:cBhvr>
                                      <p:to>
                                        <p:strVal val="visible"/>
                                      </p:to>
                                    </p:set>
                                    <p:animEffect transition="in" filter="fade">
                                      <p:cBhvr>
                                        <p:cTn id="91" dur="400"/>
                                        <p:tgtEl>
                                          <p:spTgt spid="39"/>
                                        </p:tgtEl>
                                      </p:cBhvr>
                                    </p:animEffect>
                                  </p:childTnLst>
                                </p:cTn>
                              </p:par>
                              <p:par>
                                <p:cTn id="92" presetID="10" presetClass="entr" presetSubtype="0" fill="hold" nodeType="withEffect">
                                  <p:stCondLst>
                                    <p:cond delay="1744"/>
                                  </p:stCondLst>
                                  <p:childTnLst>
                                    <p:set>
                                      <p:cBhvr>
                                        <p:cTn id="93" dur="1" fill="hold">
                                          <p:stCondLst>
                                            <p:cond delay="0"/>
                                          </p:stCondLst>
                                        </p:cTn>
                                        <p:tgtEl>
                                          <p:spTgt spid="40"/>
                                        </p:tgtEl>
                                        <p:attrNameLst>
                                          <p:attrName>style.visibility</p:attrName>
                                        </p:attrNameLst>
                                      </p:cBhvr>
                                      <p:to>
                                        <p:strVal val="visible"/>
                                      </p:to>
                                    </p:set>
                                    <p:animEffect transition="in" filter="fade">
                                      <p:cBhvr>
                                        <p:cTn id="94" dur="400"/>
                                        <p:tgtEl>
                                          <p:spTgt spid="40"/>
                                        </p:tgtEl>
                                      </p:cBhvr>
                                    </p:animEffect>
                                  </p:childTnLst>
                                </p:cTn>
                              </p:par>
                              <p:par>
                                <p:cTn id="95" presetID="10" presetClass="entr" presetSubtype="0" fill="hold" nodeType="withEffect">
                                  <p:stCondLst>
                                    <p:cond delay="1962"/>
                                  </p:stCondLst>
                                  <p:childTnLst>
                                    <p:set>
                                      <p:cBhvr>
                                        <p:cTn id="96" dur="1" fill="hold">
                                          <p:stCondLst>
                                            <p:cond delay="0"/>
                                          </p:stCondLst>
                                        </p:cTn>
                                        <p:tgtEl>
                                          <p:spTgt spid="41"/>
                                        </p:tgtEl>
                                        <p:attrNameLst>
                                          <p:attrName>style.visibility</p:attrName>
                                        </p:attrNameLst>
                                      </p:cBhvr>
                                      <p:to>
                                        <p:strVal val="visible"/>
                                      </p:to>
                                    </p:set>
                                    <p:animEffect transition="in" filter="fade">
                                      <p:cBhvr>
                                        <p:cTn id="97" dur="400"/>
                                        <p:tgtEl>
                                          <p:spTgt spid="41"/>
                                        </p:tgtEl>
                                      </p:cBhvr>
                                    </p:animEffect>
                                  </p:childTnLst>
                                </p:cTn>
                              </p:par>
                              <p:par>
                                <p:cTn id="98" presetID="10" presetClass="entr" presetSubtype="0" fill="hold" nodeType="withEffect">
                                  <p:stCondLst>
                                    <p:cond delay="1962"/>
                                  </p:stCondLst>
                                  <p:childTnLst>
                                    <p:set>
                                      <p:cBhvr>
                                        <p:cTn id="99" dur="1" fill="hold">
                                          <p:stCondLst>
                                            <p:cond delay="0"/>
                                          </p:stCondLst>
                                        </p:cTn>
                                        <p:tgtEl>
                                          <p:spTgt spid="42"/>
                                        </p:tgtEl>
                                        <p:attrNameLst>
                                          <p:attrName>style.visibility</p:attrName>
                                        </p:attrNameLst>
                                      </p:cBhvr>
                                      <p:to>
                                        <p:strVal val="visible"/>
                                      </p:to>
                                    </p:set>
                                    <p:animEffect transition="in" filter="fade">
                                      <p:cBhvr>
                                        <p:cTn id="100" dur="400"/>
                                        <p:tgtEl>
                                          <p:spTgt spid="42"/>
                                        </p:tgtEl>
                                      </p:cBhvr>
                                    </p:animEffect>
                                  </p:childTnLst>
                                </p:cTn>
                              </p:par>
                              <p:par>
                                <p:cTn id="101" presetID="10" presetClass="entr" presetSubtype="0" fill="hold" nodeType="withEffect">
                                  <p:stCondLst>
                                    <p:cond delay="1962"/>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400"/>
                                        <p:tgtEl>
                                          <p:spTgt spid="43"/>
                                        </p:tgtEl>
                                      </p:cBhvr>
                                    </p:animEffect>
                                  </p:childTnLst>
                                </p:cTn>
                              </p:par>
                              <p:par>
                                <p:cTn id="104" presetID="10" presetClass="entr" presetSubtype="0" fill="hold" nodeType="withEffect">
                                  <p:stCondLst>
                                    <p:cond delay="1962"/>
                                  </p:stCondLst>
                                  <p:childTnLst>
                                    <p:set>
                                      <p:cBhvr>
                                        <p:cTn id="105" dur="1" fill="hold">
                                          <p:stCondLst>
                                            <p:cond delay="0"/>
                                          </p:stCondLst>
                                        </p:cTn>
                                        <p:tgtEl>
                                          <p:spTgt spid="44"/>
                                        </p:tgtEl>
                                        <p:attrNameLst>
                                          <p:attrName>style.visibility</p:attrName>
                                        </p:attrNameLst>
                                      </p:cBhvr>
                                      <p:to>
                                        <p:strVal val="visible"/>
                                      </p:to>
                                    </p:set>
                                    <p:animEffect transition="in" filter="fade">
                                      <p:cBhvr>
                                        <p:cTn id="106" dur="400"/>
                                        <p:tgtEl>
                                          <p:spTgt spid="44"/>
                                        </p:tgtEl>
                                      </p:cBhvr>
                                    </p:animEffect>
                                  </p:childTnLst>
                                </p:cTn>
                              </p:par>
                              <p:par>
                                <p:cTn id="107" presetID="10" presetClass="entr" presetSubtype="0" fill="hold" nodeType="withEffect">
                                  <p:stCondLst>
                                    <p:cond delay="2180"/>
                                  </p:stCondLst>
                                  <p:childTnLst>
                                    <p:set>
                                      <p:cBhvr>
                                        <p:cTn id="108" dur="1" fill="hold">
                                          <p:stCondLst>
                                            <p:cond delay="0"/>
                                          </p:stCondLst>
                                        </p:cTn>
                                        <p:tgtEl>
                                          <p:spTgt spid="45"/>
                                        </p:tgtEl>
                                        <p:attrNameLst>
                                          <p:attrName>style.visibility</p:attrName>
                                        </p:attrNameLst>
                                      </p:cBhvr>
                                      <p:to>
                                        <p:strVal val="visible"/>
                                      </p:to>
                                    </p:set>
                                    <p:animEffect transition="in" filter="fade">
                                      <p:cBhvr>
                                        <p:cTn id="109" dur="400"/>
                                        <p:tgtEl>
                                          <p:spTgt spid="45"/>
                                        </p:tgtEl>
                                      </p:cBhvr>
                                    </p:animEffect>
                                  </p:childTnLst>
                                </p:cTn>
                              </p:par>
                              <p:par>
                                <p:cTn id="110" presetID="10" presetClass="entr" presetSubtype="0" fill="hold" nodeType="withEffect">
                                  <p:stCondLst>
                                    <p:cond delay="2180"/>
                                  </p:stCondLst>
                                  <p:childTnLst>
                                    <p:set>
                                      <p:cBhvr>
                                        <p:cTn id="111" dur="1" fill="hold">
                                          <p:stCondLst>
                                            <p:cond delay="0"/>
                                          </p:stCondLst>
                                        </p:cTn>
                                        <p:tgtEl>
                                          <p:spTgt spid="46"/>
                                        </p:tgtEl>
                                        <p:attrNameLst>
                                          <p:attrName>style.visibility</p:attrName>
                                        </p:attrNameLst>
                                      </p:cBhvr>
                                      <p:to>
                                        <p:strVal val="visible"/>
                                      </p:to>
                                    </p:set>
                                    <p:animEffect transition="in" filter="fade">
                                      <p:cBhvr>
                                        <p:cTn id="112" dur="400"/>
                                        <p:tgtEl>
                                          <p:spTgt spid="46"/>
                                        </p:tgtEl>
                                      </p:cBhvr>
                                    </p:animEffect>
                                  </p:childTnLst>
                                </p:cTn>
                              </p:par>
                              <p:par>
                                <p:cTn id="113" presetID="10" presetClass="entr" presetSubtype="0" fill="hold" nodeType="withEffect">
                                  <p:stCondLst>
                                    <p:cond delay="218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nodeType="withEffect">
                                  <p:stCondLst>
                                    <p:cond delay="218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12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4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Phương án được duyệt, thông tin đầy đủ</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42453" y="4305046"/>
            <a:ext cx="3490874" cy="1847088"/>
          </a:xfrm>
          <a:prstGeom prst="roundRect">
            <a:avLst>
              <a:gd name="adj" fmla="val 7921"/>
            </a:avLst>
          </a:prstGeom>
          <a:solidFill>
            <a:srgbClr val="22C55E">
              <a:alpha val="18000"/>
            </a:srgbClr>
          </a:solidFill>
          <a:ln/>
        </p:spPr>
      </p:sp>
      <p:sp>
        <p:nvSpPr>
          <p:cNvPr id="40" name="Shape 36"/>
          <p:cNvSpPr/>
          <p:nvPr/>
        </p:nvSpPr>
        <p:spPr>
          <a:xfrm>
            <a:off x="8097317"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41" name="Shape 37"/>
          <p:cNvSpPr/>
          <p:nvPr/>
        </p:nvSpPr>
        <p:spPr>
          <a:xfrm>
            <a:off x="8097317" y="4359910"/>
            <a:ext cx="50292" cy="1737360"/>
          </a:xfrm>
          <a:prstGeom prst="roundRect">
            <a:avLst>
              <a:gd name="adj" fmla="val 54545"/>
            </a:avLst>
          </a:prstGeom>
          <a:solidFill>
            <a:srgbClr val="22C55E">
              <a:alpha val="95000"/>
            </a:srgbClr>
          </a:solidFill>
          <a:ln/>
        </p:spPr>
      </p:sp>
      <p:sp>
        <p:nvSpPr>
          <p:cNvPr id="42" name="Shape 38"/>
          <p:cNvSpPr/>
          <p:nvPr/>
        </p:nvSpPr>
        <p:spPr>
          <a:xfrm>
            <a:off x="8371637" y="4579366"/>
            <a:ext cx="420624" cy="420624"/>
          </a:xfrm>
          <a:prstGeom prst="roundRect">
            <a:avLst>
              <a:gd name="adj" fmla="val 50000"/>
            </a:avLst>
          </a:prstGeom>
          <a:solidFill>
            <a:srgbClr val="04101F">
              <a:alpha val="88000"/>
            </a:srgbClr>
          </a:solidFill>
          <a:ln/>
        </p:spPr>
      </p:sp>
      <p:sp>
        <p:nvSpPr>
          <p:cNvPr id="43" name="Shape 39"/>
          <p:cNvSpPr/>
          <p:nvPr/>
        </p:nvSpPr>
        <p:spPr>
          <a:xfrm>
            <a:off x="8371637"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44" name="Text 40"/>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4</a:t>
            </a:r>
            <a:endParaRPr lang="en-US" sz="1500" dirty="0"/>
          </a:p>
        </p:txBody>
      </p:sp>
      <p:sp>
        <p:nvSpPr>
          <p:cNvPr id="45" name="Text 41"/>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6" name="Text 42"/>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lúc.</a:t>
            </a:r>
            <a:endParaRPr lang="en-US" sz="1150" dirty="0"/>
          </a:p>
        </p:txBody>
      </p:sp>
      <p:sp>
        <p:nvSpPr>
          <p:cNvPr id="47" name="Shape 43"/>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8" name="Shape 44"/>
          <p:cNvSpPr/>
          <p:nvPr/>
        </p:nvSpPr>
        <p:spPr>
          <a:xfrm>
            <a:off x="4405274" y="4359910"/>
            <a:ext cx="50292" cy="1737360"/>
          </a:xfrm>
          <a:prstGeom prst="roundRect">
            <a:avLst>
              <a:gd name="adj" fmla="val 54545"/>
            </a:avLst>
          </a:prstGeom>
          <a:solidFill>
            <a:srgbClr val="3C5468">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22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22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22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22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22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44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44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44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44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44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44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66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66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66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66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66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66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88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88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88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88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88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88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88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10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32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32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32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32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32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32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par>
                                <p:cTn id="113" presetID="10" presetClass="entr" presetSubtype="0" fill="hold" nodeType="withEffect">
                                  <p:stCondLst>
                                    <p:cond delay="132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54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par>
                                <p:cTn id="119" presetID="10" presetClass="entr" presetSubtype="0" fill="hold" nodeType="withEffect">
                                  <p:stCondLst>
                                    <p:cond delay="154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400"/>
                                        <p:tgtEl>
                                          <p:spTgt spid="48"/>
                                        </p:tgtEl>
                                      </p:cBhvr>
                                    </p:animEffect>
                                  </p:childTnLst>
                                </p:cTn>
                              </p:par>
                              <p:par>
                                <p:cTn id="122" presetID="10" presetClass="entr" presetSubtype="0" fill="hold" nodeType="withEffect">
                                  <p:stCondLst>
                                    <p:cond delay="154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400"/>
                                        <p:tgtEl>
                                          <p:spTgt spid="49"/>
                                        </p:tgtEl>
                                      </p:cBhvr>
                                    </p:animEffect>
                                  </p:childTnLst>
                                </p:cTn>
                              </p:par>
                              <p:par>
                                <p:cTn id="125" presetID="10" presetClass="entr" presetSubtype="0" fill="hold" nodeType="withEffect">
                                  <p:stCondLst>
                                    <p:cond delay="154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400"/>
                                        <p:tgtEl>
                                          <p:spTgt spid="50"/>
                                        </p:tgtEl>
                                      </p:cBhvr>
                                    </p:animEffect>
                                  </p:childTnLst>
                                </p:cTn>
                              </p:par>
                              <p:par>
                                <p:cTn id="128" presetID="10" presetClass="entr" presetSubtype="0" fill="hold" nodeType="withEffect">
                                  <p:stCondLst>
                                    <p:cond delay="154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400"/>
                                        <p:tgtEl>
                                          <p:spTgt spid="51"/>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52"/>
                                        </p:tgtEl>
                                        <p:attrNameLst>
                                          <p:attrName>style.visibility</p:attrName>
                                        </p:attrNameLst>
                                      </p:cBhvr>
                                      <p:to>
                                        <p:strVal val="visible"/>
                                      </p:to>
                                    </p:set>
                                    <p:animEffect transition="in" filter="fade">
                                      <p:cBhvr>
                                        <p:cTn id="133" dur="400"/>
                                        <p:tgtEl>
                                          <p:spTgt spid="52"/>
                                        </p:tgtEl>
                                      </p:cBhvr>
                                    </p:animEffect>
                                  </p:childTnLst>
                                </p:cTn>
                              </p:par>
                              <p:par>
                                <p:cTn id="134" presetID="10" presetClass="entr" presetSubtype="0" fill="hold" nodeType="withEffect">
                                  <p:stCondLst>
                                    <p:cond delay="1540"/>
                                  </p:stCondLst>
                                  <p:childTnLst>
                                    <p:set>
                                      <p:cBhvr>
                                        <p:cTn id="135" dur="1" fill="hold">
                                          <p:stCondLst>
                                            <p:cond delay="0"/>
                                          </p:stCondLst>
                                        </p:cTn>
                                        <p:tgtEl>
                                          <p:spTgt spid="53"/>
                                        </p:tgtEl>
                                        <p:attrNameLst>
                                          <p:attrName>style.visibility</p:attrName>
                                        </p:attrNameLst>
                                      </p:cBhvr>
                                      <p:to>
                                        <p:strVal val="visible"/>
                                      </p:to>
                                    </p:set>
                                    <p:animEffect transition="in" filter="fade">
                                      <p:cBhvr>
                                        <p:cTn id="136" dur="400"/>
                                        <p:tgtEl>
                                          <p:spTgt spid="5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13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BƯỚC 4 · XÁC NHẬN &amp; THÔNG BÁO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Xác nhận một lần, hai bộ phận cùng nhận thông tin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218024" cy="3154680"/>
          </a:xfrm>
          <a:prstGeom prst="roundRect">
            <a:avLst>
              <a:gd name="adj" fmla="val 3478"/>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154680"/>
          </a:xfrm>
          <a:prstGeom prst="roundRect">
            <a:avLst>
              <a:gd name="adj" fmla="val 54545"/>
            </a:avLst>
          </a:prstGeom>
          <a:solidFill>
            <a:srgbClr val="FBBF24">
              <a:alpha val="95000"/>
            </a:srgbClr>
          </a:solidFill>
          <a:ln/>
        </p:spPr>
      </p:sp>
      <p:sp>
        <p:nvSpPr>
          <p:cNvPr id="14" name="Text 10"/>
          <p:cNvSpPr/>
          <p:nvPr/>
        </p:nvSpPr>
        <p:spPr>
          <a:xfrm>
            <a:off x="1042416" y="2476246"/>
            <a:ext cx="4651096"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FBBF24"/>
                </a:solidFill>
                <a:latin typeface="Be Vietnam Pro" pitchFamily="34" charset="0"/>
                <a:ea typeface="Be Vietnam Pro" pitchFamily="34" charset="-122"/>
                <a:cs typeface="Be Vietnam Pro" pitchFamily="34" charset="-120"/>
              </a:rPr>
              <a:t>BỘ PHẬN KHO</a:t>
            </a:r>
            <a:endParaRPr lang="en-US" sz="1050" dirty="0"/>
          </a:p>
        </p:txBody>
      </p:sp>
      <p:sp>
        <p:nvSpPr>
          <p:cNvPr id="15" name="Text 11"/>
          <p:cNvSpPr/>
          <p:nvPr/>
        </p:nvSpPr>
        <p:spPr>
          <a:xfrm>
            <a:off x="1042416" y="2750566"/>
            <a:ext cx="4651096"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Chuẩn bị và xuất vật tư</a:t>
            </a:r>
            <a:endParaRPr lang="en-US" sz="1700" dirty="0"/>
          </a:p>
        </p:txBody>
      </p:sp>
      <p:sp>
        <p:nvSpPr>
          <p:cNvPr id="16" name="Shape 12"/>
          <p:cNvSpPr/>
          <p:nvPr/>
        </p:nvSpPr>
        <p:spPr>
          <a:xfrm>
            <a:off x="1042416" y="3244342"/>
            <a:ext cx="4559656" cy="9144"/>
          </a:xfrm>
          <a:prstGeom prst="rect">
            <a:avLst/>
          </a:prstGeom>
          <a:solidFill>
            <a:srgbClr val="FFFFFF">
              <a:alpha val="14000"/>
            </a:srgbClr>
          </a:solidFill>
          <a:ln/>
        </p:spPr>
      </p:sp>
      <p:sp>
        <p:nvSpPr>
          <p:cNvPr id="17" name="Shape 13"/>
          <p:cNvSpPr/>
          <p:nvPr/>
        </p:nvSpPr>
        <p:spPr>
          <a:xfrm>
            <a:off x="1060704" y="3518662"/>
            <a:ext cx="82296" cy="82296"/>
          </a:xfrm>
          <a:prstGeom prst="roundRect">
            <a:avLst>
              <a:gd name="adj" fmla="val 50000"/>
            </a:avLst>
          </a:prstGeom>
          <a:solidFill>
            <a:srgbClr val="FBBF24">
              <a:alpha val="95000"/>
            </a:srgbClr>
          </a:solidFill>
          <a:ln/>
        </p:spPr>
      </p:sp>
      <p:sp>
        <p:nvSpPr>
          <p:cNvPr id="18" name="Text 14"/>
          <p:cNvSpPr/>
          <p:nvPr/>
        </p:nvSpPr>
        <p:spPr>
          <a:xfrm>
            <a:off x="1298448" y="3427222"/>
            <a:ext cx="4395064" cy="51765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Nhận thông báo ngay khi người điều phối xác nhận</a:t>
            </a:r>
            <a:endParaRPr lang="en-US" sz="1250" dirty="0"/>
          </a:p>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phương án.</a:t>
            </a:r>
            <a:endParaRPr lang="en-US" sz="1250" dirty="0"/>
          </a:p>
        </p:txBody>
      </p:sp>
      <p:sp>
        <p:nvSpPr>
          <p:cNvPr id="19" name="Shape 15"/>
          <p:cNvSpPr/>
          <p:nvPr/>
        </p:nvSpPr>
        <p:spPr>
          <a:xfrm>
            <a:off x="1060704" y="4109466"/>
            <a:ext cx="82296" cy="82296"/>
          </a:xfrm>
          <a:prstGeom prst="roundRect">
            <a:avLst>
              <a:gd name="adj" fmla="val 50000"/>
            </a:avLst>
          </a:prstGeom>
          <a:solidFill>
            <a:srgbClr val="FBBF24">
              <a:alpha val="95000"/>
            </a:srgbClr>
          </a:solidFill>
          <a:ln/>
        </p:spPr>
      </p:sp>
      <p:sp>
        <p:nvSpPr>
          <p:cNvPr id="20" name="Text 16"/>
          <p:cNvSpPr/>
          <p:nvPr/>
        </p:nvSpPr>
        <p:spPr>
          <a:xfrm>
            <a:off x="1298448" y="4018026"/>
            <a:ext cx="4395064" cy="51765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Nhận thông tin xong là soạn vật tư theo danh sách và</a:t>
            </a:r>
            <a:endParaRPr lang="en-US" sz="1250" dirty="0"/>
          </a:p>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xuất kho, tồn kho trừ ngay lúc xuất.</a:t>
            </a:r>
            <a:endParaRPr lang="en-US" sz="1250" dirty="0"/>
          </a:p>
        </p:txBody>
      </p:sp>
      <p:sp>
        <p:nvSpPr>
          <p:cNvPr id="21" name="Shape 17"/>
          <p:cNvSpPr/>
          <p:nvPr/>
        </p:nvSpPr>
        <p:spPr>
          <a:xfrm>
            <a:off x="6260440" y="2220214"/>
            <a:ext cx="5218024" cy="3154680"/>
          </a:xfrm>
          <a:prstGeom prst="roundRect">
            <a:avLst>
              <a:gd name="adj" fmla="val 3478"/>
            </a:avLst>
          </a:prstGeom>
          <a:solidFill>
            <a:srgbClr val="091B2D">
              <a:alpha val="66000"/>
            </a:srgbClr>
          </a:solidFill>
          <a:ln w="12700">
            <a:solidFill>
              <a:srgbClr val="FFFFFF">
                <a:alpha val="12000"/>
              </a:srgbClr>
            </a:solidFill>
            <a:prstDash val="solid"/>
          </a:ln>
        </p:spPr>
      </p:sp>
      <p:sp>
        <p:nvSpPr>
          <p:cNvPr id="22" name="Shape 18"/>
          <p:cNvSpPr/>
          <p:nvPr/>
        </p:nvSpPr>
        <p:spPr>
          <a:xfrm>
            <a:off x="6260440" y="2220214"/>
            <a:ext cx="50292" cy="3154680"/>
          </a:xfrm>
          <a:prstGeom prst="roundRect">
            <a:avLst>
              <a:gd name="adj" fmla="val 54545"/>
            </a:avLst>
          </a:prstGeom>
          <a:solidFill>
            <a:srgbClr val="38BDF8">
              <a:alpha val="95000"/>
            </a:srgbClr>
          </a:solidFill>
          <a:ln/>
        </p:spPr>
      </p:sp>
      <p:sp>
        <p:nvSpPr>
          <p:cNvPr id="23" name="Text 19"/>
          <p:cNvSpPr/>
          <p:nvPr/>
        </p:nvSpPr>
        <p:spPr>
          <a:xfrm>
            <a:off x="6589624" y="2476246"/>
            <a:ext cx="4651096"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38BDF8"/>
                </a:solidFill>
                <a:latin typeface="Be Vietnam Pro" pitchFamily="34" charset="0"/>
                <a:ea typeface="Be Vietnam Pro" pitchFamily="34" charset="-122"/>
                <a:cs typeface="Be Vietnam Pro" pitchFamily="34" charset="-120"/>
              </a:rPr>
              <a:t>ĐỘI CỨU HỘ</a:t>
            </a:r>
            <a:endParaRPr lang="en-US" sz="1050" dirty="0"/>
          </a:p>
        </p:txBody>
      </p:sp>
      <p:sp>
        <p:nvSpPr>
          <p:cNvPr id="24" name="Text 20"/>
          <p:cNvSpPr/>
          <p:nvPr/>
        </p:nvSpPr>
        <p:spPr>
          <a:xfrm>
            <a:off x="6589624" y="2750566"/>
            <a:ext cx="4651096"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Biết đi đâu, nhận gì, ở kho nào</a:t>
            </a:r>
            <a:endParaRPr lang="en-US" sz="1700" dirty="0"/>
          </a:p>
        </p:txBody>
      </p:sp>
      <p:sp>
        <p:nvSpPr>
          <p:cNvPr id="25" name="Shape 21"/>
          <p:cNvSpPr/>
          <p:nvPr/>
        </p:nvSpPr>
        <p:spPr>
          <a:xfrm>
            <a:off x="6589624" y="3244342"/>
            <a:ext cx="4559656" cy="9144"/>
          </a:xfrm>
          <a:prstGeom prst="rect">
            <a:avLst/>
          </a:prstGeom>
          <a:solidFill>
            <a:srgbClr val="FFFFFF">
              <a:alpha val="14000"/>
            </a:srgbClr>
          </a:solidFill>
          <a:ln/>
        </p:spPr>
      </p:sp>
      <p:sp>
        <p:nvSpPr>
          <p:cNvPr id="26" name="Shape 22"/>
          <p:cNvSpPr/>
          <p:nvPr/>
        </p:nvSpPr>
        <p:spPr>
          <a:xfrm>
            <a:off x="6607912" y="3518662"/>
            <a:ext cx="82296" cy="82296"/>
          </a:xfrm>
          <a:prstGeom prst="roundRect">
            <a:avLst>
              <a:gd name="adj" fmla="val 50000"/>
            </a:avLst>
          </a:prstGeom>
          <a:solidFill>
            <a:srgbClr val="38BDF8">
              <a:alpha val="95000"/>
            </a:srgbClr>
          </a:solidFill>
          <a:ln/>
        </p:spPr>
      </p:sp>
      <p:sp>
        <p:nvSpPr>
          <p:cNvPr id="27" name="Text 23"/>
          <p:cNvSpPr/>
          <p:nvPr/>
        </p:nvSpPr>
        <p:spPr>
          <a:xfrm>
            <a:off x="6845656" y="3427222"/>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Điểm gặp nạn hiển thị trực tiếp trên bản đồ.</a:t>
            </a:r>
            <a:endParaRPr lang="en-US" sz="1250" dirty="0"/>
          </a:p>
        </p:txBody>
      </p:sp>
      <p:sp>
        <p:nvSpPr>
          <p:cNvPr id="28" name="Shape 24"/>
          <p:cNvSpPr/>
          <p:nvPr/>
        </p:nvSpPr>
        <p:spPr>
          <a:xfrm>
            <a:off x="6607912" y="3887216"/>
            <a:ext cx="82296" cy="82296"/>
          </a:xfrm>
          <a:prstGeom prst="roundRect">
            <a:avLst>
              <a:gd name="adj" fmla="val 50000"/>
            </a:avLst>
          </a:prstGeom>
          <a:solidFill>
            <a:srgbClr val="38BDF8">
              <a:alpha val="95000"/>
            </a:srgbClr>
          </a:solidFill>
          <a:ln/>
        </p:spPr>
      </p:sp>
      <p:sp>
        <p:nvSpPr>
          <p:cNvPr id="29" name="Text 25"/>
          <p:cNvSpPr/>
          <p:nvPr/>
        </p:nvSpPr>
        <p:spPr>
          <a:xfrm>
            <a:off x="6845656" y="3795776"/>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Danh sách vật tư cần nhận cho nhiệm vụ của mình.</a:t>
            </a:r>
            <a:endParaRPr lang="en-US" sz="1250" dirty="0"/>
          </a:p>
        </p:txBody>
      </p:sp>
      <p:sp>
        <p:nvSpPr>
          <p:cNvPr id="30" name="Shape 26"/>
          <p:cNvSpPr/>
          <p:nvPr/>
        </p:nvSpPr>
        <p:spPr>
          <a:xfrm>
            <a:off x="6607912" y="4255770"/>
            <a:ext cx="82296" cy="82296"/>
          </a:xfrm>
          <a:prstGeom prst="roundRect">
            <a:avLst>
              <a:gd name="adj" fmla="val 50000"/>
            </a:avLst>
          </a:prstGeom>
          <a:solidFill>
            <a:srgbClr val="38BDF8">
              <a:alpha val="95000"/>
            </a:srgbClr>
          </a:solidFill>
          <a:ln/>
        </p:spPr>
      </p:sp>
      <p:sp>
        <p:nvSpPr>
          <p:cNvPr id="31" name="Text 27"/>
          <p:cNvSpPr/>
          <p:nvPr/>
        </p:nvSpPr>
        <p:spPr>
          <a:xfrm>
            <a:off x="6845656" y="4164330"/>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Danh sách kho cần đến kèm vị trí từng kho trên bản đồ.</a:t>
            </a:r>
            <a:endParaRPr lang="en-US" sz="1250" dirty="0"/>
          </a:p>
        </p:txBody>
      </p:sp>
      <p:sp>
        <p:nvSpPr>
          <p:cNvPr id="32" name="Shape 28"/>
          <p:cNvSpPr/>
          <p:nvPr/>
        </p:nvSpPr>
        <p:spPr>
          <a:xfrm>
            <a:off x="6607912" y="4624324"/>
            <a:ext cx="82296" cy="82296"/>
          </a:xfrm>
          <a:prstGeom prst="roundRect">
            <a:avLst>
              <a:gd name="adj" fmla="val 50000"/>
            </a:avLst>
          </a:prstGeom>
          <a:solidFill>
            <a:srgbClr val="38BDF8">
              <a:alpha val="95000"/>
            </a:srgbClr>
          </a:solidFill>
          <a:ln/>
        </p:spPr>
      </p:sp>
      <p:sp>
        <p:nvSpPr>
          <p:cNvPr id="33" name="Text 29"/>
          <p:cNvSpPr/>
          <p:nvPr/>
        </p:nvSpPr>
        <p:spPr>
          <a:xfrm>
            <a:off x="6845656" y="4532884"/>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Đường đi từ các kho đến điểm gặp nạn</a:t>
            </a:r>
            <a:endParaRPr lang="en-US" sz="1250" dirty="0"/>
          </a:p>
        </p:txBody>
      </p:sp>
      <p:sp>
        <p:nvSpPr>
          <p:cNvPr id="34" name="Shape 30"/>
          <p:cNvSpPr/>
          <p:nvPr/>
        </p:nvSpPr>
        <p:spPr>
          <a:xfrm>
            <a:off x="713232" y="5630926"/>
            <a:ext cx="10765231" cy="566928"/>
          </a:xfrm>
          <a:prstGeom prst="roundRect">
            <a:avLst>
              <a:gd name="adj" fmla="val 16129"/>
            </a:avLst>
          </a:prstGeom>
          <a:solidFill>
            <a:srgbClr val="22C55E">
              <a:alpha val="12000"/>
            </a:srgbClr>
          </a:solidFill>
          <a:ln w="12700">
            <a:solidFill>
              <a:srgbClr val="22C55E">
                <a:alpha val="40000"/>
              </a:srgbClr>
            </a:solidFill>
            <a:prstDash val="solid"/>
          </a:ln>
        </p:spPr>
      </p:sp>
      <p:sp>
        <p:nvSpPr>
          <p:cNvPr id="35" name="Text 31"/>
          <p:cNvSpPr/>
          <p:nvPr/>
        </p:nvSpPr>
        <p:spPr>
          <a:xfrm>
            <a:off x="1042416" y="5768086"/>
            <a:ext cx="10198303"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Không ai phải gọi điện hỏi lại: kho biết chuẩn bị gì, đội cứu hộ biết đi đâu và nhận ở đâu.</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44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44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44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66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66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66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66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66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nodeType="withEffect">
                                  <p:stCondLst>
                                    <p:cond delay="66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3" presetID="10" presetClass="entr" presetSubtype="0" fill="hold" nodeType="withEffect">
                                  <p:stCondLst>
                                    <p:cond delay="66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par>
                                <p:cTn id="56" presetID="10" presetClass="entr" presetSubtype="0" fill="hold" nodeType="withEffect">
                                  <p:stCondLst>
                                    <p:cond delay="66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59" presetID="10" presetClass="entr" presetSubtype="0" fill="hold" nodeType="withEffect">
                                  <p:stCondLst>
                                    <p:cond delay="66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2" presetID="10" presetClass="entr" presetSubtype="0" fill="hold" nodeType="withEffect">
                                  <p:stCondLst>
                                    <p:cond delay="66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par>
                                <p:cTn id="65" presetID="10" presetClass="entr" presetSubtype="0" fill="hold" nodeType="withEffect">
                                  <p:stCondLst>
                                    <p:cond delay="66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400"/>
                                        <p:tgtEl>
                                          <p:spTgt spid="32"/>
                                        </p:tgtEl>
                                      </p:cBhvr>
                                    </p:animEffect>
                                  </p:childTnLst>
                                </p:cTn>
                              </p:par>
                              <p:par>
                                <p:cTn id="68" presetID="10" presetClass="entr" presetSubtype="0" fill="hold" nodeType="withEffect">
                                  <p:stCondLst>
                                    <p:cond delay="660"/>
                                  </p:stCondLst>
                                  <p:childTnLst>
                                    <p:set>
                                      <p:cBhvr>
                                        <p:cTn id="69" dur="1" fill="hold">
                                          <p:stCondLst>
                                            <p:cond delay="0"/>
                                          </p:stCondLst>
                                        </p:cTn>
                                        <p:tgtEl>
                                          <p:spTgt spid="33"/>
                                        </p:tgtEl>
                                        <p:attrNameLst>
                                          <p:attrName>style.visibility</p:attrName>
                                        </p:attrNameLst>
                                      </p:cBhvr>
                                      <p:to>
                                        <p:strVal val="visible"/>
                                      </p:to>
                                    </p:set>
                                    <p:animEffect transition="in" filter="fade">
                                      <p:cBhvr>
                                        <p:cTn id="70" dur="400"/>
                                        <p:tgtEl>
                                          <p:spTgt spid="33"/>
                                        </p:tgtEl>
                                      </p:cBhvr>
                                    </p:animEffect>
                                  </p:childTnLst>
                                </p:cTn>
                              </p:par>
                              <p:par>
                                <p:cTn id="71" presetID="10" presetClass="entr" presetSubtype="0" fill="hold" nodeType="withEffect">
                                  <p:stCondLst>
                                    <p:cond delay="880"/>
                                  </p:stCondLst>
                                  <p:childTnLst>
                                    <p:set>
                                      <p:cBhvr>
                                        <p:cTn id="72" dur="1" fill="hold">
                                          <p:stCondLst>
                                            <p:cond delay="0"/>
                                          </p:stCondLst>
                                        </p:cTn>
                                        <p:tgtEl>
                                          <p:spTgt spid="34"/>
                                        </p:tgtEl>
                                        <p:attrNameLst>
                                          <p:attrName>style.visibility</p:attrName>
                                        </p:attrNameLst>
                                      </p:cBhvr>
                                      <p:to>
                                        <p:strVal val="visible"/>
                                      </p:to>
                                    </p:set>
                                    <p:animEffect transition="in" filter="fade">
                                      <p:cBhvr>
                                        <p:cTn id="73" dur="400"/>
                                        <p:tgtEl>
                                          <p:spTgt spid="34"/>
                                        </p:tgtEl>
                                      </p:cBhvr>
                                    </p:animEffect>
                                  </p:childTnLst>
                                </p:cTn>
                              </p:par>
                              <p:par>
                                <p:cTn id="74" presetID="10" presetClass="entr" presetSubtype="0" fill="hold" nodeType="withEffect">
                                  <p:stCondLst>
                                    <p:cond delay="880"/>
                                  </p:stCondLst>
                                  <p:childTnLst>
                                    <p:set>
                                      <p:cBhvr>
                                        <p:cTn id="75" dur="1" fill="hold">
                                          <p:stCondLst>
                                            <p:cond delay="0"/>
                                          </p:stCondLst>
                                        </p:cTn>
                                        <p:tgtEl>
                                          <p:spTgt spid="35"/>
                                        </p:tgtEl>
                                        <p:attrNameLst>
                                          <p:attrName>style.visibility</p:attrName>
                                        </p:attrNameLst>
                                      </p:cBhvr>
                                      <p:to>
                                        <p:strVal val="visible"/>
                                      </p:to>
                                    </p:set>
                                    <p:animEffect transition="in" filter="fade">
                                      <p:cBhvr>
                                        <p:cTn id="76"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14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5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Hoàn thành nhiệm vụ và gửi bằng chứng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0" name="Shape 36"/>
          <p:cNvSpPr/>
          <p:nvPr/>
        </p:nvSpPr>
        <p:spPr>
          <a:xfrm>
            <a:off x="8097317" y="4359910"/>
            <a:ext cx="50292" cy="1737360"/>
          </a:xfrm>
          <a:prstGeom prst="roundRect">
            <a:avLst>
              <a:gd name="adj" fmla="val 54545"/>
            </a:avLst>
          </a:prstGeom>
          <a:solidFill>
            <a:srgbClr val="3C5468">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6" name="Shape 42"/>
          <p:cNvSpPr/>
          <p:nvPr/>
        </p:nvSpPr>
        <p:spPr>
          <a:xfrm>
            <a:off x="4350410" y="4305046"/>
            <a:ext cx="3490874" cy="1847088"/>
          </a:xfrm>
          <a:prstGeom prst="roundRect">
            <a:avLst>
              <a:gd name="adj" fmla="val 7921"/>
            </a:avLst>
          </a:prstGeom>
          <a:solidFill>
            <a:srgbClr val="22C55E">
              <a:alpha val="18000"/>
            </a:srgbClr>
          </a:solidFill>
          <a:ln/>
        </p:spPr>
      </p:sp>
      <p:sp>
        <p:nvSpPr>
          <p:cNvPr id="47" name="Shape 43"/>
          <p:cNvSpPr/>
          <p:nvPr/>
        </p:nvSpPr>
        <p:spPr>
          <a:xfrm>
            <a:off x="4405274"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48" name="Shape 44"/>
          <p:cNvSpPr/>
          <p:nvPr/>
        </p:nvSpPr>
        <p:spPr>
          <a:xfrm>
            <a:off x="4405274" y="4359910"/>
            <a:ext cx="50292" cy="1737360"/>
          </a:xfrm>
          <a:prstGeom prst="roundRect">
            <a:avLst>
              <a:gd name="adj" fmla="val 54545"/>
            </a:avLst>
          </a:prstGeom>
          <a:solidFill>
            <a:srgbClr val="22C55E">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22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22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22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22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22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44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44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44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44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44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44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66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66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66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66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66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66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88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88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88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88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88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88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88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10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10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10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10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10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par>
                                <p:cTn id="113" presetID="10" presetClass="entr" presetSubtype="0" fill="hold" nodeType="withEffect">
                                  <p:stCondLst>
                                    <p:cond delay="132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54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par>
                                <p:cTn id="119" presetID="10" presetClass="entr" presetSubtype="0" fill="hold" nodeType="withEffect">
                                  <p:stCondLst>
                                    <p:cond delay="154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400"/>
                                        <p:tgtEl>
                                          <p:spTgt spid="48"/>
                                        </p:tgtEl>
                                      </p:cBhvr>
                                    </p:animEffect>
                                  </p:childTnLst>
                                </p:cTn>
                              </p:par>
                              <p:par>
                                <p:cTn id="122" presetID="10" presetClass="entr" presetSubtype="0" fill="hold" nodeType="withEffect">
                                  <p:stCondLst>
                                    <p:cond delay="154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400"/>
                                        <p:tgtEl>
                                          <p:spTgt spid="49"/>
                                        </p:tgtEl>
                                      </p:cBhvr>
                                    </p:animEffect>
                                  </p:childTnLst>
                                </p:cTn>
                              </p:par>
                              <p:par>
                                <p:cTn id="125" presetID="10" presetClass="entr" presetSubtype="0" fill="hold" nodeType="withEffect">
                                  <p:stCondLst>
                                    <p:cond delay="154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400"/>
                                        <p:tgtEl>
                                          <p:spTgt spid="50"/>
                                        </p:tgtEl>
                                      </p:cBhvr>
                                    </p:animEffect>
                                  </p:childTnLst>
                                </p:cTn>
                              </p:par>
                              <p:par>
                                <p:cTn id="128" presetID="10" presetClass="entr" presetSubtype="0" fill="hold" nodeType="withEffect">
                                  <p:stCondLst>
                                    <p:cond delay="154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400"/>
                                        <p:tgtEl>
                                          <p:spTgt spid="51"/>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52"/>
                                        </p:tgtEl>
                                        <p:attrNameLst>
                                          <p:attrName>style.visibility</p:attrName>
                                        </p:attrNameLst>
                                      </p:cBhvr>
                                      <p:to>
                                        <p:strVal val="visible"/>
                                      </p:to>
                                    </p:set>
                                    <p:animEffect transition="in" filter="fade">
                                      <p:cBhvr>
                                        <p:cTn id="133" dur="400"/>
                                        <p:tgtEl>
                                          <p:spTgt spid="52"/>
                                        </p:tgtEl>
                                      </p:cBhvr>
                                    </p:animEffect>
                                  </p:childTnLst>
                                </p:cTn>
                              </p:par>
                              <p:par>
                                <p:cTn id="134" presetID="10" presetClass="entr" presetSubtype="0" fill="hold" nodeType="withEffect">
                                  <p:stCondLst>
                                    <p:cond delay="1540"/>
                                  </p:stCondLst>
                                  <p:childTnLst>
                                    <p:set>
                                      <p:cBhvr>
                                        <p:cTn id="135" dur="1" fill="hold">
                                          <p:stCondLst>
                                            <p:cond delay="0"/>
                                          </p:stCondLst>
                                        </p:cTn>
                                        <p:tgtEl>
                                          <p:spTgt spid="53"/>
                                        </p:tgtEl>
                                        <p:attrNameLst>
                                          <p:attrName>style.visibility</p:attrName>
                                        </p:attrNameLst>
                                      </p:cBhvr>
                                      <p:to>
                                        <p:strVal val="visible"/>
                                      </p:to>
                                    </p:set>
                                    <p:animEffect transition="in" filter="fade">
                                      <p:cBhvr>
                                        <p:cTn id="136" dur="400"/>
                                        <p:tgtEl>
                                          <p:spTgt spid="5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15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6 / 6 · KHÉP VÒNG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Vật tư hoàn trả xong, nhiệm vụ khép lại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0" name="Shape 36"/>
          <p:cNvSpPr/>
          <p:nvPr/>
        </p:nvSpPr>
        <p:spPr>
          <a:xfrm>
            <a:off x="8097317" y="4359910"/>
            <a:ext cx="50292" cy="1737360"/>
          </a:xfrm>
          <a:prstGeom prst="roundRect">
            <a:avLst>
              <a:gd name="adj" fmla="val 54545"/>
            </a:avLst>
          </a:prstGeom>
          <a:solidFill>
            <a:srgbClr val="3C5468">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6" name="Shape 42"/>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7" name="Shape 43"/>
          <p:cNvSpPr/>
          <p:nvPr/>
        </p:nvSpPr>
        <p:spPr>
          <a:xfrm>
            <a:off x="4405274" y="4359910"/>
            <a:ext cx="50292" cy="1737360"/>
          </a:xfrm>
          <a:prstGeom prst="roundRect">
            <a:avLst>
              <a:gd name="adj" fmla="val 54545"/>
            </a:avLst>
          </a:prstGeom>
          <a:solidFill>
            <a:srgbClr val="3C5468">
              <a:alpha val="95000"/>
            </a:srgbClr>
          </a:solidFill>
          <a:ln/>
        </p:spPr>
      </p:sp>
      <p:sp>
        <p:nvSpPr>
          <p:cNvPr id="48" name="Shape 44"/>
          <p:cNvSpPr/>
          <p:nvPr/>
        </p:nvSpPr>
        <p:spPr>
          <a:xfrm>
            <a:off x="4679594" y="4579366"/>
            <a:ext cx="420624" cy="420624"/>
          </a:xfrm>
          <a:prstGeom prst="roundRect">
            <a:avLst>
              <a:gd name="adj" fmla="val 50000"/>
            </a:avLst>
          </a:prstGeom>
          <a:solidFill>
            <a:srgbClr val="04101F">
              <a:alpha val="88000"/>
            </a:srgbClr>
          </a:solidFill>
          <a:ln/>
        </p:spPr>
      </p:sp>
      <p:sp>
        <p:nvSpPr>
          <p:cNvPr id="49" name="Shape 45"/>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0" name="Text 46"/>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1" name="Text 47"/>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2" name="Text 48"/>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3" name="Shape 49"/>
          <p:cNvSpPr/>
          <p:nvPr/>
        </p:nvSpPr>
        <p:spPr>
          <a:xfrm>
            <a:off x="658368" y="4305046"/>
            <a:ext cx="3490874" cy="1847088"/>
          </a:xfrm>
          <a:prstGeom prst="roundRect">
            <a:avLst>
              <a:gd name="adj" fmla="val 7921"/>
            </a:avLst>
          </a:prstGeom>
          <a:solidFill>
            <a:srgbClr val="22C55E">
              <a:alpha val="18000"/>
            </a:srgbClr>
          </a:solidFill>
          <a:ln/>
        </p:spPr>
      </p:sp>
      <p:sp>
        <p:nvSpPr>
          <p:cNvPr id="54" name="Shape 50"/>
          <p:cNvSpPr/>
          <p:nvPr/>
        </p:nvSpPr>
        <p:spPr>
          <a:xfrm>
            <a:off x="713232"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55" name="Shape 51"/>
          <p:cNvSpPr/>
          <p:nvPr/>
        </p:nvSpPr>
        <p:spPr>
          <a:xfrm>
            <a:off x="713232" y="4359910"/>
            <a:ext cx="50292" cy="1737360"/>
          </a:xfrm>
          <a:prstGeom prst="roundRect">
            <a:avLst>
              <a:gd name="adj" fmla="val 54545"/>
            </a:avLst>
          </a:prstGeom>
          <a:solidFill>
            <a:srgbClr val="22C55E">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22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22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22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22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22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44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44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44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44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44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44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66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66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66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66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66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66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88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88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88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88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88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88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88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10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10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10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10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10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par>
                                <p:cTn id="113" presetID="10" presetClass="entr" presetSubtype="0" fill="hold" nodeType="withEffect">
                                  <p:stCondLst>
                                    <p:cond delay="132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32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par>
                                <p:cTn id="119" presetID="10" presetClass="entr" presetSubtype="0" fill="hold" nodeType="withEffect">
                                  <p:stCondLst>
                                    <p:cond delay="132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400"/>
                                        <p:tgtEl>
                                          <p:spTgt spid="48"/>
                                        </p:tgtEl>
                                      </p:cBhvr>
                                    </p:animEffect>
                                  </p:childTnLst>
                                </p:cTn>
                              </p:par>
                              <p:par>
                                <p:cTn id="122" presetID="10" presetClass="entr" presetSubtype="0" fill="hold" nodeType="withEffect">
                                  <p:stCondLst>
                                    <p:cond delay="132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400"/>
                                        <p:tgtEl>
                                          <p:spTgt spid="49"/>
                                        </p:tgtEl>
                                      </p:cBhvr>
                                    </p:animEffect>
                                  </p:childTnLst>
                                </p:cTn>
                              </p:par>
                              <p:par>
                                <p:cTn id="125" presetID="10" presetClass="entr" presetSubtype="0" fill="hold" nodeType="withEffect">
                                  <p:stCondLst>
                                    <p:cond delay="132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400"/>
                                        <p:tgtEl>
                                          <p:spTgt spid="50"/>
                                        </p:tgtEl>
                                      </p:cBhvr>
                                    </p:animEffect>
                                  </p:childTnLst>
                                </p:cTn>
                              </p:par>
                              <p:par>
                                <p:cTn id="128" presetID="10" presetClass="entr" presetSubtype="0" fill="hold" nodeType="withEffect">
                                  <p:stCondLst>
                                    <p:cond delay="132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400"/>
                                        <p:tgtEl>
                                          <p:spTgt spid="51"/>
                                        </p:tgtEl>
                                      </p:cBhvr>
                                    </p:animEffect>
                                  </p:childTnLst>
                                </p:cTn>
                              </p:par>
                              <p:par>
                                <p:cTn id="131" presetID="10" presetClass="entr" presetSubtype="0" fill="hold" nodeType="withEffect">
                                  <p:stCondLst>
                                    <p:cond delay="1320"/>
                                  </p:stCondLst>
                                  <p:childTnLst>
                                    <p:set>
                                      <p:cBhvr>
                                        <p:cTn id="132" dur="1" fill="hold">
                                          <p:stCondLst>
                                            <p:cond delay="0"/>
                                          </p:stCondLst>
                                        </p:cTn>
                                        <p:tgtEl>
                                          <p:spTgt spid="52"/>
                                        </p:tgtEl>
                                        <p:attrNameLst>
                                          <p:attrName>style.visibility</p:attrName>
                                        </p:attrNameLst>
                                      </p:cBhvr>
                                      <p:to>
                                        <p:strVal val="visible"/>
                                      </p:to>
                                    </p:set>
                                    <p:animEffect transition="in" filter="fade">
                                      <p:cBhvr>
                                        <p:cTn id="133" dur="400"/>
                                        <p:tgtEl>
                                          <p:spTgt spid="52"/>
                                        </p:tgtEl>
                                      </p:cBhvr>
                                    </p:animEffect>
                                  </p:childTnLst>
                                </p:cTn>
                              </p:par>
                              <p:par>
                                <p:cTn id="134" presetID="10" presetClass="entr" presetSubtype="0" fill="hold" nodeType="withEffect">
                                  <p:stCondLst>
                                    <p:cond delay="1540"/>
                                  </p:stCondLst>
                                  <p:childTnLst>
                                    <p:set>
                                      <p:cBhvr>
                                        <p:cTn id="135" dur="1" fill="hold">
                                          <p:stCondLst>
                                            <p:cond delay="0"/>
                                          </p:stCondLst>
                                        </p:cTn>
                                        <p:tgtEl>
                                          <p:spTgt spid="53"/>
                                        </p:tgtEl>
                                        <p:attrNameLst>
                                          <p:attrName>style.visibility</p:attrName>
                                        </p:attrNameLst>
                                      </p:cBhvr>
                                      <p:to>
                                        <p:strVal val="visible"/>
                                      </p:to>
                                    </p:set>
                                    <p:animEffect transition="in" filter="fade">
                                      <p:cBhvr>
                                        <p:cTn id="136" dur="400"/>
                                        <p:tgtEl>
                                          <p:spTgt spid="5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16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DỮ LIỆU &amp; DỰ BÁO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Mỗi đợt thiên tai để lại dữ liệu cho đợt sau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148840"/>
          </a:xfrm>
          <a:prstGeom prst="roundRect">
            <a:avLst>
              <a:gd name="adj" fmla="val 54545"/>
            </a:avLst>
          </a:prstGeom>
          <a:solidFill>
            <a:srgbClr val="22C55E">
              <a:alpha val="95000"/>
            </a:srgbClr>
          </a:solidFill>
          <a:ln/>
        </p:spPr>
      </p:sp>
      <p:sp>
        <p:nvSpPr>
          <p:cNvPr id="14" name="Text 10"/>
          <p:cNvSpPr/>
          <p:nvPr/>
        </p:nvSpPr>
        <p:spPr>
          <a:xfrm>
            <a:off x="1005840" y="2476246"/>
            <a:ext cx="1991792" cy="549402"/>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Nhiệm vụ đã hoàn</a:t>
            </a:r>
            <a:endParaRPr lang="en-US" sz="1500" dirty="0"/>
          </a:p>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thành</a:t>
            </a:r>
            <a:endParaRPr lang="en-US" sz="1500" dirty="0"/>
          </a:p>
        </p:txBody>
      </p:sp>
      <p:sp>
        <p:nvSpPr>
          <p:cNvPr id="15" name="Text 11"/>
          <p:cNvSpPr/>
          <p:nvPr/>
        </p:nvSpPr>
        <p:spPr>
          <a:xfrm>
            <a:off x="1005840"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Bao nhiêu nhiệm vụ hoàn</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thành, bao nhiêu còn</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dang dở sau mỗi đợt.</a:t>
            </a:r>
            <a:endParaRPr lang="en-US" sz="1200" dirty="0"/>
          </a:p>
        </p:txBody>
      </p:sp>
      <p:sp>
        <p:nvSpPr>
          <p:cNvPr id="16" name="Shape 12"/>
          <p:cNvSpPr/>
          <p:nvPr/>
        </p:nvSpPr>
        <p:spPr>
          <a:xfrm>
            <a:off x="3473120"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17" name="Shape 13"/>
          <p:cNvSpPr/>
          <p:nvPr/>
        </p:nvSpPr>
        <p:spPr>
          <a:xfrm>
            <a:off x="3473120" y="2220214"/>
            <a:ext cx="50292" cy="2148840"/>
          </a:xfrm>
          <a:prstGeom prst="roundRect">
            <a:avLst>
              <a:gd name="adj" fmla="val 54545"/>
            </a:avLst>
          </a:prstGeom>
          <a:solidFill>
            <a:srgbClr val="38BDF8">
              <a:alpha val="95000"/>
            </a:srgbClr>
          </a:solidFill>
          <a:ln/>
        </p:spPr>
      </p:sp>
      <p:sp>
        <p:nvSpPr>
          <p:cNvPr id="18" name="Text 14"/>
          <p:cNvSpPr/>
          <p:nvPr/>
        </p:nvSpPr>
        <p:spPr>
          <a:xfrm>
            <a:off x="3765728" y="2476246"/>
            <a:ext cx="1991792" cy="311277"/>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Vật tư đã sử dụng</a:t>
            </a:r>
            <a:endParaRPr lang="en-US" sz="1500" dirty="0"/>
          </a:p>
        </p:txBody>
      </p:sp>
      <p:sp>
        <p:nvSpPr>
          <p:cNvPr id="19" name="Text 15"/>
          <p:cNvSpPr/>
          <p:nvPr/>
        </p:nvSpPr>
        <p:spPr>
          <a:xfrm>
            <a:off x="3765728"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Thống kê chính xác lượng</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vật tư đã cấp phát cho</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từng nhiệm vụ.</a:t>
            </a:r>
            <a:endParaRPr lang="en-US" sz="1200" dirty="0"/>
          </a:p>
        </p:txBody>
      </p:sp>
      <p:sp>
        <p:nvSpPr>
          <p:cNvPr id="20" name="Shape 16"/>
          <p:cNvSpPr/>
          <p:nvPr/>
        </p:nvSpPr>
        <p:spPr>
          <a:xfrm>
            <a:off x="6233008"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21" name="Shape 17"/>
          <p:cNvSpPr/>
          <p:nvPr/>
        </p:nvSpPr>
        <p:spPr>
          <a:xfrm>
            <a:off x="6233008" y="2220214"/>
            <a:ext cx="50292" cy="2148840"/>
          </a:xfrm>
          <a:prstGeom prst="roundRect">
            <a:avLst>
              <a:gd name="adj" fmla="val 54545"/>
            </a:avLst>
          </a:prstGeom>
          <a:solidFill>
            <a:srgbClr val="F87171">
              <a:alpha val="95000"/>
            </a:srgbClr>
          </a:solidFill>
          <a:ln/>
        </p:spPr>
      </p:sp>
      <p:sp>
        <p:nvSpPr>
          <p:cNvPr id="22" name="Text 18"/>
          <p:cNvSpPr/>
          <p:nvPr/>
        </p:nvSpPr>
        <p:spPr>
          <a:xfrm>
            <a:off x="6525616" y="2476246"/>
            <a:ext cx="1991792" cy="311277"/>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Vật tư thất thoát</a:t>
            </a:r>
            <a:endParaRPr lang="en-US" sz="1500" dirty="0"/>
          </a:p>
        </p:txBody>
      </p:sp>
      <p:sp>
        <p:nvSpPr>
          <p:cNvPr id="23" name="Text 19"/>
          <p:cNvSpPr/>
          <p:nvPr/>
        </p:nvSpPr>
        <p:spPr>
          <a:xfrm>
            <a:off x="6525616"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Ghi nhận phần thất thoát</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trong quá trình cứu hộ để</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rút kinh nghiệm.</a:t>
            </a:r>
            <a:endParaRPr lang="en-US" sz="1200" dirty="0"/>
          </a:p>
        </p:txBody>
      </p:sp>
      <p:sp>
        <p:nvSpPr>
          <p:cNvPr id="24" name="Shape 20"/>
          <p:cNvSpPr/>
          <p:nvPr/>
        </p:nvSpPr>
        <p:spPr>
          <a:xfrm>
            <a:off x="8992895"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25" name="Shape 21"/>
          <p:cNvSpPr/>
          <p:nvPr/>
        </p:nvSpPr>
        <p:spPr>
          <a:xfrm>
            <a:off x="8992895" y="2220214"/>
            <a:ext cx="50292" cy="2148840"/>
          </a:xfrm>
          <a:prstGeom prst="roundRect">
            <a:avLst>
              <a:gd name="adj" fmla="val 54545"/>
            </a:avLst>
          </a:prstGeom>
          <a:solidFill>
            <a:srgbClr val="FBBF24">
              <a:alpha val="95000"/>
            </a:srgbClr>
          </a:solidFill>
          <a:ln/>
        </p:spPr>
      </p:sp>
      <p:sp>
        <p:nvSpPr>
          <p:cNvPr id="26" name="Text 22"/>
          <p:cNvSpPr/>
          <p:nvPr/>
        </p:nvSpPr>
        <p:spPr>
          <a:xfrm>
            <a:off x="9285503" y="2476246"/>
            <a:ext cx="1991792" cy="311277"/>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Lưu trữ lâu dài</a:t>
            </a:r>
            <a:endParaRPr lang="en-US" sz="1500" dirty="0"/>
          </a:p>
        </p:txBody>
      </p:sp>
      <p:sp>
        <p:nvSpPr>
          <p:cNvPr id="27" name="Text 23"/>
          <p:cNvSpPr/>
          <p:nvPr/>
        </p:nvSpPr>
        <p:spPr>
          <a:xfrm>
            <a:off x="9285503"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Tra cứu dữ liệu của nhiều</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năm trước chỉ trong vài</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giây.</a:t>
            </a:r>
            <a:endParaRPr lang="en-US" sz="1200" dirty="0"/>
          </a:p>
        </p:txBody>
      </p:sp>
      <p:sp>
        <p:nvSpPr>
          <p:cNvPr id="28" name="Shape 24"/>
          <p:cNvSpPr/>
          <p:nvPr/>
        </p:nvSpPr>
        <p:spPr>
          <a:xfrm>
            <a:off x="713232" y="4753102"/>
            <a:ext cx="10765231" cy="1051560"/>
          </a:xfrm>
          <a:prstGeom prst="roundRect">
            <a:avLst>
              <a:gd name="adj" fmla="val 10435"/>
            </a:avLst>
          </a:prstGeom>
          <a:solidFill>
            <a:srgbClr val="22C55E">
              <a:alpha val="12000"/>
            </a:srgbClr>
          </a:solidFill>
          <a:ln w="12700">
            <a:solidFill>
              <a:srgbClr val="22C55E">
                <a:alpha val="45000"/>
              </a:srgbClr>
            </a:solidFill>
            <a:prstDash val="solid"/>
          </a:ln>
        </p:spPr>
      </p:sp>
      <p:sp>
        <p:nvSpPr>
          <p:cNvPr id="29" name="Shape 25"/>
          <p:cNvSpPr/>
          <p:nvPr/>
        </p:nvSpPr>
        <p:spPr>
          <a:xfrm>
            <a:off x="713232" y="4753102"/>
            <a:ext cx="54864" cy="1051560"/>
          </a:xfrm>
          <a:prstGeom prst="roundRect">
            <a:avLst>
              <a:gd name="adj" fmla="val 50000"/>
            </a:avLst>
          </a:prstGeom>
          <a:solidFill>
            <a:srgbClr val="22C55E"/>
          </a:solidFill>
          <a:ln/>
        </p:spPr>
      </p:sp>
      <p:sp>
        <p:nvSpPr>
          <p:cNvPr id="30" name="Text 26"/>
          <p:cNvSpPr/>
          <p:nvPr/>
        </p:nvSpPr>
        <p:spPr>
          <a:xfrm>
            <a:off x="1097280" y="4954270"/>
            <a:ext cx="10088575" cy="607187"/>
          </a:xfrm>
          <a:prstGeom prst="rect">
            <a:avLst/>
          </a:prstGeom>
          <a:noFill/>
          <a:ln/>
        </p:spPr>
        <p:txBody>
          <a:bodyPr wrap="square" lIns="0" tIns="0" rIns="0" bIns="0" rtlCol="0" anchor="t"/>
          <a:lstStyle/>
          <a:p>
            <a:pPr marL="0" indent="0" algn="l">
              <a:lnSpc>
                <a:spcPts val="2103"/>
              </a:lnSpc>
              <a:buNone/>
            </a:pPr>
            <a:r>
              <a:rPr lang="en-US" sz="1450" b="1" dirty="0">
                <a:solidFill>
                  <a:srgbClr val="FFFFFF"/>
                </a:solidFill>
                <a:latin typeface="Be Vietnam Pro" pitchFamily="34" charset="0"/>
                <a:ea typeface="Be Vietnam Pro" pitchFamily="34" charset="-122"/>
                <a:cs typeface="Be Vietnam Pro" pitchFamily="34" charset="-120"/>
              </a:rPr>
              <a:t>Dựa trên dữ liệu thực tế của những năm trước, người quản lý lập kế hoạch dự trữ sát với nhu cầu hơn — chuẩn</a:t>
            </a:r>
            <a:endParaRPr lang="en-US" sz="1450" dirty="0"/>
          </a:p>
          <a:p>
            <a:pPr marL="0" indent="0" algn="l">
              <a:lnSpc>
                <a:spcPts val="2103"/>
              </a:lnSpc>
              <a:buNone/>
            </a:pPr>
            <a:r>
              <a:rPr lang="en-US" sz="1450" b="1" dirty="0">
                <a:solidFill>
                  <a:srgbClr val="FFFFFF"/>
                </a:solidFill>
                <a:latin typeface="Be Vietnam Pro" pitchFamily="34" charset="0"/>
                <a:ea typeface="Be Vietnam Pro" pitchFamily="34" charset="-122"/>
                <a:cs typeface="Be Vietnam Pro" pitchFamily="34" charset="-120"/>
              </a:rPr>
              <a:t>bị trước khi thiên tai đến, thay vì xoay xở khi đã xảy ra.</a:t>
            </a:r>
            <a:endParaRPr lang="en-US" sz="14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17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PHẦN KHO · TỔNG QUAN</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Điều phối chỉ đúng khi số liệu kho là thật</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515600" cy="57099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Toàn bộ luồng ở trên đứng trên một giả định: hệ thống biết chính xác mỗi kho đang có gì và dùng được bao nhiêu. </a:t>
            </a:r>
          </a:p>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6</a:t>
            </a:r>
            <a:r>
              <a:rPr lang="en-US" sz="1400" dirty="0"/>
              <a:t> </a:t>
            </a:r>
            <a:r>
              <a:rPr lang="en-US" sz="1400" dirty="0" err="1">
                <a:solidFill>
                  <a:srgbClr val="9BB0C6"/>
                </a:solidFill>
                <a:latin typeface="Be Vietnam Pro" pitchFamily="34" charset="0"/>
                <a:ea typeface="Be Vietnam Pro" pitchFamily="34" charset="-122"/>
                <a:cs typeface="Be Vietnam Pro" pitchFamily="34" charset="-120"/>
              </a:rPr>
              <a:t>phần</a:t>
            </a:r>
            <a:r>
              <a:rPr lang="en-US" sz="1400" dirty="0">
                <a:solidFill>
                  <a:srgbClr val="9BB0C6"/>
                </a:solidFill>
                <a:latin typeface="Be Vietnam Pro" pitchFamily="34" charset="0"/>
                <a:ea typeface="Be Vietnam Pro" pitchFamily="34" charset="-122"/>
                <a:cs typeface="Be Vietnam Pro" pitchFamily="34" charset="-120"/>
              </a:rPr>
              <a:t> tiếp theo nói về cách chúng em giữ cho con số đó đáng tin.</a:t>
            </a:r>
            <a:endParaRPr lang="en-US" sz="1400" dirty="0"/>
          </a:p>
        </p:txBody>
      </p:sp>
      <p:sp>
        <p:nvSpPr>
          <p:cNvPr id="13" name="Shape 9"/>
          <p:cNvSpPr/>
          <p:nvPr/>
        </p:nvSpPr>
        <p:spPr>
          <a:xfrm>
            <a:off x="713232" y="308381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14" name="Shape 10"/>
          <p:cNvSpPr/>
          <p:nvPr/>
        </p:nvSpPr>
        <p:spPr>
          <a:xfrm>
            <a:off x="713232" y="3083814"/>
            <a:ext cx="50292" cy="1316736"/>
          </a:xfrm>
          <a:prstGeom prst="roundRect">
            <a:avLst>
              <a:gd name="adj" fmla="val 54545"/>
            </a:avLst>
          </a:prstGeom>
          <a:solidFill>
            <a:srgbClr val="22C55E">
              <a:alpha val="95000"/>
            </a:srgbClr>
          </a:solidFill>
          <a:ln/>
        </p:spPr>
      </p:sp>
      <p:sp>
        <p:nvSpPr>
          <p:cNvPr id="15" name="Text 11"/>
          <p:cNvSpPr/>
          <p:nvPr/>
        </p:nvSpPr>
        <p:spPr>
          <a:xfrm>
            <a:off x="987552" y="330327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22C55E"/>
                </a:solidFill>
                <a:latin typeface="Be Vietnam Pro" pitchFamily="34" charset="0"/>
                <a:ea typeface="Be Vietnam Pro" pitchFamily="34" charset="-122"/>
                <a:cs typeface="Be Vietnam Pro" pitchFamily="34" charset="-120"/>
              </a:rPr>
              <a:t>01</a:t>
            </a:r>
            <a:endParaRPr lang="en-US" sz="1300" dirty="0"/>
          </a:p>
        </p:txBody>
      </p:sp>
      <p:sp>
        <p:nvSpPr>
          <p:cNvPr id="16" name="Text 12"/>
          <p:cNvSpPr/>
          <p:nvPr/>
        </p:nvSpPr>
        <p:spPr>
          <a:xfrm>
            <a:off x="1536192" y="328498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Quản lý kho tập trung</a:t>
            </a:r>
            <a:endParaRPr lang="en-US" sz="1450" dirty="0"/>
          </a:p>
        </p:txBody>
      </p:sp>
      <p:sp>
        <p:nvSpPr>
          <p:cNvPr id="17" name="Text 13"/>
          <p:cNvSpPr/>
          <p:nvPr/>
        </p:nvSpPr>
        <p:spPr>
          <a:xfrm>
            <a:off x="987552" y="372389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18 kho chung một sổ, mỗi lô hàng mang</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hai chiều trạng thái tách rời.</a:t>
            </a:r>
            <a:endParaRPr lang="en-US" sz="1150" dirty="0"/>
          </a:p>
        </p:txBody>
      </p:sp>
      <p:sp>
        <p:nvSpPr>
          <p:cNvPr id="18" name="Shape 14"/>
          <p:cNvSpPr/>
          <p:nvPr/>
        </p:nvSpPr>
        <p:spPr>
          <a:xfrm>
            <a:off x="4393082" y="308381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19" name="Shape 15"/>
          <p:cNvSpPr/>
          <p:nvPr/>
        </p:nvSpPr>
        <p:spPr>
          <a:xfrm>
            <a:off x="4393082" y="3083814"/>
            <a:ext cx="50292" cy="1316736"/>
          </a:xfrm>
          <a:prstGeom prst="roundRect">
            <a:avLst>
              <a:gd name="adj" fmla="val 54545"/>
            </a:avLst>
          </a:prstGeom>
          <a:solidFill>
            <a:srgbClr val="38BDF8">
              <a:alpha val="95000"/>
            </a:srgbClr>
          </a:solidFill>
          <a:ln/>
        </p:spPr>
      </p:sp>
      <p:sp>
        <p:nvSpPr>
          <p:cNvPr id="20" name="Text 16"/>
          <p:cNvSpPr/>
          <p:nvPr/>
        </p:nvSpPr>
        <p:spPr>
          <a:xfrm>
            <a:off x="4667402" y="330327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38BDF8"/>
                </a:solidFill>
                <a:latin typeface="Be Vietnam Pro" pitchFamily="34" charset="0"/>
                <a:ea typeface="Be Vietnam Pro" pitchFamily="34" charset="-122"/>
                <a:cs typeface="Be Vietnam Pro" pitchFamily="34" charset="-120"/>
              </a:rPr>
              <a:t>02</a:t>
            </a:r>
            <a:endParaRPr lang="en-US" sz="1300" dirty="0"/>
          </a:p>
        </p:txBody>
      </p:sp>
      <p:sp>
        <p:nvSpPr>
          <p:cNvPr id="21" name="Text 17"/>
          <p:cNvSpPr/>
          <p:nvPr/>
        </p:nvSpPr>
        <p:spPr>
          <a:xfrm>
            <a:off x="5216042" y="328498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Chỉ số sẵn sàng</a:t>
            </a:r>
            <a:endParaRPr lang="en-US" sz="1450" dirty="0"/>
          </a:p>
        </p:txBody>
      </p:sp>
      <p:sp>
        <p:nvSpPr>
          <p:cNvPr id="22" name="Text 18"/>
          <p:cNvSpPr/>
          <p:nvPr/>
        </p:nvSpPr>
        <p:spPr>
          <a:xfrm>
            <a:off x="4667402" y="372389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Chấm theo 6 chiều ở 4 cấp, mỗi điểm</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trừ kèm lý do và việc phải làm.</a:t>
            </a:r>
            <a:endParaRPr lang="en-US" sz="1150" dirty="0"/>
          </a:p>
        </p:txBody>
      </p:sp>
      <p:sp>
        <p:nvSpPr>
          <p:cNvPr id="23" name="Shape 19"/>
          <p:cNvSpPr/>
          <p:nvPr/>
        </p:nvSpPr>
        <p:spPr>
          <a:xfrm>
            <a:off x="8072933" y="308381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24" name="Shape 20"/>
          <p:cNvSpPr/>
          <p:nvPr/>
        </p:nvSpPr>
        <p:spPr>
          <a:xfrm>
            <a:off x="8072933" y="3083814"/>
            <a:ext cx="50292" cy="1316736"/>
          </a:xfrm>
          <a:prstGeom prst="roundRect">
            <a:avLst>
              <a:gd name="adj" fmla="val 54545"/>
            </a:avLst>
          </a:prstGeom>
          <a:solidFill>
            <a:srgbClr val="FBBF24">
              <a:alpha val="95000"/>
            </a:srgbClr>
          </a:solidFill>
          <a:ln/>
        </p:spPr>
      </p:sp>
      <p:sp>
        <p:nvSpPr>
          <p:cNvPr id="25" name="Text 21"/>
          <p:cNvSpPr/>
          <p:nvPr/>
        </p:nvSpPr>
        <p:spPr>
          <a:xfrm>
            <a:off x="8347253" y="330327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FBBF24"/>
                </a:solidFill>
                <a:latin typeface="Be Vietnam Pro" pitchFamily="34" charset="0"/>
                <a:ea typeface="Be Vietnam Pro" pitchFamily="34" charset="-122"/>
                <a:cs typeface="Be Vietnam Pro" pitchFamily="34" charset="-120"/>
              </a:rPr>
              <a:t>03</a:t>
            </a:r>
            <a:endParaRPr lang="en-US" sz="1300" dirty="0"/>
          </a:p>
        </p:txBody>
      </p:sp>
      <p:sp>
        <p:nvSpPr>
          <p:cNvPr id="26" name="Text 22"/>
          <p:cNvSpPr/>
          <p:nvPr/>
        </p:nvSpPr>
        <p:spPr>
          <a:xfrm>
            <a:off x="8895893" y="328498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Tồn kho toàn xã</a:t>
            </a:r>
            <a:endParaRPr lang="en-US" sz="1450" dirty="0"/>
          </a:p>
        </p:txBody>
      </p:sp>
      <p:sp>
        <p:nvSpPr>
          <p:cNvPr id="27" name="Text 23"/>
          <p:cNvSpPr/>
          <p:nvPr/>
        </p:nvSpPr>
        <p:spPr>
          <a:xfrm>
            <a:off x="8347253" y="372389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Gộp cả xã vào một bảng để không xin</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chi viện khi hàng còn ở thôn bên.</a:t>
            </a:r>
            <a:endParaRPr lang="en-US" sz="1150" dirty="0"/>
          </a:p>
        </p:txBody>
      </p:sp>
      <p:sp>
        <p:nvSpPr>
          <p:cNvPr id="28" name="Shape 24"/>
          <p:cNvSpPr/>
          <p:nvPr/>
        </p:nvSpPr>
        <p:spPr>
          <a:xfrm>
            <a:off x="713232" y="463829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29" name="Shape 25"/>
          <p:cNvSpPr/>
          <p:nvPr/>
        </p:nvSpPr>
        <p:spPr>
          <a:xfrm>
            <a:off x="713232" y="4638294"/>
            <a:ext cx="50292" cy="1316736"/>
          </a:xfrm>
          <a:prstGeom prst="roundRect">
            <a:avLst>
              <a:gd name="adj" fmla="val 54545"/>
            </a:avLst>
          </a:prstGeom>
          <a:solidFill>
            <a:srgbClr val="FB923C">
              <a:alpha val="95000"/>
            </a:srgbClr>
          </a:solidFill>
          <a:ln/>
        </p:spPr>
      </p:sp>
      <p:sp>
        <p:nvSpPr>
          <p:cNvPr id="30" name="Text 26"/>
          <p:cNvSpPr/>
          <p:nvPr/>
        </p:nvSpPr>
        <p:spPr>
          <a:xfrm>
            <a:off x="987552" y="485775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FB923C"/>
                </a:solidFill>
                <a:latin typeface="Be Vietnam Pro" pitchFamily="34" charset="0"/>
                <a:ea typeface="Be Vietnam Pro" pitchFamily="34" charset="-122"/>
                <a:cs typeface="Be Vietnam Pro" pitchFamily="34" charset="-120"/>
              </a:rPr>
              <a:t>04</a:t>
            </a:r>
            <a:endParaRPr lang="en-US" sz="1300" dirty="0"/>
          </a:p>
        </p:txBody>
      </p:sp>
      <p:sp>
        <p:nvSpPr>
          <p:cNvPr id="31" name="Text 27"/>
          <p:cNvSpPr/>
          <p:nvPr/>
        </p:nvSpPr>
        <p:spPr>
          <a:xfrm>
            <a:off x="1536192" y="483946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Cảm biến IoT</a:t>
            </a:r>
            <a:endParaRPr lang="en-US" sz="1450" dirty="0"/>
          </a:p>
        </p:txBody>
      </p:sp>
      <p:sp>
        <p:nvSpPr>
          <p:cNvPr id="32" name="Text 28"/>
          <p:cNvSpPr/>
          <p:nvPr/>
        </p:nvSpPr>
        <p:spPr>
          <a:xfrm>
            <a:off x="987552" y="527837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Theo dõi môi trường kho, lọc báo động</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giả và không bỏ qua thiết bị im lặng.</a:t>
            </a:r>
            <a:endParaRPr lang="en-US" sz="1150" dirty="0"/>
          </a:p>
        </p:txBody>
      </p:sp>
      <p:sp>
        <p:nvSpPr>
          <p:cNvPr id="33" name="Shape 29"/>
          <p:cNvSpPr/>
          <p:nvPr/>
        </p:nvSpPr>
        <p:spPr>
          <a:xfrm>
            <a:off x="4393082" y="463829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34" name="Shape 30"/>
          <p:cNvSpPr/>
          <p:nvPr/>
        </p:nvSpPr>
        <p:spPr>
          <a:xfrm>
            <a:off x="4393082" y="4638294"/>
            <a:ext cx="50292" cy="1316736"/>
          </a:xfrm>
          <a:prstGeom prst="roundRect">
            <a:avLst>
              <a:gd name="adj" fmla="val 54545"/>
            </a:avLst>
          </a:prstGeom>
          <a:solidFill>
            <a:srgbClr val="F87171">
              <a:alpha val="95000"/>
            </a:srgbClr>
          </a:solidFill>
          <a:ln/>
        </p:spPr>
      </p:sp>
      <p:sp>
        <p:nvSpPr>
          <p:cNvPr id="35" name="Text 31"/>
          <p:cNvSpPr/>
          <p:nvPr/>
        </p:nvSpPr>
        <p:spPr>
          <a:xfrm>
            <a:off x="4667402" y="485775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F87171"/>
                </a:solidFill>
                <a:latin typeface="Be Vietnam Pro" pitchFamily="34" charset="0"/>
                <a:ea typeface="Be Vietnam Pro" pitchFamily="34" charset="-122"/>
                <a:cs typeface="Be Vietnam Pro" pitchFamily="34" charset="-120"/>
              </a:rPr>
              <a:t>05</a:t>
            </a:r>
            <a:endParaRPr lang="en-US" sz="1300" dirty="0"/>
          </a:p>
        </p:txBody>
      </p:sp>
      <p:sp>
        <p:nvSpPr>
          <p:cNvPr id="36" name="Text 32"/>
          <p:cNvSpPr/>
          <p:nvPr/>
        </p:nvSpPr>
        <p:spPr>
          <a:xfrm>
            <a:off x="5216042" y="483946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Nói thẳng về phần cứng</a:t>
            </a:r>
            <a:endParaRPr lang="en-US" sz="1450" dirty="0"/>
          </a:p>
        </p:txBody>
      </p:sp>
      <p:sp>
        <p:nvSpPr>
          <p:cNvPr id="37" name="Text 33"/>
          <p:cNvSpPr/>
          <p:nvPr/>
        </p:nvSpPr>
        <p:spPr>
          <a:xfrm>
            <a:off x="4667402" y="527837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Phần nào đã chạy thật, phần nào còn là</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bản sao số đang mô phỏng.</a:t>
            </a:r>
            <a:endParaRPr lang="en-US" sz="1150" dirty="0"/>
          </a:p>
        </p:txBody>
      </p:sp>
      <p:sp>
        <p:nvSpPr>
          <p:cNvPr id="38" name="Shape 34"/>
          <p:cNvSpPr/>
          <p:nvPr/>
        </p:nvSpPr>
        <p:spPr>
          <a:xfrm>
            <a:off x="8072933" y="463829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39" name="Shape 35"/>
          <p:cNvSpPr/>
          <p:nvPr/>
        </p:nvSpPr>
        <p:spPr>
          <a:xfrm>
            <a:off x="8072933" y="4638294"/>
            <a:ext cx="50292" cy="1316736"/>
          </a:xfrm>
          <a:prstGeom prst="roundRect">
            <a:avLst>
              <a:gd name="adj" fmla="val 54545"/>
            </a:avLst>
          </a:prstGeom>
          <a:solidFill>
            <a:srgbClr val="6EE7A8">
              <a:alpha val="95000"/>
            </a:srgbClr>
          </a:solidFill>
          <a:ln/>
        </p:spPr>
      </p:sp>
      <p:sp>
        <p:nvSpPr>
          <p:cNvPr id="40" name="Text 36"/>
          <p:cNvSpPr/>
          <p:nvPr/>
        </p:nvSpPr>
        <p:spPr>
          <a:xfrm>
            <a:off x="8347253" y="485775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6EE7A8"/>
                </a:solidFill>
                <a:latin typeface="Be Vietnam Pro" pitchFamily="34" charset="0"/>
                <a:ea typeface="Be Vietnam Pro" pitchFamily="34" charset="-122"/>
                <a:cs typeface="Be Vietnam Pro" pitchFamily="34" charset="-120"/>
              </a:rPr>
              <a:t>06</a:t>
            </a:r>
            <a:endParaRPr lang="en-US" sz="1300" dirty="0"/>
          </a:p>
        </p:txBody>
      </p:sp>
      <p:sp>
        <p:nvSpPr>
          <p:cNvPr id="41" name="Text 37"/>
          <p:cNvSpPr/>
          <p:nvPr/>
        </p:nvSpPr>
        <p:spPr>
          <a:xfrm>
            <a:off x="8895893" y="483946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Trợ lý AI hỏi đáp kho</a:t>
            </a:r>
            <a:endParaRPr lang="en-US" sz="1450" dirty="0"/>
          </a:p>
        </p:txBody>
      </p:sp>
      <p:sp>
        <p:nvSpPr>
          <p:cNvPr id="42" name="Text 38"/>
          <p:cNvSpPr/>
          <p:nvPr/>
        </p:nvSpPr>
        <p:spPr>
          <a:xfrm>
            <a:off x="8347253" y="527837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Mọi con số trong câu trả lời đều đối</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chiếu lại với dữ liệu kho.</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66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66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88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32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32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54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54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54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54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54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176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76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76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76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76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18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QUẢN LÝ KHO TẬP TRUNG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Không hỏi còn bao nhiêu — hỏi dùng được bao nhiêu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114800" cy="3017520"/>
          </a:xfrm>
          <a:prstGeom prst="roundRect">
            <a:avLst>
              <a:gd name="adj" fmla="val 3636"/>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017520"/>
          </a:xfrm>
          <a:prstGeom prst="roundRect">
            <a:avLst>
              <a:gd name="adj" fmla="val 54545"/>
            </a:avLst>
          </a:prstGeom>
          <a:solidFill>
            <a:srgbClr val="22C55E">
              <a:alpha val="95000"/>
            </a:srgbClr>
          </a:solidFill>
          <a:ln/>
        </p:spPr>
      </p:sp>
      <p:sp>
        <p:nvSpPr>
          <p:cNvPr id="14" name="Text 10"/>
          <p:cNvSpPr/>
          <p:nvPr/>
        </p:nvSpPr>
        <p:spPr>
          <a:xfrm>
            <a:off x="1024128" y="2476246"/>
            <a:ext cx="3584448"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22C55E"/>
                </a:solidFill>
                <a:latin typeface="Be Vietnam Pro" pitchFamily="34" charset="0"/>
                <a:ea typeface="Be Vietnam Pro" pitchFamily="34" charset="-122"/>
                <a:cs typeface="Be Vietnam Pro" pitchFamily="34" charset="-120"/>
              </a:rPr>
              <a:t>MỘT SỔ KHO DUY NHẤT</a:t>
            </a:r>
            <a:endParaRPr lang="en-US" sz="1050" dirty="0"/>
          </a:p>
        </p:txBody>
      </p:sp>
      <p:sp>
        <p:nvSpPr>
          <p:cNvPr id="15" name="Shape 11"/>
          <p:cNvSpPr/>
          <p:nvPr/>
        </p:nvSpPr>
        <p:spPr>
          <a:xfrm>
            <a:off x="1024128" y="2878582"/>
            <a:ext cx="3493008" cy="768096"/>
          </a:xfrm>
          <a:prstGeom prst="roundRect">
            <a:avLst>
              <a:gd name="adj" fmla="val 11905"/>
            </a:avLst>
          </a:prstGeom>
          <a:solidFill>
            <a:srgbClr val="FFFFFF">
              <a:alpha val="7000"/>
            </a:srgbClr>
          </a:solidFill>
          <a:ln w="12700">
            <a:solidFill>
              <a:srgbClr val="FFFFFF">
                <a:alpha val="14000"/>
              </a:srgbClr>
            </a:solidFill>
            <a:prstDash val="solid"/>
          </a:ln>
        </p:spPr>
      </p:sp>
      <p:sp>
        <p:nvSpPr>
          <p:cNvPr id="16" name="Text 12"/>
          <p:cNvSpPr/>
          <p:nvPr/>
        </p:nvSpPr>
        <p:spPr>
          <a:xfrm>
            <a:off x="1207008" y="2988310"/>
            <a:ext cx="1005840" cy="518922"/>
          </a:xfrm>
          <a:prstGeom prst="rect">
            <a:avLst/>
          </a:prstGeom>
          <a:noFill/>
          <a:ln/>
        </p:spPr>
        <p:txBody>
          <a:bodyPr wrap="square" lIns="0" tIns="0" rIns="0" bIns="0" rtlCol="0" anchor="t"/>
          <a:lstStyle/>
          <a:p>
            <a:pPr marL="0" indent="0" algn="l">
              <a:lnSpc>
                <a:spcPts val="3510"/>
              </a:lnSpc>
              <a:buNone/>
            </a:pPr>
            <a:r>
              <a:rPr lang="en-US" sz="2600" b="1" dirty="0">
                <a:solidFill>
                  <a:srgbClr val="6EE7A8"/>
                </a:solidFill>
                <a:latin typeface="Be Vietnam Pro" pitchFamily="34" charset="0"/>
                <a:ea typeface="Be Vietnam Pro" pitchFamily="34" charset="-122"/>
                <a:cs typeface="Be Vietnam Pro" pitchFamily="34" charset="-120"/>
              </a:rPr>
              <a:t>01</a:t>
            </a:r>
            <a:endParaRPr lang="en-US" sz="2600" dirty="0"/>
          </a:p>
        </p:txBody>
      </p:sp>
      <p:sp>
        <p:nvSpPr>
          <p:cNvPr id="17" name="Text 13"/>
          <p:cNvSpPr/>
          <p:nvPr/>
        </p:nvSpPr>
        <p:spPr>
          <a:xfrm>
            <a:off x="2066544" y="3125470"/>
            <a:ext cx="2468880" cy="313182"/>
          </a:xfrm>
          <a:prstGeom prst="rect">
            <a:avLst/>
          </a:prstGeom>
          <a:noFill/>
          <a:ln/>
        </p:spPr>
        <p:txBody>
          <a:bodyPr wrap="square" lIns="0" tIns="0" rIns="0" bIns="0" rtlCol="0" anchor="t"/>
          <a:lstStyle/>
          <a:p>
            <a:pPr marL="0" indent="0" algn="l">
              <a:lnSpc>
                <a:spcPts val="1890"/>
              </a:lnSpc>
              <a:buNone/>
            </a:pPr>
            <a:r>
              <a:rPr lang="en-US" sz="1400" b="1" dirty="0">
                <a:solidFill>
                  <a:srgbClr val="D9E6F2"/>
                </a:solidFill>
                <a:latin typeface="Be Vietnam Pro" pitchFamily="34" charset="0"/>
                <a:ea typeface="Be Vietnam Pro" pitchFamily="34" charset="-122"/>
                <a:cs typeface="Be Vietnam Pro" pitchFamily="34" charset="-120"/>
              </a:rPr>
              <a:t>kho tổng</a:t>
            </a:r>
            <a:endParaRPr lang="en-US" sz="1400" dirty="0"/>
          </a:p>
        </p:txBody>
      </p:sp>
      <p:sp>
        <p:nvSpPr>
          <p:cNvPr id="18" name="Shape 14"/>
          <p:cNvSpPr/>
          <p:nvPr/>
        </p:nvSpPr>
        <p:spPr>
          <a:xfrm>
            <a:off x="1024128" y="3738118"/>
            <a:ext cx="3493008" cy="768096"/>
          </a:xfrm>
          <a:prstGeom prst="roundRect">
            <a:avLst>
              <a:gd name="adj" fmla="val 11905"/>
            </a:avLst>
          </a:prstGeom>
          <a:solidFill>
            <a:srgbClr val="FFFFFF">
              <a:alpha val="7000"/>
            </a:srgbClr>
          </a:solidFill>
          <a:ln w="12700">
            <a:solidFill>
              <a:srgbClr val="FFFFFF">
                <a:alpha val="14000"/>
              </a:srgbClr>
            </a:solidFill>
            <a:prstDash val="solid"/>
          </a:ln>
        </p:spPr>
      </p:sp>
      <p:sp>
        <p:nvSpPr>
          <p:cNvPr id="19" name="Text 15"/>
          <p:cNvSpPr/>
          <p:nvPr/>
        </p:nvSpPr>
        <p:spPr>
          <a:xfrm>
            <a:off x="1207008" y="3847846"/>
            <a:ext cx="1005840" cy="518922"/>
          </a:xfrm>
          <a:prstGeom prst="rect">
            <a:avLst/>
          </a:prstGeom>
          <a:noFill/>
          <a:ln/>
        </p:spPr>
        <p:txBody>
          <a:bodyPr wrap="square" lIns="0" tIns="0" rIns="0" bIns="0" rtlCol="0" anchor="t"/>
          <a:lstStyle/>
          <a:p>
            <a:pPr marL="0" indent="0" algn="l">
              <a:lnSpc>
                <a:spcPts val="3510"/>
              </a:lnSpc>
              <a:buNone/>
            </a:pPr>
            <a:r>
              <a:rPr lang="en-US" sz="2600" b="1" dirty="0">
                <a:solidFill>
                  <a:srgbClr val="6EE7A8"/>
                </a:solidFill>
                <a:latin typeface="Be Vietnam Pro" pitchFamily="34" charset="0"/>
                <a:ea typeface="Be Vietnam Pro" pitchFamily="34" charset="-122"/>
                <a:cs typeface="Be Vietnam Pro" pitchFamily="34" charset="-120"/>
              </a:rPr>
              <a:t>17</a:t>
            </a:r>
            <a:endParaRPr lang="en-US" sz="2600" dirty="0"/>
          </a:p>
        </p:txBody>
      </p:sp>
      <p:sp>
        <p:nvSpPr>
          <p:cNvPr id="20" name="Text 16"/>
          <p:cNvSpPr/>
          <p:nvPr/>
        </p:nvSpPr>
        <p:spPr>
          <a:xfrm>
            <a:off x="2066544" y="3985006"/>
            <a:ext cx="2468880" cy="313182"/>
          </a:xfrm>
          <a:prstGeom prst="rect">
            <a:avLst/>
          </a:prstGeom>
          <a:noFill/>
          <a:ln/>
        </p:spPr>
        <p:txBody>
          <a:bodyPr wrap="square" lIns="0" tIns="0" rIns="0" bIns="0" rtlCol="0" anchor="t"/>
          <a:lstStyle/>
          <a:p>
            <a:pPr marL="0" indent="0" algn="l">
              <a:lnSpc>
                <a:spcPts val="1890"/>
              </a:lnSpc>
              <a:buNone/>
            </a:pPr>
            <a:r>
              <a:rPr lang="en-US" sz="1400" b="1" dirty="0">
                <a:solidFill>
                  <a:srgbClr val="D9E6F2"/>
                </a:solidFill>
                <a:latin typeface="Be Vietnam Pro" pitchFamily="34" charset="0"/>
                <a:ea typeface="Be Vietnam Pro" pitchFamily="34" charset="-122"/>
                <a:cs typeface="Be Vietnam Pro" pitchFamily="34" charset="-120"/>
              </a:rPr>
              <a:t>kho thôn</a:t>
            </a:r>
            <a:endParaRPr lang="en-US" sz="1400" dirty="0"/>
          </a:p>
        </p:txBody>
      </p:sp>
      <p:sp>
        <p:nvSpPr>
          <p:cNvPr id="21" name="Text 17"/>
          <p:cNvSpPr/>
          <p:nvPr/>
        </p:nvSpPr>
        <p:spPr>
          <a:xfrm>
            <a:off x="1024128" y="4634230"/>
            <a:ext cx="3584448" cy="533527"/>
          </a:xfrm>
          <a:prstGeom prst="rect">
            <a:avLst/>
          </a:prstGeom>
          <a:noFill/>
          <a:ln/>
        </p:spPr>
        <p:txBody>
          <a:bodyPr wrap="square" lIns="0" tIns="0" rIns="0" bIns="0" rtlCol="0" anchor="t"/>
          <a:lstStyle/>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Tồn kho, lịch sử nhập — xuất và thông tin</a:t>
            </a:r>
            <a:endParaRPr lang="en-US" sz="1250" dirty="0"/>
          </a:p>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từng kho nằm chung một hệ thống.</a:t>
            </a:r>
            <a:endParaRPr lang="en-US" sz="1250" dirty="0"/>
          </a:p>
        </p:txBody>
      </p:sp>
      <p:sp>
        <p:nvSpPr>
          <p:cNvPr id="22" name="Shape 18"/>
          <p:cNvSpPr/>
          <p:nvPr/>
        </p:nvSpPr>
        <p:spPr>
          <a:xfrm>
            <a:off x="5175504" y="2220214"/>
            <a:ext cx="3014320" cy="2395728"/>
          </a:xfrm>
          <a:prstGeom prst="roundRect">
            <a:avLst>
              <a:gd name="adj" fmla="val 4580"/>
            </a:avLst>
          </a:prstGeom>
          <a:solidFill>
            <a:srgbClr val="091B2D">
              <a:alpha val="66000"/>
            </a:srgbClr>
          </a:solidFill>
          <a:ln w="12700">
            <a:solidFill>
              <a:srgbClr val="FFFFFF">
                <a:alpha val="12000"/>
              </a:srgbClr>
            </a:solidFill>
            <a:prstDash val="solid"/>
          </a:ln>
        </p:spPr>
      </p:sp>
      <p:sp>
        <p:nvSpPr>
          <p:cNvPr id="23" name="Shape 19"/>
          <p:cNvSpPr/>
          <p:nvPr/>
        </p:nvSpPr>
        <p:spPr>
          <a:xfrm>
            <a:off x="5175504" y="2220214"/>
            <a:ext cx="50292" cy="2395728"/>
          </a:xfrm>
          <a:prstGeom prst="roundRect">
            <a:avLst>
              <a:gd name="adj" fmla="val 54545"/>
            </a:avLst>
          </a:prstGeom>
          <a:solidFill>
            <a:srgbClr val="38BDF8">
              <a:alpha val="95000"/>
            </a:srgbClr>
          </a:solidFill>
          <a:ln/>
        </p:spPr>
      </p:sp>
      <p:sp>
        <p:nvSpPr>
          <p:cNvPr id="24" name="Text 20"/>
          <p:cNvSpPr/>
          <p:nvPr/>
        </p:nvSpPr>
        <p:spPr>
          <a:xfrm>
            <a:off x="5468112" y="2476246"/>
            <a:ext cx="2520544" cy="253175"/>
          </a:xfrm>
          <a:prstGeom prst="rect">
            <a:avLst/>
          </a:prstGeom>
          <a:noFill/>
          <a:ln/>
        </p:spPr>
        <p:txBody>
          <a:bodyPr wrap="square" lIns="0" tIns="0" rIns="0" bIns="0" rtlCol="0" anchor="t"/>
          <a:lstStyle/>
          <a:p>
            <a:pPr marL="0" indent="0" algn="l">
              <a:lnSpc>
                <a:spcPts val="1418"/>
              </a:lnSpc>
              <a:buNone/>
            </a:pPr>
            <a:r>
              <a:rPr lang="en-US" sz="1050" b="1" kern="0" spc="160" dirty="0">
                <a:solidFill>
                  <a:srgbClr val="38BDF8"/>
                </a:solidFill>
                <a:latin typeface="Be Vietnam Pro" pitchFamily="34" charset="0"/>
                <a:ea typeface="Be Vietnam Pro" pitchFamily="34" charset="-122"/>
                <a:cs typeface="Be Vietnam Pro" pitchFamily="34" charset="-120"/>
              </a:rPr>
              <a:t>TÌNH TRẠNG VẬT LÝ</a:t>
            </a:r>
            <a:endParaRPr lang="en-US" sz="1050" dirty="0"/>
          </a:p>
        </p:txBody>
      </p:sp>
      <p:sp>
        <p:nvSpPr>
          <p:cNvPr id="25" name="Shape 21"/>
          <p:cNvSpPr/>
          <p:nvPr/>
        </p:nvSpPr>
        <p:spPr>
          <a:xfrm>
            <a:off x="5468112" y="3006598"/>
            <a:ext cx="82296" cy="82296"/>
          </a:xfrm>
          <a:prstGeom prst="roundRect">
            <a:avLst>
              <a:gd name="adj" fmla="val 50000"/>
            </a:avLst>
          </a:prstGeom>
          <a:solidFill>
            <a:srgbClr val="38BDF8">
              <a:alpha val="95000"/>
            </a:srgbClr>
          </a:solidFill>
          <a:ln/>
        </p:spPr>
      </p:sp>
      <p:sp>
        <p:nvSpPr>
          <p:cNvPr id="26" name="Text 22"/>
          <p:cNvSpPr/>
          <p:nvPr/>
        </p:nvSpPr>
        <p:spPr>
          <a:xfrm>
            <a:off x="5705856" y="2915158"/>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Mới</a:t>
            </a:r>
            <a:endParaRPr lang="en-US" sz="1300" dirty="0"/>
          </a:p>
        </p:txBody>
      </p:sp>
      <p:sp>
        <p:nvSpPr>
          <p:cNvPr id="27" name="Shape 23"/>
          <p:cNvSpPr/>
          <p:nvPr/>
        </p:nvSpPr>
        <p:spPr>
          <a:xfrm>
            <a:off x="5468112" y="3427222"/>
            <a:ext cx="82296" cy="82296"/>
          </a:xfrm>
          <a:prstGeom prst="roundRect">
            <a:avLst>
              <a:gd name="adj" fmla="val 50000"/>
            </a:avLst>
          </a:prstGeom>
          <a:solidFill>
            <a:srgbClr val="38BDF8">
              <a:alpha val="95000"/>
            </a:srgbClr>
          </a:solidFill>
          <a:ln/>
        </p:spPr>
      </p:sp>
      <p:sp>
        <p:nvSpPr>
          <p:cNvPr id="28" name="Text 24"/>
          <p:cNvSpPr/>
          <p:nvPr/>
        </p:nvSpPr>
        <p:spPr>
          <a:xfrm>
            <a:off x="5705856" y="3335782"/>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Đã dùng</a:t>
            </a:r>
            <a:endParaRPr lang="en-US" sz="1300" dirty="0"/>
          </a:p>
        </p:txBody>
      </p:sp>
      <p:sp>
        <p:nvSpPr>
          <p:cNvPr id="29" name="Shape 25"/>
          <p:cNvSpPr/>
          <p:nvPr/>
        </p:nvSpPr>
        <p:spPr>
          <a:xfrm>
            <a:off x="5468112" y="3847846"/>
            <a:ext cx="82296" cy="82296"/>
          </a:xfrm>
          <a:prstGeom prst="roundRect">
            <a:avLst>
              <a:gd name="adj" fmla="val 50000"/>
            </a:avLst>
          </a:prstGeom>
          <a:solidFill>
            <a:srgbClr val="38BDF8">
              <a:alpha val="95000"/>
            </a:srgbClr>
          </a:solidFill>
          <a:ln/>
        </p:spPr>
      </p:sp>
      <p:sp>
        <p:nvSpPr>
          <p:cNvPr id="30" name="Text 26"/>
          <p:cNvSpPr/>
          <p:nvPr/>
        </p:nvSpPr>
        <p:spPr>
          <a:xfrm>
            <a:off x="5705856" y="3756406"/>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Cần kiểm tra</a:t>
            </a:r>
            <a:endParaRPr lang="en-US" sz="1300" dirty="0"/>
          </a:p>
        </p:txBody>
      </p:sp>
      <p:sp>
        <p:nvSpPr>
          <p:cNvPr id="31" name="Shape 27"/>
          <p:cNvSpPr/>
          <p:nvPr/>
        </p:nvSpPr>
        <p:spPr>
          <a:xfrm>
            <a:off x="5468112" y="4268470"/>
            <a:ext cx="82296" cy="82296"/>
          </a:xfrm>
          <a:prstGeom prst="roundRect">
            <a:avLst>
              <a:gd name="adj" fmla="val 50000"/>
            </a:avLst>
          </a:prstGeom>
          <a:solidFill>
            <a:srgbClr val="38BDF8">
              <a:alpha val="95000"/>
            </a:srgbClr>
          </a:solidFill>
          <a:ln/>
        </p:spPr>
      </p:sp>
      <p:sp>
        <p:nvSpPr>
          <p:cNvPr id="32" name="Text 28"/>
          <p:cNvSpPr/>
          <p:nvPr/>
        </p:nvSpPr>
        <p:spPr>
          <a:xfrm>
            <a:off x="5705856" y="4177030"/>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Hỏng</a:t>
            </a:r>
            <a:endParaRPr lang="en-US" sz="1300" dirty="0"/>
          </a:p>
        </p:txBody>
      </p:sp>
      <p:sp>
        <p:nvSpPr>
          <p:cNvPr id="33" name="Shape 29"/>
          <p:cNvSpPr/>
          <p:nvPr/>
        </p:nvSpPr>
        <p:spPr>
          <a:xfrm>
            <a:off x="8464144" y="2220214"/>
            <a:ext cx="3014320" cy="2395728"/>
          </a:xfrm>
          <a:prstGeom prst="roundRect">
            <a:avLst>
              <a:gd name="adj" fmla="val 4580"/>
            </a:avLst>
          </a:prstGeom>
          <a:solidFill>
            <a:srgbClr val="091B2D">
              <a:alpha val="66000"/>
            </a:srgbClr>
          </a:solidFill>
          <a:ln w="12700">
            <a:solidFill>
              <a:srgbClr val="FFFFFF">
                <a:alpha val="12000"/>
              </a:srgbClr>
            </a:solidFill>
            <a:prstDash val="solid"/>
          </a:ln>
        </p:spPr>
      </p:sp>
      <p:sp>
        <p:nvSpPr>
          <p:cNvPr id="34" name="Shape 30"/>
          <p:cNvSpPr/>
          <p:nvPr/>
        </p:nvSpPr>
        <p:spPr>
          <a:xfrm>
            <a:off x="8464144" y="2220214"/>
            <a:ext cx="50292" cy="2395728"/>
          </a:xfrm>
          <a:prstGeom prst="roundRect">
            <a:avLst>
              <a:gd name="adj" fmla="val 54545"/>
            </a:avLst>
          </a:prstGeom>
          <a:solidFill>
            <a:srgbClr val="FBBF24">
              <a:alpha val="95000"/>
            </a:srgbClr>
          </a:solidFill>
          <a:ln/>
        </p:spPr>
      </p:sp>
      <p:sp>
        <p:nvSpPr>
          <p:cNvPr id="35" name="Text 31"/>
          <p:cNvSpPr/>
          <p:nvPr/>
        </p:nvSpPr>
        <p:spPr>
          <a:xfrm>
            <a:off x="8756752" y="2476246"/>
            <a:ext cx="2520544" cy="253175"/>
          </a:xfrm>
          <a:prstGeom prst="rect">
            <a:avLst/>
          </a:prstGeom>
          <a:noFill/>
          <a:ln/>
        </p:spPr>
        <p:txBody>
          <a:bodyPr wrap="square" lIns="0" tIns="0" rIns="0" bIns="0" rtlCol="0" anchor="t"/>
          <a:lstStyle/>
          <a:p>
            <a:pPr marL="0" indent="0" algn="l">
              <a:lnSpc>
                <a:spcPts val="1418"/>
              </a:lnSpc>
              <a:buNone/>
            </a:pPr>
            <a:r>
              <a:rPr lang="en-US" sz="1050" b="1" kern="0" spc="160" dirty="0">
                <a:solidFill>
                  <a:srgbClr val="FBBF24"/>
                </a:solidFill>
                <a:latin typeface="Be Vietnam Pro" pitchFamily="34" charset="0"/>
                <a:ea typeface="Be Vietnam Pro" pitchFamily="34" charset="-122"/>
                <a:cs typeface="Be Vietnam Pro" pitchFamily="34" charset="-120"/>
              </a:rPr>
              <a:t>TRẠNG THÁI LƯU HÀNH</a:t>
            </a:r>
            <a:endParaRPr lang="en-US" sz="1050" dirty="0"/>
          </a:p>
        </p:txBody>
      </p:sp>
      <p:sp>
        <p:nvSpPr>
          <p:cNvPr id="36" name="Shape 32"/>
          <p:cNvSpPr/>
          <p:nvPr/>
        </p:nvSpPr>
        <p:spPr>
          <a:xfrm>
            <a:off x="8756752" y="3006598"/>
            <a:ext cx="82296" cy="82296"/>
          </a:xfrm>
          <a:prstGeom prst="roundRect">
            <a:avLst>
              <a:gd name="adj" fmla="val 50000"/>
            </a:avLst>
          </a:prstGeom>
          <a:solidFill>
            <a:srgbClr val="FBBF24">
              <a:alpha val="95000"/>
            </a:srgbClr>
          </a:solidFill>
          <a:ln/>
        </p:spPr>
      </p:sp>
      <p:sp>
        <p:nvSpPr>
          <p:cNvPr id="37" name="Text 33"/>
          <p:cNvSpPr/>
          <p:nvPr/>
        </p:nvSpPr>
        <p:spPr>
          <a:xfrm>
            <a:off x="8994496" y="2915158"/>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Đang trong kho</a:t>
            </a:r>
            <a:endParaRPr lang="en-US" sz="1300" dirty="0"/>
          </a:p>
        </p:txBody>
      </p:sp>
      <p:sp>
        <p:nvSpPr>
          <p:cNvPr id="38" name="Shape 34"/>
          <p:cNvSpPr/>
          <p:nvPr/>
        </p:nvSpPr>
        <p:spPr>
          <a:xfrm>
            <a:off x="8756752" y="3427222"/>
            <a:ext cx="82296" cy="82296"/>
          </a:xfrm>
          <a:prstGeom prst="roundRect">
            <a:avLst>
              <a:gd name="adj" fmla="val 50000"/>
            </a:avLst>
          </a:prstGeom>
          <a:solidFill>
            <a:srgbClr val="FBBF24">
              <a:alpha val="95000"/>
            </a:srgbClr>
          </a:solidFill>
          <a:ln/>
        </p:spPr>
      </p:sp>
      <p:sp>
        <p:nvSpPr>
          <p:cNvPr id="39" name="Text 35"/>
          <p:cNvSpPr/>
          <p:nvPr/>
        </p:nvSpPr>
        <p:spPr>
          <a:xfrm>
            <a:off x="8994496" y="3335782"/>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Đang cho mượn</a:t>
            </a:r>
            <a:endParaRPr lang="en-US" sz="1300" dirty="0"/>
          </a:p>
        </p:txBody>
      </p:sp>
      <p:sp>
        <p:nvSpPr>
          <p:cNvPr id="40" name="Shape 36"/>
          <p:cNvSpPr/>
          <p:nvPr/>
        </p:nvSpPr>
        <p:spPr>
          <a:xfrm>
            <a:off x="8756752" y="3847846"/>
            <a:ext cx="82296" cy="82296"/>
          </a:xfrm>
          <a:prstGeom prst="roundRect">
            <a:avLst>
              <a:gd name="adj" fmla="val 50000"/>
            </a:avLst>
          </a:prstGeom>
          <a:solidFill>
            <a:srgbClr val="FBBF24">
              <a:alpha val="95000"/>
            </a:srgbClr>
          </a:solidFill>
          <a:ln/>
        </p:spPr>
      </p:sp>
      <p:sp>
        <p:nvSpPr>
          <p:cNvPr id="41" name="Text 37"/>
          <p:cNvSpPr/>
          <p:nvPr/>
        </p:nvSpPr>
        <p:spPr>
          <a:xfrm>
            <a:off x="8994496" y="3756406"/>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Đã xuất</a:t>
            </a:r>
            <a:endParaRPr lang="en-US" sz="1300" dirty="0"/>
          </a:p>
        </p:txBody>
      </p:sp>
      <p:sp>
        <p:nvSpPr>
          <p:cNvPr id="42" name="Text 38"/>
          <p:cNvSpPr/>
          <p:nvPr/>
        </p:nvSpPr>
        <p:spPr>
          <a:xfrm>
            <a:off x="5175504" y="4743958"/>
            <a:ext cx="6394399" cy="270320"/>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Mỗi lô hàng mang hai chiều trạng thái tách rời nhau.</a:t>
            </a:r>
            <a:endParaRPr lang="en-US" sz="1150" dirty="0"/>
          </a:p>
        </p:txBody>
      </p:sp>
      <p:sp>
        <p:nvSpPr>
          <p:cNvPr id="43" name="Shape 39"/>
          <p:cNvSpPr/>
          <p:nvPr/>
        </p:nvSpPr>
        <p:spPr>
          <a:xfrm>
            <a:off x="713232" y="5475478"/>
            <a:ext cx="10765231" cy="713232"/>
          </a:xfrm>
          <a:prstGeom prst="roundRect">
            <a:avLst>
              <a:gd name="adj" fmla="val 12821"/>
            </a:avLst>
          </a:prstGeom>
          <a:solidFill>
            <a:srgbClr val="F87171">
              <a:alpha val="12000"/>
            </a:srgbClr>
          </a:solidFill>
          <a:ln w="12700">
            <a:solidFill>
              <a:srgbClr val="F87171">
                <a:alpha val="42000"/>
              </a:srgbClr>
            </a:solidFill>
            <a:prstDash val="solid"/>
          </a:ln>
        </p:spPr>
      </p:sp>
      <p:sp>
        <p:nvSpPr>
          <p:cNvPr id="44" name="Shape 40"/>
          <p:cNvSpPr/>
          <p:nvPr/>
        </p:nvSpPr>
        <p:spPr>
          <a:xfrm>
            <a:off x="713232" y="5475478"/>
            <a:ext cx="50292" cy="713232"/>
          </a:xfrm>
          <a:prstGeom prst="roundRect">
            <a:avLst>
              <a:gd name="adj" fmla="val 54545"/>
            </a:avLst>
          </a:prstGeom>
          <a:solidFill>
            <a:srgbClr val="F87171">
              <a:alpha val="95000"/>
            </a:srgbClr>
          </a:solidFill>
          <a:ln/>
        </p:spPr>
      </p:sp>
      <p:sp>
        <p:nvSpPr>
          <p:cNvPr id="45" name="Text 41"/>
          <p:cNvSpPr/>
          <p:nvPr/>
        </p:nvSpPr>
        <p:spPr>
          <a:xfrm>
            <a:off x="1078992" y="5658358"/>
            <a:ext cx="101251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Áo phao đang cho mượn ≠ áo phao </a:t>
            </a:r>
            <a:r>
              <a:rPr lang="en-US" sz="1450" b="1" dirty="0" err="1">
                <a:solidFill>
                  <a:srgbClr val="FFFFFF"/>
                </a:solidFill>
                <a:latin typeface="Be Vietnam Pro" pitchFamily="34" charset="0"/>
                <a:ea typeface="Be Vietnam Pro" pitchFamily="34" charset="-122"/>
                <a:cs typeface="Be Vietnam Pro" pitchFamily="34" charset="-120"/>
              </a:rPr>
              <a:t>khả</a:t>
            </a:r>
            <a:r>
              <a:rPr lang="en-US" sz="1450" b="1" dirty="0">
                <a:solidFill>
                  <a:srgbClr val="FFFFFF"/>
                </a:solidFill>
                <a:latin typeface="Be Vietnam Pro" pitchFamily="34" charset="0"/>
                <a:ea typeface="Be Vietnam Pro" pitchFamily="34" charset="-122"/>
                <a:cs typeface="Be Vietnam Pro" pitchFamily="34" charset="-120"/>
              </a:rPr>
              <a:t> </a:t>
            </a:r>
            <a:r>
              <a:rPr lang="en-US" sz="1450" b="1" dirty="0" err="1">
                <a:solidFill>
                  <a:srgbClr val="FFFFFF"/>
                </a:solidFill>
                <a:latin typeface="Be Vietnam Pro" pitchFamily="34" charset="0"/>
                <a:ea typeface="Be Vietnam Pro" pitchFamily="34" charset="-122"/>
                <a:cs typeface="Be Vietnam Pro" pitchFamily="34" charset="-120"/>
              </a:rPr>
              <a:t>dụng</a:t>
            </a:r>
            <a:r>
              <a:rPr lang="en-US" sz="1450" b="1" dirty="0">
                <a:solidFill>
                  <a:srgbClr val="FFFFFF"/>
                </a:solidFill>
                <a:latin typeface="Be Vietnam Pro" pitchFamily="34" charset="0"/>
                <a:ea typeface="Be Vietnam Pro" pitchFamily="34" charset="-122"/>
                <a:cs typeface="Be Vietnam Pro" pitchFamily="34" charset="-120"/>
              </a:rPr>
              <a:t>, đây là chỗ phần mềm kho thông thường hay đếm nhầm.</a:t>
            </a:r>
            <a:endParaRPr lang="en-US" sz="14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66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nodeType="withEffect">
                                  <p:stCondLst>
                                    <p:cond delay="66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nodeType="withEffect">
                                  <p:stCondLst>
                                    <p:cond delay="66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nodeType="withEffect">
                                  <p:stCondLst>
                                    <p:cond delay="88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nodeType="withEffect">
                                  <p:stCondLst>
                                    <p:cond delay="88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nodeType="withEffect">
                                  <p:stCondLst>
                                    <p:cond delay="88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nodeType="withEffect">
                                  <p:stCondLst>
                                    <p:cond delay="110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10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10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10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10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32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32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32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32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32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132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32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32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32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32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54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54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54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19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CHỈ SỐ SẴN SÀNG CỦA KHO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Một kết luận vận hành, không phải một con số</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480560" cy="3931920"/>
          </a:xfrm>
          <a:prstGeom prst="roundRect">
            <a:avLst>
              <a:gd name="adj" fmla="val 279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931920"/>
          </a:xfrm>
          <a:prstGeom prst="roundRect">
            <a:avLst>
              <a:gd name="adj" fmla="val 54545"/>
            </a:avLst>
          </a:prstGeom>
          <a:solidFill>
            <a:srgbClr val="22C55E">
              <a:alpha val="95000"/>
            </a:srgbClr>
          </a:solidFill>
          <a:ln/>
        </p:spPr>
      </p:sp>
      <p:sp>
        <p:nvSpPr>
          <p:cNvPr id="14" name="Text 10"/>
          <p:cNvSpPr/>
          <p:nvPr/>
        </p:nvSpPr>
        <p:spPr>
          <a:xfrm>
            <a:off x="1042416" y="2494534"/>
            <a:ext cx="3913632"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22C55E"/>
                </a:solidFill>
                <a:latin typeface="Be Vietnam Pro" pitchFamily="34" charset="0"/>
                <a:ea typeface="Be Vietnam Pro" pitchFamily="34" charset="-122"/>
                <a:cs typeface="Be Vietnam Pro" pitchFamily="34" charset="-120"/>
              </a:rPr>
              <a:t>CÁCH CHẤM ĐIỂM</a:t>
            </a:r>
            <a:endParaRPr lang="en-US" sz="1050" dirty="0"/>
          </a:p>
        </p:txBody>
      </p:sp>
      <p:sp>
        <p:nvSpPr>
          <p:cNvPr id="15" name="Shape 11"/>
          <p:cNvSpPr/>
          <p:nvPr/>
        </p:nvSpPr>
        <p:spPr>
          <a:xfrm>
            <a:off x="1042416" y="2915158"/>
            <a:ext cx="3822192" cy="786384"/>
          </a:xfrm>
          <a:prstGeom prst="roundRect">
            <a:avLst>
              <a:gd name="adj" fmla="val 11628"/>
            </a:avLst>
          </a:prstGeom>
          <a:solidFill>
            <a:srgbClr val="FFFFFF">
              <a:alpha val="7000"/>
            </a:srgbClr>
          </a:solidFill>
          <a:ln w="12700">
            <a:solidFill>
              <a:srgbClr val="FFFFFF">
                <a:alpha val="14000"/>
              </a:srgbClr>
            </a:solidFill>
            <a:prstDash val="solid"/>
          </a:ln>
        </p:spPr>
      </p:sp>
      <p:sp>
        <p:nvSpPr>
          <p:cNvPr id="16" name="Text 12"/>
          <p:cNvSpPr/>
          <p:nvPr/>
        </p:nvSpPr>
        <p:spPr>
          <a:xfrm>
            <a:off x="1225296" y="3043174"/>
            <a:ext cx="731520" cy="484632"/>
          </a:xfrm>
          <a:prstGeom prst="rect">
            <a:avLst/>
          </a:prstGeom>
          <a:noFill/>
          <a:ln/>
        </p:spPr>
        <p:txBody>
          <a:bodyPr wrap="square" lIns="0" tIns="0" rIns="0" bIns="0" rtlCol="0" anchor="t"/>
          <a:lstStyle/>
          <a:p>
            <a:pPr marL="0" indent="0" algn="l">
              <a:lnSpc>
                <a:spcPts val="3240"/>
              </a:lnSpc>
              <a:buNone/>
            </a:pPr>
            <a:r>
              <a:rPr lang="en-US" sz="2400" b="1" dirty="0">
                <a:solidFill>
                  <a:srgbClr val="6EE7A8"/>
                </a:solidFill>
                <a:latin typeface="Be Vietnam Pro" pitchFamily="34" charset="0"/>
                <a:ea typeface="Be Vietnam Pro" pitchFamily="34" charset="-122"/>
                <a:cs typeface="Be Vietnam Pro" pitchFamily="34" charset="-120"/>
              </a:rPr>
              <a:t>6</a:t>
            </a:r>
            <a:endParaRPr lang="en-US" sz="2400" dirty="0"/>
          </a:p>
        </p:txBody>
      </p:sp>
      <p:sp>
        <p:nvSpPr>
          <p:cNvPr id="17" name="Text 13"/>
          <p:cNvSpPr/>
          <p:nvPr/>
        </p:nvSpPr>
        <p:spPr>
          <a:xfrm>
            <a:off x="1865376" y="3171190"/>
            <a:ext cx="3017520" cy="287465"/>
          </a:xfrm>
          <a:prstGeom prst="rect">
            <a:avLst/>
          </a:prstGeom>
          <a:noFill/>
          <a:ln/>
        </p:spPr>
        <p:txBody>
          <a:bodyPr wrap="square" lIns="0" tIns="0" rIns="0" bIns="0" rtlCol="0" anchor="t"/>
          <a:lstStyle/>
          <a:p>
            <a:pPr marL="0" indent="0" algn="l">
              <a:lnSpc>
                <a:spcPts val="1688"/>
              </a:lnSpc>
              <a:buNone/>
            </a:pPr>
            <a:r>
              <a:rPr lang="en-US" sz="1250" b="1" dirty="0" err="1">
                <a:solidFill>
                  <a:srgbClr val="D9E6F2"/>
                </a:solidFill>
                <a:latin typeface="Be Vietnam Pro" pitchFamily="34" charset="0"/>
                <a:ea typeface="Be Vietnam Pro" pitchFamily="34" charset="-122"/>
                <a:cs typeface="Be Vietnam Pro" pitchFamily="34" charset="-120"/>
              </a:rPr>
              <a:t>Chiều</a:t>
            </a:r>
            <a:r>
              <a:rPr lang="en-US" sz="1250" b="1" dirty="0">
                <a:solidFill>
                  <a:srgbClr val="D9E6F2"/>
                </a:solidFill>
                <a:latin typeface="Be Vietnam Pro" pitchFamily="34" charset="0"/>
                <a:ea typeface="Be Vietnam Pro" pitchFamily="34" charset="-122"/>
                <a:cs typeface="Be Vietnam Pro" pitchFamily="34" charset="-120"/>
              </a:rPr>
              <a:t> đánh giá</a:t>
            </a:r>
            <a:endParaRPr lang="en-US" sz="1250" dirty="0"/>
          </a:p>
        </p:txBody>
      </p:sp>
      <p:sp>
        <p:nvSpPr>
          <p:cNvPr id="18" name="Shape 14"/>
          <p:cNvSpPr/>
          <p:nvPr/>
        </p:nvSpPr>
        <p:spPr>
          <a:xfrm>
            <a:off x="1042416" y="3829558"/>
            <a:ext cx="3822192" cy="786384"/>
          </a:xfrm>
          <a:prstGeom prst="roundRect">
            <a:avLst>
              <a:gd name="adj" fmla="val 11628"/>
            </a:avLst>
          </a:prstGeom>
          <a:solidFill>
            <a:srgbClr val="FFFFFF">
              <a:alpha val="7000"/>
            </a:srgbClr>
          </a:solidFill>
          <a:ln w="12700">
            <a:solidFill>
              <a:srgbClr val="FFFFFF">
                <a:alpha val="14000"/>
              </a:srgbClr>
            </a:solidFill>
            <a:prstDash val="solid"/>
          </a:ln>
        </p:spPr>
      </p:sp>
      <p:sp>
        <p:nvSpPr>
          <p:cNvPr id="19" name="Text 15"/>
          <p:cNvSpPr/>
          <p:nvPr/>
        </p:nvSpPr>
        <p:spPr>
          <a:xfrm>
            <a:off x="1225296" y="3957574"/>
            <a:ext cx="731520" cy="484632"/>
          </a:xfrm>
          <a:prstGeom prst="rect">
            <a:avLst/>
          </a:prstGeom>
          <a:noFill/>
          <a:ln/>
        </p:spPr>
        <p:txBody>
          <a:bodyPr wrap="square" lIns="0" tIns="0" rIns="0" bIns="0" rtlCol="0" anchor="t"/>
          <a:lstStyle/>
          <a:p>
            <a:pPr marL="0" indent="0" algn="l">
              <a:lnSpc>
                <a:spcPts val="3240"/>
              </a:lnSpc>
              <a:buNone/>
            </a:pPr>
            <a:r>
              <a:rPr lang="en-US" sz="2400" b="1" dirty="0">
                <a:solidFill>
                  <a:srgbClr val="6EE7A8"/>
                </a:solidFill>
                <a:latin typeface="Be Vietnam Pro" pitchFamily="34" charset="0"/>
                <a:ea typeface="Be Vietnam Pro" pitchFamily="34" charset="-122"/>
                <a:cs typeface="Be Vietnam Pro" pitchFamily="34" charset="-120"/>
              </a:rPr>
              <a:t>4</a:t>
            </a:r>
            <a:endParaRPr lang="en-US" sz="2400" dirty="0"/>
          </a:p>
        </p:txBody>
      </p:sp>
      <p:sp>
        <p:nvSpPr>
          <p:cNvPr id="20" name="Text 16"/>
          <p:cNvSpPr/>
          <p:nvPr/>
        </p:nvSpPr>
        <p:spPr>
          <a:xfrm>
            <a:off x="1865376" y="4085590"/>
            <a:ext cx="3017520" cy="287465"/>
          </a:xfrm>
          <a:prstGeom prst="rect">
            <a:avLst/>
          </a:prstGeom>
          <a:noFill/>
          <a:ln/>
        </p:spPr>
        <p:txBody>
          <a:bodyPr wrap="square" lIns="0" tIns="0" rIns="0" bIns="0" rtlCol="0" anchor="t"/>
          <a:lstStyle/>
          <a:p>
            <a:pPr marL="0" indent="0" algn="l">
              <a:lnSpc>
                <a:spcPts val="1688"/>
              </a:lnSpc>
              <a:buNone/>
            </a:pPr>
            <a:r>
              <a:rPr lang="en-US" sz="1250" b="1" dirty="0" err="1">
                <a:solidFill>
                  <a:srgbClr val="D9E6F2"/>
                </a:solidFill>
                <a:latin typeface="Be Vietnam Pro" pitchFamily="34" charset="0"/>
                <a:ea typeface="Be Vietnam Pro" pitchFamily="34" charset="-122"/>
                <a:cs typeface="Be Vietnam Pro" pitchFamily="34" charset="-120"/>
              </a:rPr>
              <a:t>Cấp</a:t>
            </a:r>
            <a:r>
              <a:rPr lang="en-US" sz="1250" b="1" dirty="0">
                <a:solidFill>
                  <a:srgbClr val="D9E6F2"/>
                </a:solidFill>
                <a:latin typeface="Be Vietnam Pro" pitchFamily="34" charset="0"/>
                <a:ea typeface="Be Vietnam Pro" pitchFamily="34" charset="-122"/>
                <a:cs typeface="Be Vietnam Pro" pitchFamily="34" charset="-120"/>
              </a:rPr>
              <a:t>: Lô → </a:t>
            </a:r>
            <a:r>
              <a:rPr lang="en-US" sz="1250" b="1" dirty="0" err="1">
                <a:solidFill>
                  <a:srgbClr val="D9E6F2"/>
                </a:solidFill>
                <a:latin typeface="Be Vietnam Pro" pitchFamily="34" charset="0"/>
                <a:ea typeface="Be Vietnam Pro" pitchFamily="34" charset="-122"/>
                <a:cs typeface="Be Vietnam Pro" pitchFamily="34" charset="-120"/>
              </a:rPr>
              <a:t>Kệ</a:t>
            </a:r>
            <a:r>
              <a:rPr lang="en-US" sz="1250" b="1" dirty="0">
                <a:solidFill>
                  <a:srgbClr val="D9E6F2"/>
                </a:solidFill>
                <a:latin typeface="Be Vietnam Pro" pitchFamily="34" charset="0"/>
                <a:ea typeface="Be Vietnam Pro" pitchFamily="34" charset="-122"/>
                <a:cs typeface="Be Vietnam Pro" pitchFamily="34" charset="-120"/>
              </a:rPr>
              <a:t> → </a:t>
            </a:r>
            <a:r>
              <a:rPr lang="en-US" sz="1250" b="1" dirty="0" err="1">
                <a:solidFill>
                  <a:srgbClr val="D9E6F2"/>
                </a:solidFill>
                <a:latin typeface="Be Vietnam Pro" pitchFamily="34" charset="0"/>
                <a:ea typeface="Be Vietnam Pro" pitchFamily="34" charset="-122"/>
                <a:cs typeface="Be Vietnam Pro" pitchFamily="34" charset="-120"/>
              </a:rPr>
              <a:t>Khu</a:t>
            </a:r>
            <a:r>
              <a:rPr lang="en-US" sz="1250" b="1" dirty="0">
                <a:solidFill>
                  <a:srgbClr val="D9E6F2"/>
                </a:solidFill>
                <a:latin typeface="Be Vietnam Pro" pitchFamily="34" charset="0"/>
                <a:ea typeface="Be Vietnam Pro" pitchFamily="34" charset="-122"/>
                <a:cs typeface="Be Vietnam Pro" pitchFamily="34" charset="-120"/>
              </a:rPr>
              <a:t> → </a:t>
            </a:r>
            <a:r>
              <a:rPr lang="en-US" sz="1250" b="1" dirty="0" err="1">
                <a:solidFill>
                  <a:srgbClr val="D9E6F2"/>
                </a:solidFill>
                <a:latin typeface="Be Vietnam Pro" pitchFamily="34" charset="0"/>
                <a:ea typeface="Be Vietnam Pro" pitchFamily="34" charset="-122"/>
                <a:cs typeface="Be Vietnam Pro" pitchFamily="34" charset="-120"/>
              </a:rPr>
              <a:t>Toàn</a:t>
            </a:r>
            <a:r>
              <a:rPr lang="en-US" sz="1250" b="1" dirty="0">
                <a:solidFill>
                  <a:srgbClr val="D9E6F2"/>
                </a:solidFill>
                <a:latin typeface="Be Vietnam Pro" pitchFamily="34" charset="0"/>
                <a:ea typeface="Be Vietnam Pro" pitchFamily="34" charset="-122"/>
                <a:cs typeface="Be Vietnam Pro" pitchFamily="34" charset="-120"/>
              </a:rPr>
              <a:t> kho</a:t>
            </a:r>
            <a:endParaRPr lang="en-US" sz="1250" dirty="0"/>
          </a:p>
        </p:txBody>
      </p:sp>
      <p:sp>
        <p:nvSpPr>
          <p:cNvPr id="21" name="Text 17"/>
          <p:cNvSpPr/>
          <p:nvPr/>
        </p:nvSpPr>
        <p:spPr>
          <a:xfrm>
            <a:off x="1042416" y="4945126"/>
            <a:ext cx="3913632" cy="551942"/>
          </a:xfrm>
          <a:prstGeom prst="rect">
            <a:avLst/>
          </a:prstGeom>
          <a:noFill/>
          <a:ln/>
        </p:spPr>
        <p:txBody>
          <a:bodyPr wrap="square" lIns="0" tIns="0" rIns="0" bIns="0" rtlCol="0" anchor="t"/>
          <a:lstStyle/>
          <a:p>
            <a:pPr marL="0" indent="0" algn="l">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Mỗi điểm bị trừ đều kèm lý do và việc phải làm,</a:t>
            </a:r>
            <a:endParaRPr lang="en-US" sz="1300" dirty="0"/>
          </a:p>
          <a:p>
            <a:pPr marL="0" indent="0" algn="l">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thay vì chỉ đưa ra một con số.</a:t>
            </a:r>
            <a:endParaRPr lang="en-US" sz="1300" dirty="0"/>
          </a:p>
        </p:txBody>
      </p:sp>
      <p:sp>
        <p:nvSpPr>
          <p:cNvPr id="22" name="Shape 18"/>
          <p:cNvSpPr/>
          <p:nvPr/>
        </p:nvSpPr>
        <p:spPr>
          <a:xfrm>
            <a:off x="5541264" y="2220214"/>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23" name="Shape 19"/>
          <p:cNvSpPr/>
          <p:nvPr/>
        </p:nvSpPr>
        <p:spPr>
          <a:xfrm>
            <a:off x="5541264" y="2220214"/>
            <a:ext cx="50292" cy="1078992"/>
          </a:xfrm>
          <a:prstGeom prst="roundRect">
            <a:avLst>
              <a:gd name="adj" fmla="val 54545"/>
            </a:avLst>
          </a:prstGeom>
          <a:solidFill>
            <a:srgbClr val="22C55E">
              <a:alpha val="95000"/>
            </a:srgbClr>
          </a:solidFill>
          <a:ln/>
        </p:spPr>
      </p:sp>
      <p:sp>
        <p:nvSpPr>
          <p:cNvPr id="24" name="Text 20"/>
          <p:cNvSpPr/>
          <p:nvPr/>
        </p:nvSpPr>
        <p:spPr>
          <a:xfrm>
            <a:off x="5833872" y="2403094"/>
            <a:ext cx="5443423"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Kho trung tâm: 95 / 100 điểm</a:t>
            </a:r>
            <a:endParaRPr lang="en-US" sz="1500" dirty="0"/>
          </a:p>
        </p:txBody>
      </p:sp>
      <p:sp>
        <p:nvSpPr>
          <p:cNvPr id="25" name="Text 21"/>
          <p:cNvSpPr/>
          <p:nvPr/>
        </p:nvSpPr>
        <p:spPr>
          <a:xfrm>
            <a:off x="5833872" y="2805430"/>
            <a:ext cx="5443423" cy="278892"/>
          </a:xfrm>
          <a:prstGeom prst="rect">
            <a:avLst/>
          </a:prstGeom>
          <a:noFill/>
          <a:ln/>
        </p:spPr>
        <p:txBody>
          <a:bodyPr wrap="square" lIns="0" tIns="0" rIns="0" bIns="0" rtlCol="0" anchor="t"/>
          <a:lstStyle/>
          <a:p>
            <a:pPr marL="0" indent="0" algn="l">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Nhìn con số thì rất đẹp.</a:t>
            </a:r>
            <a:endParaRPr lang="en-US" sz="1200" dirty="0"/>
          </a:p>
        </p:txBody>
      </p:sp>
      <p:sp>
        <p:nvSpPr>
          <p:cNvPr id="26" name="Shape 22"/>
          <p:cNvSpPr/>
          <p:nvPr/>
        </p:nvSpPr>
        <p:spPr>
          <a:xfrm rot="10800000">
            <a:off x="8409280" y="3326638"/>
            <a:ext cx="201168" cy="201168"/>
          </a:xfrm>
          <a:prstGeom prst="triangle">
            <a:avLst/>
          </a:prstGeom>
          <a:solidFill>
            <a:srgbClr val="22C55E">
              <a:alpha val="80000"/>
            </a:srgbClr>
          </a:solidFill>
          <a:ln/>
        </p:spPr>
      </p:sp>
      <p:sp>
        <p:nvSpPr>
          <p:cNvPr id="27" name="Shape 23"/>
          <p:cNvSpPr/>
          <p:nvPr/>
        </p:nvSpPr>
        <p:spPr>
          <a:xfrm>
            <a:off x="5541264" y="3555238"/>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28" name="Shape 24"/>
          <p:cNvSpPr/>
          <p:nvPr/>
        </p:nvSpPr>
        <p:spPr>
          <a:xfrm>
            <a:off x="5541264" y="3555238"/>
            <a:ext cx="50292" cy="1078992"/>
          </a:xfrm>
          <a:prstGeom prst="roundRect">
            <a:avLst>
              <a:gd name="adj" fmla="val 54545"/>
            </a:avLst>
          </a:prstGeom>
          <a:solidFill>
            <a:srgbClr val="FBBF24">
              <a:alpha val="95000"/>
            </a:srgbClr>
          </a:solidFill>
          <a:ln/>
        </p:spPr>
      </p:sp>
      <p:sp>
        <p:nvSpPr>
          <p:cNvPr id="29" name="Text 25"/>
          <p:cNvSpPr/>
          <p:nvPr/>
        </p:nvSpPr>
        <p:spPr>
          <a:xfrm>
            <a:off x="5833872" y="3738118"/>
            <a:ext cx="5443423"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Cảm biến khói vượt ngưỡng, nhiệt độ tăng vọt</a:t>
            </a:r>
            <a:endParaRPr lang="en-US" sz="1500" dirty="0"/>
          </a:p>
        </p:txBody>
      </p:sp>
      <p:sp>
        <p:nvSpPr>
          <p:cNvPr id="30" name="Text 26"/>
          <p:cNvSpPr/>
          <p:nvPr/>
        </p:nvSpPr>
        <p:spPr>
          <a:xfrm>
            <a:off x="5833872" y="4140454"/>
            <a:ext cx="5443423" cy="278892"/>
          </a:xfrm>
          <a:prstGeom prst="rect">
            <a:avLst/>
          </a:prstGeom>
          <a:noFill/>
          <a:ln/>
        </p:spPr>
        <p:txBody>
          <a:bodyPr wrap="square" lIns="0" tIns="0" rIns="0" bIns="0" rtlCol="0" anchor="t"/>
          <a:lstStyle/>
          <a:p>
            <a:pPr marL="0" indent="0" algn="l">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Hệ thống mở sự cố nguy cơ cháy.</a:t>
            </a:r>
            <a:endParaRPr lang="en-US" sz="1200" dirty="0"/>
          </a:p>
        </p:txBody>
      </p:sp>
      <p:sp>
        <p:nvSpPr>
          <p:cNvPr id="31" name="Shape 27"/>
          <p:cNvSpPr/>
          <p:nvPr/>
        </p:nvSpPr>
        <p:spPr>
          <a:xfrm rot="10800000">
            <a:off x="8409280" y="4661662"/>
            <a:ext cx="201168" cy="201168"/>
          </a:xfrm>
          <a:prstGeom prst="triangle">
            <a:avLst/>
          </a:prstGeom>
          <a:solidFill>
            <a:srgbClr val="22C55E">
              <a:alpha val="80000"/>
            </a:srgbClr>
          </a:solidFill>
          <a:ln/>
        </p:spPr>
      </p:sp>
      <p:sp>
        <p:nvSpPr>
          <p:cNvPr id="32" name="Shape 28"/>
          <p:cNvSpPr/>
          <p:nvPr/>
        </p:nvSpPr>
        <p:spPr>
          <a:xfrm>
            <a:off x="5541264" y="4890262"/>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33" name="Shape 29"/>
          <p:cNvSpPr/>
          <p:nvPr/>
        </p:nvSpPr>
        <p:spPr>
          <a:xfrm>
            <a:off x="5541264" y="4890262"/>
            <a:ext cx="50292" cy="1078992"/>
          </a:xfrm>
          <a:prstGeom prst="roundRect">
            <a:avLst>
              <a:gd name="adj" fmla="val 54545"/>
            </a:avLst>
          </a:prstGeom>
          <a:solidFill>
            <a:srgbClr val="F87171">
              <a:alpha val="95000"/>
            </a:srgbClr>
          </a:solidFill>
          <a:ln/>
        </p:spPr>
      </p:sp>
      <p:sp>
        <p:nvSpPr>
          <p:cNvPr id="34" name="Text 30"/>
          <p:cNvSpPr/>
          <p:nvPr/>
        </p:nvSpPr>
        <p:spPr>
          <a:xfrm>
            <a:off x="5833872" y="5073142"/>
            <a:ext cx="5443423" cy="330327"/>
          </a:xfrm>
          <a:prstGeom prst="rect">
            <a:avLst/>
          </a:prstGeom>
          <a:noFill/>
          <a:ln/>
        </p:spPr>
        <p:txBody>
          <a:bodyPr wrap="square" lIns="0" tIns="0" rIns="0" bIns="0" rtlCol="0" anchor="t"/>
          <a:lstStyle/>
          <a:p>
            <a:pPr marL="0" indent="0" algn="l">
              <a:lnSpc>
                <a:spcPts val="2025"/>
              </a:lnSpc>
              <a:buNone/>
            </a:pPr>
            <a:r>
              <a:rPr lang="en-US" sz="1500" b="1" dirty="0">
                <a:solidFill>
                  <a:srgbClr val="F87171"/>
                </a:solidFill>
                <a:latin typeface="Be Vietnam Pro" pitchFamily="34" charset="0"/>
                <a:ea typeface="Be Vietnam Pro" pitchFamily="34" charset="-122"/>
                <a:cs typeface="Be Vietnam Pro" pitchFamily="34" charset="-120"/>
              </a:rPr>
              <a:t>KHÔNG ĐIỀU PHỐI ĐƯỢC</a:t>
            </a:r>
            <a:endParaRPr lang="en-US" sz="1500" dirty="0"/>
          </a:p>
        </p:txBody>
      </p:sp>
      <p:sp>
        <p:nvSpPr>
          <p:cNvPr id="35" name="Text 31"/>
          <p:cNvSpPr/>
          <p:nvPr/>
        </p:nvSpPr>
        <p:spPr>
          <a:xfrm>
            <a:off x="5833872" y="5475478"/>
            <a:ext cx="5443423" cy="484632"/>
          </a:xfrm>
          <a:prstGeom prst="rect">
            <a:avLst/>
          </a:prstGeom>
          <a:noFill/>
          <a:ln/>
        </p:spPr>
        <p:txBody>
          <a:bodyPr wrap="square" lIns="0" tIns="0" rIns="0" bIns="0" rtlCol="0" anchor="t"/>
          <a:lstStyle/>
          <a:p>
            <a:pPr marL="0" indent="0" algn="l">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Người điều phối biết ngay: không được lên phương án lấy hàng </a:t>
            </a:r>
            <a:r>
              <a:rPr lang="en-US" sz="1200" dirty="0" err="1">
                <a:solidFill>
                  <a:srgbClr val="9BB0C6"/>
                </a:solidFill>
                <a:latin typeface="Be Vietnam Pro" pitchFamily="34" charset="0"/>
                <a:ea typeface="Be Vietnam Pro" pitchFamily="34" charset="-122"/>
                <a:cs typeface="Be Vietnam Pro" pitchFamily="34" charset="-120"/>
              </a:rPr>
              <a:t>từ</a:t>
            </a:r>
            <a:r>
              <a:rPr lang="en-US" sz="1200" dirty="0">
                <a:solidFill>
                  <a:srgbClr val="9BB0C6"/>
                </a:solidFill>
                <a:latin typeface="Be Vietnam Pro" pitchFamily="34" charset="0"/>
                <a:ea typeface="Be Vietnam Pro" pitchFamily="34" charset="-122"/>
                <a:cs typeface="Be Vietnam Pro" pitchFamily="34" charset="-120"/>
              </a:rPr>
              <a:t> </a:t>
            </a:r>
            <a:r>
              <a:rPr lang="en-US" sz="1200" dirty="0" err="1">
                <a:solidFill>
                  <a:srgbClr val="9BB0C6"/>
                </a:solidFill>
                <a:latin typeface="Be Vietnam Pro" pitchFamily="34" charset="0"/>
                <a:ea typeface="Be Vietnam Pro" pitchFamily="34" charset="-122"/>
                <a:cs typeface="Be Vietnam Pro" pitchFamily="34" charset="-120"/>
              </a:rPr>
              <a:t>kho</a:t>
            </a:r>
            <a:r>
              <a:rPr lang="en-US" sz="1200" dirty="0"/>
              <a:t> </a:t>
            </a:r>
            <a:r>
              <a:rPr lang="en-US" sz="1200" dirty="0" err="1">
                <a:solidFill>
                  <a:srgbClr val="9BB0C6"/>
                </a:solidFill>
                <a:latin typeface="Be Vietnam Pro" pitchFamily="34" charset="0"/>
                <a:ea typeface="Be Vietnam Pro" pitchFamily="34" charset="-122"/>
                <a:cs typeface="Be Vietnam Pro" pitchFamily="34" charset="-120"/>
              </a:rPr>
              <a:t>này</a:t>
            </a:r>
            <a:r>
              <a:rPr lang="en-US" sz="1200" dirty="0">
                <a:solidFill>
                  <a:srgbClr val="9BB0C6"/>
                </a:solidFill>
                <a:latin typeface="Be Vietnam Pro" pitchFamily="34" charset="0"/>
                <a:ea typeface="Be Vietnam Pro" pitchFamily="34" charset="-122"/>
                <a:cs typeface="Be Vietnam Pro" pitchFamily="34" charset="-120"/>
              </a:rPr>
              <a:t>.</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66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nodeType="withEffect">
                                  <p:stCondLst>
                                    <p:cond delay="66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nodeType="withEffect">
                                  <p:stCondLst>
                                    <p:cond delay="66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nodeType="withEffect">
                                  <p:stCondLst>
                                    <p:cond delay="88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nodeType="withEffect">
                                  <p:stCondLst>
                                    <p:cond delay="88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nodeType="withEffect">
                                  <p:stCondLst>
                                    <p:cond delay="88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nodeType="withEffect">
                                  <p:stCondLst>
                                    <p:cond delay="110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32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32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54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54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54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54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20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TỒN KHO TOÀN XÃ</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Thiếu ở kho tổng, có thể đang thừa ở thôn bên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099152" cy="2697480"/>
          </a:xfrm>
          <a:prstGeom prst="roundRect">
            <a:avLst>
              <a:gd name="adj" fmla="val 4068"/>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697480"/>
          </a:xfrm>
          <a:prstGeom prst="roundRect">
            <a:avLst>
              <a:gd name="adj" fmla="val 54545"/>
            </a:avLst>
          </a:prstGeom>
          <a:solidFill>
            <a:srgbClr val="F87171">
              <a:alpha val="95000"/>
            </a:srgbClr>
          </a:solidFill>
          <a:ln/>
        </p:spPr>
      </p:sp>
      <p:sp>
        <p:nvSpPr>
          <p:cNvPr id="14" name="Text 10"/>
          <p:cNvSpPr/>
          <p:nvPr/>
        </p:nvSpPr>
        <p:spPr>
          <a:xfrm>
            <a:off x="1042416" y="2494534"/>
            <a:ext cx="4532224"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F87171"/>
                </a:solidFill>
                <a:latin typeface="Be Vietnam Pro" pitchFamily="34" charset="0"/>
                <a:ea typeface="Be Vietnam Pro" pitchFamily="34" charset="-122"/>
                <a:cs typeface="Be Vietnam Pro" pitchFamily="34" charset="-120"/>
              </a:rPr>
              <a:t>KHO TỔNG</a:t>
            </a:r>
            <a:endParaRPr lang="en-US" sz="1050" dirty="0"/>
          </a:p>
        </p:txBody>
      </p:sp>
      <p:sp>
        <p:nvSpPr>
          <p:cNvPr id="15" name="Text 11"/>
          <p:cNvSpPr/>
          <p:nvPr/>
        </p:nvSpPr>
        <p:spPr>
          <a:xfrm>
            <a:off x="1042416" y="2988310"/>
            <a:ext cx="4532224" cy="484632"/>
          </a:xfrm>
          <a:prstGeom prst="rect">
            <a:avLst/>
          </a:prstGeom>
          <a:noFill/>
          <a:ln/>
        </p:spPr>
        <p:txBody>
          <a:bodyPr wrap="square" lIns="0" tIns="0" rIns="0" bIns="0" rtlCol="0" anchor="t"/>
          <a:lstStyle/>
          <a:p>
            <a:pPr marL="0" indent="0" algn="l">
              <a:lnSpc>
                <a:spcPts val="3240"/>
              </a:lnSpc>
              <a:buNone/>
            </a:pPr>
            <a:r>
              <a:rPr lang="en-US" sz="2700" b="1" dirty="0">
                <a:solidFill>
                  <a:srgbClr val="FFFFFF"/>
                </a:solidFill>
                <a:latin typeface="Be Vietnam Pro" pitchFamily="34" charset="0"/>
                <a:ea typeface="Be Vietnam Pro" pitchFamily="34" charset="-122"/>
                <a:cs typeface="Be Vietnam Pro" pitchFamily="34" charset="-120"/>
              </a:rPr>
              <a:t>Gần hết bộ sơ cứu</a:t>
            </a:r>
            <a:endParaRPr lang="en-US" sz="2700" dirty="0"/>
          </a:p>
        </p:txBody>
      </p:sp>
      <p:sp>
        <p:nvSpPr>
          <p:cNvPr id="16" name="Text 12"/>
          <p:cNvSpPr/>
          <p:nvPr/>
        </p:nvSpPr>
        <p:spPr>
          <a:xfrm>
            <a:off x="1042416" y="4122166"/>
            <a:ext cx="4532224" cy="295402"/>
          </a:xfrm>
          <a:prstGeom prst="rect">
            <a:avLst/>
          </a:prstGeom>
          <a:noFill/>
          <a:ln/>
        </p:spPr>
        <p:txBody>
          <a:bodyPr wrap="square" lIns="0" tIns="0" rIns="0" bIns="0" rtlCol="0" anchor="t"/>
          <a:lstStyle/>
          <a:p>
            <a:pPr marL="0" indent="0" algn="l">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Nhìn riêng con số ở đây rất dễ kết luận cả xã đã hết hàng.</a:t>
            </a:r>
            <a:endParaRPr lang="en-US" sz="1250" dirty="0"/>
          </a:p>
        </p:txBody>
      </p:sp>
      <p:sp>
        <p:nvSpPr>
          <p:cNvPr id="17" name="Shape 13"/>
          <p:cNvSpPr/>
          <p:nvPr/>
        </p:nvSpPr>
        <p:spPr>
          <a:xfrm>
            <a:off x="6379312" y="2220214"/>
            <a:ext cx="5099152" cy="2697480"/>
          </a:xfrm>
          <a:prstGeom prst="roundRect">
            <a:avLst>
              <a:gd name="adj" fmla="val 4068"/>
            </a:avLst>
          </a:prstGeom>
          <a:solidFill>
            <a:srgbClr val="091B2D">
              <a:alpha val="66000"/>
            </a:srgbClr>
          </a:solidFill>
          <a:ln w="12700">
            <a:solidFill>
              <a:srgbClr val="FFFFFF">
                <a:alpha val="12000"/>
              </a:srgbClr>
            </a:solidFill>
            <a:prstDash val="solid"/>
          </a:ln>
        </p:spPr>
      </p:sp>
      <p:sp>
        <p:nvSpPr>
          <p:cNvPr id="18" name="Shape 14"/>
          <p:cNvSpPr/>
          <p:nvPr/>
        </p:nvSpPr>
        <p:spPr>
          <a:xfrm>
            <a:off x="6379312" y="2220214"/>
            <a:ext cx="50292" cy="2697480"/>
          </a:xfrm>
          <a:prstGeom prst="roundRect">
            <a:avLst>
              <a:gd name="adj" fmla="val 54545"/>
            </a:avLst>
          </a:prstGeom>
          <a:solidFill>
            <a:srgbClr val="22C55E">
              <a:alpha val="95000"/>
            </a:srgbClr>
          </a:solidFill>
          <a:ln/>
        </p:spPr>
      </p:sp>
      <p:sp>
        <p:nvSpPr>
          <p:cNvPr id="19" name="Text 15"/>
          <p:cNvSpPr/>
          <p:nvPr/>
        </p:nvSpPr>
        <p:spPr>
          <a:xfrm>
            <a:off x="6708496" y="2494534"/>
            <a:ext cx="4532224"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22C55E"/>
                </a:solidFill>
                <a:latin typeface="Be Vietnam Pro" pitchFamily="34" charset="0"/>
                <a:ea typeface="Be Vietnam Pro" pitchFamily="34" charset="-122"/>
                <a:cs typeface="Be Vietnam Pro" pitchFamily="34" charset="-120"/>
              </a:rPr>
              <a:t>KHO THÔN LONG CHÂU</a:t>
            </a:r>
            <a:endParaRPr lang="en-US" sz="1050" dirty="0"/>
          </a:p>
        </p:txBody>
      </p:sp>
      <p:sp>
        <p:nvSpPr>
          <p:cNvPr id="20" name="Text 16"/>
          <p:cNvSpPr/>
          <p:nvPr/>
        </p:nvSpPr>
        <p:spPr>
          <a:xfrm>
            <a:off x="6708496" y="2988310"/>
            <a:ext cx="4532224" cy="484632"/>
          </a:xfrm>
          <a:prstGeom prst="rect">
            <a:avLst/>
          </a:prstGeom>
          <a:noFill/>
          <a:ln/>
        </p:spPr>
        <p:txBody>
          <a:bodyPr wrap="square" lIns="0" tIns="0" rIns="0" bIns="0" rtlCol="0" anchor="t"/>
          <a:lstStyle/>
          <a:p>
            <a:pPr marL="0" indent="0" algn="l">
              <a:lnSpc>
                <a:spcPts val="3240"/>
              </a:lnSpc>
              <a:buNone/>
            </a:pPr>
            <a:r>
              <a:rPr lang="en-US" sz="2700" b="1" dirty="0">
                <a:solidFill>
                  <a:srgbClr val="FFFFFF"/>
                </a:solidFill>
                <a:latin typeface="Be Vietnam Pro" pitchFamily="34" charset="0"/>
                <a:ea typeface="Be Vietnam Pro" pitchFamily="34" charset="-122"/>
                <a:cs typeface="Be Vietnam Pro" pitchFamily="34" charset="-120"/>
              </a:rPr>
              <a:t>Hơn 1.600 bộ</a:t>
            </a:r>
            <a:endParaRPr lang="en-US" sz="2700" dirty="0"/>
          </a:p>
        </p:txBody>
      </p:sp>
      <p:sp>
        <p:nvSpPr>
          <p:cNvPr id="21" name="Text 17"/>
          <p:cNvSpPr/>
          <p:nvPr/>
        </p:nvSpPr>
        <p:spPr>
          <a:xfrm>
            <a:off x="6708496" y="4122166"/>
            <a:ext cx="4532224" cy="517652"/>
          </a:xfrm>
          <a:prstGeom prst="rect">
            <a:avLst/>
          </a:prstGeom>
          <a:noFill/>
          <a:ln/>
        </p:spPr>
        <p:txBody>
          <a:bodyPr wrap="square" lIns="0" tIns="0" rIns="0" bIns="0" rtlCol="0" anchor="t"/>
          <a:lstStyle/>
          <a:p>
            <a:pPr marL="0" indent="0" algn="l">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Thứ đang cần vẫn còn nguyên, chỉ cách hiện trường vài</a:t>
            </a:r>
            <a:endParaRPr lang="en-US" sz="1250" dirty="0"/>
          </a:p>
          <a:p>
            <a:pPr marL="0" indent="0" algn="l">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ki-lô-mét.</a:t>
            </a:r>
            <a:endParaRPr lang="en-US" sz="1250" dirty="0"/>
          </a:p>
        </p:txBody>
      </p:sp>
      <p:sp>
        <p:nvSpPr>
          <p:cNvPr id="22" name="Shape 18"/>
          <p:cNvSpPr/>
          <p:nvPr/>
        </p:nvSpPr>
        <p:spPr>
          <a:xfrm rot="5400000">
            <a:off x="5967832" y="3440938"/>
            <a:ext cx="256032" cy="256032"/>
          </a:xfrm>
          <a:prstGeom prst="triangle">
            <a:avLst/>
          </a:prstGeom>
          <a:solidFill>
            <a:srgbClr val="6EE7A8">
              <a:alpha val="90000"/>
            </a:srgbClr>
          </a:solidFill>
          <a:ln/>
        </p:spPr>
      </p:sp>
      <p:sp>
        <p:nvSpPr>
          <p:cNvPr id="23" name="Shape 19"/>
          <p:cNvSpPr/>
          <p:nvPr/>
        </p:nvSpPr>
        <p:spPr>
          <a:xfrm>
            <a:off x="713232" y="5210302"/>
            <a:ext cx="10765231" cy="822960"/>
          </a:xfrm>
          <a:prstGeom prst="roundRect">
            <a:avLst>
              <a:gd name="adj" fmla="val 11111"/>
            </a:avLst>
          </a:prstGeom>
          <a:solidFill>
            <a:srgbClr val="22C55E">
              <a:alpha val="12000"/>
            </a:srgbClr>
          </a:solidFill>
          <a:ln w="12700">
            <a:solidFill>
              <a:srgbClr val="22C55E">
                <a:alpha val="40000"/>
              </a:srgbClr>
            </a:solidFill>
            <a:prstDash val="solid"/>
          </a:ln>
        </p:spPr>
      </p:sp>
      <p:sp>
        <p:nvSpPr>
          <p:cNvPr id="24" name="Shape 20"/>
          <p:cNvSpPr/>
          <p:nvPr/>
        </p:nvSpPr>
        <p:spPr>
          <a:xfrm>
            <a:off x="713232" y="5210302"/>
            <a:ext cx="50292" cy="822960"/>
          </a:xfrm>
          <a:prstGeom prst="roundRect">
            <a:avLst>
              <a:gd name="adj" fmla="val 54545"/>
            </a:avLst>
          </a:prstGeom>
          <a:solidFill>
            <a:srgbClr val="22C55E">
              <a:alpha val="95000"/>
            </a:srgbClr>
          </a:solidFill>
          <a:ln/>
        </p:spPr>
      </p:sp>
      <p:sp>
        <p:nvSpPr>
          <p:cNvPr id="25" name="Text 21"/>
          <p:cNvSpPr/>
          <p:nvPr/>
        </p:nvSpPr>
        <p:spPr>
          <a:xfrm>
            <a:off x="1078992" y="5356606"/>
            <a:ext cx="10125151" cy="322072"/>
          </a:xfrm>
          <a:prstGeom prst="rect">
            <a:avLst/>
          </a:prstGeom>
          <a:noFill/>
          <a:ln/>
        </p:spPr>
        <p:txBody>
          <a:bodyPr wrap="square" lIns="0" tIns="0" rIns="0" bIns="0" rtlCol="0" anchor="t"/>
          <a:lstStyle/>
          <a:p>
            <a:pPr marL="0" indent="0" algn="l">
              <a:lnSpc>
                <a:spcPts val="1960"/>
              </a:lnSpc>
              <a:buNone/>
            </a:pPr>
            <a:r>
              <a:rPr lang="en-US" sz="1400" b="1" dirty="0">
                <a:solidFill>
                  <a:srgbClr val="FFFFFF"/>
                </a:solidFill>
                <a:latin typeface="Be Vietnam Pro" pitchFamily="34" charset="0"/>
                <a:ea typeface="Be Vietnam Pro" pitchFamily="34" charset="-122"/>
                <a:cs typeface="Be Vietnam Pro" pitchFamily="34" charset="-120"/>
              </a:rPr>
              <a:t>Màn hình tồn kho toàn xã gộp cả 18 kho vào một bảng: xe chạy 4 ki-lô-mét, thay vì gọi điện xin chi viện xã bên.</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66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21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CẢM BIẾN IoT TẠI KHO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Cảnh báo trước khi mất hàng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24545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868680"/>
          </a:xfrm>
          <a:prstGeom prst="roundRect">
            <a:avLst>
              <a:gd name="adj" fmla="val 54545"/>
            </a:avLst>
          </a:prstGeom>
          <a:solidFill>
            <a:srgbClr val="38BDF8">
              <a:alpha val="95000"/>
            </a:srgbClr>
          </a:solidFill>
          <a:ln/>
        </p:spPr>
      </p:sp>
      <p:sp>
        <p:nvSpPr>
          <p:cNvPr id="14" name="Text 10"/>
          <p:cNvSpPr/>
          <p:nvPr/>
        </p:nvSpPr>
        <p:spPr>
          <a:xfrm>
            <a:off x="1005840" y="2329942"/>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9 loại thiết bị</a:t>
            </a:r>
            <a:endParaRPr lang="en-US" sz="1500" dirty="0"/>
          </a:p>
        </p:txBody>
      </p:sp>
      <p:sp>
        <p:nvSpPr>
          <p:cNvPr id="15" name="Text 11"/>
          <p:cNvSpPr/>
          <p:nvPr/>
        </p:nvSpPr>
        <p:spPr>
          <a:xfrm>
            <a:off x="1005840" y="2677414"/>
            <a:ext cx="4751680" cy="467487"/>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Cân kệ, nhiệt độ, độ ẩm, khói, cảm biến cửa, cổng RFID, camera,</a:t>
            </a:r>
            <a:endParaRPr lang="en-US" sz="1150" dirty="0"/>
          </a:p>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nguồn điện…</a:t>
            </a:r>
            <a:endParaRPr lang="en-US" sz="1150" dirty="0"/>
          </a:p>
        </p:txBody>
      </p:sp>
      <p:sp>
        <p:nvSpPr>
          <p:cNvPr id="16" name="Shape 12"/>
          <p:cNvSpPr/>
          <p:nvPr/>
        </p:nvSpPr>
        <p:spPr>
          <a:xfrm>
            <a:off x="6233008" y="2220214"/>
            <a:ext cx="524545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17" name="Shape 13"/>
          <p:cNvSpPr/>
          <p:nvPr/>
        </p:nvSpPr>
        <p:spPr>
          <a:xfrm>
            <a:off x="6233008" y="2220214"/>
            <a:ext cx="50292" cy="868680"/>
          </a:xfrm>
          <a:prstGeom prst="roundRect">
            <a:avLst>
              <a:gd name="adj" fmla="val 54545"/>
            </a:avLst>
          </a:prstGeom>
          <a:solidFill>
            <a:srgbClr val="22C55E">
              <a:alpha val="95000"/>
            </a:srgbClr>
          </a:solidFill>
          <a:ln/>
        </p:spPr>
      </p:sp>
      <p:sp>
        <p:nvSpPr>
          <p:cNvPr id="18" name="Text 14"/>
          <p:cNvSpPr/>
          <p:nvPr/>
        </p:nvSpPr>
        <p:spPr>
          <a:xfrm>
            <a:off x="6525616" y="2329942"/>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9 loại sự cố được quét tự động</a:t>
            </a:r>
            <a:endParaRPr lang="en-US" sz="1500" dirty="0"/>
          </a:p>
        </p:txBody>
      </p:sp>
      <p:sp>
        <p:nvSpPr>
          <p:cNvPr id="19" name="Text 15"/>
          <p:cNvSpPr/>
          <p:nvPr/>
        </p:nvSpPr>
        <p:spPr>
          <a:xfrm>
            <a:off x="6525616" y="2677414"/>
            <a:ext cx="4751680" cy="467487"/>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Hệ thống mở hồ sơ sự cố kèm bằng chứng và báo theo thời gian</a:t>
            </a:r>
            <a:endParaRPr lang="en-US" sz="1150" dirty="0"/>
          </a:p>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thực.</a:t>
            </a:r>
            <a:endParaRPr lang="en-US" sz="1150" dirty="0"/>
          </a:p>
        </p:txBody>
      </p:sp>
      <p:sp>
        <p:nvSpPr>
          <p:cNvPr id="20" name="Shape 16"/>
          <p:cNvSpPr/>
          <p:nvPr/>
        </p:nvSpPr>
        <p:spPr>
          <a:xfrm>
            <a:off x="713232" y="3299206"/>
            <a:ext cx="5245456"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1" name="Shape 17"/>
          <p:cNvSpPr/>
          <p:nvPr/>
        </p:nvSpPr>
        <p:spPr>
          <a:xfrm>
            <a:off x="713232" y="3299206"/>
            <a:ext cx="50292" cy="1691640"/>
          </a:xfrm>
          <a:prstGeom prst="roundRect">
            <a:avLst>
              <a:gd name="adj" fmla="val 54545"/>
            </a:avLst>
          </a:prstGeom>
          <a:solidFill>
            <a:srgbClr val="FB923C">
              <a:alpha val="95000"/>
            </a:srgbClr>
          </a:solidFill>
          <a:ln/>
        </p:spPr>
      </p:sp>
      <p:sp>
        <p:nvSpPr>
          <p:cNvPr id="22" name="Text 18"/>
          <p:cNvSpPr/>
          <p:nvPr/>
        </p:nvSpPr>
        <p:spPr>
          <a:xfrm>
            <a:off x="1005840" y="3482086"/>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Nguy cơ cháy đòi hai dấu hiệu cùng lúc</a:t>
            </a:r>
            <a:endParaRPr lang="en-US" sz="1500" dirty="0"/>
          </a:p>
        </p:txBody>
      </p:sp>
      <p:sp>
        <p:nvSpPr>
          <p:cNvPr id="23" name="Text 19"/>
          <p:cNvSpPr/>
          <p:nvPr/>
        </p:nvSpPr>
        <p:spPr>
          <a:xfrm>
            <a:off x="1005840" y="3884422"/>
            <a:ext cx="4751680" cy="902716"/>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Khói vượt 30 ppm VÀ nhiệt độ tăng từ 15 độ trở lên trong cùng</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một cửa sổ quét.</a:t>
            </a:r>
            <a:endParaRPr lang="en-US" sz="1150" dirty="0"/>
          </a:p>
          <a:p>
            <a:pPr marL="0" indent="0" algn="l">
              <a:lnSpc>
                <a:spcPts val="1633"/>
              </a:lnSpc>
              <a:buNone/>
            </a:pP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Một hệ thống báo động giả vài lần sẽ bị người ta tắt đi.</a:t>
            </a:r>
            <a:endParaRPr lang="en-US" sz="1150" dirty="0"/>
          </a:p>
        </p:txBody>
      </p:sp>
      <p:sp>
        <p:nvSpPr>
          <p:cNvPr id="24" name="Shape 20"/>
          <p:cNvSpPr/>
          <p:nvPr/>
        </p:nvSpPr>
        <p:spPr>
          <a:xfrm>
            <a:off x="6233008" y="3299206"/>
            <a:ext cx="5245456"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5" name="Shape 21"/>
          <p:cNvSpPr/>
          <p:nvPr/>
        </p:nvSpPr>
        <p:spPr>
          <a:xfrm>
            <a:off x="6233008" y="3299206"/>
            <a:ext cx="50292" cy="1691640"/>
          </a:xfrm>
          <a:prstGeom prst="roundRect">
            <a:avLst>
              <a:gd name="adj" fmla="val 54545"/>
            </a:avLst>
          </a:prstGeom>
          <a:solidFill>
            <a:srgbClr val="FBBF24">
              <a:alpha val="95000"/>
            </a:srgbClr>
          </a:solidFill>
          <a:ln/>
        </p:spPr>
      </p:sp>
      <p:sp>
        <p:nvSpPr>
          <p:cNvPr id="26" name="Text 22"/>
          <p:cNvSpPr/>
          <p:nvPr/>
        </p:nvSpPr>
        <p:spPr>
          <a:xfrm>
            <a:off x="6525616" y="3482086"/>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Sự im lặng cũng là một sự cố</a:t>
            </a:r>
            <a:endParaRPr lang="en-US" sz="1500" dirty="0"/>
          </a:p>
        </p:txBody>
      </p:sp>
      <p:sp>
        <p:nvSpPr>
          <p:cNvPr id="27" name="Text 23"/>
          <p:cNvSpPr/>
          <p:nvPr/>
        </p:nvSpPr>
        <p:spPr>
          <a:xfrm>
            <a:off x="6525616" y="3884422"/>
            <a:ext cx="4751680" cy="902716"/>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Bỏ lỡ 3 chu kỳ báo thì cảnh báo; bỏ lỡ 10 chu kỳ thì coi như thiết bị</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đã chết.</a:t>
            </a:r>
            <a:endParaRPr lang="en-US" sz="1150" dirty="0"/>
          </a:p>
          <a:p>
            <a:pPr marL="0" indent="0" algn="l">
              <a:lnSpc>
                <a:spcPts val="1633"/>
              </a:lnSpc>
              <a:buNone/>
            </a:pP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Im lặng rất dễ bị hiểu nhầm là “mọi thứ bình thường”.</a:t>
            </a:r>
            <a:endParaRPr lang="en-US" sz="1150" dirty="0"/>
          </a:p>
        </p:txBody>
      </p:sp>
      <p:sp>
        <p:nvSpPr>
          <p:cNvPr id="28" name="Shape 24"/>
          <p:cNvSpPr/>
          <p:nvPr/>
        </p:nvSpPr>
        <p:spPr>
          <a:xfrm>
            <a:off x="713232" y="5228590"/>
            <a:ext cx="5245456" cy="914400"/>
          </a:xfrm>
          <a:prstGeom prst="roundRect">
            <a:avLst>
              <a:gd name="adj" fmla="val 12000"/>
            </a:avLst>
          </a:prstGeom>
          <a:solidFill>
            <a:srgbClr val="091B2D">
              <a:alpha val="66000"/>
            </a:srgbClr>
          </a:solidFill>
          <a:ln w="12700">
            <a:solidFill>
              <a:srgbClr val="FFFFFF">
                <a:alpha val="12000"/>
              </a:srgbClr>
            </a:solidFill>
            <a:prstDash val="solid"/>
          </a:ln>
        </p:spPr>
      </p:sp>
      <p:sp>
        <p:nvSpPr>
          <p:cNvPr id="29" name="Shape 25"/>
          <p:cNvSpPr/>
          <p:nvPr/>
        </p:nvSpPr>
        <p:spPr>
          <a:xfrm>
            <a:off x="713232" y="5228590"/>
            <a:ext cx="50292" cy="914400"/>
          </a:xfrm>
          <a:prstGeom prst="roundRect">
            <a:avLst>
              <a:gd name="adj" fmla="val 54545"/>
            </a:avLst>
          </a:prstGeom>
          <a:solidFill>
            <a:srgbClr val="22C55E">
              <a:alpha val="95000"/>
            </a:srgbClr>
          </a:solidFill>
          <a:ln/>
        </p:spPr>
      </p:sp>
      <p:sp>
        <p:nvSpPr>
          <p:cNvPr id="30" name="Text 26"/>
          <p:cNvSpPr/>
          <p:nvPr/>
        </p:nvSpPr>
        <p:spPr>
          <a:xfrm>
            <a:off x="1005840" y="5356606"/>
            <a:ext cx="475168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Thư cảnh báo ghi 3 mốc thời gian</a:t>
            </a:r>
            <a:endParaRPr lang="en-US" sz="1300" dirty="0"/>
          </a:p>
        </p:txBody>
      </p:sp>
      <p:sp>
        <p:nvSpPr>
          <p:cNvPr id="31" name="Text 27"/>
          <p:cNvSpPr/>
          <p:nvPr/>
        </p:nvSpPr>
        <p:spPr>
          <a:xfrm>
            <a:off x="1005840" y="5667502"/>
            <a:ext cx="4751680"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Lúc phát hiện · lúc hệ thống nhận · lúc gửi đi — mất mạng thì nằm</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hàng chờ và gửi lại sau.</a:t>
            </a:r>
            <a:endParaRPr lang="en-US" sz="1150" dirty="0"/>
          </a:p>
        </p:txBody>
      </p:sp>
      <p:sp>
        <p:nvSpPr>
          <p:cNvPr id="32" name="Shape 28"/>
          <p:cNvSpPr/>
          <p:nvPr/>
        </p:nvSpPr>
        <p:spPr>
          <a:xfrm>
            <a:off x="6233008" y="5228590"/>
            <a:ext cx="5245456" cy="914400"/>
          </a:xfrm>
          <a:prstGeom prst="roundRect">
            <a:avLst>
              <a:gd name="adj" fmla="val 12000"/>
            </a:avLst>
          </a:prstGeom>
          <a:solidFill>
            <a:srgbClr val="091B2D">
              <a:alpha val="66000"/>
            </a:srgbClr>
          </a:solidFill>
          <a:ln w="12700">
            <a:solidFill>
              <a:srgbClr val="FFFFFF">
                <a:alpha val="12000"/>
              </a:srgbClr>
            </a:solidFill>
            <a:prstDash val="solid"/>
          </a:ln>
        </p:spPr>
      </p:sp>
      <p:sp>
        <p:nvSpPr>
          <p:cNvPr id="33" name="Shape 29"/>
          <p:cNvSpPr/>
          <p:nvPr/>
        </p:nvSpPr>
        <p:spPr>
          <a:xfrm>
            <a:off x="6233008" y="5228590"/>
            <a:ext cx="50292" cy="914400"/>
          </a:xfrm>
          <a:prstGeom prst="roundRect">
            <a:avLst>
              <a:gd name="adj" fmla="val 54545"/>
            </a:avLst>
          </a:prstGeom>
          <a:solidFill>
            <a:srgbClr val="38BDF8">
              <a:alpha val="95000"/>
            </a:srgbClr>
          </a:solidFill>
          <a:ln/>
        </p:spPr>
      </p:sp>
      <p:sp>
        <p:nvSpPr>
          <p:cNvPr id="34" name="Text 30"/>
          <p:cNvSpPr/>
          <p:nvPr/>
        </p:nvSpPr>
        <p:spPr>
          <a:xfrm>
            <a:off x="6525616" y="5356606"/>
            <a:ext cx="475168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2 giờ sáng, độ ẩm lên 88% vì mái dột</a:t>
            </a:r>
            <a:endParaRPr lang="en-US" sz="1300" dirty="0"/>
          </a:p>
        </p:txBody>
      </p:sp>
      <p:sp>
        <p:nvSpPr>
          <p:cNvPr id="35" name="Text 31"/>
          <p:cNvSpPr/>
          <p:nvPr/>
        </p:nvSpPr>
        <p:spPr>
          <a:xfrm>
            <a:off x="6525616" y="5667502"/>
            <a:ext cx="4751680"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mở sự cố bảo quản xấu và gửi thư ngay. Sáng ra, thuốc</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và lương khô vẫn dùng được.</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32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54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54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54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54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22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NÓI THẲNG VỀ PHẦN CỨNG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Hôm nay: bản sao số. Ngày mai: cảm biến thật.</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834640"/>
          </a:xfrm>
          <a:prstGeom prst="roundRect">
            <a:avLst>
              <a:gd name="adj" fmla="val 54545"/>
            </a:avLst>
          </a:prstGeom>
          <a:solidFill>
            <a:srgbClr val="38BDF8">
              <a:alpha val="95000"/>
            </a:srgbClr>
          </a:solidFill>
          <a:ln/>
        </p:spPr>
      </p:sp>
      <p:sp>
        <p:nvSpPr>
          <p:cNvPr id="14" name="Text 10"/>
          <p:cNvSpPr/>
          <p:nvPr/>
        </p:nvSpPr>
        <p:spPr>
          <a:xfrm>
            <a:off x="1024128" y="2494534"/>
            <a:ext cx="2875178" cy="327152"/>
          </a:xfrm>
          <a:prstGeom prst="rect">
            <a:avLst/>
          </a:prstGeom>
          <a:noFill/>
          <a:ln/>
        </p:spPr>
        <p:txBody>
          <a:bodyPr wrap="square" lIns="0" tIns="0" rIns="0" bIns="0" rtlCol="0" anchor="t"/>
          <a:lstStyle/>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Vì sao làm như vậy</a:t>
            </a:r>
            <a:endParaRPr lang="en-US" sz="1600" dirty="0"/>
          </a:p>
        </p:txBody>
      </p:sp>
      <p:sp>
        <p:nvSpPr>
          <p:cNvPr id="15" name="Text 11"/>
          <p:cNvSpPr/>
          <p:nvPr/>
        </p:nvSpPr>
        <p:spPr>
          <a:xfrm>
            <a:off x="1024128" y="3116326"/>
            <a:ext cx="2875178" cy="1025652"/>
          </a:xfrm>
          <a:prstGeom prst="rect">
            <a:avLst/>
          </a:prstGeom>
          <a:noFill/>
          <a:ln/>
        </p:spPr>
        <p:txBody>
          <a:bodyPr wrap="square" lIns="0" tIns="0" rIns="0" bIns="0" rtlCol="0" anchor="t"/>
          <a:lstStyle/>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Một ứng dụng mô phỏng đủ 9 loại</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thiết bị, để kiểm thử trọn chuỗi tín</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hiệu → sự cố → cảnh báo → chỉ số sẵn</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sàng trước khi bỏ tiền mua thiết bị.</a:t>
            </a:r>
            <a:endParaRPr lang="en-US" sz="1250" dirty="0"/>
          </a:p>
        </p:txBody>
      </p:sp>
      <p:sp>
        <p:nvSpPr>
          <p:cNvPr id="16" name="Shape 12"/>
          <p:cNvSpPr/>
          <p:nvPr/>
        </p:nvSpPr>
        <p:spPr>
          <a:xfrm>
            <a:off x="4393082"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17" name="Shape 13"/>
          <p:cNvSpPr/>
          <p:nvPr/>
        </p:nvSpPr>
        <p:spPr>
          <a:xfrm>
            <a:off x="4393082" y="2220214"/>
            <a:ext cx="50292" cy="2834640"/>
          </a:xfrm>
          <a:prstGeom prst="roundRect">
            <a:avLst>
              <a:gd name="adj" fmla="val 54545"/>
            </a:avLst>
          </a:prstGeom>
          <a:solidFill>
            <a:srgbClr val="22C55E">
              <a:alpha val="95000"/>
            </a:srgbClr>
          </a:solidFill>
          <a:ln/>
        </p:spPr>
      </p:sp>
      <p:sp>
        <p:nvSpPr>
          <p:cNvPr id="18" name="Text 14"/>
          <p:cNvSpPr/>
          <p:nvPr/>
        </p:nvSpPr>
        <p:spPr>
          <a:xfrm>
            <a:off x="4703978" y="2494534"/>
            <a:ext cx="2875178" cy="581152"/>
          </a:xfrm>
          <a:prstGeom prst="rect">
            <a:avLst/>
          </a:prstGeom>
          <a:noFill/>
          <a:ln/>
        </p:spPr>
        <p:txBody>
          <a:bodyPr wrap="square" lIns="0" tIns="0" rIns="0" bIns="0" rtlCol="0" anchor="t"/>
          <a:lstStyle/>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Chung một đường ống dữ</a:t>
            </a:r>
            <a:endParaRPr lang="en-US" sz="1600" dirty="0"/>
          </a:p>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liệu</a:t>
            </a:r>
            <a:endParaRPr lang="en-US" sz="1600" dirty="0"/>
          </a:p>
        </p:txBody>
      </p:sp>
      <p:sp>
        <p:nvSpPr>
          <p:cNvPr id="19" name="Text 15"/>
          <p:cNvSpPr/>
          <p:nvPr/>
        </p:nvSpPr>
        <p:spPr>
          <a:xfrm>
            <a:off x="4703978" y="3116326"/>
            <a:ext cx="2875178" cy="1025652"/>
          </a:xfrm>
          <a:prstGeom prst="rect">
            <a:avLst/>
          </a:prstGeom>
          <a:noFill/>
          <a:ln/>
        </p:spPr>
        <p:txBody>
          <a:bodyPr wrap="square" lIns="0" tIns="0" rIns="0" bIns="0" rtlCol="0" anchor="t"/>
          <a:lstStyle/>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Cảm biến thật và thiết bị mô phỏng</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đi chung một lối vào. Mỗi cổng thu</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phát có khóa riêng và chỉ gửi được</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cho đúng kho của mình.</a:t>
            </a:r>
            <a:endParaRPr lang="en-US" sz="1250" dirty="0"/>
          </a:p>
        </p:txBody>
      </p:sp>
      <p:sp>
        <p:nvSpPr>
          <p:cNvPr id="20" name="Shape 16"/>
          <p:cNvSpPr/>
          <p:nvPr/>
        </p:nvSpPr>
        <p:spPr>
          <a:xfrm>
            <a:off x="8072933"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21" name="Shape 17"/>
          <p:cNvSpPr/>
          <p:nvPr/>
        </p:nvSpPr>
        <p:spPr>
          <a:xfrm>
            <a:off x="8072933" y="2220214"/>
            <a:ext cx="50292" cy="2834640"/>
          </a:xfrm>
          <a:prstGeom prst="roundRect">
            <a:avLst>
              <a:gd name="adj" fmla="val 54545"/>
            </a:avLst>
          </a:prstGeom>
          <a:solidFill>
            <a:srgbClr val="FBBF24">
              <a:alpha val="95000"/>
            </a:srgbClr>
          </a:solidFill>
          <a:ln/>
        </p:spPr>
      </p:sp>
      <p:sp>
        <p:nvSpPr>
          <p:cNvPr id="22" name="Text 18"/>
          <p:cNvSpPr/>
          <p:nvPr/>
        </p:nvSpPr>
        <p:spPr>
          <a:xfrm>
            <a:off x="8383829" y="2494534"/>
            <a:ext cx="2875178" cy="327152"/>
          </a:xfrm>
          <a:prstGeom prst="rect">
            <a:avLst/>
          </a:prstGeom>
          <a:noFill/>
          <a:ln/>
        </p:spPr>
        <p:txBody>
          <a:bodyPr wrap="square" lIns="0" tIns="0" rIns="0" bIns="0" rtlCol="0" anchor="t"/>
          <a:lstStyle/>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Khi gắn thiết bị thật</a:t>
            </a:r>
            <a:endParaRPr lang="en-US" sz="1600" dirty="0"/>
          </a:p>
        </p:txBody>
      </p:sp>
      <p:sp>
        <p:nvSpPr>
          <p:cNvPr id="23" name="Text 19"/>
          <p:cNvSpPr/>
          <p:nvPr/>
        </p:nvSpPr>
        <p:spPr>
          <a:xfrm>
            <a:off x="8383829" y="3116326"/>
            <a:ext cx="2875178" cy="1025652"/>
          </a:xfrm>
          <a:prstGeom prst="rect">
            <a:avLst/>
          </a:prstGeom>
          <a:noFill/>
          <a:ln/>
        </p:spPr>
        <p:txBody>
          <a:bodyPr wrap="square" lIns="0" tIns="0" rIns="0" bIns="0" rtlCol="0" anchor="t"/>
          <a:lstStyle/>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Phần nghiệp vụ phía sau không phải</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sửa — chỉ thay nguồn phát tín hiệu,</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toàn bộ luồng sự cố và cảnh báo giữ</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nguyên.</a:t>
            </a:r>
            <a:endParaRPr lang="en-US" sz="1250" dirty="0"/>
          </a:p>
        </p:txBody>
      </p:sp>
      <p:sp>
        <p:nvSpPr>
          <p:cNvPr id="24" name="Shape 20"/>
          <p:cNvSpPr/>
          <p:nvPr/>
        </p:nvSpPr>
        <p:spPr>
          <a:xfrm>
            <a:off x="713232" y="5329174"/>
            <a:ext cx="10765231" cy="749808"/>
          </a:xfrm>
          <a:prstGeom prst="roundRect">
            <a:avLst>
              <a:gd name="adj" fmla="val 12195"/>
            </a:avLst>
          </a:prstGeom>
          <a:solidFill>
            <a:srgbClr val="FFFFFF">
              <a:alpha val="8000"/>
            </a:srgbClr>
          </a:solidFill>
          <a:ln w="12700">
            <a:solidFill>
              <a:srgbClr val="FFFFFF">
                <a:alpha val="18000"/>
              </a:srgbClr>
            </a:solidFill>
            <a:prstDash val="solid"/>
          </a:ln>
        </p:spPr>
      </p:sp>
      <p:sp>
        <p:nvSpPr>
          <p:cNvPr id="25" name="Shape 21"/>
          <p:cNvSpPr/>
          <p:nvPr/>
        </p:nvSpPr>
        <p:spPr>
          <a:xfrm>
            <a:off x="713232" y="5329174"/>
            <a:ext cx="50292" cy="749808"/>
          </a:xfrm>
          <a:prstGeom prst="roundRect">
            <a:avLst>
              <a:gd name="adj" fmla="val 54545"/>
            </a:avLst>
          </a:prstGeom>
          <a:solidFill>
            <a:srgbClr val="6EE7A8">
              <a:alpha val="95000"/>
            </a:srgbClr>
          </a:solidFill>
          <a:ln/>
        </p:spPr>
      </p:sp>
      <p:sp>
        <p:nvSpPr>
          <p:cNvPr id="26" name="Text 22"/>
          <p:cNvSpPr/>
          <p:nvPr/>
        </p:nvSpPr>
        <p:spPr>
          <a:xfrm>
            <a:off x="1078992" y="5539486"/>
            <a:ext cx="10125151"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Không tuyên bố tương thích phần cứng trước khi nghiệm thu thiết bị thật.</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23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TRỢ LÝ AI</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Hỏi bằng tiếng Việt. Nhưng không được bịa số.</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572000" cy="2926080"/>
          </a:xfrm>
          <a:prstGeom prst="roundRect">
            <a:avLst>
              <a:gd name="adj" fmla="val 375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926080"/>
          </a:xfrm>
          <a:prstGeom prst="roundRect">
            <a:avLst>
              <a:gd name="adj" fmla="val 54545"/>
            </a:avLst>
          </a:prstGeom>
          <a:solidFill>
            <a:srgbClr val="38BDF8">
              <a:alpha val="95000"/>
            </a:srgbClr>
          </a:solidFill>
          <a:ln/>
        </p:spPr>
      </p:sp>
      <p:sp>
        <p:nvSpPr>
          <p:cNvPr id="14" name="Text 10"/>
          <p:cNvSpPr/>
          <p:nvPr/>
        </p:nvSpPr>
        <p:spPr>
          <a:xfrm>
            <a:off x="1024128" y="2457958"/>
            <a:ext cx="4041648" cy="253175"/>
          </a:xfrm>
          <a:prstGeom prst="rect">
            <a:avLst/>
          </a:prstGeom>
          <a:noFill/>
          <a:ln/>
        </p:spPr>
        <p:txBody>
          <a:bodyPr wrap="square" lIns="0" tIns="0" rIns="0" bIns="0" rtlCol="0" anchor="t"/>
          <a:lstStyle/>
          <a:p>
            <a:pPr marL="0" indent="0" algn="l">
              <a:lnSpc>
                <a:spcPts val="1418"/>
              </a:lnSpc>
              <a:buNone/>
            </a:pPr>
            <a:r>
              <a:rPr lang="en-US" sz="1050" b="1" kern="0" spc="170" dirty="0">
                <a:solidFill>
                  <a:srgbClr val="38BDF8"/>
                </a:solidFill>
                <a:latin typeface="Be Vietnam Pro" pitchFamily="34" charset="0"/>
                <a:ea typeface="Be Vietnam Pro" pitchFamily="34" charset="-122"/>
                <a:cs typeface="Be Vietnam Pro" pitchFamily="34" charset="-120"/>
              </a:rPr>
              <a:t>HỎI BẰNG NGÔN NGỮ TỰ NHIÊN</a:t>
            </a:r>
            <a:endParaRPr lang="en-US" sz="1050" dirty="0"/>
          </a:p>
        </p:txBody>
      </p:sp>
      <p:sp>
        <p:nvSpPr>
          <p:cNvPr id="15" name="Shape 11"/>
          <p:cNvSpPr/>
          <p:nvPr/>
        </p:nvSpPr>
        <p:spPr>
          <a:xfrm>
            <a:off x="1024128" y="2860294"/>
            <a:ext cx="3950208" cy="460629"/>
          </a:xfrm>
          <a:prstGeom prst="roundRect">
            <a:avLst>
              <a:gd name="adj" fmla="val 19851"/>
            </a:avLst>
          </a:prstGeom>
          <a:solidFill>
            <a:srgbClr val="38BDF8">
              <a:alpha val="14000"/>
            </a:srgbClr>
          </a:solidFill>
          <a:ln w="12700">
            <a:solidFill>
              <a:srgbClr val="38BDF8">
                <a:alpha val="40000"/>
              </a:srgbClr>
            </a:solidFill>
            <a:prstDash val="solid"/>
          </a:ln>
        </p:spPr>
      </p:sp>
      <p:sp>
        <p:nvSpPr>
          <p:cNvPr id="16" name="Text 12"/>
          <p:cNvSpPr/>
          <p:nvPr/>
        </p:nvSpPr>
        <p:spPr>
          <a:xfrm>
            <a:off x="1170432" y="2960878"/>
            <a:ext cx="374904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“Kho nào còn nhiều áo phao nhất?”</a:t>
            </a:r>
            <a:endParaRPr lang="en-US" sz="1300" dirty="0"/>
          </a:p>
        </p:txBody>
      </p:sp>
      <p:sp>
        <p:nvSpPr>
          <p:cNvPr id="17" name="Text 13"/>
          <p:cNvSpPr/>
          <p:nvPr/>
        </p:nvSpPr>
        <p:spPr>
          <a:xfrm>
            <a:off x="1024128" y="3518662"/>
            <a:ext cx="4041648" cy="278892"/>
          </a:xfrm>
          <a:prstGeom prst="rect">
            <a:avLst/>
          </a:prstGeom>
          <a:noFill/>
          <a:ln/>
        </p:spPr>
        <p:txBody>
          <a:bodyPr wrap="square" lIns="0" tIns="0" rIns="0" bIns="0" rtlCol="0" anchor="t"/>
          <a:lstStyle/>
          <a:p>
            <a:pPr marL="0" indent="0" algn="l">
              <a:lnSpc>
                <a:spcPts val="1620"/>
              </a:lnSpc>
              <a:buNone/>
            </a:pPr>
            <a:r>
              <a:rPr lang="en-US" sz="1200" dirty="0">
                <a:solidFill>
                  <a:srgbClr val="D9E6F2"/>
                </a:solidFill>
                <a:latin typeface="Be Vietnam Pro" pitchFamily="34" charset="0"/>
                <a:ea typeface="Be Vietnam Pro" pitchFamily="34" charset="-122"/>
                <a:cs typeface="Be Vietnam Pro" pitchFamily="34" charset="-120"/>
              </a:rPr>
              <a:t>Khoảng 2 giây là có số, kèm phân bổ theo từng kho.</a:t>
            </a:r>
            <a:endParaRPr lang="en-US" sz="1200" dirty="0"/>
          </a:p>
        </p:txBody>
      </p:sp>
      <p:sp>
        <p:nvSpPr>
          <p:cNvPr id="18" name="Shape 14"/>
          <p:cNvSpPr/>
          <p:nvPr/>
        </p:nvSpPr>
        <p:spPr>
          <a:xfrm>
            <a:off x="1024128" y="3920998"/>
            <a:ext cx="3950208" cy="9144"/>
          </a:xfrm>
          <a:prstGeom prst="rect">
            <a:avLst/>
          </a:prstGeom>
          <a:solidFill>
            <a:srgbClr val="FFFFFF">
              <a:alpha val="16000"/>
            </a:srgbClr>
          </a:solidFill>
          <a:ln/>
        </p:spPr>
      </p:sp>
      <p:sp>
        <p:nvSpPr>
          <p:cNvPr id="19" name="Text 15"/>
          <p:cNvSpPr/>
          <p:nvPr/>
        </p:nvSpPr>
        <p:spPr>
          <a:xfrm>
            <a:off x="1024128" y="4049014"/>
            <a:ext cx="4041648" cy="253175"/>
          </a:xfrm>
          <a:prstGeom prst="rect">
            <a:avLst/>
          </a:prstGeom>
          <a:noFill/>
          <a:ln/>
        </p:spPr>
        <p:txBody>
          <a:bodyPr wrap="square" lIns="0" tIns="0" rIns="0" bIns="0" rtlCol="0" anchor="t"/>
          <a:lstStyle/>
          <a:p>
            <a:pPr marL="0" indent="0" algn="l">
              <a:lnSpc>
                <a:spcPts val="1418"/>
              </a:lnSpc>
              <a:buNone/>
            </a:pPr>
            <a:r>
              <a:rPr lang="en-US" sz="1050" b="1" kern="0" spc="170" dirty="0">
                <a:solidFill>
                  <a:srgbClr val="F87171"/>
                </a:solidFill>
                <a:latin typeface="Be Vietnam Pro" pitchFamily="34" charset="0"/>
                <a:ea typeface="Be Vietnam Pro" pitchFamily="34" charset="-122"/>
                <a:cs typeface="Be Vietnam Pro" pitchFamily="34" charset="-120"/>
              </a:rPr>
              <a:t>KHI CON SỐ KHÔNG KHỚP DỮ LIỆU</a:t>
            </a:r>
            <a:endParaRPr lang="en-US" sz="1050" dirty="0"/>
          </a:p>
        </p:txBody>
      </p:sp>
      <p:sp>
        <p:nvSpPr>
          <p:cNvPr id="20" name="Shape 16"/>
          <p:cNvSpPr/>
          <p:nvPr/>
        </p:nvSpPr>
        <p:spPr>
          <a:xfrm>
            <a:off x="1024128" y="4433062"/>
            <a:ext cx="3950208" cy="512064"/>
          </a:xfrm>
          <a:prstGeom prst="roundRect">
            <a:avLst>
              <a:gd name="adj" fmla="val 17857"/>
            </a:avLst>
          </a:prstGeom>
          <a:solidFill>
            <a:srgbClr val="F87171">
              <a:alpha val="16000"/>
            </a:srgbClr>
          </a:solidFill>
          <a:ln w="12700">
            <a:solidFill>
              <a:srgbClr val="F87171">
                <a:alpha val="45000"/>
              </a:srgbClr>
            </a:solidFill>
            <a:prstDash val="solid"/>
          </a:ln>
        </p:spPr>
      </p:sp>
      <p:sp>
        <p:nvSpPr>
          <p:cNvPr id="21" name="Text 17"/>
          <p:cNvSpPr/>
          <p:nvPr/>
        </p:nvSpPr>
        <p:spPr>
          <a:xfrm>
            <a:off x="1170432" y="4551934"/>
            <a:ext cx="374904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“Chưa thể tạo câu trả lời an toàn.”</a:t>
            </a:r>
            <a:endParaRPr lang="en-US" sz="1300" dirty="0"/>
          </a:p>
        </p:txBody>
      </p:sp>
      <p:sp>
        <p:nvSpPr>
          <p:cNvPr id="22" name="Shape 18"/>
          <p:cNvSpPr/>
          <p:nvPr/>
        </p:nvSpPr>
        <p:spPr>
          <a:xfrm>
            <a:off x="5632704" y="2220214"/>
            <a:ext cx="58457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23" name="Shape 19"/>
          <p:cNvSpPr/>
          <p:nvPr/>
        </p:nvSpPr>
        <p:spPr>
          <a:xfrm>
            <a:off x="5632704" y="2220214"/>
            <a:ext cx="50292" cy="859536"/>
          </a:xfrm>
          <a:prstGeom prst="roundRect">
            <a:avLst>
              <a:gd name="adj" fmla="val 54545"/>
            </a:avLst>
          </a:prstGeom>
          <a:solidFill>
            <a:srgbClr val="22C55E">
              <a:alpha val="95000"/>
            </a:srgbClr>
          </a:solidFill>
          <a:ln/>
        </p:spPr>
      </p:sp>
      <p:sp>
        <p:nvSpPr>
          <p:cNvPr id="24" name="Text 20"/>
          <p:cNvSpPr/>
          <p:nvPr/>
        </p:nvSpPr>
        <p:spPr>
          <a:xfrm>
            <a:off x="5907024" y="2348230"/>
            <a:ext cx="5388559"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Đối chiếu từng con số</a:t>
            </a:r>
            <a:endParaRPr lang="en-US" sz="1350" dirty="0"/>
          </a:p>
        </p:txBody>
      </p:sp>
      <p:sp>
        <p:nvSpPr>
          <p:cNvPr id="25" name="Text 21"/>
          <p:cNvSpPr/>
          <p:nvPr/>
        </p:nvSpPr>
        <p:spPr>
          <a:xfrm>
            <a:off x="5907024" y="2640838"/>
            <a:ext cx="5388559"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Câu trả lời được soi lại với dữ liệu kho tại thời điểm hỏi; lệch thì chặn,</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không hiển thị.</a:t>
            </a:r>
            <a:endParaRPr lang="en-US" sz="1150" dirty="0"/>
          </a:p>
        </p:txBody>
      </p:sp>
      <p:sp>
        <p:nvSpPr>
          <p:cNvPr id="26" name="Shape 22"/>
          <p:cNvSpPr/>
          <p:nvPr/>
        </p:nvSpPr>
        <p:spPr>
          <a:xfrm>
            <a:off x="5632704" y="3253486"/>
            <a:ext cx="58457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27" name="Shape 23"/>
          <p:cNvSpPr/>
          <p:nvPr/>
        </p:nvSpPr>
        <p:spPr>
          <a:xfrm>
            <a:off x="5632704" y="3253486"/>
            <a:ext cx="50292" cy="859536"/>
          </a:xfrm>
          <a:prstGeom prst="roundRect">
            <a:avLst>
              <a:gd name="adj" fmla="val 54545"/>
            </a:avLst>
          </a:prstGeom>
          <a:solidFill>
            <a:srgbClr val="FBBF24">
              <a:alpha val="95000"/>
            </a:srgbClr>
          </a:solidFill>
          <a:ln/>
        </p:spPr>
      </p:sp>
      <p:sp>
        <p:nvSpPr>
          <p:cNvPr id="28" name="Text 24"/>
          <p:cNvSpPr/>
          <p:nvPr/>
        </p:nvSpPr>
        <p:spPr>
          <a:xfrm>
            <a:off x="5907024" y="3381502"/>
            <a:ext cx="5388559"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Bắt buộc trích nguồn</a:t>
            </a:r>
            <a:endParaRPr lang="en-US" sz="1350" dirty="0"/>
          </a:p>
        </p:txBody>
      </p:sp>
      <p:sp>
        <p:nvSpPr>
          <p:cNvPr id="29" name="Text 25"/>
          <p:cNvSpPr/>
          <p:nvPr/>
        </p:nvSpPr>
        <p:spPr>
          <a:xfrm>
            <a:off x="5907024" y="3674110"/>
            <a:ext cx="5388559"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Định mức và quy trình sơ cứu dựa trên Sphere Standards, IFRC, WHO và cơ</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quan phòng chống thiên tai Việt Nam.</a:t>
            </a:r>
            <a:endParaRPr lang="en-US" sz="1150" dirty="0"/>
          </a:p>
        </p:txBody>
      </p:sp>
      <p:sp>
        <p:nvSpPr>
          <p:cNvPr id="30" name="Shape 26"/>
          <p:cNvSpPr/>
          <p:nvPr/>
        </p:nvSpPr>
        <p:spPr>
          <a:xfrm>
            <a:off x="5632704" y="4286758"/>
            <a:ext cx="58457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31" name="Shape 27"/>
          <p:cNvSpPr/>
          <p:nvPr/>
        </p:nvSpPr>
        <p:spPr>
          <a:xfrm>
            <a:off x="5632704" y="4286758"/>
            <a:ext cx="50292" cy="859536"/>
          </a:xfrm>
          <a:prstGeom prst="roundRect">
            <a:avLst>
              <a:gd name="adj" fmla="val 54545"/>
            </a:avLst>
          </a:prstGeom>
          <a:solidFill>
            <a:srgbClr val="38BDF8">
              <a:alpha val="95000"/>
            </a:srgbClr>
          </a:solidFill>
          <a:ln/>
        </p:spPr>
      </p:sp>
      <p:sp>
        <p:nvSpPr>
          <p:cNvPr id="32" name="Text 28"/>
          <p:cNvSpPr/>
          <p:nvPr/>
        </p:nvSpPr>
        <p:spPr>
          <a:xfrm>
            <a:off x="5907024" y="4414774"/>
            <a:ext cx="5388559"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Chạy tại chỗ</a:t>
            </a:r>
            <a:endParaRPr lang="en-US" sz="1350" dirty="0"/>
          </a:p>
        </p:txBody>
      </p:sp>
      <p:sp>
        <p:nvSpPr>
          <p:cNvPr id="33" name="Text 29"/>
          <p:cNvSpPr/>
          <p:nvPr/>
        </p:nvSpPr>
        <p:spPr>
          <a:xfrm>
            <a:off x="5907024" y="4707382"/>
            <a:ext cx="5388559"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Mô hình chạy trên máy đặt tại xã: không gửi dữ liệu ra ngoài, 0 đồng mỗi</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lượt gọi.</a:t>
            </a:r>
            <a:endParaRPr lang="en-US" sz="1150" dirty="0"/>
          </a:p>
        </p:txBody>
      </p:sp>
      <p:sp>
        <p:nvSpPr>
          <p:cNvPr id="34" name="Shape 30"/>
          <p:cNvSpPr/>
          <p:nvPr/>
        </p:nvSpPr>
        <p:spPr>
          <a:xfrm>
            <a:off x="713232" y="5402326"/>
            <a:ext cx="10765231" cy="749808"/>
          </a:xfrm>
          <a:prstGeom prst="roundRect">
            <a:avLst>
              <a:gd name="adj" fmla="val 12195"/>
            </a:avLst>
          </a:prstGeom>
          <a:solidFill>
            <a:srgbClr val="F87171">
              <a:alpha val="12000"/>
            </a:srgbClr>
          </a:solidFill>
          <a:ln w="12700">
            <a:solidFill>
              <a:srgbClr val="F87171">
                <a:alpha val="42000"/>
              </a:srgbClr>
            </a:solidFill>
            <a:prstDash val="solid"/>
          </a:ln>
        </p:spPr>
      </p:sp>
      <p:sp>
        <p:nvSpPr>
          <p:cNvPr id="35" name="Shape 31"/>
          <p:cNvSpPr/>
          <p:nvPr/>
        </p:nvSpPr>
        <p:spPr>
          <a:xfrm>
            <a:off x="713232" y="5402326"/>
            <a:ext cx="50292" cy="749808"/>
          </a:xfrm>
          <a:prstGeom prst="roundRect">
            <a:avLst>
              <a:gd name="adj" fmla="val 54545"/>
            </a:avLst>
          </a:prstGeom>
          <a:solidFill>
            <a:srgbClr val="F87171">
              <a:alpha val="95000"/>
            </a:srgbClr>
          </a:solidFill>
          <a:ln/>
        </p:spPr>
      </p:sp>
      <p:sp>
        <p:nvSpPr>
          <p:cNvPr id="36" name="Text 32"/>
          <p:cNvSpPr/>
          <p:nvPr/>
        </p:nvSpPr>
        <p:spPr>
          <a:xfrm>
            <a:off x="1078992" y="5603494"/>
            <a:ext cx="10125151"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Một câu trả lời sai nghe rất thuyết phục còn nguy hiểm hơn là không có câu trả lời nào.</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nodeType="withEffect">
                                  <p:stCondLst>
                                    <p:cond delay="44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nodeType="withEffect">
                                  <p:stCondLst>
                                    <p:cond delay="66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00"/>
                                        <p:tgtEl>
                                          <p:spTgt spid="15"/>
                                        </p:tgtEl>
                                      </p:cBhvr>
                                    </p:animEffect>
                                  </p:childTnLst>
                                </p:cTn>
                              </p:par>
                              <p:par>
                                <p:cTn id="29" presetID="10" presetClass="entr" presetSubtype="0" fill="hold" nodeType="withEffect">
                                  <p:stCondLst>
                                    <p:cond delay="66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00"/>
                                        <p:tgtEl>
                                          <p:spTgt spid="16"/>
                                        </p:tgtEl>
                                      </p:cBhvr>
                                    </p:animEffect>
                                  </p:childTnLst>
                                </p:cTn>
                              </p:par>
                              <p:par>
                                <p:cTn id="32" presetID="10" presetClass="entr" presetSubtype="0" fill="hold" nodeType="withEffect">
                                  <p:stCondLst>
                                    <p:cond delay="88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88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110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110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110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110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132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132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par>
                                <p:cTn id="56" presetID="10" presetClass="entr" presetSubtype="0" fill="hold" nodeType="withEffect">
                                  <p:stCondLst>
                                    <p:cond delay="132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400"/>
                                        <p:tgtEl>
                                          <p:spTgt spid="28"/>
                                        </p:tgtEl>
                                      </p:cBhvr>
                                    </p:animEffect>
                                  </p:childTnLst>
                                </p:cTn>
                              </p:par>
                              <p:par>
                                <p:cTn id="59" presetID="10" presetClass="entr" presetSubtype="0" fill="hold" nodeType="withEffect">
                                  <p:stCondLst>
                                    <p:cond delay="132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nodeType="withEffect">
                                  <p:stCondLst>
                                    <p:cond delay="154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nodeType="withEffect">
                                  <p:stCondLst>
                                    <p:cond delay="154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400"/>
                                        <p:tgtEl>
                                          <p:spTgt spid="31"/>
                                        </p:tgtEl>
                                      </p:cBhvr>
                                    </p:animEffect>
                                  </p:childTnLst>
                                </p:cTn>
                              </p:par>
                              <p:par>
                                <p:cTn id="68" presetID="10" presetClass="entr" presetSubtype="0" fill="hold" nodeType="withEffect">
                                  <p:stCondLst>
                                    <p:cond delay="154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par>
                                <p:cTn id="71" presetID="10" presetClass="entr" presetSubtype="0" fill="hold" nodeType="withEffect">
                                  <p:stCondLst>
                                    <p:cond delay="1540"/>
                                  </p:stCondLst>
                                  <p:childTnLst>
                                    <p:set>
                                      <p:cBhvr>
                                        <p:cTn id="72" dur="1" fill="hold">
                                          <p:stCondLst>
                                            <p:cond delay="0"/>
                                          </p:stCondLst>
                                        </p:cTn>
                                        <p:tgtEl>
                                          <p:spTgt spid="33"/>
                                        </p:tgtEl>
                                        <p:attrNameLst>
                                          <p:attrName>style.visibility</p:attrName>
                                        </p:attrNameLst>
                                      </p:cBhvr>
                                      <p:to>
                                        <p:strVal val="visible"/>
                                      </p:to>
                                    </p:set>
                                    <p:animEffect transition="in" filter="fade">
                                      <p:cBhvr>
                                        <p:cTn id="73" dur="400"/>
                                        <p:tgtEl>
                                          <p:spTgt spid="33"/>
                                        </p:tgtEl>
                                      </p:cBhvr>
                                    </p:animEffect>
                                  </p:childTnLst>
                                </p:cTn>
                              </p:par>
                              <p:par>
                                <p:cTn id="74" presetID="10" presetClass="entr" presetSubtype="0" fill="hold" nodeType="withEffect">
                                  <p:stCondLst>
                                    <p:cond delay="1760"/>
                                  </p:stCondLst>
                                  <p:childTnLst>
                                    <p:set>
                                      <p:cBhvr>
                                        <p:cTn id="75" dur="1" fill="hold">
                                          <p:stCondLst>
                                            <p:cond delay="0"/>
                                          </p:stCondLst>
                                        </p:cTn>
                                        <p:tgtEl>
                                          <p:spTgt spid="34"/>
                                        </p:tgtEl>
                                        <p:attrNameLst>
                                          <p:attrName>style.visibility</p:attrName>
                                        </p:attrNameLst>
                                      </p:cBhvr>
                                      <p:to>
                                        <p:strVal val="visible"/>
                                      </p:to>
                                    </p:set>
                                    <p:animEffect transition="in" filter="fade">
                                      <p:cBhvr>
                                        <p:cTn id="76" dur="400"/>
                                        <p:tgtEl>
                                          <p:spTgt spid="34"/>
                                        </p:tgtEl>
                                      </p:cBhvr>
                                    </p:animEffect>
                                  </p:childTnLst>
                                </p:cTn>
                              </p:par>
                              <p:par>
                                <p:cTn id="77" presetID="10" presetClass="entr" presetSubtype="0" fill="hold" nodeType="withEffect">
                                  <p:stCondLst>
                                    <p:cond delay="1760"/>
                                  </p:stCondLst>
                                  <p:childTnLst>
                                    <p:set>
                                      <p:cBhvr>
                                        <p:cTn id="78" dur="1" fill="hold">
                                          <p:stCondLst>
                                            <p:cond delay="0"/>
                                          </p:stCondLst>
                                        </p:cTn>
                                        <p:tgtEl>
                                          <p:spTgt spid="35"/>
                                        </p:tgtEl>
                                        <p:attrNameLst>
                                          <p:attrName>style.visibility</p:attrName>
                                        </p:attrNameLst>
                                      </p:cBhvr>
                                      <p:to>
                                        <p:strVal val="visible"/>
                                      </p:to>
                                    </p:set>
                                    <p:animEffect transition="in" filter="fade">
                                      <p:cBhvr>
                                        <p:cTn id="79" dur="400"/>
                                        <p:tgtEl>
                                          <p:spTgt spid="35"/>
                                        </p:tgtEl>
                                      </p:cBhvr>
                                    </p:animEffect>
                                  </p:childTnLst>
                                </p:cTn>
                              </p:par>
                              <p:par>
                                <p:cTn id="80" presetID="10" presetClass="entr" presetSubtype="0" fill="hold" nodeType="withEffect">
                                  <p:stCondLst>
                                    <p:cond delay="1760"/>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24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HỘI CHỮ THẬP ĐỎ XÃ ĐỒNG XUÂN</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Sản phẩm này có một nơi để về</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pic>
        <p:nvPicPr>
          <p:cNvPr id="12" name="Image 2" descr="anh/da-cat/thu-quan-tam.jpg"/>
          <p:cNvPicPr>
            <a:picLocks noChangeAspect="1"/>
          </p:cNvPicPr>
          <p:nvPr/>
        </p:nvPicPr>
        <p:blipFill>
          <a:blip r:embed="rId5"/>
          <a:stretch>
            <a:fillRect/>
          </a:stretch>
        </p:blipFill>
        <p:spPr>
          <a:xfrm>
            <a:off x="713232" y="2220214"/>
            <a:ext cx="2926080" cy="3703320"/>
          </a:xfrm>
          <a:prstGeom prst="rect">
            <a:avLst/>
          </a:prstGeom>
        </p:spPr>
      </p:pic>
      <p:sp>
        <p:nvSpPr>
          <p:cNvPr id="13" name="Shape 8"/>
          <p:cNvSpPr/>
          <p:nvPr/>
        </p:nvSpPr>
        <p:spPr>
          <a:xfrm>
            <a:off x="713232" y="2220214"/>
            <a:ext cx="2926080" cy="3703320"/>
          </a:xfrm>
          <a:prstGeom prst="roundRect">
            <a:avLst>
              <a:gd name="adj" fmla="val 3750"/>
            </a:avLst>
          </a:prstGeom>
          <a:solidFill>
            <a:srgbClr val="FFFFFF">
              <a:alpha val="0"/>
            </a:srgbClr>
          </a:solidFill>
          <a:ln w="12700">
            <a:solidFill>
              <a:srgbClr val="FFFFFF">
                <a:alpha val="18000"/>
              </a:srgbClr>
            </a:solidFill>
            <a:prstDash val="solid"/>
          </a:ln>
        </p:spPr>
      </p:sp>
      <p:sp>
        <p:nvSpPr>
          <p:cNvPr id="14" name="Shape 9"/>
          <p:cNvSpPr/>
          <p:nvPr/>
        </p:nvSpPr>
        <p:spPr>
          <a:xfrm>
            <a:off x="4041648" y="2220214"/>
            <a:ext cx="7436815" cy="1112520"/>
          </a:xfrm>
          <a:prstGeom prst="roundRect">
            <a:avLst>
              <a:gd name="adj" fmla="val 9863"/>
            </a:avLst>
          </a:prstGeom>
          <a:solidFill>
            <a:srgbClr val="091B2D">
              <a:alpha val="66000"/>
            </a:srgbClr>
          </a:solidFill>
          <a:ln w="12700">
            <a:solidFill>
              <a:srgbClr val="FFFFFF">
                <a:alpha val="12000"/>
              </a:srgbClr>
            </a:solidFill>
            <a:prstDash val="solid"/>
          </a:ln>
        </p:spPr>
      </p:sp>
      <p:sp>
        <p:nvSpPr>
          <p:cNvPr id="15" name="Shape 10"/>
          <p:cNvSpPr/>
          <p:nvPr/>
        </p:nvSpPr>
        <p:spPr>
          <a:xfrm>
            <a:off x="4041648" y="2220214"/>
            <a:ext cx="50292" cy="1112520"/>
          </a:xfrm>
          <a:prstGeom prst="roundRect">
            <a:avLst>
              <a:gd name="adj" fmla="val 54545"/>
            </a:avLst>
          </a:prstGeom>
          <a:solidFill>
            <a:srgbClr val="22C55E">
              <a:alpha val="95000"/>
            </a:srgbClr>
          </a:solidFill>
          <a:ln/>
        </p:spPr>
      </p:sp>
      <p:sp>
        <p:nvSpPr>
          <p:cNvPr id="16" name="Shape 11"/>
          <p:cNvSpPr/>
          <p:nvPr/>
        </p:nvSpPr>
        <p:spPr>
          <a:xfrm>
            <a:off x="4297680" y="2403094"/>
            <a:ext cx="402336" cy="402336"/>
          </a:xfrm>
          <a:prstGeom prst="roundRect">
            <a:avLst>
              <a:gd name="adj" fmla="val 50000"/>
            </a:avLst>
          </a:prstGeom>
          <a:solidFill>
            <a:srgbClr val="04101F">
              <a:alpha val="88000"/>
            </a:srgbClr>
          </a:solidFill>
          <a:ln/>
        </p:spPr>
      </p:sp>
      <p:sp>
        <p:nvSpPr>
          <p:cNvPr id="17" name="Shape 12"/>
          <p:cNvSpPr/>
          <p:nvPr/>
        </p:nvSpPr>
        <p:spPr>
          <a:xfrm>
            <a:off x="4297680" y="24030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18" name="Text 13"/>
          <p:cNvSpPr/>
          <p:nvPr/>
        </p:nvSpPr>
        <p:spPr>
          <a:xfrm>
            <a:off x="4251960" y="2467102"/>
            <a:ext cx="493776"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01</a:t>
            </a:r>
            <a:endParaRPr lang="en-US" sz="1500" dirty="0"/>
          </a:p>
        </p:txBody>
      </p:sp>
      <p:sp>
        <p:nvSpPr>
          <p:cNvPr id="19" name="Text 14"/>
          <p:cNvSpPr/>
          <p:nvPr/>
        </p:nvSpPr>
        <p:spPr>
          <a:xfrm>
            <a:off x="4828032" y="2439670"/>
            <a:ext cx="64675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Xác nhận thực trạng</a:t>
            </a:r>
            <a:endParaRPr lang="en-US" sz="1450" dirty="0"/>
          </a:p>
        </p:txBody>
      </p:sp>
      <p:sp>
        <p:nvSpPr>
          <p:cNvPr id="20" name="Text 15"/>
          <p:cNvSpPr/>
          <p:nvPr/>
        </p:nvSpPr>
        <p:spPr>
          <a:xfrm>
            <a:off x="4297680" y="2878582"/>
            <a:ext cx="7016191" cy="270320"/>
          </a:xfrm>
          <a:prstGeom prst="rect">
            <a:avLst/>
          </a:prstGeom>
          <a:noFill/>
          <a:ln/>
        </p:spPr>
        <p:txBody>
          <a:bodyPr wrap="square" lIns="0" tIns="0" rIns="0" bIns="0" rtlCol="0" anchor="t"/>
          <a:lstStyle/>
          <a:p>
            <a:pPr marL="0" indent="0" algn="l">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Kho còn quản lý bằng sổ </a:t>
            </a:r>
            <a:r>
              <a:rPr lang="en-US" sz="1150" dirty="0" err="1">
                <a:solidFill>
                  <a:srgbClr val="D9E6F2"/>
                </a:solidFill>
                <a:latin typeface="Be Vietnam Pro" pitchFamily="34" charset="0"/>
                <a:ea typeface="Be Vietnam Pro" pitchFamily="34" charset="-122"/>
                <a:cs typeface="Be Vietnam Pro" pitchFamily="34" charset="-120"/>
              </a:rPr>
              <a:t>và</a:t>
            </a:r>
            <a:r>
              <a:rPr lang="en-US" sz="1150">
                <a:solidFill>
                  <a:srgbClr val="D9E6F2"/>
                </a:solidFill>
                <a:latin typeface="Be Vietnam Pro" pitchFamily="34" charset="0"/>
                <a:ea typeface="Be Vietnam Pro" pitchFamily="34" charset="-122"/>
                <a:cs typeface="Be Vietnam Pro" pitchFamily="34" charset="-120"/>
              </a:rPr>
              <a:t> Excel, </a:t>
            </a:r>
            <a:r>
              <a:rPr lang="en-US" sz="1150" dirty="0">
                <a:solidFill>
                  <a:srgbClr val="D9E6F2"/>
                </a:solidFill>
                <a:latin typeface="Be Vietnam Pro" pitchFamily="34" charset="0"/>
                <a:ea typeface="Be Vietnam Pro" pitchFamily="34" charset="-122"/>
                <a:cs typeface="Be Vietnam Pro" pitchFamily="34" charset="-120"/>
              </a:rPr>
              <a:t>bão lũ 2025 vật tư hết hạn, hư hỏng, số liệu lệch giữa các thôn.</a:t>
            </a:r>
            <a:endParaRPr lang="en-US" sz="1150" dirty="0"/>
          </a:p>
        </p:txBody>
      </p:sp>
      <p:sp>
        <p:nvSpPr>
          <p:cNvPr id="21" name="Shape 16"/>
          <p:cNvSpPr/>
          <p:nvPr/>
        </p:nvSpPr>
        <p:spPr>
          <a:xfrm>
            <a:off x="4041648" y="3515614"/>
            <a:ext cx="7436815" cy="1112520"/>
          </a:xfrm>
          <a:prstGeom prst="roundRect">
            <a:avLst>
              <a:gd name="adj" fmla="val 9863"/>
            </a:avLst>
          </a:prstGeom>
          <a:solidFill>
            <a:srgbClr val="091B2D">
              <a:alpha val="66000"/>
            </a:srgbClr>
          </a:solidFill>
          <a:ln w="12700">
            <a:solidFill>
              <a:srgbClr val="FFFFFF">
                <a:alpha val="12000"/>
              </a:srgbClr>
            </a:solidFill>
            <a:prstDash val="solid"/>
          </a:ln>
        </p:spPr>
      </p:sp>
      <p:sp>
        <p:nvSpPr>
          <p:cNvPr id="22" name="Shape 17"/>
          <p:cNvSpPr/>
          <p:nvPr/>
        </p:nvSpPr>
        <p:spPr>
          <a:xfrm>
            <a:off x="4041648" y="3515614"/>
            <a:ext cx="50292" cy="1112520"/>
          </a:xfrm>
          <a:prstGeom prst="roundRect">
            <a:avLst>
              <a:gd name="adj" fmla="val 54545"/>
            </a:avLst>
          </a:prstGeom>
          <a:solidFill>
            <a:srgbClr val="22C55E">
              <a:alpha val="95000"/>
            </a:srgbClr>
          </a:solidFill>
          <a:ln/>
        </p:spPr>
      </p:sp>
      <p:sp>
        <p:nvSpPr>
          <p:cNvPr id="23" name="Shape 18"/>
          <p:cNvSpPr/>
          <p:nvPr/>
        </p:nvSpPr>
        <p:spPr>
          <a:xfrm>
            <a:off x="4297680" y="3698494"/>
            <a:ext cx="402336" cy="402336"/>
          </a:xfrm>
          <a:prstGeom prst="roundRect">
            <a:avLst>
              <a:gd name="adj" fmla="val 50000"/>
            </a:avLst>
          </a:prstGeom>
          <a:solidFill>
            <a:srgbClr val="04101F">
              <a:alpha val="88000"/>
            </a:srgbClr>
          </a:solidFill>
          <a:ln/>
        </p:spPr>
      </p:sp>
      <p:sp>
        <p:nvSpPr>
          <p:cNvPr id="24" name="Shape 19"/>
          <p:cNvSpPr/>
          <p:nvPr/>
        </p:nvSpPr>
        <p:spPr>
          <a:xfrm>
            <a:off x="4297680" y="36984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25" name="Text 20"/>
          <p:cNvSpPr/>
          <p:nvPr/>
        </p:nvSpPr>
        <p:spPr>
          <a:xfrm>
            <a:off x="4251960" y="3762502"/>
            <a:ext cx="493776"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02</a:t>
            </a:r>
            <a:endParaRPr lang="en-US" sz="1500" dirty="0"/>
          </a:p>
        </p:txBody>
      </p:sp>
      <p:sp>
        <p:nvSpPr>
          <p:cNvPr id="26" name="Text 21"/>
          <p:cNvSpPr/>
          <p:nvPr/>
        </p:nvSpPr>
        <p:spPr>
          <a:xfrm>
            <a:off x="4828032" y="3735070"/>
            <a:ext cx="64675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Xác nhận nhu cầu thật</a:t>
            </a:r>
            <a:endParaRPr lang="en-US" sz="1450" dirty="0"/>
          </a:p>
        </p:txBody>
      </p:sp>
      <p:sp>
        <p:nvSpPr>
          <p:cNvPr id="27" name="Text 22"/>
          <p:cNvSpPr/>
          <p:nvPr/>
        </p:nvSpPr>
        <p:spPr>
          <a:xfrm>
            <a:off x="4297680" y="4173982"/>
            <a:ext cx="7016191" cy="270320"/>
          </a:xfrm>
          <a:prstGeom prst="rect">
            <a:avLst/>
          </a:prstGeom>
          <a:noFill/>
          <a:ln/>
        </p:spPr>
        <p:txBody>
          <a:bodyPr wrap="square" lIns="0" tIns="0" rIns="0" bIns="0" rtlCol="0" anchor="t"/>
          <a:lstStyle/>
          <a:p>
            <a:pPr marL="0" indent="0" algn="l">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Xã cần một hệ thống quản lý kho và điều phối vật tư như Ứng Phó Nhanh.</a:t>
            </a:r>
            <a:endParaRPr lang="en-US" sz="1150" dirty="0"/>
          </a:p>
        </p:txBody>
      </p:sp>
      <p:sp>
        <p:nvSpPr>
          <p:cNvPr id="28" name="Shape 23"/>
          <p:cNvSpPr/>
          <p:nvPr/>
        </p:nvSpPr>
        <p:spPr>
          <a:xfrm>
            <a:off x="4041648" y="4811014"/>
            <a:ext cx="7436815" cy="1112520"/>
          </a:xfrm>
          <a:prstGeom prst="roundRect">
            <a:avLst>
              <a:gd name="adj" fmla="val 9863"/>
            </a:avLst>
          </a:prstGeom>
          <a:solidFill>
            <a:srgbClr val="091B2D">
              <a:alpha val="66000"/>
            </a:srgbClr>
          </a:solidFill>
          <a:ln w="12700">
            <a:solidFill>
              <a:srgbClr val="FFFFFF">
                <a:alpha val="12000"/>
              </a:srgbClr>
            </a:solidFill>
            <a:prstDash val="solid"/>
          </a:ln>
        </p:spPr>
      </p:sp>
      <p:sp>
        <p:nvSpPr>
          <p:cNvPr id="29" name="Shape 24"/>
          <p:cNvSpPr/>
          <p:nvPr/>
        </p:nvSpPr>
        <p:spPr>
          <a:xfrm>
            <a:off x="4041648" y="4811014"/>
            <a:ext cx="50292" cy="1112520"/>
          </a:xfrm>
          <a:prstGeom prst="roundRect">
            <a:avLst>
              <a:gd name="adj" fmla="val 54545"/>
            </a:avLst>
          </a:prstGeom>
          <a:solidFill>
            <a:srgbClr val="22C55E">
              <a:alpha val="95000"/>
            </a:srgbClr>
          </a:solidFill>
          <a:ln/>
        </p:spPr>
      </p:sp>
      <p:sp>
        <p:nvSpPr>
          <p:cNvPr id="30" name="Shape 25"/>
          <p:cNvSpPr/>
          <p:nvPr/>
        </p:nvSpPr>
        <p:spPr>
          <a:xfrm>
            <a:off x="4297680" y="4993894"/>
            <a:ext cx="402336" cy="402336"/>
          </a:xfrm>
          <a:prstGeom prst="roundRect">
            <a:avLst>
              <a:gd name="adj" fmla="val 50000"/>
            </a:avLst>
          </a:prstGeom>
          <a:solidFill>
            <a:srgbClr val="04101F">
              <a:alpha val="88000"/>
            </a:srgbClr>
          </a:solidFill>
          <a:ln/>
        </p:spPr>
      </p:sp>
      <p:sp>
        <p:nvSpPr>
          <p:cNvPr id="31" name="Shape 26"/>
          <p:cNvSpPr/>
          <p:nvPr/>
        </p:nvSpPr>
        <p:spPr>
          <a:xfrm>
            <a:off x="4297680" y="49938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32" name="Text 27"/>
          <p:cNvSpPr/>
          <p:nvPr/>
        </p:nvSpPr>
        <p:spPr>
          <a:xfrm>
            <a:off x="4251960" y="5057902"/>
            <a:ext cx="493776"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03</a:t>
            </a:r>
            <a:endParaRPr lang="en-US" sz="1500" dirty="0"/>
          </a:p>
        </p:txBody>
      </p:sp>
      <p:sp>
        <p:nvSpPr>
          <p:cNvPr id="33" name="Text 28"/>
          <p:cNvSpPr/>
          <p:nvPr/>
        </p:nvSpPr>
        <p:spPr>
          <a:xfrm>
            <a:off x="4828032" y="5030470"/>
            <a:ext cx="64675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Đồng ý cho khảo sát và thử nghiệm</a:t>
            </a:r>
            <a:endParaRPr lang="en-US" sz="1450" dirty="0"/>
          </a:p>
        </p:txBody>
      </p:sp>
      <p:sp>
        <p:nvSpPr>
          <p:cNvPr id="34" name="Text 29"/>
          <p:cNvSpPr/>
          <p:nvPr/>
        </p:nvSpPr>
        <p:spPr>
          <a:xfrm>
            <a:off x="4297680" y="5469382"/>
            <a:ext cx="7016191" cy="270320"/>
          </a:xfrm>
          <a:prstGeom prst="rect">
            <a:avLst/>
          </a:prstGeom>
          <a:noFill/>
          <a:ln/>
        </p:spPr>
        <p:txBody>
          <a:bodyPr wrap="square" lIns="0" tIns="0" rIns="0" bIns="0" rtlCol="0" anchor="t"/>
          <a:lstStyle/>
          <a:p>
            <a:pPr marL="0" indent="0" algn="l">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Tạo điều kiện cho nhóm khảo sát quy trình thật và triển khai thử nghiệm tại xã sau cuộc thi.</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66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88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88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10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10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10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10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10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10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25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GIÁ TRỊ MANG LẠI</a:t>
            </a:r>
            <a:endParaRPr lang="en-US" sz="1150" dirty="0"/>
          </a:p>
        </p:txBody>
      </p:sp>
      <p:sp>
        <p:nvSpPr>
          <p:cNvPr id="9" name="Text 5"/>
          <p:cNvSpPr/>
          <p:nvPr/>
        </p:nvSpPr>
        <p:spPr>
          <a:xfrm>
            <a:off x="713232" y="1426464"/>
            <a:ext cx="10490911" cy="1002284"/>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Không chỉ là phần mềm kho, cũng không chỉ là một</a:t>
            </a:r>
            <a:endParaRPr lang="en-US" sz="3100" dirty="0"/>
          </a:p>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công cụ AI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684780"/>
            <a:ext cx="50292" cy="2194560"/>
          </a:xfrm>
          <a:prstGeom prst="roundRect">
            <a:avLst>
              <a:gd name="adj" fmla="val 54545"/>
            </a:avLst>
          </a:prstGeom>
          <a:solidFill>
            <a:srgbClr val="38BDF8">
              <a:alpha val="95000"/>
            </a:srgbClr>
          </a:solidFill>
          <a:ln/>
        </p:spPr>
      </p:sp>
      <p:sp>
        <p:nvSpPr>
          <p:cNvPr id="14" name="Text 10"/>
          <p:cNvSpPr/>
          <p:nvPr/>
        </p:nvSpPr>
        <p:spPr>
          <a:xfrm>
            <a:off x="1024128" y="2940812"/>
            <a:ext cx="2850794" cy="518922"/>
          </a:xfrm>
          <a:prstGeom prst="rect">
            <a:avLst/>
          </a:prstGeom>
          <a:noFill/>
          <a:ln/>
        </p:spPr>
        <p:txBody>
          <a:bodyPr wrap="square" lIns="0" tIns="0" rIns="0" bIns="0" rtlCol="0" anchor="t"/>
          <a:lstStyle/>
          <a:p>
            <a:pPr marL="0" indent="0" algn="l">
              <a:lnSpc>
                <a:spcPts val="3510"/>
              </a:lnSpc>
              <a:buNone/>
            </a:pPr>
            <a:r>
              <a:rPr lang="en-US" sz="2600" b="1" dirty="0">
                <a:solidFill>
                  <a:srgbClr val="38BDF8"/>
                </a:solidFill>
                <a:latin typeface="Be Vietnam Pro" pitchFamily="34" charset="0"/>
                <a:ea typeface="Be Vietnam Pro" pitchFamily="34" charset="-122"/>
                <a:cs typeface="Be Vietnam Pro" pitchFamily="34" charset="-120"/>
              </a:rPr>
              <a:t>01</a:t>
            </a:r>
            <a:endParaRPr lang="en-US" sz="2600" dirty="0"/>
          </a:p>
        </p:txBody>
      </p:sp>
      <p:sp>
        <p:nvSpPr>
          <p:cNvPr id="15" name="Text 11"/>
          <p:cNvSpPr/>
          <p:nvPr/>
        </p:nvSpPr>
        <p:spPr>
          <a:xfrm>
            <a:off x="1024128" y="3580892"/>
            <a:ext cx="2850794" cy="364617"/>
          </a:xfrm>
          <a:prstGeom prst="rect">
            <a:avLst/>
          </a:prstGeom>
          <a:noFill/>
          <a:ln/>
        </p:spPr>
        <p:txBody>
          <a:bodyPr wrap="square" lIns="0" tIns="0" rIns="0" bIns="0" rtlCol="0" anchor="t"/>
          <a:lstStyle/>
          <a:p>
            <a:pPr>
              <a:lnSpc>
                <a:spcPts val="2295"/>
              </a:lnSpc>
            </a:pPr>
            <a:r>
              <a:rPr lang="en-US" sz="1700" b="1" dirty="0" err="1">
                <a:solidFill>
                  <a:srgbClr val="FFFFFF"/>
                </a:solidFill>
                <a:latin typeface="Be Vietnam Pro" pitchFamily="34" charset="0"/>
                <a:ea typeface="Be Vietnam Pro" pitchFamily="34" charset="-122"/>
                <a:cs typeface="Be Vietnam Pro" pitchFamily="34" charset="-120"/>
              </a:rPr>
              <a:t>Điều</a:t>
            </a:r>
            <a:r>
              <a:rPr lang="en-US" sz="1700" b="1" dirty="0">
                <a:solidFill>
                  <a:srgbClr val="FFFFFF"/>
                </a:solidFill>
                <a:latin typeface="Be Vietnam Pro" pitchFamily="34" charset="0"/>
                <a:ea typeface="Be Vietnam Pro" pitchFamily="34" charset="-122"/>
                <a:cs typeface="Be Vietnam Pro" pitchFamily="34" charset="-120"/>
              </a:rPr>
              <a:t> </a:t>
            </a:r>
            <a:r>
              <a:rPr lang="en-US" sz="1700" b="1" dirty="0" err="1">
                <a:solidFill>
                  <a:srgbClr val="FFFFFF"/>
                </a:solidFill>
                <a:latin typeface="Be Vietnam Pro" pitchFamily="34" charset="0"/>
                <a:ea typeface="Be Vietnam Pro" pitchFamily="34" charset="-122"/>
                <a:cs typeface="Be Vietnam Pro" pitchFamily="34" charset="-120"/>
              </a:rPr>
              <a:t>phối</a:t>
            </a:r>
            <a:r>
              <a:rPr lang="en-US" sz="1700" b="1" dirty="0">
                <a:solidFill>
                  <a:srgbClr val="FFFFFF"/>
                </a:solidFill>
                <a:latin typeface="Be Vietnam Pro" pitchFamily="34" charset="0"/>
                <a:ea typeface="Be Vietnam Pro" pitchFamily="34" charset="-122"/>
                <a:cs typeface="Be Vietnam Pro" pitchFamily="34" charset="-120"/>
              </a:rPr>
              <a:t> </a:t>
            </a:r>
            <a:r>
              <a:rPr lang="en-US" sz="1700" b="1" dirty="0" err="1">
                <a:solidFill>
                  <a:srgbClr val="FFFFFF"/>
                </a:solidFill>
                <a:latin typeface="Be Vietnam Pro" pitchFamily="34" charset="0"/>
                <a:ea typeface="Be Vietnam Pro" pitchFamily="34" charset="-122"/>
                <a:cs typeface="Be Vietnam Pro" pitchFamily="34" charset="-120"/>
              </a:rPr>
              <a:t>nguồn</a:t>
            </a:r>
            <a:r>
              <a:rPr lang="en-US" sz="1700" b="1" dirty="0">
                <a:solidFill>
                  <a:srgbClr val="FFFFFF"/>
                </a:solidFill>
                <a:latin typeface="Be Vietnam Pro" pitchFamily="34" charset="0"/>
                <a:ea typeface="Be Vietnam Pro" pitchFamily="34" charset="-122"/>
                <a:cs typeface="Be Vietnam Pro" pitchFamily="34" charset="-120"/>
              </a:rPr>
              <a:t> </a:t>
            </a:r>
            <a:r>
              <a:rPr lang="en-US" sz="1700" b="1" dirty="0" err="1">
                <a:solidFill>
                  <a:srgbClr val="FFFFFF"/>
                </a:solidFill>
                <a:latin typeface="Be Vietnam Pro" pitchFamily="34" charset="0"/>
                <a:ea typeface="Be Vietnam Pro" pitchFamily="34" charset="-122"/>
                <a:cs typeface="Be Vietnam Pro" pitchFamily="34" charset="-120"/>
              </a:rPr>
              <a:t>lực</a:t>
            </a:r>
            <a:endParaRPr lang="en-US" sz="1700" dirty="0"/>
          </a:p>
        </p:txBody>
      </p:sp>
      <p:sp>
        <p:nvSpPr>
          <p:cNvPr id="16" name="Text 12"/>
          <p:cNvSpPr/>
          <p:nvPr/>
        </p:nvSpPr>
        <p:spPr>
          <a:xfrm>
            <a:off x="1024128" y="4019804"/>
            <a:ext cx="2850794" cy="533527"/>
          </a:xfrm>
          <a:prstGeom prst="rect">
            <a:avLst/>
          </a:prstGeom>
          <a:noFill/>
          <a:ln/>
        </p:spPr>
        <p:txBody>
          <a:bodyPr wrap="square" lIns="0" tIns="0" rIns="0" bIns="0" rtlCol="0" anchor="t"/>
          <a:lstStyle/>
          <a:p>
            <a:pPr>
              <a:lnSpc>
                <a:spcPts val="1813"/>
              </a:lnSpc>
            </a:pPr>
            <a:r>
              <a:rPr lang="en-US" sz="1250" dirty="0" err="1">
                <a:solidFill>
                  <a:srgbClr val="D9E6F2"/>
                </a:solidFill>
                <a:latin typeface="Be Vietnam Pro" pitchFamily="34" charset="0"/>
                <a:ea typeface="Be Vietnam Pro" pitchFamily="34" charset="-122"/>
                <a:cs typeface="Be Vietnam Pro" pitchFamily="34" charset="-120"/>
              </a:rPr>
              <a:t>Vật</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tư</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đi</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từ</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đúng</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kho</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đến</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đúng</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nơi</a:t>
            </a:r>
            <a:r>
              <a:rPr lang="en-US" sz="1250" dirty="0">
                <a:solidFill>
                  <a:srgbClr val="D9E6F2"/>
                </a:solidFill>
                <a:latin typeface="Be Vietnam Pro" pitchFamily="34" charset="0"/>
                <a:ea typeface="Be Vietnam Pro" pitchFamily="34" charset="-122"/>
                <a:cs typeface="Be Vietnam Pro" pitchFamily="34" charset="-120"/>
              </a:rPr>
              <a:t>,</a:t>
            </a:r>
            <a:endParaRPr lang="en-US" sz="1250" dirty="0"/>
          </a:p>
          <a:p>
            <a:pPr>
              <a:lnSpc>
                <a:spcPts val="1813"/>
              </a:lnSpc>
            </a:pPr>
            <a:r>
              <a:rPr lang="en-US" sz="1250" dirty="0" err="1">
                <a:solidFill>
                  <a:srgbClr val="D9E6F2"/>
                </a:solidFill>
                <a:latin typeface="Be Vietnam Pro" pitchFamily="34" charset="0"/>
                <a:ea typeface="Be Vietnam Pro" pitchFamily="34" charset="-122"/>
                <a:cs typeface="Be Vietnam Pro" pitchFamily="34" charset="-120"/>
              </a:rPr>
              <a:t>trong</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thời</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gian</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ngắn</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nhất</a:t>
            </a:r>
            <a:r>
              <a:rPr lang="en-US" sz="1250" dirty="0">
                <a:solidFill>
                  <a:srgbClr val="D9E6F2"/>
                </a:solidFill>
                <a:latin typeface="Be Vietnam Pro" pitchFamily="34" charset="0"/>
                <a:ea typeface="Be Vietnam Pro" pitchFamily="34" charset="-122"/>
                <a:cs typeface="Be Vietnam Pro" pitchFamily="34" charset="-120"/>
              </a:rPr>
              <a:t>.</a:t>
            </a:r>
            <a:endParaRPr lang="en-US" sz="1250" dirty="0"/>
          </a:p>
        </p:txBody>
      </p:sp>
      <p:sp>
        <p:nvSpPr>
          <p:cNvPr id="17" name="Shape 13"/>
          <p:cNvSpPr/>
          <p:nvPr/>
        </p:nvSpPr>
        <p:spPr>
          <a:xfrm>
            <a:off x="4405274"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8" name="Shape 14"/>
          <p:cNvSpPr/>
          <p:nvPr/>
        </p:nvSpPr>
        <p:spPr>
          <a:xfrm>
            <a:off x="4405274" y="2684780"/>
            <a:ext cx="50292" cy="2194560"/>
          </a:xfrm>
          <a:prstGeom prst="roundRect">
            <a:avLst>
              <a:gd name="adj" fmla="val 54545"/>
            </a:avLst>
          </a:prstGeom>
          <a:solidFill>
            <a:srgbClr val="22C55E">
              <a:alpha val="95000"/>
            </a:srgbClr>
          </a:solidFill>
          <a:ln/>
        </p:spPr>
      </p:sp>
      <p:sp>
        <p:nvSpPr>
          <p:cNvPr id="19" name="Text 15"/>
          <p:cNvSpPr/>
          <p:nvPr/>
        </p:nvSpPr>
        <p:spPr>
          <a:xfrm>
            <a:off x="4716170" y="2940812"/>
            <a:ext cx="2850794" cy="518922"/>
          </a:xfrm>
          <a:prstGeom prst="rect">
            <a:avLst/>
          </a:prstGeom>
          <a:noFill/>
          <a:ln/>
        </p:spPr>
        <p:txBody>
          <a:bodyPr wrap="square" lIns="0" tIns="0" rIns="0" bIns="0" rtlCol="0" anchor="t"/>
          <a:lstStyle/>
          <a:p>
            <a:pPr marL="0" indent="0" algn="l">
              <a:lnSpc>
                <a:spcPts val="3510"/>
              </a:lnSpc>
              <a:buNone/>
            </a:pPr>
            <a:r>
              <a:rPr lang="en-US" sz="2600" b="1" dirty="0">
                <a:solidFill>
                  <a:srgbClr val="22C55E"/>
                </a:solidFill>
                <a:latin typeface="Be Vietnam Pro" pitchFamily="34" charset="0"/>
                <a:ea typeface="Be Vietnam Pro" pitchFamily="34" charset="-122"/>
                <a:cs typeface="Be Vietnam Pro" pitchFamily="34" charset="-120"/>
              </a:rPr>
              <a:t>02</a:t>
            </a:r>
            <a:endParaRPr lang="en-US" sz="2600" dirty="0"/>
          </a:p>
        </p:txBody>
      </p:sp>
      <p:sp>
        <p:nvSpPr>
          <p:cNvPr id="20" name="Text 16"/>
          <p:cNvSpPr/>
          <p:nvPr/>
        </p:nvSpPr>
        <p:spPr>
          <a:xfrm>
            <a:off x="4716170" y="3580892"/>
            <a:ext cx="2850794"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Hỗ trợ ra quyết định</a:t>
            </a:r>
            <a:endParaRPr lang="en-US" sz="1700" dirty="0"/>
          </a:p>
        </p:txBody>
      </p:sp>
      <p:sp>
        <p:nvSpPr>
          <p:cNvPr id="21" name="Text 17"/>
          <p:cNvSpPr/>
          <p:nvPr/>
        </p:nvSpPr>
        <p:spPr>
          <a:xfrm>
            <a:off x="4716170" y="4019804"/>
            <a:ext cx="2850794" cy="763714"/>
          </a:xfrm>
          <a:prstGeom prst="rect">
            <a:avLst/>
          </a:prstGeom>
          <a:noFill/>
          <a:ln/>
        </p:spPr>
        <p:txBody>
          <a:bodyPr wrap="square" lIns="0" tIns="0" rIns="0" bIns="0" rtlCol="0" anchor="t"/>
          <a:lstStyle/>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AI phân tích và tham mưu, con</a:t>
            </a:r>
            <a:endParaRPr lang="en-US" sz="1250" dirty="0"/>
          </a:p>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người giữ quyền quyết </a:t>
            </a:r>
            <a:r>
              <a:rPr lang="en-US" sz="1250" dirty="0" err="1">
                <a:solidFill>
                  <a:srgbClr val="D9E6F2"/>
                </a:solidFill>
                <a:latin typeface="Be Vietnam Pro" pitchFamily="34" charset="0"/>
                <a:ea typeface="Be Vietnam Pro" pitchFamily="34" charset="-122"/>
                <a:cs typeface="Be Vietnam Pro" pitchFamily="34" charset="-120"/>
              </a:rPr>
              <a:t>định</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cuối</a:t>
            </a:r>
            <a:r>
              <a:rPr lang="en-US" sz="1250" dirty="0"/>
              <a:t> </a:t>
            </a:r>
            <a:r>
              <a:rPr lang="en-US" sz="1250" dirty="0" err="1">
                <a:solidFill>
                  <a:srgbClr val="D9E6F2"/>
                </a:solidFill>
                <a:latin typeface="Be Vietnam Pro" pitchFamily="34" charset="0"/>
                <a:ea typeface="Be Vietnam Pro" pitchFamily="34" charset="-122"/>
                <a:cs typeface="Be Vietnam Pro" pitchFamily="34" charset="-120"/>
              </a:rPr>
              <a:t>cùng</a:t>
            </a:r>
            <a:r>
              <a:rPr lang="en-US" sz="1250" dirty="0">
                <a:solidFill>
                  <a:srgbClr val="D9E6F2"/>
                </a:solidFill>
                <a:latin typeface="Be Vietnam Pro" pitchFamily="34" charset="0"/>
                <a:ea typeface="Be Vietnam Pro" pitchFamily="34" charset="-122"/>
                <a:cs typeface="Be Vietnam Pro" pitchFamily="34" charset="-120"/>
              </a:rPr>
              <a:t>.</a:t>
            </a:r>
            <a:endParaRPr lang="en-US" sz="1250" dirty="0"/>
          </a:p>
        </p:txBody>
      </p:sp>
      <p:sp>
        <p:nvSpPr>
          <p:cNvPr id="22" name="Shape 18"/>
          <p:cNvSpPr/>
          <p:nvPr/>
        </p:nvSpPr>
        <p:spPr>
          <a:xfrm>
            <a:off x="8097317"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23" name="Shape 19"/>
          <p:cNvSpPr/>
          <p:nvPr/>
        </p:nvSpPr>
        <p:spPr>
          <a:xfrm>
            <a:off x="8097317" y="2684780"/>
            <a:ext cx="50292" cy="2194560"/>
          </a:xfrm>
          <a:prstGeom prst="roundRect">
            <a:avLst>
              <a:gd name="adj" fmla="val 54545"/>
            </a:avLst>
          </a:prstGeom>
          <a:solidFill>
            <a:srgbClr val="FBBF24">
              <a:alpha val="95000"/>
            </a:srgbClr>
          </a:solidFill>
          <a:ln/>
        </p:spPr>
      </p:sp>
      <p:sp>
        <p:nvSpPr>
          <p:cNvPr id="24" name="Text 20"/>
          <p:cNvSpPr/>
          <p:nvPr/>
        </p:nvSpPr>
        <p:spPr>
          <a:xfrm>
            <a:off x="8408213" y="2940812"/>
            <a:ext cx="2850794" cy="518922"/>
          </a:xfrm>
          <a:prstGeom prst="rect">
            <a:avLst/>
          </a:prstGeom>
          <a:noFill/>
          <a:ln/>
        </p:spPr>
        <p:txBody>
          <a:bodyPr wrap="square" lIns="0" tIns="0" rIns="0" bIns="0" rtlCol="0" anchor="t"/>
          <a:lstStyle/>
          <a:p>
            <a:pPr marL="0" indent="0" algn="l">
              <a:lnSpc>
                <a:spcPts val="3510"/>
              </a:lnSpc>
              <a:buNone/>
            </a:pPr>
            <a:r>
              <a:rPr lang="en-US" sz="2600" b="1" dirty="0">
                <a:solidFill>
                  <a:srgbClr val="FBBF24"/>
                </a:solidFill>
                <a:latin typeface="Be Vietnam Pro" pitchFamily="34" charset="0"/>
                <a:ea typeface="Be Vietnam Pro" pitchFamily="34" charset="-122"/>
                <a:cs typeface="Be Vietnam Pro" pitchFamily="34" charset="-120"/>
              </a:rPr>
              <a:t>03</a:t>
            </a:r>
            <a:endParaRPr lang="en-US" sz="2600" dirty="0"/>
          </a:p>
        </p:txBody>
      </p:sp>
      <p:sp>
        <p:nvSpPr>
          <p:cNvPr id="25" name="Text 21"/>
          <p:cNvSpPr/>
          <p:nvPr/>
        </p:nvSpPr>
        <p:spPr>
          <a:xfrm>
            <a:off x="8408213" y="3580892"/>
            <a:ext cx="2850794" cy="364617"/>
          </a:xfrm>
          <a:prstGeom prst="rect">
            <a:avLst/>
          </a:prstGeom>
          <a:noFill/>
          <a:ln/>
        </p:spPr>
        <p:txBody>
          <a:bodyPr wrap="square" lIns="0" tIns="0" rIns="0" bIns="0" rtlCol="0" anchor="t"/>
          <a:lstStyle/>
          <a:p>
            <a:pPr marL="0" indent="0" algn="l">
              <a:lnSpc>
                <a:spcPts val="2295"/>
              </a:lnSpc>
              <a:buNone/>
            </a:pPr>
            <a:r>
              <a:rPr lang="en-US" sz="1700" b="1" dirty="0" err="1">
                <a:solidFill>
                  <a:srgbClr val="FFFFFF"/>
                </a:solidFill>
                <a:latin typeface="Be Vietnam Pro" pitchFamily="34" charset="0"/>
                <a:ea typeface="Be Vietnam Pro" pitchFamily="34" charset="-122"/>
                <a:cs typeface="Be Vietnam Pro" pitchFamily="34" charset="-120"/>
              </a:rPr>
              <a:t>Quản</a:t>
            </a:r>
            <a:r>
              <a:rPr lang="en-US" sz="1700" b="1" dirty="0">
                <a:solidFill>
                  <a:srgbClr val="FFFFFF"/>
                </a:solidFill>
                <a:latin typeface="Be Vietnam Pro" pitchFamily="34" charset="0"/>
                <a:ea typeface="Be Vietnam Pro" pitchFamily="34" charset="-122"/>
                <a:cs typeface="Be Vietnam Pro" pitchFamily="34" charset="-120"/>
              </a:rPr>
              <a:t> </a:t>
            </a:r>
            <a:r>
              <a:rPr lang="en-US" sz="1700" b="1" dirty="0" err="1">
                <a:solidFill>
                  <a:srgbClr val="FFFFFF"/>
                </a:solidFill>
                <a:latin typeface="Be Vietnam Pro" pitchFamily="34" charset="0"/>
                <a:ea typeface="Be Vietnam Pro" pitchFamily="34" charset="-122"/>
                <a:cs typeface="Be Vietnam Pro" pitchFamily="34" charset="-120"/>
              </a:rPr>
              <a:t>lý</a:t>
            </a:r>
            <a:r>
              <a:rPr lang="en-US" sz="1700" b="1" dirty="0">
                <a:solidFill>
                  <a:srgbClr val="FFFFFF"/>
                </a:solidFill>
                <a:latin typeface="Be Vietnam Pro" pitchFamily="34" charset="0"/>
                <a:ea typeface="Be Vietnam Pro" pitchFamily="34" charset="-122"/>
                <a:cs typeface="Be Vietnam Pro" pitchFamily="34" charset="-120"/>
              </a:rPr>
              <a:t> </a:t>
            </a:r>
            <a:r>
              <a:rPr lang="en-US" sz="1700" b="1" dirty="0" err="1">
                <a:solidFill>
                  <a:srgbClr val="FFFFFF"/>
                </a:solidFill>
                <a:latin typeface="Be Vietnam Pro" pitchFamily="34" charset="0"/>
                <a:ea typeface="Be Vietnam Pro" pitchFamily="34" charset="-122"/>
                <a:cs typeface="Be Vietnam Pro" pitchFamily="34" charset="-120"/>
              </a:rPr>
              <a:t>kho</a:t>
            </a:r>
            <a:r>
              <a:rPr lang="en-US" sz="1700" b="1" dirty="0">
                <a:solidFill>
                  <a:srgbClr val="FFFFFF"/>
                </a:solidFill>
                <a:latin typeface="Be Vietnam Pro" pitchFamily="34" charset="0"/>
                <a:ea typeface="Be Vietnam Pro" pitchFamily="34" charset="-122"/>
                <a:cs typeface="Be Vietnam Pro" pitchFamily="34" charset="-120"/>
              </a:rPr>
              <a:t> </a:t>
            </a:r>
            <a:r>
              <a:rPr lang="en-US" sz="1700" b="1" dirty="0" err="1">
                <a:solidFill>
                  <a:srgbClr val="FFFFFF"/>
                </a:solidFill>
                <a:latin typeface="Be Vietnam Pro" pitchFamily="34" charset="0"/>
                <a:ea typeface="Be Vietnam Pro" pitchFamily="34" charset="-122"/>
                <a:cs typeface="Be Vietnam Pro" pitchFamily="34" charset="-120"/>
              </a:rPr>
              <a:t>thông</a:t>
            </a:r>
            <a:r>
              <a:rPr lang="en-US" sz="1700" b="1" dirty="0">
                <a:solidFill>
                  <a:srgbClr val="FFFFFF"/>
                </a:solidFill>
                <a:latin typeface="Be Vietnam Pro" pitchFamily="34" charset="0"/>
                <a:ea typeface="Be Vietnam Pro" pitchFamily="34" charset="-122"/>
                <a:cs typeface="Be Vietnam Pro" pitchFamily="34" charset="-120"/>
              </a:rPr>
              <a:t> </a:t>
            </a:r>
            <a:r>
              <a:rPr lang="en-US" sz="1700" b="1" dirty="0" err="1">
                <a:solidFill>
                  <a:srgbClr val="FFFFFF"/>
                </a:solidFill>
                <a:latin typeface="Be Vietnam Pro" pitchFamily="34" charset="0"/>
                <a:ea typeface="Be Vietnam Pro" pitchFamily="34" charset="-122"/>
                <a:cs typeface="Be Vietnam Pro" pitchFamily="34" charset="-120"/>
              </a:rPr>
              <a:t>minh</a:t>
            </a:r>
            <a:endParaRPr lang="en-US" sz="1700" dirty="0"/>
          </a:p>
        </p:txBody>
      </p:sp>
      <p:sp>
        <p:nvSpPr>
          <p:cNvPr id="26" name="Text 22"/>
          <p:cNvSpPr/>
          <p:nvPr/>
        </p:nvSpPr>
        <p:spPr>
          <a:xfrm>
            <a:off x="8408213" y="4019804"/>
            <a:ext cx="2850794" cy="533527"/>
          </a:xfrm>
          <a:prstGeom prst="rect">
            <a:avLst/>
          </a:prstGeom>
          <a:noFill/>
          <a:ln/>
        </p:spPr>
        <p:txBody>
          <a:bodyPr wrap="square" lIns="0" tIns="0" rIns="0" bIns="0" rtlCol="0" anchor="t"/>
          <a:lstStyle/>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AI </a:t>
            </a:r>
            <a:r>
              <a:rPr lang="en-US" sz="1250" dirty="0" err="1">
                <a:solidFill>
                  <a:srgbClr val="D9E6F2"/>
                </a:solidFill>
                <a:latin typeface="Be Vietnam Pro" pitchFamily="34" charset="0"/>
                <a:ea typeface="Be Vietnam Pro" pitchFamily="34" charset="-122"/>
                <a:cs typeface="Be Vietnam Pro" pitchFamily="34" charset="-120"/>
              </a:rPr>
              <a:t>theo</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dõi</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hàng</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ngày</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dự</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báo</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nhu</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cầu</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và</a:t>
            </a:r>
            <a:endParaRPr lang="en-US" sz="1250" dirty="0">
              <a:solidFill>
                <a:srgbClr val="D9E6F2"/>
              </a:solidFill>
              <a:latin typeface="Be Vietnam Pro" pitchFamily="34" charset="0"/>
              <a:ea typeface="Be Vietnam Pro" pitchFamily="34" charset="-122"/>
              <a:cs typeface="Be Vietnam Pro" pitchFamily="34" charset="-120"/>
            </a:endParaRPr>
          </a:p>
          <a:p>
            <a:pPr marL="0" indent="0" algn="l">
              <a:lnSpc>
                <a:spcPts val="1813"/>
              </a:lnSpc>
              <a:buNone/>
            </a:pPr>
            <a:r>
              <a:rPr lang="en-US" sz="1250" dirty="0" err="1">
                <a:solidFill>
                  <a:srgbClr val="D9E6F2"/>
                </a:solidFill>
                <a:latin typeface="Be Vietnam Pro" pitchFamily="34" charset="0"/>
                <a:ea typeface="Be Vietnam Pro" pitchFamily="34" charset="-122"/>
                <a:cs typeface="Be Vietnam Pro" pitchFamily="34" charset="-120"/>
              </a:rPr>
              <a:t>cảnh</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báo</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kịp</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thời</a:t>
            </a:r>
            <a:r>
              <a:rPr lang="en-US" sz="1250" dirty="0">
                <a:solidFill>
                  <a:srgbClr val="D9E6F2"/>
                </a:solidFill>
                <a:latin typeface="Be Vietnam Pro" pitchFamily="34" charset="0"/>
                <a:ea typeface="Be Vietnam Pro" pitchFamily="34" charset="-122"/>
                <a:cs typeface="Be Vietnam Pro" pitchFamily="34" charset="-120"/>
              </a:rPr>
              <a:t>.</a:t>
            </a:r>
            <a:endParaRPr lang="en-US" sz="1250" dirty="0"/>
          </a:p>
        </p:txBody>
      </p:sp>
      <p:sp>
        <p:nvSpPr>
          <p:cNvPr id="27" name="Shape 23"/>
          <p:cNvSpPr/>
          <p:nvPr/>
        </p:nvSpPr>
        <p:spPr>
          <a:xfrm>
            <a:off x="713232" y="5226812"/>
            <a:ext cx="10765231" cy="896112"/>
          </a:xfrm>
          <a:prstGeom prst="roundRect">
            <a:avLst>
              <a:gd name="adj" fmla="val 12245"/>
            </a:avLst>
          </a:prstGeom>
          <a:solidFill>
            <a:srgbClr val="FFFFFF">
              <a:alpha val="7000"/>
            </a:srgbClr>
          </a:solidFill>
          <a:ln w="12700">
            <a:solidFill>
              <a:srgbClr val="FFFFFF">
                <a:alpha val="16000"/>
              </a:srgbClr>
            </a:solidFill>
            <a:prstDash val="solid"/>
          </a:ln>
        </p:spPr>
      </p:sp>
      <p:sp>
        <p:nvSpPr>
          <p:cNvPr id="28" name="Text 24"/>
          <p:cNvSpPr/>
          <p:nvPr/>
        </p:nvSpPr>
        <p:spPr>
          <a:xfrm>
            <a:off x="1078992" y="5446268"/>
            <a:ext cx="10125151" cy="357632"/>
          </a:xfrm>
          <a:prstGeom prst="rect">
            <a:avLst/>
          </a:prstGeom>
          <a:noFill/>
          <a:ln/>
        </p:spPr>
        <p:txBody>
          <a:bodyPr wrap="square" lIns="0" tIns="0" rIns="0" bIns="0" rtlCol="0" anchor="t"/>
          <a:lstStyle/>
          <a:p>
            <a:pPr marL="0" indent="0" algn="l">
              <a:lnSpc>
                <a:spcPts val="2240"/>
              </a:lnSpc>
              <a:buNone/>
            </a:pPr>
            <a:r>
              <a:rPr lang="en-US" sz="1600" b="1" dirty="0">
                <a:solidFill>
                  <a:srgbClr val="FFFFFF"/>
                </a:solidFill>
                <a:latin typeface="Be Vietnam Pro" pitchFamily="34" charset="0"/>
                <a:ea typeface="Be Vietnam Pro" pitchFamily="34" charset="-122"/>
                <a:cs typeface="Be Vietnam Pro" pitchFamily="34" charset="-120"/>
              </a:rPr>
              <a:t>Để công nghệ chia sẻ một phần áp lực với những con người đang trực tiếp đứng ở tuyến đầu.</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88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4101F"/>
        </a:solidFill>
        <a:effectLst/>
      </p:bgPr>
    </p:bg>
    <p:spTree>
      <p:nvGrpSpPr>
        <p:cNvPr id="1" name=""/>
        <p:cNvGrpSpPr/>
        <p:nvPr/>
      </p:nvGrpSpPr>
      <p:grpSpPr>
        <a:xfrm>
          <a:off x="0" y="0"/>
          <a:ext cx="0" cy="0"/>
          <a:chOff x="0" y="0"/>
          <a:chExt cx="0" cy="0"/>
        </a:xfrm>
      </p:grpSpPr>
      <p:pic>
        <p:nvPicPr>
          <p:cNvPr id="2" name="Image 0" descr="bg-closing.jpg"/>
          <p:cNvPicPr>
            <a:picLocks noChangeAspect="1"/>
          </p:cNvPicPr>
          <p:nvPr/>
        </p:nvPicPr>
        <p:blipFill>
          <a:blip r:embed="rId3"/>
          <a:stretch>
            <a:fillRect/>
          </a:stretch>
        </p:blipFill>
        <p:spPr>
          <a:xfrm>
            <a:off x="0" y="0"/>
            <a:ext cx="12191695" cy="6858000"/>
          </a:xfrm>
          <a:prstGeom prst="rect">
            <a:avLst/>
          </a:prstGeom>
        </p:spPr>
      </p:pic>
      <p:pic>
        <p:nvPicPr>
          <p:cNvPr id="3" name="Image 1" descr="scrim-bottom.png"/>
          <p:cNvPicPr>
            <a:picLocks noChangeAspect="1"/>
          </p:cNvPicPr>
          <p:nvPr/>
        </p:nvPicPr>
        <p:blipFill>
          <a:blip r:embed="rId4"/>
          <a:stretch>
            <a:fillRect/>
          </a:stretch>
        </p:blipFill>
        <p:spPr>
          <a:xfrm>
            <a:off x="0" y="0"/>
            <a:ext cx="12191695" cy="6858000"/>
          </a:xfrm>
          <a:prstGeom prst="rect">
            <a:avLst/>
          </a:prstGeom>
        </p:spPr>
      </p:pic>
      <p:sp>
        <p:nvSpPr>
          <p:cNvPr id="4" name="Shape 0"/>
          <p:cNvSpPr/>
          <p:nvPr/>
        </p:nvSpPr>
        <p:spPr>
          <a:xfrm>
            <a:off x="0" y="0"/>
            <a:ext cx="12191695" cy="6858000"/>
          </a:xfrm>
          <a:prstGeom prst="rect">
            <a:avLst/>
          </a:prstGeom>
          <a:solidFill>
            <a:srgbClr val="04101F">
              <a:alpha val="50000"/>
            </a:srgbClr>
          </a:solidFill>
          <a:ln/>
        </p:spPr>
      </p:sp>
      <p:pic>
        <p:nvPicPr>
          <p:cNvPr id="5" name="Image 2" descr="mark-sm.png"/>
          <p:cNvPicPr>
            <a:picLocks noChangeAspect="1"/>
          </p:cNvPicPr>
          <p:nvPr/>
        </p:nvPicPr>
        <p:blipFill>
          <a:blip r:embed="rId5"/>
          <a:stretch>
            <a:fillRect/>
          </a:stretch>
        </p:blipFill>
        <p:spPr>
          <a:xfrm>
            <a:off x="5784952" y="749808"/>
            <a:ext cx="621792" cy="621792"/>
          </a:xfrm>
          <a:prstGeom prst="rect">
            <a:avLst/>
          </a:prstGeom>
        </p:spPr>
      </p:pic>
      <p:sp>
        <p:nvSpPr>
          <p:cNvPr id="6" name="Text 1"/>
          <p:cNvSpPr/>
          <p:nvPr/>
        </p:nvSpPr>
        <p:spPr>
          <a:xfrm>
            <a:off x="1417320" y="1645920"/>
            <a:ext cx="9357055" cy="287465"/>
          </a:xfrm>
          <a:prstGeom prst="rect">
            <a:avLst/>
          </a:prstGeom>
          <a:noFill/>
          <a:ln/>
        </p:spPr>
        <p:txBody>
          <a:bodyPr wrap="square" lIns="0" tIns="0" rIns="0" bIns="0" rtlCol="0" anchor="t"/>
          <a:lstStyle/>
          <a:p>
            <a:pPr marL="0" indent="0" algn="ctr">
              <a:lnSpc>
                <a:spcPts val="1688"/>
              </a:lnSpc>
              <a:buNone/>
            </a:pPr>
            <a:r>
              <a:rPr lang="en-US" sz="1250" b="1" kern="0" spc="240" dirty="0">
                <a:solidFill>
                  <a:srgbClr val="6EE7A8"/>
                </a:solidFill>
                <a:latin typeface="Be Vietnam Pro" pitchFamily="34" charset="0"/>
                <a:ea typeface="Be Vietnam Pro" pitchFamily="34" charset="-122"/>
                <a:cs typeface="Be Vietnam Pro" pitchFamily="34" charset="-120"/>
              </a:rPr>
              <a:t>CHUẨN BỊ TỐT HƠN · PHỐI HỢP NHANH HƠN · ỨNG PHÓ HIỆU QUẢ HƠN</a:t>
            </a:r>
            <a:endParaRPr lang="en-US" sz="1250" dirty="0"/>
          </a:p>
        </p:txBody>
      </p:sp>
      <p:sp>
        <p:nvSpPr>
          <p:cNvPr id="7" name="Text 2"/>
          <p:cNvSpPr/>
          <p:nvPr/>
        </p:nvSpPr>
        <p:spPr>
          <a:xfrm>
            <a:off x="1188720" y="2130552"/>
            <a:ext cx="9814255" cy="1559052"/>
          </a:xfrm>
          <a:prstGeom prst="rect">
            <a:avLst/>
          </a:prstGeom>
          <a:noFill/>
          <a:ln/>
        </p:spPr>
        <p:txBody>
          <a:bodyPr wrap="square" lIns="0" tIns="0" rIns="0" bIns="0" rtlCol="0" anchor="t"/>
          <a:lstStyle/>
          <a:p>
            <a:pPr marL="0" indent="0" algn="ctr">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Chúng ta có thể không kiểm soát được khi nào</a:t>
            </a:r>
            <a:endParaRPr lang="en-US" sz="3000" dirty="0"/>
          </a:p>
          <a:p>
            <a:pPr marL="0" indent="0" algn="ctr">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thiên tai xảy ra, nhưng có thể chuẩn bị tốt hơn khi</a:t>
            </a:r>
            <a:endParaRPr lang="en-US" sz="3000" dirty="0"/>
          </a:p>
          <a:p>
            <a:pPr marL="0" indent="0" algn="ctr">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thiên tai thực sự ập đến.</a:t>
            </a:r>
            <a:endParaRPr lang="en-US" sz="3000" dirty="0"/>
          </a:p>
        </p:txBody>
      </p:sp>
      <p:sp>
        <p:nvSpPr>
          <p:cNvPr id="8" name="Shape 3"/>
          <p:cNvSpPr/>
          <p:nvPr/>
        </p:nvSpPr>
        <p:spPr>
          <a:xfrm>
            <a:off x="5410048" y="3950208"/>
            <a:ext cx="1371600" cy="68580"/>
          </a:xfrm>
          <a:prstGeom prst="roundRect">
            <a:avLst>
              <a:gd name="adj" fmla="val 49333"/>
            </a:avLst>
          </a:prstGeom>
          <a:solidFill>
            <a:srgbClr val="22C55E"/>
          </a:solidFill>
          <a:ln/>
        </p:spPr>
      </p:sp>
      <p:sp>
        <p:nvSpPr>
          <p:cNvPr id="9" name="Text 4"/>
          <p:cNvSpPr/>
          <p:nvPr/>
        </p:nvSpPr>
        <p:spPr>
          <a:xfrm>
            <a:off x="1965960" y="4261104"/>
            <a:ext cx="8259775" cy="347472"/>
          </a:xfrm>
          <a:prstGeom prst="rect">
            <a:avLst/>
          </a:prstGeom>
          <a:noFill/>
          <a:ln/>
        </p:spPr>
        <p:txBody>
          <a:bodyPr wrap="square" lIns="0" tIns="0" rIns="0" bIns="0" rtlCol="0" anchor="t"/>
          <a:lstStyle/>
          <a:p>
            <a:pPr marL="0" indent="0" algn="ctr">
              <a:lnSpc>
                <a:spcPts val="2160"/>
              </a:lnSpc>
              <a:buNone/>
            </a:pPr>
            <a:r>
              <a:rPr lang="en-US" sz="1600" dirty="0">
                <a:solidFill>
                  <a:srgbClr val="D9E6F2"/>
                </a:solidFill>
                <a:latin typeface="Be Vietnam Pro" pitchFamily="34" charset="0"/>
                <a:ea typeface="Be Vietnam Pro" pitchFamily="34" charset="-122"/>
                <a:cs typeface="Be Vietnam Pro" pitchFamily="34" charset="-120"/>
              </a:rPr>
              <a:t>Phần trình bày tiếp theo: </a:t>
            </a:r>
            <a:r>
              <a:rPr lang="en-US" sz="1600" dirty="0" err="1">
                <a:solidFill>
                  <a:srgbClr val="D9E6F2"/>
                </a:solidFill>
                <a:latin typeface="Be Vietnam Pro" pitchFamily="34" charset="0"/>
                <a:ea typeface="Be Vietnam Pro" pitchFamily="34" charset="-122"/>
                <a:cs typeface="Be Vietnam Pro" pitchFamily="34" charset="-120"/>
              </a:rPr>
              <a:t>Hệ</a:t>
            </a:r>
            <a:r>
              <a:rPr lang="en-US" sz="1600" dirty="0">
                <a:solidFill>
                  <a:srgbClr val="D9E6F2"/>
                </a:solidFill>
                <a:latin typeface="Be Vietnam Pro" pitchFamily="34" charset="0"/>
                <a:ea typeface="Be Vietnam Pro" pitchFamily="34" charset="-122"/>
                <a:cs typeface="Be Vietnam Pro" pitchFamily="34" charset="-120"/>
              </a:rPr>
              <a:t> thống Ứng Phó Nhanh</a:t>
            </a:r>
            <a:endParaRPr lang="en-US" sz="1600" dirty="0"/>
          </a:p>
        </p:txBody>
      </p:sp>
      <p:sp>
        <p:nvSpPr>
          <p:cNvPr id="10" name="Text 5"/>
          <p:cNvSpPr/>
          <p:nvPr/>
        </p:nvSpPr>
        <p:spPr>
          <a:xfrm>
            <a:off x="1965960" y="5010912"/>
            <a:ext cx="8259775" cy="313182"/>
          </a:xfrm>
          <a:prstGeom prst="rect">
            <a:avLst/>
          </a:prstGeom>
          <a:noFill/>
          <a:ln/>
        </p:spPr>
        <p:txBody>
          <a:bodyPr wrap="square" lIns="0" tIns="0" rIns="0" bIns="0" rtlCol="0" anchor="t"/>
          <a:lstStyle/>
          <a:p>
            <a:pPr marL="0" indent="0" algn="ctr">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Trân trọng cảm ơn Ban Lãnh đạo, Ban Tổ chức và Ban Giám khảo</a:t>
            </a:r>
            <a:endParaRPr lang="en-US" sz="1400" dirty="0"/>
          </a:p>
        </p:txBody>
      </p:sp>
      <p:sp>
        <p:nvSpPr>
          <p:cNvPr id="11" name="Text 6"/>
          <p:cNvSpPr/>
          <p:nvPr/>
        </p:nvSpPr>
        <p:spPr>
          <a:xfrm>
            <a:off x="1965960" y="5925312"/>
            <a:ext cx="8259775" cy="278892"/>
          </a:xfrm>
          <a:prstGeom prst="rect">
            <a:avLst/>
          </a:prstGeom>
          <a:noFill/>
          <a:ln/>
        </p:spPr>
        <p:txBody>
          <a:bodyPr wrap="square" lIns="0" tIns="0" rIns="0" bIns="0" rtlCol="0" anchor="t"/>
          <a:lstStyle/>
          <a:p>
            <a:pPr marL="0" indent="0" algn="ctr">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ungphonhanh.life</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nodeType="withEffect">
                                  <p:stCondLst>
                                    <p:cond delay="22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nodeType="withEffect">
                                  <p:stCondLst>
                                    <p:cond delay="22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nodeType="withEffect">
                                  <p:stCondLst>
                                    <p:cond delay="22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par>
                                <p:cTn id="17" presetID="10" presetClass="entr" presetSubtype="0" fill="hold" nodeType="withEffect">
                                  <p:stCondLst>
                                    <p:cond delay="22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99</TotalTime>
  <Words>5141</Words>
  <Application>Microsoft Office PowerPoint</Application>
  <PresentationFormat>Widescreen</PresentationFormat>
  <Paragraphs>648</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Be Vietnam Pro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Ứng Phó Nhanh — Giải pháp cứu hộ, cứu nạn và hậu cần thông minh</dc:title>
  <dc:subject>PptxGenJS Presentation</dc:subject>
  <dc:creator>Nhóm Ứng Phó Nhanh</dc:creator>
  <cp:lastModifiedBy>Nguyen Khanh Trinh</cp:lastModifiedBy>
  <cp:revision>33</cp:revision>
  <dcterms:created xsi:type="dcterms:W3CDTF">2026-09-12T15:36:51Z</dcterms:created>
  <dcterms:modified xsi:type="dcterms:W3CDTF">2026-09-12T17:27:33Z</dcterms:modified>
</cp:coreProperties>
</file>