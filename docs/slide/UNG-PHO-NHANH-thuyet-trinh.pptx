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7985455" y="-1097280"/>
            <a:ext cx="2743200" cy="2743200"/>
          </a:xfrm>
          <a:prstGeom prst="ellipse">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10180015" y="4846320"/>
            <a:ext cx="3108960" cy="3108960"/>
          </a:xfrm>
          <a:prstGeom prst="ellipse">
            <a:avLst/>
          </a:prstGeom>
          <a:solidFill>
            <a:srgbClr val="1233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05840" y="1600200"/>
            <a:ext cx="9692640" cy="365760"/>
          </a:xfrm>
          <a:prstGeom prst="rect">
            <a:avLst/>
          </a:prstGeom>
          <a:noFill/>
        </p:spPr>
        <p:txBody>
          <a:bodyPr wrap="square" anchor="t" lIns="0" rIns="0" tIns="0" bIns="0">
            <a:spAutoFit/>
          </a:bodyPr>
          <a:lstStyle/>
          <a:p>
            <a:pPr algn="l">
              <a:lnSpc>
                <a:spcPct val="112000"/>
              </a:lnSpc>
              <a:spcBef>
                <a:spcPts val="0"/>
              </a:spcBef>
              <a:spcAft>
                <a:spcPts val="0"/>
              </a:spcAft>
            </a:pPr>
            <a:r>
              <a:rPr sz="1200" b="1" i="0">
                <a:solidFill>
                  <a:srgbClr val="F09B8F"/>
                </a:solidFill>
                <a:latin typeface="Arial"/>
              </a:rPr>
              <a:t>CUỘC THI "ỨNG DỤNG TRÍ TUỆ NHÂN TẠO VÀO CUỘC SỐNG — AI FOR LIFE" · ĐẮK LẮK 2026</a:t>
            </a:r>
          </a:p>
        </p:txBody>
      </p:sp>
      <p:sp>
        <p:nvSpPr>
          <p:cNvPr id="7" name="TextBox 6"/>
          <p:cNvSpPr txBox="1"/>
          <p:nvPr/>
        </p:nvSpPr>
        <p:spPr>
          <a:xfrm>
            <a:off x="1005840" y="2057400"/>
            <a:ext cx="9966960" cy="1554480"/>
          </a:xfrm>
          <a:prstGeom prst="rect">
            <a:avLst/>
          </a:prstGeom>
          <a:noFill/>
        </p:spPr>
        <p:txBody>
          <a:bodyPr wrap="square" anchor="t" lIns="0" rIns="0" tIns="0" bIns="0">
            <a:spAutoFit/>
          </a:bodyPr>
          <a:lstStyle/>
          <a:p>
            <a:pPr algn="l">
              <a:lnSpc>
                <a:spcPct val="102000"/>
              </a:lnSpc>
              <a:spcBef>
                <a:spcPts val="0"/>
              </a:spcBef>
              <a:spcAft>
                <a:spcPts val="0"/>
              </a:spcAft>
            </a:pPr>
            <a:r>
              <a:rPr sz="4600" b="1" i="0">
                <a:solidFill>
                  <a:srgbClr val="FFFFFF"/>
                </a:solidFill>
                <a:latin typeface="Arial"/>
              </a:rPr>
              <a:t>ỨNG PHÓ NHANH</a:t>
            </a:r>
          </a:p>
        </p:txBody>
      </p:sp>
      <p:sp>
        <p:nvSpPr>
          <p:cNvPr id="8" name="Rectangle 7"/>
          <p:cNvSpPr/>
          <p:nvPr/>
        </p:nvSpPr>
        <p:spPr>
          <a:xfrm>
            <a:off x="1005840" y="3767328"/>
            <a:ext cx="1371600" cy="411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4023360"/>
            <a:ext cx="9509760" cy="822960"/>
          </a:xfrm>
          <a:prstGeom prst="rect">
            <a:avLst/>
          </a:prstGeom>
          <a:noFill/>
        </p:spPr>
        <p:txBody>
          <a:bodyPr wrap="square" anchor="t" lIns="0" rIns="0" tIns="0" bIns="0">
            <a:spAutoFit/>
          </a:bodyPr>
          <a:lstStyle/>
          <a:p>
            <a:pPr algn="l">
              <a:lnSpc>
                <a:spcPct val="120000"/>
              </a:lnSpc>
              <a:spcBef>
                <a:spcPts val="0"/>
              </a:spcBef>
              <a:spcAft>
                <a:spcPts val="0"/>
              </a:spcAft>
            </a:pPr>
            <a:r>
              <a:rPr sz="1700" b="0" i="0">
                <a:solidFill>
                  <a:srgbClr val="C6D6E4"/>
                </a:solidFill>
                <a:latin typeface="Arial"/>
              </a:rPr>
              <a:t>Giải pháp điều phối cứu hộ cứu nạn và hậu cần thông minh cho cấp xã —
chạy hoàn toàn trên một máy tính đặt tại xã, không cần Internet.</a:t>
            </a:r>
          </a:p>
        </p:txBody>
      </p:sp>
      <p:sp>
        <p:nvSpPr>
          <p:cNvPr id="10" name="TextBox 9"/>
          <p:cNvSpPr txBox="1"/>
          <p:nvPr/>
        </p:nvSpPr>
        <p:spPr>
          <a:xfrm>
            <a:off x="1005840" y="5349240"/>
            <a:ext cx="9692640" cy="1005840"/>
          </a:xfrm>
          <a:prstGeom prst="rect">
            <a:avLst/>
          </a:prstGeom>
          <a:noFill/>
        </p:spPr>
        <p:txBody>
          <a:bodyPr wrap="square" anchor="t" lIns="0" rIns="0" tIns="0" bIns="0">
            <a:spAutoFit/>
          </a:bodyPr>
          <a:lstStyle/>
          <a:p>
            <a:pPr algn="l">
              <a:lnSpc>
                <a:spcPct val="112000"/>
              </a:lnSpc>
              <a:spcBef>
                <a:spcPts val="0"/>
              </a:spcBef>
              <a:spcAft>
                <a:spcPts val="400"/>
              </a:spcAft>
            </a:pPr>
            <a:r>
              <a:rPr sz="1250" b="0" i="0">
                <a:solidFill>
                  <a:srgbClr val="9EB2C4"/>
                </a:solidFill>
                <a:latin typeface="Arial"/>
              </a:rPr>
              <a:t>Đội thi: LŨ TRẺ  ·  05 thành viên  ·  Đại diện: Trần Đình Khôi</a:t>
            </a:r>
          </a:p>
          <a:p>
            <a:pPr algn="l">
              <a:lnSpc>
                <a:spcPct val="112000"/>
              </a:lnSpc>
              <a:spcBef>
                <a:spcPts val="0"/>
              </a:spcBef>
              <a:spcAft>
                <a:spcPts val="400"/>
              </a:spcAft>
            </a:pPr>
            <a:r>
              <a:rPr sz="1250" b="0" i="0">
                <a:solidFill>
                  <a:srgbClr val="9EB2C4"/>
                </a:solidFill>
                <a:latin typeface="Arial"/>
              </a:rPr>
              <a:t>Lĩnh vực: AI trong an ninh, trật tự — phòng cháy chữa cháy, cứu nạn cứu hộ</a:t>
            </a:r>
          </a:p>
          <a:p>
            <a:pPr algn="l">
              <a:lnSpc>
                <a:spcPct val="112000"/>
              </a:lnSpc>
              <a:spcBef>
                <a:spcPts val="0"/>
              </a:spcBef>
              <a:spcAft>
                <a:spcPts val="400"/>
              </a:spcAft>
            </a:pPr>
            <a:r>
              <a:rPr sz="1250" b="0" i="0">
                <a:solidFill>
                  <a:srgbClr val="9EB2C4"/>
                </a:solidFill>
                <a:latin typeface="Arial"/>
              </a:rPr>
              <a:t>Địa bàn thí điểm: xã Đồng Xuân, tỉnh Đắk Lắk — 01 kho trung tâm + 17 kho thôn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MỤC LỤC</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Nội dung trình bày</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Bảy phần, đi theo đúng đường đi của một tình huống cứu trợ có thật.</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a:t>
            </a:r>
          </a:p>
        </p:txBody>
      </p:sp>
      <p:sp>
        <p:nvSpPr>
          <p:cNvPr id="8" name="Rectangle 7"/>
          <p:cNvSpPr/>
          <p:nvPr/>
        </p:nvSpPr>
        <p:spPr>
          <a:xfrm>
            <a:off x="566928" y="1737360"/>
            <a:ext cx="2626614" cy="187451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1874519"/>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04672" y="1929384"/>
            <a:ext cx="310896" cy="256032"/>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1</a:t>
            </a:r>
          </a:p>
        </p:txBody>
      </p:sp>
      <p:sp>
        <p:nvSpPr>
          <p:cNvPr id="12" name="TextBox 11"/>
          <p:cNvSpPr txBox="1"/>
          <p:nvPr/>
        </p:nvSpPr>
        <p:spPr>
          <a:xfrm>
            <a:off x="1225296" y="1911095"/>
            <a:ext cx="174879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Vấn đề thực tiễn</a:t>
            </a:r>
          </a:p>
        </p:txBody>
      </p:sp>
      <p:sp>
        <p:nvSpPr>
          <p:cNvPr id="13" name="TextBox 12"/>
          <p:cNvSpPr txBox="1"/>
          <p:nvPr/>
        </p:nvSpPr>
        <p:spPr>
          <a:xfrm>
            <a:off x="804672" y="2295144"/>
            <a:ext cx="2169414" cy="1170432"/>
          </a:xfrm>
          <a:prstGeom prst="rect">
            <a:avLst/>
          </a:prstGeom>
          <a:noFill/>
        </p:spPr>
        <p:txBody>
          <a:bodyPr wrap="square" anchor="t" lIns="0" rIns="0" tIns="0" bIns="0">
            <a:spAutoFit/>
          </a:bodyPr>
          <a:lstStyle/>
          <a:p>
            <a:pPr algn="l">
              <a:lnSpc>
                <a:spcPct val="116000"/>
              </a:lnSpc>
              <a:spcBef>
                <a:spcPts val="0"/>
              </a:spcBef>
              <a:spcAft>
                <a:spcPts val="0"/>
              </a:spcAft>
            </a:pPr>
            <a:r>
              <a:rPr sz="1100" b="0" i="0">
                <a:solidFill>
                  <a:srgbClr val="5E7387"/>
                </a:solidFill>
                <a:latin typeface="Arial"/>
              </a:rPr>
              <a:t>Lũ 11/2025 và bốn nút thắt hậu cần ở cấp xã</a:t>
            </a:r>
          </a:p>
        </p:txBody>
      </p:sp>
      <p:sp>
        <p:nvSpPr>
          <p:cNvPr id="14" name="Rectangle 13"/>
          <p:cNvSpPr/>
          <p:nvPr/>
        </p:nvSpPr>
        <p:spPr>
          <a:xfrm>
            <a:off x="3376422" y="1737360"/>
            <a:ext cx="2626614" cy="187451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376422" y="1737360"/>
            <a:ext cx="50292" cy="1874519"/>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614166" y="1929384"/>
            <a:ext cx="310896" cy="256032"/>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14166"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2</a:t>
            </a:r>
          </a:p>
        </p:txBody>
      </p:sp>
      <p:sp>
        <p:nvSpPr>
          <p:cNvPr id="18" name="TextBox 17"/>
          <p:cNvSpPr txBox="1"/>
          <p:nvPr/>
        </p:nvSpPr>
        <p:spPr>
          <a:xfrm>
            <a:off x="4034790" y="1911095"/>
            <a:ext cx="174879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Giải pháp</a:t>
            </a:r>
          </a:p>
        </p:txBody>
      </p:sp>
      <p:sp>
        <p:nvSpPr>
          <p:cNvPr id="19" name="TextBox 18"/>
          <p:cNvSpPr txBox="1"/>
          <p:nvPr/>
        </p:nvSpPr>
        <p:spPr>
          <a:xfrm>
            <a:off x="3614166" y="2295144"/>
            <a:ext cx="2169414" cy="1170432"/>
          </a:xfrm>
          <a:prstGeom prst="rect">
            <a:avLst/>
          </a:prstGeom>
          <a:noFill/>
        </p:spPr>
        <p:txBody>
          <a:bodyPr wrap="square" anchor="t" lIns="0" rIns="0" tIns="0" bIns="0">
            <a:spAutoFit/>
          </a:bodyPr>
          <a:lstStyle/>
          <a:p>
            <a:pPr algn="l">
              <a:lnSpc>
                <a:spcPct val="116000"/>
              </a:lnSpc>
              <a:spcBef>
                <a:spcPts val="0"/>
              </a:spcBef>
              <a:spcAft>
                <a:spcPts val="0"/>
              </a:spcAft>
            </a:pPr>
            <a:r>
              <a:rPr sz="1100" b="0" i="0">
                <a:solidFill>
                  <a:srgbClr val="5E7387"/>
                </a:solidFill>
                <a:latin typeface="Arial"/>
              </a:rPr>
              <a:t>Ý tưởng cốt lõi, ba nguyên tắc, bốn ứng dụng</a:t>
            </a:r>
          </a:p>
        </p:txBody>
      </p:sp>
      <p:sp>
        <p:nvSpPr>
          <p:cNvPr id="20" name="Rectangle 19"/>
          <p:cNvSpPr/>
          <p:nvPr/>
        </p:nvSpPr>
        <p:spPr>
          <a:xfrm>
            <a:off x="6185916" y="1737360"/>
            <a:ext cx="2626614" cy="187451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185916" y="1737360"/>
            <a:ext cx="50292" cy="1874519"/>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423660" y="1929384"/>
            <a:ext cx="310896" cy="256032"/>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23660"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3</a:t>
            </a:r>
          </a:p>
        </p:txBody>
      </p:sp>
      <p:sp>
        <p:nvSpPr>
          <p:cNvPr id="24" name="TextBox 23"/>
          <p:cNvSpPr txBox="1"/>
          <p:nvPr/>
        </p:nvSpPr>
        <p:spPr>
          <a:xfrm>
            <a:off x="6844284" y="1911095"/>
            <a:ext cx="174879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Điểm mới, khác biệt</a:t>
            </a:r>
          </a:p>
        </p:txBody>
      </p:sp>
      <p:sp>
        <p:nvSpPr>
          <p:cNvPr id="25" name="TextBox 24"/>
          <p:cNvSpPr txBox="1"/>
          <p:nvPr/>
        </p:nvSpPr>
        <p:spPr>
          <a:xfrm>
            <a:off x="6423660" y="2295144"/>
            <a:ext cx="2169414" cy="1170432"/>
          </a:xfrm>
          <a:prstGeom prst="rect">
            <a:avLst/>
          </a:prstGeom>
          <a:noFill/>
        </p:spPr>
        <p:txBody>
          <a:bodyPr wrap="square" anchor="t" lIns="0" rIns="0" tIns="0" bIns="0">
            <a:spAutoFit/>
          </a:bodyPr>
          <a:lstStyle/>
          <a:p>
            <a:pPr algn="l">
              <a:lnSpc>
                <a:spcPct val="116000"/>
              </a:lnSpc>
              <a:spcBef>
                <a:spcPts val="0"/>
              </a:spcBef>
              <a:spcAft>
                <a:spcPts val="0"/>
              </a:spcAft>
            </a:pPr>
            <a:r>
              <a:rPr sz="1100" b="0" i="0">
                <a:solidFill>
                  <a:srgbClr val="5E7387"/>
                </a:solidFill>
                <a:latin typeface="Arial"/>
              </a:rPr>
              <a:t>Sáu khác biệt so với phần mềm kho thông thường</a:t>
            </a:r>
          </a:p>
        </p:txBody>
      </p:sp>
      <p:sp>
        <p:nvSpPr>
          <p:cNvPr id="26" name="Rectangle 25"/>
          <p:cNvSpPr/>
          <p:nvPr/>
        </p:nvSpPr>
        <p:spPr>
          <a:xfrm>
            <a:off x="8995410" y="1737360"/>
            <a:ext cx="2626614" cy="187451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995410" y="1737360"/>
            <a:ext cx="50292" cy="1874519"/>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233154" y="1929384"/>
            <a:ext cx="310896" cy="256032"/>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233154"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4</a:t>
            </a:r>
          </a:p>
        </p:txBody>
      </p:sp>
      <p:sp>
        <p:nvSpPr>
          <p:cNvPr id="30" name="TextBox 29"/>
          <p:cNvSpPr txBox="1"/>
          <p:nvPr/>
        </p:nvSpPr>
        <p:spPr>
          <a:xfrm>
            <a:off x="9653778" y="1911095"/>
            <a:ext cx="174879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Vòng nghiệp vụ</a:t>
            </a:r>
          </a:p>
        </p:txBody>
      </p:sp>
      <p:sp>
        <p:nvSpPr>
          <p:cNvPr id="31" name="TextBox 30"/>
          <p:cNvSpPr txBox="1"/>
          <p:nvPr/>
        </p:nvSpPr>
        <p:spPr>
          <a:xfrm>
            <a:off x="9233154" y="2295144"/>
            <a:ext cx="2169414" cy="1170432"/>
          </a:xfrm>
          <a:prstGeom prst="rect">
            <a:avLst/>
          </a:prstGeom>
          <a:noFill/>
        </p:spPr>
        <p:txBody>
          <a:bodyPr wrap="square" anchor="t" lIns="0" rIns="0" tIns="0" bIns="0">
            <a:spAutoFit/>
          </a:bodyPr>
          <a:lstStyle/>
          <a:p>
            <a:pPr algn="l">
              <a:lnSpc>
                <a:spcPct val="116000"/>
              </a:lnSpc>
              <a:spcBef>
                <a:spcPts val="0"/>
              </a:spcBef>
              <a:spcAft>
                <a:spcPts val="0"/>
              </a:spcAft>
            </a:pPr>
            <a:r>
              <a:rPr sz="1100" b="0" i="0">
                <a:solidFill>
                  <a:srgbClr val="5E7387"/>
                </a:solidFill>
                <a:latin typeface="Arial"/>
              </a:rPr>
              <a:t>Từ một câu nói của trưởng thôn tới lúc ký nhận hàng</a:t>
            </a:r>
          </a:p>
        </p:txBody>
      </p:sp>
      <p:sp>
        <p:nvSpPr>
          <p:cNvPr id="32" name="Rectangle 31"/>
          <p:cNvSpPr/>
          <p:nvPr/>
        </p:nvSpPr>
        <p:spPr>
          <a:xfrm>
            <a:off x="566928" y="3794760"/>
            <a:ext cx="2626614" cy="187451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566928" y="3794760"/>
            <a:ext cx="50292" cy="1874519"/>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672" y="3986784"/>
            <a:ext cx="310896" cy="256032"/>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04672" y="4009644"/>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5</a:t>
            </a:r>
          </a:p>
        </p:txBody>
      </p:sp>
      <p:sp>
        <p:nvSpPr>
          <p:cNvPr id="36" name="TextBox 35"/>
          <p:cNvSpPr txBox="1"/>
          <p:nvPr/>
        </p:nvSpPr>
        <p:spPr>
          <a:xfrm>
            <a:off x="1225296" y="3968496"/>
            <a:ext cx="174879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Công nghệ và dữ liệu</a:t>
            </a:r>
          </a:p>
        </p:txBody>
      </p:sp>
      <p:sp>
        <p:nvSpPr>
          <p:cNvPr id="37" name="TextBox 36"/>
          <p:cNvSpPr txBox="1"/>
          <p:nvPr/>
        </p:nvSpPr>
        <p:spPr>
          <a:xfrm>
            <a:off x="804672" y="4352544"/>
            <a:ext cx="2169414" cy="1170431"/>
          </a:xfrm>
          <a:prstGeom prst="rect">
            <a:avLst/>
          </a:prstGeom>
          <a:noFill/>
        </p:spPr>
        <p:txBody>
          <a:bodyPr wrap="square" anchor="t" lIns="0" rIns="0" tIns="0" bIns="0">
            <a:spAutoFit/>
          </a:bodyPr>
          <a:lstStyle/>
          <a:p>
            <a:pPr algn="l">
              <a:lnSpc>
                <a:spcPct val="116000"/>
              </a:lnSpc>
              <a:spcBef>
                <a:spcPts val="0"/>
              </a:spcBef>
              <a:spcAft>
                <a:spcPts val="0"/>
              </a:spcAft>
            </a:pPr>
            <a:r>
              <a:rPr sz="1100" b="0" i="0">
                <a:solidFill>
                  <a:srgbClr val="5E7387"/>
                </a:solidFill>
                <a:latin typeface="Arial"/>
              </a:rPr>
              <a:t>AI chạy tại chỗ, dữ liệu và định mức có dẫn nguồn</a:t>
            </a:r>
          </a:p>
        </p:txBody>
      </p:sp>
      <p:sp>
        <p:nvSpPr>
          <p:cNvPr id="38" name="Rectangle 37"/>
          <p:cNvSpPr/>
          <p:nvPr/>
        </p:nvSpPr>
        <p:spPr>
          <a:xfrm>
            <a:off x="3376422" y="3794760"/>
            <a:ext cx="2626614" cy="187451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376422" y="3794760"/>
            <a:ext cx="50292" cy="1874519"/>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614166" y="3986784"/>
            <a:ext cx="310896" cy="256032"/>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614166" y="4009644"/>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6</a:t>
            </a:r>
          </a:p>
        </p:txBody>
      </p:sp>
      <p:sp>
        <p:nvSpPr>
          <p:cNvPr id="42" name="TextBox 41"/>
          <p:cNvSpPr txBox="1"/>
          <p:nvPr/>
        </p:nvSpPr>
        <p:spPr>
          <a:xfrm>
            <a:off x="4034790" y="3968496"/>
            <a:ext cx="174879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Bảo mật và an toàn AI</a:t>
            </a:r>
          </a:p>
        </p:txBody>
      </p:sp>
      <p:sp>
        <p:nvSpPr>
          <p:cNvPr id="43" name="TextBox 42"/>
          <p:cNvSpPr txBox="1"/>
          <p:nvPr/>
        </p:nvSpPr>
        <p:spPr>
          <a:xfrm>
            <a:off x="3614166" y="4352544"/>
            <a:ext cx="2169414" cy="1170431"/>
          </a:xfrm>
          <a:prstGeom prst="rect">
            <a:avLst/>
          </a:prstGeom>
          <a:noFill/>
        </p:spPr>
        <p:txBody>
          <a:bodyPr wrap="square" anchor="t" lIns="0" rIns="0" tIns="0" bIns="0">
            <a:spAutoFit/>
          </a:bodyPr>
          <a:lstStyle/>
          <a:p>
            <a:pPr algn="l">
              <a:lnSpc>
                <a:spcPct val="116000"/>
              </a:lnSpc>
              <a:spcBef>
                <a:spcPts val="0"/>
              </a:spcBef>
              <a:spcAft>
                <a:spcPts val="0"/>
              </a:spcAft>
            </a:pPr>
            <a:r>
              <a:rPr sz="1100" b="0" i="0">
                <a:solidFill>
                  <a:srgbClr val="5E7387"/>
                </a:solidFill>
                <a:latin typeface="Arial"/>
              </a:rPr>
              <a:t>Phân quyền, toàn vẹn dữ liệu, lớp chống bịa số</a:t>
            </a:r>
          </a:p>
        </p:txBody>
      </p:sp>
      <p:sp>
        <p:nvSpPr>
          <p:cNvPr id="44" name="Rectangle 43"/>
          <p:cNvSpPr/>
          <p:nvPr/>
        </p:nvSpPr>
        <p:spPr>
          <a:xfrm>
            <a:off x="6185916" y="3794760"/>
            <a:ext cx="2626614" cy="187451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185916" y="3794760"/>
            <a:ext cx="50292" cy="1874519"/>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6423660" y="3986784"/>
            <a:ext cx="310896" cy="256032"/>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23660" y="4009644"/>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7</a:t>
            </a:r>
          </a:p>
        </p:txBody>
      </p:sp>
      <p:sp>
        <p:nvSpPr>
          <p:cNvPr id="48" name="TextBox 47"/>
          <p:cNvSpPr txBox="1"/>
          <p:nvPr/>
        </p:nvSpPr>
        <p:spPr>
          <a:xfrm>
            <a:off x="6844284" y="3968496"/>
            <a:ext cx="174879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Kết quả và lộ trình</a:t>
            </a:r>
          </a:p>
        </p:txBody>
      </p:sp>
      <p:sp>
        <p:nvSpPr>
          <p:cNvPr id="49" name="TextBox 48"/>
          <p:cNvSpPr txBox="1"/>
          <p:nvPr/>
        </p:nvSpPr>
        <p:spPr>
          <a:xfrm>
            <a:off x="6423660" y="4352544"/>
            <a:ext cx="2169414" cy="1170431"/>
          </a:xfrm>
          <a:prstGeom prst="rect">
            <a:avLst/>
          </a:prstGeom>
          <a:noFill/>
        </p:spPr>
        <p:txBody>
          <a:bodyPr wrap="square" anchor="t" lIns="0" rIns="0" tIns="0" bIns="0">
            <a:spAutoFit/>
          </a:bodyPr>
          <a:lstStyle/>
          <a:p>
            <a:pPr algn="l">
              <a:lnSpc>
                <a:spcPct val="116000"/>
              </a:lnSpc>
              <a:spcBef>
                <a:spcPts val="0"/>
              </a:spcBef>
              <a:spcAft>
                <a:spcPts val="0"/>
              </a:spcAft>
            </a:pPr>
            <a:r>
              <a:rPr sz="1100" b="0" i="0">
                <a:solidFill>
                  <a:srgbClr val="5E7387"/>
                </a:solidFill>
                <a:latin typeface="Arial"/>
              </a:rPr>
              <a:t>Đã làm được, chưa làm được, và bước tiếp theo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057400"/>
            <a:ext cx="2743200" cy="1371600"/>
          </a:xfrm>
          <a:prstGeom prst="rect">
            <a:avLst/>
          </a:prstGeom>
          <a:noFill/>
        </p:spPr>
        <p:txBody>
          <a:bodyPr wrap="square" anchor="t" lIns="0" rIns="0" tIns="0" bIns="0">
            <a:spAutoFit/>
          </a:bodyPr>
          <a:lstStyle/>
          <a:p>
            <a:pPr algn="l">
              <a:lnSpc>
                <a:spcPct val="100000"/>
              </a:lnSpc>
              <a:spcBef>
                <a:spcPts val="0"/>
              </a:spcBef>
              <a:spcAft>
                <a:spcPts val="0"/>
              </a:spcAft>
            </a:pPr>
            <a:r>
              <a:rPr sz="9600" b="1" i="0">
                <a:solidFill>
                  <a:srgbClr val="1F4A7A"/>
                </a:solidFill>
                <a:latin typeface="Arial"/>
              </a:rPr>
              <a:t>01</a:t>
            </a:r>
          </a:p>
        </p:txBody>
      </p:sp>
      <p:sp>
        <p:nvSpPr>
          <p:cNvPr id="5" name="TextBox 4"/>
          <p:cNvSpPr txBox="1"/>
          <p:nvPr/>
        </p:nvSpPr>
        <p:spPr>
          <a:xfrm>
            <a:off x="2743200" y="2286000"/>
            <a:ext cx="8138160" cy="1005840"/>
          </a:xfrm>
          <a:prstGeom prst="rect">
            <a:avLst/>
          </a:prstGeom>
          <a:noFill/>
        </p:spPr>
        <p:txBody>
          <a:bodyPr wrap="square" anchor="t" lIns="0" rIns="0" tIns="0" bIns="0">
            <a:spAutoFit/>
          </a:bodyPr>
          <a:lstStyle/>
          <a:p>
            <a:pPr algn="l">
              <a:lnSpc>
                <a:spcPct val="105000"/>
              </a:lnSpc>
              <a:spcBef>
                <a:spcPts val="0"/>
              </a:spcBef>
              <a:spcAft>
                <a:spcPts val="0"/>
              </a:spcAft>
            </a:pPr>
            <a:r>
              <a:rPr sz="3600" b="1" i="0">
                <a:solidFill>
                  <a:srgbClr val="FFFFFF"/>
                </a:solidFill>
                <a:latin typeface="Arial"/>
              </a:rPr>
              <a:t>Vấn đề thực tiễn</a:t>
            </a:r>
          </a:p>
        </p:txBody>
      </p:sp>
      <p:sp>
        <p:nvSpPr>
          <p:cNvPr id="6" name="Rectangle 5"/>
          <p:cNvSpPr/>
          <p:nvPr/>
        </p:nvSpPr>
        <p:spPr>
          <a:xfrm>
            <a:off x="2743200" y="3611880"/>
            <a:ext cx="1097280" cy="36576"/>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2743200" y="3886200"/>
            <a:ext cx="7863840" cy="1188720"/>
          </a:xfrm>
          <a:prstGeom prst="rect">
            <a:avLst/>
          </a:prstGeom>
          <a:noFill/>
        </p:spPr>
        <p:txBody>
          <a:bodyPr wrap="square" anchor="t" lIns="0" rIns="0" tIns="0" bIns="0">
            <a:spAutoFit/>
          </a:bodyPr>
          <a:lstStyle/>
          <a:p>
            <a:pPr algn="l">
              <a:lnSpc>
                <a:spcPct val="125000"/>
              </a:lnSpc>
              <a:spcBef>
                <a:spcPts val="0"/>
              </a:spcBef>
              <a:spcAft>
                <a:spcPts val="0"/>
              </a:spcAft>
            </a:pPr>
            <a:r>
              <a:rPr sz="1450" b="0" i="0">
                <a:solidFill>
                  <a:srgbClr val="A9BED1"/>
                </a:solidFill>
                <a:latin typeface="Arial"/>
              </a:rPr>
              <a:t>Ý tưởng không đến từ một bài toán trên giấy. Nó đến từ quê nhà của nhóm — xã Đồng Xuân — nơi người thân của thành viên nhóm đang tham gia công tác Hội Chữ thập đỏ xã.</a:t>
            </a:r>
          </a:p>
        </p:txBody>
      </p:sp>
      <p:sp>
        <p:nvSpPr>
          <p:cNvPr id="8" name="TextBox 7"/>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9" name="TextBox 8"/>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BỐI CẢNH</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Đợt mưa lũ tháng 11/2025 — dấu mốc thúc đẩy nhóm bắt tay vào làm</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Mưa phổ biến 400–600 mm, có nơi trên 800 mm; lũ sông Ba và sông Kỳ Lộ vượt các đỉnh lũ lịch sử.</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4</a:t>
            </a:r>
          </a:p>
        </p:txBody>
      </p:sp>
      <p:sp>
        <p:nvSpPr>
          <p:cNvPr id="8" name="Rectangle 7"/>
          <p:cNvSpPr/>
          <p:nvPr/>
        </p:nvSpPr>
        <p:spPr>
          <a:xfrm>
            <a:off x="566928" y="1783080"/>
            <a:ext cx="1721053" cy="14173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83080"/>
            <a:ext cx="1721053" cy="4572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76656" y="2002536"/>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300" b="1" i="0">
                <a:solidFill>
                  <a:srgbClr val="0B2545"/>
                </a:solidFill>
                <a:latin typeface="Arial"/>
              </a:rPr>
              <a:t>19</a:t>
            </a:r>
          </a:p>
        </p:txBody>
      </p:sp>
      <p:sp>
        <p:nvSpPr>
          <p:cNvPr id="11" name="TextBox 10"/>
          <p:cNvSpPr txBox="1"/>
          <p:nvPr/>
        </p:nvSpPr>
        <p:spPr>
          <a:xfrm>
            <a:off x="676656" y="2496312"/>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người chết
(tính đến 20/11/2025)</a:t>
            </a:r>
          </a:p>
        </p:txBody>
      </p:sp>
      <p:sp>
        <p:nvSpPr>
          <p:cNvPr id="12" name="Rectangle 11"/>
          <p:cNvSpPr/>
          <p:nvPr/>
        </p:nvSpPr>
        <p:spPr>
          <a:xfrm>
            <a:off x="2434285" y="1783080"/>
            <a:ext cx="1721053" cy="14173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434285" y="1783080"/>
            <a:ext cx="1721053" cy="4572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544013" y="2002536"/>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300" b="1" i="0">
                <a:solidFill>
                  <a:srgbClr val="0B2545"/>
                </a:solidFill>
                <a:latin typeface="Arial"/>
              </a:rPr>
              <a:t>6</a:t>
            </a:r>
          </a:p>
        </p:txBody>
      </p:sp>
      <p:sp>
        <p:nvSpPr>
          <p:cNvPr id="15" name="TextBox 14"/>
          <p:cNvSpPr txBox="1"/>
          <p:nvPr/>
        </p:nvSpPr>
        <p:spPr>
          <a:xfrm>
            <a:off x="2544013" y="2496312"/>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người mất tích</a:t>
            </a:r>
          </a:p>
        </p:txBody>
      </p:sp>
      <p:sp>
        <p:nvSpPr>
          <p:cNvPr id="16" name="Rectangle 15"/>
          <p:cNvSpPr/>
          <p:nvPr/>
        </p:nvSpPr>
        <p:spPr>
          <a:xfrm>
            <a:off x="4301642" y="1783080"/>
            <a:ext cx="1721053" cy="14173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301642" y="1783080"/>
            <a:ext cx="1721053"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11370" y="2002536"/>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300" b="1" i="0">
                <a:solidFill>
                  <a:srgbClr val="0B2545"/>
                </a:solidFill>
                <a:latin typeface="Arial"/>
              </a:rPr>
              <a:t>85.700+</a:t>
            </a:r>
          </a:p>
        </p:txBody>
      </p:sp>
      <p:sp>
        <p:nvSpPr>
          <p:cNvPr id="19" name="TextBox 18"/>
          <p:cNvSpPr txBox="1"/>
          <p:nvPr/>
        </p:nvSpPr>
        <p:spPr>
          <a:xfrm>
            <a:off x="4411370" y="2496312"/>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lượt nhà bị ngập</a:t>
            </a:r>
          </a:p>
        </p:txBody>
      </p:sp>
      <p:sp>
        <p:nvSpPr>
          <p:cNvPr id="20" name="Rectangle 19"/>
          <p:cNvSpPr/>
          <p:nvPr/>
        </p:nvSpPr>
        <p:spPr>
          <a:xfrm>
            <a:off x="6168999" y="1783080"/>
            <a:ext cx="1721053" cy="14173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168999" y="1783080"/>
            <a:ext cx="1721053"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78727" y="2002536"/>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300" b="1" i="0">
                <a:solidFill>
                  <a:srgbClr val="0B2545"/>
                </a:solidFill>
                <a:latin typeface="Arial"/>
              </a:rPr>
              <a:t>12.800+</a:t>
            </a:r>
          </a:p>
        </p:txBody>
      </p:sp>
      <p:sp>
        <p:nvSpPr>
          <p:cNvPr id="23" name="TextBox 22"/>
          <p:cNvSpPr txBox="1"/>
          <p:nvPr/>
        </p:nvSpPr>
        <p:spPr>
          <a:xfrm>
            <a:off x="6278727" y="2496312"/>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hộ bị cô lập</a:t>
            </a:r>
          </a:p>
        </p:txBody>
      </p:sp>
      <p:sp>
        <p:nvSpPr>
          <p:cNvPr id="24" name="Rectangle 23"/>
          <p:cNvSpPr/>
          <p:nvPr/>
        </p:nvSpPr>
        <p:spPr>
          <a:xfrm>
            <a:off x="8036356" y="1783080"/>
            <a:ext cx="1721053" cy="14173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36356" y="1783080"/>
            <a:ext cx="1721053" cy="457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46084" y="2002536"/>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300" b="1" i="0">
                <a:solidFill>
                  <a:srgbClr val="0B2545"/>
                </a:solidFill>
                <a:latin typeface="Arial"/>
              </a:rPr>
              <a:t>40</a:t>
            </a:r>
          </a:p>
        </p:txBody>
      </p:sp>
      <p:sp>
        <p:nvSpPr>
          <p:cNvPr id="27" name="TextBox 26"/>
          <p:cNvSpPr txBox="1"/>
          <p:nvPr/>
        </p:nvSpPr>
        <p:spPr>
          <a:xfrm>
            <a:off x="8146084" y="2496312"/>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xã, phường công bố
tình huống khẩn cấp</a:t>
            </a:r>
          </a:p>
        </p:txBody>
      </p:sp>
      <p:sp>
        <p:nvSpPr>
          <p:cNvPr id="28" name="Rectangle 27"/>
          <p:cNvSpPr/>
          <p:nvPr/>
        </p:nvSpPr>
        <p:spPr>
          <a:xfrm>
            <a:off x="9903714" y="1783080"/>
            <a:ext cx="1721053" cy="14173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903714" y="1783080"/>
            <a:ext cx="1721053" cy="457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13441" y="2002536"/>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300" b="1" i="0">
                <a:solidFill>
                  <a:srgbClr val="0B2545"/>
                </a:solidFill>
                <a:latin typeface="Arial"/>
              </a:rPr>
              <a:t>9.730 tỷ</a:t>
            </a:r>
          </a:p>
        </p:txBody>
      </p:sp>
      <p:sp>
        <p:nvSpPr>
          <p:cNvPr id="31" name="TextBox 30"/>
          <p:cNvSpPr txBox="1"/>
          <p:nvPr/>
        </p:nvSpPr>
        <p:spPr>
          <a:xfrm>
            <a:off x="10013441" y="2496312"/>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đồng thiệt hại
thiên tai cả năm</a:t>
            </a:r>
          </a:p>
        </p:txBody>
      </p:sp>
      <p:sp>
        <p:nvSpPr>
          <p:cNvPr id="32" name="Rectangle 31"/>
          <p:cNvSpPr/>
          <p:nvPr/>
        </p:nvSpPr>
        <p:spPr>
          <a:xfrm>
            <a:off x="566928" y="3429000"/>
            <a:ext cx="5440680" cy="21488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566928" y="3429000"/>
            <a:ext cx="50292" cy="214884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04672" y="3602736"/>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Xã Đồng Xuân nằm trong 40 xã công bố khẩn cấp</a:t>
            </a:r>
          </a:p>
        </p:txBody>
      </p:sp>
      <p:sp>
        <p:nvSpPr>
          <p:cNvPr id="35" name="TextBox 34"/>
          <p:cNvSpPr txBox="1"/>
          <p:nvPr/>
        </p:nvSpPr>
        <p:spPr>
          <a:xfrm>
            <a:off x="804672" y="3986784"/>
            <a:ext cx="4983480" cy="1444751"/>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20" b="0" i="0">
                <a:solidFill>
                  <a:srgbClr val="5E7387"/>
                </a:solidFill>
                <a:latin typeface="Arial"/>
              </a:rPr>
              <a:t>•   </a:t>
            </a:r>
            <a:r>
              <a:rPr sz="1120" b="0" i="0">
                <a:solidFill>
                  <a:srgbClr val="5E7387"/>
                </a:solidFill>
                <a:latin typeface="Arial"/>
              </a:rPr>
              <a:t>Một xã có 01 kho cứu trợ trung tâm và 17 kho thôn, nằm trên lưu vực sông Kỳ Lộ.</a:t>
            </a:r>
          </a:p>
          <a:p>
            <a:pPr algn="l" marL="165100" indent="-165100">
              <a:lnSpc>
                <a:spcPct val="114000"/>
              </a:lnSpc>
              <a:spcBef>
                <a:spcPts val="0"/>
              </a:spcBef>
              <a:spcAft>
                <a:spcPts val="450"/>
              </a:spcAft>
            </a:pPr>
            <a:r>
              <a:rPr sz="1120" b="0" i="0">
                <a:solidFill>
                  <a:srgbClr val="5E7387"/>
                </a:solidFill>
                <a:latin typeface="Arial"/>
              </a:rPr>
              <a:t>•   </a:t>
            </a:r>
            <a:r>
              <a:rPr sz="1120" b="0" i="0">
                <a:solidFill>
                  <a:srgbClr val="5E7387"/>
                </a:solidFill>
                <a:latin typeface="Arial"/>
              </a:rPr>
              <a:t>Thường xuyên bị ngập và chia cắt trong mùa mưa bão.</a:t>
            </a:r>
          </a:p>
          <a:p>
            <a:pPr algn="l" marL="165100" indent="-165100">
              <a:lnSpc>
                <a:spcPct val="114000"/>
              </a:lnSpc>
              <a:spcBef>
                <a:spcPts val="0"/>
              </a:spcBef>
              <a:spcAft>
                <a:spcPts val="450"/>
              </a:spcAft>
            </a:pPr>
            <a:r>
              <a:rPr sz="1120" b="0" i="0">
                <a:solidFill>
                  <a:srgbClr val="5E7387"/>
                </a:solidFill>
                <a:latin typeface="Arial"/>
              </a:rPr>
              <a:t>•   </a:t>
            </a:r>
            <a:r>
              <a:rPr sz="1120" b="0" i="0">
                <a:solidFill>
                  <a:srgbClr val="5E7387"/>
                </a:solidFill>
                <a:latin typeface="Arial"/>
              </a:rPr>
              <a:t>Mất điện và mất mạng thường xảy ra đúng lúc thiên tai đỉnh điểm.</a:t>
            </a:r>
          </a:p>
        </p:txBody>
      </p:sp>
      <p:sp>
        <p:nvSpPr>
          <p:cNvPr id="36" name="Rectangle 35"/>
          <p:cNvSpPr/>
          <p:nvPr/>
        </p:nvSpPr>
        <p:spPr>
          <a:xfrm>
            <a:off x="6181344" y="3429000"/>
            <a:ext cx="5440680" cy="21488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181344" y="3429000"/>
            <a:ext cx="50292" cy="214884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19088" y="3602736"/>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Giữa bối cảnh đó, hậu cần cứu trợ cấp xã vẫn làm bằng tay</a:t>
            </a:r>
          </a:p>
        </p:txBody>
      </p:sp>
      <p:sp>
        <p:nvSpPr>
          <p:cNvPr id="39" name="TextBox 38"/>
          <p:cNvSpPr txBox="1"/>
          <p:nvPr/>
        </p:nvSpPr>
        <p:spPr>
          <a:xfrm>
            <a:off x="6419088" y="3986784"/>
            <a:ext cx="4983480" cy="1444751"/>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20" b="0" i="0">
                <a:solidFill>
                  <a:srgbClr val="5E7387"/>
                </a:solidFill>
                <a:latin typeface="Arial"/>
              </a:rPr>
              <a:t>•   </a:t>
            </a:r>
            <a:r>
              <a:rPr sz="1120" b="0" i="0">
                <a:solidFill>
                  <a:srgbClr val="5E7387"/>
                </a:solidFill>
                <a:latin typeface="Arial"/>
              </a:rPr>
              <a:t>Số liệu nằm trên sổ giấy, bảng Excel, tin nhắn Zalo và trong trí nhớ cán bộ.</a:t>
            </a:r>
          </a:p>
          <a:p>
            <a:pPr algn="l" marL="165100" indent="-165100">
              <a:lnSpc>
                <a:spcPct val="114000"/>
              </a:lnSpc>
              <a:spcBef>
                <a:spcPts val="0"/>
              </a:spcBef>
              <a:spcAft>
                <a:spcPts val="450"/>
              </a:spcAft>
            </a:pPr>
            <a:r>
              <a:rPr sz="1120" b="0" i="0">
                <a:solidFill>
                  <a:srgbClr val="5E7387"/>
                </a:solidFill>
                <a:latin typeface="Arial"/>
              </a:rPr>
              <a:t>•   </a:t>
            </a:r>
            <a:r>
              <a:rPr sz="1120" b="0" i="0">
                <a:solidFill>
                  <a:srgbClr val="5E7387"/>
                </a:solidFill>
                <a:latin typeface="Arial"/>
              </a:rPr>
              <a:t>Muốn biết cả xã còn bao nhiêu áo phao thì phải gọi điện từng thôn —
mỗi cuộc gọi vài phút, giữa lúc nước đang lên.</a:t>
            </a:r>
          </a:p>
          <a:p>
            <a:pPr algn="l" marL="165100" indent="-165100">
              <a:lnSpc>
                <a:spcPct val="114000"/>
              </a:lnSpc>
              <a:spcBef>
                <a:spcPts val="0"/>
              </a:spcBef>
              <a:spcAft>
                <a:spcPts val="450"/>
              </a:spcAft>
            </a:pPr>
            <a:r>
              <a:rPr sz="1120" b="0" i="0">
                <a:solidFill>
                  <a:srgbClr val="5E7387"/>
                </a:solidFill>
                <a:latin typeface="Arial"/>
              </a:rPr>
              <a:t>•   </a:t>
            </a:r>
            <a:r>
              <a:rPr sz="1120" b="0" i="0">
                <a:solidFill>
                  <a:srgbClr val="5E7387"/>
                </a:solidFill>
                <a:latin typeface="Arial"/>
              </a:rPr>
              <a:t>Người trực tính định mức bằng máy tính bỏ túi giữa lúc bão.</a:t>
            </a:r>
          </a:p>
        </p:txBody>
      </p:sp>
      <p:sp>
        <p:nvSpPr>
          <p:cNvPr id="40" name="TextBox 39"/>
          <p:cNvSpPr txBox="1"/>
          <p:nvPr/>
        </p:nvSpPr>
        <p:spPr>
          <a:xfrm>
            <a:off x="566928" y="5989320"/>
            <a:ext cx="11055096" cy="274320"/>
          </a:xfrm>
          <a:prstGeom prst="rect">
            <a:avLst/>
          </a:prstGeom>
          <a:noFill/>
        </p:spPr>
        <p:txBody>
          <a:bodyPr wrap="square" anchor="t" lIns="0" rIns="0" tIns="0" bIns="0">
            <a:spAutoFit/>
          </a:bodyPr>
          <a:lstStyle/>
          <a:p>
            <a:pPr algn="l">
              <a:lnSpc>
                <a:spcPct val="112000"/>
              </a:lnSpc>
              <a:spcBef>
                <a:spcPts val="0"/>
              </a:spcBef>
              <a:spcAft>
                <a:spcPts val="0"/>
              </a:spcAft>
            </a:pPr>
            <a:r>
              <a:rPr sz="950" b="0" i="0">
                <a:solidFill>
                  <a:srgbClr val="9EB2C4"/>
                </a:solidFill>
                <a:latin typeface="Arial"/>
              </a:rPr>
              <a:t>Nguồn: UBND tỉnh Đắk Lắk (21/11/2025) · Cục Quản lý đê điều và Phòng, chống thiên tai — báo cáo nhanh ngày 20/11/2025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VẤN ĐỀ</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Bốn nút thắt cụ thể nhóm xác định được</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Mỗi nút thắt về sau tương ứng với một nhóm chức năng trong sản phẩm.</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5</a:t>
            </a:r>
          </a:p>
        </p:txBody>
      </p:sp>
      <p:sp>
        <p:nvSpPr>
          <p:cNvPr id="8" name="Rectangle 7"/>
          <p:cNvSpPr/>
          <p:nvPr/>
        </p:nvSpPr>
        <p:spPr>
          <a:xfrm>
            <a:off x="566928" y="1737360"/>
            <a:ext cx="5440680" cy="2084831"/>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2084831"/>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04672" y="1929384"/>
            <a:ext cx="310896" cy="256032"/>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1</a:t>
            </a:r>
          </a:p>
        </p:txBody>
      </p:sp>
      <p:sp>
        <p:nvSpPr>
          <p:cNvPr id="12" name="TextBox 11"/>
          <p:cNvSpPr txBox="1"/>
          <p:nvPr/>
        </p:nvSpPr>
        <p:spPr>
          <a:xfrm>
            <a:off x="1225296" y="1911095"/>
            <a:ext cx="4562856"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Dữ liệu vật tư nằm rải rác</a:t>
            </a:r>
          </a:p>
        </p:txBody>
      </p:sp>
      <p:sp>
        <p:nvSpPr>
          <p:cNvPr id="13" name="TextBox 12"/>
          <p:cNvSpPr txBox="1"/>
          <p:nvPr/>
        </p:nvSpPr>
        <p:spPr>
          <a:xfrm>
            <a:off x="804672" y="2295144"/>
            <a:ext cx="4983480" cy="1380744"/>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5E7387"/>
                </a:solidFill>
                <a:latin typeface="Arial"/>
              </a:rPr>
              <a:t>Một xã có một kho tổng và hơn mười kho thôn. Số liệu nằm trên sổ giấy, bảng tính, tin nhắn và trong trí nhớ từng cán bộ — không có một con số dùng chung.</a:t>
            </a:r>
          </a:p>
        </p:txBody>
      </p:sp>
      <p:sp>
        <p:nvSpPr>
          <p:cNvPr id="14" name="Rectangle 13"/>
          <p:cNvSpPr/>
          <p:nvPr/>
        </p:nvSpPr>
        <p:spPr>
          <a:xfrm>
            <a:off x="6181344" y="1737360"/>
            <a:ext cx="5440680" cy="2084831"/>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181344" y="1737360"/>
            <a:ext cx="50292" cy="2084831"/>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419088" y="1929384"/>
            <a:ext cx="310896" cy="256032"/>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19088"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2</a:t>
            </a:r>
          </a:p>
        </p:txBody>
      </p:sp>
      <p:sp>
        <p:nvSpPr>
          <p:cNvPr id="18" name="TextBox 17"/>
          <p:cNvSpPr txBox="1"/>
          <p:nvPr/>
        </p:nvSpPr>
        <p:spPr>
          <a:xfrm>
            <a:off x="6839712" y="1911095"/>
            <a:ext cx="4562856"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Biết "có bao nhiêu" là chưa đủ</a:t>
            </a:r>
          </a:p>
        </p:txBody>
      </p:sp>
      <p:sp>
        <p:nvSpPr>
          <p:cNvPr id="19" name="TextBox 18"/>
          <p:cNvSpPr txBox="1"/>
          <p:nvPr/>
        </p:nvSpPr>
        <p:spPr>
          <a:xfrm>
            <a:off x="6419088" y="2295144"/>
            <a:ext cx="4983480" cy="1380744"/>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5E7387"/>
                </a:solidFill>
                <a:latin typeface="Arial"/>
              </a:rPr>
              <a:t>Trong cứu hộ, câu hỏi thật sự là vật tư nào dùng được ngay: lô nào hết hạn, lô nào hỏng, lô nào đang cho mượn, kệ nào đang khóa. Một con số tồn kho đẹp có thể che giấu một kho không xuất được hàng.</a:t>
            </a:r>
          </a:p>
        </p:txBody>
      </p:sp>
      <p:sp>
        <p:nvSpPr>
          <p:cNvPr id="20" name="Rectangle 19"/>
          <p:cNvSpPr/>
          <p:nvPr/>
        </p:nvSpPr>
        <p:spPr>
          <a:xfrm>
            <a:off x="566928" y="4005072"/>
            <a:ext cx="5440680" cy="2084831"/>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66928" y="4005072"/>
            <a:ext cx="50292" cy="2084831"/>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4672" y="4197096"/>
            <a:ext cx="310896" cy="256032"/>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4672" y="4219956"/>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3</a:t>
            </a:r>
          </a:p>
        </p:txBody>
      </p:sp>
      <p:sp>
        <p:nvSpPr>
          <p:cNvPr id="24" name="TextBox 23"/>
          <p:cNvSpPr txBox="1"/>
          <p:nvPr/>
        </p:nvSpPr>
        <p:spPr>
          <a:xfrm>
            <a:off x="1225296" y="4178808"/>
            <a:ext cx="4562856"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Từ tình huống ra phương án là phép tính thủ công dễ sai</a:t>
            </a:r>
          </a:p>
        </p:txBody>
      </p:sp>
      <p:sp>
        <p:nvSpPr>
          <p:cNvPr id="25" name="TextBox 24"/>
          <p:cNvSpPr txBox="1"/>
          <p:nvPr/>
        </p:nvSpPr>
        <p:spPr>
          <a:xfrm>
            <a:off x="804672" y="4562856"/>
            <a:ext cx="4983480" cy="1380743"/>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5E7387"/>
                </a:solidFill>
                <a:latin typeface="Arial"/>
              </a:rPr>
              <a:t>"150 người mắc kẹt hai ngày" phải quy ra bao nhiêu chai nước, bao nhiêu áo phao, lấy ở kho nào, đi đường nào, mất bao lâu — tính tay giữa lúc bão.</a:t>
            </a:r>
          </a:p>
        </p:txBody>
      </p:sp>
      <p:sp>
        <p:nvSpPr>
          <p:cNvPr id="26" name="Rectangle 25"/>
          <p:cNvSpPr/>
          <p:nvPr/>
        </p:nvSpPr>
        <p:spPr>
          <a:xfrm>
            <a:off x="6181344" y="4005072"/>
            <a:ext cx="5440680" cy="2084831"/>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181344" y="4005072"/>
            <a:ext cx="50292" cy="2084831"/>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419088" y="4197096"/>
            <a:ext cx="310896" cy="256032"/>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19088" y="4219956"/>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4</a:t>
            </a:r>
          </a:p>
        </p:txBody>
      </p:sp>
      <p:sp>
        <p:nvSpPr>
          <p:cNvPr id="30" name="TextBox 29"/>
          <p:cNvSpPr txBox="1"/>
          <p:nvPr/>
        </p:nvSpPr>
        <p:spPr>
          <a:xfrm>
            <a:off x="6839712" y="4178808"/>
            <a:ext cx="4562856"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Mất điện, mất mạng đúng lúc cần nhất</a:t>
            </a:r>
          </a:p>
        </p:txBody>
      </p:sp>
      <p:sp>
        <p:nvSpPr>
          <p:cNvPr id="31" name="TextBox 30"/>
          <p:cNvSpPr txBox="1"/>
          <p:nvPr/>
        </p:nvSpPr>
        <p:spPr>
          <a:xfrm>
            <a:off x="6419088" y="4562856"/>
            <a:ext cx="4983480" cy="1380743"/>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5E7387"/>
                </a:solidFill>
                <a:latin typeface="Arial"/>
              </a:rPr>
              <a:t>Mọi giải pháp phụ thuộc hoàn toàn vào Internet đều trở nên vô dụng đúng lúc thiên tai đỉnh điểm. Đây là điều khiến nhóm quyết tâm nhất.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MỤC TIÊU GIẢI PHÁP</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Bốn câu hỏi người điều hành cấp xã cần trả lời trong vài phút</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Thay vì vài giờ gọi điện và cộng sổ bằng tay.</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6</a:t>
            </a:r>
          </a:p>
        </p:txBody>
      </p:sp>
      <p:sp>
        <p:nvSpPr>
          <p:cNvPr id="8" name="Rectangle 7"/>
          <p:cNvSpPr/>
          <p:nvPr/>
        </p:nvSpPr>
        <p:spPr>
          <a:xfrm>
            <a:off x="566928" y="1737360"/>
            <a:ext cx="5440680" cy="16002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16002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04672" y="1929384"/>
            <a:ext cx="310896" cy="256032"/>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1</a:t>
            </a:r>
          </a:p>
        </p:txBody>
      </p:sp>
      <p:sp>
        <p:nvSpPr>
          <p:cNvPr id="12" name="TextBox 11"/>
          <p:cNvSpPr txBox="1"/>
          <p:nvPr/>
        </p:nvSpPr>
        <p:spPr>
          <a:xfrm>
            <a:off x="1225296" y="1911095"/>
            <a:ext cx="4562856"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Vật tư nào đang thực sự sẵn sàng?</a:t>
            </a:r>
          </a:p>
        </p:txBody>
      </p:sp>
      <p:sp>
        <p:nvSpPr>
          <p:cNvPr id="13" name="TextBox 12"/>
          <p:cNvSpPr txBox="1"/>
          <p:nvPr/>
        </p:nvSpPr>
        <p:spPr>
          <a:xfrm>
            <a:off x="804672" y="2295144"/>
            <a:ext cx="4983480" cy="896112"/>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5E7387"/>
                </a:solidFill>
                <a:latin typeface="Arial"/>
              </a:rPr>
              <a:t>Không phải số tồn trên sổ, mà là số dùng được ngay.</a:t>
            </a:r>
          </a:p>
        </p:txBody>
      </p:sp>
      <p:sp>
        <p:nvSpPr>
          <p:cNvPr id="14" name="Rectangle 13"/>
          <p:cNvSpPr/>
          <p:nvPr/>
        </p:nvSpPr>
        <p:spPr>
          <a:xfrm>
            <a:off x="6181344" y="1737360"/>
            <a:ext cx="5440680" cy="16002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181344" y="1737360"/>
            <a:ext cx="50292" cy="160020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419088" y="1929384"/>
            <a:ext cx="310896" cy="256032"/>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19088"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2</a:t>
            </a:r>
          </a:p>
        </p:txBody>
      </p:sp>
      <p:sp>
        <p:nvSpPr>
          <p:cNvPr id="18" name="TextBox 17"/>
          <p:cNvSpPr txBox="1"/>
          <p:nvPr/>
        </p:nvSpPr>
        <p:spPr>
          <a:xfrm>
            <a:off x="6839712" y="1911095"/>
            <a:ext cx="4562856"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Kho đang có vướng mắc vận hành nào?</a:t>
            </a:r>
          </a:p>
        </p:txBody>
      </p:sp>
      <p:sp>
        <p:nvSpPr>
          <p:cNvPr id="19" name="TextBox 18"/>
          <p:cNvSpPr txBox="1"/>
          <p:nvPr/>
        </p:nvSpPr>
        <p:spPr>
          <a:xfrm>
            <a:off x="6419088" y="2295144"/>
            <a:ext cx="4983480" cy="896112"/>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5E7387"/>
                </a:solidFill>
                <a:latin typeface="Arial"/>
              </a:rPr>
              <a:t>Điều gì đang chặn việc xuất hàng.</a:t>
            </a:r>
          </a:p>
        </p:txBody>
      </p:sp>
      <p:sp>
        <p:nvSpPr>
          <p:cNvPr id="20" name="Rectangle 19"/>
          <p:cNvSpPr/>
          <p:nvPr/>
        </p:nvSpPr>
        <p:spPr>
          <a:xfrm>
            <a:off x="566928" y="3502152"/>
            <a:ext cx="5440680" cy="16002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66928" y="3502152"/>
            <a:ext cx="50292" cy="160020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4672" y="3694176"/>
            <a:ext cx="310896" cy="256032"/>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4672" y="3717036"/>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3</a:t>
            </a:r>
          </a:p>
        </p:txBody>
      </p:sp>
      <p:sp>
        <p:nvSpPr>
          <p:cNvPr id="24" name="TextBox 23"/>
          <p:cNvSpPr txBox="1"/>
          <p:nvPr/>
        </p:nvSpPr>
        <p:spPr>
          <a:xfrm>
            <a:off x="1225296" y="3675888"/>
            <a:ext cx="4562856"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Tình huống này cần gì, đáp ứng được bao nhiêu %?</a:t>
            </a:r>
          </a:p>
        </p:txBody>
      </p:sp>
      <p:sp>
        <p:nvSpPr>
          <p:cNvPr id="25" name="TextBox 24"/>
          <p:cNvSpPr txBox="1"/>
          <p:nvPr/>
        </p:nvSpPr>
        <p:spPr>
          <a:xfrm>
            <a:off x="804672" y="4059936"/>
            <a:ext cx="4983480" cy="896111"/>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5E7387"/>
                </a:solidFill>
                <a:latin typeface="Arial"/>
              </a:rPr>
              <a:t>Theo mắt xích yếu nhất, không lấy trung bình.</a:t>
            </a:r>
          </a:p>
        </p:txBody>
      </p:sp>
      <p:sp>
        <p:nvSpPr>
          <p:cNvPr id="26" name="Rectangle 25"/>
          <p:cNvSpPr/>
          <p:nvPr/>
        </p:nvSpPr>
        <p:spPr>
          <a:xfrm>
            <a:off x="6181344" y="3502152"/>
            <a:ext cx="5440680" cy="16002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181344" y="3502152"/>
            <a:ext cx="50292" cy="16002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419088" y="3694176"/>
            <a:ext cx="310896" cy="256032"/>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19088" y="3717036"/>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4</a:t>
            </a:r>
          </a:p>
        </p:txBody>
      </p:sp>
      <p:sp>
        <p:nvSpPr>
          <p:cNvPr id="30" name="TextBox 29"/>
          <p:cNvSpPr txBox="1"/>
          <p:nvPr/>
        </p:nvSpPr>
        <p:spPr>
          <a:xfrm>
            <a:off x="6839712" y="3675888"/>
            <a:ext cx="4562856"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Việc gì phải làm tiếp, ai làm, lấy hàng ở đâu, đi đường nào?</a:t>
            </a:r>
          </a:p>
        </p:txBody>
      </p:sp>
      <p:sp>
        <p:nvSpPr>
          <p:cNvPr id="31" name="TextBox 30"/>
          <p:cNvSpPr txBox="1"/>
          <p:nvPr/>
        </p:nvSpPr>
        <p:spPr>
          <a:xfrm>
            <a:off x="6419088" y="4059936"/>
            <a:ext cx="4983480" cy="896111"/>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5E7387"/>
                </a:solidFill>
                <a:latin typeface="Arial"/>
              </a:rPr>
              <a:t>Tới tận lúc có người ký nhận.</a:t>
            </a:r>
          </a:p>
        </p:txBody>
      </p:sp>
      <p:sp>
        <p:nvSpPr>
          <p:cNvPr id="32" name="Rectangle 31"/>
          <p:cNvSpPr/>
          <p:nvPr/>
        </p:nvSpPr>
        <p:spPr>
          <a:xfrm>
            <a:off x="566928" y="5303520"/>
            <a:ext cx="11055096" cy="9144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68680" y="5486400"/>
            <a:ext cx="10424160" cy="594360"/>
          </a:xfrm>
          <a:prstGeom prst="rect">
            <a:avLst/>
          </a:prstGeom>
          <a:noFill/>
        </p:spPr>
        <p:txBody>
          <a:bodyPr wrap="square" anchor="ctr" lIns="0" rIns="0" tIns="0" bIns="0">
            <a:spAutoFit/>
          </a:bodyPr>
          <a:lstStyle/>
          <a:p>
            <a:pPr algn="l">
              <a:lnSpc>
                <a:spcPct val="115000"/>
              </a:lnSpc>
              <a:spcBef>
                <a:spcPts val="0"/>
              </a:spcBef>
              <a:spcAft>
                <a:spcPts val="0"/>
              </a:spcAft>
            </a:pPr>
            <a:r>
              <a:rPr sz="1500" b="1" i="0">
                <a:solidFill>
                  <a:srgbClr val="FFFFFF"/>
                </a:solidFill>
                <a:latin typeface="Arial"/>
              </a:rPr>
              <a:t>Sản phẩm là một hệ thống hoàn chỉnh gồm bốn ứng dụng chạy được</a:t>
            </a:r>
            <a:r>
              <a:rPr sz="1500" b="0" i="0">
                <a:solidFill>
                  <a:srgbClr val="FFFFFF"/>
                </a:solidFill>
                <a:latin typeface="Arial"/>
              </a:rPr>
              <a:t>  —  web vận hành, ứng dụng Android, ứng dụng IoT trên máy tính và dịch vụ AI chạy tại chỗ.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057400"/>
            <a:ext cx="2743200" cy="1371600"/>
          </a:xfrm>
          <a:prstGeom prst="rect">
            <a:avLst/>
          </a:prstGeom>
          <a:noFill/>
        </p:spPr>
        <p:txBody>
          <a:bodyPr wrap="square" anchor="t" lIns="0" rIns="0" tIns="0" bIns="0">
            <a:spAutoFit/>
          </a:bodyPr>
          <a:lstStyle/>
          <a:p>
            <a:pPr algn="l">
              <a:lnSpc>
                <a:spcPct val="100000"/>
              </a:lnSpc>
              <a:spcBef>
                <a:spcPts val="0"/>
              </a:spcBef>
              <a:spcAft>
                <a:spcPts val="0"/>
              </a:spcAft>
            </a:pPr>
            <a:r>
              <a:rPr sz="9600" b="1" i="0">
                <a:solidFill>
                  <a:srgbClr val="1F4A7A"/>
                </a:solidFill>
                <a:latin typeface="Arial"/>
              </a:rPr>
              <a:t>02</a:t>
            </a:r>
          </a:p>
        </p:txBody>
      </p:sp>
      <p:sp>
        <p:nvSpPr>
          <p:cNvPr id="5" name="TextBox 4"/>
          <p:cNvSpPr txBox="1"/>
          <p:nvPr/>
        </p:nvSpPr>
        <p:spPr>
          <a:xfrm>
            <a:off x="2743200" y="2286000"/>
            <a:ext cx="8138160" cy="1005840"/>
          </a:xfrm>
          <a:prstGeom prst="rect">
            <a:avLst/>
          </a:prstGeom>
          <a:noFill/>
        </p:spPr>
        <p:txBody>
          <a:bodyPr wrap="square" anchor="t" lIns="0" rIns="0" tIns="0" bIns="0">
            <a:spAutoFit/>
          </a:bodyPr>
          <a:lstStyle/>
          <a:p>
            <a:pPr algn="l">
              <a:lnSpc>
                <a:spcPct val="105000"/>
              </a:lnSpc>
              <a:spcBef>
                <a:spcPts val="0"/>
              </a:spcBef>
              <a:spcAft>
                <a:spcPts val="0"/>
              </a:spcAft>
            </a:pPr>
            <a:r>
              <a:rPr sz="3600" b="1" i="0">
                <a:solidFill>
                  <a:srgbClr val="FFFFFF"/>
                </a:solidFill>
                <a:latin typeface="Arial"/>
              </a:rPr>
              <a:t>Giải pháp</a:t>
            </a:r>
          </a:p>
        </p:txBody>
      </p:sp>
      <p:sp>
        <p:nvSpPr>
          <p:cNvPr id="6" name="Rectangle 5"/>
          <p:cNvSpPr/>
          <p:nvPr/>
        </p:nvSpPr>
        <p:spPr>
          <a:xfrm>
            <a:off x="2743200" y="3611880"/>
            <a:ext cx="1097280" cy="36576"/>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2743200" y="3886200"/>
            <a:ext cx="7863840" cy="1188720"/>
          </a:xfrm>
          <a:prstGeom prst="rect">
            <a:avLst/>
          </a:prstGeom>
          <a:noFill/>
        </p:spPr>
        <p:txBody>
          <a:bodyPr wrap="square" anchor="t" lIns="0" rIns="0" tIns="0" bIns="0">
            <a:spAutoFit/>
          </a:bodyPr>
          <a:lstStyle/>
          <a:p>
            <a:pPr algn="l">
              <a:lnSpc>
                <a:spcPct val="125000"/>
              </a:lnSpc>
              <a:spcBef>
                <a:spcPts val="0"/>
              </a:spcBef>
              <a:spcAft>
                <a:spcPts val="0"/>
              </a:spcAft>
            </a:pPr>
            <a:r>
              <a:rPr sz="1450" b="0" i="0">
                <a:solidFill>
                  <a:srgbClr val="A9BED1"/>
                </a:solidFill>
                <a:latin typeface="Arial"/>
              </a:rPr>
              <a:t>Ứng phó nhanh quản lý năng lực phản ứng thực tế của kho, không chỉ số tồn trên sổ.</a:t>
            </a:r>
          </a:p>
        </p:txBody>
      </p:sp>
      <p:sp>
        <p:nvSpPr>
          <p:cNvPr id="8" name="TextBox 7"/>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9" name="TextBox 8"/>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Ý TƯỞNG CỐT LÕI</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Từ một câu nói của trưởng thôn tới một phương án có thể chất vấn từng con số</a:t>
            </a:r>
          </a:p>
        </p:txBody>
      </p:sp>
      <p:sp>
        <p:nvSpPr>
          <p:cNvPr id="5" name="TextBox 4"/>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6" name="TextBox 5"/>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8</a:t>
            </a:r>
          </a:p>
        </p:txBody>
      </p:sp>
      <p:sp>
        <p:nvSpPr>
          <p:cNvPr id="7" name="Rectangle 6"/>
          <p:cNvSpPr/>
          <p:nvPr/>
        </p:nvSpPr>
        <p:spPr>
          <a:xfrm>
            <a:off x="566928" y="1316736"/>
            <a:ext cx="11055096" cy="9601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316736"/>
            <a:ext cx="54864" cy="96012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499616"/>
            <a:ext cx="10515600" cy="640080"/>
          </a:xfrm>
          <a:prstGeom prst="rect">
            <a:avLst/>
          </a:prstGeom>
          <a:noFill/>
        </p:spPr>
        <p:txBody>
          <a:bodyPr wrap="square" anchor="ctr" lIns="0" rIns="0" tIns="0" bIns="0">
            <a:spAutoFit/>
          </a:bodyPr>
          <a:lstStyle/>
          <a:p>
            <a:pPr algn="l">
              <a:lnSpc>
                <a:spcPct val="115000"/>
              </a:lnSpc>
              <a:spcBef>
                <a:spcPts val="0"/>
              </a:spcBef>
              <a:spcAft>
                <a:spcPts val="0"/>
              </a:spcAft>
            </a:pPr>
            <a:r>
              <a:rPr sz="1700" b="1" i="0">
                <a:solidFill>
                  <a:srgbClr val="0B2545"/>
                </a:solidFill>
                <a:latin typeface="Arial"/>
              </a:rPr>
              <a:t>"Thôn Long Châu ngập nặng, khoảng một trăm năm mươi người mắc kẹt, cần nước uống và áo phao gấp"</a:t>
            </a:r>
          </a:p>
        </p:txBody>
      </p:sp>
      <p:sp>
        <p:nvSpPr>
          <p:cNvPr id="10" name="Rectangle 9"/>
          <p:cNvSpPr/>
          <p:nvPr/>
        </p:nvSpPr>
        <p:spPr>
          <a:xfrm>
            <a:off x="566928" y="2551176"/>
            <a:ext cx="1269873"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551176"/>
            <a:ext cx="1269873" cy="411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2734056"/>
            <a:ext cx="1123569" cy="256032"/>
          </a:xfrm>
          <a:prstGeom prst="rect">
            <a:avLst/>
          </a:prstGeom>
          <a:noFill/>
        </p:spPr>
        <p:txBody>
          <a:bodyPr wrap="square" anchor="t" lIns="0" rIns="0" tIns="0" bIns="0">
            <a:spAutoFit/>
          </a:bodyPr>
          <a:lstStyle/>
          <a:p>
            <a:pPr algn="ctr">
              <a:lnSpc>
                <a:spcPct val="112000"/>
              </a:lnSpc>
              <a:spcBef>
                <a:spcPts val="0"/>
              </a:spcBef>
              <a:spcAft>
                <a:spcPts val="0"/>
              </a:spcAft>
            </a:pPr>
            <a:r>
              <a:rPr sz="1300" b="1" i="0">
                <a:solidFill>
                  <a:srgbClr val="C43D3D"/>
                </a:solidFill>
                <a:latin typeface="Arial"/>
              </a:rPr>
              <a:t>1</a:t>
            </a:r>
          </a:p>
        </p:txBody>
      </p:sp>
      <p:sp>
        <p:nvSpPr>
          <p:cNvPr id="13" name="TextBox 12"/>
          <p:cNvSpPr txBox="1"/>
          <p:nvPr/>
        </p:nvSpPr>
        <p:spPr>
          <a:xfrm>
            <a:off x="640080" y="3054096"/>
            <a:ext cx="1123569" cy="777240"/>
          </a:xfrm>
          <a:prstGeom prst="rect">
            <a:avLst/>
          </a:prstGeom>
          <a:noFill/>
        </p:spPr>
        <p:txBody>
          <a:bodyPr wrap="square" anchor="t" lIns="0" rIns="0" tIns="0" bIns="0">
            <a:spAutoFit/>
          </a:bodyPr>
          <a:lstStyle/>
          <a:p>
            <a:pPr algn="ctr">
              <a:lnSpc>
                <a:spcPct val="115000"/>
              </a:lnSpc>
              <a:spcBef>
                <a:spcPts val="0"/>
              </a:spcBef>
              <a:spcAft>
                <a:spcPts val="0"/>
              </a:spcAft>
            </a:pPr>
            <a:r>
              <a:rPr sz="1000" b="0" i="0">
                <a:solidFill>
                  <a:srgbClr val="16283C"/>
                </a:solidFill>
                <a:latin typeface="Arial"/>
              </a:rPr>
              <a:t>Bóc tách thành
dữ liệu có cấu trúc</a:t>
            </a:r>
          </a:p>
        </p:txBody>
      </p:sp>
      <p:sp>
        <p:nvSpPr>
          <p:cNvPr id="14" name="Right Arrow 13"/>
          <p:cNvSpPr/>
          <p:nvPr/>
        </p:nvSpPr>
        <p:spPr>
          <a:xfrm>
            <a:off x="1841373" y="3118104"/>
            <a:ext cx="118872" cy="146304"/>
          </a:xfrm>
          <a:prstGeom prst="rightArrow">
            <a:avLst/>
          </a:prstGeom>
          <a:solidFill>
            <a:srgbClr val="9EB2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964817" y="2551176"/>
            <a:ext cx="1269873" cy="1371600"/>
          </a:xfrm>
          <a:prstGeom prst="rect">
            <a:avLst/>
          </a:prstGeom>
          <a:solidFill>
            <a:srgbClr val="E8EEF4"/>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1964817" y="2551176"/>
            <a:ext cx="1269873" cy="41148"/>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037969" y="2734056"/>
            <a:ext cx="1123569" cy="256032"/>
          </a:xfrm>
          <a:prstGeom prst="rect">
            <a:avLst/>
          </a:prstGeom>
          <a:noFill/>
        </p:spPr>
        <p:txBody>
          <a:bodyPr wrap="square" anchor="t" lIns="0" rIns="0" tIns="0" bIns="0">
            <a:spAutoFit/>
          </a:bodyPr>
          <a:lstStyle/>
          <a:p>
            <a:pPr algn="ctr">
              <a:lnSpc>
                <a:spcPct val="112000"/>
              </a:lnSpc>
              <a:spcBef>
                <a:spcPts val="0"/>
              </a:spcBef>
              <a:spcAft>
                <a:spcPts val="0"/>
              </a:spcAft>
            </a:pPr>
            <a:r>
              <a:rPr sz="1300" b="1" i="0">
                <a:solidFill>
                  <a:srgbClr val="147D71"/>
                </a:solidFill>
                <a:latin typeface="Arial"/>
              </a:rPr>
              <a:t>2</a:t>
            </a:r>
          </a:p>
        </p:txBody>
      </p:sp>
      <p:sp>
        <p:nvSpPr>
          <p:cNvPr id="18" name="TextBox 17"/>
          <p:cNvSpPr txBox="1"/>
          <p:nvPr/>
        </p:nvSpPr>
        <p:spPr>
          <a:xfrm>
            <a:off x="2037969" y="3054096"/>
            <a:ext cx="1123569" cy="777240"/>
          </a:xfrm>
          <a:prstGeom prst="rect">
            <a:avLst/>
          </a:prstGeom>
          <a:noFill/>
        </p:spPr>
        <p:txBody>
          <a:bodyPr wrap="square" anchor="t" lIns="0" rIns="0" tIns="0" bIns="0">
            <a:spAutoFit/>
          </a:bodyPr>
          <a:lstStyle/>
          <a:p>
            <a:pPr algn="ctr">
              <a:lnSpc>
                <a:spcPct val="115000"/>
              </a:lnSpc>
              <a:spcBef>
                <a:spcPts val="0"/>
              </a:spcBef>
              <a:spcAft>
                <a:spcPts val="0"/>
              </a:spcAft>
            </a:pPr>
            <a:r>
              <a:rPr sz="1000" b="0" i="0">
                <a:solidFill>
                  <a:srgbClr val="16283C"/>
                </a:solidFill>
                <a:latin typeface="Arial"/>
              </a:rPr>
              <a:t>Đối chiếu định mức
cứu trợ quốc tế</a:t>
            </a:r>
          </a:p>
        </p:txBody>
      </p:sp>
      <p:sp>
        <p:nvSpPr>
          <p:cNvPr id="19" name="Right Arrow 18"/>
          <p:cNvSpPr/>
          <p:nvPr/>
        </p:nvSpPr>
        <p:spPr>
          <a:xfrm>
            <a:off x="3239262" y="3118104"/>
            <a:ext cx="118872" cy="146304"/>
          </a:xfrm>
          <a:prstGeom prst="rightArrow">
            <a:avLst/>
          </a:prstGeom>
          <a:solidFill>
            <a:srgbClr val="9EB2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3362706" y="2551176"/>
            <a:ext cx="1269873"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362706" y="2551176"/>
            <a:ext cx="1269873" cy="41148"/>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435858" y="2734056"/>
            <a:ext cx="1123569" cy="256032"/>
          </a:xfrm>
          <a:prstGeom prst="rect">
            <a:avLst/>
          </a:prstGeom>
          <a:noFill/>
        </p:spPr>
        <p:txBody>
          <a:bodyPr wrap="square" anchor="t" lIns="0" rIns="0" tIns="0" bIns="0">
            <a:spAutoFit/>
          </a:bodyPr>
          <a:lstStyle/>
          <a:p>
            <a:pPr algn="ctr">
              <a:lnSpc>
                <a:spcPct val="112000"/>
              </a:lnSpc>
              <a:spcBef>
                <a:spcPts val="0"/>
              </a:spcBef>
              <a:spcAft>
                <a:spcPts val="0"/>
              </a:spcAft>
            </a:pPr>
            <a:r>
              <a:rPr sz="1300" b="1" i="0">
                <a:solidFill>
                  <a:srgbClr val="1B3F6B"/>
                </a:solidFill>
                <a:latin typeface="Arial"/>
              </a:rPr>
              <a:t>3</a:t>
            </a:r>
          </a:p>
        </p:txBody>
      </p:sp>
      <p:sp>
        <p:nvSpPr>
          <p:cNvPr id="23" name="TextBox 22"/>
          <p:cNvSpPr txBox="1"/>
          <p:nvPr/>
        </p:nvSpPr>
        <p:spPr>
          <a:xfrm>
            <a:off x="3435858" y="3054096"/>
            <a:ext cx="1123569" cy="777240"/>
          </a:xfrm>
          <a:prstGeom prst="rect">
            <a:avLst/>
          </a:prstGeom>
          <a:noFill/>
        </p:spPr>
        <p:txBody>
          <a:bodyPr wrap="square" anchor="t" lIns="0" rIns="0" tIns="0" bIns="0">
            <a:spAutoFit/>
          </a:bodyPr>
          <a:lstStyle/>
          <a:p>
            <a:pPr algn="ctr">
              <a:lnSpc>
                <a:spcPct val="115000"/>
              </a:lnSpc>
              <a:spcBef>
                <a:spcPts val="0"/>
              </a:spcBef>
              <a:spcAft>
                <a:spcPts val="0"/>
              </a:spcAft>
            </a:pPr>
            <a:r>
              <a:rPr sz="1000" b="0" i="0">
                <a:solidFill>
                  <a:srgbClr val="16283C"/>
                </a:solidFill>
                <a:latin typeface="Arial"/>
              </a:rPr>
              <a:t>Soi vào tồn kho thật
của 18 kho trong xã</a:t>
            </a:r>
          </a:p>
        </p:txBody>
      </p:sp>
      <p:sp>
        <p:nvSpPr>
          <p:cNvPr id="24" name="Right Arrow 23"/>
          <p:cNvSpPr/>
          <p:nvPr/>
        </p:nvSpPr>
        <p:spPr>
          <a:xfrm>
            <a:off x="4637151" y="3118104"/>
            <a:ext cx="118872" cy="146304"/>
          </a:xfrm>
          <a:prstGeom prst="rightArrow">
            <a:avLst/>
          </a:prstGeom>
          <a:solidFill>
            <a:srgbClr val="9EB2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760595" y="2551176"/>
            <a:ext cx="1269873" cy="1371600"/>
          </a:xfrm>
          <a:prstGeom prst="rect">
            <a:avLst/>
          </a:prstGeom>
          <a:solidFill>
            <a:srgbClr val="E8EEF4"/>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760595" y="2551176"/>
            <a:ext cx="1269873" cy="411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833747" y="2734056"/>
            <a:ext cx="1123569" cy="256032"/>
          </a:xfrm>
          <a:prstGeom prst="rect">
            <a:avLst/>
          </a:prstGeom>
          <a:noFill/>
        </p:spPr>
        <p:txBody>
          <a:bodyPr wrap="square" anchor="t" lIns="0" rIns="0" tIns="0" bIns="0">
            <a:spAutoFit/>
          </a:bodyPr>
          <a:lstStyle/>
          <a:p>
            <a:pPr algn="ctr">
              <a:lnSpc>
                <a:spcPct val="112000"/>
              </a:lnSpc>
              <a:spcBef>
                <a:spcPts val="0"/>
              </a:spcBef>
              <a:spcAft>
                <a:spcPts val="0"/>
              </a:spcAft>
            </a:pPr>
            <a:r>
              <a:rPr sz="1300" b="1" i="0">
                <a:solidFill>
                  <a:srgbClr val="C43D3D"/>
                </a:solidFill>
                <a:latin typeface="Arial"/>
              </a:rPr>
              <a:t>4</a:t>
            </a:r>
          </a:p>
        </p:txBody>
      </p:sp>
      <p:sp>
        <p:nvSpPr>
          <p:cNvPr id="28" name="TextBox 27"/>
          <p:cNvSpPr txBox="1"/>
          <p:nvPr/>
        </p:nvSpPr>
        <p:spPr>
          <a:xfrm>
            <a:off x="4833747" y="3054096"/>
            <a:ext cx="1123569" cy="777240"/>
          </a:xfrm>
          <a:prstGeom prst="rect">
            <a:avLst/>
          </a:prstGeom>
          <a:noFill/>
        </p:spPr>
        <p:txBody>
          <a:bodyPr wrap="square" anchor="t" lIns="0" rIns="0" tIns="0" bIns="0">
            <a:spAutoFit/>
          </a:bodyPr>
          <a:lstStyle/>
          <a:p>
            <a:pPr algn="ctr">
              <a:lnSpc>
                <a:spcPct val="115000"/>
              </a:lnSpc>
              <a:spcBef>
                <a:spcPts val="0"/>
              </a:spcBef>
              <a:spcAft>
                <a:spcPts val="0"/>
              </a:spcAft>
            </a:pPr>
            <a:r>
              <a:rPr sz="1000" b="0" i="0">
                <a:solidFill>
                  <a:srgbClr val="16283C"/>
                </a:solidFill>
                <a:latin typeface="Arial"/>
              </a:rPr>
              <a:t>Chọn kho gần nhất
còn hàng dùng được</a:t>
            </a:r>
          </a:p>
        </p:txBody>
      </p:sp>
      <p:sp>
        <p:nvSpPr>
          <p:cNvPr id="29" name="Right Arrow 28"/>
          <p:cNvSpPr/>
          <p:nvPr/>
        </p:nvSpPr>
        <p:spPr>
          <a:xfrm>
            <a:off x="6035040" y="3118104"/>
            <a:ext cx="118872" cy="146304"/>
          </a:xfrm>
          <a:prstGeom prst="rightArrow">
            <a:avLst/>
          </a:prstGeom>
          <a:solidFill>
            <a:srgbClr val="9EB2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158484" y="2551176"/>
            <a:ext cx="1269873"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158484" y="2551176"/>
            <a:ext cx="1269873" cy="41148"/>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231636" y="2734056"/>
            <a:ext cx="1123569" cy="256032"/>
          </a:xfrm>
          <a:prstGeom prst="rect">
            <a:avLst/>
          </a:prstGeom>
          <a:noFill/>
        </p:spPr>
        <p:txBody>
          <a:bodyPr wrap="square" anchor="t" lIns="0" rIns="0" tIns="0" bIns="0">
            <a:spAutoFit/>
          </a:bodyPr>
          <a:lstStyle/>
          <a:p>
            <a:pPr algn="ctr">
              <a:lnSpc>
                <a:spcPct val="112000"/>
              </a:lnSpc>
              <a:spcBef>
                <a:spcPts val="0"/>
              </a:spcBef>
              <a:spcAft>
                <a:spcPts val="0"/>
              </a:spcAft>
            </a:pPr>
            <a:r>
              <a:rPr sz="1300" b="1" i="0">
                <a:solidFill>
                  <a:srgbClr val="147D71"/>
                </a:solidFill>
                <a:latin typeface="Arial"/>
              </a:rPr>
              <a:t>5</a:t>
            </a:r>
          </a:p>
        </p:txBody>
      </p:sp>
      <p:sp>
        <p:nvSpPr>
          <p:cNvPr id="33" name="TextBox 32"/>
          <p:cNvSpPr txBox="1"/>
          <p:nvPr/>
        </p:nvSpPr>
        <p:spPr>
          <a:xfrm>
            <a:off x="6231636" y="3054096"/>
            <a:ext cx="1123569" cy="777240"/>
          </a:xfrm>
          <a:prstGeom prst="rect">
            <a:avLst/>
          </a:prstGeom>
          <a:noFill/>
        </p:spPr>
        <p:txBody>
          <a:bodyPr wrap="square" anchor="t" lIns="0" rIns="0" tIns="0" bIns="0">
            <a:spAutoFit/>
          </a:bodyPr>
          <a:lstStyle/>
          <a:p>
            <a:pPr algn="ctr">
              <a:lnSpc>
                <a:spcPct val="115000"/>
              </a:lnSpc>
              <a:spcBef>
                <a:spcPts val="0"/>
              </a:spcBef>
              <a:spcAft>
                <a:spcPts val="0"/>
              </a:spcAft>
            </a:pPr>
            <a:r>
              <a:rPr sz="1000" b="0" i="0">
                <a:solidFill>
                  <a:srgbClr val="16283C"/>
                </a:solidFill>
                <a:latin typeface="Arial"/>
              </a:rPr>
              <a:t>Tính tuyến đường
và thời gian tới nơi</a:t>
            </a:r>
          </a:p>
        </p:txBody>
      </p:sp>
      <p:sp>
        <p:nvSpPr>
          <p:cNvPr id="34" name="Right Arrow 33"/>
          <p:cNvSpPr/>
          <p:nvPr/>
        </p:nvSpPr>
        <p:spPr>
          <a:xfrm>
            <a:off x="7432929" y="3118104"/>
            <a:ext cx="118872" cy="146304"/>
          </a:xfrm>
          <a:prstGeom prst="rightArrow">
            <a:avLst/>
          </a:prstGeom>
          <a:solidFill>
            <a:srgbClr val="9EB2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556373" y="2551176"/>
            <a:ext cx="1269873" cy="1371600"/>
          </a:xfrm>
          <a:prstGeom prst="rect">
            <a:avLst/>
          </a:prstGeom>
          <a:solidFill>
            <a:srgbClr val="E8EEF4"/>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7556373" y="2551176"/>
            <a:ext cx="1269873" cy="41148"/>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629525" y="2734056"/>
            <a:ext cx="1123569" cy="256032"/>
          </a:xfrm>
          <a:prstGeom prst="rect">
            <a:avLst/>
          </a:prstGeom>
          <a:noFill/>
        </p:spPr>
        <p:txBody>
          <a:bodyPr wrap="square" anchor="t" lIns="0" rIns="0" tIns="0" bIns="0">
            <a:spAutoFit/>
          </a:bodyPr>
          <a:lstStyle/>
          <a:p>
            <a:pPr algn="ctr">
              <a:lnSpc>
                <a:spcPct val="112000"/>
              </a:lnSpc>
              <a:spcBef>
                <a:spcPts val="0"/>
              </a:spcBef>
              <a:spcAft>
                <a:spcPts val="0"/>
              </a:spcAft>
            </a:pPr>
            <a:r>
              <a:rPr sz="1300" b="1" i="0">
                <a:solidFill>
                  <a:srgbClr val="1B3F6B"/>
                </a:solidFill>
                <a:latin typeface="Arial"/>
              </a:rPr>
              <a:t>6</a:t>
            </a:r>
          </a:p>
        </p:txBody>
      </p:sp>
      <p:sp>
        <p:nvSpPr>
          <p:cNvPr id="38" name="TextBox 37"/>
          <p:cNvSpPr txBox="1"/>
          <p:nvPr/>
        </p:nvSpPr>
        <p:spPr>
          <a:xfrm>
            <a:off x="7629525" y="3054096"/>
            <a:ext cx="1123569" cy="777240"/>
          </a:xfrm>
          <a:prstGeom prst="rect">
            <a:avLst/>
          </a:prstGeom>
          <a:noFill/>
        </p:spPr>
        <p:txBody>
          <a:bodyPr wrap="square" anchor="t" lIns="0" rIns="0" tIns="0" bIns="0">
            <a:spAutoFit/>
          </a:bodyPr>
          <a:lstStyle/>
          <a:p>
            <a:pPr algn="ctr">
              <a:lnSpc>
                <a:spcPct val="115000"/>
              </a:lnSpc>
              <a:spcBef>
                <a:spcPts val="0"/>
              </a:spcBef>
              <a:spcAft>
                <a:spcPts val="0"/>
              </a:spcAft>
            </a:pPr>
            <a:r>
              <a:rPr sz="1000" b="0" i="0">
                <a:solidFill>
                  <a:srgbClr val="16283C"/>
                </a:solidFill>
                <a:latin typeface="Arial"/>
              </a:rPr>
              <a:t>Sinh kế hoạch
hành động 8 mục</a:t>
            </a:r>
          </a:p>
        </p:txBody>
      </p:sp>
      <p:sp>
        <p:nvSpPr>
          <p:cNvPr id="39" name="Right Arrow 38"/>
          <p:cNvSpPr/>
          <p:nvPr/>
        </p:nvSpPr>
        <p:spPr>
          <a:xfrm>
            <a:off x="8830818" y="3118104"/>
            <a:ext cx="118872" cy="146304"/>
          </a:xfrm>
          <a:prstGeom prst="rightArrow">
            <a:avLst/>
          </a:prstGeom>
          <a:solidFill>
            <a:srgbClr val="9EB2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8954261" y="2551176"/>
            <a:ext cx="1269873"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8954261" y="2551176"/>
            <a:ext cx="1269873" cy="411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027413" y="2734056"/>
            <a:ext cx="1123569" cy="256032"/>
          </a:xfrm>
          <a:prstGeom prst="rect">
            <a:avLst/>
          </a:prstGeom>
          <a:noFill/>
        </p:spPr>
        <p:txBody>
          <a:bodyPr wrap="square" anchor="t" lIns="0" rIns="0" tIns="0" bIns="0">
            <a:spAutoFit/>
          </a:bodyPr>
          <a:lstStyle/>
          <a:p>
            <a:pPr algn="ctr">
              <a:lnSpc>
                <a:spcPct val="112000"/>
              </a:lnSpc>
              <a:spcBef>
                <a:spcPts val="0"/>
              </a:spcBef>
              <a:spcAft>
                <a:spcPts val="0"/>
              </a:spcAft>
            </a:pPr>
            <a:r>
              <a:rPr sz="1300" b="1" i="0">
                <a:solidFill>
                  <a:srgbClr val="C43D3D"/>
                </a:solidFill>
                <a:latin typeface="Arial"/>
              </a:rPr>
              <a:t>7</a:t>
            </a:r>
          </a:p>
        </p:txBody>
      </p:sp>
      <p:sp>
        <p:nvSpPr>
          <p:cNvPr id="43" name="TextBox 42"/>
          <p:cNvSpPr txBox="1"/>
          <p:nvPr/>
        </p:nvSpPr>
        <p:spPr>
          <a:xfrm>
            <a:off x="9027413" y="3054096"/>
            <a:ext cx="1123569" cy="777240"/>
          </a:xfrm>
          <a:prstGeom prst="rect">
            <a:avLst/>
          </a:prstGeom>
          <a:noFill/>
        </p:spPr>
        <p:txBody>
          <a:bodyPr wrap="square" anchor="t" lIns="0" rIns="0" tIns="0" bIns="0">
            <a:spAutoFit/>
          </a:bodyPr>
          <a:lstStyle/>
          <a:p>
            <a:pPr algn="ctr">
              <a:lnSpc>
                <a:spcPct val="115000"/>
              </a:lnSpc>
              <a:spcBef>
                <a:spcPts val="0"/>
              </a:spcBef>
              <a:spcAft>
                <a:spcPts val="0"/>
              </a:spcAft>
            </a:pPr>
            <a:r>
              <a:rPr sz="1000" b="0" i="0">
                <a:solidFill>
                  <a:srgbClr val="16283C"/>
                </a:solidFill>
                <a:latin typeface="Arial"/>
              </a:rPr>
              <a:t>Chia việc xuống
từng kho, từng mã hàng</a:t>
            </a:r>
          </a:p>
        </p:txBody>
      </p:sp>
      <p:sp>
        <p:nvSpPr>
          <p:cNvPr id="44" name="Right Arrow 43"/>
          <p:cNvSpPr/>
          <p:nvPr/>
        </p:nvSpPr>
        <p:spPr>
          <a:xfrm>
            <a:off x="10228707" y="3118104"/>
            <a:ext cx="118872" cy="146304"/>
          </a:xfrm>
          <a:prstGeom prst="rightArrow">
            <a:avLst/>
          </a:prstGeom>
          <a:solidFill>
            <a:srgbClr val="9EB2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10352151" y="2551176"/>
            <a:ext cx="1269873" cy="1371600"/>
          </a:xfrm>
          <a:prstGeom prst="rect">
            <a:avLst/>
          </a:prstGeom>
          <a:solidFill>
            <a:srgbClr val="E8EEF4"/>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10352151" y="2551176"/>
            <a:ext cx="1269873" cy="41148"/>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10425303" y="2734056"/>
            <a:ext cx="1123569" cy="256032"/>
          </a:xfrm>
          <a:prstGeom prst="rect">
            <a:avLst/>
          </a:prstGeom>
          <a:noFill/>
        </p:spPr>
        <p:txBody>
          <a:bodyPr wrap="square" anchor="t" lIns="0" rIns="0" tIns="0" bIns="0">
            <a:spAutoFit/>
          </a:bodyPr>
          <a:lstStyle/>
          <a:p>
            <a:pPr algn="ctr">
              <a:lnSpc>
                <a:spcPct val="112000"/>
              </a:lnSpc>
              <a:spcBef>
                <a:spcPts val="0"/>
              </a:spcBef>
              <a:spcAft>
                <a:spcPts val="0"/>
              </a:spcAft>
            </a:pPr>
            <a:r>
              <a:rPr sz="1300" b="1" i="0">
                <a:solidFill>
                  <a:srgbClr val="147D71"/>
                </a:solidFill>
                <a:latin typeface="Arial"/>
              </a:rPr>
              <a:t>8</a:t>
            </a:r>
          </a:p>
        </p:txBody>
      </p:sp>
      <p:sp>
        <p:nvSpPr>
          <p:cNvPr id="48" name="TextBox 47"/>
          <p:cNvSpPr txBox="1"/>
          <p:nvPr/>
        </p:nvSpPr>
        <p:spPr>
          <a:xfrm>
            <a:off x="10425303" y="3054096"/>
            <a:ext cx="1123569" cy="777240"/>
          </a:xfrm>
          <a:prstGeom prst="rect">
            <a:avLst/>
          </a:prstGeom>
          <a:noFill/>
        </p:spPr>
        <p:txBody>
          <a:bodyPr wrap="square" anchor="t" lIns="0" rIns="0" tIns="0" bIns="0">
            <a:spAutoFit/>
          </a:bodyPr>
          <a:lstStyle/>
          <a:p>
            <a:pPr algn="ctr">
              <a:lnSpc>
                <a:spcPct val="115000"/>
              </a:lnSpc>
              <a:spcBef>
                <a:spcPts val="0"/>
              </a:spcBef>
              <a:spcAft>
                <a:spcPts val="0"/>
              </a:spcAft>
            </a:pPr>
            <a:r>
              <a:rPr sz="1000" b="0" i="0">
                <a:solidFill>
                  <a:srgbClr val="16283C"/>
                </a:solidFill>
                <a:latin typeface="Arial"/>
              </a:rPr>
              <a:t>Theo dõi tới lúc
có người ký nhận</a:t>
            </a:r>
          </a:p>
        </p:txBody>
      </p:sp>
      <p:sp>
        <p:nvSpPr>
          <p:cNvPr id="49" name="Rectangle 48"/>
          <p:cNvSpPr/>
          <p:nvPr/>
        </p:nvSpPr>
        <p:spPr>
          <a:xfrm>
            <a:off x="566928" y="4151376"/>
            <a:ext cx="3566160" cy="14173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566928" y="4151376"/>
            <a:ext cx="50292" cy="141732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04672" y="4325112"/>
            <a:ext cx="310896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Chế độ ngày thường</a:t>
            </a:r>
          </a:p>
        </p:txBody>
      </p:sp>
      <p:sp>
        <p:nvSpPr>
          <p:cNvPr id="52" name="TextBox 51"/>
          <p:cNvSpPr txBox="1"/>
          <p:nvPr/>
        </p:nvSpPr>
        <p:spPr>
          <a:xfrm>
            <a:off x="804672" y="4709160"/>
            <a:ext cx="3108960" cy="713231"/>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AI chủ động cảnh báo: chỉ số sẵn sàng, dự báo cạn kho, hạn dùng, đề xuất điều chuyển.</a:t>
            </a:r>
          </a:p>
        </p:txBody>
      </p:sp>
      <p:sp>
        <p:nvSpPr>
          <p:cNvPr id="53" name="Rectangle 52"/>
          <p:cNvSpPr/>
          <p:nvPr/>
        </p:nvSpPr>
        <p:spPr>
          <a:xfrm>
            <a:off x="4315968" y="4151376"/>
            <a:ext cx="3566160" cy="14173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4315968" y="4151376"/>
            <a:ext cx="50292" cy="141732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4553712" y="4325112"/>
            <a:ext cx="310896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Chế độ khẩn cấp</a:t>
            </a:r>
          </a:p>
        </p:txBody>
      </p:sp>
      <p:sp>
        <p:nvSpPr>
          <p:cNvPr id="56" name="TextBox 55"/>
          <p:cNvSpPr txBox="1"/>
          <p:nvPr/>
        </p:nvSpPr>
        <p:spPr>
          <a:xfrm>
            <a:off x="4553712" y="4709160"/>
            <a:ext cx="3108960" cy="713231"/>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AI hỗ trợ ra quyết định: nhu cầu có căn cứ, phân bổ đa kho, tuyến đường, kế hoạch hành động.</a:t>
            </a:r>
          </a:p>
        </p:txBody>
      </p:sp>
      <p:sp>
        <p:nvSpPr>
          <p:cNvPr id="57" name="Rectangle 56"/>
          <p:cNvSpPr/>
          <p:nvPr/>
        </p:nvSpPr>
        <p:spPr>
          <a:xfrm>
            <a:off x="8065008" y="4151376"/>
            <a:ext cx="3557016" cy="14173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8065008" y="4151376"/>
            <a:ext cx="50292" cy="14173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302752" y="4325112"/>
            <a:ext cx="3099816"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Ranh giới không đổi</a:t>
            </a:r>
          </a:p>
        </p:txBody>
      </p:sp>
      <p:sp>
        <p:nvSpPr>
          <p:cNvPr id="60" name="TextBox 59"/>
          <p:cNvSpPr txBox="1"/>
          <p:nvPr/>
        </p:nvSpPr>
        <p:spPr>
          <a:xfrm>
            <a:off x="8302752" y="4709160"/>
            <a:ext cx="3099816" cy="713231"/>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Máy tính toán, người quyết định. AI không duyệt, không xuất kho, không phân công người.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NỀN TẢNG SẢN PHẨM</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Ba nguyên tắc thiết kế bắt buộc</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Mọi chức năng trong sản phẩm đều phải phục tùng ba nguyên tắc này.</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9</a:t>
            </a:r>
          </a:p>
        </p:txBody>
      </p:sp>
      <p:sp>
        <p:nvSpPr>
          <p:cNvPr id="8" name="Rectangle 7"/>
          <p:cNvSpPr/>
          <p:nvPr/>
        </p:nvSpPr>
        <p:spPr>
          <a:xfrm>
            <a:off x="566928" y="1737360"/>
            <a:ext cx="3550920" cy="39319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393192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04672" y="1929384"/>
            <a:ext cx="310896" cy="256032"/>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1</a:t>
            </a:r>
          </a:p>
        </p:txBody>
      </p:sp>
      <p:sp>
        <p:nvSpPr>
          <p:cNvPr id="12" name="TextBox 11"/>
          <p:cNvSpPr txBox="1"/>
          <p:nvPr/>
        </p:nvSpPr>
        <p:spPr>
          <a:xfrm>
            <a:off x="1225296" y="1911095"/>
            <a:ext cx="2673096" cy="365760"/>
          </a:xfrm>
          <a:prstGeom prst="rect">
            <a:avLst/>
          </a:prstGeom>
          <a:noFill/>
        </p:spPr>
        <p:txBody>
          <a:bodyPr wrap="square" anchor="t" lIns="0" rIns="0" tIns="0" bIns="0">
            <a:spAutoFit/>
          </a:bodyPr>
          <a:lstStyle/>
          <a:p>
            <a:pPr algn="l">
              <a:lnSpc>
                <a:spcPct val="105000"/>
              </a:lnSpc>
              <a:spcBef>
                <a:spcPts val="0"/>
              </a:spcBef>
              <a:spcAft>
                <a:spcPts val="0"/>
              </a:spcAft>
            </a:pPr>
            <a:r>
              <a:rPr sz="1700" b="1" i="0">
                <a:solidFill>
                  <a:srgbClr val="0B2545"/>
                </a:solidFill>
                <a:latin typeface="Arial"/>
              </a:rPr>
              <a:t>Máy tính toán,
người quyết định</a:t>
            </a:r>
          </a:p>
        </p:txBody>
      </p:sp>
      <p:sp>
        <p:nvSpPr>
          <p:cNvPr id="13" name="TextBox 12"/>
          <p:cNvSpPr txBox="1"/>
          <p:nvPr/>
        </p:nvSpPr>
        <p:spPr>
          <a:xfrm>
            <a:off x="804672" y="2295144"/>
            <a:ext cx="3093720" cy="322783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AI không tự duyệt phương án.</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Không tự xuất kho.</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Không tự phân công người.</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Không tự liên hệ đơn vị ngoài.</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Mọi lệnh xuất kho và mọi thay đổi trạng thái đều do người có thẩm quyền bấm.</a:t>
            </a:r>
          </a:p>
        </p:txBody>
      </p:sp>
      <p:sp>
        <p:nvSpPr>
          <p:cNvPr id="14" name="Rectangle 13"/>
          <p:cNvSpPr/>
          <p:nvPr/>
        </p:nvSpPr>
        <p:spPr>
          <a:xfrm>
            <a:off x="4319016" y="1737360"/>
            <a:ext cx="3550920" cy="39319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19016" y="1737360"/>
            <a:ext cx="50292" cy="39319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556760" y="1929384"/>
            <a:ext cx="310896" cy="256032"/>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56760"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2</a:t>
            </a:r>
          </a:p>
        </p:txBody>
      </p:sp>
      <p:sp>
        <p:nvSpPr>
          <p:cNvPr id="18" name="TextBox 17"/>
          <p:cNvSpPr txBox="1"/>
          <p:nvPr/>
        </p:nvSpPr>
        <p:spPr>
          <a:xfrm>
            <a:off x="4977384" y="1911095"/>
            <a:ext cx="2673096" cy="365760"/>
          </a:xfrm>
          <a:prstGeom prst="rect">
            <a:avLst/>
          </a:prstGeom>
          <a:noFill/>
        </p:spPr>
        <p:txBody>
          <a:bodyPr wrap="square" anchor="t" lIns="0" rIns="0" tIns="0" bIns="0">
            <a:spAutoFit/>
          </a:bodyPr>
          <a:lstStyle/>
          <a:p>
            <a:pPr algn="l">
              <a:lnSpc>
                <a:spcPct val="105000"/>
              </a:lnSpc>
              <a:spcBef>
                <a:spcPts val="0"/>
              </a:spcBef>
              <a:spcAft>
                <a:spcPts val="0"/>
              </a:spcAft>
            </a:pPr>
            <a:r>
              <a:rPr sz="1700" b="1" i="0">
                <a:solidFill>
                  <a:srgbClr val="0B2545"/>
                </a:solidFill>
                <a:latin typeface="Arial"/>
              </a:rPr>
              <a:t>Không bịa số</a:t>
            </a:r>
          </a:p>
        </p:txBody>
      </p:sp>
      <p:sp>
        <p:nvSpPr>
          <p:cNvPr id="19" name="TextBox 18"/>
          <p:cNvSpPr txBox="1"/>
          <p:nvPr/>
        </p:nvSpPr>
        <p:spPr>
          <a:xfrm>
            <a:off x="4556760" y="2295144"/>
            <a:ext cx="3093720" cy="322783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Tồn kho, tỷ lệ đáp ứng, mức khẩn cấp, dự báo %, khoảng cách, thời gian di chuyển — đều do hệ thống tính bằng công thức kiểm chứng được.</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Mô hình ngôn ngữ chỉ viết phần diễn giải bằng lời dựa trên các con số đó.</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Câu trả lời của mô hình bị đối chiếu lại từng con số trước khi hiển thị.</a:t>
            </a:r>
          </a:p>
        </p:txBody>
      </p:sp>
      <p:sp>
        <p:nvSpPr>
          <p:cNvPr id="20" name="Rectangle 19"/>
          <p:cNvSpPr/>
          <p:nvPr/>
        </p:nvSpPr>
        <p:spPr>
          <a:xfrm>
            <a:off x="8071104" y="1737360"/>
            <a:ext cx="3550920" cy="39319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071104" y="1737360"/>
            <a:ext cx="50292" cy="393192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308847" y="1929384"/>
            <a:ext cx="310896" cy="256032"/>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08847" y="1952243"/>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3</a:t>
            </a:r>
          </a:p>
        </p:txBody>
      </p:sp>
      <p:sp>
        <p:nvSpPr>
          <p:cNvPr id="24" name="TextBox 23"/>
          <p:cNvSpPr txBox="1"/>
          <p:nvPr/>
        </p:nvSpPr>
        <p:spPr>
          <a:xfrm>
            <a:off x="8729472" y="1911095"/>
            <a:ext cx="2673096" cy="365760"/>
          </a:xfrm>
          <a:prstGeom prst="rect">
            <a:avLst/>
          </a:prstGeom>
          <a:noFill/>
        </p:spPr>
        <p:txBody>
          <a:bodyPr wrap="square" anchor="t" lIns="0" rIns="0" tIns="0" bIns="0">
            <a:spAutoFit/>
          </a:bodyPr>
          <a:lstStyle/>
          <a:p>
            <a:pPr algn="l">
              <a:lnSpc>
                <a:spcPct val="105000"/>
              </a:lnSpc>
              <a:spcBef>
                <a:spcPts val="0"/>
              </a:spcBef>
              <a:spcAft>
                <a:spcPts val="0"/>
              </a:spcAft>
            </a:pPr>
            <a:r>
              <a:rPr sz="1700" b="1" i="0">
                <a:solidFill>
                  <a:srgbClr val="0B2545"/>
                </a:solidFill>
                <a:latin typeface="Arial"/>
              </a:rPr>
              <a:t>Hỏng cũng phải
dùng được</a:t>
            </a:r>
          </a:p>
        </p:txBody>
      </p:sp>
      <p:sp>
        <p:nvSpPr>
          <p:cNvPr id="25" name="TextBox 24"/>
          <p:cNvSpPr txBox="1"/>
          <p:nvPr/>
        </p:nvSpPr>
        <p:spPr>
          <a:xfrm>
            <a:off x="8308847" y="2295144"/>
            <a:ext cx="3093720" cy="322783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Mô hình AI chạy ngay trên máy đặt tại xã; bản đồ và dữ liệu đường tải sẵn.</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Mất Internet vẫn tra cứu, vẫn lập phương án, vẫn xuất kho được.</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Mất cả mạng nội bộ thì ứng dụng nói thẳng là dữ liệu đã cũ và từ chối ghi, thay vì giả vờ thành công.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THÀNH PHẦN SẢN PHẨM</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Sản phẩm dự thi: bốn ứng dụng chạy thật, cùng một máy chủ</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Không phải bản mô phỏng giao diện, không phải video dựng sẵn.</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10</a:t>
            </a:r>
          </a:p>
        </p:txBody>
      </p:sp>
      <p:graphicFrame>
        <p:nvGraphicFramePr>
          <p:cNvPr id="8" name="Table 7"/>
          <p:cNvGraphicFramePr>
            <a:graphicFrameLocks noGrp="1"/>
          </p:cNvGraphicFramePr>
          <p:nvPr/>
        </p:nvGraphicFramePr>
        <p:xfrm>
          <a:off x="566928" y="1737360"/>
          <a:ext cx="11055094" cy="2596896"/>
        </p:xfrm>
        <a:graphic>
          <a:graphicData uri="http://schemas.openxmlformats.org/drawingml/2006/table">
            <a:tbl>
              <a:tblPr>
                <a:tableStyleId>{5C22544A-7EE6-4342-B048-85BDC9FD1C3A}</a:tableStyleId>
              </a:tblPr>
              <a:tblGrid>
                <a:gridCol w="2154806"/>
                <a:gridCol w="2716930"/>
                <a:gridCol w="2061119"/>
                <a:gridCol w="4122239"/>
              </a:tblGrid>
              <a:tr h="329184">
                <a:tc>
                  <a:txBody>
                    <a:bodyPr wrap="square"/>
                    <a:lstStyle/>
                    <a:p>
                      <a:pPr algn="l">
                        <a:lnSpc>
                          <a:spcPct val="105000"/>
                        </a:lnSpc>
                        <a:spcBef>
                          <a:spcPts val="0"/>
                        </a:spcBef>
                        <a:spcAft>
                          <a:spcPts val="0"/>
                        </a:spcAft>
                      </a:pPr>
                      <a:r>
                        <a:rPr sz="1080" b="1" i="0">
                          <a:solidFill>
                            <a:srgbClr val="FFFFFF"/>
                          </a:solidFill>
                          <a:latin typeface="Arial"/>
                        </a:rPr>
                        <a:t>Ứng dụng</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Người dùng</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Nền tảng</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Trạng thái</a:t>
                      </a:r>
                    </a:p>
                  </a:txBody>
                  <a:tcPr marL="91440" marR="73152" marT="27432" marB="27432" anchor="ctr">
                    <a:solidFill>
                      <a:srgbClr val="0B2545"/>
                    </a:solidFill>
                  </a:tcPr>
                </a:tc>
              </a:tr>
              <a:tr h="566928">
                <a:tc>
                  <a:txBody>
                    <a:bodyPr wrap="square"/>
                    <a:lstStyle/>
                    <a:p>
                      <a:pPr algn="l">
                        <a:lnSpc>
                          <a:spcPct val="108000"/>
                        </a:lnSpc>
                        <a:spcBef>
                          <a:spcPts val="0"/>
                        </a:spcBef>
                        <a:spcAft>
                          <a:spcPts val="0"/>
                        </a:spcAft>
                      </a:pPr>
                      <a:r>
                        <a:rPr sz="1100" b="1" i="0">
                          <a:solidFill>
                            <a:srgbClr val="0B2545"/>
                          </a:solidFill>
                          <a:latin typeface="Arial"/>
                        </a:rPr>
                        <a:t>Web vận hành và điều hành</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Quản trị xã, phụ trách kho trung tâm</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Trình duyệt trên máy tính</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13 màn hình nghiệp vụ · production build đạt</a:t>
                      </a:r>
                    </a:p>
                  </a:txBody>
                  <a:tcPr marL="91440" marR="73152" marT="27432" marB="27432" anchor="ctr">
                    <a:solidFill>
                      <a:srgbClr val="FFFFFF"/>
                    </a:solidFill>
                  </a:tcPr>
                </a:tc>
              </a:tr>
              <a:tr h="566928">
                <a:tc>
                  <a:txBody>
                    <a:bodyPr wrap="square"/>
                    <a:lstStyle/>
                    <a:p>
                      <a:pPr algn="l">
                        <a:lnSpc>
                          <a:spcPct val="108000"/>
                        </a:lnSpc>
                        <a:spcBef>
                          <a:spcPts val="0"/>
                        </a:spcBef>
                        <a:spcAft>
                          <a:spcPts val="0"/>
                        </a:spcAft>
                      </a:pPr>
                      <a:r>
                        <a:rPr sz="1100" b="1" i="0">
                          <a:solidFill>
                            <a:srgbClr val="0B2545"/>
                          </a:solidFill>
                          <a:latin typeface="Arial"/>
                        </a:rPr>
                        <a:t>Ứng dụng Android</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Trưởng thôn kiêm phụ trách kho thôn, lực lượng hiện trường</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Điện thoại Android</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Bản phát hành 0.5.0, ký bằng khóa RSA 4096-bit riêng</a:t>
                      </a:r>
                    </a:p>
                  </a:txBody>
                  <a:tcPr marL="91440" marR="73152" marT="27432" marB="27432" anchor="ctr">
                    <a:solidFill>
                      <a:srgbClr val="F2F5F9"/>
                    </a:solidFill>
                  </a:tcPr>
                </a:tc>
              </a:tr>
              <a:tr h="566928">
                <a:tc>
                  <a:txBody>
                    <a:bodyPr wrap="square"/>
                    <a:lstStyle/>
                    <a:p>
                      <a:pPr algn="l">
                        <a:lnSpc>
                          <a:spcPct val="108000"/>
                        </a:lnSpc>
                        <a:spcBef>
                          <a:spcPts val="0"/>
                        </a:spcBef>
                        <a:spcAft>
                          <a:spcPts val="0"/>
                        </a:spcAft>
                      </a:pPr>
                      <a:r>
                        <a:rPr sz="1100" b="1" i="0">
                          <a:solidFill>
                            <a:srgbClr val="0B2545"/>
                          </a:solidFill>
                          <a:latin typeface="Arial"/>
                        </a:rPr>
                        <a:t>Ứng dụng IoT trên máy tính</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Người trực kho trung tâm</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Windows (Electron)</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Bản sao số của kho: 9 loại thiết bị, chuông tại chỗ</a:t>
                      </a:r>
                    </a:p>
                  </a:txBody>
                  <a:tcPr marL="91440" marR="73152" marT="27432" marB="27432" anchor="ctr">
                    <a:solidFill>
                      <a:srgbClr val="FFFFFF"/>
                    </a:solidFill>
                  </a:tcPr>
                </a:tc>
              </a:tr>
              <a:tr h="566928">
                <a:tc>
                  <a:txBody>
                    <a:bodyPr wrap="square"/>
                    <a:lstStyle/>
                    <a:p>
                      <a:pPr algn="l">
                        <a:lnSpc>
                          <a:spcPct val="108000"/>
                        </a:lnSpc>
                        <a:spcBef>
                          <a:spcPts val="0"/>
                        </a:spcBef>
                        <a:spcAft>
                          <a:spcPts val="0"/>
                        </a:spcAft>
                      </a:pPr>
                      <a:r>
                        <a:rPr sz="1100" b="1" i="0">
                          <a:solidFill>
                            <a:srgbClr val="0B2545"/>
                          </a:solidFill>
                          <a:latin typeface="Arial"/>
                        </a:rPr>
                        <a:t>Dịch vụ trí tuệ nhân tạo</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Toàn hệ thống</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Máy chủ đặt tại xã</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12 điểm cuối · mô hình ngôn ngữ, nhúng vector và giọng nói chạy tại chỗ</a:t>
                      </a:r>
                    </a:p>
                  </a:txBody>
                  <a:tcPr marL="91440" marR="73152" marT="27432" marB="27432" anchor="ctr">
                    <a:solidFill>
                      <a:srgbClr val="F2F5F9"/>
                    </a:solidFill>
                  </a:tcPr>
                </a:tc>
              </a:tr>
            </a:tbl>
          </a:graphicData>
        </a:graphic>
      </p:graphicFrame>
      <p:sp>
        <p:nvSpPr>
          <p:cNvPr id="9" name="Rectangle 8"/>
          <p:cNvSpPr/>
          <p:nvPr/>
        </p:nvSpPr>
        <p:spPr>
          <a:xfrm>
            <a:off x="566928" y="4608576"/>
            <a:ext cx="11055096" cy="1143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68680" y="4809744"/>
            <a:ext cx="10424160" cy="777240"/>
          </a:xfrm>
          <a:prstGeom prst="rect">
            <a:avLst/>
          </a:prstGeom>
          <a:noFill/>
        </p:spPr>
        <p:txBody>
          <a:bodyPr wrap="square" anchor="ctr" lIns="0" rIns="0" tIns="0" bIns="0">
            <a:spAutoFit/>
          </a:bodyPr>
          <a:lstStyle/>
          <a:p>
            <a:pPr algn="l">
              <a:lnSpc>
                <a:spcPct val="110000"/>
              </a:lnSpc>
              <a:spcBef>
                <a:spcPts val="0"/>
              </a:spcBef>
              <a:spcAft>
                <a:spcPts val="300"/>
              </a:spcAft>
            </a:pPr>
            <a:r>
              <a:rPr sz="1550" b="1" i="0">
                <a:solidFill>
                  <a:srgbClr val="FFFFFF"/>
                </a:solidFill>
                <a:latin typeface="Arial"/>
              </a:rPr>
              <a:t>Toàn bộ hệ thống chạy trên một máy tính đặt tại xã.</a:t>
            </a:r>
          </a:p>
          <a:p>
            <a:pPr algn="l">
              <a:lnSpc>
                <a:spcPct val="115000"/>
              </a:lnSpc>
              <a:spcBef>
                <a:spcPts val="0"/>
              </a:spcBef>
              <a:spcAft>
                <a:spcPts val="0"/>
              </a:spcAft>
            </a:pPr>
            <a:r>
              <a:rPr sz="1250" b="0" i="0">
                <a:solidFill>
                  <a:srgbClr val="B9CBDC"/>
                </a:solidFill>
                <a:latin typeface="Arial"/>
              </a:rPr>
              <a:t>Mô hình ngôn ngữ, mô hình nhận dạng giọng nói tiếng Việt, cơ sở dữ liệu, bản đồ và máy tính tuyến đường đều nằm trong mạng nội bộ. Mất Internet, hệ thống vẫn làm việc được.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CÁCH HỆ THỐNG LÀM VIỆC</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Hai chế độ vận hành — phản ánh đúng hai pha đời sống của một kho cứu trợ</a:t>
            </a:r>
          </a:p>
        </p:txBody>
      </p:sp>
      <p:sp>
        <p:nvSpPr>
          <p:cNvPr id="5" name="TextBox 4"/>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6" name="TextBox 5"/>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11</a:t>
            </a:r>
          </a:p>
        </p:txBody>
      </p:sp>
      <p:sp>
        <p:nvSpPr>
          <p:cNvPr id="7" name="Rectangle 6"/>
          <p:cNvSpPr/>
          <p:nvPr/>
        </p:nvSpPr>
        <p:spPr>
          <a:xfrm>
            <a:off x="566928" y="1316736"/>
            <a:ext cx="5440680" cy="397763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316736"/>
            <a:ext cx="50292" cy="3977639"/>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4672" y="1490472"/>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0B2545"/>
                </a:solidFill>
                <a:latin typeface="Arial"/>
              </a:rPr>
              <a:t>Chế độ ngày thường — AI chủ động cảnh báo</a:t>
            </a:r>
          </a:p>
        </p:txBody>
      </p:sp>
      <p:sp>
        <p:nvSpPr>
          <p:cNvPr id="10" name="TextBox 9"/>
          <p:cNvSpPr txBox="1"/>
          <p:nvPr/>
        </p:nvSpPr>
        <p:spPr>
          <a:xfrm>
            <a:off x="804672" y="1874519"/>
            <a:ext cx="4983480" cy="3273551"/>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Số hóa kho: danh mục vật tư, lô hàng, hạn dùng, vị trí kệ, tình trạng vật lý và trạng thái lưu hành.</a:t>
            </a:r>
          </a:p>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Mượn – trả, kiểm kê định kỳ, báo cáo tháng của 17 thôn, nhật ký hậu kiểm.</a:t>
            </a:r>
          </a:p>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Chỉ số sẵn sàng 6 chiều tính lại sau mỗi thao tác kho.</a:t>
            </a:r>
          </a:p>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Dự báo cạn kho theo tốc độ tiêu thụ; cảnh báo hạn dùng theo mốc.</a:t>
            </a:r>
          </a:p>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Đề xuất điều chuyển giữa các kho khi một kho thừa, một kho thiếu.</a:t>
            </a:r>
          </a:p>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Phát hiện bất thường từ cảm biến, mở sự cố và gửi thư cảnh báo.</a:t>
            </a:r>
          </a:p>
        </p:txBody>
      </p:sp>
      <p:sp>
        <p:nvSpPr>
          <p:cNvPr id="11" name="Rectangle 10"/>
          <p:cNvSpPr/>
          <p:nvPr/>
        </p:nvSpPr>
        <p:spPr>
          <a:xfrm>
            <a:off x="6181344" y="1316736"/>
            <a:ext cx="5440680" cy="397763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1344" y="1316736"/>
            <a:ext cx="50292" cy="3977639"/>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19088" y="1490472"/>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500" b="1" i="0">
                <a:solidFill>
                  <a:srgbClr val="0B2545"/>
                </a:solidFill>
                <a:latin typeface="Arial"/>
              </a:rPr>
              <a:t>Chế độ khẩn cấp — AI hỗ trợ ra quyết định</a:t>
            </a:r>
          </a:p>
        </p:txBody>
      </p:sp>
      <p:sp>
        <p:nvSpPr>
          <p:cNvPr id="14" name="TextBox 13"/>
          <p:cNvSpPr txBox="1"/>
          <p:nvPr/>
        </p:nvSpPr>
        <p:spPr>
          <a:xfrm>
            <a:off x="6419088" y="1874519"/>
            <a:ext cx="4983480" cy="3273551"/>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Chuyển mô tả bằng lời thành nhu cầu vật tư có căn cứ, dẫn nguồn định mức.</a:t>
            </a:r>
          </a:p>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Phân bổ theo nhiều kho: kho gần trước, rồi hạn dùng gần trước (FEFO).</a:t>
            </a:r>
          </a:p>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Vẽ tuyến đường bộ thật từ nhiều kho hội tụ về điểm bị nạn, kèm thời gian tới nơi.</a:t>
            </a:r>
          </a:p>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Sinh kế hoạch hành động cứu hộ 8 mục, có mức khẩn cấp 1–5 kèm lý do.</a:t>
            </a:r>
          </a:p>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Mở quy trình điều phối liên vai trò theo từng mã hàng.</a:t>
            </a:r>
          </a:p>
          <a:p>
            <a:pPr algn="l" marL="165100" indent="-165100">
              <a:lnSpc>
                <a:spcPct val="114000"/>
              </a:lnSpc>
              <a:spcBef>
                <a:spcPts val="0"/>
              </a:spcBef>
              <a:spcAft>
                <a:spcPts val="450"/>
              </a:spcAft>
            </a:pPr>
            <a:r>
              <a:rPr sz="1200" b="0" i="0">
                <a:solidFill>
                  <a:srgbClr val="5E7387"/>
                </a:solidFill>
                <a:latin typeface="Arial"/>
              </a:rPr>
              <a:t>•   </a:t>
            </a:r>
            <a:r>
              <a:rPr sz="1200" b="0" i="0">
                <a:solidFill>
                  <a:srgbClr val="5E7387"/>
                </a:solidFill>
                <a:latin typeface="Arial"/>
              </a:rPr>
              <a:t>Theo dõi tới lúc có người ký nhận và xác nhận đã giao.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CÔNG NGHỆ</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Kiến trúc tổng thể</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Bốn ứng dụng phía người dùng · một backend nghiệp vụ · các dịch vụ AI và bản đồ chạy tại chỗ.</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12</a:t>
            </a:r>
          </a:p>
        </p:txBody>
      </p:sp>
      <p:sp>
        <p:nvSpPr>
          <p:cNvPr id="8" name="Rectangle 7"/>
          <p:cNvSpPr/>
          <p:nvPr/>
        </p:nvSpPr>
        <p:spPr>
          <a:xfrm>
            <a:off x="566928" y="1737360"/>
            <a:ext cx="3563112" cy="10515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3563112" cy="4572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1520" y="1920240"/>
            <a:ext cx="3233928" cy="27432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B2545"/>
                </a:solidFill>
                <a:latin typeface="Arial"/>
              </a:rPr>
              <a:t>ĐIỆN THOẠI (Android 0.5.0)</a:t>
            </a:r>
          </a:p>
        </p:txBody>
      </p:sp>
      <p:sp>
        <p:nvSpPr>
          <p:cNvPr id="11" name="TextBox 10"/>
          <p:cNvSpPr txBox="1"/>
          <p:nvPr/>
        </p:nvSpPr>
        <p:spPr>
          <a:xfrm>
            <a:off x="731520" y="2212848"/>
            <a:ext cx="3233928" cy="548640"/>
          </a:xfrm>
          <a:prstGeom prst="rect">
            <a:avLst/>
          </a:prstGeom>
          <a:noFill/>
        </p:spPr>
        <p:txBody>
          <a:bodyPr wrap="square" anchor="t" lIns="0" rIns="0" tIns="0" bIns="0">
            <a:spAutoFit/>
          </a:bodyPr>
          <a:lstStyle/>
          <a:p>
            <a:pPr algn="l">
              <a:lnSpc>
                <a:spcPct val="112000"/>
              </a:lnSpc>
              <a:spcBef>
                <a:spcPts val="0"/>
              </a:spcBef>
              <a:spcAft>
                <a:spcPts val="0"/>
              </a:spcAft>
            </a:pPr>
            <a:r>
              <a:rPr sz="980" b="0" i="0">
                <a:solidFill>
                  <a:srgbClr val="5E7387"/>
                </a:solidFill>
                <a:latin typeface="Arial"/>
              </a:rPr>
              <a:t>Trưởng thôn / kho thôn: kho · kiểm kê · báo cáo
Lực lượng hiện trường: lệnh · ký nhận · báo tình huống</a:t>
            </a:r>
          </a:p>
        </p:txBody>
      </p:sp>
      <p:sp>
        <p:nvSpPr>
          <p:cNvPr id="12" name="Rectangle 11"/>
          <p:cNvSpPr/>
          <p:nvPr/>
        </p:nvSpPr>
        <p:spPr>
          <a:xfrm>
            <a:off x="4312920" y="1737360"/>
            <a:ext cx="3563112" cy="10515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12920" y="1737360"/>
            <a:ext cx="3563112"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77512" y="1920240"/>
            <a:ext cx="3233928" cy="27432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B2545"/>
                </a:solidFill>
                <a:latin typeface="Arial"/>
              </a:rPr>
              <a:t>MÁY TÍNH (Web vận hành)</a:t>
            </a:r>
          </a:p>
        </p:txBody>
      </p:sp>
      <p:sp>
        <p:nvSpPr>
          <p:cNvPr id="15" name="TextBox 14"/>
          <p:cNvSpPr txBox="1"/>
          <p:nvPr/>
        </p:nvSpPr>
        <p:spPr>
          <a:xfrm>
            <a:off x="4477512" y="2212848"/>
            <a:ext cx="3233928" cy="548640"/>
          </a:xfrm>
          <a:prstGeom prst="rect">
            <a:avLst/>
          </a:prstGeom>
          <a:noFill/>
        </p:spPr>
        <p:txBody>
          <a:bodyPr wrap="square" anchor="t" lIns="0" rIns="0" tIns="0" bIns="0">
            <a:spAutoFit/>
          </a:bodyPr>
          <a:lstStyle/>
          <a:p>
            <a:pPr algn="l">
              <a:lnSpc>
                <a:spcPct val="112000"/>
              </a:lnSpc>
              <a:spcBef>
                <a:spcPts val="0"/>
              </a:spcBef>
              <a:spcAft>
                <a:spcPts val="0"/>
              </a:spcAft>
            </a:pPr>
            <a:r>
              <a:rPr sz="980" b="0" i="0">
                <a:solidFill>
                  <a:srgbClr val="5E7387"/>
                </a:solidFill>
                <a:latin typeface="Arial"/>
              </a:rPr>
              <a:t>Quản trị xã · phụ trách kho trung tâm
13 màn hình nghiệp vụ</a:t>
            </a:r>
          </a:p>
        </p:txBody>
      </p:sp>
      <p:sp>
        <p:nvSpPr>
          <p:cNvPr id="16" name="Rectangle 15"/>
          <p:cNvSpPr/>
          <p:nvPr/>
        </p:nvSpPr>
        <p:spPr>
          <a:xfrm>
            <a:off x="8058911" y="1737360"/>
            <a:ext cx="3563112" cy="10515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058911" y="1737360"/>
            <a:ext cx="3563112" cy="4572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23503" y="1920240"/>
            <a:ext cx="3233928" cy="27432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B2545"/>
                </a:solidFill>
                <a:latin typeface="Arial"/>
              </a:rPr>
              <a:t>MÁY TÍNH KHO (Electron)</a:t>
            </a:r>
          </a:p>
        </p:txBody>
      </p:sp>
      <p:sp>
        <p:nvSpPr>
          <p:cNvPr id="19" name="TextBox 18"/>
          <p:cNvSpPr txBox="1"/>
          <p:nvPr/>
        </p:nvSpPr>
        <p:spPr>
          <a:xfrm>
            <a:off x="8223503" y="2212848"/>
            <a:ext cx="3233928" cy="548640"/>
          </a:xfrm>
          <a:prstGeom prst="rect">
            <a:avLst/>
          </a:prstGeom>
          <a:noFill/>
        </p:spPr>
        <p:txBody>
          <a:bodyPr wrap="square" anchor="t" lIns="0" rIns="0" tIns="0" bIns="0">
            <a:spAutoFit/>
          </a:bodyPr>
          <a:lstStyle/>
          <a:p>
            <a:pPr algn="l">
              <a:lnSpc>
                <a:spcPct val="112000"/>
              </a:lnSpc>
              <a:spcBef>
                <a:spcPts val="0"/>
              </a:spcBef>
              <a:spcAft>
                <a:spcPts val="0"/>
              </a:spcAft>
            </a:pPr>
            <a:r>
              <a:rPr sz="980" b="0" i="0">
                <a:solidFill>
                  <a:srgbClr val="5E7387"/>
                </a:solidFill>
                <a:latin typeface="Arial"/>
              </a:rPr>
              <a:t>Ứng dụng IoT: cảm biến, chuông tại chỗ,
hàng chờ bền vững</a:t>
            </a:r>
          </a:p>
        </p:txBody>
      </p:sp>
      <p:sp>
        <p:nvSpPr>
          <p:cNvPr id="20" name="TextBox 19"/>
          <p:cNvSpPr txBox="1"/>
          <p:nvPr/>
        </p:nvSpPr>
        <p:spPr>
          <a:xfrm>
            <a:off x="566928" y="2880360"/>
            <a:ext cx="11055096" cy="256032"/>
          </a:xfrm>
          <a:prstGeom prst="rect">
            <a:avLst/>
          </a:prstGeom>
          <a:noFill/>
        </p:spPr>
        <p:txBody>
          <a:bodyPr wrap="square" anchor="t" lIns="0" rIns="0" tIns="0" bIns="0">
            <a:spAutoFit/>
          </a:bodyPr>
          <a:lstStyle/>
          <a:p>
            <a:pPr algn="ctr">
              <a:lnSpc>
                <a:spcPct val="112000"/>
              </a:lnSpc>
              <a:spcBef>
                <a:spcPts val="0"/>
              </a:spcBef>
              <a:spcAft>
                <a:spcPts val="0"/>
              </a:spcAft>
            </a:pPr>
            <a:r>
              <a:rPr sz="1000" b="1" i="0">
                <a:solidFill>
                  <a:srgbClr val="5E7387"/>
                </a:solidFill>
                <a:latin typeface="Arial"/>
              </a:rPr>
              <a:t>HTTPS + WebSocket (thời gian thực)</a:t>
            </a:r>
          </a:p>
        </p:txBody>
      </p:sp>
      <p:sp>
        <p:nvSpPr>
          <p:cNvPr id="21" name="Rectangle 20"/>
          <p:cNvSpPr/>
          <p:nvPr/>
        </p:nvSpPr>
        <p:spPr>
          <a:xfrm>
            <a:off x="566928" y="3200400"/>
            <a:ext cx="11055096"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68680" y="3364992"/>
            <a:ext cx="10424160" cy="320040"/>
          </a:xfrm>
          <a:prstGeom prst="rect">
            <a:avLst/>
          </a:prstGeom>
          <a:noFill/>
        </p:spPr>
        <p:txBody>
          <a:bodyPr wrap="square" anchor="t" lIns="0" rIns="0" tIns="0" bIns="0">
            <a:spAutoFit/>
          </a:bodyPr>
          <a:lstStyle/>
          <a:p>
            <a:pPr algn="l">
              <a:lnSpc>
                <a:spcPct val="112000"/>
              </a:lnSpc>
              <a:spcBef>
                <a:spcPts val="0"/>
              </a:spcBef>
              <a:spcAft>
                <a:spcPts val="300"/>
              </a:spcAft>
            </a:pPr>
            <a:r>
              <a:rPr sz="1350" b="1" i="0">
                <a:solidFill>
                  <a:srgbClr val="FFFFFF"/>
                </a:solidFill>
                <a:latin typeface="Arial"/>
              </a:rPr>
              <a:t>BACKEND NGHIỆP VỤ (NestJS · Prisma · PostgreSQL)</a:t>
            </a:r>
          </a:p>
        </p:txBody>
      </p:sp>
      <p:sp>
        <p:nvSpPr>
          <p:cNvPr id="23" name="TextBox 22"/>
          <p:cNvSpPr txBox="1"/>
          <p:nvPr/>
        </p:nvSpPr>
        <p:spPr>
          <a:xfrm>
            <a:off x="868680" y="3730752"/>
            <a:ext cx="10424160" cy="457200"/>
          </a:xfrm>
          <a:prstGeom prst="rect">
            <a:avLst/>
          </a:prstGeom>
          <a:noFill/>
        </p:spPr>
        <p:txBody>
          <a:bodyPr wrap="square" anchor="t" lIns="0" rIns="0" tIns="0" bIns="0">
            <a:spAutoFit/>
          </a:bodyPr>
          <a:lstStyle/>
          <a:p>
            <a:pPr algn="l">
              <a:lnSpc>
                <a:spcPct val="112000"/>
              </a:lnSpc>
              <a:spcBef>
                <a:spcPts val="0"/>
              </a:spcBef>
              <a:spcAft>
                <a:spcPts val="0"/>
              </a:spcAft>
            </a:pPr>
            <a:r>
              <a:rPr sz="1100" b="0" i="0">
                <a:solidFill>
                  <a:srgbClr val="B9CBDC"/>
                </a:solidFill>
                <a:latin typeface="Arial"/>
              </a:rPr>
              <a:t>Xác thực · phân quyền 29 quyền hạt mịn · giao dịch kho an toàn  |  Rule engine: nhu cầu · phân bổ · chỉ số sẵn sàng  |  Nhật ký hậu kiểm · hàng chờ thư cảnh báo</a:t>
            </a:r>
          </a:p>
        </p:txBody>
      </p:sp>
      <p:sp>
        <p:nvSpPr>
          <p:cNvPr id="24" name="Rectangle 23"/>
          <p:cNvSpPr/>
          <p:nvPr/>
        </p:nvSpPr>
        <p:spPr>
          <a:xfrm>
            <a:off x="566928" y="4480560"/>
            <a:ext cx="1728216" cy="914400"/>
          </a:xfrm>
          <a:prstGeom prst="rect">
            <a:avLst/>
          </a:prstGeom>
          <a:solidFill>
            <a:srgbClr val="E8EEF4"/>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4663440"/>
            <a:ext cx="1545336" cy="320040"/>
          </a:xfrm>
          <a:prstGeom prst="rect">
            <a:avLst/>
          </a:prstGeom>
          <a:noFill/>
        </p:spPr>
        <p:txBody>
          <a:bodyPr wrap="square" anchor="t" lIns="0" rIns="0" tIns="0" bIns="0">
            <a:spAutoFit/>
          </a:bodyPr>
          <a:lstStyle/>
          <a:p>
            <a:pPr algn="ctr">
              <a:lnSpc>
                <a:spcPct val="105000"/>
              </a:lnSpc>
              <a:spcBef>
                <a:spcPts val="0"/>
              </a:spcBef>
              <a:spcAft>
                <a:spcPts val="200"/>
              </a:spcAft>
            </a:pPr>
            <a:r>
              <a:rPr sz="1050" b="1" i="0">
                <a:solidFill>
                  <a:srgbClr val="0B2545"/>
                </a:solidFill>
                <a:latin typeface="Arial"/>
              </a:rPr>
              <a:t>PostgreSQL</a:t>
            </a:r>
          </a:p>
        </p:txBody>
      </p:sp>
      <p:sp>
        <p:nvSpPr>
          <p:cNvPr id="26" name="TextBox 25"/>
          <p:cNvSpPr txBox="1"/>
          <p:nvPr/>
        </p:nvSpPr>
        <p:spPr>
          <a:xfrm>
            <a:off x="658368" y="5010912"/>
            <a:ext cx="1545336" cy="320040"/>
          </a:xfrm>
          <a:prstGeom prst="rect">
            <a:avLst/>
          </a:prstGeom>
          <a:noFill/>
        </p:spPr>
        <p:txBody>
          <a:bodyPr wrap="square" anchor="t" lIns="0" rIns="0" tIns="0" bIns="0">
            <a:spAutoFit/>
          </a:bodyPr>
          <a:lstStyle/>
          <a:p>
            <a:pPr algn="ctr">
              <a:lnSpc>
                <a:spcPct val="110000"/>
              </a:lnSpc>
              <a:spcBef>
                <a:spcPts val="0"/>
              </a:spcBef>
              <a:spcAft>
                <a:spcPts val="0"/>
              </a:spcAft>
            </a:pPr>
            <a:r>
              <a:rPr sz="930" b="0" i="0">
                <a:solidFill>
                  <a:srgbClr val="5E7387"/>
                </a:solidFill>
                <a:latin typeface="Arial"/>
              </a:rPr>
              <a:t>dữ liệu nghiệp vụ</a:t>
            </a:r>
          </a:p>
        </p:txBody>
      </p:sp>
      <p:sp>
        <p:nvSpPr>
          <p:cNvPr id="27" name="Rectangle 26"/>
          <p:cNvSpPr/>
          <p:nvPr/>
        </p:nvSpPr>
        <p:spPr>
          <a:xfrm>
            <a:off x="2432304" y="4480560"/>
            <a:ext cx="1728216" cy="914400"/>
          </a:xfrm>
          <a:prstGeom prst="rect">
            <a:avLst/>
          </a:prstGeom>
          <a:solidFill>
            <a:srgbClr val="E8EEF4"/>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523744" y="4663440"/>
            <a:ext cx="1545336" cy="320040"/>
          </a:xfrm>
          <a:prstGeom prst="rect">
            <a:avLst/>
          </a:prstGeom>
          <a:noFill/>
        </p:spPr>
        <p:txBody>
          <a:bodyPr wrap="square" anchor="t" lIns="0" rIns="0" tIns="0" bIns="0">
            <a:spAutoFit/>
          </a:bodyPr>
          <a:lstStyle/>
          <a:p>
            <a:pPr algn="ctr">
              <a:lnSpc>
                <a:spcPct val="105000"/>
              </a:lnSpc>
              <a:spcBef>
                <a:spcPts val="0"/>
              </a:spcBef>
              <a:spcAft>
                <a:spcPts val="200"/>
              </a:spcAft>
            </a:pPr>
            <a:r>
              <a:rPr sz="1050" b="1" i="0">
                <a:solidFill>
                  <a:srgbClr val="0B2545"/>
                </a:solidFill>
                <a:latin typeface="Arial"/>
              </a:rPr>
              <a:t>Redis + BullMQ</a:t>
            </a:r>
          </a:p>
        </p:txBody>
      </p:sp>
      <p:sp>
        <p:nvSpPr>
          <p:cNvPr id="29" name="TextBox 28"/>
          <p:cNvSpPr txBox="1"/>
          <p:nvPr/>
        </p:nvSpPr>
        <p:spPr>
          <a:xfrm>
            <a:off x="2523744" y="5010912"/>
            <a:ext cx="1545336" cy="320040"/>
          </a:xfrm>
          <a:prstGeom prst="rect">
            <a:avLst/>
          </a:prstGeom>
          <a:noFill/>
        </p:spPr>
        <p:txBody>
          <a:bodyPr wrap="square" anchor="t" lIns="0" rIns="0" tIns="0" bIns="0">
            <a:spAutoFit/>
          </a:bodyPr>
          <a:lstStyle/>
          <a:p>
            <a:pPr algn="ctr">
              <a:lnSpc>
                <a:spcPct val="110000"/>
              </a:lnSpc>
              <a:spcBef>
                <a:spcPts val="0"/>
              </a:spcBef>
              <a:spcAft>
                <a:spcPts val="0"/>
              </a:spcAft>
            </a:pPr>
            <a:r>
              <a:rPr sz="930" b="0" i="0">
                <a:solidFill>
                  <a:srgbClr val="5E7387"/>
                </a:solidFill>
                <a:latin typeface="Arial"/>
              </a:rPr>
              <a:t>hàng đợi, tác vụ nền</a:t>
            </a:r>
          </a:p>
        </p:txBody>
      </p:sp>
      <p:sp>
        <p:nvSpPr>
          <p:cNvPr id="30" name="Rectangle 29"/>
          <p:cNvSpPr/>
          <p:nvPr/>
        </p:nvSpPr>
        <p:spPr>
          <a:xfrm>
            <a:off x="4297680" y="4480560"/>
            <a:ext cx="1728216" cy="914400"/>
          </a:xfrm>
          <a:prstGeom prst="rect">
            <a:avLst/>
          </a:prstGeom>
          <a:solidFill>
            <a:srgbClr val="E8EEF4"/>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389120" y="4663440"/>
            <a:ext cx="1545336" cy="320040"/>
          </a:xfrm>
          <a:prstGeom prst="rect">
            <a:avLst/>
          </a:prstGeom>
          <a:noFill/>
        </p:spPr>
        <p:txBody>
          <a:bodyPr wrap="square" anchor="t" lIns="0" rIns="0" tIns="0" bIns="0">
            <a:spAutoFit/>
          </a:bodyPr>
          <a:lstStyle/>
          <a:p>
            <a:pPr algn="ctr">
              <a:lnSpc>
                <a:spcPct val="105000"/>
              </a:lnSpc>
              <a:spcBef>
                <a:spcPts val="0"/>
              </a:spcBef>
              <a:spcAft>
                <a:spcPts val="200"/>
              </a:spcAft>
            </a:pPr>
            <a:r>
              <a:rPr sz="1050" b="1" i="0">
                <a:solidFill>
                  <a:srgbClr val="0B2545"/>
                </a:solidFill>
                <a:latin typeface="Arial"/>
              </a:rPr>
              <a:t>OSRM</a:t>
            </a:r>
          </a:p>
        </p:txBody>
      </p:sp>
      <p:sp>
        <p:nvSpPr>
          <p:cNvPr id="32" name="TextBox 31"/>
          <p:cNvSpPr txBox="1"/>
          <p:nvPr/>
        </p:nvSpPr>
        <p:spPr>
          <a:xfrm>
            <a:off x="4389120" y="5010912"/>
            <a:ext cx="1545336" cy="320040"/>
          </a:xfrm>
          <a:prstGeom prst="rect">
            <a:avLst/>
          </a:prstGeom>
          <a:noFill/>
        </p:spPr>
        <p:txBody>
          <a:bodyPr wrap="square" anchor="t" lIns="0" rIns="0" tIns="0" bIns="0">
            <a:spAutoFit/>
          </a:bodyPr>
          <a:lstStyle/>
          <a:p>
            <a:pPr algn="ctr">
              <a:lnSpc>
                <a:spcPct val="110000"/>
              </a:lnSpc>
              <a:spcBef>
                <a:spcPts val="0"/>
              </a:spcBef>
              <a:spcAft>
                <a:spcPts val="0"/>
              </a:spcAft>
            </a:pPr>
            <a:r>
              <a:rPr sz="930" b="0" i="0">
                <a:solidFill>
                  <a:srgbClr val="5E7387"/>
                </a:solidFill>
                <a:latin typeface="Arial"/>
              </a:rPr>
              <a:t>tuyến đường bộ offline</a:t>
            </a:r>
          </a:p>
        </p:txBody>
      </p:sp>
      <p:sp>
        <p:nvSpPr>
          <p:cNvPr id="33" name="Rectangle 32"/>
          <p:cNvSpPr/>
          <p:nvPr/>
        </p:nvSpPr>
        <p:spPr>
          <a:xfrm>
            <a:off x="6163056" y="4480560"/>
            <a:ext cx="1728216" cy="914400"/>
          </a:xfrm>
          <a:prstGeom prst="rect">
            <a:avLst/>
          </a:prstGeom>
          <a:solidFill>
            <a:srgbClr val="E8EEF4"/>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254496" y="4663440"/>
            <a:ext cx="1545336" cy="320040"/>
          </a:xfrm>
          <a:prstGeom prst="rect">
            <a:avLst/>
          </a:prstGeom>
          <a:noFill/>
        </p:spPr>
        <p:txBody>
          <a:bodyPr wrap="square" anchor="t" lIns="0" rIns="0" tIns="0" bIns="0">
            <a:spAutoFit/>
          </a:bodyPr>
          <a:lstStyle/>
          <a:p>
            <a:pPr algn="ctr">
              <a:lnSpc>
                <a:spcPct val="105000"/>
              </a:lnSpc>
              <a:spcBef>
                <a:spcPts val="0"/>
              </a:spcBef>
              <a:spcAft>
                <a:spcPts val="200"/>
              </a:spcAft>
            </a:pPr>
            <a:r>
              <a:rPr sz="1050" b="1" i="0">
                <a:solidFill>
                  <a:srgbClr val="0B2545"/>
                </a:solidFill>
                <a:latin typeface="Arial"/>
              </a:rPr>
              <a:t>Ollama · Qwen 3.5 4B</a:t>
            </a:r>
          </a:p>
        </p:txBody>
      </p:sp>
      <p:sp>
        <p:nvSpPr>
          <p:cNvPr id="35" name="TextBox 34"/>
          <p:cNvSpPr txBox="1"/>
          <p:nvPr/>
        </p:nvSpPr>
        <p:spPr>
          <a:xfrm>
            <a:off x="6254496" y="5010912"/>
            <a:ext cx="1545336" cy="320040"/>
          </a:xfrm>
          <a:prstGeom prst="rect">
            <a:avLst/>
          </a:prstGeom>
          <a:noFill/>
        </p:spPr>
        <p:txBody>
          <a:bodyPr wrap="square" anchor="t" lIns="0" rIns="0" tIns="0" bIns="0">
            <a:spAutoFit/>
          </a:bodyPr>
          <a:lstStyle/>
          <a:p>
            <a:pPr algn="ctr">
              <a:lnSpc>
                <a:spcPct val="110000"/>
              </a:lnSpc>
              <a:spcBef>
                <a:spcPts val="0"/>
              </a:spcBef>
              <a:spcAft>
                <a:spcPts val="0"/>
              </a:spcAft>
            </a:pPr>
            <a:r>
              <a:rPr sz="930" b="0" i="0">
                <a:solidFill>
                  <a:srgbClr val="5E7387"/>
                </a:solidFill>
                <a:latin typeface="Arial"/>
              </a:rPr>
              <a:t>mô hình ngôn ngữ tại chỗ</a:t>
            </a:r>
          </a:p>
        </p:txBody>
      </p:sp>
      <p:sp>
        <p:nvSpPr>
          <p:cNvPr id="36" name="Rectangle 35"/>
          <p:cNvSpPr/>
          <p:nvPr/>
        </p:nvSpPr>
        <p:spPr>
          <a:xfrm>
            <a:off x="8028431" y="4480560"/>
            <a:ext cx="1728216" cy="914400"/>
          </a:xfrm>
          <a:prstGeom prst="rect">
            <a:avLst/>
          </a:prstGeom>
          <a:solidFill>
            <a:srgbClr val="E8EEF4"/>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119871" y="4663440"/>
            <a:ext cx="1545336" cy="320040"/>
          </a:xfrm>
          <a:prstGeom prst="rect">
            <a:avLst/>
          </a:prstGeom>
          <a:noFill/>
        </p:spPr>
        <p:txBody>
          <a:bodyPr wrap="square" anchor="t" lIns="0" rIns="0" tIns="0" bIns="0">
            <a:spAutoFit/>
          </a:bodyPr>
          <a:lstStyle/>
          <a:p>
            <a:pPr algn="ctr">
              <a:lnSpc>
                <a:spcPct val="105000"/>
              </a:lnSpc>
              <a:spcBef>
                <a:spcPts val="0"/>
              </a:spcBef>
              <a:spcAft>
                <a:spcPts val="200"/>
              </a:spcAft>
            </a:pPr>
            <a:r>
              <a:rPr sz="1050" b="1" i="0">
                <a:solidFill>
                  <a:srgbClr val="0B2545"/>
                </a:solidFill>
                <a:latin typeface="Arial"/>
              </a:rPr>
              <a:t>nomic-embed-text</a:t>
            </a:r>
          </a:p>
        </p:txBody>
      </p:sp>
      <p:sp>
        <p:nvSpPr>
          <p:cNvPr id="38" name="TextBox 37"/>
          <p:cNvSpPr txBox="1"/>
          <p:nvPr/>
        </p:nvSpPr>
        <p:spPr>
          <a:xfrm>
            <a:off x="8119871" y="5010912"/>
            <a:ext cx="1545336" cy="320040"/>
          </a:xfrm>
          <a:prstGeom prst="rect">
            <a:avLst/>
          </a:prstGeom>
          <a:noFill/>
        </p:spPr>
        <p:txBody>
          <a:bodyPr wrap="square" anchor="t" lIns="0" rIns="0" tIns="0" bIns="0">
            <a:spAutoFit/>
          </a:bodyPr>
          <a:lstStyle/>
          <a:p>
            <a:pPr algn="ctr">
              <a:lnSpc>
                <a:spcPct val="110000"/>
              </a:lnSpc>
              <a:spcBef>
                <a:spcPts val="0"/>
              </a:spcBef>
              <a:spcAft>
                <a:spcPts val="0"/>
              </a:spcAft>
            </a:pPr>
            <a:r>
              <a:rPr sz="930" b="0" i="0">
                <a:solidFill>
                  <a:srgbClr val="5E7387"/>
                </a:solidFill>
                <a:latin typeface="Arial"/>
              </a:rPr>
              <a:t>nhúng vector tại chỗ</a:t>
            </a:r>
          </a:p>
        </p:txBody>
      </p:sp>
      <p:sp>
        <p:nvSpPr>
          <p:cNvPr id="39" name="Rectangle 38"/>
          <p:cNvSpPr/>
          <p:nvPr/>
        </p:nvSpPr>
        <p:spPr>
          <a:xfrm>
            <a:off x="9893807" y="4480560"/>
            <a:ext cx="1728216" cy="914400"/>
          </a:xfrm>
          <a:prstGeom prst="rect">
            <a:avLst/>
          </a:prstGeom>
          <a:solidFill>
            <a:srgbClr val="E8EEF4"/>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985247" y="4663440"/>
            <a:ext cx="1545336" cy="320040"/>
          </a:xfrm>
          <a:prstGeom prst="rect">
            <a:avLst/>
          </a:prstGeom>
          <a:noFill/>
        </p:spPr>
        <p:txBody>
          <a:bodyPr wrap="square" anchor="t" lIns="0" rIns="0" tIns="0" bIns="0">
            <a:spAutoFit/>
          </a:bodyPr>
          <a:lstStyle/>
          <a:p>
            <a:pPr algn="ctr">
              <a:lnSpc>
                <a:spcPct val="105000"/>
              </a:lnSpc>
              <a:spcBef>
                <a:spcPts val="0"/>
              </a:spcBef>
              <a:spcAft>
                <a:spcPts val="200"/>
              </a:spcAft>
            </a:pPr>
            <a:r>
              <a:rPr sz="1050" b="1" i="0">
                <a:solidFill>
                  <a:srgbClr val="0B2545"/>
                </a:solidFill>
                <a:latin typeface="Arial"/>
              </a:rPr>
              <a:t>PhoWhisper</a:t>
            </a:r>
          </a:p>
        </p:txBody>
      </p:sp>
      <p:sp>
        <p:nvSpPr>
          <p:cNvPr id="41" name="TextBox 40"/>
          <p:cNvSpPr txBox="1"/>
          <p:nvPr/>
        </p:nvSpPr>
        <p:spPr>
          <a:xfrm>
            <a:off x="9985247" y="5010912"/>
            <a:ext cx="1545336" cy="320040"/>
          </a:xfrm>
          <a:prstGeom prst="rect">
            <a:avLst/>
          </a:prstGeom>
          <a:noFill/>
        </p:spPr>
        <p:txBody>
          <a:bodyPr wrap="square" anchor="t" lIns="0" rIns="0" tIns="0" bIns="0">
            <a:spAutoFit/>
          </a:bodyPr>
          <a:lstStyle/>
          <a:p>
            <a:pPr algn="ctr">
              <a:lnSpc>
                <a:spcPct val="110000"/>
              </a:lnSpc>
              <a:spcBef>
                <a:spcPts val="0"/>
              </a:spcBef>
              <a:spcAft>
                <a:spcPts val="0"/>
              </a:spcAft>
            </a:pPr>
            <a:r>
              <a:rPr sz="930" b="0" i="0">
                <a:solidFill>
                  <a:srgbClr val="5E7387"/>
                </a:solidFill>
                <a:latin typeface="Arial"/>
              </a:rPr>
              <a:t>giọng nói tiếng Việt tại chỗ</a:t>
            </a:r>
          </a:p>
        </p:txBody>
      </p:sp>
      <p:sp>
        <p:nvSpPr>
          <p:cNvPr id="42" name="TextBox 41"/>
          <p:cNvSpPr txBox="1"/>
          <p:nvPr/>
        </p:nvSpPr>
        <p:spPr>
          <a:xfrm>
            <a:off x="566928" y="5504688"/>
            <a:ext cx="11055096" cy="274320"/>
          </a:xfrm>
          <a:prstGeom prst="rect">
            <a:avLst/>
          </a:prstGeom>
          <a:noFill/>
        </p:spPr>
        <p:txBody>
          <a:bodyPr wrap="square" anchor="t" lIns="0" rIns="0" tIns="0" bIns="0">
            <a:spAutoFit/>
          </a:bodyPr>
          <a:lstStyle/>
          <a:p>
            <a:pPr algn="ctr">
              <a:lnSpc>
                <a:spcPct val="112000"/>
              </a:lnSpc>
              <a:spcBef>
                <a:spcPts val="0"/>
              </a:spcBef>
              <a:spcAft>
                <a:spcPts val="0"/>
              </a:spcAft>
            </a:pPr>
            <a:r>
              <a:rPr sz="1100" b="1" i="0">
                <a:solidFill>
                  <a:srgbClr val="C43D3D"/>
                </a:solidFill>
                <a:latin typeface="Arial"/>
              </a:rPr>
              <a:t>Tất cả đều chạy trên máy đặt tại xã — không có thành phần lõi nào phụ thuộc dịch vụ đám mây.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QUYẾT ĐỊNH KIẾN TRÚC</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Kiến trúc "mỗi xã một hệ thống độc lập"</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Đây là một lựa chọn có chủ đích, không phải giới hạn kỹ thuật.</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13</a:t>
            </a:r>
          </a:p>
        </p:txBody>
      </p:sp>
      <p:sp>
        <p:nvSpPr>
          <p:cNvPr id="8" name="Rectangle 7"/>
          <p:cNvSpPr/>
          <p:nvPr/>
        </p:nvSpPr>
        <p:spPr>
          <a:xfrm>
            <a:off x="566928" y="1737360"/>
            <a:ext cx="3566160" cy="22860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228600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911095"/>
            <a:ext cx="3108960"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Mỗi xã một bản độc lập</a:t>
            </a:r>
          </a:p>
        </p:txBody>
      </p:sp>
      <p:sp>
        <p:nvSpPr>
          <p:cNvPr id="11" name="TextBox 10"/>
          <p:cNvSpPr txBox="1"/>
          <p:nvPr/>
        </p:nvSpPr>
        <p:spPr>
          <a:xfrm>
            <a:off x="804672" y="2295144"/>
            <a:ext cx="3108960" cy="158191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Một máy chủ, một cơ sở dữ liệu, một cụm kho riêng. Xã A không nhìn thấy tồn kho xã B và không bao giờ nhìn thấy được.</a:t>
            </a:r>
          </a:p>
        </p:txBody>
      </p:sp>
      <p:sp>
        <p:nvSpPr>
          <p:cNvPr id="12" name="Rectangle 11"/>
          <p:cNvSpPr/>
          <p:nvPr/>
        </p:nvSpPr>
        <p:spPr>
          <a:xfrm>
            <a:off x="4315968" y="1737360"/>
            <a:ext cx="3566160" cy="22860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15968" y="1737360"/>
            <a:ext cx="50292" cy="228600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53712" y="1911095"/>
            <a:ext cx="3108960"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Không có điểm chết chung</a:t>
            </a:r>
          </a:p>
        </p:txBody>
      </p:sp>
      <p:sp>
        <p:nvSpPr>
          <p:cNvPr id="15" name="TextBox 14"/>
          <p:cNvSpPr txBox="1"/>
          <p:nvPr/>
        </p:nvSpPr>
        <p:spPr>
          <a:xfrm>
            <a:off x="4553712" y="2295144"/>
            <a:ext cx="3108960" cy="158191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Nhân rộng cho hàng nghìn xã chỉ là dựng thêm một bản, không phụ thuộc một máy chủ trung tâm, không cần một dự án hạ tầng cấp tỉnh làm điều kiện tiên quyết.</a:t>
            </a:r>
          </a:p>
        </p:txBody>
      </p:sp>
      <p:sp>
        <p:nvSpPr>
          <p:cNvPr id="16" name="Rectangle 15"/>
          <p:cNvSpPr/>
          <p:nvPr/>
        </p:nvSpPr>
        <p:spPr>
          <a:xfrm>
            <a:off x="8065008" y="1737360"/>
            <a:ext cx="3557016" cy="22860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065008" y="1737360"/>
            <a:ext cx="50292" cy="22860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02752" y="1911095"/>
            <a:ext cx="3099816"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Liên xã bằng thông báo</a:t>
            </a:r>
          </a:p>
        </p:txBody>
      </p:sp>
      <p:sp>
        <p:nvSpPr>
          <p:cNvPr id="19" name="TextBox 18"/>
          <p:cNvSpPr txBox="1"/>
          <p:nvPr/>
        </p:nvSpPr>
        <p:spPr>
          <a:xfrm>
            <a:off x="8302752" y="2295144"/>
            <a:ext cx="3099816" cy="158191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Sợi dây duy nhất nối hai xã là một thông báo đi qua đường truyền có xác thực bằng khóa chung. Mỗi bên tự cộng trừ kho của mình — không có "kho chung", không có giao dịch hai pha xuyên xã.</a:t>
            </a:r>
          </a:p>
        </p:txBody>
      </p:sp>
      <p:sp>
        <p:nvSpPr>
          <p:cNvPr id="20" name="Rectangle 19"/>
          <p:cNvSpPr/>
          <p:nvPr/>
        </p:nvSpPr>
        <p:spPr>
          <a:xfrm>
            <a:off x="566928" y="4251960"/>
            <a:ext cx="11055096" cy="14173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66928" y="4251960"/>
            <a:ext cx="54864" cy="14173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68680" y="4453128"/>
            <a:ext cx="10424160" cy="1051560"/>
          </a:xfrm>
          <a:prstGeom prst="rect">
            <a:avLst/>
          </a:prstGeom>
          <a:noFill/>
        </p:spPr>
        <p:txBody>
          <a:bodyPr wrap="square" anchor="t" lIns="0" rIns="0" tIns="0" bIns="0">
            <a:spAutoFit/>
          </a:bodyPr>
          <a:lstStyle/>
          <a:p>
            <a:pPr algn="l">
              <a:lnSpc>
                <a:spcPct val="112000"/>
              </a:lnSpc>
              <a:spcBef>
                <a:spcPts val="0"/>
              </a:spcBef>
              <a:spcAft>
                <a:spcPts val="500"/>
              </a:spcAft>
            </a:pPr>
            <a:r>
              <a:rPr sz="1300" b="1" i="0">
                <a:solidFill>
                  <a:srgbClr val="0B2545"/>
                </a:solidFill>
                <a:latin typeface="Arial"/>
              </a:rPr>
              <a:t>Vì sao chọn cách này?</a:t>
            </a:r>
          </a:p>
          <a:p>
            <a:pPr algn="l">
              <a:lnSpc>
                <a:spcPct val="118000"/>
              </a:lnSpc>
              <a:spcBef>
                <a:spcPts val="0"/>
              </a:spcBef>
              <a:spcAft>
                <a:spcPts val="0"/>
              </a:spcAft>
            </a:pPr>
            <a:r>
              <a:rPr sz="1200" b="0" i="0">
                <a:solidFill>
                  <a:srgbClr val="16283C"/>
                </a:solidFill>
                <a:latin typeface="Arial"/>
              </a:rPr>
              <a:t>Đây là mô hình phù hợp thực tế hành chính: mỗi xã tự chịu trách nhiệm về kho của mình, và hệ thống không giả vờ có quyền nhìn vào kho của xã khác. Khi hai xã mất liên lạc, hệ thống vẫn có luồng ghi tay khoản đã thỏa thuận qua điện thoại — vẫn cộng trừ kho thật, có nhãn riêng để sau này đối chiếu.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057400"/>
            <a:ext cx="2743200" cy="1371600"/>
          </a:xfrm>
          <a:prstGeom prst="rect">
            <a:avLst/>
          </a:prstGeom>
          <a:noFill/>
        </p:spPr>
        <p:txBody>
          <a:bodyPr wrap="square" anchor="t" lIns="0" rIns="0" tIns="0" bIns="0">
            <a:spAutoFit/>
          </a:bodyPr>
          <a:lstStyle/>
          <a:p>
            <a:pPr algn="l">
              <a:lnSpc>
                <a:spcPct val="100000"/>
              </a:lnSpc>
              <a:spcBef>
                <a:spcPts val="0"/>
              </a:spcBef>
              <a:spcAft>
                <a:spcPts val="0"/>
              </a:spcAft>
            </a:pPr>
            <a:r>
              <a:rPr sz="9600" b="1" i="0">
                <a:solidFill>
                  <a:srgbClr val="1F4A7A"/>
                </a:solidFill>
                <a:latin typeface="Arial"/>
              </a:rPr>
              <a:t>03</a:t>
            </a:r>
          </a:p>
        </p:txBody>
      </p:sp>
      <p:sp>
        <p:nvSpPr>
          <p:cNvPr id="5" name="TextBox 4"/>
          <p:cNvSpPr txBox="1"/>
          <p:nvPr/>
        </p:nvSpPr>
        <p:spPr>
          <a:xfrm>
            <a:off x="2743200" y="2286000"/>
            <a:ext cx="8138160" cy="1005840"/>
          </a:xfrm>
          <a:prstGeom prst="rect">
            <a:avLst/>
          </a:prstGeom>
          <a:noFill/>
        </p:spPr>
        <p:txBody>
          <a:bodyPr wrap="square" anchor="t" lIns="0" rIns="0" tIns="0" bIns="0">
            <a:spAutoFit/>
          </a:bodyPr>
          <a:lstStyle/>
          <a:p>
            <a:pPr algn="l">
              <a:lnSpc>
                <a:spcPct val="105000"/>
              </a:lnSpc>
              <a:spcBef>
                <a:spcPts val="0"/>
              </a:spcBef>
              <a:spcAft>
                <a:spcPts val="0"/>
              </a:spcAft>
            </a:pPr>
            <a:r>
              <a:rPr sz="3600" b="1" i="0">
                <a:solidFill>
                  <a:srgbClr val="FFFFFF"/>
                </a:solidFill>
                <a:latin typeface="Arial"/>
              </a:rPr>
              <a:t>Điểm mới và khác biệt</a:t>
            </a:r>
          </a:p>
        </p:txBody>
      </p:sp>
      <p:sp>
        <p:nvSpPr>
          <p:cNvPr id="6" name="Rectangle 5"/>
          <p:cNvSpPr/>
          <p:nvPr/>
        </p:nvSpPr>
        <p:spPr>
          <a:xfrm>
            <a:off x="2743200" y="3611880"/>
            <a:ext cx="1097280" cy="36576"/>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2743200" y="3886200"/>
            <a:ext cx="7863840" cy="1188720"/>
          </a:xfrm>
          <a:prstGeom prst="rect">
            <a:avLst/>
          </a:prstGeom>
          <a:noFill/>
        </p:spPr>
        <p:txBody>
          <a:bodyPr wrap="square" anchor="t" lIns="0" rIns="0" tIns="0" bIns="0">
            <a:spAutoFit/>
          </a:bodyPr>
          <a:lstStyle/>
          <a:p>
            <a:pPr algn="l">
              <a:lnSpc>
                <a:spcPct val="125000"/>
              </a:lnSpc>
              <a:spcBef>
                <a:spcPts val="0"/>
              </a:spcBef>
              <a:spcAft>
                <a:spcPts val="0"/>
              </a:spcAft>
            </a:pPr>
            <a:r>
              <a:rPr sz="1450" b="0" i="0">
                <a:solidFill>
                  <a:srgbClr val="A9BED1"/>
                </a:solidFill>
                <a:latin typeface="Arial"/>
              </a:rPr>
              <a:t>Trên thị trường đã có phần mềm quản lý kho và đã có trợ lý AI hỏi đáp. Ứng phó nhanh khác ở sáu điểm — và mỗi điểm đều có bằng chứng trong sản phẩm.</a:t>
            </a:r>
          </a:p>
        </p:txBody>
      </p:sp>
      <p:sp>
        <p:nvSpPr>
          <p:cNvPr id="8" name="TextBox 7"/>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9" name="TextBox 8"/>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ĐIỂM MỚI</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Sáu điểm khác biệt (1–3)</a:t>
            </a:r>
          </a:p>
        </p:txBody>
      </p:sp>
      <p:sp>
        <p:nvSpPr>
          <p:cNvPr id="5" name="TextBox 4"/>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6" name="TextBox 5"/>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15</a:t>
            </a:r>
          </a:p>
        </p:txBody>
      </p:sp>
      <p:sp>
        <p:nvSpPr>
          <p:cNvPr id="7" name="Rectangle 6"/>
          <p:cNvSpPr/>
          <p:nvPr/>
        </p:nvSpPr>
        <p:spPr>
          <a:xfrm>
            <a:off x="566928" y="1316736"/>
            <a:ext cx="3550920" cy="397763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316736"/>
            <a:ext cx="50292" cy="3977639"/>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04672" y="1508760"/>
            <a:ext cx="310896" cy="256032"/>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531619"/>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1</a:t>
            </a:r>
          </a:p>
        </p:txBody>
      </p:sp>
      <p:sp>
        <p:nvSpPr>
          <p:cNvPr id="11" name="TextBox 10"/>
          <p:cNvSpPr txBox="1"/>
          <p:nvPr/>
        </p:nvSpPr>
        <p:spPr>
          <a:xfrm>
            <a:off x="1225296" y="1490472"/>
            <a:ext cx="2673096" cy="365760"/>
          </a:xfrm>
          <a:prstGeom prst="rect">
            <a:avLst/>
          </a:prstGeom>
          <a:noFill/>
        </p:spPr>
        <p:txBody>
          <a:bodyPr wrap="square" anchor="t" lIns="0" rIns="0" tIns="0" bIns="0">
            <a:spAutoFit/>
          </a:bodyPr>
          <a:lstStyle/>
          <a:p>
            <a:pPr algn="l">
              <a:lnSpc>
                <a:spcPct val="105000"/>
              </a:lnSpc>
              <a:spcBef>
                <a:spcPts val="0"/>
              </a:spcBef>
              <a:spcAft>
                <a:spcPts val="0"/>
              </a:spcAft>
            </a:pPr>
            <a:r>
              <a:rPr sz="1450" b="1" i="0">
                <a:solidFill>
                  <a:srgbClr val="0B2545"/>
                </a:solidFill>
                <a:latin typeface="Arial"/>
              </a:rPr>
              <a:t>Đo năng lực phản ứng, không đo số tồn</a:t>
            </a:r>
          </a:p>
        </p:txBody>
      </p:sp>
      <p:sp>
        <p:nvSpPr>
          <p:cNvPr id="12" name="TextBox 11"/>
          <p:cNvSpPr txBox="1"/>
          <p:nvPr/>
        </p:nvSpPr>
        <p:spPr>
          <a:xfrm>
            <a:off x="804672" y="1874519"/>
            <a:ext cx="3093720" cy="3273551"/>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Chỉ số sẵn sàng tính trên 6 chiều có trọng số.</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Điểm số không có quyền ghi đè vướng mắc: </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kho có nguy cơ cháy, không tiếp cận được kệ hoặc môi trường bảo quản mất an toàn thì trạng thái là không điều phối được, dù điểm tổng đang 95/100.</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Phần mềm kho thông thường không có khái niệm này.</a:t>
            </a:r>
          </a:p>
        </p:txBody>
      </p:sp>
      <p:sp>
        <p:nvSpPr>
          <p:cNvPr id="13" name="Rectangle 12"/>
          <p:cNvSpPr/>
          <p:nvPr/>
        </p:nvSpPr>
        <p:spPr>
          <a:xfrm>
            <a:off x="4319016" y="1316736"/>
            <a:ext cx="3550920" cy="397763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19016" y="1316736"/>
            <a:ext cx="50292" cy="3977639"/>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56760" y="1508760"/>
            <a:ext cx="310896" cy="256032"/>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56760" y="1531619"/>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2</a:t>
            </a:r>
          </a:p>
        </p:txBody>
      </p:sp>
      <p:sp>
        <p:nvSpPr>
          <p:cNvPr id="17" name="TextBox 16"/>
          <p:cNvSpPr txBox="1"/>
          <p:nvPr/>
        </p:nvSpPr>
        <p:spPr>
          <a:xfrm>
            <a:off x="4977384" y="1490472"/>
            <a:ext cx="2673096" cy="365760"/>
          </a:xfrm>
          <a:prstGeom prst="rect">
            <a:avLst/>
          </a:prstGeom>
          <a:noFill/>
        </p:spPr>
        <p:txBody>
          <a:bodyPr wrap="square" anchor="t" lIns="0" rIns="0" tIns="0" bIns="0">
            <a:spAutoFit/>
          </a:bodyPr>
          <a:lstStyle/>
          <a:p>
            <a:pPr algn="l">
              <a:lnSpc>
                <a:spcPct val="105000"/>
              </a:lnSpc>
              <a:spcBef>
                <a:spcPts val="0"/>
              </a:spcBef>
              <a:spcAft>
                <a:spcPts val="0"/>
              </a:spcAft>
            </a:pPr>
            <a:r>
              <a:rPr sz="1450" b="1" i="0">
                <a:solidFill>
                  <a:srgbClr val="0B2545"/>
                </a:solidFill>
                <a:latin typeface="Arial"/>
              </a:rPr>
              <a:t>Chuyển tình huống thành bộ vật tư có căn cứ dẫn nguồn</a:t>
            </a:r>
          </a:p>
        </p:txBody>
      </p:sp>
      <p:sp>
        <p:nvSpPr>
          <p:cNvPr id="18" name="TextBox 17"/>
          <p:cNvSpPr txBox="1"/>
          <p:nvPr/>
        </p:nvSpPr>
        <p:spPr>
          <a:xfrm>
            <a:off x="4556760" y="1874519"/>
            <a:ext cx="3093720" cy="3273551"/>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Định mức lấy từ Sphere Handbook (nước tối thiểu 15 lít/người/ngày) và quy định phòng chống thiên tai trong nước, ghi rõ nguồn trong mã nguồn và kho tri thức.</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Mức đáp ứng tính theo mắt xích yếu nhất — loại vật tư thiếu nhất — không lấy trung bình, vì trung bình che giấu điểm nghẽn.</a:t>
            </a:r>
          </a:p>
        </p:txBody>
      </p:sp>
      <p:sp>
        <p:nvSpPr>
          <p:cNvPr id="19" name="Rectangle 18"/>
          <p:cNvSpPr/>
          <p:nvPr/>
        </p:nvSpPr>
        <p:spPr>
          <a:xfrm>
            <a:off x="8071104" y="1316736"/>
            <a:ext cx="3550920" cy="3977639"/>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71104" y="1316736"/>
            <a:ext cx="50292" cy="3977639"/>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308847" y="1508760"/>
            <a:ext cx="310896" cy="256032"/>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08847" y="1531619"/>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3</a:t>
            </a:r>
          </a:p>
        </p:txBody>
      </p:sp>
      <p:sp>
        <p:nvSpPr>
          <p:cNvPr id="23" name="TextBox 22"/>
          <p:cNvSpPr txBox="1"/>
          <p:nvPr/>
        </p:nvSpPr>
        <p:spPr>
          <a:xfrm>
            <a:off x="8729472" y="1490472"/>
            <a:ext cx="2673096" cy="365760"/>
          </a:xfrm>
          <a:prstGeom prst="rect">
            <a:avLst/>
          </a:prstGeom>
          <a:noFill/>
        </p:spPr>
        <p:txBody>
          <a:bodyPr wrap="square" anchor="t" lIns="0" rIns="0" tIns="0" bIns="0">
            <a:spAutoFit/>
          </a:bodyPr>
          <a:lstStyle/>
          <a:p>
            <a:pPr algn="l">
              <a:lnSpc>
                <a:spcPct val="105000"/>
              </a:lnSpc>
              <a:spcBef>
                <a:spcPts val="0"/>
              </a:spcBef>
              <a:spcAft>
                <a:spcPts val="0"/>
              </a:spcAft>
            </a:pPr>
            <a:r>
              <a:rPr sz="1450" b="1" i="0">
                <a:solidFill>
                  <a:srgbClr val="0B2545"/>
                </a:solidFill>
                <a:latin typeface="Arial"/>
              </a:rPr>
              <a:t>Lớp chống bịa số có thật, chạy được, trình diễn được</a:t>
            </a:r>
          </a:p>
        </p:txBody>
      </p:sp>
      <p:sp>
        <p:nvSpPr>
          <p:cNvPr id="24" name="TextBox 23"/>
          <p:cNvSpPr txBox="1"/>
          <p:nvPr/>
        </p:nvSpPr>
        <p:spPr>
          <a:xfrm>
            <a:off x="8308847" y="1874519"/>
            <a:ext cx="3093720" cy="3273551"/>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Câu trả lời của mô hình bị đối chiếu từng con số với ảnh chụp dữ liệu kho.</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Số nào không có thật thì hệ thống thay cả câu bằng một câu an toàn.</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Câu hỏi ngoài phạm vi bị từ chối và không kéo theo số liệu kho vào câu trả lời.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ĐIỂM MỚI</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Sáu điểm khác biệt (4–6)</a:t>
            </a:r>
          </a:p>
        </p:txBody>
      </p:sp>
      <p:sp>
        <p:nvSpPr>
          <p:cNvPr id="5" name="TextBox 4"/>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6" name="TextBox 5"/>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16</a:t>
            </a:r>
          </a:p>
        </p:txBody>
      </p:sp>
      <p:sp>
        <p:nvSpPr>
          <p:cNvPr id="7" name="Rectangle 6"/>
          <p:cNvSpPr/>
          <p:nvPr/>
        </p:nvSpPr>
        <p:spPr>
          <a:xfrm>
            <a:off x="566928" y="1316736"/>
            <a:ext cx="3550920" cy="3657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316736"/>
            <a:ext cx="50292" cy="36576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04672" y="1508760"/>
            <a:ext cx="310896" cy="256032"/>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531619"/>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4</a:t>
            </a:r>
          </a:p>
        </p:txBody>
      </p:sp>
      <p:sp>
        <p:nvSpPr>
          <p:cNvPr id="11" name="TextBox 10"/>
          <p:cNvSpPr txBox="1"/>
          <p:nvPr/>
        </p:nvSpPr>
        <p:spPr>
          <a:xfrm>
            <a:off x="1225296" y="1490472"/>
            <a:ext cx="2673096" cy="365760"/>
          </a:xfrm>
          <a:prstGeom prst="rect">
            <a:avLst/>
          </a:prstGeom>
          <a:noFill/>
        </p:spPr>
        <p:txBody>
          <a:bodyPr wrap="square" anchor="t" lIns="0" rIns="0" tIns="0" bIns="0">
            <a:spAutoFit/>
          </a:bodyPr>
          <a:lstStyle/>
          <a:p>
            <a:pPr algn="l">
              <a:lnSpc>
                <a:spcPct val="105000"/>
              </a:lnSpc>
              <a:spcBef>
                <a:spcPts val="0"/>
              </a:spcBef>
              <a:spcAft>
                <a:spcPts val="0"/>
              </a:spcAft>
            </a:pPr>
            <a:r>
              <a:rPr sz="1450" b="1" i="0">
                <a:solidFill>
                  <a:srgbClr val="0B2545"/>
                </a:solidFill>
                <a:latin typeface="Arial"/>
              </a:rPr>
              <a:t>Thiết kế cho lúc hỏng, không chỉ cho lúc chạy tốt</a:t>
            </a:r>
          </a:p>
        </p:txBody>
      </p:sp>
      <p:sp>
        <p:nvSpPr>
          <p:cNvPr id="12" name="TextBox 11"/>
          <p:cNvSpPr txBox="1"/>
          <p:nvPr/>
        </p:nvSpPr>
        <p:spPr>
          <a:xfrm>
            <a:off x="804672" y="1874519"/>
            <a:ext cx="3093720" cy="295351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Mô hình AI và nhận dạng giọng nói chạy tại chỗ; bản đồ và dữ liệu đường tải sẵn.</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Ứng dụng IoT giữ hàng chờ bền vững, gửi lại không trùng khi có mạng.</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Điện thoại cho xem dữ liệu đã lưu kèm dấu thời gian nhưng từ chối ghi mới.</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Hai xã mất liên lạc thì có luồng ghi tay khoản đã thỏa thuận qua điện thoại.</a:t>
            </a:r>
          </a:p>
        </p:txBody>
      </p:sp>
      <p:sp>
        <p:nvSpPr>
          <p:cNvPr id="13" name="Rectangle 12"/>
          <p:cNvSpPr/>
          <p:nvPr/>
        </p:nvSpPr>
        <p:spPr>
          <a:xfrm>
            <a:off x="4319016" y="1316736"/>
            <a:ext cx="3550920" cy="3657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19016" y="1316736"/>
            <a:ext cx="50292" cy="365760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56760" y="1508760"/>
            <a:ext cx="310896" cy="256032"/>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56760" y="1531619"/>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5</a:t>
            </a:r>
          </a:p>
        </p:txBody>
      </p:sp>
      <p:sp>
        <p:nvSpPr>
          <p:cNvPr id="17" name="TextBox 16"/>
          <p:cNvSpPr txBox="1"/>
          <p:nvPr/>
        </p:nvSpPr>
        <p:spPr>
          <a:xfrm>
            <a:off x="4977384" y="1490472"/>
            <a:ext cx="2673096" cy="365760"/>
          </a:xfrm>
          <a:prstGeom prst="rect">
            <a:avLst/>
          </a:prstGeom>
          <a:noFill/>
        </p:spPr>
        <p:txBody>
          <a:bodyPr wrap="square" anchor="t" lIns="0" rIns="0" tIns="0" bIns="0">
            <a:spAutoFit/>
          </a:bodyPr>
          <a:lstStyle/>
          <a:p>
            <a:pPr algn="l">
              <a:lnSpc>
                <a:spcPct val="105000"/>
              </a:lnSpc>
              <a:spcBef>
                <a:spcPts val="0"/>
              </a:spcBef>
              <a:spcAft>
                <a:spcPts val="0"/>
              </a:spcAft>
            </a:pPr>
            <a:r>
              <a:rPr sz="1450" b="1" i="0">
                <a:solidFill>
                  <a:srgbClr val="0B2545"/>
                </a:solidFill>
                <a:latin typeface="Arial"/>
              </a:rPr>
              <a:t>Quy trình liên vai trò theo từng loại vật tư</a:t>
            </a:r>
          </a:p>
        </p:txBody>
      </p:sp>
      <p:sp>
        <p:nvSpPr>
          <p:cNvPr id="18" name="TextBox 17"/>
          <p:cNvSpPr txBox="1"/>
          <p:nvPr/>
        </p:nvSpPr>
        <p:spPr>
          <a:xfrm>
            <a:off x="4556760" y="1874519"/>
            <a:ext cx="3093720" cy="295351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Mỗi kho nhận yêu cầu riêng cho từng mã hàng: tiếp nhận – báo thiếu/sai – xác nhận xuất từng dòng.</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Nhiệm vụ chỉ chuyển sang sẵn sàng khi kho cuối cùng đã xuất xong dòng cuối cùng.</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Người điều phối nhìn thấy kho nào xong, kho nào còn nợ — thay vì một con số gộp kiểu "1/5" không nói được phải gọi cho ai.</a:t>
            </a:r>
          </a:p>
        </p:txBody>
      </p:sp>
      <p:sp>
        <p:nvSpPr>
          <p:cNvPr id="19" name="Rectangle 18"/>
          <p:cNvSpPr/>
          <p:nvPr/>
        </p:nvSpPr>
        <p:spPr>
          <a:xfrm>
            <a:off x="8071104" y="1316736"/>
            <a:ext cx="3550920" cy="3657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71104" y="1316736"/>
            <a:ext cx="50292" cy="36576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308847" y="1508760"/>
            <a:ext cx="310896" cy="256032"/>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08847" y="1531619"/>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6</a:t>
            </a:r>
          </a:p>
        </p:txBody>
      </p:sp>
      <p:sp>
        <p:nvSpPr>
          <p:cNvPr id="23" name="TextBox 22"/>
          <p:cNvSpPr txBox="1"/>
          <p:nvPr/>
        </p:nvSpPr>
        <p:spPr>
          <a:xfrm>
            <a:off x="8729472" y="1490472"/>
            <a:ext cx="2673096" cy="365760"/>
          </a:xfrm>
          <a:prstGeom prst="rect">
            <a:avLst/>
          </a:prstGeom>
          <a:noFill/>
        </p:spPr>
        <p:txBody>
          <a:bodyPr wrap="square" anchor="t" lIns="0" rIns="0" tIns="0" bIns="0">
            <a:spAutoFit/>
          </a:bodyPr>
          <a:lstStyle/>
          <a:p>
            <a:pPr algn="l">
              <a:lnSpc>
                <a:spcPct val="105000"/>
              </a:lnSpc>
              <a:spcBef>
                <a:spcPts val="0"/>
              </a:spcBef>
              <a:spcAft>
                <a:spcPts val="0"/>
              </a:spcAft>
            </a:pPr>
            <a:r>
              <a:rPr sz="1450" b="1" i="0">
                <a:solidFill>
                  <a:srgbClr val="0B2545"/>
                </a:solidFill>
                <a:latin typeface="Arial"/>
              </a:rPr>
              <a:t>Liên xã bằng thông báo, không bằng cơ sở dữ liệu chung</a:t>
            </a:r>
          </a:p>
        </p:txBody>
      </p:sp>
      <p:sp>
        <p:nvSpPr>
          <p:cNvPr id="24" name="TextBox 23"/>
          <p:cNvSpPr txBox="1"/>
          <p:nvPr/>
        </p:nvSpPr>
        <p:spPr>
          <a:xfrm>
            <a:off x="8308847" y="1874519"/>
            <a:ext cx="3093720" cy="295351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Mô hình phù hợp thực tế hành chính: mỗi xã tự chịu trách nhiệm về kho của mình.</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Hệ thống không giả vờ có quyền nhìn vào kho của xã khác.</a:t>
            </a:r>
          </a:p>
          <a:p>
            <a:pPr algn="l" marL="165100" indent="-165100">
              <a:lnSpc>
                <a:spcPct val="114000"/>
              </a:lnSpc>
              <a:spcBef>
                <a:spcPts val="0"/>
              </a:spcBef>
              <a:spcAft>
                <a:spcPts val="450"/>
              </a:spcAft>
            </a:pPr>
            <a:r>
              <a:rPr sz="1180" b="0" i="0">
                <a:solidFill>
                  <a:srgbClr val="5E7387"/>
                </a:solidFill>
                <a:latin typeface="Arial"/>
              </a:rPr>
              <a:t>•   </a:t>
            </a:r>
            <a:r>
              <a:rPr sz="1180" b="0" i="0">
                <a:solidFill>
                  <a:srgbClr val="5E7387"/>
                </a:solidFill>
                <a:latin typeface="Arial"/>
              </a:rPr>
              <a:t>Đã chạy được giữa hai máy chủ độc lập, gồm cả nhánh từ chối, nhánh hủy và nhánh trả từng phần.</a:t>
            </a:r>
          </a:p>
        </p:txBody>
      </p:sp>
      <p:sp>
        <p:nvSpPr>
          <p:cNvPr id="25" name="Rectangle 24"/>
          <p:cNvSpPr/>
          <p:nvPr/>
        </p:nvSpPr>
        <p:spPr>
          <a:xfrm>
            <a:off x="566928" y="5157216"/>
            <a:ext cx="11055096" cy="7772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68680" y="5294376"/>
            <a:ext cx="10424160" cy="502920"/>
          </a:xfrm>
          <a:prstGeom prst="rect">
            <a:avLst/>
          </a:prstGeom>
          <a:noFill/>
        </p:spPr>
        <p:txBody>
          <a:bodyPr wrap="square" anchor="ctr" lIns="0" rIns="0" tIns="0" bIns="0">
            <a:spAutoFit/>
          </a:bodyPr>
          <a:lstStyle/>
          <a:p>
            <a:pPr algn="l">
              <a:lnSpc>
                <a:spcPct val="115000"/>
              </a:lnSpc>
              <a:spcBef>
                <a:spcPts val="0"/>
              </a:spcBef>
              <a:spcAft>
                <a:spcPts val="0"/>
              </a:spcAft>
            </a:pPr>
            <a:r>
              <a:rPr sz="1250" b="0" i="0">
                <a:solidFill>
                  <a:srgbClr val="FFFFFF"/>
                </a:solidFill>
                <a:latin typeface="Arial"/>
              </a:rPr>
              <a:t>Ranh giới trung thực: khi cả xã vẫn thiếu, hệ thống chỉ xếp hạng điểm liên hệ ngoài xã đã ghim sẵn, gắn nhãn "đề xuất liên hệ, chưa xác nhận có hàng" — không cộng nguồn đó vào tỷ lệ đáp ứng.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057400"/>
            <a:ext cx="2743200" cy="1371600"/>
          </a:xfrm>
          <a:prstGeom prst="rect">
            <a:avLst/>
          </a:prstGeom>
          <a:noFill/>
        </p:spPr>
        <p:txBody>
          <a:bodyPr wrap="square" anchor="t" lIns="0" rIns="0" tIns="0" bIns="0">
            <a:spAutoFit/>
          </a:bodyPr>
          <a:lstStyle/>
          <a:p>
            <a:pPr algn="l">
              <a:lnSpc>
                <a:spcPct val="100000"/>
              </a:lnSpc>
              <a:spcBef>
                <a:spcPts val="0"/>
              </a:spcBef>
              <a:spcAft>
                <a:spcPts val="0"/>
              </a:spcAft>
            </a:pPr>
            <a:r>
              <a:rPr sz="9600" b="1" i="0">
                <a:solidFill>
                  <a:srgbClr val="1F4A7A"/>
                </a:solidFill>
                <a:latin typeface="Arial"/>
              </a:rPr>
              <a:t>04</a:t>
            </a:r>
          </a:p>
        </p:txBody>
      </p:sp>
      <p:sp>
        <p:nvSpPr>
          <p:cNvPr id="5" name="TextBox 4"/>
          <p:cNvSpPr txBox="1"/>
          <p:nvPr/>
        </p:nvSpPr>
        <p:spPr>
          <a:xfrm>
            <a:off x="2743200" y="2286000"/>
            <a:ext cx="8138160" cy="1005840"/>
          </a:xfrm>
          <a:prstGeom prst="rect">
            <a:avLst/>
          </a:prstGeom>
          <a:noFill/>
        </p:spPr>
        <p:txBody>
          <a:bodyPr wrap="square" anchor="t" lIns="0" rIns="0" tIns="0" bIns="0">
            <a:spAutoFit/>
          </a:bodyPr>
          <a:lstStyle/>
          <a:p>
            <a:pPr algn="l">
              <a:lnSpc>
                <a:spcPct val="105000"/>
              </a:lnSpc>
              <a:spcBef>
                <a:spcPts val="0"/>
              </a:spcBef>
              <a:spcAft>
                <a:spcPts val="0"/>
              </a:spcAft>
            </a:pPr>
            <a:r>
              <a:rPr sz="3600" b="1" i="0">
                <a:solidFill>
                  <a:srgbClr val="FFFFFF"/>
                </a:solidFill>
                <a:latin typeface="Arial"/>
              </a:rPr>
              <a:t>Vòng nghiệp vụ và chức năng</a:t>
            </a:r>
          </a:p>
        </p:txBody>
      </p:sp>
      <p:sp>
        <p:nvSpPr>
          <p:cNvPr id="6" name="Rectangle 5"/>
          <p:cNvSpPr/>
          <p:nvPr/>
        </p:nvSpPr>
        <p:spPr>
          <a:xfrm>
            <a:off x="2743200" y="3611880"/>
            <a:ext cx="1097280" cy="36576"/>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2743200" y="3886200"/>
            <a:ext cx="7863840" cy="1188720"/>
          </a:xfrm>
          <a:prstGeom prst="rect">
            <a:avLst/>
          </a:prstGeom>
          <a:noFill/>
        </p:spPr>
        <p:txBody>
          <a:bodyPr wrap="square" anchor="t" lIns="0" rIns="0" tIns="0" bIns="0">
            <a:spAutoFit/>
          </a:bodyPr>
          <a:lstStyle/>
          <a:p>
            <a:pPr algn="l">
              <a:lnSpc>
                <a:spcPct val="125000"/>
              </a:lnSpc>
              <a:spcBef>
                <a:spcPts val="0"/>
              </a:spcBef>
              <a:spcAft>
                <a:spcPts val="0"/>
              </a:spcAft>
            </a:pPr>
            <a:r>
              <a:rPr sz="1450" b="0" i="0">
                <a:solidFill>
                  <a:srgbClr val="A9BED1"/>
                </a:solidFill>
                <a:latin typeface="Arial"/>
              </a:rPr>
              <a:t>Đi theo đúng đường đi của một tình huống: từ một câu nói của trưởng thôn tới lúc có người ký nhận đã lấy hàng và đối chiếu tồn kho đầu – cuối.</a:t>
            </a:r>
          </a:p>
        </p:txBody>
      </p:sp>
      <p:sp>
        <p:nvSpPr>
          <p:cNvPr id="8" name="TextBox 7"/>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9" name="TextBox 8"/>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QUY TRÌNH VẬN HÀNH</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Một vòng trọn vẹn — tám bước</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Toàn bộ vòng này đã được trình diễn qua giao diện trên năm màn hình song song.</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18</a:t>
            </a:r>
          </a:p>
        </p:txBody>
      </p:sp>
      <p:sp>
        <p:nvSpPr>
          <p:cNvPr id="8" name="Rectangle 7"/>
          <p:cNvSpPr/>
          <p:nvPr/>
        </p:nvSpPr>
        <p:spPr>
          <a:xfrm>
            <a:off x="566928" y="1737360"/>
            <a:ext cx="11055096" cy="5486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457200" cy="54864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66928" y="1892807"/>
            <a:ext cx="457200" cy="274320"/>
          </a:xfrm>
          <a:prstGeom prst="rect">
            <a:avLst/>
          </a:prstGeom>
          <a:noFill/>
        </p:spPr>
        <p:txBody>
          <a:bodyPr wrap="square" anchor="t" lIns="0" rIns="0" tIns="0" bIns="0">
            <a:spAutoFit/>
          </a:bodyPr>
          <a:lstStyle/>
          <a:p>
            <a:pPr algn="ctr">
              <a:lnSpc>
                <a:spcPct val="112000"/>
              </a:lnSpc>
              <a:spcBef>
                <a:spcPts val="0"/>
              </a:spcBef>
              <a:spcAft>
                <a:spcPts val="0"/>
              </a:spcAft>
            </a:pPr>
            <a:r>
              <a:rPr sz="1500" b="1" i="0">
                <a:solidFill>
                  <a:srgbClr val="FFFFFF"/>
                </a:solidFill>
                <a:latin typeface="Arial"/>
              </a:rPr>
              <a:t>1</a:t>
            </a:r>
          </a:p>
        </p:txBody>
      </p:sp>
      <p:sp>
        <p:nvSpPr>
          <p:cNvPr id="11" name="TextBox 10"/>
          <p:cNvSpPr txBox="1"/>
          <p:nvPr/>
        </p:nvSpPr>
        <p:spPr>
          <a:xfrm>
            <a:off x="1170432" y="1856231"/>
            <a:ext cx="2651760" cy="365760"/>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0B2545"/>
                </a:solidFill>
                <a:latin typeface="Arial"/>
              </a:rPr>
              <a:t>TIẾP NHẬN</a:t>
            </a:r>
          </a:p>
        </p:txBody>
      </p:sp>
      <p:sp>
        <p:nvSpPr>
          <p:cNvPr id="12" name="TextBox 11"/>
          <p:cNvSpPr txBox="1"/>
          <p:nvPr/>
        </p:nvSpPr>
        <p:spPr>
          <a:xfrm>
            <a:off x="3931920" y="1819656"/>
            <a:ext cx="7589520" cy="420624"/>
          </a:xfrm>
          <a:prstGeom prst="rect">
            <a:avLst/>
          </a:prstGeom>
          <a:noFill/>
        </p:spPr>
        <p:txBody>
          <a:bodyPr wrap="square" anchor="ctr" lIns="0" rIns="0" tIns="0" bIns="0">
            <a:spAutoFit/>
          </a:bodyPr>
          <a:lstStyle/>
          <a:p>
            <a:pPr algn="l">
              <a:lnSpc>
                <a:spcPct val="112000"/>
              </a:lnSpc>
              <a:spcBef>
                <a:spcPts val="0"/>
              </a:spcBef>
              <a:spcAft>
                <a:spcPts val="0"/>
              </a:spcAft>
            </a:pPr>
            <a:r>
              <a:rPr sz="980" b="0" i="0">
                <a:solidFill>
                  <a:srgbClr val="5E7387"/>
                </a:solidFill>
                <a:latin typeface="Arial"/>
              </a:rPr>
              <a:t>Trưởng thôn nói vào điện thoại → PhoWhisper tại chỗ → chữ.
Người dùng đọc lại, sửa, xác nhận → báo cáo có người chịu trách nhiệm.</a:t>
            </a:r>
          </a:p>
        </p:txBody>
      </p:sp>
      <p:sp>
        <p:nvSpPr>
          <p:cNvPr id="13" name="Rectangle 12"/>
          <p:cNvSpPr/>
          <p:nvPr/>
        </p:nvSpPr>
        <p:spPr>
          <a:xfrm>
            <a:off x="566928" y="2336291"/>
            <a:ext cx="11055096" cy="548640"/>
          </a:xfrm>
          <a:prstGeom prst="rect">
            <a:avLst/>
          </a:prstGeom>
          <a:solidFill>
            <a:srgbClr val="FFFFFF"/>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66928" y="2336291"/>
            <a:ext cx="457200" cy="54864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66928" y="2491739"/>
            <a:ext cx="457200" cy="274320"/>
          </a:xfrm>
          <a:prstGeom prst="rect">
            <a:avLst/>
          </a:prstGeom>
          <a:noFill/>
        </p:spPr>
        <p:txBody>
          <a:bodyPr wrap="square" anchor="t" lIns="0" rIns="0" tIns="0" bIns="0">
            <a:spAutoFit/>
          </a:bodyPr>
          <a:lstStyle/>
          <a:p>
            <a:pPr algn="ctr">
              <a:lnSpc>
                <a:spcPct val="112000"/>
              </a:lnSpc>
              <a:spcBef>
                <a:spcPts val="0"/>
              </a:spcBef>
              <a:spcAft>
                <a:spcPts val="0"/>
              </a:spcAft>
            </a:pPr>
            <a:r>
              <a:rPr sz="1500" b="1" i="0">
                <a:solidFill>
                  <a:srgbClr val="FFFFFF"/>
                </a:solidFill>
                <a:latin typeface="Arial"/>
              </a:rPr>
              <a:t>2</a:t>
            </a:r>
          </a:p>
        </p:txBody>
      </p:sp>
      <p:sp>
        <p:nvSpPr>
          <p:cNvPr id="16" name="TextBox 15"/>
          <p:cNvSpPr txBox="1"/>
          <p:nvPr/>
        </p:nvSpPr>
        <p:spPr>
          <a:xfrm>
            <a:off x="1170432" y="2455163"/>
            <a:ext cx="2651760" cy="365760"/>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0B2545"/>
                </a:solidFill>
                <a:latin typeface="Arial"/>
              </a:rPr>
              <a:t>PHÂN TÍCH</a:t>
            </a:r>
          </a:p>
        </p:txBody>
      </p:sp>
      <p:sp>
        <p:nvSpPr>
          <p:cNvPr id="17" name="TextBox 16"/>
          <p:cNvSpPr txBox="1"/>
          <p:nvPr/>
        </p:nvSpPr>
        <p:spPr>
          <a:xfrm>
            <a:off x="3931920" y="2418587"/>
            <a:ext cx="7589520" cy="420624"/>
          </a:xfrm>
          <a:prstGeom prst="rect">
            <a:avLst/>
          </a:prstGeom>
          <a:noFill/>
        </p:spPr>
        <p:txBody>
          <a:bodyPr wrap="square" anchor="ctr" lIns="0" rIns="0" tIns="0" bIns="0">
            <a:spAutoFit/>
          </a:bodyPr>
          <a:lstStyle/>
          <a:p>
            <a:pPr algn="l">
              <a:lnSpc>
                <a:spcPct val="112000"/>
              </a:lnSpc>
              <a:spcBef>
                <a:spcPts val="0"/>
              </a:spcBef>
              <a:spcAft>
                <a:spcPts val="0"/>
              </a:spcAft>
            </a:pPr>
            <a:r>
              <a:rPr sz="980" b="0" i="0">
                <a:solidFill>
                  <a:srgbClr val="5E7387"/>
                </a:solidFill>
                <a:latin typeface="Arial"/>
              </a:rPr>
              <a:t>Mô hình bóc tách → neo vào văn bản gốc → loại số không có thật.
Bản phân tích: dữ kiện + nguồn + phần còn thiếu + câu hỏi ưu tiên.</a:t>
            </a:r>
          </a:p>
        </p:txBody>
      </p:sp>
      <p:sp>
        <p:nvSpPr>
          <p:cNvPr id="18" name="Rectangle 17"/>
          <p:cNvSpPr/>
          <p:nvPr/>
        </p:nvSpPr>
        <p:spPr>
          <a:xfrm>
            <a:off x="566928" y="2935224"/>
            <a:ext cx="11055096" cy="5486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66928" y="2935224"/>
            <a:ext cx="457200" cy="54864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6928" y="3090672"/>
            <a:ext cx="457200" cy="274320"/>
          </a:xfrm>
          <a:prstGeom prst="rect">
            <a:avLst/>
          </a:prstGeom>
          <a:noFill/>
        </p:spPr>
        <p:txBody>
          <a:bodyPr wrap="square" anchor="t" lIns="0" rIns="0" tIns="0" bIns="0">
            <a:spAutoFit/>
          </a:bodyPr>
          <a:lstStyle/>
          <a:p>
            <a:pPr algn="ctr">
              <a:lnSpc>
                <a:spcPct val="112000"/>
              </a:lnSpc>
              <a:spcBef>
                <a:spcPts val="0"/>
              </a:spcBef>
              <a:spcAft>
                <a:spcPts val="0"/>
              </a:spcAft>
            </a:pPr>
            <a:r>
              <a:rPr sz="1500" b="1" i="0">
                <a:solidFill>
                  <a:srgbClr val="FFFFFF"/>
                </a:solidFill>
                <a:latin typeface="Arial"/>
              </a:rPr>
              <a:t>3</a:t>
            </a:r>
          </a:p>
        </p:txBody>
      </p:sp>
      <p:sp>
        <p:nvSpPr>
          <p:cNvPr id="21" name="TextBox 20"/>
          <p:cNvSpPr txBox="1"/>
          <p:nvPr/>
        </p:nvSpPr>
        <p:spPr>
          <a:xfrm>
            <a:off x="1170432" y="3054096"/>
            <a:ext cx="2651760" cy="365760"/>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0B2545"/>
                </a:solidFill>
                <a:latin typeface="Arial"/>
              </a:rPr>
              <a:t>TÍNH TOÁN — rule engine, KHÔNG có AI</a:t>
            </a:r>
          </a:p>
        </p:txBody>
      </p:sp>
      <p:sp>
        <p:nvSpPr>
          <p:cNvPr id="22" name="TextBox 21"/>
          <p:cNvSpPr txBox="1"/>
          <p:nvPr/>
        </p:nvSpPr>
        <p:spPr>
          <a:xfrm>
            <a:off x="3931920" y="3017520"/>
            <a:ext cx="7589520" cy="420624"/>
          </a:xfrm>
          <a:prstGeom prst="rect">
            <a:avLst/>
          </a:prstGeom>
          <a:noFill/>
        </p:spPr>
        <p:txBody>
          <a:bodyPr wrap="square" anchor="ctr" lIns="0" rIns="0" tIns="0" bIns="0">
            <a:spAutoFit/>
          </a:bodyPr>
          <a:lstStyle/>
          <a:p>
            <a:pPr algn="l">
              <a:lnSpc>
                <a:spcPct val="112000"/>
              </a:lnSpc>
              <a:spcBef>
                <a:spcPts val="0"/>
              </a:spcBef>
              <a:spcAft>
                <a:spcPts val="0"/>
              </a:spcAft>
            </a:pPr>
            <a:r>
              <a:rPr sz="980" b="0" i="0">
                <a:solidFill>
                  <a:srgbClr val="5E7387"/>
                </a:solidFill>
                <a:latin typeface="Arial"/>
              </a:rPr>
              <a:t>Định mức Sphere → nhu cầu từng mã hàng. Lọc lô không dùng được → phân bổ kho gần trước, hạn gần trước.
Mức đáp ứng = mắt xích yếu nhất. OSRM → tuyến bộ + thời gian.</a:t>
            </a:r>
          </a:p>
        </p:txBody>
      </p:sp>
      <p:sp>
        <p:nvSpPr>
          <p:cNvPr id="23" name="Rectangle 22"/>
          <p:cNvSpPr/>
          <p:nvPr/>
        </p:nvSpPr>
        <p:spPr>
          <a:xfrm>
            <a:off x="566928" y="3534156"/>
            <a:ext cx="11055096" cy="548640"/>
          </a:xfrm>
          <a:prstGeom prst="rect">
            <a:avLst/>
          </a:prstGeom>
          <a:solidFill>
            <a:srgbClr val="FFFFFF"/>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534156"/>
            <a:ext cx="457200" cy="54864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66928" y="3689604"/>
            <a:ext cx="457200" cy="274320"/>
          </a:xfrm>
          <a:prstGeom prst="rect">
            <a:avLst/>
          </a:prstGeom>
          <a:noFill/>
        </p:spPr>
        <p:txBody>
          <a:bodyPr wrap="square" anchor="t" lIns="0" rIns="0" tIns="0" bIns="0">
            <a:spAutoFit/>
          </a:bodyPr>
          <a:lstStyle/>
          <a:p>
            <a:pPr algn="ctr">
              <a:lnSpc>
                <a:spcPct val="112000"/>
              </a:lnSpc>
              <a:spcBef>
                <a:spcPts val="0"/>
              </a:spcBef>
              <a:spcAft>
                <a:spcPts val="0"/>
              </a:spcAft>
            </a:pPr>
            <a:r>
              <a:rPr sz="1500" b="1" i="0">
                <a:solidFill>
                  <a:srgbClr val="FFFFFF"/>
                </a:solidFill>
                <a:latin typeface="Arial"/>
              </a:rPr>
              <a:t>4</a:t>
            </a:r>
          </a:p>
        </p:txBody>
      </p:sp>
      <p:sp>
        <p:nvSpPr>
          <p:cNvPr id="26" name="TextBox 25"/>
          <p:cNvSpPr txBox="1"/>
          <p:nvPr/>
        </p:nvSpPr>
        <p:spPr>
          <a:xfrm>
            <a:off x="1170432" y="3653028"/>
            <a:ext cx="2651760" cy="365760"/>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0B2545"/>
                </a:solidFill>
                <a:latin typeface="Arial"/>
              </a:rPr>
              <a:t>THAM MƯU</a:t>
            </a:r>
          </a:p>
        </p:txBody>
      </p:sp>
      <p:sp>
        <p:nvSpPr>
          <p:cNvPr id="27" name="TextBox 26"/>
          <p:cNvSpPr txBox="1"/>
          <p:nvPr/>
        </p:nvSpPr>
        <p:spPr>
          <a:xfrm>
            <a:off x="3931920" y="3616452"/>
            <a:ext cx="7589520" cy="420624"/>
          </a:xfrm>
          <a:prstGeom prst="rect">
            <a:avLst/>
          </a:prstGeom>
          <a:noFill/>
        </p:spPr>
        <p:txBody>
          <a:bodyPr wrap="square" anchor="ctr" lIns="0" rIns="0" tIns="0" bIns="0">
            <a:spAutoFit/>
          </a:bodyPr>
          <a:lstStyle/>
          <a:p>
            <a:pPr algn="l">
              <a:lnSpc>
                <a:spcPct val="112000"/>
              </a:lnSpc>
              <a:spcBef>
                <a:spcPts val="0"/>
              </a:spcBef>
              <a:spcAft>
                <a:spcPts val="0"/>
              </a:spcAft>
            </a:pPr>
            <a:r>
              <a:rPr sz="980" b="0" i="0">
                <a:solidFill>
                  <a:srgbClr val="5E7387"/>
                </a:solidFill>
                <a:latin typeface="Arial"/>
              </a:rPr>
              <a:t>Máy chủ chấm: mức khẩn cấp 1–5 · dự báo %.  Mô hình viết: mục tiêu, ba giai đoạn, cảnh báo.
Quản trị chạy thử giả định trên bản sao chỉ đọc.</a:t>
            </a:r>
          </a:p>
        </p:txBody>
      </p:sp>
      <p:sp>
        <p:nvSpPr>
          <p:cNvPr id="28" name="Rectangle 27"/>
          <p:cNvSpPr/>
          <p:nvPr/>
        </p:nvSpPr>
        <p:spPr>
          <a:xfrm>
            <a:off x="566928" y="4133087"/>
            <a:ext cx="11055096" cy="5486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566928" y="4133087"/>
            <a:ext cx="457200" cy="54864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66928" y="4288536"/>
            <a:ext cx="457200" cy="274320"/>
          </a:xfrm>
          <a:prstGeom prst="rect">
            <a:avLst/>
          </a:prstGeom>
          <a:noFill/>
        </p:spPr>
        <p:txBody>
          <a:bodyPr wrap="square" anchor="t" lIns="0" rIns="0" tIns="0" bIns="0">
            <a:spAutoFit/>
          </a:bodyPr>
          <a:lstStyle/>
          <a:p>
            <a:pPr algn="ctr">
              <a:lnSpc>
                <a:spcPct val="112000"/>
              </a:lnSpc>
              <a:spcBef>
                <a:spcPts val="0"/>
              </a:spcBef>
              <a:spcAft>
                <a:spcPts val="0"/>
              </a:spcAft>
            </a:pPr>
            <a:r>
              <a:rPr sz="1500" b="1" i="0">
                <a:solidFill>
                  <a:srgbClr val="FFFFFF"/>
                </a:solidFill>
                <a:latin typeface="Arial"/>
              </a:rPr>
              <a:t>5</a:t>
            </a:r>
          </a:p>
        </p:txBody>
      </p:sp>
      <p:sp>
        <p:nvSpPr>
          <p:cNvPr id="31" name="TextBox 30"/>
          <p:cNvSpPr txBox="1"/>
          <p:nvPr/>
        </p:nvSpPr>
        <p:spPr>
          <a:xfrm>
            <a:off x="1170432" y="4251959"/>
            <a:ext cx="2651760" cy="365760"/>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0B2545"/>
                </a:solidFill>
                <a:latin typeface="Arial"/>
              </a:rPr>
              <a:t>ĐIỀU PHỐI — người duyệt, AI không có quyền này</a:t>
            </a:r>
          </a:p>
        </p:txBody>
      </p:sp>
      <p:sp>
        <p:nvSpPr>
          <p:cNvPr id="32" name="TextBox 31"/>
          <p:cNvSpPr txBox="1"/>
          <p:nvPr/>
        </p:nvSpPr>
        <p:spPr>
          <a:xfrm>
            <a:off x="3931920" y="4215383"/>
            <a:ext cx="7589520" cy="420624"/>
          </a:xfrm>
          <a:prstGeom prst="rect">
            <a:avLst/>
          </a:prstGeom>
          <a:noFill/>
        </p:spPr>
        <p:txBody>
          <a:bodyPr wrap="square" anchor="ctr" lIns="0" rIns="0" tIns="0" bIns="0">
            <a:spAutoFit/>
          </a:bodyPr>
          <a:lstStyle/>
          <a:p>
            <a:pPr algn="l">
              <a:lnSpc>
                <a:spcPct val="112000"/>
              </a:lnSpc>
              <a:spcBef>
                <a:spcPts val="0"/>
              </a:spcBef>
              <a:spcAft>
                <a:spcPts val="0"/>
              </a:spcAft>
            </a:pPr>
            <a:r>
              <a:rPr sz="980" b="0" i="0">
                <a:solidFill>
                  <a:srgbClr val="5E7387"/>
                </a:solidFill>
                <a:latin typeface="Arial"/>
              </a:rPr>
              <a:t>Tách thành yêu cầu theo nhiệm vụ × kho × mã hàng. Kho: tiếp nhận → (báo thiếu/sai → duyệt lại) → xuất.
Nhiệm vụ chỉ sẵn sàng khi kho cuối xuất xong dòng cuối.</a:t>
            </a:r>
          </a:p>
        </p:txBody>
      </p:sp>
      <p:sp>
        <p:nvSpPr>
          <p:cNvPr id="33" name="Rectangle 32"/>
          <p:cNvSpPr/>
          <p:nvPr/>
        </p:nvSpPr>
        <p:spPr>
          <a:xfrm>
            <a:off x="566928" y="4732020"/>
            <a:ext cx="11055096" cy="548640"/>
          </a:xfrm>
          <a:prstGeom prst="rect">
            <a:avLst/>
          </a:prstGeom>
          <a:solidFill>
            <a:srgbClr val="FFFFFF"/>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66928" y="4732020"/>
            <a:ext cx="457200" cy="54864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66928" y="4887468"/>
            <a:ext cx="457200" cy="274320"/>
          </a:xfrm>
          <a:prstGeom prst="rect">
            <a:avLst/>
          </a:prstGeom>
          <a:noFill/>
        </p:spPr>
        <p:txBody>
          <a:bodyPr wrap="square" anchor="t" lIns="0" rIns="0" tIns="0" bIns="0">
            <a:spAutoFit/>
          </a:bodyPr>
          <a:lstStyle/>
          <a:p>
            <a:pPr algn="ctr">
              <a:lnSpc>
                <a:spcPct val="112000"/>
              </a:lnSpc>
              <a:spcBef>
                <a:spcPts val="0"/>
              </a:spcBef>
              <a:spcAft>
                <a:spcPts val="0"/>
              </a:spcAft>
            </a:pPr>
            <a:r>
              <a:rPr sz="1500" b="1" i="0">
                <a:solidFill>
                  <a:srgbClr val="FFFFFF"/>
                </a:solidFill>
                <a:latin typeface="Arial"/>
              </a:rPr>
              <a:t>6</a:t>
            </a:r>
          </a:p>
        </p:txBody>
      </p:sp>
      <p:sp>
        <p:nvSpPr>
          <p:cNvPr id="36" name="TextBox 35"/>
          <p:cNvSpPr txBox="1"/>
          <p:nvPr/>
        </p:nvSpPr>
        <p:spPr>
          <a:xfrm>
            <a:off x="1170432" y="4850892"/>
            <a:ext cx="2651760" cy="365760"/>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0B2545"/>
                </a:solidFill>
                <a:latin typeface="Arial"/>
              </a:rPr>
              <a:t>HIỆN TRƯỜNG</a:t>
            </a:r>
          </a:p>
        </p:txBody>
      </p:sp>
      <p:sp>
        <p:nvSpPr>
          <p:cNvPr id="37" name="TextBox 36"/>
          <p:cNvSpPr txBox="1"/>
          <p:nvPr/>
        </p:nvSpPr>
        <p:spPr>
          <a:xfrm>
            <a:off x="3931920" y="4814316"/>
            <a:ext cx="7589520" cy="420624"/>
          </a:xfrm>
          <a:prstGeom prst="rect">
            <a:avLst/>
          </a:prstGeom>
          <a:noFill/>
        </p:spPr>
        <p:txBody>
          <a:bodyPr wrap="square" anchor="ctr" lIns="0" rIns="0" tIns="0" bIns="0">
            <a:spAutoFit/>
          </a:bodyPr>
          <a:lstStyle/>
          <a:p>
            <a:pPr algn="l">
              <a:lnSpc>
                <a:spcPct val="112000"/>
              </a:lnSpc>
              <a:spcBef>
                <a:spcPts val="0"/>
              </a:spcBef>
              <a:spcAft>
                <a:spcPts val="0"/>
              </a:spcAft>
            </a:pPr>
            <a:r>
              <a:rPr sz="980" b="0" i="0">
                <a:solidFill>
                  <a:srgbClr val="5E7387"/>
                </a:solidFill>
                <a:latin typeface="Arial"/>
              </a:rPr>
              <a:t>Ký nhận đã lấy hàng — thiếu thì bắt buộc nêu lý do. Xác nhận đã giao: đủ / một phần / không giao được.
Cập nhật bằng lời → bằng chứng có người, có giờ.</a:t>
            </a:r>
          </a:p>
        </p:txBody>
      </p:sp>
      <p:sp>
        <p:nvSpPr>
          <p:cNvPr id="38" name="Rectangle 37"/>
          <p:cNvSpPr/>
          <p:nvPr/>
        </p:nvSpPr>
        <p:spPr>
          <a:xfrm>
            <a:off x="566928" y="5330952"/>
            <a:ext cx="11055096" cy="5486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566928" y="5330952"/>
            <a:ext cx="457200" cy="54864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66928" y="5486400"/>
            <a:ext cx="457200" cy="274320"/>
          </a:xfrm>
          <a:prstGeom prst="rect">
            <a:avLst/>
          </a:prstGeom>
          <a:noFill/>
        </p:spPr>
        <p:txBody>
          <a:bodyPr wrap="square" anchor="t" lIns="0" rIns="0" tIns="0" bIns="0">
            <a:spAutoFit/>
          </a:bodyPr>
          <a:lstStyle/>
          <a:p>
            <a:pPr algn="ctr">
              <a:lnSpc>
                <a:spcPct val="112000"/>
              </a:lnSpc>
              <a:spcBef>
                <a:spcPts val="0"/>
              </a:spcBef>
              <a:spcAft>
                <a:spcPts val="0"/>
              </a:spcAft>
            </a:pPr>
            <a:r>
              <a:rPr sz="1500" b="1" i="0">
                <a:solidFill>
                  <a:srgbClr val="FFFFFF"/>
                </a:solidFill>
                <a:latin typeface="Arial"/>
              </a:rPr>
              <a:t>7</a:t>
            </a:r>
          </a:p>
        </p:txBody>
      </p:sp>
      <p:sp>
        <p:nvSpPr>
          <p:cNvPr id="41" name="TextBox 40"/>
          <p:cNvSpPr txBox="1"/>
          <p:nvPr/>
        </p:nvSpPr>
        <p:spPr>
          <a:xfrm>
            <a:off x="1170432" y="5449824"/>
            <a:ext cx="2651760" cy="365760"/>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0B2545"/>
                </a:solidFill>
                <a:latin typeface="Arial"/>
              </a:rPr>
              <a:t>NẾU CẢ XÃ VẪN THIẾU</a:t>
            </a:r>
          </a:p>
        </p:txBody>
      </p:sp>
      <p:sp>
        <p:nvSpPr>
          <p:cNvPr id="42" name="TextBox 41"/>
          <p:cNvSpPr txBox="1"/>
          <p:nvPr/>
        </p:nvSpPr>
        <p:spPr>
          <a:xfrm>
            <a:off x="3931920" y="5413248"/>
            <a:ext cx="7589520" cy="420624"/>
          </a:xfrm>
          <a:prstGeom prst="rect">
            <a:avLst/>
          </a:prstGeom>
          <a:noFill/>
        </p:spPr>
        <p:txBody>
          <a:bodyPr wrap="square" anchor="ctr" lIns="0" rIns="0" tIns="0" bIns="0">
            <a:spAutoFit/>
          </a:bodyPr>
          <a:lstStyle/>
          <a:p>
            <a:pPr algn="l">
              <a:lnSpc>
                <a:spcPct val="112000"/>
              </a:lnSpc>
              <a:spcBef>
                <a:spcPts val="0"/>
              </a:spcBef>
              <a:spcAft>
                <a:spcPts val="0"/>
              </a:spcAft>
            </a:pPr>
            <a:r>
              <a:rPr sz="980" b="0" i="0">
                <a:solidFill>
                  <a:srgbClr val="5E7387"/>
                </a:solidFill>
                <a:latin typeface="Arial"/>
              </a:rPr>
              <a:t>Xếp hạng điểm liên hệ ngoài xã — nhãn "chưa xác nhận có hàng".
Mượn liên xã qua thông báo có khóa chung · mất mạng → ghi tay.</a:t>
            </a:r>
          </a:p>
        </p:txBody>
      </p:sp>
      <p:sp>
        <p:nvSpPr>
          <p:cNvPr id="43" name="Rectangle 42"/>
          <p:cNvSpPr/>
          <p:nvPr/>
        </p:nvSpPr>
        <p:spPr>
          <a:xfrm>
            <a:off x="566928" y="5929883"/>
            <a:ext cx="11055096" cy="548640"/>
          </a:xfrm>
          <a:prstGeom prst="rect">
            <a:avLst/>
          </a:prstGeom>
          <a:solidFill>
            <a:srgbClr val="FFFFFF"/>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566928" y="5929883"/>
            <a:ext cx="457200" cy="54864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66928" y="6085331"/>
            <a:ext cx="457200" cy="274320"/>
          </a:xfrm>
          <a:prstGeom prst="rect">
            <a:avLst/>
          </a:prstGeom>
          <a:noFill/>
        </p:spPr>
        <p:txBody>
          <a:bodyPr wrap="square" anchor="t" lIns="0" rIns="0" tIns="0" bIns="0">
            <a:spAutoFit/>
          </a:bodyPr>
          <a:lstStyle/>
          <a:p>
            <a:pPr algn="ctr">
              <a:lnSpc>
                <a:spcPct val="112000"/>
              </a:lnSpc>
              <a:spcBef>
                <a:spcPts val="0"/>
              </a:spcBef>
              <a:spcAft>
                <a:spcPts val="0"/>
              </a:spcAft>
            </a:pPr>
            <a:r>
              <a:rPr sz="1500" b="1" i="0">
                <a:solidFill>
                  <a:srgbClr val="FFFFFF"/>
                </a:solidFill>
                <a:latin typeface="Arial"/>
              </a:rPr>
              <a:t>8</a:t>
            </a:r>
          </a:p>
        </p:txBody>
      </p:sp>
      <p:sp>
        <p:nvSpPr>
          <p:cNvPr id="46" name="TextBox 45"/>
          <p:cNvSpPr txBox="1"/>
          <p:nvPr/>
        </p:nvSpPr>
        <p:spPr>
          <a:xfrm>
            <a:off x="1170432" y="6048755"/>
            <a:ext cx="2651760" cy="365760"/>
          </a:xfrm>
          <a:prstGeom prst="rect">
            <a:avLst/>
          </a:prstGeom>
          <a:noFill/>
        </p:spPr>
        <p:txBody>
          <a:bodyPr wrap="square" anchor="ctr" lIns="0" rIns="0" tIns="0" bIns="0">
            <a:spAutoFit/>
          </a:bodyPr>
          <a:lstStyle/>
          <a:p>
            <a:pPr algn="l">
              <a:lnSpc>
                <a:spcPct val="105000"/>
              </a:lnSpc>
              <a:spcBef>
                <a:spcPts val="0"/>
              </a:spcBef>
              <a:spcAft>
                <a:spcPts val="0"/>
              </a:spcAft>
            </a:pPr>
            <a:r>
              <a:rPr sz="1150" b="1" i="0">
                <a:solidFill>
                  <a:srgbClr val="0B2545"/>
                </a:solidFill>
                <a:latin typeface="Arial"/>
              </a:rPr>
              <a:t>HẬU KIỂM</a:t>
            </a:r>
          </a:p>
        </p:txBody>
      </p:sp>
      <p:sp>
        <p:nvSpPr>
          <p:cNvPr id="47" name="TextBox 46"/>
          <p:cNvSpPr txBox="1"/>
          <p:nvPr/>
        </p:nvSpPr>
        <p:spPr>
          <a:xfrm>
            <a:off x="3931920" y="6012179"/>
            <a:ext cx="7589520" cy="420624"/>
          </a:xfrm>
          <a:prstGeom prst="rect">
            <a:avLst/>
          </a:prstGeom>
          <a:noFill/>
        </p:spPr>
        <p:txBody>
          <a:bodyPr wrap="square" anchor="ctr" lIns="0" rIns="0" tIns="0" bIns="0">
            <a:spAutoFit/>
          </a:bodyPr>
          <a:lstStyle/>
          <a:p>
            <a:pPr algn="l">
              <a:lnSpc>
                <a:spcPct val="112000"/>
              </a:lnSpc>
              <a:spcBef>
                <a:spcPts val="0"/>
              </a:spcBef>
              <a:spcAft>
                <a:spcPts val="0"/>
              </a:spcAft>
            </a:pPr>
            <a:r>
              <a:rPr sz="980" b="0" i="0">
                <a:solidFill>
                  <a:srgbClr val="5E7387"/>
                </a:solidFill>
                <a:latin typeface="Arial"/>
              </a:rPr>
              <a:t>Nhật ký ai / lúc nào / đổi gì · đối chiếu tồn kho đầu – cuối khớp từng đơn vị.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BƯỚC 1 · TIẾP NHẬN</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Báo cáo hiện trường bằng giọng nói tiếng Việt, xử lý tại chỗ</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Người báo tin đang đứng dưới mưa, tay ướt, nước đang lên. Gõ chữ là chậm và dễ sai — nhưng gửi giọng nói lên đám mây thì mất mạng là mất luôn chức năng.</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19</a:t>
            </a:r>
          </a:p>
        </p:txBody>
      </p:sp>
      <p:sp>
        <p:nvSpPr>
          <p:cNvPr id="8" name="Rectangle 7"/>
          <p:cNvSpPr/>
          <p:nvPr/>
        </p:nvSpPr>
        <p:spPr>
          <a:xfrm>
            <a:off x="566928" y="1737360"/>
            <a:ext cx="5440680" cy="16002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16002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911095"/>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Cách hoạt động</a:t>
            </a:r>
          </a:p>
        </p:txBody>
      </p:sp>
      <p:sp>
        <p:nvSpPr>
          <p:cNvPr id="11" name="TextBox 10"/>
          <p:cNvSpPr txBox="1"/>
          <p:nvPr/>
        </p:nvSpPr>
        <p:spPr>
          <a:xfrm>
            <a:off x="804672" y="2295144"/>
            <a:ext cx="4983480" cy="89611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Âm thanh chuyển thành WAV 16 kHz, gửi tới mô hình PhoWhisper (VinAI) chạy ngay trên máy chủ của xã. Văn bản hiện lên để người dùng đọc lại, sửa nếu sai, rồi mới bấm gửi.</a:t>
            </a:r>
          </a:p>
        </p:txBody>
      </p:sp>
      <p:sp>
        <p:nvSpPr>
          <p:cNvPr id="12" name="Rectangle 11"/>
          <p:cNvSpPr/>
          <p:nvPr/>
        </p:nvSpPr>
        <p:spPr>
          <a:xfrm>
            <a:off x="6181344" y="1737360"/>
            <a:ext cx="5440680" cy="16002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181344" y="1737360"/>
            <a:ext cx="50292" cy="160020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19088" y="1911095"/>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Quyền riêng tư</a:t>
            </a:r>
          </a:p>
        </p:txBody>
      </p:sp>
      <p:sp>
        <p:nvSpPr>
          <p:cNvPr id="15" name="TextBox 14"/>
          <p:cNvSpPr txBox="1"/>
          <p:nvPr/>
        </p:nvSpPr>
        <p:spPr>
          <a:xfrm>
            <a:off x="6419088" y="2295144"/>
            <a:ext cx="4983480" cy="89611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Giọng nói không rời khỏi máy chủ của xã, và bản ghi âm thô không được lưu lại — chỉ văn bản đã được chính người nói xác nhận mới trở thành dữ liệu.</a:t>
            </a:r>
          </a:p>
        </p:txBody>
      </p:sp>
      <p:sp>
        <p:nvSpPr>
          <p:cNvPr id="16" name="TextBox 15"/>
          <p:cNvSpPr txBox="1"/>
          <p:nvPr/>
        </p:nvSpPr>
        <p:spPr>
          <a:xfrm>
            <a:off x="566928" y="3520439"/>
            <a:ext cx="11055096" cy="274320"/>
          </a:xfrm>
          <a:prstGeom prst="rect">
            <a:avLst/>
          </a:prstGeom>
          <a:noFill/>
        </p:spPr>
        <p:txBody>
          <a:bodyPr wrap="square" anchor="t" lIns="0" rIns="0" tIns="0" bIns="0">
            <a:spAutoFit/>
          </a:bodyPr>
          <a:lstStyle/>
          <a:p>
            <a:pPr algn="l">
              <a:lnSpc>
                <a:spcPct val="112000"/>
              </a:lnSpc>
              <a:spcBef>
                <a:spcPts val="0"/>
              </a:spcBef>
              <a:spcAft>
                <a:spcPts val="0"/>
              </a:spcAft>
            </a:pPr>
            <a:r>
              <a:rPr sz="1050" b="1" i="0">
                <a:solidFill>
                  <a:srgbClr val="C43D3D"/>
                </a:solidFill>
                <a:latin typeface="Arial"/>
              </a:rPr>
              <a:t>BỐN QUYẾT ĐỊNH KỸ THUẬT — MỖI QUYẾT ĐỊNH SỬA MỘT LỖI CÓ THẬT</a:t>
            </a:r>
          </a:p>
        </p:txBody>
      </p:sp>
      <p:sp>
        <p:nvSpPr>
          <p:cNvPr id="17" name="Rectangle 16"/>
          <p:cNvSpPr/>
          <p:nvPr/>
        </p:nvSpPr>
        <p:spPr>
          <a:xfrm>
            <a:off x="566928" y="3813048"/>
            <a:ext cx="2640330" cy="18288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3813048"/>
            <a:ext cx="50292" cy="18288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04672" y="3986784"/>
            <a:ext cx="2183130"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Ép ngôn ngữ tiếng Việt</a:t>
            </a:r>
          </a:p>
        </p:txBody>
      </p:sp>
      <p:sp>
        <p:nvSpPr>
          <p:cNvPr id="20" name="TextBox 19"/>
          <p:cNvSpPr txBox="1"/>
          <p:nvPr/>
        </p:nvSpPr>
        <p:spPr>
          <a:xfrm>
            <a:off x="804672" y="4370832"/>
            <a:ext cx="2183130" cy="1124711"/>
          </a:xfrm>
          <a:prstGeom prst="rect">
            <a:avLst/>
          </a:prstGeom>
          <a:noFill/>
        </p:spPr>
        <p:txBody>
          <a:bodyPr wrap="square" anchor="t" lIns="0" rIns="0" tIns="0" bIns="0">
            <a:spAutoFit/>
          </a:bodyPr>
          <a:lstStyle/>
          <a:p>
            <a:pPr algn="l">
              <a:lnSpc>
                <a:spcPct val="116000"/>
              </a:lnSpc>
              <a:spcBef>
                <a:spcPts val="0"/>
              </a:spcBef>
              <a:spcAft>
                <a:spcPts val="0"/>
              </a:spcAft>
            </a:pPr>
            <a:r>
              <a:rPr sz="1080" b="0" i="0">
                <a:solidFill>
                  <a:srgbClr val="5E7387"/>
                </a:solidFill>
                <a:latin typeface="Arial"/>
              </a:rPr>
              <a:t>Không ép thì mô hình tự đoán ngôn ngữ từ vài giây đầu; đoán nhầm là nó dịch hoặc sinh ra một câu tiếng khác nghe rất xuôi tai.</a:t>
            </a:r>
          </a:p>
        </p:txBody>
      </p:sp>
      <p:sp>
        <p:nvSpPr>
          <p:cNvPr id="21" name="Rectangle 20"/>
          <p:cNvSpPr/>
          <p:nvPr/>
        </p:nvSpPr>
        <p:spPr>
          <a:xfrm>
            <a:off x="3371850" y="3813048"/>
            <a:ext cx="2640330" cy="18288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371850" y="3813048"/>
            <a:ext cx="50292" cy="182880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609594" y="3986784"/>
            <a:ext cx="2183130"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Chia khối 30 giây có chồng lấn</a:t>
            </a:r>
          </a:p>
        </p:txBody>
      </p:sp>
      <p:sp>
        <p:nvSpPr>
          <p:cNvPr id="24" name="TextBox 23"/>
          <p:cNvSpPr txBox="1"/>
          <p:nvPr/>
        </p:nvSpPr>
        <p:spPr>
          <a:xfrm>
            <a:off x="3609594" y="4370832"/>
            <a:ext cx="2183130" cy="1124711"/>
          </a:xfrm>
          <a:prstGeom prst="rect">
            <a:avLst/>
          </a:prstGeom>
          <a:noFill/>
        </p:spPr>
        <p:txBody>
          <a:bodyPr wrap="square" anchor="t" lIns="0" rIns="0" tIns="0" bIns="0">
            <a:spAutoFit/>
          </a:bodyPr>
          <a:lstStyle/>
          <a:p>
            <a:pPr algn="l">
              <a:lnSpc>
                <a:spcPct val="116000"/>
              </a:lnSpc>
              <a:spcBef>
                <a:spcPts val="0"/>
              </a:spcBef>
              <a:spcAft>
                <a:spcPts val="0"/>
              </a:spcAft>
            </a:pPr>
            <a:r>
              <a:rPr sz="1080" b="0" i="0">
                <a:solidFill>
                  <a:srgbClr val="5E7387"/>
                </a:solidFill>
                <a:latin typeface="Arial"/>
              </a:rPr>
              <a:t>Mô hình chỉ nhìn cửa sổ 30 giây; không khai báo thì clip dài hơn bị cắt lặng lẽ — nói một phút mất hai phần ba mà không báo gì.</a:t>
            </a:r>
          </a:p>
        </p:txBody>
      </p:sp>
      <p:sp>
        <p:nvSpPr>
          <p:cNvPr id="25" name="Rectangle 24"/>
          <p:cNvSpPr/>
          <p:nvPr/>
        </p:nvSpPr>
        <p:spPr>
          <a:xfrm>
            <a:off x="6176772" y="3813048"/>
            <a:ext cx="2640330" cy="18288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176772" y="3813048"/>
            <a:ext cx="50292" cy="182880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14516" y="3986784"/>
            <a:ext cx="2183130"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Chốt im lặng</a:t>
            </a:r>
          </a:p>
        </p:txBody>
      </p:sp>
      <p:sp>
        <p:nvSpPr>
          <p:cNvPr id="28" name="TextBox 27"/>
          <p:cNvSpPr txBox="1"/>
          <p:nvPr/>
        </p:nvSpPr>
        <p:spPr>
          <a:xfrm>
            <a:off x="6414516" y="4370832"/>
            <a:ext cx="2183130" cy="1124711"/>
          </a:xfrm>
          <a:prstGeom prst="rect">
            <a:avLst/>
          </a:prstGeom>
          <a:noFill/>
        </p:spPr>
        <p:txBody>
          <a:bodyPr wrap="square" anchor="t" lIns="0" rIns="0" tIns="0" bIns="0">
            <a:spAutoFit/>
          </a:bodyPr>
          <a:lstStyle/>
          <a:p>
            <a:pPr algn="l">
              <a:lnSpc>
                <a:spcPct val="116000"/>
              </a:lnSpc>
              <a:spcBef>
                <a:spcPts val="0"/>
              </a:spcBef>
              <a:spcAft>
                <a:spcPts val="0"/>
              </a:spcAft>
            </a:pPr>
            <a:r>
              <a:rPr sz="1080" b="0" i="0">
                <a:solidFill>
                  <a:srgbClr val="5E7387"/>
                </a:solidFill>
                <a:latin typeface="Arial"/>
              </a:rPr>
              <a:t>Mô hình nhận dạng giọng nói bịa khi nghe im lặng: đưa vào hai giây im lặng, nó trả về một câu hoàn chỉnh. Ngưỡng đặt thấp có chủ đích.</a:t>
            </a:r>
          </a:p>
        </p:txBody>
      </p:sp>
      <p:sp>
        <p:nvSpPr>
          <p:cNvPr id="29" name="Rectangle 28"/>
          <p:cNvSpPr/>
          <p:nvPr/>
        </p:nvSpPr>
        <p:spPr>
          <a:xfrm>
            <a:off x="8981694" y="3813048"/>
            <a:ext cx="2640330" cy="18288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981694" y="3813048"/>
            <a:ext cx="50292" cy="18288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219438" y="3986784"/>
            <a:ext cx="2183130"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Nạp sẵn mô hình khi khởi động</a:t>
            </a:r>
          </a:p>
        </p:txBody>
      </p:sp>
      <p:sp>
        <p:nvSpPr>
          <p:cNvPr id="32" name="TextBox 31"/>
          <p:cNvSpPr txBox="1"/>
          <p:nvPr/>
        </p:nvSpPr>
        <p:spPr>
          <a:xfrm>
            <a:off x="9219438" y="4370832"/>
            <a:ext cx="2183130" cy="1124711"/>
          </a:xfrm>
          <a:prstGeom prst="rect">
            <a:avLst/>
          </a:prstGeom>
          <a:noFill/>
        </p:spPr>
        <p:txBody>
          <a:bodyPr wrap="square" anchor="t" lIns="0" rIns="0" tIns="0" bIns="0">
            <a:spAutoFit/>
          </a:bodyPr>
          <a:lstStyle/>
          <a:p>
            <a:pPr algn="l">
              <a:lnSpc>
                <a:spcPct val="116000"/>
              </a:lnSpc>
              <a:spcBef>
                <a:spcPts val="0"/>
              </a:spcBef>
              <a:spcAft>
                <a:spcPts val="0"/>
              </a:spcAft>
            </a:pPr>
            <a:r>
              <a:rPr sz="1080" b="0" i="0">
                <a:solidFill>
                  <a:srgbClr val="5E7387"/>
                </a:solidFill>
                <a:latin typeface="Arial"/>
              </a:rPr>
              <a:t>Trước đây lần bấm micro đầu tiên phải trả giá nạp mô hình — đo được 124 giây, quá thời gian chờ. Nay nạp ở luồng nền ngay khi dịch vụ lên.</a:t>
            </a:r>
          </a:p>
        </p:txBody>
      </p:sp>
      <p:sp>
        <p:nvSpPr>
          <p:cNvPr id="33" name="Rectangle 32"/>
          <p:cNvSpPr/>
          <p:nvPr/>
        </p:nvSpPr>
        <p:spPr>
          <a:xfrm>
            <a:off x="566928" y="5806440"/>
            <a:ext cx="11055096"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68680" y="5943600"/>
            <a:ext cx="10424160" cy="594360"/>
          </a:xfrm>
          <a:prstGeom prst="rect">
            <a:avLst/>
          </a:prstGeom>
          <a:noFill/>
        </p:spPr>
        <p:txBody>
          <a:bodyPr wrap="square" anchor="ctr" lIns="0" rIns="0" tIns="0" bIns="0">
            <a:spAutoFit/>
          </a:bodyPr>
          <a:lstStyle/>
          <a:p>
            <a:pPr algn="l">
              <a:lnSpc>
                <a:spcPct val="115000"/>
              </a:lnSpc>
              <a:spcBef>
                <a:spcPts val="0"/>
              </a:spcBef>
              <a:spcAft>
                <a:spcPts val="0"/>
              </a:spcAft>
            </a:pPr>
            <a:r>
              <a:rPr sz="1200" b="0" i="0">
                <a:solidFill>
                  <a:srgbClr val="FFFFFF"/>
                </a:solidFill>
                <a:latin typeface="Arial"/>
              </a:rPr>
              <a:t>Đo trên máy trình diễn: </a:t>
            </a:r>
            <a:r>
              <a:rPr sz="1200" b="1" i="0">
                <a:solidFill>
                  <a:srgbClr val="FFFFFF"/>
                </a:solidFill>
                <a:latin typeface="Arial"/>
              </a:rPr>
              <a:t>nhận dạng giọng nói ~2 giây</a:t>
            </a:r>
            <a:r>
              <a:rPr sz="1200" b="0" i="0">
                <a:solidFill>
                  <a:srgbClr val="FFFFFF"/>
                </a:solidFill>
                <a:latin typeface="Arial"/>
              </a:rPr>
              <a:t>  ·  nhóm chọn bản PhoWhisper nhỏ (4,7–5,1 giây ổn định) thay vì bản vừa (6,7–59,8 giây dao động) — đánh đổi độ chính xác lấy độ ổn định, đã cân nhắc và ghi lại.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BƯỚC 2 · PHÂN TÍCH</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Bản phân tích tình huống có xuất xứ dữ liệu</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Cho người ra quyết định biết cái gì là chắc chắn, cái gì do người dân báo, cái gì là AI suy luận, và cái gì còn thiếu.</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20</a:t>
            </a:r>
          </a:p>
        </p:txBody>
      </p:sp>
      <p:sp>
        <p:nvSpPr>
          <p:cNvPr id="8" name="Rectangle 7"/>
          <p:cNvSpPr/>
          <p:nvPr/>
        </p:nvSpPr>
        <p:spPr>
          <a:xfrm>
            <a:off x="566928" y="1737360"/>
            <a:ext cx="2626614" cy="56692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45720" cy="566928"/>
          </a:xfrm>
          <a:prstGeom prst="rect">
            <a:avLst/>
          </a:prstGeom>
          <a:solidFill>
            <a:srgbClr val="5E73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1892807"/>
            <a:ext cx="2260854" cy="292608"/>
          </a:xfrm>
          <a:prstGeom prst="rect">
            <a:avLst/>
          </a:prstGeom>
          <a:noFill/>
        </p:spPr>
        <p:txBody>
          <a:bodyPr wrap="square" anchor="t" lIns="0" rIns="0" tIns="0" bIns="0">
            <a:spAutoFit/>
          </a:bodyPr>
          <a:lstStyle/>
          <a:p>
            <a:pPr algn="l">
              <a:lnSpc>
                <a:spcPct val="112000"/>
              </a:lnSpc>
              <a:spcBef>
                <a:spcPts val="0"/>
              </a:spcBef>
              <a:spcAft>
                <a:spcPts val="0"/>
              </a:spcAft>
            </a:pPr>
            <a:r>
              <a:rPr sz="1200" b="1" i="0">
                <a:solidFill>
                  <a:srgbClr val="5E7387"/>
                </a:solidFill>
                <a:latin typeface="Arial"/>
              </a:rPr>
              <a:t>Người dùng báo cáo</a:t>
            </a:r>
          </a:p>
        </p:txBody>
      </p:sp>
      <p:sp>
        <p:nvSpPr>
          <p:cNvPr id="11" name="Rectangle 10"/>
          <p:cNvSpPr/>
          <p:nvPr/>
        </p:nvSpPr>
        <p:spPr>
          <a:xfrm>
            <a:off x="3376422" y="1737360"/>
            <a:ext cx="2626614" cy="56692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376422" y="1737360"/>
            <a:ext cx="45720" cy="566928"/>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577590" y="1892807"/>
            <a:ext cx="2260854" cy="292608"/>
          </a:xfrm>
          <a:prstGeom prst="rect">
            <a:avLst/>
          </a:prstGeom>
          <a:noFill/>
        </p:spPr>
        <p:txBody>
          <a:bodyPr wrap="square" anchor="t" lIns="0" rIns="0" tIns="0" bIns="0">
            <a:spAutoFit/>
          </a:bodyPr>
          <a:lstStyle/>
          <a:p>
            <a:pPr algn="l">
              <a:lnSpc>
                <a:spcPct val="112000"/>
              </a:lnSpc>
              <a:spcBef>
                <a:spcPts val="0"/>
              </a:spcBef>
              <a:spcAft>
                <a:spcPts val="0"/>
              </a:spcAft>
            </a:pPr>
            <a:r>
              <a:rPr sz="1200" b="1" i="0">
                <a:solidFill>
                  <a:srgbClr val="147D71"/>
                </a:solidFill>
                <a:latin typeface="Arial"/>
              </a:rPr>
              <a:t>Hệ thống đã xác minh</a:t>
            </a:r>
          </a:p>
        </p:txBody>
      </p:sp>
      <p:sp>
        <p:nvSpPr>
          <p:cNvPr id="14" name="Rectangle 13"/>
          <p:cNvSpPr/>
          <p:nvPr/>
        </p:nvSpPr>
        <p:spPr>
          <a:xfrm>
            <a:off x="6185916" y="1737360"/>
            <a:ext cx="2626614" cy="56692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185916" y="1737360"/>
            <a:ext cx="45720" cy="566928"/>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87084" y="1892807"/>
            <a:ext cx="2260854" cy="292608"/>
          </a:xfrm>
          <a:prstGeom prst="rect">
            <a:avLst/>
          </a:prstGeom>
          <a:noFill/>
        </p:spPr>
        <p:txBody>
          <a:bodyPr wrap="square" anchor="t" lIns="0" rIns="0" tIns="0" bIns="0">
            <a:spAutoFit/>
          </a:bodyPr>
          <a:lstStyle/>
          <a:p>
            <a:pPr algn="l">
              <a:lnSpc>
                <a:spcPct val="112000"/>
              </a:lnSpc>
              <a:spcBef>
                <a:spcPts val="0"/>
              </a:spcBef>
              <a:spcAft>
                <a:spcPts val="0"/>
              </a:spcAft>
            </a:pPr>
            <a:r>
              <a:rPr sz="1200" b="1" i="0">
                <a:solidFill>
                  <a:srgbClr val="1B3F6B"/>
                </a:solidFill>
                <a:latin typeface="Arial"/>
              </a:rPr>
              <a:t>AI suy luận</a:t>
            </a:r>
          </a:p>
        </p:txBody>
      </p:sp>
      <p:sp>
        <p:nvSpPr>
          <p:cNvPr id="17" name="Rectangle 16"/>
          <p:cNvSpPr/>
          <p:nvPr/>
        </p:nvSpPr>
        <p:spPr>
          <a:xfrm>
            <a:off x="8995410" y="1737360"/>
            <a:ext cx="2626614" cy="56692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995410" y="1737360"/>
            <a:ext cx="45720" cy="56692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96578" y="1892807"/>
            <a:ext cx="2260854" cy="292608"/>
          </a:xfrm>
          <a:prstGeom prst="rect">
            <a:avLst/>
          </a:prstGeom>
          <a:noFill/>
        </p:spPr>
        <p:txBody>
          <a:bodyPr wrap="square" anchor="t" lIns="0" rIns="0" tIns="0" bIns="0">
            <a:spAutoFit/>
          </a:bodyPr>
          <a:lstStyle/>
          <a:p>
            <a:pPr algn="l">
              <a:lnSpc>
                <a:spcPct val="112000"/>
              </a:lnSpc>
              <a:spcBef>
                <a:spcPts val="0"/>
              </a:spcBef>
              <a:spcAft>
                <a:spcPts val="0"/>
              </a:spcAft>
            </a:pPr>
            <a:r>
              <a:rPr sz="1200" b="1" i="0">
                <a:solidFill>
                  <a:srgbClr val="C43D3D"/>
                </a:solidFill>
                <a:latin typeface="Arial"/>
              </a:rPr>
              <a:t>Chưa xác minh</a:t>
            </a:r>
          </a:p>
        </p:txBody>
      </p:sp>
      <p:sp>
        <p:nvSpPr>
          <p:cNvPr id="20" name="TextBox 19"/>
          <p:cNvSpPr txBox="1"/>
          <p:nvPr/>
        </p:nvSpPr>
        <p:spPr>
          <a:xfrm>
            <a:off x="566928" y="2395728"/>
            <a:ext cx="11055096" cy="274320"/>
          </a:xfrm>
          <a:prstGeom prst="rect">
            <a:avLst/>
          </a:prstGeom>
          <a:noFill/>
        </p:spPr>
        <p:txBody>
          <a:bodyPr wrap="square" anchor="t" lIns="0" rIns="0" tIns="0" bIns="0">
            <a:spAutoFit/>
          </a:bodyPr>
          <a:lstStyle/>
          <a:p>
            <a:pPr algn="l">
              <a:lnSpc>
                <a:spcPct val="112000"/>
              </a:lnSpc>
              <a:spcBef>
                <a:spcPts val="0"/>
              </a:spcBef>
              <a:spcAft>
                <a:spcPts val="0"/>
              </a:spcAft>
            </a:pPr>
            <a:r>
              <a:rPr sz="1100" b="0" i="0">
                <a:solidFill>
                  <a:srgbClr val="5E7387"/>
                </a:solidFill>
                <a:latin typeface="Arial"/>
              </a:rPr>
              <a:t>Mọi nhận định trên màn hình phải phân biệt được bốn trạng thái trên. AI không được nâng cấp "có nguy cơ cô lập" thành "đã mắc kẹt".</a:t>
            </a:r>
          </a:p>
        </p:txBody>
      </p:sp>
      <p:sp>
        <p:nvSpPr>
          <p:cNvPr id="21" name="Rectangle 20"/>
          <p:cNvSpPr/>
          <p:nvPr/>
        </p:nvSpPr>
        <p:spPr>
          <a:xfrm>
            <a:off x="566928" y="2788920"/>
            <a:ext cx="5440680" cy="22860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66928" y="2788920"/>
            <a:ext cx="50292" cy="228600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4672" y="2962656"/>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Bản chụp phân tích bất biến — 9 phần</a:t>
            </a:r>
          </a:p>
        </p:txBody>
      </p:sp>
      <p:sp>
        <p:nvSpPr>
          <p:cNvPr id="24" name="TextBox 23"/>
          <p:cNvSpPr txBox="1"/>
          <p:nvPr/>
        </p:nvSpPr>
        <p:spPr>
          <a:xfrm>
            <a:off x="804672" y="3346703"/>
            <a:ext cx="4983480" cy="158191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Thông tin tiếp nhận: địa điểm, số người, loại thiên tai, thời tiết, trạng thái.</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Mức khẩn cấp, độ tin cậy và trạng thái sơ bộ / cần xác nhận / đã xác minh.</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Căn cứ đã có — mỗi dữ kiện kèm nguồn và đoạn văn bản gốc.</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Dữ liệu còn thiếu hoặc mâu thuẫn — hệ thống không tự chọn một giá trị để che xung đột.</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Nhu cầu vật tư: cơ sở, dự phòng, tổng đề xuất kèm công thức.</a:t>
            </a:r>
          </a:p>
        </p:txBody>
      </p:sp>
      <p:sp>
        <p:nvSpPr>
          <p:cNvPr id="25" name="Rectangle 24"/>
          <p:cNvSpPr/>
          <p:nvPr/>
        </p:nvSpPr>
        <p:spPr>
          <a:xfrm>
            <a:off x="6181344" y="2788920"/>
            <a:ext cx="5440680" cy="22860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181344" y="2788920"/>
            <a:ext cx="50292" cy="228600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19088" y="2962656"/>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(tiếp)</a:t>
            </a:r>
          </a:p>
        </p:txBody>
      </p:sp>
      <p:sp>
        <p:nvSpPr>
          <p:cNvPr id="28" name="TextBox 27"/>
          <p:cNvSpPr txBox="1"/>
          <p:nvPr/>
        </p:nvSpPr>
        <p:spPr>
          <a:xfrm>
            <a:off x="6419088" y="3346703"/>
            <a:ext cx="4983480" cy="158191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Phương án điều phối: kho nội xã, tỷ lệ đáp ứng, tuyến và thời gian, mức dự phòng còn lại.</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Cảnh báo và dự báo theo các mốc 6 / 12 / 24 / 72 giờ.</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Một câu hỏi ưu tiên — câu có khả năng làm thay đổi phương án nhiều nhất.</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Giải thích ngắn vì sao đề xuất được đưa ra và điều kiện nào làm nó hết hiệu lực.</a:t>
            </a:r>
          </a:p>
        </p:txBody>
      </p:sp>
      <p:sp>
        <p:nvSpPr>
          <p:cNvPr id="29" name="Rectangle 28"/>
          <p:cNvSpPr/>
          <p:nvPr/>
        </p:nvSpPr>
        <p:spPr>
          <a:xfrm>
            <a:off x="566928" y="5257800"/>
            <a:ext cx="11055096" cy="10058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66928" y="5257800"/>
            <a:ext cx="54864" cy="100584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68680" y="5404104"/>
            <a:ext cx="10332720" cy="731520"/>
          </a:xfrm>
          <a:prstGeom prst="rect">
            <a:avLst/>
          </a:prstGeom>
          <a:noFill/>
        </p:spPr>
        <p:txBody>
          <a:bodyPr wrap="square" anchor="t" lIns="0" rIns="0" tIns="0" bIns="0">
            <a:spAutoFit/>
          </a:bodyPr>
          <a:lstStyle/>
          <a:p>
            <a:pPr algn="l">
              <a:lnSpc>
                <a:spcPct val="112000"/>
              </a:lnSpc>
              <a:spcBef>
                <a:spcPts val="0"/>
              </a:spcBef>
              <a:spcAft>
                <a:spcPts val="400"/>
              </a:spcAft>
            </a:pPr>
            <a:r>
              <a:rPr sz="1200" b="1" i="0">
                <a:solidFill>
                  <a:srgbClr val="0B2545"/>
                </a:solidFill>
                <a:latin typeface="Arial"/>
              </a:rPr>
              <a:t>Tình huống thực tế</a:t>
            </a:r>
          </a:p>
          <a:p>
            <a:pPr algn="l">
              <a:lnSpc>
                <a:spcPct val="115000"/>
              </a:lnSpc>
              <a:spcBef>
                <a:spcPts val="0"/>
              </a:spcBef>
              <a:spcAft>
                <a:spcPts val="0"/>
              </a:spcAft>
            </a:pPr>
            <a:r>
              <a:rPr sz="1150" b="0" i="0">
                <a:solidFill>
                  <a:srgbClr val="16283C"/>
                </a:solidFill>
                <a:latin typeface="Arial"/>
              </a:rPr>
              <a:t>Báo cáo nói "khoảng 150 người". Bản phân tích ghi con số đó ở trạng thái người dùng báo cáo, nêu rõ chưa biết số trẻ em và người cao tuổi, và đặt câu hỏi ưu tiên: "Trong 150 người có bao nhiêu trẻ em và người cao tuổi?" — vì đó là câu làm thay đổi định mức nhiều nhất.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BƯỚC 3 · TÍNH TOÁN</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Mission-to-Kit — chuyển tình huống thành bộ vật tư</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Chức năng lõi của chế độ khẩn cấp. Bốn bước — và ba bước sau không có AI tham gia.</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21</a:t>
            </a:r>
          </a:p>
        </p:txBody>
      </p:sp>
      <p:sp>
        <p:nvSpPr>
          <p:cNvPr id="8" name="Rectangle 7"/>
          <p:cNvSpPr/>
          <p:nvPr/>
        </p:nvSpPr>
        <p:spPr>
          <a:xfrm>
            <a:off x="566928" y="1737360"/>
            <a:ext cx="2640330" cy="2331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233172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04672" y="1920240"/>
            <a:ext cx="310896" cy="256032"/>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1943100"/>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1</a:t>
            </a:r>
          </a:p>
        </p:txBody>
      </p:sp>
      <p:sp>
        <p:nvSpPr>
          <p:cNvPr id="12" name="TextBox 11"/>
          <p:cNvSpPr txBox="1"/>
          <p:nvPr/>
        </p:nvSpPr>
        <p:spPr>
          <a:xfrm>
            <a:off x="1225295" y="1901952"/>
            <a:ext cx="1771650" cy="292608"/>
          </a:xfrm>
          <a:prstGeom prst="rect">
            <a:avLst/>
          </a:prstGeom>
          <a:noFill/>
        </p:spPr>
        <p:txBody>
          <a:bodyPr wrap="square" anchor="t" lIns="0" rIns="0" tIns="0" bIns="0">
            <a:spAutoFit/>
          </a:bodyPr>
          <a:lstStyle/>
          <a:p>
            <a:pPr algn="l">
              <a:lnSpc>
                <a:spcPct val="112000"/>
              </a:lnSpc>
              <a:spcBef>
                <a:spcPts val="0"/>
              </a:spcBef>
              <a:spcAft>
                <a:spcPts val="0"/>
              </a:spcAft>
            </a:pPr>
            <a:r>
              <a:rPr sz="1350" b="1" i="0">
                <a:solidFill>
                  <a:srgbClr val="0B2545"/>
                </a:solidFill>
                <a:latin typeface="Arial"/>
              </a:rPr>
              <a:t>Bóc tách</a:t>
            </a:r>
          </a:p>
        </p:txBody>
      </p:sp>
      <p:sp>
        <p:nvSpPr>
          <p:cNvPr id="13" name="TextBox 12"/>
          <p:cNvSpPr txBox="1"/>
          <p:nvPr/>
        </p:nvSpPr>
        <p:spPr>
          <a:xfrm>
            <a:off x="804672" y="2267712"/>
            <a:ext cx="2183130" cy="228600"/>
          </a:xfrm>
          <a:prstGeom prst="rect">
            <a:avLst/>
          </a:prstGeom>
          <a:noFill/>
        </p:spPr>
        <p:txBody>
          <a:bodyPr wrap="square" anchor="t" lIns="0" rIns="0" tIns="0" bIns="0">
            <a:spAutoFit/>
          </a:bodyPr>
          <a:lstStyle/>
          <a:p>
            <a:pPr algn="l">
              <a:lnSpc>
                <a:spcPct val="112000"/>
              </a:lnSpc>
              <a:spcBef>
                <a:spcPts val="0"/>
              </a:spcBef>
              <a:spcAft>
                <a:spcPts val="0"/>
              </a:spcAft>
            </a:pPr>
            <a:r>
              <a:rPr sz="900" b="1" i="0">
                <a:solidFill>
                  <a:srgbClr val="C43D3D"/>
                </a:solidFill>
                <a:latin typeface="Arial"/>
              </a:rPr>
              <a:t>AI</a:t>
            </a:r>
          </a:p>
        </p:txBody>
      </p:sp>
      <p:sp>
        <p:nvSpPr>
          <p:cNvPr id="14" name="TextBox 13"/>
          <p:cNvSpPr txBox="1"/>
          <p:nvPr/>
        </p:nvSpPr>
        <p:spPr>
          <a:xfrm>
            <a:off x="804672" y="2560320"/>
            <a:ext cx="2183130" cy="1371600"/>
          </a:xfrm>
          <a:prstGeom prst="rect">
            <a:avLst/>
          </a:prstGeom>
          <a:noFill/>
        </p:spPr>
        <p:txBody>
          <a:bodyPr wrap="square" anchor="t" lIns="0" rIns="0" tIns="0" bIns="0">
            <a:spAutoFit/>
          </a:bodyPr>
          <a:lstStyle/>
          <a:p>
            <a:pPr algn="l">
              <a:lnSpc>
                <a:spcPct val="116000"/>
              </a:lnSpc>
              <a:spcBef>
                <a:spcPts val="0"/>
              </a:spcBef>
              <a:spcAft>
                <a:spcPts val="0"/>
              </a:spcAft>
            </a:pPr>
            <a:r>
              <a:rPr sz="1060" b="0" i="0">
                <a:solidFill>
                  <a:srgbClr val="5E7387"/>
                </a:solidFill>
                <a:latin typeface="Arial"/>
              </a:rPr>
              <a:t>Mô hình trích: loại thiên tai, tên thôn, số người, thời gian, trẻ em, người cao tuổi, ca y tế. Kết quả bị neo lại vào văn bản gốc — con số không tìm thấy trong chính câu người dùng nói sẽ bị loại. Tên thôn phải khớp danh mục do quản trị cấu hình.</a:t>
            </a:r>
          </a:p>
        </p:txBody>
      </p:sp>
      <p:sp>
        <p:nvSpPr>
          <p:cNvPr id="15" name="Rectangle 14"/>
          <p:cNvSpPr/>
          <p:nvPr/>
        </p:nvSpPr>
        <p:spPr>
          <a:xfrm>
            <a:off x="3371850" y="1737360"/>
            <a:ext cx="2640330" cy="2331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371850" y="1737360"/>
            <a:ext cx="50292" cy="2331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609594" y="1920240"/>
            <a:ext cx="310896" cy="256032"/>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09594" y="1943100"/>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2</a:t>
            </a:r>
          </a:p>
        </p:txBody>
      </p:sp>
      <p:sp>
        <p:nvSpPr>
          <p:cNvPr id="19" name="TextBox 18"/>
          <p:cNvSpPr txBox="1"/>
          <p:nvPr/>
        </p:nvSpPr>
        <p:spPr>
          <a:xfrm>
            <a:off x="4030218" y="1901952"/>
            <a:ext cx="1771650" cy="292608"/>
          </a:xfrm>
          <a:prstGeom prst="rect">
            <a:avLst/>
          </a:prstGeom>
          <a:noFill/>
        </p:spPr>
        <p:txBody>
          <a:bodyPr wrap="square" anchor="t" lIns="0" rIns="0" tIns="0" bIns="0">
            <a:spAutoFit/>
          </a:bodyPr>
          <a:lstStyle/>
          <a:p>
            <a:pPr algn="l">
              <a:lnSpc>
                <a:spcPct val="112000"/>
              </a:lnSpc>
              <a:spcBef>
                <a:spcPts val="0"/>
              </a:spcBef>
              <a:spcAft>
                <a:spcPts val="0"/>
              </a:spcAft>
            </a:pPr>
            <a:r>
              <a:rPr sz="1350" b="1" i="0">
                <a:solidFill>
                  <a:srgbClr val="0B2545"/>
                </a:solidFill>
                <a:latin typeface="Arial"/>
              </a:rPr>
              <a:t>Tính nhu cầu</a:t>
            </a:r>
          </a:p>
        </p:txBody>
      </p:sp>
      <p:sp>
        <p:nvSpPr>
          <p:cNvPr id="20" name="TextBox 19"/>
          <p:cNvSpPr txBox="1"/>
          <p:nvPr/>
        </p:nvSpPr>
        <p:spPr>
          <a:xfrm>
            <a:off x="3609594" y="2267712"/>
            <a:ext cx="2183130" cy="228600"/>
          </a:xfrm>
          <a:prstGeom prst="rect">
            <a:avLst/>
          </a:prstGeom>
          <a:noFill/>
        </p:spPr>
        <p:txBody>
          <a:bodyPr wrap="square" anchor="t" lIns="0" rIns="0" tIns="0" bIns="0">
            <a:spAutoFit/>
          </a:bodyPr>
          <a:lstStyle/>
          <a:p>
            <a:pPr algn="l">
              <a:lnSpc>
                <a:spcPct val="112000"/>
              </a:lnSpc>
              <a:spcBef>
                <a:spcPts val="0"/>
              </a:spcBef>
              <a:spcAft>
                <a:spcPts val="0"/>
              </a:spcAft>
            </a:pPr>
            <a:r>
              <a:rPr sz="900" b="1" i="0">
                <a:solidFill>
                  <a:srgbClr val="1B3F6B"/>
                </a:solidFill>
                <a:latin typeface="Arial"/>
              </a:rPr>
              <a:t>RULE ENGINE</a:t>
            </a:r>
          </a:p>
        </p:txBody>
      </p:sp>
      <p:sp>
        <p:nvSpPr>
          <p:cNvPr id="21" name="TextBox 20"/>
          <p:cNvSpPr txBox="1"/>
          <p:nvPr/>
        </p:nvSpPr>
        <p:spPr>
          <a:xfrm>
            <a:off x="3609594" y="2560320"/>
            <a:ext cx="2183130" cy="1371600"/>
          </a:xfrm>
          <a:prstGeom prst="rect">
            <a:avLst/>
          </a:prstGeom>
          <a:noFill/>
        </p:spPr>
        <p:txBody>
          <a:bodyPr wrap="square" anchor="t" lIns="0" rIns="0" tIns="0" bIns="0">
            <a:spAutoFit/>
          </a:bodyPr>
          <a:lstStyle/>
          <a:p>
            <a:pPr algn="l">
              <a:lnSpc>
                <a:spcPct val="116000"/>
              </a:lnSpc>
              <a:spcBef>
                <a:spcPts val="0"/>
              </a:spcBef>
              <a:spcAft>
                <a:spcPts val="0"/>
              </a:spcAft>
            </a:pPr>
            <a:r>
              <a:rPr sz="1060" b="0" i="0">
                <a:solidFill>
                  <a:srgbClr val="5E7387"/>
                </a:solidFill>
                <a:latin typeface="Arial"/>
              </a:rPr>
              <a:t>Áp bảng định mức theo loại tình huống, dẫn nguồn Sphere Handbook. Bốn cơ sở tính: mỗi người · mỗi trẻ em · mỗi người mỗi ngày · mỗi ca y tế. Làm tròn lên để chuẩn bị dư an toàn.</a:t>
            </a:r>
          </a:p>
        </p:txBody>
      </p:sp>
      <p:sp>
        <p:nvSpPr>
          <p:cNvPr id="22" name="Rectangle 21"/>
          <p:cNvSpPr/>
          <p:nvPr/>
        </p:nvSpPr>
        <p:spPr>
          <a:xfrm>
            <a:off x="6176772" y="1737360"/>
            <a:ext cx="2640330" cy="2331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76772" y="1737360"/>
            <a:ext cx="50292" cy="233172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414516" y="1920240"/>
            <a:ext cx="310896" cy="256032"/>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14516" y="1943100"/>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3</a:t>
            </a:r>
          </a:p>
        </p:txBody>
      </p:sp>
      <p:sp>
        <p:nvSpPr>
          <p:cNvPr id="26" name="TextBox 25"/>
          <p:cNvSpPr txBox="1"/>
          <p:nvPr/>
        </p:nvSpPr>
        <p:spPr>
          <a:xfrm>
            <a:off x="6835140" y="1901952"/>
            <a:ext cx="1771650" cy="292608"/>
          </a:xfrm>
          <a:prstGeom prst="rect">
            <a:avLst/>
          </a:prstGeom>
          <a:noFill/>
        </p:spPr>
        <p:txBody>
          <a:bodyPr wrap="square" anchor="t" lIns="0" rIns="0" tIns="0" bIns="0">
            <a:spAutoFit/>
          </a:bodyPr>
          <a:lstStyle/>
          <a:p>
            <a:pPr algn="l">
              <a:lnSpc>
                <a:spcPct val="112000"/>
              </a:lnSpc>
              <a:spcBef>
                <a:spcPts val="0"/>
              </a:spcBef>
              <a:spcAft>
                <a:spcPts val="0"/>
              </a:spcAft>
            </a:pPr>
            <a:r>
              <a:rPr sz="1350" b="1" i="0">
                <a:solidFill>
                  <a:srgbClr val="0B2545"/>
                </a:solidFill>
                <a:latin typeface="Arial"/>
              </a:rPr>
              <a:t>Phân bổ</a:t>
            </a:r>
          </a:p>
        </p:txBody>
      </p:sp>
      <p:sp>
        <p:nvSpPr>
          <p:cNvPr id="27" name="TextBox 26"/>
          <p:cNvSpPr txBox="1"/>
          <p:nvPr/>
        </p:nvSpPr>
        <p:spPr>
          <a:xfrm>
            <a:off x="6414516" y="2267712"/>
            <a:ext cx="2183130" cy="228600"/>
          </a:xfrm>
          <a:prstGeom prst="rect">
            <a:avLst/>
          </a:prstGeom>
          <a:noFill/>
        </p:spPr>
        <p:txBody>
          <a:bodyPr wrap="square" anchor="t" lIns="0" rIns="0" tIns="0" bIns="0">
            <a:spAutoFit/>
          </a:bodyPr>
          <a:lstStyle/>
          <a:p>
            <a:pPr algn="l">
              <a:lnSpc>
                <a:spcPct val="112000"/>
              </a:lnSpc>
              <a:spcBef>
                <a:spcPts val="0"/>
              </a:spcBef>
              <a:spcAft>
                <a:spcPts val="0"/>
              </a:spcAft>
            </a:pPr>
            <a:r>
              <a:rPr sz="900" b="1" i="0">
                <a:solidFill>
                  <a:srgbClr val="147D71"/>
                </a:solidFill>
                <a:latin typeface="Arial"/>
              </a:rPr>
              <a:t>THUẬT TOÁN</a:t>
            </a:r>
          </a:p>
        </p:txBody>
      </p:sp>
      <p:sp>
        <p:nvSpPr>
          <p:cNvPr id="28" name="TextBox 27"/>
          <p:cNvSpPr txBox="1"/>
          <p:nvPr/>
        </p:nvSpPr>
        <p:spPr>
          <a:xfrm>
            <a:off x="6414516" y="2560320"/>
            <a:ext cx="2183130" cy="1371600"/>
          </a:xfrm>
          <a:prstGeom prst="rect">
            <a:avLst/>
          </a:prstGeom>
          <a:noFill/>
        </p:spPr>
        <p:txBody>
          <a:bodyPr wrap="square" anchor="t" lIns="0" rIns="0" tIns="0" bIns="0">
            <a:spAutoFit/>
          </a:bodyPr>
          <a:lstStyle/>
          <a:p>
            <a:pPr algn="l">
              <a:lnSpc>
                <a:spcPct val="116000"/>
              </a:lnSpc>
              <a:spcBef>
                <a:spcPts val="0"/>
              </a:spcBef>
              <a:spcAft>
                <a:spcPts val="0"/>
              </a:spcAft>
            </a:pPr>
            <a:r>
              <a:rPr sz="1060" b="0" i="0">
                <a:solidFill>
                  <a:srgbClr val="5E7387"/>
                </a:solidFill>
                <a:latin typeface="Arial"/>
              </a:rPr>
              <a:t>Lọc bỏ mọi lô không điều phối được — hỏng, cần kiểm tra, hết hạn, kệ khóa, phần đang cho mượn. Xếp theo kho gần điểm bị nạn trước, cùng kho thì hạn dùng gần trước (FEFO). Không bao giờ vượt tồn.</a:t>
            </a:r>
          </a:p>
        </p:txBody>
      </p:sp>
      <p:sp>
        <p:nvSpPr>
          <p:cNvPr id="29" name="Rectangle 28"/>
          <p:cNvSpPr/>
          <p:nvPr/>
        </p:nvSpPr>
        <p:spPr>
          <a:xfrm>
            <a:off x="8981694" y="1737360"/>
            <a:ext cx="2640330" cy="2331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981694" y="1737360"/>
            <a:ext cx="50292" cy="23317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219438" y="1920240"/>
            <a:ext cx="310896" cy="256032"/>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219438" y="1943100"/>
            <a:ext cx="310896" cy="237744"/>
          </a:xfrm>
          <a:prstGeom prst="rect">
            <a:avLst/>
          </a:prstGeom>
          <a:noFill/>
        </p:spPr>
        <p:txBody>
          <a:bodyPr wrap="square" anchor="t" lIns="0" rIns="0" tIns="0" bIns="0">
            <a:spAutoFit/>
          </a:bodyPr>
          <a:lstStyle/>
          <a:p>
            <a:pPr algn="ctr">
              <a:lnSpc>
                <a:spcPct val="112000"/>
              </a:lnSpc>
              <a:spcBef>
                <a:spcPts val="0"/>
              </a:spcBef>
              <a:spcAft>
                <a:spcPts val="0"/>
              </a:spcAft>
            </a:pPr>
            <a:r>
              <a:rPr sz="1150" b="1" i="0">
                <a:solidFill>
                  <a:srgbClr val="FFFFFF"/>
                </a:solidFill>
                <a:latin typeface="Arial"/>
              </a:rPr>
              <a:t>4</a:t>
            </a:r>
          </a:p>
        </p:txBody>
      </p:sp>
      <p:sp>
        <p:nvSpPr>
          <p:cNvPr id="33" name="TextBox 32"/>
          <p:cNvSpPr txBox="1"/>
          <p:nvPr/>
        </p:nvSpPr>
        <p:spPr>
          <a:xfrm>
            <a:off x="9640062" y="1901952"/>
            <a:ext cx="1771650" cy="292608"/>
          </a:xfrm>
          <a:prstGeom prst="rect">
            <a:avLst/>
          </a:prstGeom>
          <a:noFill/>
        </p:spPr>
        <p:txBody>
          <a:bodyPr wrap="square" anchor="t" lIns="0" rIns="0" tIns="0" bIns="0">
            <a:spAutoFit/>
          </a:bodyPr>
          <a:lstStyle/>
          <a:p>
            <a:pPr algn="l">
              <a:lnSpc>
                <a:spcPct val="112000"/>
              </a:lnSpc>
              <a:spcBef>
                <a:spcPts val="0"/>
              </a:spcBef>
              <a:spcAft>
                <a:spcPts val="0"/>
              </a:spcAft>
            </a:pPr>
            <a:r>
              <a:rPr sz="1350" b="1" i="0">
                <a:solidFill>
                  <a:srgbClr val="0B2545"/>
                </a:solidFill>
                <a:latin typeface="Arial"/>
              </a:rPr>
              <a:t>Chấm mức đáp ứng</a:t>
            </a:r>
          </a:p>
        </p:txBody>
      </p:sp>
      <p:sp>
        <p:nvSpPr>
          <p:cNvPr id="34" name="TextBox 33"/>
          <p:cNvSpPr txBox="1"/>
          <p:nvPr/>
        </p:nvSpPr>
        <p:spPr>
          <a:xfrm>
            <a:off x="9219438" y="2267712"/>
            <a:ext cx="2183130" cy="228600"/>
          </a:xfrm>
          <a:prstGeom prst="rect">
            <a:avLst/>
          </a:prstGeom>
          <a:noFill/>
        </p:spPr>
        <p:txBody>
          <a:bodyPr wrap="square" anchor="t" lIns="0" rIns="0" tIns="0" bIns="0">
            <a:spAutoFit/>
          </a:bodyPr>
          <a:lstStyle/>
          <a:p>
            <a:pPr algn="l">
              <a:lnSpc>
                <a:spcPct val="112000"/>
              </a:lnSpc>
              <a:spcBef>
                <a:spcPts val="0"/>
              </a:spcBef>
              <a:spcAft>
                <a:spcPts val="0"/>
              </a:spcAft>
            </a:pPr>
            <a:r>
              <a:rPr sz="900" b="1" i="0">
                <a:solidFill>
                  <a:srgbClr val="D98C1F"/>
                </a:solidFill>
                <a:latin typeface="Arial"/>
              </a:rPr>
              <a:t>MẮT XÍCH YẾU NHẤT</a:t>
            </a:r>
          </a:p>
        </p:txBody>
      </p:sp>
      <p:sp>
        <p:nvSpPr>
          <p:cNvPr id="35" name="TextBox 34"/>
          <p:cNvSpPr txBox="1"/>
          <p:nvPr/>
        </p:nvSpPr>
        <p:spPr>
          <a:xfrm>
            <a:off x="9219438" y="2560320"/>
            <a:ext cx="2183130" cy="1371600"/>
          </a:xfrm>
          <a:prstGeom prst="rect">
            <a:avLst/>
          </a:prstGeom>
          <a:noFill/>
        </p:spPr>
        <p:txBody>
          <a:bodyPr wrap="square" anchor="t" lIns="0" rIns="0" tIns="0" bIns="0">
            <a:spAutoFit/>
          </a:bodyPr>
          <a:lstStyle/>
          <a:p>
            <a:pPr algn="l">
              <a:lnSpc>
                <a:spcPct val="116000"/>
              </a:lnSpc>
              <a:spcBef>
                <a:spcPts val="0"/>
              </a:spcBef>
              <a:spcAft>
                <a:spcPts val="0"/>
              </a:spcAft>
            </a:pPr>
            <a:r>
              <a:rPr sz="1060" b="0" i="0">
                <a:solidFill>
                  <a:srgbClr val="5E7387"/>
                </a:solidFill>
                <a:latin typeface="Arial"/>
              </a:rPr>
              <a:t>Mức đáp ứng tổng = giá trị nhỏ nhất trong các tỷ lệ đáp ứng của từng loại vật tư, không phải trung bình. Thiếu một loại thiết yếu là chưa sẵn sàng.</a:t>
            </a:r>
          </a:p>
        </p:txBody>
      </p:sp>
      <p:sp>
        <p:nvSpPr>
          <p:cNvPr id="36" name="TextBox 35"/>
          <p:cNvSpPr txBox="1"/>
          <p:nvPr/>
        </p:nvSpPr>
        <p:spPr>
          <a:xfrm>
            <a:off x="566928" y="4251960"/>
            <a:ext cx="11055096" cy="274320"/>
          </a:xfrm>
          <a:prstGeom prst="rect">
            <a:avLst/>
          </a:prstGeom>
          <a:noFill/>
        </p:spPr>
        <p:txBody>
          <a:bodyPr wrap="square" anchor="t" lIns="0" rIns="0" tIns="0" bIns="0">
            <a:spAutoFit/>
          </a:bodyPr>
          <a:lstStyle/>
          <a:p>
            <a:pPr algn="l">
              <a:lnSpc>
                <a:spcPct val="112000"/>
              </a:lnSpc>
              <a:spcBef>
                <a:spcPts val="0"/>
              </a:spcBef>
              <a:spcAft>
                <a:spcPts val="0"/>
              </a:spcAft>
            </a:pPr>
            <a:r>
              <a:rPr sz="1050" b="1" i="0">
                <a:solidFill>
                  <a:srgbClr val="C43D3D"/>
                </a:solidFill>
                <a:latin typeface="Arial"/>
              </a:rPr>
              <a:t>VÍ DỤ THẬT — "Thôn Long Châu ngập nặng, khoảng 150 người mắc kẹt" + 10 trẻ em, 5 người cao tuổi, 3 ca y tế, dự kiến 48 giờ</a:t>
            </a:r>
          </a:p>
        </p:txBody>
      </p:sp>
      <p:sp>
        <p:nvSpPr>
          <p:cNvPr id="37" name="Rectangle 36"/>
          <p:cNvSpPr/>
          <p:nvPr/>
        </p:nvSpPr>
        <p:spPr>
          <a:xfrm>
            <a:off x="566928" y="4544568"/>
            <a:ext cx="1721053" cy="12344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566928" y="4544568"/>
            <a:ext cx="1721053"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76656" y="4764024"/>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400" b="1" i="0">
                <a:solidFill>
                  <a:srgbClr val="0B2545"/>
                </a:solidFill>
                <a:latin typeface="Arial"/>
              </a:rPr>
              <a:t>150</a:t>
            </a:r>
          </a:p>
        </p:txBody>
      </p:sp>
      <p:sp>
        <p:nvSpPr>
          <p:cNvPr id="40" name="TextBox 39"/>
          <p:cNvSpPr txBox="1"/>
          <p:nvPr/>
        </p:nvSpPr>
        <p:spPr>
          <a:xfrm>
            <a:off x="676656" y="5257800"/>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áo phao
người lớn</a:t>
            </a:r>
          </a:p>
        </p:txBody>
      </p:sp>
      <p:sp>
        <p:nvSpPr>
          <p:cNvPr id="41" name="Rectangle 40"/>
          <p:cNvSpPr/>
          <p:nvPr/>
        </p:nvSpPr>
        <p:spPr>
          <a:xfrm>
            <a:off x="2434285" y="4544568"/>
            <a:ext cx="1721053" cy="12344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2434285" y="4544568"/>
            <a:ext cx="1721053"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544013" y="4764024"/>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400" b="1" i="0">
                <a:solidFill>
                  <a:srgbClr val="0B2545"/>
                </a:solidFill>
                <a:latin typeface="Arial"/>
              </a:rPr>
              <a:t>10</a:t>
            </a:r>
          </a:p>
        </p:txBody>
      </p:sp>
      <p:sp>
        <p:nvSpPr>
          <p:cNvPr id="44" name="TextBox 43"/>
          <p:cNvSpPr txBox="1"/>
          <p:nvPr/>
        </p:nvSpPr>
        <p:spPr>
          <a:xfrm>
            <a:off x="2544013" y="5257800"/>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áo phao
trẻ em</a:t>
            </a:r>
          </a:p>
        </p:txBody>
      </p:sp>
      <p:sp>
        <p:nvSpPr>
          <p:cNvPr id="45" name="Rectangle 44"/>
          <p:cNvSpPr/>
          <p:nvPr/>
        </p:nvSpPr>
        <p:spPr>
          <a:xfrm>
            <a:off x="4301642" y="4544568"/>
            <a:ext cx="1721053" cy="12344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301642" y="4544568"/>
            <a:ext cx="1721053"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411370" y="4764024"/>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400" b="1" i="0">
                <a:solidFill>
                  <a:srgbClr val="0B2545"/>
                </a:solidFill>
                <a:latin typeface="Arial"/>
              </a:rPr>
              <a:t>900</a:t>
            </a:r>
          </a:p>
        </p:txBody>
      </p:sp>
      <p:sp>
        <p:nvSpPr>
          <p:cNvPr id="48" name="TextBox 47"/>
          <p:cNvSpPr txBox="1"/>
          <p:nvPr/>
        </p:nvSpPr>
        <p:spPr>
          <a:xfrm>
            <a:off x="4411370" y="5257800"/>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chai nước 5 lít
(15 lít/người/ngày)</a:t>
            </a:r>
          </a:p>
        </p:txBody>
      </p:sp>
      <p:sp>
        <p:nvSpPr>
          <p:cNvPr id="49" name="Rectangle 48"/>
          <p:cNvSpPr/>
          <p:nvPr/>
        </p:nvSpPr>
        <p:spPr>
          <a:xfrm>
            <a:off x="6168999" y="4544568"/>
            <a:ext cx="1721053" cy="12344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6168999" y="4544568"/>
            <a:ext cx="1721053"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278727" y="4764024"/>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400" b="1" i="0">
                <a:solidFill>
                  <a:srgbClr val="0B2545"/>
                </a:solidFill>
                <a:latin typeface="Arial"/>
              </a:rPr>
              <a:t>3</a:t>
            </a:r>
          </a:p>
        </p:txBody>
      </p:sp>
      <p:sp>
        <p:nvSpPr>
          <p:cNvPr id="52" name="TextBox 51"/>
          <p:cNvSpPr txBox="1"/>
          <p:nvPr/>
        </p:nvSpPr>
        <p:spPr>
          <a:xfrm>
            <a:off x="6278727" y="5257800"/>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bộ sơ cứu
(1 bộ/ca y tế)</a:t>
            </a:r>
          </a:p>
        </p:txBody>
      </p:sp>
      <p:sp>
        <p:nvSpPr>
          <p:cNvPr id="53" name="Rectangle 52"/>
          <p:cNvSpPr/>
          <p:nvPr/>
        </p:nvSpPr>
        <p:spPr>
          <a:xfrm>
            <a:off x="8036356" y="4544568"/>
            <a:ext cx="1721053" cy="12344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8036356" y="4544568"/>
            <a:ext cx="1721053"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8146084" y="4764024"/>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400" b="1" i="0">
                <a:solidFill>
                  <a:srgbClr val="0B2545"/>
                </a:solidFill>
                <a:latin typeface="Arial"/>
              </a:rPr>
              <a:t>15</a:t>
            </a:r>
          </a:p>
        </p:txBody>
      </p:sp>
      <p:sp>
        <p:nvSpPr>
          <p:cNvPr id="56" name="TextBox 55"/>
          <p:cNvSpPr txBox="1"/>
          <p:nvPr/>
        </p:nvSpPr>
        <p:spPr>
          <a:xfrm>
            <a:off x="8146084" y="5257800"/>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đèn pin
(0,1 chiếc/người)</a:t>
            </a:r>
          </a:p>
        </p:txBody>
      </p:sp>
      <p:sp>
        <p:nvSpPr>
          <p:cNvPr id="57" name="Rectangle 56"/>
          <p:cNvSpPr/>
          <p:nvPr/>
        </p:nvSpPr>
        <p:spPr>
          <a:xfrm>
            <a:off x="9903714" y="4544568"/>
            <a:ext cx="1721053" cy="12344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9903714" y="4544568"/>
            <a:ext cx="1721053"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10013441" y="4764024"/>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400" b="1" i="0">
                <a:solidFill>
                  <a:srgbClr val="0B2545"/>
                </a:solidFill>
                <a:latin typeface="Arial"/>
              </a:rPr>
              <a:t>2 kho</a:t>
            </a:r>
          </a:p>
        </p:txBody>
      </p:sp>
      <p:sp>
        <p:nvSpPr>
          <p:cNvPr id="60" name="TextBox 59"/>
          <p:cNvSpPr txBox="1"/>
          <p:nvPr/>
        </p:nvSpPr>
        <p:spPr>
          <a:xfrm>
            <a:off x="10013441" y="5257800"/>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1 mã hàng ở kho trung tâm,
4 mã ở kho thôn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NỀN TẢNG CHẾ ĐỘ NGÀY THƯỜNG</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Chỉ số sẵn sàng của kho — 6 chiều có trọng số</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Trả lời câu hỏi "kho này có xuất được hàng ngay bây giờ không" bằng một kết luận vận hành, kèm lý do và việc phải làm — không phải bằng một con số đơn độc.</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22</a:t>
            </a:r>
          </a:p>
        </p:txBody>
      </p:sp>
      <p:graphicFrame>
        <p:nvGraphicFramePr>
          <p:cNvPr id="8" name="Table 7"/>
          <p:cNvGraphicFramePr>
            <a:graphicFrameLocks noGrp="1"/>
          </p:cNvGraphicFramePr>
          <p:nvPr/>
        </p:nvGraphicFramePr>
        <p:xfrm>
          <a:off x="566928" y="1737360"/>
          <a:ext cx="6720840" cy="2633472"/>
        </p:xfrm>
        <a:graphic>
          <a:graphicData uri="http://schemas.openxmlformats.org/drawingml/2006/table">
            <a:tbl>
              <a:tblPr>
                <a:tableStyleId>{5C22544A-7EE6-4342-B048-85BDC9FD1C3A}</a:tableStyleId>
              </a:tblPr>
              <a:tblGrid>
                <a:gridCol w="2184273"/>
                <a:gridCol w="840105"/>
                <a:gridCol w="3696462"/>
              </a:tblGrid>
              <a:tr h="329184">
                <a:tc>
                  <a:txBody>
                    <a:bodyPr wrap="square"/>
                    <a:lstStyle/>
                    <a:p>
                      <a:pPr algn="l">
                        <a:lnSpc>
                          <a:spcPct val="105000"/>
                        </a:lnSpc>
                        <a:spcBef>
                          <a:spcPts val="0"/>
                        </a:spcBef>
                        <a:spcAft>
                          <a:spcPts val="0"/>
                        </a:spcAft>
                      </a:pPr>
                      <a:r>
                        <a:rPr sz="1080" b="1" i="0">
                          <a:solidFill>
                            <a:srgbClr val="FFFFFF"/>
                          </a:solidFill>
                          <a:latin typeface="Arial"/>
                        </a:rPr>
                        <a:t>Chiều đánh giá</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Trọng số</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Cách chấm</a:t>
                      </a:r>
                    </a:p>
                  </a:txBody>
                  <a:tcPr marL="91440" marR="73152" marT="27432" marB="27432" anchor="ctr">
                    <a:solidFill>
                      <a:srgbClr val="0B2545"/>
                    </a:solidFill>
                  </a:tcPr>
                </a:tc>
              </a:tr>
              <a:tr h="384048">
                <a:tc>
                  <a:txBody>
                    <a:bodyPr wrap="square"/>
                    <a:lstStyle/>
                    <a:p>
                      <a:pPr algn="l">
                        <a:lnSpc>
                          <a:spcPct val="108000"/>
                        </a:lnSpc>
                        <a:spcBef>
                          <a:spcPts val="0"/>
                        </a:spcBef>
                        <a:spcAft>
                          <a:spcPts val="0"/>
                        </a:spcAft>
                      </a:pPr>
                      <a:r>
                        <a:rPr sz="1080" b="1" i="0">
                          <a:solidFill>
                            <a:srgbClr val="0B2545"/>
                          </a:solidFill>
                          <a:latin typeface="Arial"/>
                        </a:rPr>
                        <a:t>Số lượng khả dụng</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28%</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Tồn thực sự dùng được, đã trừ phần đang cho mượn</a:t>
                      </a:r>
                    </a:p>
                  </a:txBody>
                  <a:tcPr marL="91440" marR="73152" marT="27432" marB="27432" anchor="ctr">
                    <a:solidFill>
                      <a:srgbClr val="FFFFFF"/>
                    </a:solidFill>
                  </a:tcPr>
                </a:tc>
              </a:tr>
              <a:tr h="384048">
                <a:tc>
                  <a:txBody>
                    <a:bodyPr wrap="square"/>
                    <a:lstStyle/>
                    <a:p>
                      <a:pPr algn="l">
                        <a:lnSpc>
                          <a:spcPct val="108000"/>
                        </a:lnSpc>
                        <a:spcBef>
                          <a:spcPts val="0"/>
                        </a:spcBef>
                        <a:spcAft>
                          <a:spcPts val="0"/>
                        </a:spcAft>
                      </a:pPr>
                      <a:r>
                        <a:rPr sz="1080" b="1" i="0">
                          <a:solidFill>
                            <a:srgbClr val="0B2545"/>
                          </a:solidFill>
                          <a:latin typeface="Arial"/>
                        </a:rPr>
                        <a:t>Tình trạng vật tư</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22%</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Mới 100 · đã dùng 75 · cần kiểm tra 50 · hỏng 0</a:t>
                      </a:r>
                    </a:p>
                  </a:txBody>
                  <a:tcPr marL="91440" marR="73152" marT="27432" marB="27432" anchor="ctr">
                    <a:solidFill>
                      <a:srgbClr val="F2F5F9"/>
                    </a:solidFill>
                  </a:tcPr>
                </a:tc>
              </a:tr>
              <a:tr h="384048">
                <a:tc>
                  <a:txBody>
                    <a:bodyPr wrap="square"/>
                    <a:lstStyle/>
                    <a:p>
                      <a:pPr algn="l">
                        <a:lnSpc>
                          <a:spcPct val="108000"/>
                        </a:lnSpc>
                        <a:spcBef>
                          <a:spcPts val="0"/>
                        </a:spcBef>
                        <a:spcAft>
                          <a:spcPts val="0"/>
                        </a:spcAft>
                      </a:pPr>
                      <a:r>
                        <a:rPr sz="1080" b="1" i="0">
                          <a:solidFill>
                            <a:srgbClr val="0B2545"/>
                          </a:solidFill>
                          <a:latin typeface="Arial"/>
                        </a:rPr>
                        <a:t>Hạn sử dụng / kiểm định</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15%</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&gt; 6 tháng 100 · 2–6 tháng 70 · &lt; 2 tháng 40 · hết hạn 0</a:t>
                      </a:r>
                    </a:p>
                  </a:txBody>
                  <a:tcPr marL="91440" marR="73152" marT="27432" marB="27432" anchor="ctr">
                    <a:solidFill>
                      <a:srgbClr val="FFFFFF"/>
                    </a:solidFill>
                  </a:tcPr>
                </a:tc>
              </a:tr>
              <a:tr h="384048">
                <a:tc>
                  <a:txBody>
                    <a:bodyPr wrap="square"/>
                    <a:lstStyle/>
                    <a:p>
                      <a:pPr algn="l">
                        <a:lnSpc>
                          <a:spcPct val="108000"/>
                        </a:lnSpc>
                        <a:spcBef>
                          <a:spcPts val="0"/>
                        </a:spcBef>
                        <a:spcAft>
                          <a:spcPts val="0"/>
                        </a:spcAft>
                      </a:pPr>
                      <a:r>
                        <a:rPr sz="1080" b="1" i="0">
                          <a:solidFill>
                            <a:srgbClr val="0B2545"/>
                          </a:solidFill>
                          <a:latin typeface="Arial"/>
                        </a:rPr>
                        <a:t>Khả năng tiếp cận</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15%</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Trừ 50 điểm cho mỗi vướng mắc (kệ khóa, thiếu quyền)</a:t>
                      </a:r>
                    </a:p>
                  </a:txBody>
                  <a:tcPr marL="91440" marR="73152" marT="27432" marB="27432" anchor="ctr">
                    <a:solidFill>
                      <a:srgbClr val="F2F5F9"/>
                    </a:solidFill>
                  </a:tcPr>
                </a:tc>
              </a:tr>
              <a:tr h="384048">
                <a:tc>
                  <a:txBody>
                    <a:bodyPr wrap="square"/>
                    <a:lstStyle/>
                    <a:p>
                      <a:pPr algn="l">
                        <a:lnSpc>
                          <a:spcPct val="108000"/>
                        </a:lnSpc>
                        <a:spcBef>
                          <a:spcPts val="0"/>
                        </a:spcBef>
                        <a:spcAft>
                          <a:spcPts val="0"/>
                        </a:spcAft>
                      </a:pPr>
                      <a:r>
                        <a:rPr sz="1080" b="1" i="0">
                          <a:solidFill>
                            <a:srgbClr val="0B2545"/>
                          </a:solidFill>
                          <a:latin typeface="Arial"/>
                        </a:rPr>
                        <a:t>Điều kiện môi trường</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10%</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Ngưỡng nhiệt độ 35 °C, độ ẩm 80%</a:t>
                      </a:r>
                    </a:p>
                  </a:txBody>
                  <a:tcPr marL="91440" marR="73152" marT="27432" marB="27432" anchor="ctr">
                    <a:solidFill>
                      <a:srgbClr val="FFFFFF"/>
                    </a:solidFill>
                  </a:tcPr>
                </a:tc>
              </a:tr>
              <a:tr h="384048">
                <a:tc>
                  <a:txBody>
                    <a:bodyPr wrap="square"/>
                    <a:lstStyle/>
                    <a:p>
                      <a:pPr algn="l">
                        <a:lnSpc>
                          <a:spcPct val="108000"/>
                        </a:lnSpc>
                        <a:spcBef>
                          <a:spcPts val="0"/>
                        </a:spcBef>
                        <a:spcAft>
                          <a:spcPts val="0"/>
                        </a:spcAft>
                      </a:pPr>
                      <a:r>
                        <a:rPr sz="1080" b="1" i="0">
                          <a:solidFill>
                            <a:srgbClr val="0B2545"/>
                          </a:solidFill>
                          <a:latin typeface="Arial"/>
                        </a:rPr>
                        <a:t>Độ tin cậy dữ liệu</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10%</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Kiểm kê trong 7 ngày là tin đầy đủ; quá 90 ngày coi là cũ</a:t>
                      </a:r>
                    </a:p>
                  </a:txBody>
                  <a:tcPr marL="91440" marR="73152" marT="27432" marB="27432" anchor="ctr">
                    <a:solidFill>
                      <a:srgbClr val="F2F5F9"/>
                    </a:solidFill>
                  </a:tcPr>
                </a:tc>
              </a:tr>
            </a:tbl>
          </a:graphicData>
        </a:graphic>
      </p:graphicFrame>
      <p:sp>
        <p:nvSpPr>
          <p:cNvPr id="9" name="Rectangle 8"/>
          <p:cNvSpPr/>
          <p:nvPr/>
        </p:nvSpPr>
        <p:spPr>
          <a:xfrm>
            <a:off x="7543800" y="1737360"/>
            <a:ext cx="4078224" cy="27432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543800" y="1737360"/>
            <a:ext cx="50292" cy="27432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81544" y="1911095"/>
            <a:ext cx="3621024"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Thứ tự quyết định bắt buộc</a:t>
            </a:r>
          </a:p>
        </p:txBody>
      </p:sp>
      <p:sp>
        <p:nvSpPr>
          <p:cNvPr id="12" name="TextBox 11"/>
          <p:cNvSpPr txBox="1"/>
          <p:nvPr/>
        </p:nvSpPr>
        <p:spPr>
          <a:xfrm>
            <a:off x="7781544" y="2295144"/>
            <a:ext cx="3621024" cy="203911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Vướng mắc vận hành xét trước tiên: nguy cơ cháy, không tiếp cận được, môi trường mất an toàn → không điều phối được, bất kể điểm tổng.</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Sau đó mới xét trạng thái từng chiều → cần xử lý hoặc sẵn sàng.</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Khi có tình huống cụ thể, khả năng đáp ứng tính theo mã hàng yếu nhất.</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Điểm 0–100 chỉ để nhìn xu hướng, không có quyền ghi đè vướng mắc.</a:t>
            </a:r>
          </a:p>
        </p:txBody>
      </p:sp>
      <p:sp>
        <p:nvSpPr>
          <p:cNvPr id="13" name="Rectangle 12"/>
          <p:cNvSpPr/>
          <p:nvPr/>
        </p:nvSpPr>
        <p:spPr>
          <a:xfrm>
            <a:off x="566928" y="4709160"/>
            <a:ext cx="11055096" cy="10058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4855464"/>
            <a:ext cx="10424160" cy="731520"/>
          </a:xfrm>
          <a:prstGeom prst="rect">
            <a:avLst/>
          </a:prstGeom>
          <a:noFill/>
        </p:spPr>
        <p:txBody>
          <a:bodyPr wrap="square" anchor="ctr" lIns="0" rIns="0" tIns="0" bIns="0">
            <a:spAutoFit/>
          </a:bodyPr>
          <a:lstStyle/>
          <a:p>
            <a:pPr algn="l">
              <a:lnSpc>
                <a:spcPct val="118000"/>
              </a:lnSpc>
              <a:spcBef>
                <a:spcPts val="0"/>
              </a:spcBef>
              <a:spcAft>
                <a:spcPts val="0"/>
              </a:spcAft>
            </a:pPr>
            <a:r>
              <a:rPr sz="1200" b="1" i="0">
                <a:solidFill>
                  <a:srgbClr val="FFFFFF"/>
                </a:solidFill>
                <a:latin typeface="Arial"/>
              </a:rPr>
              <a:t>Tình huống thực tế:  </a:t>
            </a:r>
            <a:r>
              <a:rPr sz="1200" b="0" i="0">
                <a:solidFill>
                  <a:srgbClr val="FFFFFF"/>
                </a:solidFill>
                <a:latin typeface="Arial"/>
              </a:rPr>
              <a:t>kho trung tâm đang 95/100 điểm. Cảm biến khói vượt ngưỡng kèm nhiệt độ tăng vọt → hệ thống mở sự cố nguy cơ cháy. Chỉ số lập tức chuyển sang không điều phối được — người điều phối biết ngay là không được lên phương án lấy hàng từ kho này, thay vì nhìn con số 95 rồi yên tâm.</a:t>
            </a:r>
          </a:p>
        </p:txBody>
      </p:sp>
      <p:sp>
        <p:nvSpPr>
          <p:cNvPr id="15" name="TextBox 14"/>
          <p:cNvSpPr txBox="1"/>
          <p:nvPr/>
        </p:nvSpPr>
        <p:spPr>
          <a:xfrm>
            <a:off x="566928" y="5806440"/>
            <a:ext cx="11055096" cy="274320"/>
          </a:xfrm>
          <a:prstGeom prst="rect">
            <a:avLst/>
          </a:prstGeom>
          <a:noFill/>
        </p:spPr>
        <p:txBody>
          <a:bodyPr wrap="square" anchor="t" lIns="0" rIns="0" tIns="0" bIns="0">
            <a:spAutoFit/>
          </a:bodyPr>
          <a:lstStyle/>
          <a:p>
            <a:pPr algn="l">
              <a:lnSpc>
                <a:spcPct val="112000"/>
              </a:lnSpc>
              <a:spcBef>
                <a:spcPts val="0"/>
              </a:spcBef>
              <a:spcAft>
                <a:spcPts val="0"/>
              </a:spcAft>
            </a:pPr>
            <a:r>
              <a:rPr sz="1000" b="0" i="0">
                <a:solidFill>
                  <a:srgbClr val="5E7387"/>
                </a:solidFill>
                <a:latin typeface="Arial"/>
              </a:rPr>
              <a:t>Rule engine tất định chịu trách nhiệm chấm điểm — cố ý không dùng mô hình ngôn ngữ, để kết quả nhất quán và giải thích được. Kho thôn không lắp cảm biến nên không bị trừ điểm vì lý do không có thiết bị.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BƯỚC 4 · THAM MƯU</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Kế hoạch hành động cứu hộ (Incident Action Plan) — 8 mục</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Một danh sách vật tư chưa phải là một phương án. Người chỉ huy còn cần biết mức khẩn cấp, mục tiêu sáu giờ đầu, làm gì trước, rủi ro nào phải đề phòng.</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23</a:t>
            </a:r>
          </a:p>
        </p:txBody>
      </p:sp>
      <p:sp>
        <p:nvSpPr>
          <p:cNvPr id="8" name="Rectangle 7"/>
          <p:cNvSpPr/>
          <p:nvPr/>
        </p:nvSpPr>
        <p:spPr>
          <a:xfrm>
            <a:off x="566928" y="1737360"/>
            <a:ext cx="5440680" cy="23774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237744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911095"/>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TẦNG SỐ — máy chủ chấm bằng công thức, mô hình không được đụng vào</a:t>
            </a:r>
          </a:p>
        </p:txBody>
      </p:sp>
      <p:sp>
        <p:nvSpPr>
          <p:cNvPr id="11" name="TextBox 10"/>
          <p:cNvSpPr txBox="1"/>
          <p:nvPr/>
        </p:nvSpPr>
        <p:spPr>
          <a:xfrm>
            <a:off x="804672" y="2295144"/>
            <a:ext cx="4983480" cy="167335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Mức khẩn cấp 1–5 theo quy tắc cộng điểm: ≥100 người +2 · ≥30 người +1 · thiên tai nguy hiểm +1 · có nhóm dễ tổn thương +1 · đáp ứng dưới 70% +1. Kèm danh sách lý do cụ thể cho từng điểm đã cộng.</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Dự báo theo phần trăm bằng công thức: khả năng cô lập quá 24 giờ, khả năng thiếu vật tư, khả năng phải sơ tán.</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Tỷ lệ đáp ứng, phân bổ theo kho, khoảng cách và thời gian tới nơi.</a:t>
            </a:r>
          </a:p>
        </p:txBody>
      </p:sp>
      <p:sp>
        <p:nvSpPr>
          <p:cNvPr id="12" name="Rectangle 11"/>
          <p:cNvSpPr/>
          <p:nvPr/>
        </p:nvSpPr>
        <p:spPr>
          <a:xfrm>
            <a:off x="6181344" y="1737360"/>
            <a:ext cx="5440680" cy="23774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181344" y="1737360"/>
            <a:ext cx="50292" cy="237744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19088" y="1911095"/>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TẦNG LỜI — mô hình ngôn ngữ viết, dựa trên các con số ở trên</a:t>
            </a:r>
          </a:p>
        </p:txBody>
      </p:sp>
      <p:sp>
        <p:nvSpPr>
          <p:cNvPr id="15" name="TextBox 14"/>
          <p:cNvSpPr txBox="1"/>
          <p:nvPr/>
        </p:nvSpPr>
        <p:spPr>
          <a:xfrm>
            <a:off x="6419088" y="2295144"/>
            <a:ext cx="4983480" cy="167335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Mục tiêu cứu hộ; phương án theo ba giai đoạn 0–2 giờ, 2–6 giờ, 6–24 giờ; cảnh báo nguy cơ; câu hỏi bổ sung để tăng độ chính xác.</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Có phương án dự phòng: mô hình lỗi hoặc quá tải thì hệ thống dựng phần lời bằng khuôn mẫu từ chính các con số đã tính — màn hình không bao giờ trắng và mọi con số vẫn đúng.</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Tài liệu ghi rõ nó được sinh bởi mô hình hay bởi khuôn mẫu.</a:t>
            </a:r>
          </a:p>
        </p:txBody>
      </p:sp>
      <p:sp>
        <p:nvSpPr>
          <p:cNvPr id="16" name="TextBox 15"/>
          <p:cNvSpPr txBox="1"/>
          <p:nvPr/>
        </p:nvSpPr>
        <p:spPr>
          <a:xfrm>
            <a:off x="566928" y="4297679"/>
            <a:ext cx="11055096" cy="274320"/>
          </a:xfrm>
          <a:prstGeom prst="rect">
            <a:avLst/>
          </a:prstGeom>
          <a:noFill/>
        </p:spPr>
        <p:txBody>
          <a:bodyPr wrap="square" anchor="t" lIns="0" rIns="0" tIns="0" bIns="0">
            <a:spAutoFit/>
          </a:bodyPr>
          <a:lstStyle/>
          <a:p>
            <a:pPr algn="l">
              <a:lnSpc>
                <a:spcPct val="112000"/>
              </a:lnSpc>
              <a:spcBef>
                <a:spcPts val="0"/>
              </a:spcBef>
              <a:spcAft>
                <a:spcPts val="0"/>
              </a:spcAft>
            </a:pPr>
            <a:r>
              <a:rPr sz="1050" b="1" i="0">
                <a:solidFill>
                  <a:srgbClr val="C43D3D"/>
                </a:solidFill>
                <a:latin typeface="Arial"/>
              </a:rPr>
              <a:t>TÁM MỤC CỦA KẾ HOẠCH</a:t>
            </a:r>
          </a:p>
        </p:txBody>
      </p:sp>
      <p:sp>
        <p:nvSpPr>
          <p:cNvPr id="17" name="Rectangle 16"/>
          <p:cNvSpPr/>
          <p:nvPr/>
        </p:nvSpPr>
        <p:spPr>
          <a:xfrm>
            <a:off x="566928" y="4590288"/>
            <a:ext cx="2654046" cy="65836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4590288"/>
            <a:ext cx="45720" cy="65836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68096" y="4654296"/>
            <a:ext cx="292608" cy="256032"/>
          </a:xfrm>
          <a:prstGeom prst="rect">
            <a:avLst/>
          </a:prstGeom>
          <a:noFill/>
        </p:spPr>
        <p:txBody>
          <a:bodyPr wrap="square" anchor="t" lIns="0" rIns="0" tIns="0" bIns="0">
            <a:spAutoFit/>
          </a:bodyPr>
          <a:lstStyle/>
          <a:p>
            <a:pPr algn="l">
              <a:lnSpc>
                <a:spcPct val="112000"/>
              </a:lnSpc>
              <a:spcBef>
                <a:spcPts val="0"/>
              </a:spcBef>
              <a:spcAft>
                <a:spcPts val="0"/>
              </a:spcAft>
            </a:pPr>
            <a:r>
              <a:rPr sz="1100" b="1" i="0">
                <a:solidFill>
                  <a:srgbClr val="C43D3D"/>
                </a:solidFill>
                <a:latin typeface="Arial"/>
              </a:rPr>
              <a:t>1</a:t>
            </a:r>
          </a:p>
        </p:txBody>
      </p:sp>
      <p:sp>
        <p:nvSpPr>
          <p:cNvPr id="20" name="TextBox 19"/>
          <p:cNvSpPr txBox="1"/>
          <p:nvPr/>
        </p:nvSpPr>
        <p:spPr>
          <a:xfrm>
            <a:off x="768096" y="4892040"/>
            <a:ext cx="2269998" cy="310896"/>
          </a:xfrm>
          <a:prstGeom prst="rect">
            <a:avLst/>
          </a:prstGeom>
          <a:noFill/>
        </p:spPr>
        <p:txBody>
          <a:bodyPr wrap="square" anchor="t" lIns="0" rIns="0" tIns="0" bIns="0">
            <a:spAutoFit/>
          </a:bodyPr>
          <a:lstStyle/>
          <a:p>
            <a:pPr algn="l">
              <a:lnSpc>
                <a:spcPct val="110000"/>
              </a:lnSpc>
              <a:spcBef>
                <a:spcPts val="0"/>
              </a:spcBef>
              <a:spcAft>
                <a:spcPts val="0"/>
              </a:spcAft>
            </a:pPr>
            <a:r>
              <a:rPr sz="1019" b="0" i="0">
                <a:solidFill>
                  <a:srgbClr val="16283C"/>
                </a:solidFill>
                <a:latin typeface="Arial"/>
              </a:rPr>
              <a:t>Đánh giá tình huống và mức khẩn cấp 1–5 kèm lý do</a:t>
            </a:r>
          </a:p>
        </p:txBody>
      </p:sp>
      <p:sp>
        <p:nvSpPr>
          <p:cNvPr id="21" name="Rectangle 20"/>
          <p:cNvSpPr/>
          <p:nvPr/>
        </p:nvSpPr>
        <p:spPr>
          <a:xfrm>
            <a:off x="3367278" y="4590288"/>
            <a:ext cx="2654046" cy="65836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367278" y="4590288"/>
            <a:ext cx="45720" cy="658368"/>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568446" y="4654296"/>
            <a:ext cx="292608" cy="256032"/>
          </a:xfrm>
          <a:prstGeom prst="rect">
            <a:avLst/>
          </a:prstGeom>
          <a:noFill/>
        </p:spPr>
        <p:txBody>
          <a:bodyPr wrap="square" anchor="t" lIns="0" rIns="0" tIns="0" bIns="0">
            <a:spAutoFit/>
          </a:bodyPr>
          <a:lstStyle/>
          <a:p>
            <a:pPr algn="l">
              <a:lnSpc>
                <a:spcPct val="112000"/>
              </a:lnSpc>
              <a:spcBef>
                <a:spcPts val="0"/>
              </a:spcBef>
              <a:spcAft>
                <a:spcPts val="0"/>
              </a:spcAft>
            </a:pPr>
            <a:r>
              <a:rPr sz="1100" b="1" i="0">
                <a:solidFill>
                  <a:srgbClr val="147D71"/>
                </a:solidFill>
                <a:latin typeface="Arial"/>
              </a:rPr>
              <a:t>2</a:t>
            </a:r>
          </a:p>
        </p:txBody>
      </p:sp>
      <p:sp>
        <p:nvSpPr>
          <p:cNvPr id="24" name="TextBox 23"/>
          <p:cNvSpPr txBox="1"/>
          <p:nvPr/>
        </p:nvSpPr>
        <p:spPr>
          <a:xfrm>
            <a:off x="3568446" y="4892040"/>
            <a:ext cx="2269998" cy="310896"/>
          </a:xfrm>
          <a:prstGeom prst="rect">
            <a:avLst/>
          </a:prstGeom>
          <a:noFill/>
        </p:spPr>
        <p:txBody>
          <a:bodyPr wrap="square" anchor="t" lIns="0" rIns="0" tIns="0" bIns="0">
            <a:spAutoFit/>
          </a:bodyPr>
          <a:lstStyle/>
          <a:p>
            <a:pPr algn="l">
              <a:lnSpc>
                <a:spcPct val="110000"/>
              </a:lnSpc>
              <a:spcBef>
                <a:spcPts val="0"/>
              </a:spcBef>
              <a:spcAft>
                <a:spcPts val="0"/>
              </a:spcAft>
            </a:pPr>
            <a:r>
              <a:rPr sz="1019" b="0" i="0">
                <a:solidFill>
                  <a:srgbClr val="16283C"/>
                </a:solidFill>
                <a:latin typeface="Arial"/>
              </a:rPr>
              <a:t>Mục tiêu cứu hộ</a:t>
            </a:r>
          </a:p>
        </p:txBody>
      </p:sp>
      <p:sp>
        <p:nvSpPr>
          <p:cNvPr id="25" name="Rectangle 24"/>
          <p:cNvSpPr/>
          <p:nvPr/>
        </p:nvSpPr>
        <p:spPr>
          <a:xfrm>
            <a:off x="6167628" y="4590288"/>
            <a:ext cx="2654046" cy="65836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167628" y="4590288"/>
            <a:ext cx="45720" cy="658368"/>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68796" y="4654296"/>
            <a:ext cx="292608" cy="256032"/>
          </a:xfrm>
          <a:prstGeom prst="rect">
            <a:avLst/>
          </a:prstGeom>
          <a:noFill/>
        </p:spPr>
        <p:txBody>
          <a:bodyPr wrap="square" anchor="t" lIns="0" rIns="0" tIns="0" bIns="0">
            <a:spAutoFit/>
          </a:bodyPr>
          <a:lstStyle/>
          <a:p>
            <a:pPr algn="l">
              <a:lnSpc>
                <a:spcPct val="112000"/>
              </a:lnSpc>
              <a:spcBef>
                <a:spcPts val="0"/>
              </a:spcBef>
              <a:spcAft>
                <a:spcPts val="0"/>
              </a:spcAft>
            </a:pPr>
            <a:r>
              <a:rPr sz="1100" b="1" i="0">
                <a:solidFill>
                  <a:srgbClr val="1B3F6B"/>
                </a:solidFill>
                <a:latin typeface="Arial"/>
              </a:rPr>
              <a:t>3</a:t>
            </a:r>
          </a:p>
        </p:txBody>
      </p:sp>
      <p:sp>
        <p:nvSpPr>
          <p:cNvPr id="28" name="TextBox 27"/>
          <p:cNvSpPr txBox="1"/>
          <p:nvPr/>
        </p:nvSpPr>
        <p:spPr>
          <a:xfrm>
            <a:off x="6368796" y="4892040"/>
            <a:ext cx="2269998" cy="310896"/>
          </a:xfrm>
          <a:prstGeom prst="rect">
            <a:avLst/>
          </a:prstGeom>
          <a:noFill/>
        </p:spPr>
        <p:txBody>
          <a:bodyPr wrap="square" anchor="t" lIns="0" rIns="0" tIns="0" bIns="0">
            <a:spAutoFit/>
          </a:bodyPr>
          <a:lstStyle/>
          <a:p>
            <a:pPr algn="l">
              <a:lnSpc>
                <a:spcPct val="110000"/>
              </a:lnSpc>
              <a:spcBef>
                <a:spcPts val="0"/>
              </a:spcBef>
              <a:spcAft>
                <a:spcPts val="0"/>
              </a:spcAft>
            </a:pPr>
            <a:r>
              <a:rPr sz="1019" b="0" i="0">
                <a:solidFill>
                  <a:srgbClr val="16283C"/>
                </a:solidFill>
                <a:latin typeface="Arial"/>
              </a:rPr>
              <a:t>Phương án cấp phát vật tư</a:t>
            </a:r>
          </a:p>
        </p:txBody>
      </p:sp>
      <p:sp>
        <p:nvSpPr>
          <p:cNvPr id="29" name="Rectangle 28"/>
          <p:cNvSpPr/>
          <p:nvPr/>
        </p:nvSpPr>
        <p:spPr>
          <a:xfrm>
            <a:off x="8967978" y="4590288"/>
            <a:ext cx="2654046" cy="65836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967978" y="4590288"/>
            <a:ext cx="45720" cy="65836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69146" y="4654296"/>
            <a:ext cx="292608" cy="256032"/>
          </a:xfrm>
          <a:prstGeom prst="rect">
            <a:avLst/>
          </a:prstGeom>
          <a:noFill/>
        </p:spPr>
        <p:txBody>
          <a:bodyPr wrap="square" anchor="t" lIns="0" rIns="0" tIns="0" bIns="0">
            <a:spAutoFit/>
          </a:bodyPr>
          <a:lstStyle/>
          <a:p>
            <a:pPr algn="l">
              <a:lnSpc>
                <a:spcPct val="112000"/>
              </a:lnSpc>
              <a:spcBef>
                <a:spcPts val="0"/>
              </a:spcBef>
              <a:spcAft>
                <a:spcPts val="0"/>
              </a:spcAft>
            </a:pPr>
            <a:r>
              <a:rPr sz="1100" b="1" i="0">
                <a:solidFill>
                  <a:srgbClr val="C43D3D"/>
                </a:solidFill>
                <a:latin typeface="Arial"/>
              </a:rPr>
              <a:t>4</a:t>
            </a:r>
          </a:p>
        </p:txBody>
      </p:sp>
      <p:sp>
        <p:nvSpPr>
          <p:cNvPr id="32" name="TextBox 31"/>
          <p:cNvSpPr txBox="1"/>
          <p:nvPr/>
        </p:nvSpPr>
        <p:spPr>
          <a:xfrm>
            <a:off x="9169146" y="4892040"/>
            <a:ext cx="2269998" cy="310896"/>
          </a:xfrm>
          <a:prstGeom prst="rect">
            <a:avLst/>
          </a:prstGeom>
          <a:noFill/>
        </p:spPr>
        <p:txBody>
          <a:bodyPr wrap="square" anchor="t" lIns="0" rIns="0" tIns="0" bIns="0">
            <a:spAutoFit/>
          </a:bodyPr>
          <a:lstStyle/>
          <a:p>
            <a:pPr algn="l">
              <a:lnSpc>
                <a:spcPct val="110000"/>
              </a:lnSpc>
              <a:spcBef>
                <a:spcPts val="0"/>
              </a:spcBef>
              <a:spcAft>
                <a:spcPts val="0"/>
              </a:spcAft>
            </a:pPr>
            <a:r>
              <a:rPr sz="1019" b="0" i="0">
                <a:solidFill>
                  <a:srgbClr val="16283C"/>
                </a:solidFill>
                <a:latin typeface="Arial"/>
              </a:rPr>
              <a:t>Điều phối kho kèm khoảng cách và thời gian</a:t>
            </a:r>
          </a:p>
        </p:txBody>
      </p:sp>
      <p:sp>
        <p:nvSpPr>
          <p:cNvPr id="33" name="Rectangle 32"/>
          <p:cNvSpPr/>
          <p:nvPr/>
        </p:nvSpPr>
        <p:spPr>
          <a:xfrm>
            <a:off x="566928" y="5367527"/>
            <a:ext cx="2654046" cy="65836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66928" y="5367527"/>
            <a:ext cx="45720" cy="658368"/>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68096" y="5431536"/>
            <a:ext cx="292608" cy="256032"/>
          </a:xfrm>
          <a:prstGeom prst="rect">
            <a:avLst/>
          </a:prstGeom>
          <a:noFill/>
        </p:spPr>
        <p:txBody>
          <a:bodyPr wrap="square" anchor="t" lIns="0" rIns="0" tIns="0" bIns="0">
            <a:spAutoFit/>
          </a:bodyPr>
          <a:lstStyle/>
          <a:p>
            <a:pPr algn="l">
              <a:lnSpc>
                <a:spcPct val="112000"/>
              </a:lnSpc>
              <a:spcBef>
                <a:spcPts val="0"/>
              </a:spcBef>
              <a:spcAft>
                <a:spcPts val="0"/>
              </a:spcAft>
            </a:pPr>
            <a:r>
              <a:rPr sz="1100" b="1" i="0">
                <a:solidFill>
                  <a:srgbClr val="147D71"/>
                </a:solidFill>
                <a:latin typeface="Arial"/>
              </a:rPr>
              <a:t>5</a:t>
            </a:r>
          </a:p>
        </p:txBody>
      </p:sp>
      <p:sp>
        <p:nvSpPr>
          <p:cNvPr id="36" name="TextBox 35"/>
          <p:cNvSpPr txBox="1"/>
          <p:nvPr/>
        </p:nvSpPr>
        <p:spPr>
          <a:xfrm>
            <a:off x="768096" y="5669279"/>
            <a:ext cx="2269998" cy="310896"/>
          </a:xfrm>
          <a:prstGeom prst="rect">
            <a:avLst/>
          </a:prstGeom>
          <a:noFill/>
        </p:spPr>
        <p:txBody>
          <a:bodyPr wrap="square" anchor="t" lIns="0" rIns="0" tIns="0" bIns="0">
            <a:spAutoFit/>
          </a:bodyPr>
          <a:lstStyle/>
          <a:p>
            <a:pPr algn="l">
              <a:lnSpc>
                <a:spcPct val="110000"/>
              </a:lnSpc>
              <a:spcBef>
                <a:spcPts val="0"/>
              </a:spcBef>
              <a:spcAft>
                <a:spcPts val="0"/>
              </a:spcAft>
            </a:pPr>
            <a:r>
              <a:rPr sz="1019" b="0" i="0">
                <a:solidFill>
                  <a:srgbClr val="16283C"/>
                </a:solidFill>
                <a:latin typeface="Arial"/>
              </a:rPr>
              <a:t>Phương án hành động theo ba giai đoạn</a:t>
            </a:r>
          </a:p>
        </p:txBody>
      </p:sp>
      <p:sp>
        <p:nvSpPr>
          <p:cNvPr id="37" name="Rectangle 36"/>
          <p:cNvSpPr/>
          <p:nvPr/>
        </p:nvSpPr>
        <p:spPr>
          <a:xfrm>
            <a:off x="3367278" y="5367527"/>
            <a:ext cx="2654046" cy="65836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367278" y="5367527"/>
            <a:ext cx="45720" cy="658368"/>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3568446" y="5431536"/>
            <a:ext cx="292608" cy="256032"/>
          </a:xfrm>
          <a:prstGeom prst="rect">
            <a:avLst/>
          </a:prstGeom>
          <a:noFill/>
        </p:spPr>
        <p:txBody>
          <a:bodyPr wrap="square" anchor="t" lIns="0" rIns="0" tIns="0" bIns="0">
            <a:spAutoFit/>
          </a:bodyPr>
          <a:lstStyle/>
          <a:p>
            <a:pPr algn="l">
              <a:lnSpc>
                <a:spcPct val="112000"/>
              </a:lnSpc>
              <a:spcBef>
                <a:spcPts val="0"/>
              </a:spcBef>
              <a:spcAft>
                <a:spcPts val="0"/>
              </a:spcAft>
            </a:pPr>
            <a:r>
              <a:rPr sz="1100" b="1" i="0">
                <a:solidFill>
                  <a:srgbClr val="1B3F6B"/>
                </a:solidFill>
                <a:latin typeface="Arial"/>
              </a:rPr>
              <a:t>6</a:t>
            </a:r>
          </a:p>
        </p:txBody>
      </p:sp>
      <p:sp>
        <p:nvSpPr>
          <p:cNvPr id="40" name="TextBox 39"/>
          <p:cNvSpPr txBox="1"/>
          <p:nvPr/>
        </p:nvSpPr>
        <p:spPr>
          <a:xfrm>
            <a:off x="3568446" y="5669279"/>
            <a:ext cx="2269998" cy="310896"/>
          </a:xfrm>
          <a:prstGeom prst="rect">
            <a:avLst/>
          </a:prstGeom>
          <a:noFill/>
        </p:spPr>
        <p:txBody>
          <a:bodyPr wrap="square" anchor="t" lIns="0" rIns="0" tIns="0" bIns="0">
            <a:spAutoFit/>
          </a:bodyPr>
          <a:lstStyle/>
          <a:p>
            <a:pPr algn="l">
              <a:lnSpc>
                <a:spcPct val="110000"/>
              </a:lnSpc>
              <a:spcBef>
                <a:spcPts val="0"/>
              </a:spcBef>
              <a:spcAft>
                <a:spcPts val="0"/>
              </a:spcAft>
            </a:pPr>
            <a:r>
              <a:rPr sz="1019" b="0" i="0">
                <a:solidFill>
                  <a:srgbClr val="16283C"/>
                </a:solidFill>
                <a:latin typeface="Arial"/>
              </a:rPr>
              <a:t>Cảnh báo nguy cơ</a:t>
            </a:r>
          </a:p>
        </p:txBody>
      </p:sp>
      <p:sp>
        <p:nvSpPr>
          <p:cNvPr id="41" name="Rectangle 40"/>
          <p:cNvSpPr/>
          <p:nvPr/>
        </p:nvSpPr>
        <p:spPr>
          <a:xfrm>
            <a:off x="6167628" y="5367527"/>
            <a:ext cx="2654046" cy="65836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6167628" y="5367527"/>
            <a:ext cx="45720" cy="65836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368796" y="5431536"/>
            <a:ext cx="292608" cy="256032"/>
          </a:xfrm>
          <a:prstGeom prst="rect">
            <a:avLst/>
          </a:prstGeom>
          <a:noFill/>
        </p:spPr>
        <p:txBody>
          <a:bodyPr wrap="square" anchor="t" lIns="0" rIns="0" tIns="0" bIns="0">
            <a:spAutoFit/>
          </a:bodyPr>
          <a:lstStyle/>
          <a:p>
            <a:pPr algn="l">
              <a:lnSpc>
                <a:spcPct val="112000"/>
              </a:lnSpc>
              <a:spcBef>
                <a:spcPts val="0"/>
              </a:spcBef>
              <a:spcAft>
                <a:spcPts val="0"/>
              </a:spcAft>
            </a:pPr>
            <a:r>
              <a:rPr sz="1100" b="1" i="0">
                <a:solidFill>
                  <a:srgbClr val="C43D3D"/>
                </a:solidFill>
                <a:latin typeface="Arial"/>
              </a:rPr>
              <a:t>7</a:t>
            </a:r>
          </a:p>
        </p:txBody>
      </p:sp>
      <p:sp>
        <p:nvSpPr>
          <p:cNvPr id="44" name="TextBox 43"/>
          <p:cNvSpPr txBox="1"/>
          <p:nvPr/>
        </p:nvSpPr>
        <p:spPr>
          <a:xfrm>
            <a:off x="6368796" y="5669279"/>
            <a:ext cx="2269998" cy="310896"/>
          </a:xfrm>
          <a:prstGeom prst="rect">
            <a:avLst/>
          </a:prstGeom>
          <a:noFill/>
        </p:spPr>
        <p:txBody>
          <a:bodyPr wrap="square" anchor="t" lIns="0" rIns="0" tIns="0" bIns="0">
            <a:spAutoFit/>
          </a:bodyPr>
          <a:lstStyle/>
          <a:p>
            <a:pPr algn="l">
              <a:lnSpc>
                <a:spcPct val="110000"/>
              </a:lnSpc>
              <a:spcBef>
                <a:spcPts val="0"/>
              </a:spcBef>
              <a:spcAft>
                <a:spcPts val="0"/>
              </a:spcAft>
            </a:pPr>
            <a:r>
              <a:rPr sz="1019" b="0" i="0">
                <a:solidFill>
                  <a:srgbClr val="16283C"/>
                </a:solidFill>
                <a:latin typeface="Arial"/>
              </a:rPr>
              <a:t>Dự báo theo phần trăm</a:t>
            </a:r>
          </a:p>
        </p:txBody>
      </p:sp>
      <p:sp>
        <p:nvSpPr>
          <p:cNvPr id="45" name="Rectangle 44"/>
          <p:cNvSpPr/>
          <p:nvPr/>
        </p:nvSpPr>
        <p:spPr>
          <a:xfrm>
            <a:off x="8967978" y="5367527"/>
            <a:ext cx="2654046" cy="658368"/>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8967978" y="5367527"/>
            <a:ext cx="45720" cy="658368"/>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169146" y="5431536"/>
            <a:ext cx="292608" cy="256032"/>
          </a:xfrm>
          <a:prstGeom prst="rect">
            <a:avLst/>
          </a:prstGeom>
          <a:noFill/>
        </p:spPr>
        <p:txBody>
          <a:bodyPr wrap="square" anchor="t" lIns="0" rIns="0" tIns="0" bIns="0">
            <a:spAutoFit/>
          </a:bodyPr>
          <a:lstStyle/>
          <a:p>
            <a:pPr algn="l">
              <a:lnSpc>
                <a:spcPct val="112000"/>
              </a:lnSpc>
              <a:spcBef>
                <a:spcPts val="0"/>
              </a:spcBef>
              <a:spcAft>
                <a:spcPts val="0"/>
              </a:spcAft>
            </a:pPr>
            <a:r>
              <a:rPr sz="1100" b="1" i="0">
                <a:solidFill>
                  <a:srgbClr val="147D71"/>
                </a:solidFill>
                <a:latin typeface="Arial"/>
              </a:rPr>
              <a:t>8</a:t>
            </a:r>
          </a:p>
        </p:txBody>
      </p:sp>
      <p:sp>
        <p:nvSpPr>
          <p:cNvPr id="48" name="TextBox 47"/>
          <p:cNvSpPr txBox="1"/>
          <p:nvPr/>
        </p:nvSpPr>
        <p:spPr>
          <a:xfrm>
            <a:off x="9169146" y="5669279"/>
            <a:ext cx="2269998" cy="310896"/>
          </a:xfrm>
          <a:prstGeom prst="rect">
            <a:avLst/>
          </a:prstGeom>
          <a:noFill/>
        </p:spPr>
        <p:txBody>
          <a:bodyPr wrap="square" anchor="t" lIns="0" rIns="0" tIns="0" bIns="0">
            <a:spAutoFit/>
          </a:bodyPr>
          <a:lstStyle/>
          <a:p>
            <a:pPr algn="l">
              <a:lnSpc>
                <a:spcPct val="110000"/>
              </a:lnSpc>
              <a:spcBef>
                <a:spcPts val="0"/>
              </a:spcBef>
              <a:spcAft>
                <a:spcPts val="0"/>
              </a:spcAft>
            </a:pPr>
            <a:r>
              <a:rPr sz="1019" b="0" i="0">
                <a:solidFill>
                  <a:srgbClr val="16283C"/>
                </a:solidFill>
                <a:latin typeface="Arial"/>
              </a:rPr>
              <a:t>Câu hỏi bổ sung</a:t>
            </a:r>
          </a:p>
        </p:txBody>
      </p:sp>
      <p:sp>
        <p:nvSpPr>
          <p:cNvPr id="49" name="TextBox 48"/>
          <p:cNvSpPr txBox="1"/>
          <p:nvPr/>
        </p:nvSpPr>
        <p:spPr>
          <a:xfrm>
            <a:off x="566928" y="6254496"/>
            <a:ext cx="11055096" cy="365760"/>
          </a:xfrm>
          <a:prstGeom prst="rect">
            <a:avLst/>
          </a:prstGeom>
          <a:noFill/>
        </p:spPr>
        <p:txBody>
          <a:bodyPr wrap="square" anchor="t" lIns="0" rIns="0" tIns="0" bIns="0">
            <a:spAutoFit/>
          </a:bodyPr>
          <a:lstStyle/>
          <a:p>
            <a:pPr algn="l">
              <a:lnSpc>
                <a:spcPct val="112000"/>
              </a:lnSpc>
              <a:spcBef>
                <a:spcPts val="0"/>
              </a:spcBef>
              <a:spcAft>
                <a:spcPts val="0"/>
              </a:spcAft>
            </a:pPr>
            <a:r>
              <a:rPr sz="1150" b="1" i="0">
                <a:solidFill>
                  <a:srgbClr val="0B2545"/>
                </a:solidFill>
                <a:latin typeface="Arial"/>
              </a:rPr>
              <a:t>AI không chấm mức khẩn cấp, không sinh phần trăm dự báo — hai thứ này cần nhất quán giữa các lần chạy và cần chịu được câu hỏi "con số này ở đâu ra".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BƯỚC 4 · THAM MƯU (TIẾP)</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Bản đồ điều phối đa kho chạy offline · Thử giả định an toàn</a:t>
            </a:r>
          </a:p>
        </p:txBody>
      </p:sp>
      <p:sp>
        <p:nvSpPr>
          <p:cNvPr id="5" name="TextBox 4"/>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6" name="TextBox 5"/>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24</a:t>
            </a:r>
          </a:p>
        </p:txBody>
      </p:sp>
      <p:sp>
        <p:nvSpPr>
          <p:cNvPr id="7" name="Rectangle 6"/>
          <p:cNvSpPr/>
          <p:nvPr/>
        </p:nvSpPr>
        <p:spPr>
          <a:xfrm>
            <a:off x="566928" y="1316736"/>
            <a:ext cx="5440680" cy="86868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316736"/>
            <a:ext cx="50292" cy="86868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4672" y="1490472"/>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Tuyến đường bộ thật, tính bằng OSRM trong mạng nội bộ</a:t>
            </a:r>
          </a:p>
        </p:txBody>
      </p:sp>
      <p:sp>
        <p:nvSpPr>
          <p:cNvPr id="10" name="TextBox 9"/>
          <p:cNvSpPr txBox="1"/>
          <p:nvPr/>
        </p:nvSpPr>
        <p:spPr>
          <a:xfrm>
            <a:off x="804672" y="1874519"/>
            <a:ext cx="4983480" cy="16459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Nhiều tuyến từ nhiều kho hội tụ về một điểm sự cố, mỗi tuyến có màu và nhãn riêng, kèm quãng đường, thời gian dự kiến và danh sách vật tư kho đó đóng góp.</a:t>
            </a:r>
          </a:p>
        </p:txBody>
      </p:sp>
      <p:sp>
        <p:nvSpPr>
          <p:cNvPr id="11" name="Rectangle 10"/>
          <p:cNvSpPr/>
          <p:nvPr/>
        </p:nvSpPr>
        <p:spPr>
          <a:xfrm>
            <a:off x="566928" y="2322576"/>
            <a:ext cx="5440680" cy="7772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66928" y="2322576"/>
            <a:ext cx="45720" cy="77724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86384" y="2423160"/>
            <a:ext cx="5120640" cy="256032"/>
          </a:xfrm>
          <a:prstGeom prst="rect">
            <a:avLst/>
          </a:prstGeom>
          <a:noFill/>
        </p:spPr>
        <p:txBody>
          <a:bodyPr wrap="square" anchor="t" lIns="0" rIns="0" tIns="0" bIns="0">
            <a:spAutoFit/>
          </a:bodyPr>
          <a:lstStyle/>
          <a:p>
            <a:pPr algn="l">
              <a:lnSpc>
                <a:spcPct val="112000"/>
              </a:lnSpc>
              <a:spcBef>
                <a:spcPts val="0"/>
              </a:spcBef>
              <a:spcAft>
                <a:spcPts val="100"/>
              </a:spcAft>
            </a:pPr>
            <a:r>
              <a:rPr sz="1150" b="1" i="0">
                <a:solidFill>
                  <a:srgbClr val="0B2545"/>
                </a:solidFill>
                <a:latin typeface="Arial"/>
              </a:rPr>
              <a:t>Chỉ vẽ tuyến khi có hình học đường thật</a:t>
            </a:r>
          </a:p>
        </p:txBody>
      </p:sp>
      <p:sp>
        <p:nvSpPr>
          <p:cNvPr id="14" name="TextBox 13"/>
          <p:cNvSpPr txBox="1"/>
          <p:nvPr/>
        </p:nvSpPr>
        <p:spPr>
          <a:xfrm>
            <a:off x="786384" y="2670048"/>
            <a:ext cx="5120640" cy="384048"/>
          </a:xfrm>
          <a:prstGeom prst="rect">
            <a:avLst/>
          </a:prstGeom>
          <a:noFill/>
        </p:spPr>
        <p:txBody>
          <a:bodyPr wrap="square" anchor="t" lIns="0" rIns="0" tIns="0" bIns="0">
            <a:spAutoFit/>
          </a:bodyPr>
          <a:lstStyle/>
          <a:p>
            <a:pPr algn="l">
              <a:lnSpc>
                <a:spcPct val="112000"/>
              </a:lnSpc>
              <a:spcBef>
                <a:spcPts val="0"/>
              </a:spcBef>
              <a:spcAft>
                <a:spcPts val="0"/>
              </a:spcAft>
            </a:pPr>
            <a:r>
              <a:rPr sz="1000" b="0" i="0">
                <a:solidFill>
                  <a:srgbClr val="5E7387"/>
                </a:solidFill>
                <a:latin typeface="Arial"/>
              </a:rPr>
              <a:t>Không có tuyến thì báo rõ trạng thái, không vẽ một đường thẳng giả làm đường giao thông. Ước lượng đường chim bay luôn kèm nhãn "ước tính".</a:t>
            </a:r>
          </a:p>
        </p:txBody>
      </p:sp>
      <p:sp>
        <p:nvSpPr>
          <p:cNvPr id="15" name="Rectangle 14"/>
          <p:cNvSpPr/>
          <p:nvPr/>
        </p:nvSpPr>
        <p:spPr>
          <a:xfrm>
            <a:off x="566928" y="3163824"/>
            <a:ext cx="5440680" cy="7772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3163824"/>
            <a:ext cx="45720" cy="77724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86384" y="3264408"/>
            <a:ext cx="5120640" cy="256032"/>
          </a:xfrm>
          <a:prstGeom prst="rect">
            <a:avLst/>
          </a:prstGeom>
          <a:noFill/>
        </p:spPr>
        <p:txBody>
          <a:bodyPr wrap="square" anchor="t" lIns="0" rIns="0" tIns="0" bIns="0">
            <a:spAutoFit/>
          </a:bodyPr>
          <a:lstStyle/>
          <a:p>
            <a:pPr algn="l">
              <a:lnSpc>
                <a:spcPct val="112000"/>
              </a:lnSpc>
              <a:spcBef>
                <a:spcPts val="0"/>
              </a:spcBef>
              <a:spcAft>
                <a:spcPts val="100"/>
              </a:spcAft>
            </a:pPr>
            <a:r>
              <a:rPr sz="1150" b="1" i="0">
                <a:solidFill>
                  <a:srgbClr val="0B2545"/>
                </a:solidFill>
                <a:latin typeface="Arial"/>
              </a:rPr>
              <a:t>Chỉ vẽ những kho thực sự được phân bổ</a:t>
            </a:r>
          </a:p>
        </p:txBody>
      </p:sp>
      <p:sp>
        <p:nvSpPr>
          <p:cNvPr id="18" name="TextBox 17"/>
          <p:cNvSpPr txBox="1"/>
          <p:nvPr/>
        </p:nvSpPr>
        <p:spPr>
          <a:xfrm>
            <a:off x="786384" y="3511296"/>
            <a:ext cx="5120640" cy="384048"/>
          </a:xfrm>
          <a:prstGeom prst="rect">
            <a:avLst/>
          </a:prstGeom>
          <a:noFill/>
        </p:spPr>
        <p:txBody>
          <a:bodyPr wrap="square" anchor="t" lIns="0" rIns="0" tIns="0" bIns="0">
            <a:spAutoFit/>
          </a:bodyPr>
          <a:lstStyle/>
          <a:p>
            <a:pPr algn="l">
              <a:lnSpc>
                <a:spcPct val="112000"/>
              </a:lnSpc>
              <a:spcBef>
                <a:spcPts val="0"/>
              </a:spcBef>
              <a:spcAft>
                <a:spcPts val="0"/>
              </a:spcAft>
            </a:pPr>
            <a:r>
              <a:rPr sz="1000" b="0" i="0">
                <a:solidFill>
                  <a:srgbClr val="5E7387"/>
                </a:solidFill>
                <a:latin typeface="Arial"/>
              </a:rPr>
              <a:t>Không vẽ cho đẹp.</a:t>
            </a:r>
          </a:p>
        </p:txBody>
      </p:sp>
      <p:sp>
        <p:nvSpPr>
          <p:cNvPr id="19" name="Rectangle 18"/>
          <p:cNvSpPr/>
          <p:nvPr/>
        </p:nvSpPr>
        <p:spPr>
          <a:xfrm>
            <a:off x="566928" y="4005072"/>
            <a:ext cx="5440680" cy="7772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66928" y="4005072"/>
            <a:ext cx="45720" cy="77724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86384" y="4105656"/>
            <a:ext cx="5120640" cy="256032"/>
          </a:xfrm>
          <a:prstGeom prst="rect">
            <a:avLst/>
          </a:prstGeom>
          <a:noFill/>
        </p:spPr>
        <p:txBody>
          <a:bodyPr wrap="square" anchor="t" lIns="0" rIns="0" tIns="0" bIns="0">
            <a:spAutoFit/>
          </a:bodyPr>
          <a:lstStyle/>
          <a:p>
            <a:pPr algn="l">
              <a:lnSpc>
                <a:spcPct val="112000"/>
              </a:lnSpc>
              <a:spcBef>
                <a:spcPts val="0"/>
              </a:spcBef>
              <a:spcAft>
                <a:spcPts val="100"/>
              </a:spcAft>
            </a:pPr>
            <a:r>
              <a:rPr sz="1150" b="1" i="0">
                <a:solidFill>
                  <a:srgbClr val="0B2545"/>
                </a:solidFill>
                <a:latin typeface="Arial"/>
              </a:rPr>
              <a:t>Mỗi tuyến mang theo xuất xứ</a:t>
            </a:r>
          </a:p>
        </p:txBody>
      </p:sp>
      <p:sp>
        <p:nvSpPr>
          <p:cNvPr id="22" name="TextBox 21"/>
          <p:cNvSpPr txBox="1"/>
          <p:nvPr/>
        </p:nvSpPr>
        <p:spPr>
          <a:xfrm>
            <a:off x="786384" y="4352544"/>
            <a:ext cx="5120640" cy="384048"/>
          </a:xfrm>
          <a:prstGeom prst="rect">
            <a:avLst/>
          </a:prstGeom>
          <a:noFill/>
        </p:spPr>
        <p:txBody>
          <a:bodyPr wrap="square" anchor="t" lIns="0" rIns="0" tIns="0" bIns="0">
            <a:spAutoFit/>
          </a:bodyPr>
          <a:lstStyle/>
          <a:p>
            <a:pPr algn="l">
              <a:lnSpc>
                <a:spcPct val="112000"/>
              </a:lnSpc>
              <a:spcBef>
                <a:spcPts val="0"/>
              </a:spcBef>
              <a:spcAft>
                <a:spcPts val="0"/>
              </a:spcAft>
            </a:pPr>
            <a:r>
              <a:rPr sz="1000" b="0" i="0">
                <a:solidFill>
                  <a:srgbClr val="5E7387"/>
                </a:solidFill>
                <a:latin typeface="Arial"/>
              </a:rPr>
              <a:t>Máy tính tuyến nào, phiên bản dữ liệu đường nào, tính lúc nào, từ tọa độ nào đến tọa độ nào.</a:t>
            </a:r>
          </a:p>
        </p:txBody>
      </p:sp>
      <p:sp>
        <p:nvSpPr>
          <p:cNvPr id="23" name="TextBox 22"/>
          <p:cNvSpPr txBox="1"/>
          <p:nvPr/>
        </p:nvSpPr>
        <p:spPr>
          <a:xfrm>
            <a:off x="566928" y="4928616"/>
            <a:ext cx="5440680" cy="457200"/>
          </a:xfrm>
          <a:prstGeom prst="rect">
            <a:avLst/>
          </a:prstGeom>
          <a:noFill/>
        </p:spPr>
        <p:txBody>
          <a:bodyPr wrap="square" anchor="t" lIns="0" rIns="0" tIns="0" bIns="0">
            <a:spAutoFit/>
          </a:bodyPr>
          <a:lstStyle/>
          <a:p>
            <a:pPr algn="l">
              <a:lnSpc>
                <a:spcPct val="112000"/>
              </a:lnSpc>
              <a:spcBef>
                <a:spcPts val="0"/>
              </a:spcBef>
              <a:spcAft>
                <a:spcPts val="0"/>
              </a:spcAft>
            </a:pPr>
            <a:r>
              <a:rPr sz="1000" b="0" i="0">
                <a:solidFill>
                  <a:srgbClr val="5E7387"/>
                </a:solidFill>
                <a:latin typeface="Arial"/>
              </a:rPr>
              <a:t>AI không tham gia tính tuyến: không geocode, không sinh tọa độ. Phương án lưu ảnh chụp tọa độ tại thời điểm lập.</a:t>
            </a:r>
          </a:p>
        </p:txBody>
      </p:sp>
      <p:sp>
        <p:nvSpPr>
          <p:cNvPr id="24" name="Rectangle 23"/>
          <p:cNvSpPr/>
          <p:nvPr/>
        </p:nvSpPr>
        <p:spPr>
          <a:xfrm>
            <a:off x="6181344" y="1316736"/>
            <a:ext cx="5440680" cy="86868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181344" y="1316736"/>
            <a:ext cx="50292" cy="86868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19088" y="1490472"/>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AI What-if — hỏi "nếu…thì sao" mà không làm hỏng dữ liệu thật</a:t>
            </a:r>
          </a:p>
        </p:txBody>
      </p:sp>
      <p:sp>
        <p:nvSpPr>
          <p:cNvPr id="27" name="TextBox 26"/>
          <p:cNvSpPr txBox="1"/>
          <p:nvPr/>
        </p:nvSpPr>
        <p:spPr>
          <a:xfrm>
            <a:off x="6419088" y="1874519"/>
            <a:ext cx="4983480" cy="16459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Hệ thống nhân bản ảnh chụp gốc rồi chạy lại toàn bộ chuỗi tính nhu cầu – phân bổ – sẵn sàng – tuyến – dự báo trên một bản sao chỉ đọc.</a:t>
            </a:r>
          </a:p>
        </p:txBody>
      </p:sp>
      <p:sp>
        <p:nvSpPr>
          <p:cNvPr id="28" name="Rectangle 27"/>
          <p:cNvSpPr/>
          <p:nvPr/>
        </p:nvSpPr>
        <p:spPr>
          <a:xfrm>
            <a:off x="6181344" y="2322576"/>
            <a:ext cx="5440680" cy="7772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81344" y="2322576"/>
            <a:ext cx="45720" cy="77724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0" y="2423160"/>
            <a:ext cx="5120640" cy="256032"/>
          </a:xfrm>
          <a:prstGeom prst="rect">
            <a:avLst/>
          </a:prstGeom>
          <a:noFill/>
        </p:spPr>
        <p:txBody>
          <a:bodyPr wrap="square" anchor="t" lIns="0" rIns="0" tIns="0" bIns="0">
            <a:spAutoFit/>
          </a:bodyPr>
          <a:lstStyle/>
          <a:p>
            <a:pPr algn="l">
              <a:lnSpc>
                <a:spcPct val="112000"/>
              </a:lnSpc>
              <a:spcBef>
                <a:spcPts val="0"/>
              </a:spcBef>
              <a:spcAft>
                <a:spcPts val="100"/>
              </a:spcAft>
            </a:pPr>
            <a:r>
              <a:rPr sz="1150" b="1" i="0">
                <a:solidFill>
                  <a:srgbClr val="0B2545"/>
                </a:solidFill>
                <a:latin typeface="Arial"/>
              </a:rPr>
              <a:t>Không ghi gì vào dữ liệu thật</a:t>
            </a:r>
          </a:p>
        </p:txBody>
      </p:sp>
      <p:sp>
        <p:nvSpPr>
          <p:cNvPr id="31" name="TextBox 30"/>
          <p:cNvSpPr txBox="1"/>
          <p:nvPr/>
        </p:nvSpPr>
        <p:spPr>
          <a:xfrm>
            <a:off x="6400800" y="2670048"/>
            <a:ext cx="5120640" cy="384048"/>
          </a:xfrm>
          <a:prstGeom prst="rect">
            <a:avLst/>
          </a:prstGeom>
          <a:noFill/>
        </p:spPr>
        <p:txBody>
          <a:bodyPr wrap="square" anchor="t" lIns="0" rIns="0" tIns="0" bIns="0">
            <a:spAutoFit/>
          </a:bodyPr>
          <a:lstStyle/>
          <a:p>
            <a:pPr algn="l">
              <a:lnSpc>
                <a:spcPct val="112000"/>
              </a:lnSpc>
              <a:spcBef>
                <a:spcPts val="0"/>
              </a:spcBef>
              <a:spcAft>
                <a:spcPts val="0"/>
              </a:spcAft>
            </a:pPr>
            <a:r>
              <a:rPr sz="1000" b="0" i="0">
                <a:solidFill>
                  <a:srgbClr val="5E7387"/>
                </a:solidFill>
                <a:latin typeface="Arial"/>
              </a:rPr>
              <a:t>Không tồn kho, không nhiệm vụ, không điểm bản đồ, không sự cố.</a:t>
            </a:r>
          </a:p>
        </p:txBody>
      </p:sp>
      <p:sp>
        <p:nvSpPr>
          <p:cNvPr id="32" name="Rectangle 31"/>
          <p:cNvSpPr/>
          <p:nvPr/>
        </p:nvSpPr>
        <p:spPr>
          <a:xfrm>
            <a:off x="6181344" y="3163824"/>
            <a:ext cx="5440680" cy="7772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181344" y="3163824"/>
            <a:ext cx="45720" cy="77724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0" y="3264408"/>
            <a:ext cx="5120640" cy="256032"/>
          </a:xfrm>
          <a:prstGeom prst="rect">
            <a:avLst/>
          </a:prstGeom>
          <a:noFill/>
        </p:spPr>
        <p:txBody>
          <a:bodyPr wrap="square" anchor="t" lIns="0" rIns="0" tIns="0" bIns="0">
            <a:spAutoFit/>
          </a:bodyPr>
          <a:lstStyle/>
          <a:p>
            <a:pPr algn="l">
              <a:lnSpc>
                <a:spcPct val="112000"/>
              </a:lnSpc>
              <a:spcBef>
                <a:spcPts val="0"/>
              </a:spcBef>
              <a:spcAft>
                <a:spcPts val="100"/>
              </a:spcAft>
            </a:pPr>
            <a:r>
              <a:rPr sz="1150" b="1" i="0">
                <a:solidFill>
                  <a:srgbClr val="0B2545"/>
                </a:solidFill>
                <a:latin typeface="Arial"/>
              </a:rPr>
              <a:t>Tên cầu, đường, địa điểm qua danh mục có phiên bản</a:t>
            </a:r>
          </a:p>
        </p:txBody>
      </p:sp>
      <p:sp>
        <p:nvSpPr>
          <p:cNvPr id="35" name="TextBox 34"/>
          <p:cNvSpPr txBox="1"/>
          <p:nvPr/>
        </p:nvSpPr>
        <p:spPr>
          <a:xfrm>
            <a:off x="6400800" y="3511296"/>
            <a:ext cx="5120640" cy="384048"/>
          </a:xfrm>
          <a:prstGeom prst="rect">
            <a:avLst/>
          </a:prstGeom>
          <a:noFill/>
        </p:spPr>
        <p:txBody>
          <a:bodyPr wrap="square" anchor="t" lIns="0" rIns="0" tIns="0" bIns="0">
            <a:spAutoFit/>
          </a:bodyPr>
          <a:lstStyle/>
          <a:p>
            <a:pPr algn="l">
              <a:lnSpc>
                <a:spcPct val="112000"/>
              </a:lnSpc>
              <a:spcBef>
                <a:spcPts val="0"/>
              </a:spcBef>
              <a:spcAft>
                <a:spcPts val="0"/>
              </a:spcAft>
            </a:pPr>
            <a:r>
              <a:rPr sz="1000" b="0" i="0">
                <a:solidFill>
                  <a:srgbClr val="5E7387"/>
                </a:solidFill>
                <a:latin typeface="Arial"/>
              </a:rPr>
              <a:t>Tên không tra được thì trả về trạng thái chưa nhận diện được — không đoán.</a:t>
            </a:r>
          </a:p>
        </p:txBody>
      </p:sp>
      <p:sp>
        <p:nvSpPr>
          <p:cNvPr id="36" name="Rectangle 35"/>
          <p:cNvSpPr/>
          <p:nvPr/>
        </p:nvSpPr>
        <p:spPr>
          <a:xfrm>
            <a:off x="6181344" y="4005072"/>
            <a:ext cx="5440680" cy="7772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181344" y="4005072"/>
            <a:ext cx="45720" cy="77724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00800" y="4105656"/>
            <a:ext cx="5120640" cy="256032"/>
          </a:xfrm>
          <a:prstGeom prst="rect">
            <a:avLst/>
          </a:prstGeom>
          <a:noFill/>
        </p:spPr>
        <p:txBody>
          <a:bodyPr wrap="square" anchor="t" lIns="0" rIns="0" tIns="0" bIns="0">
            <a:spAutoFit/>
          </a:bodyPr>
          <a:lstStyle/>
          <a:p>
            <a:pPr algn="l">
              <a:lnSpc>
                <a:spcPct val="112000"/>
              </a:lnSpc>
              <a:spcBef>
                <a:spcPts val="0"/>
              </a:spcBef>
              <a:spcAft>
                <a:spcPts val="100"/>
              </a:spcAft>
            </a:pPr>
            <a:r>
              <a:rPr sz="1150" b="1" i="0">
                <a:solidFill>
                  <a:srgbClr val="0B2545"/>
                </a:solidFill>
                <a:latin typeface="Arial"/>
              </a:rPr>
              <a:t>Mọi kịch bản giả định luôn mang nhãn MÔ PHỎNG</a:t>
            </a:r>
          </a:p>
        </p:txBody>
      </p:sp>
      <p:sp>
        <p:nvSpPr>
          <p:cNvPr id="39" name="TextBox 38"/>
          <p:cNvSpPr txBox="1"/>
          <p:nvPr/>
        </p:nvSpPr>
        <p:spPr>
          <a:xfrm>
            <a:off x="6400800" y="4352544"/>
            <a:ext cx="5120640" cy="384048"/>
          </a:xfrm>
          <a:prstGeom prst="rect">
            <a:avLst/>
          </a:prstGeom>
          <a:noFill/>
        </p:spPr>
        <p:txBody>
          <a:bodyPr wrap="square" anchor="t" lIns="0" rIns="0" tIns="0" bIns="0">
            <a:spAutoFit/>
          </a:bodyPr>
          <a:lstStyle/>
          <a:p>
            <a:pPr algn="l">
              <a:lnSpc>
                <a:spcPct val="112000"/>
              </a:lnSpc>
              <a:spcBef>
                <a:spcPts val="0"/>
              </a:spcBef>
              <a:spcAft>
                <a:spcPts val="0"/>
              </a:spcAft>
            </a:pPr>
            <a:r>
              <a:rPr sz="1000" b="0" i="0">
                <a:solidFill>
                  <a:srgbClr val="5E7387"/>
                </a:solidFill>
                <a:latin typeface="Arial"/>
              </a:rPr>
              <a:t>Chỉ khi người có thẩm quyền xác nhận dữ kiện và duyệt một bản phương án mới thì quy trình thật mới đổi.</a:t>
            </a:r>
          </a:p>
        </p:txBody>
      </p:sp>
      <p:sp>
        <p:nvSpPr>
          <p:cNvPr id="40" name="TextBox 39"/>
          <p:cNvSpPr txBox="1"/>
          <p:nvPr/>
        </p:nvSpPr>
        <p:spPr>
          <a:xfrm>
            <a:off x="6181344" y="4928616"/>
            <a:ext cx="5440680" cy="457200"/>
          </a:xfrm>
          <a:prstGeom prst="rect">
            <a:avLst/>
          </a:prstGeom>
          <a:noFill/>
        </p:spPr>
        <p:txBody>
          <a:bodyPr wrap="square" anchor="t" lIns="0" rIns="0" tIns="0" bIns="0">
            <a:spAutoFit/>
          </a:bodyPr>
          <a:lstStyle/>
          <a:p>
            <a:pPr algn="l">
              <a:lnSpc>
                <a:spcPct val="112000"/>
              </a:lnSpc>
              <a:spcBef>
                <a:spcPts val="0"/>
              </a:spcBef>
              <a:spcAft>
                <a:spcPts val="0"/>
              </a:spcAft>
            </a:pPr>
            <a:r>
              <a:rPr sz="1000" b="0" i="0">
                <a:solidFill>
                  <a:srgbClr val="5E7387"/>
                </a:solidFill>
                <a:latin typeface="Arial"/>
              </a:rPr>
              <a:t>Ví dụ: "Nếu số người tăng lên 200 thì sao?" → mức đáp ứng tụt từ 100% xuống 74%, nước uống thiếu 300 chai, hệ thống đề xuất thêm một kho thôn tham gia.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BƯỚC 5 · ĐIỀU PHỐI</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Quy trình điều phối liên vai trò theo từng loại vật tư</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Nhiều hệ thống dừng lại ở "đã gửi phương án". Ứng phó nhanh theo tới lúc có người ký nhận đã lấy hàng.</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25</a:t>
            </a:r>
          </a:p>
        </p:txBody>
      </p:sp>
      <p:graphicFrame>
        <p:nvGraphicFramePr>
          <p:cNvPr id="8" name="Table 7"/>
          <p:cNvGraphicFramePr>
            <a:graphicFrameLocks noGrp="1"/>
          </p:cNvGraphicFramePr>
          <p:nvPr/>
        </p:nvGraphicFramePr>
        <p:xfrm>
          <a:off x="566928" y="1737360"/>
          <a:ext cx="6309360" cy="2633472"/>
        </p:xfrm>
        <a:graphic>
          <a:graphicData uri="http://schemas.openxmlformats.org/drawingml/2006/table">
            <a:tbl>
              <a:tblPr>
                <a:tableStyleId>{5C22544A-7EE6-4342-B048-85BDC9FD1C3A}</a:tableStyleId>
              </a:tblPr>
              <a:tblGrid>
                <a:gridCol w="1813941"/>
                <a:gridCol w="1104138"/>
                <a:gridCol w="3391281"/>
              </a:tblGrid>
              <a:tr h="329184">
                <a:tc>
                  <a:txBody>
                    <a:bodyPr wrap="square"/>
                    <a:lstStyle/>
                    <a:p>
                      <a:pPr algn="l">
                        <a:lnSpc>
                          <a:spcPct val="105000"/>
                        </a:lnSpc>
                        <a:spcBef>
                          <a:spcPts val="0"/>
                        </a:spcBef>
                        <a:spcAft>
                          <a:spcPts val="0"/>
                        </a:spcAft>
                      </a:pPr>
                      <a:r>
                        <a:rPr sz="1080" b="1" i="0">
                          <a:solidFill>
                            <a:srgbClr val="FFFFFF"/>
                          </a:solidFill>
                          <a:latin typeface="Arial"/>
                        </a:rPr>
                        <a:t>Bước</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Ai làm</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Nội dung</a:t>
                      </a:r>
                    </a:p>
                  </a:txBody>
                  <a:tcPr marL="91440" marR="73152" marT="27432" marB="27432" anchor="ctr">
                    <a:solidFill>
                      <a:srgbClr val="0B2545"/>
                    </a:solidFill>
                  </a:tcPr>
                </a:tc>
              </a:tr>
              <a:tr h="384048">
                <a:tc>
                  <a:txBody>
                    <a:bodyPr wrap="square"/>
                    <a:lstStyle/>
                    <a:p>
                      <a:pPr algn="l">
                        <a:lnSpc>
                          <a:spcPct val="108000"/>
                        </a:lnSpc>
                        <a:spcBef>
                          <a:spcPts val="0"/>
                        </a:spcBef>
                        <a:spcAft>
                          <a:spcPts val="0"/>
                        </a:spcAft>
                      </a:pPr>
                      <a:r>
                        <a:rPr sz="1080" b="1" i="0">
                          <a:solidFill>
                            <a:srgbClr val="0B2545"/>
                          </a:solidFill>
                          <a:latin typeface="Arial"/>
                        </a:rPr>
                        <a:t>Tiếp nhận yêu cầu</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Kho</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Xác nhận đã đọc và nhận việc</a:t>
                      </a:r>
                    </a:p>
                  </a:txBody>
                  <a:tcPr marL="91440" marR="73152" marT="27432" marB="27432" anchor="ctr">
                    <a:solidFill>
                      <a:srgbClr val="FFFFFF"/>
                    </a:solidFill>
                  </a:tcPr>
                </a:tc>
              </a:tr>
              <a:tr h="384048">
                <a:tc>
                  <a:txBody>
                    <a:bodyPr wrap="square"/>
                    <a:lstStyle/>
                    <a:p>
                      <a:pPr algn="l">
                        <a:lnSpc>
                          <a:spcPct val="108000"/>
                        </a:lnSpc>
                        <a:spcBef>
                          <a:spcPts val="0"/>
                        </a:spcBef>
                        <a:spcAft>
                          <a:spcPts val="0"/>
                        </a:spcAft>
                      </a:pPr>
                      <a:r>
                        <a:rPr sz="1080" b="1" i="0">
                          <a:solidFill>
                            <a:srgbClr val="0B2545"/>
                          </a:solidFill>
                          <a:latin typeface="Arial"/>
                        </a:rPr>
                        <a:t>Báo thiếu / sai</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Kho</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Kho không đủ hoặc số liệu sai thì báo ngược lên</a:t>
                      </a:r>
                    </a:p>
                  </a:txBody>
                  <a:tcPr marL="91440" marR="73152" marT="27432" marB="27432" anchor="ctr">
                    <a:solidFill>
                      <a:srgbClr val="F2F5F9"/>
                    </a:solidFill>
                  </a:tcPr>
                </a:tc>
              </a:tr>
              <a:tr h="384048">
                <a:tc>
                  <a:txBody>
                    <a:bodyPr wrap="square"/>
                    <a:lstStyle/>
                    <a:p>
                      <a:pPr algn="l">
                        <a:lnSpc>
                          <a:spcPct val="108000"/>
                        </a:lnSpc>
                        <a:spcBef>
                          <a:spcPts val="0"/>
                        </a:spcBef>
                        <a:spcAft>
                          <a:spcPts val="0"/>
                        </a:spcAft>
                      </a:pPr>
                      <a:r>
                        <a:rPr sz="1080" b="1" i="0">
                          <a:solidFill>
                            <a:srgbClr val="0B2545"/>
                          </a:solidFill>
                          <a:latin typeface="Arial"/>
                        </a:rPr>
                        <a:t>Xác nhận xuất vật tư</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Kho</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Tồn kho trừ thật ngay lúc này, kèm phiếu xuất và nhật ký</a:t>
                      </a:r>
                    </a:p>
                  </a:txBody>
                  <a:tcPr marL="91440" marR="73152" marT="27432" marB="27432" anchor="ctr">
                    <a:solidFill>
                      <a:srgbClr val="FFFFFF"/>
                    </a:solidFill>
                  </a:tcPr>
                </a:tc>
              </a:tr>
              <a:tr h="384048">
                <a:tc>
                  <a:txBody>
                    <a:bodyPr wrap="square"/>
                    <a:lstStyle/>
                    <a:p>
                      <a:pPr algn="l">
                        <a:lnSpc>
                          <a:spcPct val="108000"/>
                        </a:lnSpc>
                        <a:spcBef>
                          <a:spcPts val="0"/>
                        </a:spcBef>
                        <a:spcAft>
                          <a:spcPts val="0"/>
                        </a:spcAft>
                      </a:pPr>
                      <a:r>
                        <a:rPr sz="1080" b="1" i="0">
                          <a:solidFill>
                            <a:srgbClr val="0B2545"/>
                          </a:solidFill>
                          <a:latin typeface="Arial"/>
                        </a:rPr>
                        <a:t>Ký nhận đã lấy hàng</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Hiện trường</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Ký nhận số lượng thực nhận</a:t>
                      </a:r>
                    </a:p>
                  </a:txBody>
                  <a:tcPr marL="91440" marR="73152" marT="27432" marB="27432" anchor="ctr">
                    <a:solidFill>
                      <a:srgbClr val="F2F5F9"/>
                    </a:solidFill>
                  </a:tcPr>
                </a:tc>
              </a:tr>
              <a:tr h="384048">
                <a:tc>
                  <a:txBody>
                    <a:bodyPr wrap="square"/>
                    <a:lstStyle/>
                    <a:p>
                      <a:pPr algn="l">
                        <a:lnSpc>
                          <a:spcPct val="108000"/>
                        </a:lnSpc>
                        <a:spcBef>
                          <a:spcPts val="0"/>
                        </a:spcBef>
                        <a:spcAft>
                          <a:spcPts val="0"/>
                        </a:spcAft>
                      </a:pPr>
                      <a:r>
                        <a:rPr sz="1080" b="1" i="0">
                          <a:solidFill>
                            <a:srgbClr val="0B2545"/>
                          </a:solidFill>
                          <a:latin typeface="Arial"/>
                        </a:rPr>
                        <a:t>Xác nhận đã giao</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Hiện trường</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80" b="0" i="0">
                          <a:solidFill>
                            <a:srgbClr val="16283C"/>
                          </a:solidFill>
                          <a:latin typeface="Arial"/>
                        </a:rPr>
                        <a:t>Đủ / một phần / không giao được, kèm lý do</a:t>
                      </a:r>
                    </a:p>
                  </a:txBody>
                  <a:tcPr marL="91440" marR="73152" marT="27432" marB="27432" anchor="ctr">
                    <a:solidFill>
                      <a:srgbClr val="FFFFFF"/>
                    </a:solidFill>
                  </a:tcPr>
                </a:tc>
              </a:tr>
              <a:tr h="384048">
                <a:tc>
                  <a:txBody>
                    <a:bodyPr wrap="square"/>
                    <a:lstStyle/>
                    <a:p>
                      <a:pPr algn="l">
                        <a:lnSpc>
                          <a:spcPct val="108000"/>
                        </a:lnSpc>
                        <a:spcBef>
                          <a:spcPts val="0"/>
                        </a:spcBef>
                        <a:spcAft>
                          <a:spcPts val="0"/>
                        </a:spcAft>
                      </a:pPr>
                      <a:r>
                        <a:rPr sz="1080" b="1" i="0">
                          <a:solidFill>
                            <a:srgbClr val="0B2545"/>
                          </a:solidFill>
                          <a:latin typeface="Arial"/>
                        </a:rPr>
                        <a:t>Xem xét lại</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Quản trị</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80" b="0" i="0">
                          <a:solidFill>
                            <a:srgbClr val="16283C"/>
                          </a:solidFill>
                          <a:latin typeface="Arial"/>
                        </a:rPr>
                        <a:t>Duyệt phần chênh lệch mà kho báo lên</a:t>
                      </a:r>
                    </a:p>
                  </a:txBody>
                  <a:tcPr marL="91440" marR="73152" marT="27432" marB="27432" anchor="ctr">
                    <a:solidFill>
                      <a:srgbClr val="F2F5F9"/>
                    </a:solidFill>
                  </a:tcPr>
                </a:tc>
              </a:tr>
            </a:tbl>
          </a:graphicData>
        </a:graphic>
      </p:graphicFrame>
      <p:sp>
        <p:nvSpPr>
          <p:cNvPr id="9" name="Rectangle 8"/>
          <p:cNvSpPr/>
          <p:nvPr/>
        </p:nvSpPr>
        <p:spPr>
          <a:xfrm>
            <a:off x="7059168" y="1737360"/>
            <a:ext cx="4562856" cy="27432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059168" y="1737360"/>
            <a:ext cx="50292" cy="274320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296912" y="1911095"/>
            <a:ext cx="4105656"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Ba cơ chế bảo vệ — mỗi cơ chế sửa một lỗi có thật</a:t>
            </a:r>
          </a:p>
        </p:txBody>
      </p:sp>
      <p:sp>
        <p:nvSpPr>
          <p:cNvPr id="12" name="TextBox 11"/>
          <p:cNvSpPr txBox="1"/>
          <p:nvPr/>
        </p:nvSpPr>
        <p:spPr>
          <a:xfrm>
            <a:off x="7296912" y="2295144"/>
            <a:ext cx="4105656" cy="203911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Chống xuất hai lần: mỗi lần xuất dùng một thẻ xác nhận quyền và một giao dịch có sổ cái. Không thể đưa một dòng đã xuất về trạng thái chưa xuất.</a:t>
            </a:r>
          </a:p>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Chống kẹt khi hai kho làm cùng lúc: việc chốt được xếp hàng bằng khóa trên chính nhiệm vụ đó — nhiệm vụ chuyển sang sẵn sàng đúng một lần.</a:t>
            </a:r>
          </a:p>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Bắt buộc nêu lý do khi ký nhận thiếu: thiếu vì kho hết hàng hay vì xe không chở hết là hai việc khác hẳn nhau.</a:t>
            </a:r>
          </a:p>
        </p:txBody>
      </p:sp>
      <p:sp>
        <p:nvSpPr>
          <p:cNvPr id="13" name="Rectangle 12"/>
          <p:cNvSpPr/>
          <p:nvPr/>
        </p:nvSpPr>
        <p:spPr>
          <a:xfrm>
            <a:off x="566928" y="4709160"/>
            <a:ext cx="11055096"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4873752"/>
            <a:ext cx="10424160" cy="731520"/>
          </a:xfrm>
          <a:prstGeom prst="rect">
            <a:avLst/>
          </a:prstGeom>
          <a:noFill/>
        </p:spPr>
        <p:txBody>
          <a:bodyPr wrap="square" anchor="ctr" lIns="0" rIns="0" tIns="0" bIns="0">
            <a:spAutoFit/>
          </a:bodyPr>
          <a:lstStyle/>
          <a:p>
            <a:pPr algn="l">
              <a:lnSpc>
                <a:spcPct val="118000"/>
              </a:lnSpc>
              <a:spcBef>
                <a:spcPts val="0"/>
              </a:spcBef>
              <a:spcAft>
                <a:spcPts val="0"/>
              </a:spcAft>
            </a:pPr>
            <a:r>
              <a:rPr sz="1250" b="1" i="0">
                <a:solidFill>
                  <a:srgbClr val="FFFFFF"/>
                </a:solidFill>
                <a:latin typeface="Arial"/>
              </a:rPr>
              <a:t>Màn hình nhiệm vụ hiển thị thẻ màu theo từng kho: xanh là kho đã xong, cam là còn nợ.</a:t>
            </a:r>
            <a:r>
              <a:rPr sz="1250" b="0" i="0">
                <a:solidFill>
                  <a:srgbClr val="FFFFFF"/>
                </a:solidFill>
                <a:latin typeface="Arial"/>
              </a:rPr>
              <a:t>  Trước đây chỉ có một con số gộp kiểu "1/5" — nó không nói được phải gọi cho ai. Nhiệm vụ chỉ chuyển sang sẵn sàng khi kho cuối cùng đã xuất xong dòng cuối cùng.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BƯỚC 6 &amp; 7</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Hiện trường và mượn – trả liên xã</a:t>
            </a:r>
          </a:p>
        </p:txBody>
      </p:sp>
      <p:sp>
        <p:nvSpPr>
          <p:cNvPr id="5" name="TextBox 4"/>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6" name="TextBox 5"/>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26</a:t>
            </a:r>
          </a:p>
        </p:txBody>
      </p:sp>
      <p:sp>
        <p:nvSpPr>
          <p:cNvPr id="7" name="Rectangle 6"/>
          <p:cNvSpPr/>
          <p:nvPr/>
        </p:nvSpPr>
        <p:spPr>
          <a:xfrm>
            <a:off x="566928" y="1316736"/>
            <a:ext cx="5440680" cy="19659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316736"/>
            <a:ext cx="50292" cy="196596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4672" y="1490472"/>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Trợ lý hiện trường — cập nhật bằng lời nói, có xác nhận</a:t>
            </a:r>
          </a:p>
        </p:txBody>
      </p:sp>
      <p:sp>
        <p:nvSpPr>
          <p:cNvPr id="10" name="TextBox 9"/>
          <p:cNvSpPr txBox="1"/>
          <p:nvPr/>
        </p:nvSpPr>
        <p:spPr>
          <a:xfrm>
            <a:off x="804672" y="1874519"/>
            <a:ext cx="4983480" cy="126187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Một câu nói: "cầu Long Châu không đi được", "số người tăng lên khoảng 200", "đã giao xong cho tổ 3".</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Mô hình nhận diện ý định trong một tập đóng; người dùng xem, sửa và xác nhận trước khi gửi.</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Nội dung đã xác nhận được ghi nhận trước, phần AI làm giàu chạy sau — mô hình lỗi thì bằng chứng vẫn còn nguyên.</a:t>
            </a:r>
          </a:p>
        </p:txBody>
      </p:sp>
      <p:sp>
        <p:nvSpPr>
          <p:cNvPr id="11" name="Rectangle 10"/>
          <p:cNvSpPr/>
          <p:nvPr/>
        </p:nvSpPr>
        <p:spPr>
          <a:xfrm>
            <a:off x="6181344" y="1316736"/>
            <a:ext cx="5440680" cy="19659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1344" y="1316736"/>
            <a:ext cx="50292" cy="1965960"/>
          </a:xfrm>
          <a:prstGeom prst="rect">
            <a:avLst/>
          </a:prstGeom>
          <a:solidFill>
            <a:srgbClr val="5E73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19088" y="1490472"/>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Giới hạn có chủ đích</a:t>
            </a:r>
          </a:p>
        </p:txBody>
      </p:sp>
      <p:sp>
        <p:nvSpPr>
          <p:cNvPr id="14" name="TextBox 13"/>
          <p:cNvSpPr txBox="1"/>
          <p:nvPr/>
        </p:nvSpPr>
        <p:spPr>
          <a:xfrm>
            <a:off x="6419088" y="1874519"/>
            <a:ext cx="4983480" cy="126187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Không nhận và không phân tích ảnh hoặc video hiện trường.</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Không theo dõi GPS liên tục, không dẫn đường từng chặng.</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Không phân công đội hay cá nhân cụ thể.</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Đây là những thứ nhóm chọn không làm để bảo vệ quyền riêng tư của lực lượng.</a:t>
            </a:r>
          </a:p>
        </p:txBody>
      </p:sp>
      <p:sp>
        <p:nvSpPr>
          <p:cNvPr id="15" name="TextBox 14"/>
          <p:cNvSpPr txBox="1"/>
          <p:nvPr/>
        </p:nvSpPr>
        <p:spPr>
          <a:xfrm>
            <a:off x="566928" y="3465576"/>
            <a:ext cx="11055096" cy="274320"/>
          </a:xfrm>
          <a:prstGeom prst="rect">
            <a:avLst/>
          </a:prstGeom>
          <a:noFill/>
        </p:spPr>
        <p:txBody>
          <a:bodyPr wrap="square" anchor="t" lIns="0" rIns="0" tIns="0" bIns="0">
            <a:spAutoFit/>
          </a:bodyPr>
          <a:lstStyle/>
          <a:p>
            <a:pPr algn="l">
              <a:lnSpc>
                <a:spcPct val="112000"/>
              </a:lnSpc>
              <a:spcBef>
                <a:spcPts val="0"/>
              </a:spcBef>
              <a:spcAft>
                <a:spcPts val="0"/>
              </a:spcAft>
            </a:pPr>
            <a:r>
              <a:rPr sz="1050" b="1" i="0">
                <a:solidFill>
                  <a:srgbClr val="C43D3D"/>
                </a:solidFill>
                <a:latin typeface="Arial"/>
              </a:rPr>
              <a:t>MƯỢN – TRẢ LIÊN XÃ QUA THÔNG BÁO CÓ KHÓA CHUNG — SÁU BƯỚC</a:t>
            </a:r>
          </a:p>
        </p:txBody>
      </p:sp>
      <p:graphicFrame>
        <p:nvGraphicFramePr>
          <p:cNvPr id="16" name="Table 15"/>
          <p:cNvGraphicFramePr>
            <a:graphicFrameLocks noGrp="1"/>
          </p:cNvGraphicFramePr>
          <p:nvPr/>
        </p:nvGraphicFramePr>
        <p:xfrm>
          <a:off x="566928" y="3739896"/>
          <a:ext cx="6949439" cy="2286000"/>
        </p:xfrm>
        <a:graphic>
          <a:graphicData uri="http://schemas.openxmlformats.org/drawingml/2006/table">
            <a:tbl>
              <a:tblPr>
                <a:tableStyleId>{5C22544A-7EE6-4342-B048-85BDC9FD1C3A}</a:tableStyleId>
              </a:tblPr>
              <a:tblGrid>
                <a:gridCol w="2866644"/>
                <a:gridCol w="694944"/>
                <a:gridCol w="3387851"/>
              </a:tblGrid>
              <a:tr h="310896">
                <a:tc>
                  <a:txBody>
                    <a:bodyPr wrap="square"/>
                    <a:lstStyle/>
                    <a:p>
                      <a:pPr algn="l">
                        <a:lnSpc>
                          <a:spcPct val="105000"/>
                        </a:lnSpc>
                        <a:spcBef>
                          <a:spcPts val="0"/>
                        </a:spcBef>
                        <a:spcAft>
                          <a:spcPts val="0"/>
                        </a:spcAft>
                      </a:pPr>
                      <a:r>
                        <a:rPr sz="1080" b="1" i="0">
                          <a:solidFill>
                            <a:srgbClr val="FFFFFF"/>
                          </a:solidFill>
                          <a:latin typeface="Arial"/>
                        </a:rPr>
                        <a:t>Bước</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Ở đâu</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Kho thay đổi</a:t>
                      </a:r>
                    </a:p>
                  </a:txBody>
                  <a:tcPr marL="91440" marR="73152" marT="27432" marB="27432" anchor="ctr">
                    <a:solidFill>
                      <a:srgbClr val="0B2545"/>
                    </a:solidFill>
                  </a:tcPr>
                </a:tc>
              </a:tr>
              <a:tr h="329184">
                <a:tc>
                  <a:txBody>
                    <a:bodyPr wrap="square"/>
                    <a:lstStyle/>
                    <a:p>
                      <a:pPr algn="l">
                        <a:lnSpc>
                          <a:spcPct val="108000"/>
                        </a:lnSpc>
                        <a:spcBef>
                          <a:spcPts val="0"/>
                        </a:spcBef>
                        <a:spcAft>
                          <a:spcPts val="0"/>
                        </a:spcAft>
                      </a:pPr>
                      <a:r>
                        <a:rPr sz="1030" b="0" i="0">
                          <a:solidFill>
                            <a:srgbClr val="16283C"/>
                          </a:solidFill>
                          <a:latin typeface="Arial"/>
                        </a:rPr>
                        <a:t>1. Xã A gửi yêu cầu mượn</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30" b="0" i="0">
                          <a:solidFill>
                            <a:srgbClr val="16283C"/>
                          </a:solidFill>
                          <a:latin typeface="Arial"/>
                        </a:rPr>
                        <a:t>A</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30" b="0" i="0">
                          <a:solidFill>
                            <a:srgbClr val="16283C"/>
                          </a:solidFill>
                          <a:latin typeface="Arial"/>
                        </a:rPr>
                        <a:t>Không — chưa ai đồng ý thì chưa có hàng nào rời chỗ</a:t>
                      </a:r>
                    </a:p>
                  </a:txBody>
                  <a:tcPr marL="91440" marR="73152" marT="27432" marB="27432" anchor="ctr">
                    <a:solidFill>
                      <a:srgbClr val="FFFFFF"/>
                    </a:solidFill>
                  </a:tcPr>
                </a:tc>
              </a:tr>
              <a:tr h="329184">
                <a:tc>
                  <a:txBody>
                    <a:bodyPr wrap="square"/>
                    <a:lstStyle/>
                    <a:p>
                      <a:pPr algn="l">
                        <a:lnSpc>
                          <a:spcPct val="108000"/>
                        </a:lnSpc>
                        <a:spcBef>
                          <a:spcPts val="0"/>
                        </a:spcBef>
                        <a:spcAft>
                          <a:spcPts val="0"/>
                        </a:spcAft>
                      </a:pPr>
                      <a:r>
                        <a:rPr sz="1030" b="0" i="0">
                          <a:solidFill>
                            <a:srgbClr val="16283C"/>
                          </a:solidFill>
                          <a:latin typeface="Arial"/>
                        </a:rPr>
                        <a:t>2. Xã B nhận thông báo, quyết ngay</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30" b="0" i="0">
                          <a:solidFill>
                            <a:srgbClr val="16283C"/>
                          </a:solidFill>
                          <a:latin typeface="Arial"/>
                        </a:rPr>
                        <a:t>B</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30" b="0" i="0">
                          <a:solidFill>
                            <a:srgbClr val="16283C"/>
                          </a:solidFill>
                          <a:latin typeface="Arial"/>
                        </a:rPr>
                        <a:t>Không</a:t>
                      </a:r>
                    </a:p>
                  </a:txBody>
                  <a:tcPr marL="91440" marR="73152" marT="27432" marB="27432" anchor="ctr">
                    <a:solidFill>
                      <a:srgbClr val="F2F5F9"/>
                    </a:solidFill>
                  </a:tcPr>
                </a:tc>
              </a:tr>
              <a:tr h="329184">
                <a:tc>
                  <a:txBody>
                    <a:bodyPr wrap="square"/>
                    <a:lstStyle/>
                    <a:p>
                      <a:pPr algn="l">
                        <a:lnSpc>
                          <a:spcPct val="108000"/>
                        </a:lnSpc>
                        <a:spcBef>
                          <a:spcPts val="0"/>
                        </a:spcBef>
                        <a:spcAft>
                          <a:spcPts val="0"/>
                        </a:spcAft>
                      </a:pPr>
                      <a:r>
                        <a:rPr sz="1030" b="0" i="0">
                          <a:solidFill>
                            <a:srgbClr val="16283C"/>
                          </a:solidFill>
                          <a:latin typeface="Arial"/>
                        </a:rPr>
                        <a:t>3. Xã B đồng ý và chọn lô để xuất</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30" b="0" i="0">
                          <a:solidFill>
                            <a:srgbClr val="16283C"/>
                          </a:solidFill>
                          <a:latin typeface="Arial"/>
                        </a:rPr>
                        <a:t>B</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30" b="0" i="0">
                          <a:solidFill>
                            <a:srgbClr val="16283C"/>
                          </a:solidFill>
                          <a:latin typeface="Arial"/>
                        </a:rPr>
                        <a:t>Kho B giảm, hiện nhãn đang cho mượn</a:t>
                      </a:r>
                    </a:p>
                  </a:txBody>
                  <a:tcPr marL="91440" marR="73152" marT="27432" marB="27432" anchor="ctr">
                    <a:solidFill>
                      <a:srgbClr val="FFFFFF"/>
                    </a:solidFill>
                  </a:tcPr>
                </a:tc>
              </a:tr>
              <a:tr h="329184">
                <a:tc>
                  <a:txBody>
                    <a:bodyPr wrap="square"/>
                    <a:lstStyle/>
                    <a:p>
                      <a:pPr algn="l">
                        <a:lnSpc>
                          <a:spcPct val="108000"/>
                        </a:lnSpc>
                        <a:spcBef>
                          <a:spcPts val="0"/>
                        </a:spcBef>
                        <a:spcAft>
                          <a:spcPts val="0"/>
                        </a:spcAft>
                      </a:pPr>
                      <a:r>
                        <a:rPr sz="1030" b="0" i="0">
                          <a:solidFill>
                            <a:srgbClr val="16283C"/>
                          </a:solidFill>
                          <a:latin typeface="Arial"/>
                        </a:rPr>
                        <a:t>4. Xã A xác nhận đã nhận hàng</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30" b="0" i="0">
                          <a:solidFill>
                            <a:srgbClr val="16283C"/>
                          </a:solidFill>
                          <a:latin typeface="Arial"/>
                        </a:rPr>
                        <a:t>A</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30" b="0" i="0">
                          <a:solidFill>
                            <a:srgbClr val="16283C"/>
                          </a:solidFill>
                          <a:latin typeface="Arial"/>
                        </a:rPr>
                        <a:t>Kho A tăng, nhãn đang mượn — phải trả</a:t>
                      </a:r>
                    </a:p>
                  </a:txBody>
                  <a:tcPr marL="91440" marR="73152" marT="27432" marB="27432" anchor="ctr">
                    <a:solidFill>
                      <a:srgbClr val="F2F5F9"/>
                    </a:solidFill>
                  </a:tcPr>
                </a:tc>
              </a:tr>
              <a:tr h="329184">
                <a:tc>
                  <a:txBody>
                    <a:bodyPr wrap="square"/>
                    <a:lstStyle/>
                    <a:p>
                      <a:pPr algn="l">
                        <a:lnSpc>
                          <a:spcPct val="108000"/>
                        </a:lnSpc>
                        <a:spcBef>
                          <a:spcPts val="0"/>
                        </a:spcBef>
                        <a:spcAft>
                          <a:spcPts val="0"/>
                        </a:spcAft>
                      </a:pPr>
                      <a:r>
                        <a:rPr sz="1030" b="0" i="0">
                          <a:solidFill>
                            <a:srgbClr val="16283C"/>
                          </a:solidFill>
                          <a:latin typeface="Arial"/>
                        </a:rPr>
                        <a:t>5. Xã A ghi nhận đã trả (trả từng phần được)</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30" b="0" i="0">
                          <a:solidFill>
                            <a:srgbClr val="16283C"/>
                          </a:solidFill>
                          <a:latin typeface="Arial"/>
                        </a:rPr>
                        <a:t>A</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30" b="0" i="0">
                          <a:solidFill>
                            <a:srgbClr val="16283C"/>
                          </a:solidFill>
                          <a:latin typeface="Arial"/>
                        </a:rPr>
                        <a:t>Kho A giảm đúng số đã trả</a:t>
                      </a:r>
                    </a:p>
                  </a:txBody>
                  <a:tcPr marL="91440" marR="73152" marT="27432" marB="27432" anchor="ctr">
                    <a:solidFill>
                      <a:srgbClr val="FFFFFF"/>
                    </a:solidFill>
                  </a:tcPr>
                </a:tc>
              </a:tr>
              <a:tr h="329184">
                <a:tc>
                  <a:txBody>
                    <a:bodyPr wrap="square"/>
                    <a:lstStyle/>
                    <a:p>
                      <a:pPr algn="l">
                        <a:lnSpc>
                          <a:spcPct val="108000"/>
                        </a:lnSpc>
                        <a:spcBef>
                          <a:spcPts val="0"/>
                        </a:spcBef>
                        <a:spcAft>
                          <a:spcPts val="0"/>
                        </a:spcAft>
                      </a:pPr>
                      <a:r>
                        <a:rPr sz="1030" b="0" i="0">
                          <a:solidFill>
                            <a:srgbClr val="16283C"/>
                          </a:solidFill>
                          <a:latin typeface="Arial"/>
                        </a:rPr>
                        <a:t>6. Xã B ghi nhận nhận lại</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30" b="0" i="0">
                          <a:solidFill>
                            <a:srgbClr val="16283C"/>
                          </a:solidFill>
                          <a:latin typeface="Arial"/>
                        </a:rPr>
                        <a:t>B</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30" b="0" i="0">
                          <a:solidFill>
                            <a:srgbClr val="16283C"/>
                          </a:solidFill>
                          <a:latin typeface="Arial"/>
                        </a:rPr>
                        <a:t>Kho B tăng trở lại</a:t>
                      </a:r>
                    </a:p>
                  </a:txBody>
                  <a:tcPr marL="91440" marR="73152" marT="27432" marB="27432" anchor="ctr">
                    <a:solidFill>
                      <a:srgbClr val="F2F5F9"/>
                    </a:solidFill>
                  </a:tcPr>
                </a:tc>
              </a:tr>
            </a:tbl>
          </a:graphicData>
        </a:graphic>
      </p:graphicFrame>
      <p:sp>
        <p:nvSpPr>
          <p:cNvPr id="17" name="Rectangle 16"/>
          <p:cNvSpPr/>
          <p:nvPr/>
        </p:nvSpPr>
        <p:spPr>
          <a:xfrm>
            <a:off x="7699248" y="3739896"/>
            <a:ext cx="3922776" cy="22860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7699248" y="3739896"/>
            <a:ext cx="50292" cy="228600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936992" y="3913632"/>
            <a:ext cx="3465576"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Mất mạng → ghi tay khoản đã thỏa thuận qua điện thoại</a:t>
            </a:r>
          </a:p>
        </p:txBody>
      </p:sp>
      <p:sp>
        <p:nvSpPr>
          <p:cNvPr id="20" name="TextBox 19"/>
          <p:cNvSpPr txBox="1"/>
          <p:nvPr/>
        </p:nvSpPr>
        <p:spPr>
          <a:xfrm>
            <a:off x="7936992" y="4297680"/>
            <a:ext cx="3465576" cy="1581911"/>
          </a:xfrm>
          <a:prstGeom prst="rect">
            <a:avLst/>
          </a:prstGeom>
          <a:noFill/>
        </p:spPr>
        <p:txBody>
          <a:bodyPr wrap="square" anchor="t" lIns="0" rIns="0" tIns="0" bIns="0">
            <a:spAutoFit/>
          </a:bodyPr>
          <a:lstStyle/>
          <a:p>
            <a:pPr algn="l">
              <a:lnSpc>
                <a:spcPct val="116000"/>
              </a:lnSpc>
              <a:spcBef>
                <a:spcPts val="0"/>
              </a:spcBef>
              <a:spcAft>
                <a:spcPts val="0"/>
              </a:spcAft>
            </a:pPr>
            <a:r>
              <a:rPr sz="1080" b="0" i="0">
                <a:solidFill>
                  <a:srgbClr val="5E7387"/>
                </a:solidFill>
                <a:latin typeface="Arial"/>
              </a:rPr>
              <a:t>Lúc bão, đường truyền là thứ đứt đầu tiên — và đó không phải lỗi. Hai xã gọi điện thỏa thuận, rồi mỗi bên bấm ghi tay: chọn chiều, tên xã, mã lô, số lượng, ghi chú ai gọi lúc mấy giờ. Khoản ghi tay vẫn cộng trừ kho thật, mang nhãn riêng để sau này đối chiếu.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XUYÊN SUỐT HỆ THỐNG</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Trợ lý hỏi – đáp có kiểm chứng số liệu</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Bảo đảm cứng: trợ lý không được đưa ra con số không có trong dữ liệu.</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27</a:t>
            </a:r>
          </a:p>
        </p:txBody>
      </p:sp>
      <p:sp>
        <p:nvSpPr>
          <p:cNvPr id="8" name="Rectangle 7"/>
          <p:cNvSpPr/>
          <p:nvPr/>
        </p:nvSpPr>
        <p:spPr>
          <a:xfrm>
            <a:off x="566928" y="1737360"/>
            <a:ext cx="3563112" cy="22860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228600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920240"/>
            <a:ext cx="3105912" cy="292608"/>
          </a:xfrm>
          <a:prstGeom prst="rect">
            <a:avLst/>
          </a:prstGeom>
          <a:noFill/>
        </p:spPr>
        <p:txBody>
          <a:bodyPr wrap="square" anchor="t" lIns="0" rIns="0" tIns="0" bIns="0">
            <a:spAutoFit/>
          </a:bodyPr>
          <a:lstStyle/>
          <a:p>
            <a:pPr algn="l">
              <a:lnSpc>
                <a:spcPct val="112000"/>
              </a:lnSpc>
              <a:spcBef>
                <a:spcPts val="0"/>
              </a:spcBef>
              <a:spcAft>
                <a:spcPts val="200"/>
              </a:spcAft>
            </a:pPr>
            <a:r>
              <a:rPr sz="1300" b="1" i="0">
                <a:solidFill>
                  <a:srgbClr val="0B2545"/>
                </a:solidFill>
                <a:latin typeface="Arial"/>
              </a:rPr>
              <a:t>Đường 1 — Tra cứu trực tiếp</a:t>
            </a:r>
          </a:p>
        </p:txBody>
      </p:sp>
      <p:sp>
        <p:nvSpPr>
          <p:cNvPr id="11" name="TextBox 10"/>
          <p:cNvSpPr txBox="1"/>
          <p:nvPr/>
        </p:nvSpPr>
        <p:spPr>
          <a:xfrm>
            <a:off x="804672" y="2240280"/>
            <a:ext cx="3105912" cy="237744"/>
          </a:xfrm>
          <a:prstGeom prst="rect">
            <a:avLst/>
          </a:prstGeom>
          <a:noFill/>
        </p:spPr>
        <p:txBody>
          <a:bodyPr wrap="square" anchor="t" lIns="0" rIns="0" tIns="0" bIns="0">
            <a:spAutoFit/>
          </a:bodyPr>
          <a:lstStyle/>
          <a:p>
            <a:pPr algn="l">
              <a:lnSpc>
                <a:spcPct val="112000"/>
              </a:lnSpc>
              <a:spcBef>
                <a:spcPts val="0"/>
              </a:spcBef>
              <a:spcAft>
                <a:spcPts val="0"/>
              </a:spcAft>
            </a:pPr>
            <a:r>
              <a:rPr sz="900" b="1" i="0">
                <a:solidFill>
                  <a:srgbClr val="147D71"/>
                </a:solidFill>
                <a:latin typeface="Arial"/>
              </a:rPr>
              <a:t>~2 GIÂY, KHÔNG GỌI MÔ HÌNH</a:t>
            </a:r>
          </a:p>
        </p:txBody>
      </p:sp>
      <p:sp>
        <p:nvSpPr>
          <p:cNvPr id="12" name="TextBox 11"/>
          <p:cNvSpPr txBox="1"/>
          <p:nvPr/>
        </p:nvSpPr>
        <p:spPr>
          <a:xfrm>
            <a:off x="804672" y="2542032"/>
            <a:ext cx="3105912" cy="1325880"/>
          </a:xfrm>
          <a:prstGeom prst="rect">
            <a:avLst/>
          </a:prstGeom>
          <a:noFill/>
        </p:spPr>
        <p:txBody>
          <a:bodyPr wrap="square" anchor="t" lIns="0" rIns="0" tIns="0" bIns="0">
            <a:spAutoFit/>
          </a:bodyPr>
          <a:lstStyle/>
          <a:p>
            <a:pPr algn="l">
              <a:lnSpc>
                <a:spcPct val="116000"/>
              </a:lnSpc>
              <a:spcBef>
                <a:spcPts val="0"/>
              </a:spcBef>
              <a:spcAft>
                <a:spcPts val="0"/>
              </a:spcAft>
            </a:pPr>
            <a:r>
              <a:rPr sz="1100" b="0" i="0">
                <a:solidFill>
                  <a:srgbClr val="5E7387"/>
                </a:solidFill>
                <a:latin typeface="Arial"/>
              </a:rPr>
              <a:t>Các câu như "Còn bao nhiêu áo phao người lớn?", "Vật tư nào sắp hết hạn?" được trả lời thẳng từ cơ sở dữ liệu. Nhanh, chính xác tuyệt đối, không tốn tài nguyên mô hình.</a:t>
            </a:r>
          </a:p>
        </p:txBody>
      </p:sp>
      <p:sp>
        <p:nvSpPr>
          <p:cNvPr id="13" name="Rectangle 12"/>
          <p:cNvSpPr/>
          <p:nvPr/>
        </p:nvSpPr>
        <p:spPr>
          <a:xfrm>
            <a:off x="4312920" y="1737360"/>
            <a:ext cx="3563112" cy="22860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12920" y="1737360"/>
            <a:ext cx="50292" cy="228600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550664" y="1920240"/>
            <a:ext cx="3105912" cy="292608"/>
          </a:xfrm>
          <a:prstGeom prst="rect">
            <a:avLst/>
          </a:prstGeom>
          <a:noFill/>
        </p:spPr>
        <p:txBody>
          <a:bodyPr wrap="square" anchor="t" lIns="0" rIns="0" tIns="0" bIns="0">
            <a:spAutoFit/>
          </a:bodyPr>
          <a:lstStyle/>
          <a:p>
            <a:pPr algn="l">
              <a:lnSpc>
                <a:spcPct val="112000"/>
              </a:lnSpc>
              <a:spcBef>
                <a:spcPts val="0"/>
              </a:spcBef>
              <a:spcAft>
                <a:spcPts val="200"/>
              </a:spcAft>
            </a:pPr>
            <a:r>
              <a:rPr sz="1300" b="1" i="0">
                <a:solidFill>
                  <a:srgbClr val="0B2545"/>
                </a:solidFill>
                <a:latin typeface="Arial"/>
              </a:rPr>
              <a:t>Đường 2 — RAG có trích nguồn</a:t>
            </a:r>
          </a:p>
        </p:txBody>
      </p:sp>
      <p:sp>
        <p:nvSpPr>
          <p:cNvPr id="16" name="TextBox 15"/>
          <p:cNvSpPr txBox="1"/>
          <p:nvPr/>
        </p:nvSpPr>
        <p:spPr>
          <a:xfrm>
            <a:off x="4550664" y="2240280"/>
            <a:ext cx="3105912" cy="237744"/>
          </a:xfrm>
          <a:prstGeom prst="rect">
            <a:avLst/>
          </a:prstGeom>
          <a:noFill/>
        </p:spPr>
        <p:txBody>
          <a:bodyPr wrap="square" anchor="t" lIns="0" rIns="0" tIns="0" bIns="0">
            <a:spAutoFit/>
          </a:bodyPr>
          <a:lstStyle/>
          <a:p>
            <a:pPr algn="l">
              <a:lnSpc>
                <a:spcPct val="112000"/>
              </a:lnSpc>
              <a:spcBef>
                <a:spcPts val="0"/>
              </a:spcBef>
              <a:spcAft>
                <a:spcPts val="0"/>
              </a:spcAft>
            </a:pPr>
            <a:r>
              <a:rPr sz="900" b="1" i="0">
                <a:solidFill>
                  <a:srgbClr val="1B3F6B"/>
                </a:solidFill>
                <a:latin typeface="Arial"/>
              </a:rPr>
              <a:t>KHO TRI THỨC 8 TÀI LIỆU</a:t>
            </a:r>
          </a:p>
        </p:txBody>
      </p:sp>
      <p:sp>
        <p:nvSpPr>
          <p:cNvPr id="17" name="TextBox 16"/>
          <p:cNvSpPr txBox="1"/>
          <p:nvPr/>
        </p:nvSpPr>
        <p:spPr>
          <a:xfrm>
            <a:off x="4550664" y="2542032"/>
            <a:ext cx="3105912" cy="1325880"/>
          </a:xfrm>
          <a:prstGeom prst="rect">
            <a:avLst/>
          </a:prstGeom>
          <a:noFill/>
        </p:spPr>
        <p:txBody>
          <a:bodyPr wrap="square" anchor="t" lIns="0" rIns="0" tIns="0" bIns="0">
            <a:spAutoFit/>
          </a:bodyPr>
          <a:lstStyle/>
          <a:p>
            <a:pPr algn="l">
              <a:lnSpc>
                <a:spcPct val="116000"/>
              </a:lnSpc>
              <a:spcBef>
                <a:spcPts val="0"/>
              </a:spcBef>
              <a:spcAft>
                <a:spcPts val="0"/>
              </a:spcAft>
            </a:pPr>
            <a:r>
              <a:rPr sz="1100" b="0" i="0">
                <a:solidFill>
                  <a:srgbClr val="5E7387"/>
                </a:solidFill>
                <a:latin typeface="Arial"/>
              </a:rPr>
              <a:t>Mỗi đoạn tự chứa, tối đa 220 từ, bắt buộc có nguồn kèm tên tài liệu, số trang/mục, đường dẫn và ngày truy cập. Nguồn do hệ thống tự dựng lại từ đoạn được truy hồi, không tin trích dẫn mô hình tự viết.</a:t>
            </a:r>
          </a:p>
        </p:txBody>
      </p:sp>
      <p:sp>
        <p:nvSpPr>
          <p:cNvPr id="18" name="Rectangle 17"/>
          <p:cNvSpPr/>
          <p:nvPr/>
        </p:nvSpPr>
        <p:spPr>
          <a:xfrm>
            <a:off x="8058911" y="1737360"/>
            <a:ext cx="3563112" cy="22860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58911" y="1737360"/>
            <a:ext cx="50292" cy="22860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296655" y="1920240"/>
            <a:ext cx="3105912" cy="292608"/>
          </a:xfrm>
          <a:prstGeom prst="rect">
            <a:avLst/>
          </a:prstGeom>
          <a:noFill/>
        </p:spPr>
        <p:txBody>
          <a:bodyPr wrap="square" anchor="t" lIns="0" rIns="0" tIns="0" bIns="0">
            <a:spAutoFit/>
          </a:bodyPr>
          <a:lstStyle/>
          <a:p>
            <a:pPr algn="l">
              <a:lnSpc>
                <a:spcPct val="112000"/>
              </a:lnSpc>
              <a:spcBef>
                <a:spcPts val="0"/>
              </a:spcBef>
              <a:spcAft>
                <a:spcPts val="200"/>
              </a:spcAft>
            </a:pPr>
            <a:r>
              <a:rPr sz="1300" b="1" i="0">
                <a:solidFill>
                  <a:srgbClr val="0B2545"/>
                </a:solidFill>
                <a:latin typeface="Arial"/>
              </a:rPr>
              <a:t>Đường 3 — Sinh chữ chạy dần</a:t>
            </a:r>
          </a:p>
        </p:txBody>
      </p:sp>
      <p:sp>
        <p:nvSpPr>
          <p:cNvPr id="21" name="TextBox 20"/>
          <p:cNvSpPr txBox="1"/>
          <p:nvPr/>
        </p:nvSpPr>
        <p:spPr>
          <a:xfrm>
            <a:off x="8296655" y="2240280"/>
            <a:ext cx="3105912" cy="237744"/>
          </a:xfrm>
          <a:prstGeom prst="rect">
            <a:avLst/>
          </a:prstGeom>
          <a:noFill/>
        </p:spPr>
        <p:txBody>
          <a:bodyPr wrap="square" anchor="t" lIns="0" rIns="0" tIns="0" bIns="0">
            <a:spAutoFit/>
          </a:bodyPr>
          <a:lstStyle/>
          <a:p>
            <a:pPr algn="l">
              <a:lnSpc>
                <a:spcPct val="112000"/>
              </a:lnSpc>
              <a:spcBef>
                <a:spcPts val="0"/>
              </a:spcBef>
              <a:spcAft>
                <a:spcPts val="0"/>
              </a:spcAft>
            </a:pPr>
            <a:r>
              <a:rPr sz="900" b="1" i="0">
                <a:solidFill>
                  <a:srgbClr val="C43D3D"/>
                </a:solidFill>
                <a:latin typeface="Arial"/>
              </a:rPr>
              <a:t>KÈM LỚP KIỂM SỐ Ở CUỐI</a:t>
            </a:r>
          </a:p>
        </p:txBody>
      </p:sp>
      <p:sp>
        <p:nvSpPr>
          <p:cNvPr id="22" name="TextBox 21"/>
          <p:cNvSpPr txBox="1"/>
          <p:nvPr/>
        </p:nvSpPr>
        <p:spPr>
          <a:xfrm>
            <a:off x="8296655" y="2542032"/>
            <a:ext cx="3105912" cy="1325880"/>
          </a:xfrm>
          <a:prstGeom prst="rect">
            <a:avLst/>
          </a:prstGeom>
          <a:noFill/>
        </p:spPr>
        <p:txBody>
          <a:bodyPr wrap="square" anchor="t" lIns="0" rIns="0" tIns="0" bIns="0">
            <a:spAutoFit/>
          </a:bodyPr>
          <a:lstStyle/>
          <a:p>
            <a:pPr algn="l">
              <a:lnSpc>
                <a:spcPct val="116000"/>
              </a:lnSpc>
              <a:spcBef>
                <a:spcPts val="0"/>
              </a:spcBef>
              <a:spcAft>
                <a:spcPts val="0"/>
              </a:spcAft>
            </a:pPr>
            <a:r>
              <a:rPr sz="1100" b="0" i="0">
                <a:solidFill>
                  <a:srgbClr val="5E7387"/>
                </a:solidFill>
                <a:latin typeface="Arial"/>
              </a:rPr>
              <a:t>Nhả hết chữ xong, hệ thống đối chiếu từng con số với ảnh chụp dữ liệu kho; không đạt thì đổi sang câu an toàn. Hai đường chữ chạy và không chữ chạy dùng chung một bộ kiểm.</a:t>
            </a:r>
          </a:p>
        </p:txBody>
      </p:sp>
      <p:sp>
        <p:nvSpPr>
          <p:cNvPr id="23" name="TextBox 22"/>
          <p:cNvSpPr txBox="1"/>
          <p:nvPr/>
        </p:nvSpPr>
        <p:spPr>
          <a:xfrm>
            <a:off x="566928" y="4206240"/>
            <a:ext cx="11055096" cy="274320"/>
          </a:xfrm>
          <a:prstGeom prst="rect">
            <a:avLst/>
          </a:prstGeom>
          <a:noFill/>
        </p:spPr>
        <p:txBody>
          <a:bodyPr wrap="square" anchor="t" lIns="0" rIns="0" tIns="0" bIns="0">
            <a:spAutoFit/>
          </a:bodyPr>
          <a:lstStyle/>
          <a:p>
            <a:pPr algn="l">
              <a:lnSpc>
                <a:spcPct val="112000"/>
              </a:lnSpc>
              <a:spcBef>
                <a:spcPts val="0"/>
              </a:spcBef>
              <a:spcAft>
                <a:spcPts val="0"/>
              </a:spcAft>
            </a:pPr>
            <a:r>
              <a:rPr sz="1050" b="1" i="0">
                <a:solidFill>
                  <a:srgbClr val="C43D3D"/>
                </a:solidFill>
                <a:latin typeface="Arial"/>
              </a:rPr>
              <a:t>BA LỚP PHÒNG THỦ BỔ SUNG</a:t>
            </a:r>
          </a:p>
        </p:txBody>
      </p:sp>
      <p:sp>
        <p:nvSpPr>
          <p:cNvPr id="24" name="Rectangle 23"/>
          <p:cNvSpPr/>
          <p:nvPr/>
        </p:nvSpPr>
        <p:spPr>
          <a:xfrm>
            <a:off x="566928" y="4498848"/>
            <a:ext cx="3563112" cy="10515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4498848"/>
            <a:ext cx="50292" cy="1051560"/>
          </a:xfrm>
          <a:prstGeom prst="rect">
            <a:avLst/>
          </a:prstGeom>
          <a:solidFill>
            <a:srgbClr val="5E73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04672" y="4672584"/>
            <a:ext cx="3105912" cy="36576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0B2545"/>
                </a:solidFill>
                <a:latin typeface="Arial"/>
              </a:rPr>
              <a:t>Chặn câu hỏi ngoài phạm vi</a:t>
            </a:r>
          </a:p>
        </p:txBody>
      </p:sp>
      <p:sp>
        <p:nvSpPr>
          <p:cNvPr id="27" name="TextBox 26"/>
          <p:cNvSpPr txBox="1"/>
          <p:nvPr/>
        </p:nvSpPr>
        <p:spPr>
          <a:xfrm>
            <a:off x="804672" y="5056632"/>
            <a:ext cx="3105912" cy="347471"/>
          </a:xfrm>
          <a:prstGeom prst="rect">
            <a:avLst/>
          </a:prstGeom>
          <a:noFill/>
        </p:spPr>
        <p:txBody>
          <a:bodyPr wrap="square" anchor="t" lIns="0" rIns="0" tIns="0" bIns="0">
            <a:spAutoFit/>
          </a:bodyPr>
          <a:lstStyle/>
          <a:p>
            <a:pPr algn="l">
              <a:lnSpc>
                <a:spcPct val="116000"/>
              </a:lnSpc>
              <a:spcBef>
                <a:spcPts val="0"/>
              </a:spcBef>
              <a:spcAft>
                <a:spcPts val="0"/>
              </a:spcAft>
            </a:pPr>
            <a:r>
              <a:rPr sz="1050" b="0" i="0">
                <a:solidFill>
                  <a:srgbClr val="5E7387"/>
                </a:solidFill>
                <a:latin typeface="Arial"/>
              </a:rPr>
              <a:t>Hỏi bóng đá thì từ chối và không kéo theo số liệu kho vào câu trả lời.</a:t>
            </a:r>
          </a:p>
        </p:txBody>
      </p:sp>
      <p:sp>
        <p:nvSpPr>
          <p:cNvPr id="28" name="Rectangle 27"/>
          <p:cNvSpPr/>
          <p:nvPr/>
        </p:nvSpPr>
        <p:spPr>
          <a:xfrm>
            <a:off x="4312920" y="4498848"/>
            <a:ext cx="3563112" cy="10515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12920" y="4498848"/>
            <a:ext cx="50292" cy="1051560"/>
          </a:xfrm>
          <a:prstGeom prst="rect">
            <a:avLst/>
          </a:prstGeom>
          <a:solidFill>
            <a:srgbClr val="5E73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50664" y="4672584"/>
            <a:ext cx="3105912" cy="36576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0B2545"/>
                </a:solidFill>
                <a:latin typeface="Arial"/>
              </a:rPr>
              <a:t>Chặn tiêm lệnh qua nội dung báo cáo</a:t>
            </a:r>
          </a:p>
        </p:txBody>
      </p:sp>
      <p:sp>
        <p:nvSpPr>
          <p:cNvPr id="31" name="TextBox 30"/>
          <p:cNvSpPr txBox="1"/>
          <p:nvPr/>
        </p:nvSpPr>
        <p:spPr>
          <a:xfrm>
            <a:off x="4550664" y="5056632"/>
            <a:ext cx="3105912" cy="347471"/>
          </a:xfrm>
          <a:prstGeom prst="rect">
            <a:avLst/>
          </a:prstGeom>
          <a:noFill/>
        </p:spPr>
        <p:txBody>
          <a:bodyPr wrap="square" anchor="t" lIns="0" rIns="0" tIns="0" bIns="0">
            <a:spAutoFit/>
          </a:bodyPr>
          <a:lstStyle/>
          <a:p>
            <a:pPr algn="l">
              <a:lnSpc>
                <a:spcPct val="116000"/>
              </a:lnSpc>
              <a:spcBef>
                <a:spcPts val="0"/>
              </a:spcBef>
              <a:spcAft>
                <a:spcPts val="0"/>
              </a:spcAft>
            </a:pPr>
            <a:r>
              <a:rPr sz="1050" b="0" i="0">
                <a:solidFill>
                  <a:srgbClr val="5E7387"/>
                </a:solidFill>
                <a:latin typeface="Arial"/>
              </a:rPr>
              <a:t>Dữ liệu nghiệp vụ được đưa vào dưới dạng dữ liệu, không dưới dạng chỉ dẫn.</a:t>
            </a:r>
          </a:p>
        </p:txBody>
      </p:sp>
      <p:sp>
        <p:nvSpPr>
          <p:cNvPr id="32" name="Rectangle 31"/>
          <p:cNvSpPr/>
          <p:nvPr/>
        </p:nvSpPr>
        <p:spPr>
          <a:xfrm>
            <a:off x="8058911" y="4498848"/>
            <a:ext cx="3563112" cy="10515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8058911" y="4498848"/>
            <a:ext cx="50292" cy="1051560"/>
          </a:xfrm>
          <a:prstGeom prst="rect">
            <a:avLst/>
          </a:prstGeom>
          <a:solidFill>
            <a:srgbClr val="5E73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296655" y="4672584"/>
            <a:ext cx="3105912" cy="365760"/>
          </a:xfrm>
          <a:prstGeom prst="rect">
            <a:avLst/>
          </a:prstGeom>
          <a:noFill/>
        </p:spPr>
        <p:txBody>
          <a:bodyPr wrap="square" anchor="t" lIns="0" rIns="0" tIns="0" bIns="0">
            <a:spAutoFit/>
          </a:bodyPr>
          <a:lstStyle/>
          <a:p>
            <a:pPr algn="l">
              <a:lnSpc>
                <a:spcPct val="105000"/>
              </a:lnSpc>
              <a:spcBef>
                <a:spcPts val="0"/>
              </a:spcBef>
              <a:spcAft>
                <a:spcPts val="0"/>
              </a:spcAft>
            </a:pPr>
            <a:r>
              <a:rPr sz="1200" b="1" i="0">
                <a:solidFill>
                  <a:srgbClr val="0B2545"/>
                </a:solidFill>
                <a:latin typeface="Arial"/>
              </a:rPr>
              <a:t>Che danh tính mô hình</a:t>
            </a:r>
          </a:p>
        </p:txBody>
      </p:sp>
      <p:sp>
        <p:nvSpPr>
          <p:cNvPr id="35" name="TextBox 34"/>
          <p:cNvSpPr txBox="1"/>
          <p:nvPr/>
        </p:nvSpPr>
        <p:spPr>
          <a:xfrm>
            <a:off x="8296655" y="5056632"/>
            <a:ext cx="3105912" cy="347471"/>
          </a:xfrm>
          <a:prstGeom prst="rect">
            <a:avLst/>
          </a:prstGeom>
          <a:noFill/>
        </p:spPr>
        <p:txBody>
          <a:bodyPr wrap="square" anchor="t" lIns="0" rIns="0" tIns="0" bIns="0">
            <a:spAutoFit/>
          </a:bodyPr>
          <a:lstStyle/>
          <a:p>
            <a:pPr algn="l">
              <a:lnSpc>
                <a:spcPct val="116000"/>
              </a:lnSpc>
              <a:spcBef>
                <a:spcPts val="0"/>
              </a:spcBef>
              <a:spcAft>
                <a:spcPts val="0"/>
              </a:spcAft>
            </a:pPr>
            <a:r>
              <a:rPr sz="1050" b="0" i="0">
                <a:solidFill>
                  <a:srgbClr val="5E7387"/>
                </a:solidFill>
                <a:latin typeface="Arial"/>
              </a:rPr>
              <a:t>Trợ lý chỉ tự giới thiệu là trợ lý của hệ thống Ứng phó nhanh.</a:t>
            </a:r>
          </a:p>
        </p:txBody>
      </p:sp>
      <p:sp>
        <p:nvSpPr>
          <p:cNvPr id="36" name="Rectangle 35"/>
          <p:cNvSpPr/>
          <p:nvPr/>
        </p:nvSpPr>
        <p:spPr>
          <a:xfrm>
            <a:off x="566928" y="5715000"/>
            <a:ext cx="11055096" cy="7772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68680" y="5843016"/>
            <a:ext cx="10424160" cy="548640"/>
          </a:xfrm>
          <a:prstGeom prst="rect">
            <a:avLst/>
          </a:prstGeom>
          <a:noFill/>
        </p:spPr>
        <p:txBody>
          <a:bodyPr wrap="square" anchor="ctr" lIns="0" rIns="0" tIns="0" bIns="0">
            <a:spAutoFit/>
          </a:bodyPr>
          <a:lstStyle/>
          <a:p>
            <a:pPr algn="l">
              <a:lnSpc>
                <a:spcPct val="115000"/>
              </a:lnSpc>
              <a:spcBef>
                <a:spcPts val="0"/>
              </a:spcBef>
              <a:spcAft>
                <a:spcPts val="0"/>
              </a:spcAft>
            </a:pPr>
            <a:r>
              <a:rPr sz="1200" b="0" i="0">
                <a:solidFill>
                  <a:srgbClr val="FFFFFF"/>
                </a:solidFill>
                <a:latin typeface="Arial"/>
              </a:rPr>
              <a:t>Khi lớp bảo vệ chạy đúng: mô hình đưa ra một con số không có trong ảnh chụp kho → hệ thống chặn lại và thay cả câu. Người dùng không nhận được một câu trả lời sai nghe rất thuyết phục.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DỰ BÁO, CẢNH BÁO, BẢN TIN, IOT</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Chế độ ngày thường — AI chủ động cảnh báo trước khi thiếu</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Nhập hàng trước khi cần, không phải sau khi thiếu.</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28</a:t>
            </a:r>
          </a:p>
        </p:txBody>
      </p:sp>
      <p:sp>
        <p:nvSpPr>
          <p:cNvPr id="8" name="Rectangle 7"/>
          <p:cNvSpPr/>
          <p:nvPr/>
        </p:nvSpPr>
        <p:spPr>
          <a:xfrm>
            <a:off x="566928" y="1737360"/>
            <a:ext cx="5436108" cy="16916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169164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911095"/>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Dự báo cạn kho</a:t>
            </a:r>
          </a:p>
        </p:txBody>
      </p:sp>
      <p:sp>
        <p:nvSpPr>
          <p:cNvPr id="11" name="TextBox 10"/>
          <p:cNvSpPr txBox="1"/>
          <p:nvPr/>
        </p:nvSpPr>
        <p:spPr>
          <a:xfrm>
            <a:off x="804672" y="2295144"/>
            <a:ext cx="4978908" cy="98755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Trung bình trượt trọng số mũ (hệ số 0,35) trên lịch sử xuất kho; độ lệch chuẩn nhu cầu ngày để ra khoảng tin cậy; điểm đặt hàng lại theo công thức tồn kho an toàn chuẩn ngành (thời gian nhập 3 ngày, mức phục vụ ~90%).</a:t>
            </a:r>
          </a:p>
        </p:txBody>
      </p:sp>
      <p:sp>
        <p:nvSpPr>
          <p:cNvPr id="12" name="Rectangle 11"/>
          <p:cNvSpPr/>
          <p:nvPr/>
        </p:nvSpPr>
        <p:spPr>
          <a:xfrm>
            <a:off x="6185916" y="1737360"/>
            <a:ext cx="5436108" cy="16916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185916" y="1737360"/>
            <a:ext cx="50292" cy="169164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23660" y="1911095"/>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Cảnh báo hạn dùng và đề xuất điều chuyển</a:t>
            </a:r>
          </a:p>
        </p:txBody>
      </p:sp>
      <p:sp>
        <p:nvSpPr>
          <p:cNvPr id="15" name="TextBox 14"/>
          <p:cNvSpPr txBox="1"/>
          <p:nvPr/>
        </p:nvSpPr>
        <p:spPr>
          <a:xfrm>
            <a:off x="6423660" y="2295144"/>
            <a:ext cx="4978908" cy="98755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Xếp hạn gần lên trước. Đề xuất điều chuyển khi một kho thừa và một kho thiếu cùng một mặt hàng.</a:t>
            </a:r>
          </a:p>
        </p:txBody>
      </p:sp>
      <p:sp>
        <p:nvSpPr>
          <p:cNvPr id="16" name="Rectangle 15"/>
          <p:cNvSpPr/>
          <p:nvPr/>
        </p:nvSpPr>
        <p:spPr>
          <a:xfrm>
            <a:off x="566928" y="3611880"/>
            <a:ext cx="5436108" cy="16916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66928" y="3611880"/>
            <a:ext cx="50292" cy="169164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04672" y="3785616"/>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Dự báo nhu cầu theo thời tiết 72 giờ</a:t>
            </a:r>
          </a:p>
        </p:txBody>
      </p:sp>
      <p:sp>
        <p:nvSpPr>
          <p:cNvPr id="19" name="TextBox 18"/>
          <p:cNvSpPr txBox="1"/>
          <p:nvPr/>
        </p:nvSpPr>
        <p:spPr>
          <a:xfrm>
            <a:off x="804672" y="4169664"/>
            <a:ext cx="4978908" cy="987551"/>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Ghép tốc độ tiêu thụ đã làm mượt với lượng mưa dự báo (Open-Meteo) theo đúng tọa độ kho, nhân hệ số theo nhóm vật tư: nước sạch – vệ sinh ×2 · cứu hộ ×1,8 · lương thực ×1,6 · che chắn ×1,5.</a:t>
            </a:r>
          </a:p>
        </p:txBody>
      </p:sp>
      <p:sp>
        <p:nvSpPr>
          <p:cNvPr id="20" name="Rectangle 19"/>
          <p:cNvSpPr/>
          <p:nvPr/>
        </p:nvSpPr>
        <p:spPr>
          <a:xfrm>
            <a:off x="6185916" y="3611880"/>
            <a:ext cx="5436108" cy="16916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185916" y="3611880"/>
            <a:ext cx="50292" cy="169164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23660" y="3785616"/>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Bản sao số của kho — ứng dụng IoT</a:t>
            </a:r>
          </a:p>
        </p:txBody>
      </p:sp>
      <p:sp>
        <p:nvSpPr>
          <p:cNvPr id="23" name="TextBox 22"/>
          <p:cNvSpPr txBox="1"/>
          <p:nvPr/>
        </p:nvSpPr>
        <p:spPr>
          <a:xfrm>
            <a:off x="6423660" y="4169664"/>
            <a:ext cx="4978908" cy="987551"/>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Mô phỏng 9 loại thiết bị. Gửi không trùng, hai mốc thời gian tách bạch, hàng chờ bền vững tại máy, chuông báo động tại chỗ kêu ngay không đợi máy chủ.</a:t>
            </a:r>
          </a:p>
        </p:txBody>
      </p:sp>
      <p:sp>
        <p:nvSpPr>
          <p:cNvPr id="24" name="Rectangle 23"/>
          <p:cNvSpPr/>
          <p:nvPr/>
        </p:nvSpPr>
        <p:spPr>
          <a:xfrm>
            <a:off x="566928" y="5532120"/>
            <a:ext cx="11055096" cy="10515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5532120"/>
            <a:ext cx="54864" cy="105156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68680" y="5678424"/>
            <a:ext cx="10332720" cy="777240"/>
          </a:xfrm>
          <a:prstGeom prst="rect">
            <a:avLst/>
          </a:prstGeom>
          <a:noFill/>
        </p:spPr>
        <p:txBody>
          <a:bodyPr wrap="square" anchor="t" lIns="0" rIns="0" tIns="0" bIns="0">
            <a:spAutoFit/>
          </a:bodyPr>
          <a:lstStyle/>
          <a:p>
            <a:pPr algn="l">
              <a:lnSpc>
                <a:spcPct val="112000"/>
              </a:lnSpc>
              <a:spcBef>
                <a:spcPts val="0"/>
              </a:spcBef>
              <a:spcAft>
                <a:spcPts val="400"/>
              </a:spcAft>
            </a:pPr>
            <a:r>
              <a:rPr sz="1250" b="1" i="0">
                <a:solidFill>
                  <a:srgbClr val="0B2545"/>
                </a:solidFill>
                <a:latin typeface="Arial"/>
              </a:rPr>
              <a:t>Nhóm gọi đúng tên đây là dự báo thống kê, không phóng đại thành học sâu.</a:t>
            </a:r>
          </a:p>
          <a:p>
            <a:pPr algn="l">
              <a:lnSpc>
                <a:spcPct val="115000"/>
              </a:lnSpc>
              <a:spcBef>
                <a:spcPts val="0"/>
              </a:spcBef>
              <a:spcAft>
                <a:spcPts val="0"/>
              </a:spcAft>
            </a:pPr>
            <a:r>
              <a:rPr sz="1130" b="0" i="0">
                <a:solidFill>
                  <a:srgbClr val="16283C"/>
                </a:solidFill>
                <a:latin typeface="Arial"/>
              </a:rPr>
              <a:t>Ưu điểm: chạy offline, giải thích được và khóa được bằng kiểm thử tự động. Thiếu dữ liệu thời tiết thì hệ thống nói là thiếu, không tự suy đoán. Bản tin đầu ngày: mô hình ngôn ngữ chỉ được xếp thứ tự ưu tiên các dữ kiện mà máy chủ đã kiểm chứng.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CHỨC NĂNG PHÂN BIỆT SẢN PHẨM NÀY</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Làm việc khi mất mạng — bốn tầng ứng với bốn mức độ hỏng</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Phân biệt một phần mềm chạy đẹp trong phòng với một phần mềm dùng được ngoài bão.</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29</a:t>
            </a:r>
          </a:p>
        </p:txBody>
      </p:sp>
      <p:graphicFrame>
        <p:nvGraphicFramePr>
          <p:cNvPr id="8" name="Table 7"/>
          <p:cNvGraphicFramePr>
            <a:graphicFrameLocks noGrp="1"/>
          </p:cNvGraphicFramePr>
          <p:nvPr/>
        </p:nvGraphicFramePr>
        <p:xfrm>
          <a:off x="566928" y="1737360"/>
          <a:ext cx="11055095" cy="2962656"/>
        </p:xfrm>
        <a:graphic>
          <a:graphicData uri="http://schemas.openxmlformats.org/drawingml/2006/table">
            <a:tbl>
              <a:tblPr>
                <a:tableStyleId>{5C22544A-7EE6-4342-B048-85BDC9FD1C3A}</a:tableStyleId>
              </a:tblPr>
              <a:tblGrid>
                <a:gridCol w="2948025"/>
                <a:gridCol w="8107070"/>
              </a:tblGrid>
              <a:tr h="329184">
                <a:tc>
                  <a:txBody>
                    <a:bodyPr wrap="square"/>
                    <a:lstStyle/>
                    <a:p>
                      <a:pPr algn="l">
                        <a:lnSpc>
                          <a:spcPct val="105000"/>
                        </a:lnSpc>
                        <a:spcBef>
                          <a:spcPts val="0"/>
                        </a:spcBef>
                        <a:spcAft>
                          <a:spcPts val="0"/>
                        </a:spcAft>
                      </a:pPr>
                      <a:r>
                        <a:rPr sz="1080" b="1" i="0">
                          <a:solidFill>
                            <a:srgbClr val="FFFFFF"/>
                          </a:solidFill>
                          <a:latin typeface="Arial"/>
                        </a:rPr>
                        <a:t>Mức độ hỏng</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Hệ thống làm gì</a:t>
                      </a:r>
                    </a:p>
                  </a:txBody>
                  <a:tcPr marL="91440" marR="73152" marT="27432" marB="27432" anchor="ctr">
                    <a:solidFill>
                      <a:srgbClr val="0B2545"/>
                    </a:solidFill>
                  </a:tcPr>
                </a:tc>
              </a:tr>
              <a:tr h="658368">
                <a:tc>
                  <a:txBody>
                    <a:bodyPr wrap="square"/>
                    <a:lstStyle/>
                    <a:p>
                      <a:pPr algn="l">
                        <a:lnSpc>
                          <a:spcPct val="108000"/>
                        </a:lnSpc>
                        <a:spcBef>
                          <a:spcPts val="0"/>
                        </a:spcBef>
                        <a:spcAft>
                          <a:spcPts val="0"/>
                        </a:spcAft>
                      </a:pPr>
                      <a:r>
                        <a:rPr sz="1150" b="1" i="0">
                          <a:solidFill>
                            <a:srgbClr val="0B2545"/>
                          </a:solidFill>
                          <a:latin typeface="Arial"/>
                        </a:rPr>
                        <a:t>Mất Internet ngoài, mạng nội bộ còn</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50" b="0" i="0">
                          <a:solidFill>
                            <a:srgbClr val="16283C"/>
                          </a:solidFill>
                          <a:latin typeface="Arial"/>
                        </a:rPr>
                        <a:t>Hoạt động đầy đủ: mô hình ngôn ngữ, nhận dạng giọng nói, cơ sở dữ liệu, bản đồ và máy tính tuyến đều nằm trong mạng nội bộ. Không mất chức năng nào.</a:t>
                      </a:r>
                    </a:p>
                  </a:txBody>
                  <a:tcPr marL="91440" marR="73152" marT="27432" marB="27432" anchor="ctr">
                    <a:solidFill>
                      <a:srgbClr val="FFFFFF"/>
                    </a:solidFill>
                  </a:tcPr>
                </a:tc>
              </a:tr>
              <a:tr h="658368">
                <a:tc>
                  <a:txBody>
                    <a:bodyPr wrap="square"/>
                    <a:lstStyle/>
                    <a:p>
                      <a:pPr algn="l">
                        <a:lnSpc>
                          <a:spcPct val="108000"/>
                        </a:lnSpc>
                        <a:spcBef>
                          <a:spcPts val="0"/>
                        </a:spcBef>
                        <a:spcAft>
                          <a:spcPts val="0"/>
                        </a:spcAft>
                      </a:pPr>
                      <a:r>
                        <a:rPr sz="1150" b="1" i="0">
                          <a:solidFill>
                            <a:srgbClr val="0B2545"/>
                          </a:solidFill>
                          <a:latin typeface="Arial"/>
                        </a:rPr>
                        <a:t>Điện thoại mất mạng nội bộ</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50" b="0" i="0">
                          <a:solidFill>
                            <a:srgbClr val="16283C"/>
                          </a:solidFill>
                          <a:latin typeface="Arial"/>
                        </a:rPr>
                        <a:t>Cho xem dữ liệu đã lưu theo từng tài khoản, kèm dấu thời gian và nhãn dữ liệu đã cũ; từ chối mọi thao tác ghi thay vì báo thành công giả.</a:t>
                      </a:r>
                    </a:p>
                  </a:txBody>
                  <a:tcPr marL="91440" marR="73152" marT="27432" marB="27432" anchor="ctr">
                    <a:solidFill>
                      <a:srgbClr val="F2F5F9"/>
                    </a:solidFill>
                  </a:tcPr>
                </a:tc>
              </a:tr>
              <a:tr h="658368">
                <a:tc>
                  <a:txBody>
                    <a:bodyPr wrap="square"/>
                    <a:lstStyle/>
                    <a:p>
                      <a:pPr algn="l">
                        <a:lnSpc>
                          <a:spcPct val="108000"/>
                        </a:lnSpc>
                        <a:spcBef>
                          <a:spcPts val="0"/>
                        </a:spcBef>
                        <a:spcAft>
                          <a:spcPts val="0"/>
                        </a:spcAft>
                      </a:pPr>
                      <a:r>
                        <a:rPr sz="1150" b="1" i="0">
                          <a:solidFill>
                            <a:srgbClr val="0B2545"/>
                          </a:solidFill>
                          <a:latin typeface="Arial"/>
                        </a:rPr>
                        <a:t>Ứng dụng IoT mất kết nối máy chủ</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50" b="0" i="0">
                          <a:solidFill>
                            <a:srgbClr val="16283C"/>
                          </a:solidFill>
                          <a:latin typeface="Arial"/>
                        </a:rPr>
                        <a:t>Giữ gói đã xác nhận trong hàng chờ bền vững tại máy, chuông tại chỗ vẫn kêu, gửi lại không trùng khi có mạng.</a:t>
                      </a:r>
                    </a:p>
                  </a:txBody>
                  <a:tcPr marL="91440" marR="73152" marT="27432" marB="27432" anchor="ctr">
                    <a:solidFill>
                      <a:srgbClr val="FFFFFF"/>
                    </a:solidFill>
                  </a:tcPr>
                </a:tc>
              </a:tr>
              <a:tr h="658368">
                <a:tc>
                  <a:txBody>
                    <a:bodyPr wrap="square"/>
                    <a:lstStyle/>
                    <a:p>
                      <a:pPr algn="l">
                        <a:lnSpc>
                          <a:spcPct val="108000"/>
                        </a:lnSpc>
                        <a:spcBef>
                          <a:spcPts val="0"/>
                        </a:spcBef>
                        <a:spcAft>
                          <a:spcPts val="0"/>
                        </a:spcAft>
                      </a:pPr>
                      <a:r>
                        <a:rPr sz="1150" b="1" i="0">
                          <a:solidFill>
                            <a:srgbClr val="0B2545"/>
                          </a:solidFill>
                          <a:latin typeface="Arial"/>
                        </a:rPr>
                        <a:t>Hai xã mất liên lạc với nhau</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50" b="0" i="0">
                          <a:solidFill>
                            <a:srgbClr val="16283C"/>
                          </a:solidFill>
                          <a:latin typeface="Arial"/>
                        </a:rPr>
                        <a:t>Chuyển sang luồng ghi tay khoản đã thỏa thuận qua điện thoại, vẫn cộng trừ kho thật, có nhãn riêng để đối chiếu.</a:t>
                      </a:r>
                    </a:p>
                  </a:txBody>
                  <a:tcPr marL="91440" marR="73152" marT="27432" marB="27432" anchor="ctr">
                    <a:solidFill>
                      <a:srgbClr val="F2F5F9"/>
                    </a:solidFill>
                  </a:tcPr>
                </a:tc>
              </a:tr>
            </a:tbl>
          </a:graphicData>
        </a:graphic>
      </p:graphicFrame>
      <p:sp>
        <p:nvSpPr>
          <p:cNvPr id="9" name="Rectangle 8"/>
          <p:cNvSpPr/>
          <p:nvPr/>
        </p:nvSpPr>
        <p:spPr>
          <a:xfrm>
            <a:off x="566928" y="4974336"/>
            <a:ext cx="11055096" cy="9144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68680" y="5120640"/>
            <a:ext cx="10424160" cy="640080"/>
          </a:xfrm>
          <a:prstGeom prst="rect">
            <a:avLst/>
          </a:prstGeom>
          <a:noFill/>
        </p:spPr>
        <p:txBody>
          <a:bodyPr wrap="square" anchor="ctr" lIns="0" rIns="0" tIns="0" bIns="0">
            <a:spAutoFit/>
          </a:bodyPr>
          <a:lstStyle/>
          <a:p>
            <a:pPr algn="l">
              <a:lnSpc>
                <a:spcPct val="115000"/>
              </a:lnSpc>
              <a:spcBef>
                <a:spcPts val="0"/>
              </a:spcBef>
              <a:spcAft>
                <a:spcPts val="0"/>
              </a:spcAft>
            </a:pPr>
            <a:r>
              <a:rPr sz="1300" b="1" i="0">
                <a:solidFill>
                  <a:srgbClr val="FFFFFF"/>
                </a:solidFill>
                <a:latin typeface="Arial"/>
              </a:rPr>
              <a:t>Nguyên tắc xuyên suốt: thà nói thật là hỏng còn hơn giả vờ thành công. Không đổi lỗi thành danh sách rỗng, không đổi thất bại thành trạng thái thành công.</a:t>
            </a:r>
          </a:p>
        </p:txBody>
      </p:sp>
      <p:sp>
        <p:nvSpPr>
          <p:cNvPr id="11" name="TextBox 10"/>
          <p:cNvSpPr txBox="1"/>
          <p:nvPr/>
        </p:nvSpPr>
        <p:spPr>
          <a:xfrm>
            <a:off x="566928" y="5998464"/>
            <a:ext cx="11055096" cy="411480"/>
          </a:xfrm>
          <a:prstGeom prst="rect">
            <a:avLst/>
          </a:prstGeom>
          <a:noFill/>
        </p:spPr>
        <p:txBody>
          <a:bodyPr wrap="square" anchor="t" lIns="0" rIns="0" tIns="0" bIns="0">
            <a:spAutoFit/>
          </a:bodyPr>
          <a:lstStyle/>
          <a:p>
            <a:pPr algn="l">
              <a:lnSpc>
                <a:spcPct val="115000"/>
              </a:lnSpc>
              <a:spcBef>
                <a:spcPts val="0"/>
              </a:spcBef>
              <a:spcAft>
                <a:spcPts val="0"/>
              </a:spcAft>
            </a:pPr>
            <a:r>
              <a:rPr sz="1100" b="0" i="0">
                <a:solidFill>
                  <a:srgbClr val="5E7387"/>
                </a:solidFill>
                <a:latin typeface="Arial"/>
              </a:rPr>
              <a:t>Đã kiểm chứng: rút dây mạng ra khỏi bộ định tuyến — trợ lý vẫn trả lời, vẫn nhận dạng giọng nói, vẫn lập được phương án, bản đồ vẫn vẽ tuyến đường bộ. Đó là tình trạng của xã Đồng Xuân trong nhiều giờ của đêm 20/11/2025.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057400"/>
            <a:ext cx="2743200" cy="1371600"/>
          </a:xfrm>
          <a:prstGeom prst="rect">
            <a:avLst/>
          </a:prstGeom>
          <a:noFill/>
        </p:spPr>
        <p:txBody>
          <a:bodyPr wrap="square" anchor="t" lIns="0" rIns="0" tIns="0" bIns="0">
            <a:spAutoFit/>
          </a:bodyPr>
          <a:lstStyle/>
          <a:p>
            <a:pPr algn="l">
              <a:lnSpc>
                <a:spcPct val="100000"/>
              </a:lnSpc>
              <a:spcBef>
                <a:spcPts val="0"/>
              </a:spcBef>
              <a:spcAft>
                <a:spcPts val="0"/>
              </a:spcAft>
            </a:pPr>
            <a:r>
              <a:rPr sz="9600" b="1" i="0">
                <a:solidFill>
                  <a:srgbClr val="1F4A7A"/>
                </a:solidFill>
                <a:latin typeface="Arial"/>
              </a:rPr>
              <a:t>05</a:t>
            </a:r>
          </a:p>
        </p:txBody>
      </p:sp>
      <p:sp>
        <p:nvSpPr>
          <p:cNvPr id="5" name="TextBox 4"/>
          <p:cNvSpPr txBox="1"/>
          <p:nvPr/>
        </p:nvSpPr>
        <p:spPr>
          <a:xfrm>
            <a:off x="2743200" y="2286000"/>
            <a:ext cx="8138160" cy="1005840"/>
          </a:xfrm>
          <a:prstGeom prst="rect">
            <a:avLst/>
          </a:prstGeom>
          <a:noFill/>
        </p:spPr>
        <p:txBody>
          <a:bodyPr wrap="square" anchor="t" lIns="0" rIns="0" tIns="0" bIns="0">
            <a:spAutoFit/>
          </a:bodyPr>
          <a:lstStyle/>
          <a:p>
            <a:pPr algn="l">
              <a:lnSpc>
                <a:spcPct val="105000"/>
              </a:lnSpc>
              <a:spcBef>
                <a:spcPts val="0"/>
              </a:spcBef>
              <a:spcAft>
                <a:spcPts val="0"/>
              </a:spcAft>
            </a:pPr>
            <a:r>
              <a:rPr sz="3600" b="1" i="0">
                <a:solidFill>
                  <a:srgbClr val="FFFFFF"/>
                </a:solidFill>
                <a:latin typeface="Arial"/>
              </a:rPr>
              <a:t>Công nghệ, dữ liệu và bảo mật</a:t>
            </a:r>
          </a:p>
        </p:txBody>
      </p:sp>
      <p:sp>
        <p:nvSpPr>
          <p:cNvPr id="6" name="Rectangle 5"/>
          <p:cNvSpPr/>
          <p:nvPr/>
        </p:nvSpPr>
        <p:spPr>
          <a:xfrm>
            <a:off x="2743200" y="3611880"/>
            <a:ext cx="1097280" cy="36576"/>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2743200" y="3886200"/>
            <a:ext cx="7863840" cy="1188720"/>
          </a:xfrm>
          <a:prstGeom prst="rect">
            <a:avLst/>
          </a:prstGeom>
          <a:noFill/>
        </p:spPr>
        <p:txBody>
          <a:bodyPr wrap="square" anchor="t" lIns="0" rIns="0" tIns="0" bIns="0">
            <a:spAutoFit/>
          </a:bodyPr>
          <a:lstStyle/>
          <a:p>
            <a:pPr algn="l">
              <a:lnSpc>
                <a:spcPct val="125000"/>
              </a:lnSpc>
              <a:spcBef>
                <a:spcPts val="0"/>
              </a:spcBef>
              <a:spcAft>
                <a:spcPts val="0"/>
              </a:spcAft>
            </a:pPr>
            <a:r>
              <a:rPr sz="1450" b="0" i="0">
                <a:solidFill>
                  <a:srgbClr val="A9BED1"/>
                </a:solidFill>
                <a:latin typeface="Arial"/>
              </a:rPr>
              <a:t>Toàn bộ dùng mã nguồn mở hoặc miễn phí, chạy trên một máy tính văn phòng phổ thông, không phụ thuộc một nhà cung cấp đám mây nào cho phần chức năng lõi.</a:t>
            </a:r>
          </a:p>
        </p:txBody>
      </p:sp>
      <p:sp>
        <p:nvSpPr>
          <p:cNvPr id="8" name="TextBox 7"/>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9" name="TextBox 8"/>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CÔNG NGHỆ</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Nền tảng và công nghệ sử dụng</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Một kho mã hợp nhất (monorepo) quản lý bằng pnpm, gồm 5 ứng dụng và các gói dùng chung.</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31</a:t>
            </a:r>
          </a:p>
        </p:txBody>
      </p:sp>
      <p:graphicFrame>
        <p:nvGraphicFramePr>
          <p:cNvPr id="8" name="Table 7"/>
          <p:cNvGraphicFramePr>
            <a:graphicFrameLocks noGrp="1"/>
          </p:cNvGraphicFramePr>
          <p:nvPr/>
        </p:nvGraphicFramePr>
        <p:xfrm>
          <a:off x="566928" y="1737360"/>
          <a:ext cx="11055095" cy="3931920"/>
        </p:xfrm>
        <a:graphic>
          <a:graphicData uri="http://schemas.openxmlformats.org/drawingml/2006/table">
            <a:tbl>
              <a:tblPr>
                <a:tableStyleId>{5C22544A-7EE6-4342-B048-85BDC9FD1C3A}</a:tableStyleId>
              </a:tblPr>
              <a:tblGrid>
                <a:gridCol w="2026767"/>
                <a:gridCol w="4606290"/>
                <a:gridCol w="4422038"/>
              </a:tblGrid>
              <a:tr h="310896">
                <a:tc>
                  <a:txBody>
                    <a:bodyPr wrap="square"/>
                    <a:lstStyle/>
                    <a:p>
                      <a:pPr algn="l">
                        <a:lnSpc>
                          <a:spcPct val="105000"/>
                        </a:lnSpc>
                        <a:spcBef>
                          <a:spcPts val="0"/>
                        </a:spcBef>
                        <a:spcAft>
                          <a:spcPts val="0"/>
                        </a:spcAft>
                      </a:pPr>
                      <a:r>
                        <a:rPr sz="1050" b="1" i="0">
                          <a:solidFill>
                            <a:srgbClr val="FFFFFF"/>
                          </a:solidFill>
                          <a:latin typeface="Arial"/>
                        </a:rPr>
                        <a:t>Thành phần</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50" b="1" i="0">
                          <a:solidFill>
                            <a:srgbClr val="FFFFFF"/>
                          </a:solidFill>
                          <a:latin typeface="Arial"/>
                        </a:rPr>
                        <a:t>Công nghệ</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50" b="1" i="0">
                          <a:solidFill>
                            <a:srgbClr val="FFFFFF"/>
                          </a:solidFill>
                          <a:latin typeface="Arial"/>
                        </a:rPr>
                        <a:t>Vai trò</a:t>
                      </a:r>
                    </a:p>
                  </a:txBody>
                  <a:tcPr marL="91440" marR="73152" marT="27432" marB="27432" anchor="ctr">
                    <a:solidFill>
                      <a:srgbClr val="0B2545"/>
                    </a:solidFill>
                  </a:tcPr>
                </a:tc>
              </a:tr>
              <a:tr h="402336">
                <a:tc>
                  <a:txBody>
                    <a:bodyPr wrap="square"/>
                    <a:lstStyle/>
                    <a:p>
                      <a:pPr algn="l">
                        <a:lnSpc>
                          <a:spcPct val="108000"/>
                        </a:lnSpc>
                        <a:spcBef>
                          <a:spcPts val="0"/>
                        </a:spcBef>
                        <a:spcAft>
                          <a:spcPts val="0"/>
                        </a:spcAft>
                      </a:pPr>
                      <a:r>
                        <a:rPr sz="1019" b="1" i="0">
                          <a:solidFill>
                            <a:srgbClr val="0B2545"/>
                          </a:solidFill>
                          <a:latin typeface="Arial"/>
                        </a:rPr>
                        <a:t>Backend nghiệp vụ</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19" b="0" i="0">
                          <a:solidFill>
                            <a:srgbClr val="16283C"/>
                          </a:solidFill>
                          <a:latin typeface="Arial"/>
                        </a:rPr>
                        <a:t>NestJS 11 · TypeScript · Prisma · PostgreSQL · Redis · BullMQ · Socket.IO</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19" b="0" i="0">
                          <a:solidFill>
                            <a:srgbClr val="16283C"/>
                          </a:solidFill>
                          <a:latin typeface="Arial"/>
                        </a:rPr>
                        <a:t>Xác thực, phân quyền, giao dịch kho an toàn, rule engine, nhật ký hậu kiểm, thời gian thực</a:t>
                      </a:r>
                    </a:p>
                  </a:txBody>
                  <a:tcPr marL="91440" marR="73152" marT="27432" marB="27432" anchor="ctr">
                    <a:solidFill>
                      <a:srgbClr val="FFFFFF"/>
                    </a:solidFill>
                  </a:tcPr>
                </a:tc>
              </a:tr>
              <a:tr h="402336">
                <a:tc>
                  <a:txBody>
                    <a:bodyPr wrap="square"/>
                    <a:lstStyle/>
                    <a:p>
                      <a:pPr algn="l">
                        <a:lnSpc>
                          <a:spcPct val="108000"/>
                        </a:lnSpc>
                        <a:spcBef>
                          <a:spcPts val="0"/>
                        </a:spcBef>
                        <a:spcAft>
                          <a:spcPts val="0"/>
                        </a:spcAft>
                      </a:pPr>
                      <a:r>
                        <a:rPr sz="1019" b="1" i="0">
                          <a:solidFill>
                            <a:srgbClr val="0B2545"/>
                          </a:solidFill>
                          <a:latin typeface="Arial"/>
                        </a:rPr>
                        <a:t>Web vận hành</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19" b="0" i="0">
                          <a:solidFill>
                            <a:srgbClr val="16283C"/>
                          </a:solidFill>
                          <a:latin typeface="Arial"/>
                        </a:rPr>
                        <a:t>Next.js (App Router) · React · Tailwind CSS · TanStack Query · Leaflet</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19" b="0" i="0">
                          <a:solidFill>
                            <a:srgbClr val="16283C"/>
                          </a:solidFill>
                          <a:latin typeface="Arial"/>
                        </a:rPr>
                        <a:t>13 màn hình nghiệp vụ, bản đồ, biểu đồ, trợ lý, điều hướng theo quyền</a:t>
                      </a:r>
                    </a:p>
                  </a:txBody>
                  <a:tcPr marL="91440" marR="73152" marT="27432" marB="27432" anchor="ctr">
                    <a:solidFill>
                      <a:srgbClr val="F2F5F9"/>
                    </a:solidFill>
                  </a:tcPr>
                </a:tc>
              </a:tr>
              <a:tr h="402336">
                <a:tc>
                  <a:txBody>
                    <a:bodyPr wrap="square"/>
                    <a:lstStyle/>
                    <a:p>
                      <a:pPr algn="l">
                        <a:lnSpc>
                          <a:spcPct val="108000"/>
                        </a:lnSpc>
                        <a:spcBef>
                          <a:spcPts val="0"/>
                        </a:spcBef>
                        <a:spcAft>
                          <a:spcPts val="0"/>
                        </a:spcAft>
                      </a:pPr>
                      <a:r>
                        <a:rPr sz="1019" b="1" i="0">
                          <a:solidFill>
                            <a:srgbClr val="0B2545"/>
                          </a:solidFill>
                          <a:latin typeface="Arial"/>
                        </a:rPr>
                        <a:t>Ứng dụng di động</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19" b="0" i="0">
                          <a:solidFill>
                            <a:srgbClr val="16283C"/>
                          </a:solidFill>
                          <a:latin typeface="Arial"/>
                        </a:rPr>
                        <a:t>React Native 0.76 · Expo SDK 52 · SecureStore · AsyncStorage</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19" b="0" i="0">
                          <a:solidFill>
                            <a:srgbClr val="16283C"/>
                          </a:solidFill>
                          <a:latin typeface="Arial"/>
                        </a:rPr>
                        <a:t>Android 0.5.0, hai giao diện theo vai, quét QR, ghi âm, lưu đệm đọc offline</a:t>
                      </a:r>
                    </a:p>
                  </a:txBody>
                  <a:tcPr marL="91440" marR="73152" marT="27432" marB="27432" anchor="ctr">
                    <a:solidFill>
                      <a:srgbClr val="FFFFFF"/>
                    </a:solidFill>
                  </a:tcPr>
                </a:tc>
              </a:tr>
              <a:tr h="402336">
                <a:tc>
                  <a:txBody>
                    <a:bodyPr wrap="square"/>
                    <a:lstStyle/>
                    <a:p>
                      <a:pPr algn="l">
                        <a:lnSpc>
                          <a:spcPct val="108000"/>
                        </a:lnSpc>
                        <a:spcBef>
                          <a:spcPts val="0"/>
                        </a:spcBef>
                        <a:spcAft>
                          <a:spcPts val="0"/>
                        </a:spcAft>
                      </a:pPr>
                      <a:r>
                        <a:rPr sz="1019" b="1" i="0">
                          <a:solidFill>
                            <a:srgbClr val="0B2545"/>
                          </a:solidFill>
                          <a:latin typeface="Arial"/>
                        </a:rPr>
                        <a:t>Ứng dụng IoT máy tính</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19" b="0" i="0">
                          <a:solidFill>
                            <a:srgbClr val="16283C"/>
                          </a:solidFill>
                          <a:latin typeface="Arial"/>
                        </a:rPr>
                        <a:t>Electron · electron-vite · React</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19" b="0" i="0">
                          <a:solidFill>
                            <a:srgbClr val="16283C"/>
                          </a:solidFill>
                          <a:latin typeface="Arial"/>
                        </a:rPr>
                        <a:t>Bản sao số của kho: thanh trượt cảm biến, chuông tại chỗ, hàng chờ bền vững</a:t>
                      </a:r>
                    </a:p>
                  </a:txBody>
                  <a:tcPr marL="91440" marR="73152" marT="27432" marB="27432" anchor="ctr">
                    <a:solidFill>
                      <a:srgbClr val="F2F5F9"/>
                    </a:solidFill>
                  </a:tcPr>
                </a:tc>
              </a:tr>
              <a:tr h="402336">
                <a:tc>
                  <a:txBody>
                    <a:bodyPr wrap="square"/>
                    <a:lstStyle/>
                    <a:p>
                      <a:pPr algn="l">
                        <a:lnSpc>
                          <a:spcPct val="108000"/>
                        </a:lnSpc>
                        <a:spcBef>
                          <a:spcPts val="0"/>
                        </a:spcBef>
                        <a:spcAft>
                          <a:spcPts val="0"/>
                        </a:spcAft>
                      </a:pPr>
                      <a:r>
                        <a:rPr sz="1019" b="1" i="0">
                          <a:solidFill>
                            <a:srgbClr val="0B2545"/>
                          </a:solidFill>
                          <a:latin typeface="Arial"/>
                        </a:rPr>
                        <a:t>Dịch vụ AI</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19" b="0" i="0">
                          <a:solidFill>
                            <a:srgbClr val="16283C"/>
                          </a:solidFill>
                          <a:latin typeface="Arial"/>
                        </a:rPr>
                        <a:t>Python · FastAPI · Pydantic</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19" b="0" i="0">
                          <a:solidFill>
                            <a:srgbClr val="16283C"/>
                          </a:solidFill>
                          <a:latin typeface="Arial"/>
                        </a:rPr>
                        <a:t>12 điểm cuối: bóc tách, phân tích, ý định hiện trường, kế hoạch, trợ lý, RAG, xếp hạng ngữ nghĩa, giọng nói</a:t>
                      </a:r>
                    </a:p>
                  </a:txBody>
                  <a:tcPr marL="91440" marR="73152" marT="27432" marB="27432" anchor="ctr">
                    <a:solidFill>
                      <a:srgbClr val="FFFFFF"/>
                    </a:solidFill>
                  </a:tcPr>
                </a:tc>
              </a:tr>
              <a:tr h="402336">
                <a:tc>
                  <a:txBody>
                    <a:bodyPr wrap="square"/>
                    <a:lstStyle/>
                    <a:p>
                      <a:pPr algn="l">
                        <a:lnSpc>
                          <a:spcPct val="108000"/>
                        </a:lnSpc>
                        <a:spcBef>
                          <a:spcPts val="0"/>
                        </a:spcBef>
                        <a:spcAft>
                          <a:spcPts val="0"/>
                        </a:spcAft>
                      </a:pPr>
                      <a:r>
                        <a:rPr sz="1019" b="1" i="0">
                          <a:solidFill>
                            <a:srgbClr val="0B2545"/>
                          </a:solidFill>
                          <a:latin typeface="Arial"/>
                        </a:rPr>
                        <a:t>Mô hình ngôn ngữ</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19" b="0" i="0">
                          <a:solidFill>
                            <a:srgbClr val="16283C"/>
                          </a:solidFill>
                          <a:latin typeface="Arial"/>
                        </a:rPr>
                        <a:t>Ollama + Qwen 3.5 4B chạy tại chỗ (Gemini là phương án thay thế qua cấu hình)</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19" b="0" i="0">
                          <a:solidFill>
                            <a:srgbClr val="16283C"/>
                          </a:solidFill>
                          <a:latin typeface="Arial"/>
                        </a:rPr>
                        <a:t>Hiểu tiếng Việt, viết diễn giải, phân loại ý định</a:t>
                      </a:r>
                    </a:p>
                  </a:txBody>
                  <a:tcPr marL="91440" marR="73152" marT="27432" marB="27432" anchor="ctr">
                    <a:solidFill>
                      <a:srgbClr val="F2F5F9"/>
                    </a:solidFill>
                  </a:tcPr>
                </a:tc>
              </a:tr>
              <a:tr h="402336">
                <a:tc>
                  <a:txBody>
                    <a:bodyPr wrap="square"/>
                    <a:lstStyle/>
                    <a:p>
                      <a:pPr algn="l">
                        <a:lnSpc>
                          <a:spcPct val="108000"/>
                        </a:lnSpc>
                        <a:spcBef>
                          <a:spcPts val="0"/>
                        </a:spcBef>
                        <a:spcAft>
                          <a:spcPts val="0"/>
                        </a:spcAft>
                      </a:pPr>
                      <a:r>
                        <a:rPr sz="1019" b="1" i="0">
                          <a:solidFill>
                            <a:srgbClr val="0B2545"/>
                          </a:solidFill>
                          <a:latin typeface="Arial"/>
                        </a:rPr>
                        <a:t>Nhúng vector · Giọng nói</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19" b="0" i="0">
                          <a:solidFill>
                            <a:srgbClr val="16283C"/>
                          </a:solidFill>
                          <a:latin typeface="Arial"/>
                        </a:rPr>
                        <a:t>nomic-embed-text qua Ollama · PhoWhisper (VinAI), PyTorch + Transformers</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19" b="0" i="0">
                          <a:solidFill>
                            <a:srgbClr val="16283C"/>
                          </a:solidFill>
                          <a:latin typeface="Arial"/>
                        </a:rPr>
                        <a:t>Truy hồi tài liệu định mức, tìm theo ngữ nghĩa · chuyển tiếng Việt nói thành chữ</a:t>
                      </a:r>
                    </a:p>
                  </a:txBody>
                  <a:tcPr marL="91440" marR="73152" marT="27432" marB="27432" anchor="ctr">
                    <a:solidFill>
                      <a:srgbClr val="FFFFFF"/>
                    </a:solidFill>
                  </a:tcPr>
                </a:tc>
              </a:tr>
              <a:tr h="402336">
                <a:tc>
                  <a:txBody>
                    <a:bodyPr wrap="square"/>
                    <a:lstStyle/>
                    <a:p>
                      <a:pPr algn="l">
                        <a:lnSpc>
                          <a:spcPct val="108000"/>
                        </a:lnSpc>
                        <a:spcBef>
                          <a:spcPts val="0"/>
                        </a:spcBef>
                        <a:spcAft>
                          <a:spcPts val="0"/>
                        </a:spcAft>
                      </a:pPr>
                      <a:r>
                        <a:rPr sz="1019" b="1" i="0">
                          <a:solidFill>
                            <a:srgbClr val="0B2545"/>
                          </a:solidFill>
                          <a:latin typeface="Arial"/>
                        </a:rPr>
                        <a:t>Bản đồ · Thời tiết</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19" b="0" i="0">
                          <a:solidFill>
                            <a:srgbClr val="16283C"/>
                          </a:solidFill>
                          <a:latin typeface="Arial"/>
                        </a:rPr>
                        <a:t>OSRM dựng cục bộ theo quy trình MLD · ô bản đồ tải sẵn · Open-Meteo</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019" b="0" i="0">
                          <a:solidFill>
                            <a:srgbClr val="16283C"/>
                          </a:solidFill>
                          <a:latin typeface="Arial"/>
                        </a:rPr>
                        <a:t>Tuyến đường bộ offline, quãng đường, thời gian tới nơi · lượng mưa dự báo 72 giờ</a:t>
                      </a:r>
                    </a:p>
                  </a:txBody>
                  <a:tcPr marL="91440" marR="73152" marT="27432" marB="27432" anchor="ctr">
                    <a:solidFill>
                      <a:srgbClr val="F2F5F9"/>
                    </a:solidFill>
                  </a:tcPr>
                </a:tc>
              </a:tr>
              <a:tr h="402336">
                <a:tc>
                  <a:txBody>
                    <a:bodyPr wrap="square"/>
                    <a:lstStyle/>
                    <a:p>
                      <a:pPr algn="l">
                        <a:lnSpc>
                          <a:spcPct val="108000"/>
                        </a:lnSpc>
                        <a:spcBef>
                          <a:spcPts val="0"/>
                        </a:spcBef>
                        <a:spcAft>
                          <a:spcPts val="0"/>
                        </a:spcAft>
                      </a:pPr>
                      <a:r>
                        <a:rPr sz="1019" b="1" i="0">
                          <a:solidFill>
                            <a:srgbClr val="0B2545"/>
                          </a:solidFill>
                          <a:latin typeface="Arial"/>
                        </a:rPr>
                        <a:t>Hạ tầng · Chất lượng</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19" b="0" i="0">
                          <a:solidFill>
                            <a:srgbClr val="16283C"/>
                          </a:solidFill>
                          <a:latin typeface="Arial"/>
                        </a:rPr>
                        <a:t>Docker · Caddy · Cloudflare Tunnel · Jest · pytest · ESLint · GitHub Actions</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019" b="0" i="0">
                          <a:solidFill>
                            <a:srgbClr val="16283C"/>
                          </a:solidFill>
                          <a:latin typeface="Arial"/>
                        </a:rPr>
                        <a:t>Chạy trên máy tính văn phòng phổ thông · cổng chất lượng tự động cho mọi thay đổi</a:t>
                      </a:r>
                    </a:p>
                  </a:txBody>
                  <a:tcPr marL="91440" marR="73152" marT="27432" marB="27432" anchor="ctr">
                    <a:solidFill>
                      <a:srgbClr val="FFFFFF"/>
                    </a:solidFill>
                  </a:tcPr>
                </a:tc>
              </a:tr>
            </a:tbl>
          </a:graphicData>
        </a:graphic>
      </p:graphicFrame>
      <p:sp>
        <p:nvSpPr>
          <p:cNvPr id="9" name="TextBox 8"/>
          <p:cNvSpPr txBox="1"/>
          <p:nvPr/>
        </p:nvSpPr>
        <p:spPr>
          <a:xfrm>
            <a:off x="566928" y="5870447"/>
            <a:ext cx="11055096" cy="457200"/>
          </a:xfrm>
          <a:prstGeom prst="rect">
            <a:avLst/>
          </a:prstGeom>
          <a:noFill/>
        </p:spPr>
        <p:txBody>
          <a:bodyPr wrap="square" anchor="t" lIns="0" rIns="0" tIns="0" bIns="0">
            <a:spAutoFit/>
          </a:bodyPr>
          <a:lstStyle/>
          <a:p>
            <a:pPr algn="l">
              <a:lnSpc>
                <a:spcPct val="115000"/>
              </a:lnSpc>
              <a:spcBef>
                <a:spcPts val="0"/>
              </a:spcBef>
              <a:spcAft>
                <a:spcPts val="0"/>
              </a:spcAft>
            </a:pPr>
            <a:r>
              <a:rPr sz="1050" b="0" i="0">
                <a:solidFill>
                  <a:srgbClr val="5E7387"/>
                </a:solidFill>
                <a:latin typeface="Arial"/>
              </a:rPr>
              <a:t>Cấu hình máy trình diễn: RTX 2060 6 GB chạy đồng thời mô hình ngôn ngữ (~4 GB VRAM) và mô hình nhận dạng giọng nói (~0,5 GB), cả hai giữ thường trú trong bộ nhớ card để câu hỏi đầu tiên không phải chờ nạp.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DỮ LIỆU</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Dữ liệu sử dụng</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Nhóm không huấn luyện lại mô hình ngôn ngữ — đây là lựa chọn có ý thức.</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32</a:t>
            </a:r>
          </a:p>
        </p:txBody>
      </p:sp>
      <p:sp>
        <p:nvSpPr>
          <p:cNvPr id="8" name="Rectangle 7"/>
          <p:cNvSpPr/>
          <p:nvPr/>
        </p:nvSpPr>
        <p:spPr>
          <a:xfrm>
            <a:off x="566928" y="1737360"/>
            <a:ext cx="1454287" cy="10058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1454287"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76656" y="1956815"/>
            <a:ext cx="1234831"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0B2545"/>
                </a:solidFill>
                <a:latin typeface="Arial"/>
              </a:rPr>
              <a:t>18</a:t>
            </a:r>
          </a:p>
        </p:txBody>
      </p:sp>
      <p:sp>
        <p:nvSpPr>
          <p:cNvPr id="11" name="TextBox 10"/>
          <p:cNvSpPr txBox="1"/>
          <p:nvPr/>
        </p:nvSpPr>
        <p:spPr>
          <a:xfrm>
            <a:off x="676656" y="2450591"/>
            <a:ext cx="1234831"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kho</a:t>
            </a:r>
          </a:p>
        </p:txBody>
      </p:sp>
      <p:sp>
        <p:nvSpPr>
          <p:cNvPr id="12" name="Rectangle 11"/>
          <p:cNvSpPr/>
          <p:nvPr/>
        </p:nvSpPr>
        <p:spPr>
          <a:xfrm>
            <a:off x="2167519" y="1737360"/>
            <a:ext cx="1454287" cy="10058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167519" y="1737360"/>
            <a:ext cx="1454287"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77247" y="1956815"/>
            <a:ext cx="1234831"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0B2545"/>
                </a:solidFill>
                <a:latin typeface="Arial"/>
              </a:rPr>
              <a:t>20</a:t>
            </a:r>
          </a:p>
        </p:txBody>
      </p:sp>
      <p:sp>
        <p:nvSpPr>
          <p:cNvPr id="15" name="TextBox 14"/>
          <p:cNvSpPr txBox="1"/>
          <p:nvPr/>
        </p:nvSpPr>
        <p:spPr>
          <a:xfrm>
            <a:off x="2277247" y="2450591"/>
            <a:ext cx="1234831"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tài khoản</a:t>
            </a:r>
          </a:p>
        </p:txBody>
      </p:sp>
      <p:sp>
        <p:nvSpPr>
          <p:cNvPr id="16" name="Rectangle 15"/>
          <p:cNvSpPr/>
          <p:nvPr/>
        </p:nvSpPr>
        <p:spPr>
          <a:xfrm>
            <a:off x="3768111" y="1737360"/>
            <a:ext cx="1454287" cy="10058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768111" y="1737360"/>
            <a:ext cx="1454287"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877839" y="1956815"/>
            <a:ext cx="1234831"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0B2545"/>
                </a:solidFill>
                <a:latin typeface="Arial"/>
              </a:rPr>
              <a:t>17</a:t>
            </a:r>
          </a:p>
        </p:txBody>
      </p:sp>
      <p:sp>
        <p:nvSpPr>
          <p:cNvPr id="19" name="TextBox 18"/>
          <p:cNvSpPr txBox="1"/>
          <p:nvPr/>
        </p:nvSpPr>
        <p:spPr>
          <a:xfrm>
            <a:off x="3877839" y="2450591"/>
            <a:ext cx="1234831"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mã hàng / 6 nhóm</a:t>
            </a:r>
          </a:p>
        </p:txBody>
      </p:sp>
      <p:sp>
        <p:nvSpPr>
          <p:cNvPr id="20" name="Rectangle 19"/>
          <p:cNvSpPr/>
          <p:nvPr/>
        </p:nvSpPr>
        <p:spPr>
          <a:xfrm>
            <a:off x="5368703" y="1737360"/>
            <a:ext cx="1454287" cy="10058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368703" y="1737360"/>
            <a:ext cx="1454287"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478431" y="1956815"/>
            <a:ext cx="1234831"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0B2545"/>
                </a:solidFill>
                <a:latin typeface="Arial"/>
              </a:rPr>
              <a:t>126</a:t>
            </a:r>
          </a:p>
        </p:txBody>
      </p:sp>
      <p:sp>
        <p:nvSpPr>
          <p:cNvPr id="23" name="TextBox 22"/>
          <p:cNvSpPr txBox="1"/>
          <p:nvPr/>
        </p:nvSpPr>
        <p:spPr>
          <a:xfrm>
            <a:off x="5478431" y="2450591"/>
            <a:ext cx="1234831"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lô hàng</a:t>
            </a:r>
          </a:p>
        </p:txBody>
      </p:sp>
      <p:sp>
        <p:nvSpPr>
          <p:cNvPr id="24" name="Rectangle 23"/>
          <p:cNvSpPr/>
          <p:nvPr/>
        </p:nvSpPr>
        <p:spPr>
          <a:xfrm>
            <a:off x="6969295" y="1737360"/>
            <a:ext cx="1454287" cy="10058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969295" y="1737360"/>
            <a:ext cx="1454287"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079023" y="1956815"/>
            <a:ext cx="1234831"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0B2545"/>
                </a:solidFill>
                <a:latin typeface="Arial"/>
              </a:rPr>
              <a:t>126</a:t>
            </a:r>
          </a:p>
        </p:txBody>
      </p:sp>
      <p:sp>
        <p:nvSpPr>
          <p:cNvPr id="27" name="TextBox 26"/>
          <p:cNvSpPr txBox="1"/>
          <p:nvPr/>
        </p:nvSpPr>
        <p:spPr>
          <a:xfrm>
            <a:off x="7079023" y="2450591"/>
            <a:ext cx="1234831"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bản kiểm kê</a:t>
            </a:r>
          </a:p>
        </p:txBody>
      </p:sp>
      <p:sp>
        <p:nvSpPr>
          <p:cNvPr id="28" name="Rectangle 27"/>
          <p:cNvSpPr/>
          <p:nvPr/>
        </p:nvSpPr>
        <p:spPr>
          <a:xfrm>
            <a:off x="8569887" y="1737360"/>
            <a:ext cx="1454287" cy="10058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569887" y="1737360"/>
            <a:ext cx="1454287"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679615" y="1956815"/>
            <a:ext cx="1234831"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0B2545"/>
                </a:solidFill>
                <a:latin typeface="Arial"/>
              </a:rPr>
              <a:t>68</a:t>
            </a:r>
          </a:p>
        </p:txBody>
      </p:sp>
      <p:sp>
        <p:nvSpPr>
          <p:cNvPr id="31" name="TextBox 30"/>
          <p:cNvSpPr txBox="1"/>
          <p:nvPr/>
        </p:nvSpPr>
        <p:spPr>
          <a:xfrm>
            <a:off x="8679615" y="2450591"/>
            <a:ext cx="1234831"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thiết bị</a:t>
            </a:r>
          </a:p>
        </p:txBody>
      </p:sp>
      <p:sp>
        <p:nvSpPr>
          <p:cNvPr id="32" name="Rectangle 31"/>
          <p:cNvSpPr/>
          <p:nvPr/>
        </p:nvSpPr>
        <p:spPr>
          <a:xfrm>
            <a:off x="10170479" y="1737360"/>
            <a:ext cx="1454287" cy="100584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0170479" y="1737360"/>
            <a:ext cx="1454287"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0280207" y="1956815"/>
            <a:ext cx="1234831" cy="457200"/>
          </a:xfrm>
          <a:prstGeom prst="rect">
            <a:avLst/>
          </a:prstGeom>
          <a:noFill/>
        </p:spPr>
        <p:txBody>
          <a:bodyPr wrap="square" anchor="t" lIns="0" rIns="0" tIns="0" bIns="0">
            <a:spAutoFit/>
          </a:bodyPr>
          <a:lstStyle/>
          <a:p>
            <a:pPr algn="ctr">
              <a:lnSpc>
                <a:spcPct val="100000"/>
              </a:lnSpc>
              <a:spcBef>
                <a:spcPts val="0"/>
              </a:spcBef>
              <a:spcAft>
                <a:spcPts val="0"/>
              </a:spcAft>
            </a:pPr>
            <a:r>
              <a:rPr sz="2200" b="1" i="0">
                <a:solidFill>
                  <a:srgbClr val="0B2545"/>
                </a:solidFill>
                <a:latin typeface="Arial"/>
              </a:rPr>
              <a:t>190</a:t>
            </a:r>
          </a:p>
        </p:txBody>
      </p:sp>
      <p:sp>
        <p:nvSpPr>
          <p:cNvPr id="35" name="TextBox 34"/>
          <p:cNvSpPr txBox="1"/>
          <p:nvPr/>
        </p:nvSpPr>
        <p:spPr>
          <a:xfrm>
            <a:off x="10280207" y="2450591"/>
            <a:ext cx="1234831"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giao dịch lịch sử</a:t>
            </a:r>
          </a:p>
        </p:txBody>
      </p:sp>
      <p:sp>
        <p:nvSpPr>
          <p:cNvPr id="36" name="Rectangle 35"/>
          <p:cNvSpPr/>
          <p:nvPr/>
        </p:nvSpPr>
        <p:spPr>
          <a:xfrm>
            <a:off x="566928" y="2971800"/>
            <a:ext cx="3566160" cy="21031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566928" y="2971800"/>
            <a:ext cx="50292" cy="21031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04672" y="3145536"/>
            <a:ext cx="310896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Định mức cứu trợ</a:t>
            </a:r>
          </a:p>
        </p:txBody>
      </p:sp>
      <p:sp>
        <p:nvSpPr>
          <p:cNvPr id="39" name="TextBox 38"/>
          <p:cNvSpPr txBox="1"/>
          <p:nvPr/>
        </p:nvSpPr>
        <p:spPr>
          <a:xfrm>
            <a:off x="804672" y="3529584"/>
            <a:ext cx="3108960" cy="139903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Sphere Handbook 2018 (bản PDF gốc), hướng dẫn IFRC, quy định phòng chống thiên tai Việt Nam. Mã hóa thành bảng định mức có dẫn nguồn trong mã nguồn; ghi rõ là định mức tham khảo, phải được nghiệp vụ địa phương duyệt trước khi dùng thật.</a:t>
            </a:r>
          </a:p>
        </p:txBody>
      </p:sp>
      <p:sp>
        <p:nvSpPr>
          <p:cNvPr id="40" name="Rectangle 39"/>
          <p:cNvSpPr/>
          <p:nvPr/>
        </p:nvSpPr>
        <p:spPr>
          <a:xfrm>
            <a:off x="4315968" y="2971800"/>
            <a:ext cx="3566160" cy="21031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4315968" y="2971800"/>
            <a:ext cx="50292" cy="210312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53712" y="3145536"/>
            <a:ext cx="310896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Kho tri thức cho trợ lý (RAG)</a:t>
            </a:r>
          </a:p>
        </p:txBody>
      </p:sp>
      <p:sp>
        <p:nvSpPr>
          <p:cNvPr id="43" name="TextBox 42"/>
          <p:cNvSpPr txBox="1"/>
          <p:nvPr/>
        </p:nvSpPr>
        <p:spPr>
          <a:xfrm>
            <a:off x="4553712" y="3529584"/>
            <a:ext cx="3108960" cy="139903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8 tài liệu biên tập: định mức cứu trợ, tiêu chuẩn Sphere, nước – vệ sinh – phòng bệnh, an toàn lương thực, nơi ở khẩn cấp, phân loại ưu tiên nạn nhân, ứng phó bão lũ, sơ cứu. Mỗi đoạn ≤ 220 từ, bắt buộc kèm nguồn và ngày truy cập.</a:t>
            </a:r>
          </a:p>
        </p:txBody>
      </p:sp>
      <p:sp>
        <p:nvSpPr>
          <p:cNvPr id="44" name="Rectangle 43"/>
          <p:cNvSpPr/>
          <p:nvPr/>
        </p:nvSpPr>
        <p:spPr>
          <a:xfrm>
            <a:off x="8065008" y="2971800"/>
            <a:ext cx="3557016" cy="21031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8065008" y="2971800"/>
            <a:ext cx="50292" cy="21031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302752" y="3145536"/>
            <a:ext cx="3099816"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Dữ liệu địa lý và đường bộ</a:t>
            </a:r>
          </a:p>
        </p:txBody>
      </p:sp>
      <p:sp>
        <p:nvSpPr>
          <p:cNvPr id="47" name="TextBox 46"/>
          <p:cNvSpPr txBox="1"/>
          <p:nvPr/>
        </p:nvSpPr>
        <p:spPr>
          <a:xfrm>
            <a:off x="8302752" y="3529584"/>
            <a:ext cx="3099816" cy="1399032"/>
          </a:xfrm>
          <a:prstGeom prst="rect">
            <a:avLst/>
          </a:prstGeom>
          <a:noFill/>
        </p:spPr>
        <p:txBody>
          <a:bodyPr wrap="square" anchor="t" lIns="0" rIns="0" tIns="0" bIns="0">
            <a:spAutoFit/>
          </a:bodyPr>
          <a:lstStyle/>
          <a:p>
            <a:pPr algn="l">
              <a:lnSpc>
                <a:spcPct val="116000"/>
              </a:lnSpc>
              <a:spcBef>
                <a:spcPts val="0"/>
              </a:spcBef>
              <a:spcAft>
                <a:spcPts val="0"/>
              </a:spcAft>
            </a:pPr>
            <a:r>
              <a:rPr sz="1120" b="0" i="0">
                <a:solidFill>
                  <a:srgbClr val="5E7387"/>
                </a:solidFill>
                <a:latin typeface="Arial"/>
              </a:rPr>
              <a:t>Danh mục 17 thôn theo công bố 01/07/2026 của UBND xã Đồng Xuân. Chỉ điền tọa độ khi địa điểm đã xác minh — điểm chưa xác minh để trống chờ quản trị ghim tay. Đường bộ trích xuất OpenStreetMap, dựng thành đồ thị định tuyến có mã kiểm tra toàn vẹn.</a:t>
            </a:r>
          </a:p>
        </p:txBody>
      </p:sp>
      <p:sp>
        <p:nvSpPr>
          <p:cNvPr id="48" name="Rectangle 47"/>
          <p:cNvSpPr/>
          <p:nvPr/>
        </p:nvSpPr>
        <p:spPr>
          <a:xfrm>
            <a:off x="566928" y="5257800"/>
            <a:ext cx="11055096" cy="1234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68680" y="5440680"/>
            <a:ext cx="10424160" cy="914400"/>
          </a:xfrm>
          <a:prstGeom prst="rect">
            <a:avLst/>
          </a:prstGeom>
          <a:noFill/>
        </p:spPr>
        <p:txBody>
          <a:bodyPr wrap="square" anchor="t" lIns="0" rIns="0" tIns="0" bIns="0">
            <a:spAutoFit/>
          </a:bodyPr>
          <a:lstStyle/>
          <a:p>
            <a:pPr algn="l">
              <a:lnSpc>
                <a:spcPct val="112000"/>
              </a:lnSpc>
              <a:spcBef>
                <a:spcPts val="0"/>
              </a:spcBef>
              <a:spcAft>
                <a:spcPts val="400"/>
              </a:spcAft>
            </a:pPr>
            <a:r>
              <a:rPr sz="1250" b="1" i="0">
                <a:solidFill>
                  <a:srgbClr val="FFFFFF"/>
                </a:solidFill>
                <a:latin typeface="Arial"/>
              </a:rPr>
              <a:t>Vì sao không tinh chỉnh mô hình?</a:t>
            </a:r>
          </a:p>
          <a:p>
            <a:pPr algn="l">
              <a:lnSpc>
                <a:spcPct val="118000"/>
              </a:lnSpc>
              <a:spcBef>
                <a:spcPts val="0"/>
              </a:spcBef>
              <a:spcAft>
                <a:spcPts val="0"/>
              </a:spcAft>
            </a:pPr>
            <a:r>
              <a:rPr sz="1150" b="0" i="0">
                <a:solidFill>
                  <a:srgbClr val="B9CBDC"/>
                </a:solidFill>
                <a:latin typeface="Arial"/>
              </a:rPr>
              <a:t>Dữ liệu cứu trợ ở một xã không đủ để huấn luyện an toàn, và một mô hình đã tinh chỉnh trên dữ liệu ít sẽ tự tin sai. Thay vào đó, độ chính xác được bảo đảm bằng ba lớp kỹ thuật khác: truy hồi tài liệu có nguồn (RAG), neo dữ kiện vào văn bản gốc, và kiểm chứng số liệu ở đầu ra.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AN TOÀN HỆ THỐNG</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Bảo mật, phân quyền và toàn vẹn dữ liệu</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Một hệ thống kho sai số là một hệ thống vô dụng — đây là phần nhóm đầu tư nhiều công sức nhất.</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33</a:t>
            </a:r>
          </a:p>
        </p:txBody>
      </p:sp>
      <p:sp>
        <p:nvSpPr>
          <p:cNvPr id="8" name="Rectangle 7"/>
          <p:cNvSpPr/>
          <p:nvPr/>
        </p:nvSpPr>
        <p:spPr>
          <a:xfrm>
            <a:off x="566928" y="1737360"/>
            <a:ext cx="3550920" cy="384048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384048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911095"/>
            <a:ext cx="3093720"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Xác thực và quản lý phiên</a:t>
            </a:r>
          </a:p>
        </p:txBody>
      </p:sp>
      <p:sp>
        <p:nvSpPr>
          <p:cNvPr id="11" name="TextBox 10"/>
          <p:cNvSpPr txBox="1"/>
          <p:nvPr/>
        </p:nvSpPr>
        <p:spPr>
          <a:xfrm>
            <a:off x="804672" y="2295144"/>
            <a:ext cx="3093720" cy="313639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Mật khẩu băm bcrypt; khóa truy cập 15 phút, khóa làm mới 7 ngày, xoay số phiên bản mỗi lần đăng nhập.</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Đăng xuất thu hồi phiên ở phía máy chủ, không chỉ xóa dữ liệu ở máy người dùng.</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Giới hạn 5 lần đăng nhập sai trong 15 phút thì khóa 15 phút.</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Web: khóa truy cập chỉ nằm trong bộ nhớ tiến trình, khóa làm mới trong cookie HttpOnly.</a:t>
            </a:r>
          </a:p>
        </p:txBody>
      </p:sp>
      <p:sp>
        <p:nvSpPr>
          <p:cNvPr id="12" name="Rectangle 11"/>
          <p:cNvSpPr/>
          <p:nvPr/>
        </p:nvSpPr>
        <p:spPr>
          <a:xfrm>
            <a:off x="4319016" y="1737360"/>
            <a:ext cx="3550920" cy="384048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19016" y="1737360"/>
            <a:ext cx="50292" cy="384048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56760" y="1911095"/>
            <a:ext cx="3093720"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Phân quyền</a:t>
            </a:r>
          </a:p>
        </p:txBody>
      </p:sp>
      <p:sp>
        <p:nvSpPr>
          <p:cNvPr id="15" name="TextBox 14"/>
          <p:cNvSpPr txBox="1"/>
          <p:nvPr/>
        </p:nvSpPr>
        <p:spPr>
          <a:xfrm>
            <a:off x="4556760" y="2295144"/>
            <a:ext cx="3093720" cy="313639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29 quyền hạt mịn dạng tài-nguyên:hành-động, ánh xạ sang 3 vai tại một nguồn duy nhất dùng chung cho backend và giao diện — không thể lệch nhau.</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Phạm vi tổ chức và kho áp cho mọi thao tác đọc, ghi, ảnh chụp phân tích AI và kênh thời gian thực.</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Giao diện chỉ hiện mục có quyền, nhưng máy chủ kiểm tra lại độc lập ở từng lời gọi.</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Thiết bị phần cứng không dùng tài khoản người dùng — mỗi cổng thu phát có khóa riêng, lưu dạng băm.</a:t>
            </a:r>
          </a:p>
        </p:txBody>
      </p:sp>
      <p:sp>
        <p:nvSpPr>
          <p:cNvPr id="16" name="Rectangle 15"/>
          <p:cNvSpPr/>
          <p:nvPr/>
        </p:nvSpPr>
        <p:spPr>
          <a:xfrm>
            <a:off x="8071104" y="1737360"/>
            <a:ext cx="3550920" cy="384048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071104" y="1737360"/>
            <a:ext cx="50292" cy="384048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08847" y="1911095"/>
            <a:ext cx="3093720" cy="36576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0B2545"/>
                </a:solidFill>
                <a:latin typeface="Arial"/>
              </a:rPr>
              <a:t>Toàn vẹn dữ liệu</a:t>
            </a:r>
          </a:p>
        </p:txBody>
      </p:sp>
      <p:sp>
        <p:nvSpPr>
          <p:cNvPr id="19" name="TextBox 18"/>
          <p:cNvSpPr txBox="1"/>
          <p:nvPr/>
        </p:nvSpPr>
        <p:spPr>
          <a:xfrm>
            <a:off x="8308847" y="2295144"/>
            <a:ext cx="3093720" cy="313639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Không cho tồn âm trong mọi đường đi.</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Giao dịch, khóa hàng, khóa tư vấn, so-sánh-rồi-ghi và khóa chống gửi trùng cho mọi thao tác đổi tồn kho.</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Hai người bấm cùng lúc: một người thành công, người kia nhận thông báo rõ ràng — có bộ kiểm thử riêng.</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Máy chủ sập giữa lúc chuyển kho: lần khởi động sau tự làm nốt phần dở, không chuyển hai lần.</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Nhật ký hậu kiểm ghi trong cùng giao dịch với thay đổi dữ liệu.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AN TOÀN AI</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An toàn cho phần trí tuệ nhân tạo — rủi ro và biện pháp có trong sản phẩm</a:t>
            </a:r>
          </a:p>
        </p:txBody>
      </p:sp>
      <p:sp>
        <p:nvSpPr>
          <p:cNvPr id="5" name="TextBox 4"/>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6" name="TextBox 5"/>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34</a:t>
            </a:r>
          </a:p>
        </p:txBody>
      </p:sp>
      <p:graphicFrame>
        <p:nvGraphicFramePr>
          <p:cNvPr id="7" name="Table 6"/>
          <p:cNvGraphicFramePr>
            <a:graphicFrameLocks noGrp="1"/>
          </p:cNvGraphicFramePr>
          <p:nvPr/>
        </p:nvGraphicFramePr>
        <p:xfrm>
          <a:off x="566928" y="1316736"/>
          <a:ext cx="11055095" cy="3986784"/>
        </p:xfrm>
        <a:graphic>
          <a:graphicData uri="http://schemas.openxmlformats.org/drawingml/2006/table">
            <a:tbl>
              <a:tblPr>
                <a:tableStyleId>{5C22544A-7EE6-4342-B048-85BDC9FD1C3A}</a:tableStyleId>
              </a:tblPr>
              <a:tblGrid>
                <a:gridCol w="2763773"/>
                <a:gridCol w="8291322"/>
              </a:tblGrid>
              <a:tr h="329184">
                <a:tc>
                  <a:txBody>
                    <a:bodyPr wrap="square"/>
                    <a:lstStyle/>
                    <a:p>
                      <a:pPr algn="l">
                        <a:lnSpc>
                          <a:spcPct val="105000"/>
                        </a:lnSpc>
                        <a:spcBef>
                          <a:spcPts val="0"/>
                        </a:spcBef>
                        <a:spcAft>
                          <a:spcPts val="0"/>
                        </a:spcAft>
                      </a:pPr>
                      <a:r>
                        <a:rPr sz="1080" b="1" i="0">
                          <a:solidFill>
                            <a:srgbClr val="FFFFFF"/>
                          </a:solidFill>
                          <a:latin typeface="Arial"/>
                        </a:rPr>
                        <a:t>Rủi ro</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Biện pháp trong sản phẩm</a:t>
                      </a:r>
                    </a:p>
                  </a:txBody>
                  <a:tcPr marL="91440" marR="73152" marT="27432" marB="27432" anchor="ctr">
                    <a:solidFill>
                      <a:srgbClr val="0B2545"/>
                    </a:solidFill>
                  </a:tcPr>
                </a:tc>
              </a:tr>
              <a:tr h="457200">
                <a:tc>
                  <a:txBody>
                    <a:bodyPr wrap="square"/>
                    <a:lstStyle/>
                    <a:p>
                      <a:pPr algn="l">
                        <a:lnSpc>
                          <a:spcPct val="108000"/>
                        </a:lnSpc>
                        <a:spcBef>
                          <a:spcPts val="0"/>
                        </a:spcBef>
                        <a:spcAft>
                          <a:spcPts val="0"/>
                        </a:spcAft>
                      </a:pPr>
                      <a:r>
                        <a:rPr sz="1100" b="1" i="0">
                          <a:solidFill>
                            <a:srgbClr val="0B2545"/>
                          </a:solidFill>
                          <a:latin typeface="Arial"/>
                        </a:rPr>
                        <a:t>Mô hình bịa số</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Đối chiếu từng con số trong câu trả lời với ảnh chụp dữ liệu; không đạt thì thay cả câu bằng câu an toàn. Hai đường trả lời dùng chung một bộ kiểm</a:t>
                      </a:r>
                    </a:p>
                  </a:txBody>
                  <a:tcPr marL="91440" marR="73152" marT="27432" marB="27432" anchor="ctr">
                    <a:solidFill>
                      <a:srgbClr val="FFFFFF"/>
                    </a:solidFill>
                  </a:tcPr>
                </a:tc>
              </a:tr>
              <a:tr h="457200">
                <a:tc>
                  <a:txBody>
                    <a:bodyPr wrap="square"/>
                    <a:lstStyle/>
                    <a:p>
                      <a:pPr algn="l">
                        <a:lnSpc>
                          <a:spcPct val="108000"/>
                        </a:lnSpc>
                        <a:spcBef>
                          <a:spcPts val="0"/>
                        </a:spcBef>
                        <a:spcAft>
                          <a:spcPts val="0"/>
                        </a:spcAft>
                      </a:pPr>
                      <a:r>
                        <a:rPr sz="1100" b="1" i="0">
                          <a:solidFill>
                            <a:srgbClr val="0B2545"/>
                          </a:solidFill>
                          <a:latin typeface="Arial"/>
                        </a:rPr>
                        <a:t>Mô hình bịa dữ kiện từ báo cáo</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Neo vào văn bản gốc: dò lại từng con số trong chính câu người dùng nói; con số không tìm thấy sẽ bị loại</a:t>
                      </a:r>
                    </a:p>
                  </a:txBody>
                  <a:tcPr marL="91440" marR="73152" marT="27432" marB="27432" anchor="ctr">
                    <a:solidFill>
                      <a:srgbClr val="F2F5F9"/>
                    </a:solidFill>
                  </a:tcPr>
                </a:tc>
              </a:tr>
              <a:tr h="457200">
                <a:tc>
                  <a:txBody>
                    <a:bodyPr wrap="square"/>
                    <a:lstStyle/>
                    <a:p>
                      <a:pPr algn="l">
                        <a:lnSpc>
                          <a:spcPct val="108000"/>
                        </a:lnSpc>
                        <a:spcBef>
                          <a:spcPts val="0"/>
                        </a:spcBef>
                        <a:spcAft>
                          <a:spcPts val="0"/>
                        </a:spcAft>
                      </a:pPr>
                      <a:r>
                        <a:rPr sz="1100" b="1" i="0">
                          <a:solidFill>
                            <a:srgbClr val="0B2545"/>
                          </a:solidFill>
                          <a:latin typeface="Arial"/>
                        </a:rPr>
                        <a:t>Bịa địa điểm, tọa độ, tuyến đường</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AI chỉ được tra cứu điểm đã xác minh trong danh mục do quản trị cấu hình; không geocode, không sinh tọa độ, không vẽ tuyến</a:t>
                      </a:r>
                    </a:p>
                  </a:txBody>
                  <a:tcPr marL="91440" marR="73152" marT="27432" marB="27432" anchor="ctr">
                    <a:solidFill>
                      <a:srgbClr val="FFFFFF"/>
                    </a:solidFill>
                  </a:tcPr>
                </a:tc>
              </a:tr>
              <a:tr h="457200">
                <a:tc>
                  <a:txBody>
                    <a:bodyPr wrap="square"/>
                    <a:lstStyle/>
                    <a:p>
                      <a:pPr algn="l">
                        <a:lnSpc>
                          <a:spcPct val="108000"/>
                        </a:lnSpc>
                        <a:spcBef>
                          <a:spcPts val="0"/>
                        </a:spcBef>
                        <a:spcAft>
                          <a:spcPts val="0"/>
                        </a:spcAft>
                      </a:pPr>
                      <a:r>
                        <a:rPr sz="1100" b="1" i="0">
                          <a:solidFill>
                            <a:srgbClr val="0B2545"/>
                          </a:solidFill>
                          <a:latin typeface="Arial"/>
                        </a:rPr>
                        <a:t>Tiêm lệnh qua nội dung báo cáo</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Bộ dấu hiệu nhận biết tiêm lệnh trong đường bóc tách; dữ liệu nghiệp vụ đưa vào dưới dạng dữ liệu, không dưới dạng chỉ dẫn</a:t>
                      </a:r>
                    </a:p>
                  </a:txBody>
                  <a:tcPr marL="91440" marR="73152" marT="27432" marB="27432" anchor="ctr">
                    <a:solidFill>
                      <a:srgbClr val="F2F5F9"/>
                    </a:solidFill>
                  </a:tcPr>
                </a:tc>
              </a:tr>
              <a:tr h="457200">
                <a:tc>
                  <a:txBody>
                    <a:bodyPr wrap="square"/>
                    <a:lstStyle/>
                    <a:p>
                      <a:pPr algn="l">
                        <a:lnSpc>
                          <a:spcPct val="108000"/>
                        </a:lnSpc>
                        <a:spcBef>
                          <a:spcPts val="0"/>
                        </a:spcBef>
                        <a:spcAft>
                          <a:spcPts val="0"/>
                        </a:spcAft>
                      </a:pPr>
                      <a:r>
                        <a:rPr sz="1100" b="1" i="0">
                          <a:solidFill>
                            <a:srgbClr val="0B2545"/>
                          </a:solidFill>
                          <a:latin typeface="Arial"/>
                        </a:rPr>
                        <a:t>Trả lời ngoài phạm vi</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Chặn câu hỏi ngoài phạm vi và không kéo theo số liệu kho vào câu trả lời</a:t>
                      </a:r>
                    </a:p>
                  </a:txBody>
                  <a:tcPr marL="91440" marR="73152" marT="27432" marB="27432" anchor="ctr">
                    <a:solidFill>
                      <a:srgbClr val="FFFFFF"/>
                    </a:solidFill>
                  </a:tcPr>
                </a:tc>
              </a:tr>
              <a:tr h="457200">
                <a:tc>
                  <a:txBody>
                    <a:bodyPr wrap="square"/>
                    <a:lstStyle/>
                    <a:p>
                      <a:pPr algn="l">
                        <a:lnSpc>
                          <a:spcPct val="108000"/>
                        </a:lnSpc>
                        <a:spcBef>
                          <a:spcPts val="0"/>
                        </a:spcBef>
                        <a:spcAft>
                          <a:spcPts val="0"/>
                        </a:spcAft>
                      </a:pPr>
                      <a:r>
                        <a:rPr sz="1100" b="1" i="0">
                          <a:solidFill>
                            <a:srgbClr val="0B2545"/>
                          </a:solidFill>
                          <a:latin typeface="Arial"/>
                        </a:rPr>
                        <a:t>Trích dẫn giả</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Nguồn hiển thị do hệ thống dựng lại từ đoạn tài liệu được truy hồi, không tin trích dẫn mô hình tự viết</a:t>
                      </a:r>
                    </a:p>
                  </a:txBody>
                  <a:tcPr marL="91440" marR="73152" marT="27432" marB="27432" anchor="ctr">
                    <a:solidFill>
                      <a:srgbClr val="F2F5F9"/>
                    </a:solidFill>
                  </a:tcPr>
                </a:tc>
              </a:tr>
              <a:tr h="457200">
                <a:tc>
                  <a:txBody>
                    <a:bodyPr wrap="square"/>
                    <a:lstStyle/>
                    <a:p>
                      <a:pPr algn="l">
                        <a:lnSpc>
                          <a:spcPct val="108000"/>
                        </a:lnSpc>
                        <a:spcBef>
                          <a:spcPts val="0"/>
                        </a:spcBef>
                        <a:spcAft>
                          <a:spcPts val="0"/>
                        </a:spcAft>
                      </a:pPr>
                      <a:r>
                        <a:rPr sz="1100" b="1" i="0">
                          <a:solidFill>
                            <a:srgbClr val="0B2545"/>
                          </a:solidFill>
                          <a:latin typeface="Arial"/>
                        </a:rPr>
                        <a:t>AI vượt quyền</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AI không có quyền duyệt, điều động, phân công người, chạy lệnh hệ thống, truy vấn cơ sở dữ liệu trực tiếp hay thực hiện bất kỳ thay đổi dữ liệu nào</a:t>
                      </a:r>
                    </a:p>
                  </a:txBody>
                  <a:tcPr marL="91440" marR="73152" marT="27432" marB="27432" anchor="ctr">
                    <a:solidFill>
                      <a:srgbClr val="FFFFFF"/>
                    </a:solidFill>
                  </a:tcPr>
                </a:tc>
              </a:tr>
              <a:tr h="457200">
                <a:tc>
                  <a:txBody>
                    <a:bodyPr wrap="square"/>
                    <a:lstStyle/>
                    <a:p>
                      <a:pPr algn="l">
                        <a:lnSpc>
                          <a:spcPct val="108000"/>
                        </a:lnSpc>
                        <a:spcBef>
                          <a:spcPts val="0"/>
                        </a:spcBef>
                        <a:spcAft>
                          <a:spcPts val="0"/>
                        </a:spcAft>
                      </a:pPr>
                      <a:r>
                        <a:rPr sz="1100" b="1" i="0">
                          <a:solidFill>
                            <a:srgbClr val="0B2545"/>
                          </a:solidFill>
                          <a:latin typeface="Arial"/>
                        </a:rPr>
                        <a:t>Mô hình treo hoặc quá tải</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Có thời hạn chờ và hủy lời gọi, bộ nhớ đệm giới hạn; mọi đường AI đều có phương án dự phòng tất định</a:t>
                      </a:r>
                    </a:p>
                  </a:txBody>
                  <a:tcPr marL="91440" marR="73152" marT="27432" marB="27432" anchor="ctr">
                    <a:solidFill>
                      <a:srgbClr val="F2F5F9"/>
                    </a:solidFill>
                  </a:tcPr>
                </a:tc>
              </a:tr>
            </a:tbl>
          </a:graphicData>
        </a:graphic>
      </p:graphicFrame>
      <p:sp>
        <p:nvSpPr>
          <p:cNvPr id="8" name="TextBox 7"/>
          <p:cNvSpPr txBox="1"/>
          <p:nvPr/>
        </p:nvSpPr>
        <p:spPr>
          <a:xfrm>
            <a:off x="566928" y="5532120"/>
            <a:ext cx="11055096" cy="457200"/>
          </a:xfrm>
          <a:prstGeom prst="rect">
            <a:avLst/>
          </a:prstGeom>
          <a:noFill/>
        </p:spPr>
        <p:txBody>
          <a:bodyPr wrap="square" anchor="t" lIns="0" rIns="0" tIns="0" bIns="0">
            <a:spAutoFit/>
          </a:bodyPr>
          <a:lstStyle/>
          <a:p>
            <a:pPr algn="l">
              <a:lnSpc>
                <a:spcPct val="115000"/>
              </a:lnSpc>
              <a:spcBef>
                <a:spcPts val="0"/>
              </a:spcBef>
              <a:spcAft>
                <a:spcPts val="0"/>
              </a:spcAft>
            </a:pPr>
            <a:r>
              <a:rPr sz="1100" b="1" i="0">
                <a:solidFill>
                  <a:srgbClr val="0B2545"/>
                </a:solidFill>
                <a:latin typeface="Arial"/>
              </a:rPr>
              <a:t>Bảo vệ dữ liệu cá nhân: chỉ lưu họ tên, số điện thoại, thư điện tử, vai trò và kho phụ trách. Không lưu bản ghi âm thô · không nhận ảnh hoặc video hiện trường · không nhận diện khuôn mặt · không theo dõi vị trí liên tục.</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2057400"/>
            <a:ext cx="2743200" cy="1371600"/>
          </a:xfrm>
          <a:prstGeom prst="rect">
            <a:avLst/>
          </a:prstGeom>
          <a:noFill/>
        </p:spPr>
        <p:txBody>
          <a:bodyPr wrap="square" anchor="t" lIns="0" rIns="0" tIns="0" bIns="0">
            <a:spAutoFit/>
          </a:bodyPr>
          <a:lstStyle/>
          <a:p>
            <a:pPr algn="l">
              <a:lnSpc>
                <a:spcPct val="100000"/>
              </a:lnSpc>
              <a:spcBef>
                <a:spcPts val="0"/>
              </a:spcBef>
              <a:spcAft>
                <a:spcPts val="0"/>
              </a:spcAft>
            </a:pPr>
            <a:r>
              <a:rPr sz="9600" b="1" i="0">
                <a:solidFill>
                  <a:srgbClr val="1F4A7A"/>
                </a:solidFill>
                <a:latin typeface="Arial"/>
              </a:rPr>
              <a:t>06</a:t>
            </a:r>
          </a:p>
        </p:txBody>
      </p:sp>
      <p:sp>
        <p:nvSpPr>
          <p:cNvPr id="5" name="TextBox 4"/>
          <p:cNvSpPr txBox="1"/>
          <p:nvPr/>
        </p:nvSpPr>
        <p:spPr>
          <a:xfrm>
            <a:off x="2743200" y="2286000"/>
            <a:ext cx="8138160" cy="1005840"/>
          </a:xfrm>
          <a:prstGeom prst="rect">
            <a:avLst/>
          </a:prstGeom>
          <a:noFill/>
        </p:spPr>
        <p:txBody>
          <a:bodyPr wrap="square" anchor="t" lIns="0" rIns="0" tIns="0" bIns="0">
            <a:spAutoFit/>
          </a:bodyPr>
          <a:lstStyle/>
          <a:p>
            <a:pPr algn="l">
              <a:lnSpc>
                <a:spcPct val="105000"/>
              </a:lnSpc>
              <a:spcBef>
                <a:spcPts val="0"/>
              </a:spcBef>
              <a:spcAft>
                <a:spcPts val="0"/>
              </a:spcAft>
            </a:pPr>
            <a:r>
              <a:rPr sz="3600" b="1" i="0">
                <a:solidFill>
                  <a:srgbClr val="FFFFFF"/>
                </a:solidFill>
                <a:latin typeface="Arial"/>
              </a:rPr>
              <a:t>Kết quả, khả thi và lộ trình</a:t>
            </a:r>
          </a:p>
        </p:txBody>
      </p:sp>
      <p:sp>
        <p:nvSpPr>
          <p:cNvPr id="6" name="Rectangle 5"/>
          <p:cNvSpPr/>
          <p:nvPr/>
        </p:nvSpPr>
        <p:spPr>
          <a:xfrm>
            <a:off x="2743200" y="3611880"/>
            <a:ext cx="1097280" cy="36576"/>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2743200" y="3886200"/>
            <a:ext cx="7863840" cy="1188720"/>
          </a:xfrm>
          <a:prstGeom prst="rect">
            <a:avLst/>
          </a:prstGeom>
          <a:noFill/>
        </p:spPr>
        <p:txBody>
          <a:bodyPr wrap="square" anchor="t" lIns="0" rIns="0" tIns="0" bIns="0">
            <a:spAutoFit/>
          </a:bodyPr>
          <a:lstStyle/>
          <a:p>
            <a:pPr algn="l">
              <a:lnSpc>
                <a:spcPct val="125000"/>
              </a:lnSpc>
              <a:spcBef>
                <a:spcPts val="0"/>
              </a:spcBef>
              <a:spcAft>
                <a:spcPts val="0"/>
              </a:spcAft>
            </a:pPr>
            <a:r>
              <a:rPr sz="1450" b="0" i="0">
                <a:solidFill>
                  <a:srgbClr val="A9BED1"/>
                </a:solidFill>
                <a:latin typeface="Arial"/>
              </a:rPr>
              <a:t>Nhóm giữ nguyên tắc chỉ đánh dấu hoàn thành khi có bằng chứng kiểm thử hoặc nghiệm thu.</a:t>
            </a:r>
          </a:p>
        </p:txBody>
      </p:sp>
      <p:sp>
        <p:nvSpPr>
          <p:cNvPr id="8" name="TextBox 7"/>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9" name="TextBox 8"/>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MỨC ĐỘ HOÀN THIỆN</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Kết quả kiểm thử tự động</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Bản thử nghiệm hoàn chỉnh, chạy được đầy đủ trên máy chủ đặt tại chỗ — không phải bản mô phỏng giao diện, không phải video dựng sẵn.</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36</a:t>
            </a:r>
          </a:p>
        </p:txBody>
      </p:sp>
      <p:sp>
        <p:nvSpPr>
          <p:cNvPr id="8" name="Rectangle 7"/>
          <p:cNvSpPr/>
          <p:nvPr/>
        </p:nvSpPr>
        <p:spPr>
          <a:xfrm>
            <a:off x="566928" y="1737360"/>
            <a:ext cx="1721053"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1721053" cy="4572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76656" y="1956815"/>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600" b="1" i="0">
                <a:solidFill>
                  <a:srgbClr val="0B2545"/>
                </a:solidFill>
                <a:latin typeface="Arial"/>
              </a:rPr>
              <a:t>557</a:t>
            </a:r>
          </a:p>
        </p:txBody>
      </p:sp>
      <p:sp>
        <p:nvSpPr>
          <p:cNvPr id="11" name="TextBox 10"/>
          <p:cNvSpPr txBox="1"/>
          <p:nvPr/>
        </p:nvSpPr>
        <p:spPr>
          <a:xfrm>
            <a:off x="676656" y="2450591"/>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bài kiểm thử backend
(94 bộ, Jest) — đạt</a:t>
            </a:r>
          </a:p>
        </p:txBody>
      </p:sp>
      <p:sp>
        <p:nvSpPr>
          <p:cNvPr id="12" name="Rectangle 11"/>
          <p:cNvSpPr/>
          <p:nvPr/>
        </p:nvSpPr>
        <p:spPr>
          <a:xfrm>
            <a:off x="2434285" y="1737360"/>
            <a:ext cx="1721053"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434285" y="1737360"/>
            <a:ext cx="1721053" cy="4572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544013" y="1956815"/>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600" b="1" i="0">
                <a:solidFill>
                  <a:srgbClr val="0B2545"/>
                </a:solidFill>
                <a:latin typeface="Arial"/>
              </a:rPr>
              <a:t>74</a:t>
            </a:r>
          </a:p>
        </p:txBody>
      </p:sp>
      <p:sp>
        <p:nvSpPr>
          <p:cNvPr id="15" name="TextBox 14"/>
          <p:cNvSpPr txBox="1"/>
          <p:nvPr/>
        </p:nvSpPr>
        <p:spPr>
          <a:xfrm>
            <a:off x="2544013" y="2450591"/>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bài kiểm thử
dịch vụ AI (pytest) — đạt</a:t>
            </a:r>
          </a:p>
        </p:txBody>
      </p:sp>
      <p:sp>
        <p:nvSpPr>
          <p:cNvPr id="16" name="Rectangle 15"/>
          <p:cNvSpPr/>
          <p:nvPr/>
        </p:nvSpPr>
        <p:spPr>
          <a:xfrm>
            <a:off x="4301642" y="1737360"/>
            <a:ext cx="1721053"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301642" y="1737360"/>
            <a:ext cx="1721053"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11370" y="1956815"/>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600" b="1" i="0">
                <a:solidFill>
                  <a:srgbClr val="0B2545"/>
                </a:solidFill>
                <a:latin typeface="Arial"/>
              </a:rPr>
              <a:t>9</a:t>
            </a:r>
          </a:p>
        </p:txBody>
      </p:sp>
      <p:sp>
        <p:nvSpPr>
          <p:cNvPr id="19" name="TextBox 18"/>
          <p:cNvSpPr txBox="1"/>
          <p:nvPr/>
        </p:nvSpPr>
        <p:spPr>
          <a:xfrm>
            <a:off x="4411370" y="2450591"/>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bài kiểm thử
hợp đồng dùng chung — đạt</a:t>
            </a:r>
          </a:p>
        </p:txBody>
      </p:sp>
      <p:sp>
        <p:nvSpPr>
          <p:cNvPr id="20" name="Rectangle 19"/>
          <p:cNvSpPr/>
          <p:nvPr/>
        </p:nvSpPr>
        <p:spPr>
          <a:xfrm>
            <a:off x="6168999" y="1737360"/>
            <a:ext cx="1721053"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168999" y="1737360"/>
            <a:ext cx="1721053"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78727" y="1956815"/>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600" b="1" i="0">
                <a:solidFill>
                  <a:srgbClr val="0B2545"/>
                </a:solidFill>
                <a:latin typeface="Arial"/>
              </a:rPr>
              <a:t>13+2</a:t>
            </a:r>
          </a:p>
        </p:txBody>
      </p:sp>
      <p:sp>
        <p:nvSpPr>
          <p:cNvPr id="23" name="TextBox 22"/>
          <p:cNvSpPr txBox="1"/>
          <p:nvPr/>
        </p:nvSpPr>
        <p:spPr>
          <a:xfrm>
            <a:off x="6278727" y="2450591"/>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bài kiểm thử trạng thái
ứng dụng di động — đạt</a:t>
            </a:r>
          </a:p>
        </p:txBody>
      </p:sp>
      <p:sp>
        <p:nvSpPr>
          <p:cNvPr id="24" name="Rectangle 23"/>
          <p:cNvSpPr/>
          <p:nvPr/>
        </p:nvSpPr>
        <p:spPr>
          <a:xfrm>
            <a:off x="8036356" y="1737360"/>
            <a:ext cx="1721053"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36356" y="1737360"/>
            <a:ext cx="1721053" cy="457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46084" y="1956815"/>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600" b="1" i="0">
                <a:solidFill>
                  <a:srgbClr val="0B2545"/>
                </a:solidFill>
                <a:latin typeface="Arial"/>
              </a:rPr>
              <a:t>7</a:t>
            </a:r>
          </a:p>
        </p:txBody>
      </p:sp>
      <p:sp>
        <p:nvSpPr>
          <p:cNvPr id="27" name="TextBox 26"/>
          <p:cNvSpPr txBox="1"/>
          <p:nvPr/>
        </p:nvSpPr>
        <p:spPr>
          <a:xfrm>
            <a:off x="8146084" y="2450591"/>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bài kiểm thử
trạng thái web — đạt</a:t>
            </a:r>
          </a:p>
        </p:txBody>
      </p:sp>
      <p:sp>
        <p:nvSpPr>
          <p:cNvPr id="28" name="Rectangle 27"/>
          <p:cNvSpPr/>
          <p:nvPr/>
        </p:nvSpPr>
        <p:spPr>
          <a:xfrm>
            <a:off x="9903714" y="1737360"/>
            <a:ext cx="1721053"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9903714" y="1737360"/>
            <a:ext cx="1721053" cy="4572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13441" y="1956815"/>
            <a:ext cx="1501597" cy="457200"/>
          </a:xfrm>
          <a:prstGeom prst="rect">
            <a:avLst/>
          </a:prstGeom>
          <a:noFill/>
        </p:spPr>
        <p:txBody>
          <a:bodyPr wrap="square" anchor="t" lIns="0" rIns="0" tIns="0" bIns="0">
            <a:spAutoFit/>
          </a:bodyPr>
          <a:lstStyle/>
          <a:p>
            <a:pPr algn="ctr">
              <a:lnSpc>
                <a:spcPct val="100000"/>
              </a:lnSpc>
              <a:spcBef>
                <a:spcPts val="0"/>
              </a:spcBef>
              <a:spcAft>
                <a:spcPts val="0"/>
              </a:spcAft>
            </a:pPr>
            <a:r>
              <a:rPr sz="2600" b="1" i="0">
                <a:solidFill>
                  <a:srgbClr val="0B2545"/>
                </a:solidFill>
                <a:latin typeface="Arial"/>
              </a:rPr>
              <a:t>0</a:t>
            </a:r>
          </a:p>
        </p:txBody>
      </p:sp>
      <p:sp>
        <p:nvSpPr>
          <p:cNvPr id="31" name="TextBox 30"/>
          <p:cNvSpPr txBox="1"/>
          <p:nvPr/>
        </p:nvSpPr>
        <p:spPr>
          <a:xfrm>
            <a:off x="10013441" y="2450591"/>
            <a:ext cx="1501597" cy="411480"/>
          </a:xfrm>
          <a:prstGeom prst="rect">
            <a:avLst/>
          </a:prstGeom>
          <a:noFill/>
        </p:spPr>
        <p:txBody>
          <a:bodyPr wrap="square" anchor="t" lIns="0" rIns="0" tIns="0" bIns="0">
            <a:spAutoFit/>
          </a:bodyPr>
          <a:lstStyle/>
          <a:p>
            <a:pPr algn="ctr">
              <a:lnSpc>
                <a:spcPct val="110000"/>
              </a:lnSpc>
              <a:spcBef>
                <a:spcPts val="0"/>
              </a:spcBef>
              <a:spcAft>
                <a:spcPts val="0"/>
              </a:spcAft>
            </a:pPr>
            <a:r>
              <a:rPr sz="1050" b="0" i="0">
                <a:solidFill>
                  <a:srgbClr val="5E7387"/>
                </a:solidFill>
                <a:latin typeface="Arial"/>
              </a:rPr>
              <a:t>cảnh báo lỗ hổng thư viện
ở mọi mức, không dùng danh sách bỏ qua</a:t>
            </a:r>
          </a:p>
        </p:txBody>
      </p:sp>
      <p:sp>
        <p:nvSpPr>
          <p:cNvPr id="32" name="Rectangle 31"/>
          <p:cNvSpPr/>
          <p:nvPr/>
        </p:nvSpPr>
        <p:spPr>
          <a:xfrm>
            <a:off x="566928" y="3337560"/>
            <a:ext cx="5440680" cy="21945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566928" y="3337560"/>
            <a:ext cx="50292" cy="219456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04672" y="3511296"/>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Kiểm thử không chỉ kiểm chức năng chạy đúng — chúng khóa cả những tình huống hỏng</a:t>
            </a:r>
          </a:p>
        </p:txBody>
      </p:sp>
      <p:sp>
        <p:nvSpPr>
          <p:cNvPr id="35" name="TextBox 34"/>
          <p:cNvSpPr txBox="1"/>
          <p:nvPr/>
        </p:nvSpPr>
        <p:spPr>
          <a:xfrm>
            <a:off x="804672" y="3895344"/>
            <a:ext cx="4983480" cy="149047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Hai người bấm cùng lúc.</a:t>
            </a:r>
          </a:p>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Gửi lại cùng một yêu cầu (idempotency).</a:t>
            </a:r>
          </a:p>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Tồn kho không được âm.</a:t>
            </a:r>
          </a:p>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Thứ tự khóa giữa xuất kho và hoàn trả.</a:t>
            </a:r>
          </a:p>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Hai kho chuẩn bị hàng đồng thời.</a:t>
            </a:r>
          </a:p>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Truy cập xuyên tổ chức bị chặn.</a:t>
            </a:r>
          </a:p>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Mô hình AI trả về số không có thật bị chặn.</a:t>
            </a:r>
          </a:p>
          <a:p>
            <a:pPr algn="l" marL="165100" indent="-165100">
              <a:lnSpc>
                <a:spcPct val="114000"/>
              </a:lnSpc>
              <a:spcBef>
                <a:spcPts val="0"/>
              </a:spcBef>
              <a:spcAft>
                <a:spcPts val="450"/>
              </a:spcAft>
            </a:pPr>
            <a:r>
              <a:rPr sz="1080" b="0" i="0">
                <a:solidFill>
                  <a:srgbClr val="5E7387"/>
                </a:solidFill>
                <a:latin typeface="Arial"/>
              </a:rPr>
              <a:t>•   </a:t>
            </a:r>
            <a:r>
              <a:rPr sz="1080" b="0" i="0">
                <a:solidFill>
                  <a:srgbClr val="5E7387"/>
                </a:solidFill>
                <a:latin typeface="Arial"/>
              </a:rPr>
              <a:t>Kênh thời gian thực cách ly đúng phòng.</a:t>
            </a:r>
          </a:p>
        </p:txBody>
      </p:sp>
      <p:sp>
        <p:nvSpPr>
          <p:cNvPr id="36" name="Rectangle 35"/>
          <p:cNvSpPr/>
          <p:nvPr/>
        </p:nvSpPr>
        <p:spPr>
          <a:xfrm>
            <a:off x="6181344" y="3337560"/>
            <a:ext cx="5440680" cy="21945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6181344" y="3337560"/>
            <a:ext cx="50292" cy="219456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19088" y="3511296"/>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0B2545"/>
                </a:solidFill>
                <a:latin typeface="Arial"/>
              </a:rPr>
              <a:t>Cổng chất lượng tự động (GitHub Actions) cho mọi thay đổi</a:t>
            </a:r>
          </a:p>
        </p:txBody>
      </p:sp>
      <p:sp>
        <p:nvSpPr>
          <p:cNvPr id="39" name="TextBox 38"/>
          <p:cNvSpPr txBox="1"/>
          <p:nvPr/>
        </p:nvSpPr>
        <p:spPr>
          <a:xfrm>
            <a:off x="6419088" y="3895344"/>
            <a:ext cx="4983480" cy="149047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Rà soát lỗ hổng → kiểm tra tĩnh → kiểm tra lược đồ dữ liệu → kiểm thử backend, web, di động, máy tính, định tuyến → kiểm thử an toàn AI.</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Dựng bản phát hành backend / web / di động / máy tính: đạt.</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Kiểm tra tĩnh và định dạng mã: đạt.</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Kiểm thử dữ liệu định tuyến offline: đạt.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THỬ NGHIỆM THỰC TẾ</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Đã thực hiện được, có thể trình diễn lại</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Ràng buộc tự đặt ra: mọi bước nghiệp vụ phải hoàn tất được bằng thao tác nhìn thấy trên màn hình — không dùng công cụ gọi API, không chạy lệnh cơ sở dữ liệu, không sửa mã giữa chừng.</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37</a:t>
            </a:r>
          </a:p>
        </p:txBody>
      </p:sp>
      <p:sp>
        <p:nvSpPr>
          <p:cNvPr id="8" name="Rectangle 7"/>
          <p:cNvSpPr/>
          <p:nvPr/>
        </p:nvSpPr>
        <p:spPr>
          <a:xfrm>
            <a:off x="566928" y="1737360"/>
            <a:ext cx="5436108" cy="1188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118872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911095"/>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Vòng nghiệp vụ trọn vẹn trên năm màn hình song song</a:t>
            </a:r>
          </a:p>
        </p:txBody>
      </p:sp>
      <p:sp>
        <p:nvSpPr>
          <p:cNvPr id="11" name="TextBox 10"/>
          <p:cNvSpPr txBox="1"/>
          <p:nvPr/>
        </p:nvSpPr>
        <p:spPr>
          <a:xfrm>
            <a:off x="804672" y="2295144"/>
            <a:ext cx="4978908" cy="484632"/>
          </a:xfrm>
          <a:prstGeom prst="rect">
            <a:avLst/>
          </a:prstGeom>
          <a:noFill/>
        </p:spPr>
        <p:txBody>
          <a:bodyPr wrap="square" anchor="t" lIns="0" rIns="0" tIns="0" bIns="0">
            <a:spAutoFit/>
          </a:bodyPr>
          <a:lstStyle/>
          <a:p>
            <a:pPr algn="l">
              <a:lnSpc>
                <a:spcPct val="116000"/>
              </a:lnSpc>
              <a:spcBef>
                <a:spcPts val="0"/>
              </a:spcBef>
              <a:spcAft>
                <a:spcPts val="0"/>
              </a:spcAft>
            </a:pPr>
            <a:r>
              <a:rPr sz="1060" b="0" i="0">
                <a:solidFill>
                  <a:srgbClr val="5E7387"/>
                </a:solidFill>
                <a:latin typeface="Arial"/>
              </a:rPr>
              <a:t>Trưởng thôn nói vào điện thoại → nhận dạng giọng nói tại chỗ → xác nhận → quản trị xã phân tích → phương án đa kho có tuyến đường → hai kho xuất hàng theo từng mã hàng → đội hiện trường ký nhận và xác nhận đã giao → hậu kiểm.</a:t>
            </a:r>
          </a:p>
        </p:txBody>
      </p:sp>
      <p:sp>
        <p:nvSpPr>
          <p:cNvPr id="12" name="Rectangle 11"/>
          <p:cNvSpPr/>
          <p:nvPr/>
        </p:nvSpPr>
        <p:spPr>
          <a:xfrm>
            <a:off x="6185916" y="1737360"/>
            <a:ext cx="5436108" cy="1188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185916" y="1737360"/>
            <a:ext cx="50292" cy="118872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23660" y="1911095"/>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Đối chiếu số học đầu – cuối khớp từng đơn vị</a:t>
            </a:r>
          </a:p>
        </p:txBody>
      </p:sp>
      <p:sp>
        <p:nvSpPr>
          <p:cNvPr id="15" name="TextBox 14"/>
          <p:cNvSpPr txBox="1"/>
          <p:nvPr/>
        </p:nvSpPr>
        <p:spPr>
          <a:xfrm>
            <a:off x="6423660" y="2295144"/>
            <a:ext cx="4978908" cy="484632"/>
          </a:xfrm>
          <a:prstGeom prst="rect">
            <a:avLst/>
          </a:prstGeom>
          <a:noFill/>
        </p:spPr>
        <p:txBody>
          <a:bodyPr wrap="square" anchor="t" lIns="0" rIns="0" tIns="0" bIns="0">
            <a:spAutoFit/>
          </a:bodyPr>
          <a:lstStyle/>
          <a:p>
            <a:pPr algn="l">
              <a:lnSpc>
                <a:spcPct val="116000"/>
              </a:lnSpc>
              <a:spcBef>
                <a:spcPts val="0"/>
              </a:spcBef>
              <a:spcAft>
                <a:spcPts val="0"/>
              </a:spcAft>
            </a:pPr>
            <a:r>
              <a:rPr sz="1060" b="0" i="0">
                <a:solidFill>
                  <a:srgbClr val="5E7387"/>
                </a:solidFill>
                <a:latin typeface="Arial"/>
              </a:rPr>
              <a:t>Ghi tồn kho ra giấy trước khi bắt đầu; sau toàn bộ thao tác xuất, mượn, trả, số liệu khớp từng đơn vị.</a:t>
            </a:r>
          </a:p>
        </p:txBody>
      </p:sp>
      <p:sp>
        <p:nvSpPr>
          <p:cNvPr id="16" name="Rectangle 15"/>
          <p:cNvSpPr/>
          <p:nvPr/>
        </p:nvSpPr>
        <p:spPr>
          <a:xfrm>
            <a:off x="566928" y="3072384"/>
            <a:ext cx="5436108" cy="1188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66928" y="3072384"/>
            <a:ext cx="50292" cy="1188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04672" y="3246120"/>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Vòng mượn – trả liên xã đầy đủ giữa hai máy chủ độc lập</a:t>
            </a:r>
          </a:p>
        </p:txBody>
      </p:sp>
      <p:sp>
        <p:nvSpPr>
          <p:cNvPr id="19" name="TextBox 18"/>
          <p:cNvSpPr txBox="1"/>
          <p:nvPr/>
        </p:nvSpPr>
        <p:spPr>
          <a:xfrm>
            <a:off x="804672" y="3630168"/>
            <a:ext cx="4978908" cy="484632"/>
          </a:xfrm>
          <a:prstGeom prst="rect">
            <a:avLst/>
          </a:prstGeom>
          <a:noFill/>
        </p:spPr>
        <p:txBody>
          <a:bodyPr wrap="square" anchor="t" lIns="0" rIns="0" tIns="0" bIns="0">
            <a:spAutoFit/>
          </a:bodyPr>
          <a:lstStyle/>
          <a:p>
            <a:pPr algn="l">
              <a:lnSpc>
                <a:spcPct val="116000"/>
              </a:lnSpc>
              <a:spcBef>
                <a:spcPts val="0"/>
              </a:spcBef>
              <a:spcAft>
                <a:spcPts val="0"/>
              </a:spcAft>
            </a:pPr>
            <a:r>
              <a:rPr sz="1060" b="0" i="0">
                <a:solidFill>
                  <a:srgbClr val="5E7387"/>
                </a:solidFill>
                <a:latin typeface="Arial"/>
              </a:rPr>
              <a:t>Gồm cả nhánh từ chối, nhánh hủy, nhánh trả từng phần và nhánh ghi tay khi mất mạng.</a:t>
            </a:r>
          </a:p>
        </p:txBody>
      </p:sp>
      <p:sp>
        <p:nvSpPr>
          <p:cNvPr id="20" name="Rectangle 19"/>
          <p:cNvSpPr/>
          <p:nvPr/>
        </p:nvSpPr>
        <p:spPr>
          <a:xfrm>
            <a:off x="6185916" y="3072384"/>
            <a:ext cx="5436108" cy="1188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185916" y="3072384"/>
            <a:ext cx="50292" cy="11887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23660" y="3246120"/>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Chuỗi cảm biến đầy đủ</a:t>
            </a:r>
          </a:p>
        </p:txBody>
      </p:sp>
      <p:sp>
        <p:nvSpPr>
          <p:cNvPr id="23" name="TextBox 22"/>
          <p:cNvSpPr txBox="1"/>
          <p:nvPr/>
        </p:nvSpPr>
        <p:spPr>
          <a:xfrm>
            <a:off x="6423660" y="3630168"/>
            <a:ext cx="4978908" cy="484632"/>
          </a:xfrm>
          <a:prstGeom prst="rect">
            <a:avLst/>
          </a:prstGeom>
          <a:noFill/>
        </p:spPr>
        <p:txBody>
          <a:bodyPr wrap="square" anchor="t" lIns="0" rIns="0" tIns="0" bIns="0">
            <a:spAutoFit/>
          </a:bodyPr>
          <a:lstStyle/>
          <a:p>
            <a:pPr algn="l">
              <a:lnSpc>
                <a:spcPct val="116000"/>
              </a:lnSpc>
              <a:spcBef>
                <a:spcPts val="0"/>
              </a:spcBef>
              <a:spcAft>
                <a:spcPts val="0"/>
              </a:spcAft>
            </a:pPr>
            <a:r>
              <a:rPr sz="1060" b="0" i="0">
                <a:solidFill>
                  <a:srgbClr val="5E7387"/>
                </a:solidFill>
                <a:latin typeface="Arial"/>
              </a:rPr>
              <a:t>Xác nhận số liệu vượt ngưỡng → chuông tại kho → sự cố → thư cảnh báo có ba mốc thời gian → chỉ số sẵn sàng chuyển sang không điều phối được.</a:t>
            </a:r>
          </a:p>
        </p:txBody>
      </p:sp>
      <p:sp>
        <p:nvSpPr>
          <p:cNvPr id="24" name="Rectangle 23"/>
          <p:cNvSpPr/>
          <p:nvPr/>
        </p:nvSpPr>
        <p:spPr>
          <a:xfrm>
            <a:off x="566928" y="4407408"/>
            <a:ext cx="5436108" cy="1188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4407408"/>
            <a:ext cx="50292" cy="118872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04672" y="4581144"/>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Lớp chống bịa số đã kiểm chứng cả hai chiều</a:t>
            </a:r>
          </a:p>
        </p:txBody>
      </p:sp>
      <p:sp>
        <p:nvSpPr>
          <p:cNvPr id="27" name="TextBox 26"/>
          <p:cNvSpPr txBox="1"/>
          <p:nvPr/>
        </p:nvSpPr>
        <p:spPr>
          <a:xfrm>
            <a:off x="804672" y="4965192"/>
            <a:ext cx="4978908" cy="484631"/>
          </a:xfrm>
          <a:prstGeom prst="rect">
            <a:avLst/>
          </a:prstGeom>
          <a:noFill/>
        </p:spPr>
        <p:txBody>
          <a:bodyPr wrap="square" anchor="t" lIns="0" rIns="0" tIns="0" bIns="0">
            <a:spAutoFit/>
          </a:bodyPr>
          <a:lstStyle/>
          <a:p>
            <a:pPr algn="l">
              <a:lnSpc>
                <a:spcPct val="116000"/>
              </a:lnSpc>
              <a:spcBef>
                <a:spcPts val="0"/>
              </a:spcBef>
              <a:spcAft>
                <a:spcPts val="0"/>
              </a:spcAft>
            </a:pPr>
            <a:r>
              <a:rPr sz="1060" b="0" i="0">
                <a:solidFill>
                  <a:srgbClr val="5E7387"/>
                </a:solidFill>
                <a:latin typeface="Arial"/>
              </a:rPr>
              <a:t>Trường hợp chặn thành công (mô hình đưa số không có thật, hệ thống thay câu) và trường hợp từ chối câu hỏi ngoài phạm vi.</a:t>
            </a:r>
          </a:p>
        </p:txBody>
      </p:sp>
      <p:sp>
        <p:nvSpPr>
          <p:cNvPr id="28" name="Rectangle 27"/>
          <p:cNvSpPr/>
          <p:nvPr/>
        </p:nvSpPr>
        <p:spPr>
          <a:xfrm>
            <a:off x="6185916" y="4407408"/>
            <a:ext cx="5436108" cy="1188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85916" y="4407408"/>
            <a:ext cx="50292" cy="1188720"/>
          </a:xfrm>
          <a:prstGeom prst="rect">
            <a:avLst/>
          </a:prstGeom>
          <a:solidFill>
            <a:srgbClr val="5E73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23660" y="4581144"/>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Chạy đầy đủ khi đã ngắt Internet ngoài</a:t>
            </a:r>
          </a:p>
        </p:txBody>
      </p:sp>
      <p:sp>
        <p:nvSpPr>
          <p:cNvPr id="31" name="TextBox 30"/>
          <p:cNvSpPr txBox="1"/>
          <p:nvPr/>
        </p:nvSpPr>
        <p:spPr>
          <a:xfrm>
            <a:off x="6423660" y="4965192"/>
            <a:ext cx="4978908" cy="484631"/>
          </a:xfrm>
          <a:prstGeom prst="rect">
            <a:avLst/>
          </a:prstGeom>
          <a:noFill/>
        </p:spPr>
        <p:txBody>
          <a:bodyPr wrap="square" anchor="t" lIns="0" rIns="0" tIns="0" bIns="0">
            <a:spAutoFit/>
          </a:bodyPr>
          <a:lstStyle/>
          <a:p>
            <a:pPr algn="l">
              <a:lnSpc>
                <a:spcPct val="116000"/>
              </a:lnSpc>
              <a:spcBef>
                <a:spcPts val="0"/>
              </a:spcBef>
              <a:spcAft>
                <a:spcPts val="0"/>
              </a:spcAft>
            </a:pPr>
            <a:r>
              <a:rPr sz="1060" b="0" i="0">
                <a:solidFill>
                  <a:srgbClr val="5E7387"/>
                </a:solidFill>
                <a:latin typeface="Arial"/>
              </a:rPr>
              <a:t>Bản phát hành Android 0.5.0 ký bằng khóa RSA 4096-bit riêng, đã cài và chạy trên điện thoại thật và máy ảo.</a:t>
            </a:r>
          </a:p>
        </p:txBody>
      </p:sp>
      <p:sp>
        <p:nvSpPr>
          <p:cNvPr id="32" name="Rectangle 31"/>
          <p:cNvSpPr/>
          <p:nvPr/>
        </p:nvSpPr>
        <p:spPr>
          <a:xfrm>
            <a:off x="566928" y="5879592"/>
            <a:ext cx="11055096" cy="6858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68680" y="5989320"/>
            <a:ext cx="10424160" cy="457200"/>
          </a:xfrm>
          <a:prstGeom prst="rect">
            <a:avLst/>
          </a:prstGeom>
          <a:noFill/>
        </p:spPr>
        <p:txBody>
          <a:bodyPr wrap="square" anchor="ctr" lIns="0" rIns="0" tIns="0" bIns="0">
            <a:spAutoFit/>
          </a:bodyPr>
          <a:lstStyle/>
          <a:p>
            <a:pPr algn="l">
              <a:lnSpc>
                <a:spcPct val="112000"/>
              </a:lnSpc>
              <a:spcBef>
                <a:spcPts val="0"/>
              </a:spcBef>
              <a:spcAft>
                <a:spcPts val="0"/>
              </a:spcAft>
            </a:pPr>
            <a:r>
              <a:rPr sz="1200" b="0" i="0">
                <a:solidFill>
                  <a:srgbClr val="FFFFFF"/>
                </a:solidFill>
                <a:latin typeface="Arial"/>
              </a:rPr>
              <a:t>Đo hiệu năng thực tế trên máy trình diễn: nhận dạng giọng nói ~2 giây · bóc tách tình huống ~4,7 giây · câu hỏi tra dữ liệu của trợ lý ~2 giây.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TRUNG THỰC VỀ GIỚI HẠN</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Nhóm nói thẳng: những việc còn lại và những gì cố ý không làm</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Những hạng mục sau chưa được nghiệm thu và không được trình bày như đã xong.</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38</a:t>
            </a:r>
          </a:p>
        </p:txBody>
      </p:sp>
      <p:sp>
        <p:nvSpPr>
          <p:cNvPr id="8" name="Rectangle 7"/>
          <p:cNvSpPr/>
          <p:nvPr/>
        </p:nvSpPr>
        <p:spPr>
          <a:xfrm>
            <a:off x="566928" y="1737360"/>
            <a:ext cx="5440680" cy="30175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30175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911095"/>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Chưa nghiệm thu — đang là gate còn lại</a:t>
            </a:r>
          </a:p>
        </p:txBody>
      </p:sp>
      <p:sp>
        <p:nvSpPr>
          <p:cNvPr id="11" name="TextBox 10"/>
          <p:cNvSpPr txBox="1"/>
          <p:nvPr/>
        </p:nvSpPr>
        <p:spPr>
          <a:xfrm>
            <a:off x="804672" y="2295144"/>
            <a:ext cx="4983480" cy="231343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Nghiệm thu hai lượt trên thiết bị và mạng nội bộ riêng: cài mới hoàn toàn trên điện thoại thật, ngắt Internet công cộng, chạy trọn nhiệm vụ qua các phiên đăng nhập độc lập.</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Chuyển từ đồng bộ lược đồ sang lịch sử di trú cơ sở dữ liệu — cần thiết trước khi vận hành thật.</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Diễn tập khôi phục từ bản sao lưu và tự phục hồi dịch vụ sau khi khởi động lại máy chủ.</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Kiểm chứng từ bên ngoài rằng cơ sở dữ liệu, hàng đợi, dịch vụ AI và máy chủ mô hình không truy cập được từ Internet.</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Kết nối thiết bị IoT vật lý — hiện là bản sao số. Nhóm không tuyên bố tương thích phần cứng trước khi nghiệm thu thiết bị thật.</a:t>
            </a:r>
          </a:p>
        </p:txBody>
      </p:sp>
      <p:sp>
        <p:nvSpPr>
          <p:cNvPr id="12" name="Rectangle 11"/>
          <p:cNvSpPr/>
          <p:nvPr/>
        </p:nvSpPr>
        <p:spPr>
          <a:xfrm>
            <a:off x="6181344" y="1737360"/>
            <a:ext cx="5440680" cy="30175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181344" y="1737360"/>
            <a:ext cx="50292" cy="3017520"/>
          </a:xfrm>
          <a:prstGeom prst="rect">
            <a:avLst/>
          </a:prstGeom>
          <a:solidFill>
            <a:srgbClr val="5E738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19088" y="1911095"/>
            <a:ext cx="498348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Ngoài phạm vi có chủ đích — không phải thiếu sót</a:t>
            </a:r>
          </a:p>
        </p:txBody>
      </p:sp>
      <p:sp>
        <p:nvSpPr>
          <p:cNvPr id="15" name="TextBox 14"/>
          <p:cNvSpPr txBox="1"/>
          <p:nvPr/>
        </p:nvSpPr>
        <p:spPr>
          <a:xfrm>
            <a:off x="6419088" y="2295144"/>
            <a:ext cx="4983480" cy="231343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Phân tích ảnh và video hiện trường, nhận diện khuôn mặt.</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Theo dõi GPS liên tục, dẫn đường từng chặng.</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Phân công đội hoặc cá nhân cụ thể.</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Đồng bộ tồn kho tự động giữa các xã.</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Ghi dữ liệu khi mất mạng rồi tự hòa giải.</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Dự báo thiên tai cấp tỉnh.</a:t>
            </a:r>
          </a:p>
        </p:txBody>
      </p:sp>
      <p:sp>
        <p:nvSpPr>
          <p:cNvPr id="16" name="Rectangle 15"/>
          <p:cNvSpPr/>
          <p:nvPr/>
        </p:nvSpPr>
        <p:spPr>
          <a:xfrm>
            <a:off x="566928" y="4937760"/>
            <a:ext cx="11055096" cy="86868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66928" y="4937760"/>
            <a:ext cx="54864" cy="86868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5084064"/>
            <a:ext cx="10332720" cy="640080"/>
          </a:xfrm>
          <a:prstGeom prst="rect">
            <a:avLst/>
          </a:prstGeom>
          <a:noFill/>
        </p:spPr>
        <p:txBody>
          <a:bodyPr wrap="square" anchor="ctr" lIns="0" rIns="0" tIns="0" bIns="0">
            <a:spAutoFit/>
          </a:bodyPr>
          <a:lstStyle/>
          <a:p>
            <a:pPr algn="l">
              <a:lnSpc>
                <a:spcPct val="115000"/>
              </a:lnSpc>
              <a:spcBef>
                <a:spcPts val="0"/>
              </a:spcBef>
              <a:spcAft>
                <a:spcPts val="0"/>
              </a:spcAft>
            </a:pPr>
            <a:r>
              <a:rPr sz="1150" b="0" i="0">
                <a:solidFill>
                  <a:srgbClr val="16283C"/>
                </a:solidFill>
                <a:latin typeface="Arial"/>
              </a:rPr>
              <a:t>Minh chứng kèm hồ sơ: video trình diễn toàn bộ vòng nghiệp vụ trên năm màn hình · mã nguồn đầy đủ kèm bộ kiểm thử · bộ tài liệu vận hành gồm kịch bản trình diễn, hướng dẫn cài đặt, hướng dẫn kiểm thử từng luồng và tài liệu bàn giao.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KHẢ THI</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Tính khả thi: kỹ thuật – nhân lực – chi phí</a:t>
            </a:r>
          </a:p>
        </p:txBody>
      </p:sp>
      <p:sp>
        <p:nvSpPr>
          <p:cNvPr id="5" name="TextBox 4"/>
          <p:cNvSpPr txBox="1"/>
          <p:nvPr/>
        </p:nvSpPr>
        <p:spPr>
          <a:xfrm>
            <a:off x="749808" y="1170432"/>
            <a:ext cx="10881360" cy="365760"/>
          </a:xfrm>
          <a:prstGeom prst="rect">
            <a:avLst/>
          </a:prstGeom>
          <a:noFill/>
        </p:spPr>
        <p:txBody>
          <a:bodyPr wrap="square" anchor="t" lIns="0" rIns="0" tIns="0" bIns="0">
            <a:spAutoFit/>
          </a:bodyPr>
          <a:lstStyle/>
          <a:p>
            <a:pPr algn="l">
              <a:lnSpc>
                <a:spcPct val="115000"/>
              </a:lnSpc>
              <a:spcBef>
                <a:spcPts val="0"/>
              </a:spcBef>
              <a:spcAft>
                <a:spcPts val="0"/>
              </a:spcAft>
            </a:pPr>
            <a:r>
              <a:rPr sz="1250" b="0" i="0">
                <a:solidFill>
                  <a:srgbClr val="5E7387"/>
                </a:solidFill>
                <a:latin typeface="Arial"/>
              </a:rPr>
              <a:t>Sản phẩm đã chạy, không phải một đề xuất.</a:t>
            </a:r>
          </a:p>
        </p:txBody>
      </p:sp>
      <p:sp>
        <p:nvSpPr>
          <p:cNvPr id="6" name="TextBox 5"/>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7" name="TextBox 6"/>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39</a:t>
            </a:r>
          </a:p>
        </p:txBody>
      </p:sp>
      <p:sp>
        <p:nvSpPr>
          <p:cNvPr id="8" name="Rectangle 7"/>
          <p:cNvSpPr/>
          <p:nvPr/>
        </p:nvSpPr>
        <p:spPr>
          <a:xfrm>
            <a:off x="566928" y="1737360"/>
            <a:ext cx="3566160" cy="2331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737360"/>
            <a:ext cx="50292" cy="2331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911095"/>
            <a:ext cx="310896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Khả thi kỹ thuật</a:t>
            </a:r>
          </a:p>
        </p:txBody>
      </p:sp>
      <p:sp>
        <p:nvSpPr>
          <p:cNvPr id="11" name="TextBox 10"/>
          <p:cNvSpPr txBox="1"/>
          <p:nvPr/>
        </p:nvSpPr>
        <p:spPr>
          <a:xfrm>
            <a:off x="804672" y="2295144"/>
            <a:ext cx="3108960" cy="162763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Không bắt buộc phần cứng: xã dùng ngay bằng dữ liệu kiểm kê hiện có và điện thoại sẵn có của cán bộ.</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Không phụ thuộc Internet — xã vùng sâu, đường truyền yếu vẫn dùng được.</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Kiến trúc độc lập theo xã: thêm một xã là dựng thêm một bản, không cần hệ thống trung tâm.</a:t>
            </a:r>
          </a:p>
        </p:txBody>
      </p:sp>
      <p:sp>
        <p:nvSpPr>
          <p:cNvPr id="12" name="Rectangle 11"/>
          <p:cNvSpPr/>
          <p:nvPr/>
        </p:nvSpPr>
        <p:spPr>
          <a:xfrm>
            <a:off x="4315968" y="1737360"/>
            <a:ext cx="3566160" cy="2331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15968" y="1737360"/>
            <a:ext cx="50292" cy="233172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53712" y="1911095"/>
            <a:ext cx="3108960"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Khả thi nhân lực</a:t>
            </a:r>
          </a:p>
        </p:txBody>
      </p:sp>
      <p:sp>
        <p:nvSpPr>
          <p:cNvPr id="15" name="TextBox 14"/>
          <p:cNvSpPr txBox="1"/>
          <p:nvPr/>
        </p:nvSpPr>
        <p:spPr>
          <a:xfrm>
            <a:off x="4553712" y="2295144"/>
            <a:ext cx="3108960" cy="162763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Vận hành ở xã: 01 cán bộ đầu mối nghiệp vụ và các trưởng thôn hiện có.</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Giao diện cho người chưa quen công nghệ: nút lớn theo vai, tình huống mẫu bấm nhanh, mỗi tab một màu theo nghĩa, báo cáo bằng giọng nói.</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Phát triển và bảo trì: 03 người có thể kiêm nhiệm.</a:t>
            </a:r>
          </a:p>
        </p:txBody>
      </p:sp>
      <p:sp>
        <p:nvSpPr>
          <p:cNvPr id="16" name="Rectangle 15"/>
          <p:cNvSpPr/>
          <p:nvPr/>
        </p:nvSpPr>
        <p:spPr>
          <a:xfrm>
            <a:off x="8065008" y="1737360"/>
            <a:ext cx="3557016" cy="233172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065008" y="1737360"/>
            <a:ext cx="50292" cy="23317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02752" y="1911095"/>
            <a:ext cx="3099816" cy="365760"/>
          </a:xfrm>
          <a:prstGeom prst="rect">
            <a:avLst/>
          </a:prstGeom>
          <a:noFill/>
        </p:spPr>
        <p:txBody>
          <a:bodyPr wrap="square" anchor="t" lIns="0" rIns="0" tIns="0" bIns="0">
            <a:spAutoFit/>
          </a:bodyPr>
          <a:lstStyle/>
          <a:p>
            <a:pPr algn="l">
              <a:lnSpc>
                <a:spcPct val="105000"/>
              </a:lnSpc>
              <a:spcBef>
                <a:spcPts val="0"/>
              </a:spcBef>
              <a:spcAft>
                <a:spcPts val="0"/>
              </a:spcAft>
            </a:pPr>
            <a:r>
              <a:rPr sz="1350" b="1" i="0">
                <a:solidFill>
                  <a:srgbClr val="0B2545"/>
                </a:solidFill>
                <a:latin typeface="Arial"/>
              </a:rPr>
              <a:t>Cần sự tham gia của địa phương</a:t>
            </a:r>
          </a:p>
        </p:txBody>
      </p:sp>
      <p:sp>
        <p:nvSpPr>
          <p:cNvPr id="19" name="TextBox 18"/>
          <p:cNvSpPr txBox="1"/>
          <p:nvPr/>
        </p:nvSpPr>
        <p:spPr>
          <a:xfrm>
            <a:off x="8302752" y="2295144"/>
            <a:ext cx="3099816" cy="1627632"/>
          </a:xfrm>
          <a:prstGeom prst="rect">
            <a:avLst/>
          </a:prstGeom>
          <a:noFill/>
        </p:spPr>
        <p:txBody>
          <a:bodyPr wrap="square" anchor="t" lIns="0" rIns="0" tIns="0" bIns="0">
            <a:spAutoFit/>
          </a:bodyPr>
          <a:lstStyle/>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Xác nhận định mức, quyền phê duyệt, quy trình bàn giao và tiêu chí đánh giá vật tư.</a:t>
            </a:r>
          </a:p>
          <a:p>
            <a:pPr algn="l" marL="165100" indent="-165100">
              <a:lnSpc>
                <a:spcPct val="114000"/>
              </a:lnSpc>
              <a:spcBef>
                <a:spcPts val="0"/>
              </a:spcBef>
              <a:spcAft>
                <a:spcPts val="450"/>
              </a:spcAft>
            </a:pPr>
            <a:r>
              <a:rPr sz="1100" b="0" i="0">
                <a:solidFill>
                  <a:srgbClr val="5E7387"/>
                </a:solidFill>
                <a:latin typeface="Arial"/>
              </a:rPr>
              <a:t>•   </a:t>
            </a:r>
            <a:r>
              <a:rPr sz="1100" b="0" i="0">
                <a:solidFill>
                  <a:srgbClr val="5E7387"/>
                </a:solidFill>
                <a:latin typeface="Arial"/>
              </a:rPr>
              <a:t>Nhóm dự kiến xin thư quan tâm của Hội Chữ thập đỏ xã Đồng Xuân làm đầu mối khảo sát.</a:t>
            </a:r>
          </a:p>
        </p:txBody>
      </p:sp>
      <p:graphicFrame>
        <p:nvGraphicFramePr>
          <p:cNvPr id="20" name="Table 19"/>
          <p:cNvGraphicFramePr>
            <a:graphicFrameLocks noGrp="1"/>
          </p:cNvGraphicFramePr>
          <p:nvPr/>
        </p:nvGraphicFramePr>
        <p:xfrm>
          <a:off x="566928" y="4251960"/>
          <a:ext cx="11055095" cy="1865376"/>
        </p:xfrm>
        <a:graphic>
          <a:graphicData uri="http://schemas.openxmlformats.org/drawingml/2006/table">
            <a:tbl>
              <a:tblPr>
                <a:tableStyleId>{5C22544A-7EE6-4342-B048-85BDC9FD1C3A}</a:tableStyleId>
              </a:tblPr>
              <a:tblGrid>
                <a:gridCol w="3132277"/>
                <a:gridCol w="7922818"/>
              </a:tblGrid>
              <a:tr h="329184">
                <a:tc>
                  <a:txBody>
                    <a:bodyPr wrap="square"/>
                    <a:lstStyle/>
                    <a:p>
                      <a:pPr algn="l">
                        <a:lnSpc>
                          <a:spcPct val="105000"/>
                        </a:lnSpc>
                        <a:spcBef>
                          <a:spcPts val="0"/>
                        </a:spcBef>
                        <a:spcAft>
                          <a:spcPts val="0"/>
                        </a:spcAft>
                      </a:pPr>
                      <a:r>
                        <a:rPr sz="1080" b="1" i="0">
                          <a:solidFill>
                            <a:srgbClr val="FFFFFF"/>
                          </a:solidFill>
                          <a:latin typeface="Arial"/>
                        </a:rPr>
                        <a:t>Khoản mục chi phí</a:t>
                      </a:r>
                    </a:p>
                  </a:txBody>
                  <a:tcPr marL="91440" marR="73152" marT="27432" marB="27432" anchor="ctr">
                    <a:solidFill>
                      <a:srgbClr val="0B2545"/>
                    </a:solidFill>
                  </a:tcPr>
                </a:tc>
                <a:tc>
                  <a:txBody>
                    <a:bodyPr wrap="square"/>
                    <a:lstStyle/>
                    <a:p>
                      <a:pPr algn="l">
                        <a:lnSpc>
                          <a:spcPct val="105000"/>
                        </a:lnSpc>
                        <a:spcBef>
                          <a:spcPts val="0"/>
                        </a:spcBef>
                        <a:spcAft>
                          <a:spcPts val="0"/>
                        </a:spcAft>
                      </a:pPr>
                      <a:r>
                        <a:rPr sz="1080" b="1" i="0">
                          <a:solidFill>
                            <a:srgbClr val="FFFFFF"/>
                          </a:solidFill>
                          <a:latin typeface="Arial"/>
                        </a:rPr>
                        <a:t>Ước tính</a:t>
                      </a:r>
                    </a:p>
                  </a:txBody>
                  <a:tcPr marL="91440" marR="73152" marT="27432" marB="27432" anchor="ctr">
                    <a:solidFill>
                      <a:srgbClr val="0B2545"/>
                    </a:solidFill>
                  </a:tcPr>
                </a:tc>
              </a:tr>
              <a:tr h="384048">
                <a:tc>
                  <a:txBody>
                    <a:bodyPr wrap="square"/>
                    <a:lstStyle/>
                    <a:p>
                      <a:pPr algn="l">
                        <a:lnSpc>
                          <a:spcPct val="108000"/>
                        </a:lnSpc>
                        <a:spcBef>
                          <a:spcPts val="0"/>
                        </a:spcBef>
                        <a:spcAft>
                          <a:spcPts val="0"/>
                        </a:spcAft>
                      </a:pPr>
                      <a:r>
                        <a:rPr sz="1100" b="1" i="0">
                          <a:solidFill>
                            <a:srgbClr val="0B2545"/>
                          </a:solidFill>
                          <a:latin typeface="Arial"/>
                        </a:rPr>
                        <a:t>Phần mềm nền tảng</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0 đồng — toàn bộ dùng mã nguồn mở hoặc miễn phí</a:t>
                      </a:r>
                    </a:p>
                  </a:txBody>
                  <a:tcPr marL="91440" marR="73152" marT="27432" marB="27432" anchor="ctr">
                    <a:solidFill>
                      <a:srgbClr val="FFFFFF"/>
                    </a:solidFill>
                  </a:tcPr>
                </a:tc>
              </a:tr>
              <a:tr h="384048">
                <a:tc>
                  <a:txBody>
                    <a:bodyPr wrap="square"/>
                    <a:lstStyle/>
                    <a:p>
                      <a:pPr algn="l">
                        <a:lnSpc>
                          <a:spcPct val="108000"/>
                        </a:lnSpc>
                        <a:spcBef>
                          <a:spcPts val="0"/>
                        </a:spcBef>
                        <a:spcAft>
                          <a:spcPts val="0"/>
                        </a:spcAft>
                      </a:pPr>
                      <a:r>
                        <a:rPr sz="1100" b="1" i="0">
                          <a:solidFill>
                            <a:srgbClr val="0B2545"/>
                          </a:solidFill>
                          <a:latin typeface="Arial"/>
                        </a:rPr>
                        <a:t>Mô hình AI</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0 đồng chi phí sử dụng — mô hình ngôn ngữ, nhúng và giọng nói đều chạy tại chỗ, không tính tiền theo lượt gọi</a:t>
                      </a:r>
                    </a:p>
                  </a:txBody>
                  <a:tcPr marL="91440" marR="73152" marT="27432" marB="27432" anchor="ctr">
                    <a:solidFill>
                      <a:srgbClr val="F2F5F9"/>
                    </a:solidFill>
                  </a:tcPr>
                </a:tc>
              </a:tr>
              <a:tr h="384048">
                <a:tc>
                  <a:txBody>
                    <a:bodyPr wrap="square"/>
                    <a:lstStyle/>
                    <a:p>
                      <a:pPr algn="l">
                        <a:lnSpc>
                          <a:spcPct val="108000"/>
                        </a:lnSpc>
                        <a:spcBef>
                          <a:spcPts val="0"/>
                        </a:spcBef>
                        <a:spcAft>
                          <a:spcPts val="0"/>
                        </a:spcAft>
                      </a:pPr>
                      <a:r>
                        <a:rPr sz="1100" b="1" i="0">
                          <a:solidFill>
                            <a:srgbClr val="0B2545"/>
                          </a:solidFill>
                          <a:latin typeface="Arial"/>
                        </a:rPr>
                        <a:t>Máy chủ tại xã · thiết bị người dùng</a:t>
                      </a:r>
                    </a:p>
                  </a:txBody>
                  <a:tcPr marL="91440" marR="73152" marT="27432" marB="27432" anchor="ctr">
                    <a:solidFill>
                      <a:srgbClr val="FFFFFF"/>
                    </a:solidFill>
                  </a:tcPr>
                </a:tc>
                <a:tc>
                  <a:txBody>
                    <a:bodyPr wrap="square"/>
                    <a:lstStyle/>
                    <a:p>
                      <a:pPr algn="l">
                        <a:lnSpc>
                          <a:spcPct val="108000"/>
                        </a:lnSpc>
                        <a:spcBef>
                          <a:spcPts val="0"/>
                        </a:spcBef>
                        <a:spcAft>
                          <a:spcPts val="0"/>
                        </a:spcAft>
                      </a:pPr>
                      <a:r>
                        <a:rPr sz="1100" b="0" i="0">
                          <a:solidFill>
                            <a:srgbClr val="16283C"/>
                          </a:solidFill>
                          <a:latin typeface="Arial"/>
                        </a:rPr>
                        <a:t>Một máy tính văn phòng đã có sẵn ở đa số UBND xã · điện thoại Android sẵn có của cán bộ</a:t>
                      </a:r>
                    </a:p>
                  </a:txBody>
                  <a:tcPr marL="91440" marR="73152" marT="27432" marB="27432" anchor="ctr">
                    <a:solidFill>
                      <a:srgbClr val="FFFFFF"/>
                    </a:solidFill>
                  </a:tcPr>
                </a:tc>
              </a:tr>
              <a:tr h="384048">
                <a:tc>
                  <a:txBody>
                    <a:bodyPr wrap="square"/>
                    <a:lstStyle/>
                    <a:p>
                      <a:pPr algn="l">
                        <a:lnSpc>
                          <a:spcPct val="108000"/>
                        </a:lnSpc>
                        <a:spcBef>
                          <a:spcPts val="0"/>
                        </a:spcBef>
                        <a:spcAft>
                          <a:spcPts val="0"/>
                        </a:spcAft>
                      </a:pPr>
                      <a:r>
                        <a:rPr sz="1100" b="1" i="0">
                          <a:solidFill>
                            <a:srgbClr val="0B2545"/>
                          </a:solidFill>
                          <a:latin typeface="Arial"/>
                        </a:rPr>
                        <a:t>Đường truyền · cảm biến IoT</a:t>
                      </a:r>
                    </a:p>
                  </a:txBody>
                  <a:tcPr marL="91440" marR="73152" marT="27432" marB="27432" anchor="ctr">
                    <a:solidFill>
                      <a:srgbClr val="F2F5F9"/>
                    </a:solidFill>
                  </a:tcPr>
                </a:tc>
                <a:tc>
                  <a:txBody>
                    <a:bodyPr wrap="square"/>
                    <a:lstStyle/>
                    <a:p>
                      <a:pPr algn="l">
                        <a:lnSpc>
                          <a:spcPct val="108000"/>
                        </a:lnSpc>
                        <a:spcBef>
                          <a:spcPts val="0"/>
                        </a:spcBef>
                        <a:spcAft>
                          <a:spcPts val="0"/>
                        </a:spcAft>
                      </a:pPr>
                      <a:r>
                        <a:rPr sz="1100" b="0" i="0">
                          <a:solidFill>
                            <a:srgbClr val="16283C"/>
                          </a:solidFill>
                          <a:latin typeface="Arial"/>
                        </a:rPr>
                        <a:t>Wi-Fi nội bộ, không bắt buộc Internet cho chức năng lõi · cảm biến không bắt buộc ở giai đoạn đầu</a:t>
                      </a:r>
                    </a:p>
                  </a:txBody>
                  <a:tcPr marL="91440" marR="73152" marT="27432" marB="27432" anchor="ctr">
                    <a:solidFill>
                      <a:srgbClr val="F2F5F9"/>
                    </a:solidFill>
                  </a:tcPr>
                </a:tc>
              </a:tr>
            </a:tbl>
          </a:graphicData>
        </a:graphic>
      </p:graphicFrame>
      <p:sp>
        <p:nvSpPr>
          <p:cNvPr id="21" name="TextBox 20"/>
          <p:cNvSpPr txBox="1"/>
          <p:nvPr/>
        </p:nvSpPr>
        <p:spPr>
          <a:xfrm>
            <a:off x="566928" y="6281928"/>
            <a:ext cx="11055096" cy="365760"/>
          </a:xfrm>
          <a:prstGeom prst="rect">
            <a:avLst/>
          </a:prstGeom>
          <a:noFill/>
        </p:spPr>
        <p:txBody>
          <a:bodyPr wrap="square" anchor="t" lIns="0" rIns="0" tIns="0" bIns="0">
            <a:spAutoFit/>
          </a:bodyPr>
          <a:lstStyle/>
          <a:p>
            <a:pPr algn="l">
              <a:lnSpc>
                <a:spcPct val="112000"/>
              </a:lnSpc>
              <a:spcBef>
                <a:spcPts val="0"/>
              </a:spcBef>
              <a:spcAft>
                <a:spcPts val="0"/>
              </a:spcAft>
            </a:pPr>
            <a:r>
              <a:rPr sz="1100" b="1" i="0">
                <a:solidFill>
                  <a:srgbClr val="0B2545"/>
                </a:solidFill>
                <a:latin typeface="Arial"/>
              </a:rPr>
              <a:t>Vì mô hình chạy tại chỗ, chi phí không tăng theo số lượt sử dụng — khác hẳn mô hình gọi dịch vụ AI đám mây, nơi đúng lúc thiên tai (lúc dùng nhiều nhất) cũng là lúc hóa đơn tăng cao nhất.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57200"/>
            <a:ext cx="50292" cy="3840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749808" y="393192"/>
            <a:ext cx="9601200" cy="237744"/>
          </a:xfrm>
          <a:prstGeom prst="rect">
            <a:avLst/>
          </a:prstGeom>
          <a:noFill/>
        </p:spPr>
        <p:txBody>
          <a:bodyPr wrap="square" anchor="t" lIns="0" rIns="0" tIns="0" bIns="0">
            <a:spAutoFit/>
          </a:bodyPr>
          <a:lstStyle/>
          <a:p>
            <a:pPr algn="l">
              <a:lnSpc>
                <a:spcPct val="112000"/>
              </a:lnSpc>
              <a:spcBef>
                <a:spcPts val="0"/>
              </a:spcBef>
              <a:spcAft>
                <a:spcPts val="0"/>
              </a:spcAft>
            </a:pPr>
            <a:r>
              <a:rPr sz="950" b="1" i="0">
                <a:solidFill>
                  <a:srgbClr val="C43D3D"/>
                </a:solidFill>
                <a:latin typeface="Arial"/>
              </a:rPr>
              <a:t>HIỆU QUẢ KINH TẾ – XÃ HỘI</a:t>
            </a:r>
          </a:p>
        </p:txBody>
      </p:sp>
      <p:sp>
        <p:nvSpPr>
          <p:cNvPr id="4" name="TextBox 3"/>
          <p:cNvSpPr txBox="1"/>
          <p:nvPr/>
        </p:nvSpPr>
        <p:spPr>
          <a:xfrm>
            <a:off x="749808" y="603504"/>
            <a:ext cx="10881360" cy="502920"/>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B2545"/>
                </a:solidFill>
                <a:latin typeface="Arial"/>
              </a:rPr>
              <a:t>Hiệu quả dự kiến và lộ trình triển khai</a:t>
            </a:r>
          </a:p>
        </p:txBody>
      </p:sp>
      <p:sp>
        <p:nvSpPr>
          <p:cNvPr id="5" name="TextBox 4"/>
          <p:cNvSpPr txBox="1"/>
          <p:nvPr/>
        </p:nvSpPr>
        <p:spPr>
          <a:xfrm>
            <a:off x="566928" y="6382512"/>
            <a:ext cx="5486400" cy="27432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9EB2C4"/>
                </a:solidFill>
                <a:latin typeface="Arial"/>
              </a:rPr>
              <a:t>Ứng phó nhanh · Đội Lũ trẻ</a:t>
            </a:r>
          </a:p>
        </p:txBody>
      </p:sp>
      <p:sp>
        <p:nvSpPr>
          <p:cNvPr id="6" name="TextBox 5"/>
          <p:cNvSpPr txBox="1"/>
          <p:nvPr/>
        </p:nvSpPr>
        <p:spPr>
          <a:xfrm>
            <a:off x="10911535" y="6382512"/>
            <a:ext cx="713232" cy="274320"/>
          </a:xfrm>
          <a:prstGeom prst="rect">
            <a:avLst/>
          </a:prstGeom>
          <a:noFill/>
        </p:spPr>
        <p:txBody>
          <a:bodyPr wrap="square" anchor="t" lIns="0" rIns="0" tIns="0" bIns="0">
            <a:spAutoFit/>
          </a:bodyPr>
          <a:lstStyle/>
          <a:p>
            <a:pPr algn="r">
              <a:lnSpc>
                <a:spcPct val="112000"/>
              </a:lnSpc>
              <a:spcBef>
                <a:spcPts val="0"/>
              </a:spcBef>
              <a:spcAft>
                <a:spcPts val="0"/>
              </a:spcAft>
            </a:pPr>
            <a:r>
              <a:rPr sz="950" b="0" i="0">
                <a:solidFill>
                  <a:srgbClr val="5E7387"/>
                </a:solidFill>
                <a:latin typeface="Arial"/>
              </a:rPr>
              <a:t>40</a:t>
            </a:r>
          </a:p>
        </p:txBody>
      </p:sp>
      <p:sp>
        <p:nvSpPr>
          <p:cNvPr id="7" name="Rectangle 6"/>
          <p:cNvSpPr/>
          <p:nvPr/>
        </p:nvSpPr>
        <p:spPr>
          <a:xfrm>
            <a:off x="566928" y="1316736"/>
            <a:ext cx="5436108" cy="12801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316736"/>
            <a:ext cx="50292" cy="128016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4672" y="1490472"/>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Thời gian ra quyết định — giá trị lớn nhất</a:t>
            </a:r>
          </a:p>
        </p:txBody>
      </p:sp>
      <p:sp>
        <p:nvSpPr>
          <p:cNvPr id="10" name="TextBox 9"/>
          <p:cNvSpPr txBox="1"/>
          <p:nvPr/>
        </p:nvSpPr>
        <p:spPr>
          <a:xfrm>
            <a:off x="804672" y="1874519"/>
            <a:ext cx="4978908" cy="576072"/>
          </a:xfrm>
          <a:prstGeom prst="rect">
            <a:avLst/>
          </a:prstGeom>
          <a:noFill/>
        </p:spPr>
        <p:txBody>
          <a:bodyPr wrap="square" anchor="t" lIns="0" rIns="0" tIns="0" bIns="0">
            <a:spAutoFit/>
          </a:bodyPr>
          <a:lstStyle/>
          <a:p>
            <a:pPr algn="l">
              <a:lnSpc>
                <a:spcPct val="116000"/>
              </a:lnSpc>
              <a:spcBef>
                <a:spcPts val="0"/>
              </a:spcBef>
              <a:spcAft>
                <a:spcPts val="0"/>
              </a:spcAft>
            </a:pPr>
            <a:r>
              <a:rPr sz="1080" b="0" i="0">
                <a:solidFill>
                  <a:srgbClr val="5E7387"/>
                </a:solidFill>
                <a:latin typeface="Arial"/>
              </a:rPr>
              <a:t>Quy đổi định mức, cộng tồn kho toàn xã, chọn kho gần nhất, ước lượng thời gian đi — rút xuống vài chục giây và cho ra một phương án có thể chất vấn từng con số. Trong cứu hộ, khoảng thời gian đó thuộc về "thời gian vàng".</a:t>
            </a:r>
          </a:p>
        </p:txBody>
      </p:sp>
      <p:sp>
        <p:nvSpPr>
          <p:cNvPr id="11" name="Rectangle 10"/>
          <p:cNvSpPr/>
          <p:nvPr/>
        </p:nvSpPr>
        <p:spPr>
          <a:xfrm>
            <a:off x="6185916" y="1316736"/>
            <a:ext cx="5436108" cy="12801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185916" y="1316736"/>
            <a:ext cx="50292" cy="128016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23660" y="1490472"/>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Chất lượng cứu trợ</a:t>
            </a:r>
          </a:p>
        </p:txBody>
      </p:sp>
      <p:sp>
        <p:nvSpPr>
          <p:cNvPr id="14" name="TextBox 13"/>
          <p:cNvSpPr txBox="1"/>
          <p:nvPr/>
        </p:nvSpPr>
        <p:spPr>
          <a:xfrm>
            <a:off x="6423660" y="1874519"/>
            <a:ext cx="4978908" cy="576072"/>
          </a:xfrm>
          <a:prstGeom prst="rect">
            <a:avLst/>
          </a:prstGeom>
          <a:noFill/>
        </p:spPr>
        <p:txBody>
          <a:bodyPr wrap="square" anchor="t" lIns="0" rIns="0" tIns="0" bIns="0">
            <a:spAutoFit/>
          </a:bodyPr>
          <a:lstStyle/>
          <a:p>
            <a:pPr algn="l">
              <a:lnSpc>
                <a:spcPct val="116000"/>
              </a:lnSpc>
              <a:spcBef>
                <a:spcPts val="0"/>
              </a:spcBef>
              <a:spcAft>
                <a:spcPts val="0"/>
              </a:spcAft>
            </a:pPr>
            <a:r>
              <a:rPr sz="1080" b="0" i="0">
                <a:solidFill>
                  <a:srgbClr val="5E7387"/>
                </a:solidFill>
                <a:latin typeface="Arial"/>
              </a:rPr>
              <a:t>Ưu tiên đúng nhóm dễ tổn thương ngay từ khâu tính định mức. Loại bỏ tự động vật tư hết hạn, hỏng và đang cho mượn khỏi phương án.</a:t>
            </a:r>
          </a:p>
        </p:txBody>
      </p:sp>
      <p:sp>
        <p:nvSpPr>
          <p:cNvPr id="15" name="Rectangle 14"/>
          <p:cNvSpPr/>
          <p:nvPr/>
        </p:nvSpPr>
        <p:spPr>
          <a:xfrm>
            <a:off x="566928" y="2743200"/>
            <a:ext cx="5436108" cy="12801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2743200"/>
            <a:ext cx="50292" cy="128016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04672" y="2916936"/>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Chuyển đổi số chính quyền cơ sở</a:t>
            </a:r>
          </a:p>
        </p:txBody>
      </p:sp>
      <p:sp>
        <p:nvSpPr>
          <p:cNvPr id="18" name="TextBox 17"/>
          <p:cNvSpPr txBox="1"/>
          <p:nvPr/>
        </p:nvSpPr>
        <p:spPr>
          <a:xfrm>
            <a:off x="804672" y="3300984"/>
            <a:ext cx="4978908" cy="576072"/>
          </a:xfrm>
          <a:prstGeom prst="rect">
            <a:avLst/>
          </a:prstGeom>
          <a:noFill/>
        </p:spPr>
        <p:txBody>
          <a:bodyPr wrap="square" anchor="t" lIns="0" rIns="0" tIns="0" bIns="0">
            <a:spAutoFit/>
          </a:bodyPr>
          <a:lstStyle/>
          <a:p>
            <a:pPr algn="l">
              <a:lnSpc>
                <a:spcPct val="116000"/>
              </a:lnSpc>
              <a:spcBef>
                <a:spcPts val="0"/>
              </a:spcBef>
              <a:spcAft>
                <a:spcPts val="0"/>
              </a:spcAft>
            </a:pPr>
            <a:r>
              <a:rPr sz="1080" b="0" i="0">
                <a:solidFill>
                  <a:srgbClr val="5E7387"/>
                </a:solidFill>
                <a:latin typeface="Arial"/>
              </a:rPr>
              <a:t>Dữ liệu vật tư chuyển từ sổ giấy và tin nhắn thành một hệ thống dùng chung có lịch sử thay đổi. Báo cáo tháng của 17 thôn nộp từ điện thoại và duyệt trong một buổi sáng.</a:t>
            </a:r>
          </a:p>
        </p:txBody>
      </p:sp>
      <p:sp>
        <p:nvSpPr>
          <p:cNvPr id="19" name="Rectangle 18"/>
          <p:cNvSpPr/>
          <p:nvPr/>
        </p:nvSpPr>
        <p:spPr>
          <a:xfrm>
            <a:off x="6185916" y="2743200"/>
            <a:ext cx="5436108" cy="128016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85916" y="2743200"/>
            <a:ext cx="50292" cy="128016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23660" y="2916936"/>
            <a:ext cx="4978908" cy="365760"/>
          </a:xfrm>
          <a:prstGeom prst="rect">
            <a:avLst/>
          </a:prstGeom>
          <a:noFill/>
        </p:spPr>
        <p:txBody>
          <a:bodyPr wrap="square" anchor="t" lIns="0" rIns="0" tIns="0" bIns="0">
            <a:spAutoFit/>
          </a:bodyPr>
          <a:lstStyle/>
          <a:p>
            <a:pPr algn="l">
              <a:lnSpc>
                <a:spcPct val="105000"/>
              </a:lnSpc>
              <a:spcBef>
                <a:spcPts val="0"/>
              </a:spcBef>
              <a:spcAft>
                <a:spcPts val="0"/>
              </a:spcAft>
            </a:pPr>
            <a:r>
              <a:rPr sz="1250" b="1" i="0">
                <a:solidFill>
                  <a:srgbClr val="0B2545"/>
                </a:solidFill>
                <a:latin typeface="Arial"/>
              </a:rPr>
              <a:t>Khả năng đo lường</a:t>
            </a:r>
          </a:p>
        </p:txBody>
      </p:sp>
      <p:sp>
        <p:nvSpPr>
          <p:cNvPr id="22" name="TextBox 21"/>
          <p:cNvSpPr txBox="1"/>
          <p:nvPr/>
        </p:nvSpPr>
        <p:spPr>
          <a:xfrm>
            <a:off x="6423660" y="3300984"/>
            <a:ext cx="4978908" cy="576072"/>
          </a:xfrm>
          <a:prstGeom prst="rect">
            <a:avLst/>
          </a:prstGeom>
          <a:noFill/>
        </p:spPr>
        <p:txBody>
          <a:bodyPr wrap="square" anchor="t" lIns="0" rIns="0" tIns="0" bIns="0">
            <a:spAutoFit/>
          </a:bodyPr>
          <a:lstStyle/>
          <a:p>
            <a:pPr algn="l">
              <a:lnSpc>
                <a:spcPct val="116000"/>
              </a:lnSpc>
              <a:spcBef>
                <a:spcPts val="0"/>
              </a:spcBef>
              <a:spcAft>
                <a:spcPts val="0"/>
              </a:spcAft>
            </a:pPr>
            <a:r>
              <a:rPr sz="1080" b="0" i="0">
                <a:solidFill>
                  <a:srgbClr val="5E7387"/>
                </a:solidFill>
                <a:latin typeface="Arial"/>
              </a:rPr>
              <a:t>Đo hiệu quả bằng chính dữ liệu của nó: thời gian từ lúc nhận báo cáo tới lúc phát hành phương án, tỷ lệ vật tư hết hạn phải hủy, thời gian tới lúc có người ký nhận.</a:t>
            </a:r>
          </a:p>
        </p:txBody>
      </p:sp>
      <p:sp>
        <p:nvSpPr>
          <p:cNvPr id="23" name="TextBox 22"/>
          <p:cNvSpPr txBox="1"/>
          <p:nvPr/>
        </p:nvSpPr>
        <p:spPr>
          <a:xfrm>
            <a:off x="566928" y="4306824"/>
            <a:ext cx="11055096" cy="274320"/>
          </a:xfrm>
          <a:prstGeom prst="rect">
            <a:avLst/>
          </a:prstGeom>
          <a:noFill/>
        </p:spPr>
        <p:txBody>
          <a:bodyPr wrap="square" anchor="t" lIns="0" rIns="0" tIns="0" bIns="0">
            <a:spAutoFit/>
          </a:bodyPr>
          <a:lstStyle/>
          <a:p>
            <a:pPr algn="l">
              <a:lnSpc>
                <a:spcPct val="112000"/>
              </a:lnSpc>
              <a:spcBef>
                <a:spcPts val="0"/>
              </a:spcBef>
              <a:spcAft>
                <a:spcPts val="0"/>
              </a:spcAft>
            </a:pPr>
            <a:r>
              <a:rPr sz="1050" b="1" i="0">
                <a:solidFill>
                  <a:srgbClr val="C43D3D"/>
                </a:solidFill>
                <a:latin typeface="Arial"/>
              </a:rPr>
              <a:t>LỘ TRÌNH BỐN GIAI ĐOẠN</a:t>
            </a:r>
          </a:p>
        </p:txBody>
      </p:sp>
      <p:sp>
        <p:nvSpPr>
          <p:cNvPr id="24" name="Rectangle 23"/>
          <p:cNvSpPr/>
          <p:nvPr/>
        </p:nvSpPr>
        <p:spPr>
          <a:xfrm>
            <a:off x="566928" y="4599432"/>
            <a:ext cx="2654046"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4599432"/>
            <a:ext cx="2654046" cy="4572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31520" y="4745736"/>
            <a:ext cx="2324862" cy="274320"/>
          </a:xfrm>
          <a:prstGeom prst="rect">
            <a:avLst/>
          </a:prstGeom>
          <a:noFill/>
        </p:spPr>
        <p:txBody>
          <a:bodyPr wrap="square" anchor="t" lIns="0" rIns="0" tIns="0" bIns="0">
            <a:spAutoFit/>
          </a:bodyPr>
          <a:lstStyle/>
          <a:p>
            <a:pPr algn="l">
              <a:lnSpc>
                <a:spcPct val="112000"/>
              </a:lnSpc>
              <a:spcBef>
                <a:spcPts val="0"/>
              </a:spcBef>
              <a:spcAft>
                <a:spcPts val="200"/>
              </a:spcAft>
            </a:pPr>
            <a:r>
              <a:rPr sz="900" b="1" i="0">
                <a:solidFill>
                  <a:srgbClr val="C43D3D"/>
                </a:solidFill>
                <a:latin typeface="Arial"/>
              </a:rPr>
              <a:t>GIAI ĐOẠN 1</a:t>
            </a:r>
          </a:p>
        </p:txBody>
      </p:sp>
      <p:sp>
        <p:nvSpPr>
          <p:cNvPr id="27" name="TextBox 26"/>
          <p:cNvSpPr txBox="1"/>
          <p:nvPr/>
        </p:nvSpPr>
        <p:spPr>
          <a:xfrm>
            <a:off x="731520" y="5001768"/>
            <a:ext cx="2324862" cy="292608"/>
          </a:xfrm>
          <a:prstGeom prst="rect">
            <a:avLst/>
          </a:prstGeom>
          <a:noFill/>
        </p:spPr>
        <p:txBody>
          <a:bodyPr wrap="square" anchor="t" lIns="0" rIns="0" tIns="0" bIns="0">
            <a:spAutoFit/>
          </a:bodyPr>
          <a:lstStyle/>
          <a:p>
            <a:pPr algn="l">
              <a:lnSpc>
                <a:spcPct val="105000"/>
              </a:lnSpc>
              <a:spcBef>
                <a:spcPts val="0"/>
              </a:spcBef>
              <a:spcAft>
                <a:spcPts val="0"/>
              </a:spcAft>
            </a:pPr>
            <a:r>
              <a:rPr sz="1150" b="1" i="0">
                <a:solidFill>
                  <a:srgbClr val="0B2545"/>
                </a:solidFill>
                <a:latin typeface="Arial"/>
              </a:rPr>
              <a:t>Hoàn thiện và nghiệm thu</a:t>
            </a:r>
          </a:p>
        </p:txBody>
      </p:sp>
      <p:sp>
        <p:nvSpPr>
          <p:cNvPr id="28" name="TextBox 27"/>
          <p:cNvSpPr txBox="1"/>
          <p:nvPr/>
        </p:nvSpPr>
        <p:spPr>
          <a:xfrm>
            <a:off x="731520" y="5330952"/>
            <a:ext cx="2324862" cy="566928"/>
          </a:xfrm>
          <a:prstGeom prst="rect">
            <a:avLst/>
          </a:prstGeom>
          <a:noFill/>
        </p:spPr>
        <p:txBody>
          <a:bodyPr wrap="square" anchor="t" lIns="0" rIns="0" tIns="0" bIns="0">
            <a:spAutoFit/>
          </a:bodyPr>
          <a:lstStyle/>
          <a:p>
            <a:pPr algn="l">
              <a:lnSpc>
                <a:spcPct val="112000"/>
              </a:lnSpc>
              <a:spcBef>
                <a:spcPts val="0"/>
              </a:spcBef>
              <a:spcAft>
                <a:spcPts val="0"/>
              </a:spcAft>
            </a:pPr>
            <a:r>
              <a:rPr sz="960" b="0" i="0">
                <a:solidFill>
                  <a:srgbClr val="5E7387"/>
                </a:solidFill>
                <a:latin typeface="Arial"/>
              </a:rPr>
              <a:t>Đóng nốt các hạng mục chưa nghiệm thu: thiết bị và mạng nội bộ riêng, lịch sử di trú dữ liệu, diễn tập khôi phục sao lưu</a:t>
            </a:r>
          </a:p>
        </p:txBody>
      </p:sp>
      <p:sp>
        <p:nvSpPr>
          <p:cNvPr id="29" name="Rectangle 28"/>
          <p:cNvSpPr/>
          <p:nvPr/>
        </p:nvSpPr>
        <p:spPr>
          <a:xfrm>
            <a:off x="3367278" y="4599432"/>
            <a:ext cx="2654046"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67278" y="4599432"/>
            <a:ext cx="2654046" cy="45720"/>
          </a:xfrm>
          <a:prstGeom prst="rect">
            <a:avLst/>
          </a:prstGeom>
          <a:solidFill>
            <a:srgbClr val="147D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531870" y="4745736"/>
            <a:ext cx="2324862" cy="274320"/>
          </a:xfrm>
          <a:prstGeom prst="rect">
            <a:avLst/>
          </a:prstGeom>
          <a:noFill/>
        </p:spPr>
        <p:txBody>
          <a:bodyPr wrap="square" anchor="t" lIns="0" rIns="0" tIns="0" bIns="0">
            <a:spAutoFit/>
          </a:bodyPr>
          <a:lstStyle/>
          <a:p>
            <a:pPr algn="l">
              <a:lnSpc>
                <a:spcPct val="112000"/>
              </a:lnSpc>
              <a:spcBef>
                <a:spcPts val="0"/>
              </a:spcBef>
              <a:spcAft>
                <a:spcPts val="200"/>
              </a:spcAft>
            </a:pPr>
            <a:r>
              <a:rPr sz="900" b="1" i="0">
                <a:solidFill>
                  <a:srgbClr val="147D71"/>
                </a:solidFill>
                <a:latin typeface="Arial"/>
              </a:rPr>
              <a:t>GIAI ĐOẠN 2</a:t>
            </a:r>
          </a:p>
        </p:txBody>
      </p:sp>
      <p:sp>
        <p:nvSpPr>
          <p:cNvPr id="32" name="TextBox 31"/>
          <p:cNvSpPr txBox="1"/>
          <p:nvPr/>
        </p:nvSpPr>
        <p:spPr>
          <a:xfrm>
            <a:off x="3531870" y="5001768"/>
            <a:ext cx="2324862" cy="292608"/>
          </a:xfrm>
          <a:prstGeom prst="rect">
            <a:avLst/>
          </a:prstGeom>
          <a:noFill/>
        </p:spPr>
        <p:txBody>
          <a:bodyPr wrap="square" anchor="t" lIns="0" rIns="0" tIns="0" bIns="0">
            <a:spAutoFit/>
          </a:bodyPr>
          <a:lstStyle/>
          <a:p>
            <a:pPr algn="l">
              <a:lnSpc>
                <a:spcPct val="105000"/>
              </a:lnSpc>
              <a:spcBef>
                <a:spcPts val="0"/>
              </a:spcBef>
              <a:spcAft>
                <a:spcPts val="0"/>
              </a:spcAft>
            </a:pPr>
            <a:r>
              <a:rPr sz="1150" b="1" i="0">
                <a:solidFill>
                  <a:srgbClr val="0B2545"/>
                </a:solidFill>
                <a:latin typeface="Arial"/>
              </a:rPr>
              <a:t>Kiểm chứng thực tế tại Đồng Xuân</a:t>
            </a:r>
          </a:p>
        </p:txBody>
      </p:sp>
      <p:sp>
        <p:nvSpPr>
          <p:cNvPr id="33" name="TextBox 32"/>
          <p:cNvSpPr txBox="1"/>
          <p:nvPr/>
        </p:nvSpPr>
        <p:spPr>
          <a:xfrm>
            <a:off x="3531870" y="5330952"/>
            <a:ext cx="2324862" cy="566928"/>
          </a:xfrm>
          <a:prstGeom prst="rect">
            <a:avLst/>
          </a:prstGeom>
          <a:noFill/>
        </p:spPr>
        <p:txBody>
          <a:bodyPr wrap="square" anchor="t" lIns="0" rIns="0" tIns="0" bIns="0">
            <a:spAutoFit/>
          </a:bodyPr>
          <a:lstStyle/>
          <a:p>
            <a:pPr algn="l">
              <a:lnSpc>
                <a:spcPct val="112000"/>
              </a:lnSpc>
              <a:spcBef>
                <a:spcPts val="0"/>
              </a:spcBef>
              <a:spcAft>
                <a:spcPts val="0"/>
              </a:spcAft>
            </a:pPr>
            <a:r>
              <a:rPr sz="960" b="0" i="0">
                <a:solidFill>
                  <a:srgbClr val="5E7387"/>
                </a:solidFill>
                <a:latin typeface="Arial"/>
              </a:rPr>
              <a:t>Nhận thư quan tâm, khảo sát quy trình thật của Hội Chữ thập đỏ xã, chuẩn hóa danh mục và định mức, nhập dữ liệu kiểm kê thật</a:t>
            </a:r>
          </a:p>
        </p:txBody>
      </p:sp>
      <p:sp>
        <p:nvSpPr>
          <p:cNvPr id="34" name="Rectangle 33"/>
          <p:cNvSpPr/>
          <p:nvPr/>
        </p:nvSpPr>
        <p:spPr>
          <a:xfrm>
            <a:off x="6167628" y="4599432"/>
            <a:ext cx="2654046"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167628" y="4599432"/>
            <a:ext cx="2654046" cy="45720"/>
          </a:xfrm>
          <a:prstGeom prst="rect">
            <a:avLst/>
          </a:prstGeom>
          <a:solidFill>
            <a:srgbClr val="1B3F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32220" y="4745736"/>
            <a:ext cx="2324862" cy="274320"/>
          </a:xfrm>
          <a:prstGeom prst="rect">
            <a:avLst/>
          </a:prstGeom>
          <a:noFill/>
        </p:spPr>
        <p:txBody>
          <a:bodyPr wrap="square" anchor="t" lIns="0" rIns="0" tIns="0" bIns="0">
            <a:spAutoFit/>
          </a:bodyPr>
          <a:lstStyle/>
          <a:p>
            <a:pPr algn="l">
              <a:lnSpc>
                <a:spcPct val="112000"/>
              </a:lnSpc>
              <a:spcBef>
                <a:spcPts val="0"/>
              </a:spcBef>
              <a:spcAft>
                <a:spcPts val="200"/>
              </a:spcAft>
            </a:pPr>
            <a:r>
              <a:rPr sz="900" b="1" i="0">
                <a:solidFill>
                  <a:srgbClr val="1B3F6B"/>
                </a:solidFill>
                <a:latin typeface="Arial"/>
              </a:rPr>
              <a:t>GIAI ĐOẠN 3</a:t>
            </a:r>
          </a:p>
        </p:txBody>
      </p:sp>
      <p:sp>
        <p:nvSpPr>
          <p:cNvPr id="37" name="TextBox 36"/>
          <p:cNvSpPr txBox="1"/>
          <p:nvPr/>
        </p:nvSpPr>
        <p:spPr>
          <a:xfrm>
            <a:off x="6332220" y="5001768"/>
            <a:ext cx="2324862" cy="292608"/>
          </a:xfrm>
          <a:prstGeom prst="rect">
            <a:avLst/>
          </a:prstGeom>
          <a:noFill/>
        </p:spPr>
        <p:txBody>
          <a:bodyPr wrap="square" anchor="t" lIns="0" rIns="0" tIns="0" bIns="0">
            <a:spAutoFit/>
          </a:bodyPr>
          <a:lstStyle/>
          <a:p>
            <a:pPr algn="l">
              <a:lnSpc>
                <a:spcPct val="105000"/>
              </a:lnSpc>
              <a:spcBef>
                <a:spcPts val="0"/>
              </a:spcBef>
              <a:spcAft>
                <a:spcPts val="0"/>
              </a:spcAft>
            </a:pPr>
            <a:r>
              <a:rPr sz="1150" b="1" i="0">
                <a:solidFill>
                  <a:srgbClr val="0B2545"/>
                </a:solidFill>
                <a:latin typeface="Arial"/>
              </a:rPr>
              <a:t>Tích hợp phần cứng có chọn lọc</a:t>
            </a:r>
          </a:p>
        </p:txBody>
      </p:sp>
      <p:sp>
        <p:nvSpPr>
          <p:cNvPr id="38" name="TextBox 37"/>
          <p:cNvSpPr txBox="1"/>
          <p:nvPr/>
        </p:nvSpPr>
        <p:spPr>
          <a:xfrm>
            <a:off x="6332220" y="5330952"/>
            <a:ext cx="2324862" cy="566928"/>
          </a:xfrm>
          <a:prstGeom prst="rect">
            <a:avLst/>
          </a:prstGeom>
          <a:noFill/>
        </p:spPr>
        <p:txBody>
          <a:bodyPr wrap="square" anchor="t" lIns="0" rIns="0" tIns="0" bIns="0">
            <a:spAutoFit/>
          </a:bodyPr>
          <a:lstStyle/>
          <a:p>
            <a:pPr algn="l">
              <a:lnSpc>
                <a:spcPct val="112000"/>
              </a:lnSpc>
              <a:spcBef>
                <a:spcPts val="0"/>
              </a:spcBef>
              <a:spcAft>
                <a:spcPts val="0"/>
              </a:spcAft>
            </a:pPr>
            <a:r>
              <a:rPr sz="960" b="0" i="0">
                <a:solidFill>
                  <a:srgbClr val="5E7387"/>
                </a:solidFill>
                <a:latin typeface="Arial"/>
              </a:rPr>
              <a:t>Gắn cân điện tử, RFID và cảm biến môi trường ở một số kệ trọng yếu; chốt giao thức và xác thực thiết bị</a:t>
            </a:r>
          </a:p>
        </p:txBody>
      </p:sp>
      <p:sp>
        <p:nvSpPr>
          <p:cNvPr id="39" name="Rectangle 38"/>
          <p:cNvSpPr/>
          <p:nvPr/>
        </p:nvSpPr>
        <p:spPr>
          <a:xfrm>
            <a:off x="8967978" y="4599432"/>
            <a:ext cx="2654046" cy="1371600"/>
          </a:xfrm>
          <a:prstGeom prst="rect">
            <a:avLst/>
          </a:prstGeom>
          <a:solidFill>
            <a:srgbClr val="F2F5F9"/>
          </a:solidFill>
          <a:ln w="9525">
            <a:solidFill>
              <a:srgbClr val="D3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8967978" y="4599432"/>
            <a:ext cx="2654046" cy="45720"/>
          </a:xfrm>
          <a:prstGeom prst="rect">
            <a:avLst/>
          </a:prstGeom>
          <a:solidFill>
            <a:srgbClr val="D98C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132569" y="4745736"/>
            <a:ext cx="2324862" cy="274320"/>
          </a:xfrm>
          <a:prstGeom prst="rect">
            <a:avLst/>
          </a:prstGeom>
          <a:noFill/>
        </p:spPr>
        <p:txBody>
          <a:bodyPr wrap="square" anchor="t" lIns="0" rIns="0" tIns="0" bIns="0">
            <a:spAutoFit/>
          </a:bodyPr>
          <a:lstStyle/>
          <a:p>
            <a:pPr algn="l">
              <a:lnSpc>
                <a:spcPct val="112000"/>
              </a:lnSpc>
              <a:spcBef>
                <a:spcPts val="0"/>
              </a:spcBef>
              <a:spcAft>
                <a:spcPts val="200"/>
              </a:spcAft>
            </a:pPr>
            <a:r>
              <a:rPr sz="900" b="1" i="0">
                <a:solidFill>
                  <a:srgbClr val="D98C1F"/>
                </a:solidFill>
                <a:latin typeface="Arial"/>
              </a:rPr>
              <a:t>GIAI ĐOẠN 4</a:t>
            </a:r>
          </a:p>
        </p:txBody>
      </p:sp>
      <p:sp>
        <p:nvSpPr>
          <p:cNvPr id="42" name="TextBox 41"/>
          <p:cNvSpPr txBox="1"/>
          <p:nvPr/>
        </p:nvSpPr>
        <p:spPr>
          <a:xfrm>
            <a:off x="9132569" y="5001768"/>
            <a:ext cx="2324862" cy="292608"/>
          </a:xfrm>
          <a:prstGeom prst="rect">
            <a:avLst/>
          </a:prstGeom>
          <a:noFill/>
        </p:spPr>
        <p:txBody>
          <a:bodyPr wrap="square" anchor="t" lIns="0" rIns="0" tIns="0" bIns="0">
            <a:spAutoFit/>
          </a:bodyPr>
          <a:lstStyle/>
          <a:p>
            <a:pPr algn="l">
              <a:lnSpc>
                <a:spcPct val="105000"/>
              </a:lnSpc>
              <a:spcBef>
                <a:spcPts val="0"/>
              </a:spcBef>
              <a:spcAft>
                <a:spcPts val="0"/>
              </a:spcAft>
            </a:pPr>
            <a:r>
              <a:rPr sz="1150" b="1" i="0">
                <a:solidFill>
                  <a:srgbClr val="0B2545"/>
                </a:solidFill>
                <a:latin typeface="Arial"/>
              </a:rPr>
              <a:t>Mở rộng liên xã</a:t>
            </a:r>
          </a:p>
        </p:txBody>
      </p:sp>
      <p:sp>
        <p:nvSpPr>
          <p:cNvPr id="43" name="TextBox 42"/>
          <p:cNvSpPr txBox="1"/>
          <p:nvPr/>
        </p:nvSpPr>
        <p:spPr>
          <a:xfrm>
            <a:off x="9132569" y="5330952"/>
            <a:ext cx="2324862" cy="566928"/>
          </a:xfrm>
          <a:prstGeom prst="rect">
            <a:avLst/>
          </a:prstGeom>
          <a:noFill/>
        </p:spPr>
        <p:txBody>
          <a:bodyPr wrap="square" anchor="t" lIns="0" rIns="0" tIns="0" bIns="0">
            <a:spAutoFit/>
          </a:bodyPr>
          <a:lstStyle/>
          <a:p>
            <a:pPr algn="l">
              <a:lnSpc>
                <a:spcPct val="112000"/>
              </a:lnSpc>
              <a:spcBef>
                <a:spcPts val="0"/>
              </a:spcBef>
              <a:spcAft>
                <a:spcPts val="0"/>
              </a:spcAft>
            </a:pPr>
            <a:r>
              <a:rPr sz="960" b="0" i="0">
                <a:solidFill>
                  <a:srgbClr val="5E7387"/>
                </a:solidFill>
                <a:latin typeface="Arial"/>
              </a:rPr>
              <a:t>Kết nối thêm các xã lân cận, hoàn thiện bản đồ điều phối liên vùng, bổ sung nguồn dữ liệu cảnh báo thiên tai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8716975" y="3931920"/>
            <a:ext cx="4206240" cy="4206240"/>
          </a:xfrm>
          <a:prstGeom prst="ellipse">
            <a:avLst/>
          </a:prstGeom>
          <a:solidFill>
            <a:srgbClr val="1233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51560" y="1417320"/>
            <a:ext cx="9875520" cy="320040"/>
          </a:xfrm>
          <a:prstGeom prst="rect">
            <a:avLst/>
          </a:prstGeom>
          <a:noFill/>
        </p:spPr>
        <p:txBody>
          <a:bodyPr wrap="square" anchor="t" lIns="0" rIns="0" tIns="0" bIns="0">
            <a:spAutoFit/>
          </a:bodyPr>
          <a:lstStyle/>
          <a:p>
            <a:pPr algn="l">
              <a:lnSpc>
                <a:spcPct val="112000"/>
              </a:lnSpc>
              <a:spcBef>
                <a:spcPts val="0"/>
              </a:spcBef>
              <a:spcAft>
                <a:spcPts val="0"/>
              </a:spcAft>
            </a:pPr>
            <a:r>
              <a:rPr sz="1150" b="1" i="0">
                <a:solidFill>
                  <a:srgbClr val="F09B8F"/>
                </a:solidFill>
                <a:latin typeface="Arial"/>
              </a:rPr>
              <a:t>THÔNG ĐIỆP CUỐI</a:t>
            </a:r>
          </a:p>
        </p:txBody>
      </p:sp>
      <p:sp>
        <p:nvSpPr>
          <p:cNvPr id="6" name="TextBox 5"/>
          <p:cNvSpPr txBox="1"/>
          <p:nvPr/>
        </p:nvSpPr>
        <p:spPr>
          <a:xfrm>
            <a:off x="1051560" y="1874519"/>
            <a:ext cx="9692640" cy="1737360"/>
          </a:xfrm>
          <a:prstGeom prst="rect">
            <a:avLst/>
          </a:prstGeom>
          <a:noFill/>
        </p:spPr>
        <p:txBody>
          <a:bodyPr wrap="square" anchor="t" lIns="0" rIns="0" tIns="0" bIns="0">
            <a:spAutoFit/>
          </a:bodyPr>
          <a:lstStyle/>
          <a:p>
            <a:pPr algn="l">
              <a:lnSpc>
                <a:spcPct val="112000"/>
              </a:lnSpc>
              <a:spcBef>
                <a:spcPts val="0"/>
              </a:spcBef>
              <a:spcAft>
                <a:spcPts val="0"/>
              </a:spcAft>
            </a:pPr>
            <a:r>
              <a:rPr sz="3100" b="1" i="0">
                <a:solidFill>
                  <a:srgbClr val="FFFFFF"/>
                </a:solidFill>
                <a:latin typeface="Arial"/>
              </a:rPr>
              <a:t>Ứng phó nhanh quản lý năng lực phản ứng thực tế của kho,
không chỉ số tồn trên sổ.</a:t>
            </a:r>
          </a:p>
        </p:txBody>
      </p:sp>
      <p:sp>
        <p:nvSpPr>
          <p:cNvPr id="7" name="Rectangle 6"/>
          <p:cNvSpPr/>
          <p:nvPr/>
        </p:nvSpPr>
        <p:spPr>
          <a:xfrm>
            <a:off x="1051560" y="3749039"/>
            <a:ext cx="1280160" cy="41148"/>
          </a:xfrm>
          <a:prstGeom prst="rect">
            <a:avLst/>
          </a:prstGeom>
          <a:solidFill>
            <a:srgbClr val="C43D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51560" y="4005072"/>
            <a:ext cx="9509760" cy="914400"/>
          </a:xfrm>
          <a:prstGeom prst="rect">
            <a:avLst/>
          </a:prstGeom>
          <a:noFill/>
        </p:spPr>
        <p:txBody>
          <a:bodyPr wrap="square" anchor="t" lIns="0" rIns="0" tIns="0" bIns="0">
            <a:spAutoFit/>
          </a:bodyPr>
          <a:lstStyle/>
          <a:p>
            <a:pPr algn="l">
              <a:lnSpc>
                <a:spcPct val="120000"/>
              </a:lnSpc>
              <a:spcBef>
                <a:spcPts val="0"/>
              </a:spcBef>
              <a:spcAft>
                <a:spcPts val="0"/>
              </a:spcAft>
            </a:pPr>
            <a:r>
              <a:rPr sz="1500" b="0" i="0">
                <a:solidFill>
                  <a:srgbClr val="C6D6E4"/>
                </a:solidFill>
                <a:latin typeface="Arial"/>
              </a:rPr>
              <a:t>Máy tính toán, người quyết định  ·  Không bịa số  ·  Hỏng cũng phải dùng được</a:t>
            </a:r>
          </a:p>
        </p:txBody>
      </p:sp>
      <p:sp>
        <p:nvSpPr>
          <p:cNvPr id="9" name="TextBox 8"/>
          <p:cNvSpPr txBox="1"/>
          <p:nvPr/>
        </p:nvSpPr>
        <p:spPr>
          <a:xfrm>
            <a:off x="1051560" y="5074920"/>
            <a:ext cx="9692640" cy="1188720"/>
          </a:xfrm>
          <a:prstGeom prst="rect">
            <a:avLst/>
          </a:prstGeom>
          <a:noFill/>
        </p:spPr>
        <p:txBody>
          <a:bodyPr wrap="square" anchor="t" lIns="0" rIns="0" tIns="0" bIns="0">
            <a:spAutoFit/>
          </a:bodyPr>
          <a:lstStyle/>
          <a:p>
            <a:pPr algn="l">
              <a:lnSpc>
                <a:spcPct val="112000"/>
              </a:lnSpc>
              <a:spcBef>
                <a:spcPts val="0"/>
              </a:spcBef>
              <a:spcAft>
                <a:spcPts val="800"/>
              </a:spcAft>
            </a:pPr>
            <a:r>
              <a:rPr sz="1400" b="1" i="0">
                <a:solidFill>
                  <a:srgbClr val="FFFFFF"/>
                </a:solidFill>
                <a:latin typeface="Arial"/>
              </a:rPr>
              <a:t>Xin trân trọng cảm ơn Ban tổ chức và Ban giám khảo.</a:t>
            </a:r>
          </a:p>
          <a:p>
            <a:pPr algn="l">
              <a:lnSpc>
                <a:spcPct val="112000"/>
              </a:lnSpc>
              <a:spcBef>
                <a:spcPts val="0"/>
              </a:spcBef>
              <a:spcAft>
                <a:spcPts val="300"/>
              </a:spcAft>
            </a:pPr>
            <a:r>
              <a:rPr sz="1200" b="0" i="0">
                <a:solidFill>
                  <a:srgbClr val="9EB2C4"/>
                </a:solidFill>
                <a:latin typeface="Arial"/>
              </a:rPr>
              <a:t>Đội LŨ TRẺ  ·  Đại diện: Trần Đình Khôi  ·  0396225940  ·  trandinhkhoi.dx@gmail.com</a:t>
            </a:r>
          </a:p>
          <a:p>
            <a:pPr algn="l">
              <a:lnSpc>
                <a:spcPct val="112000"/>
              </a:lnSpc>
              <a:spcBef>
                <a:spcPts val="0"/>
              </a:spcBef>
              <a:spcAft>
                <a:spcPts val="0"/>
              </a:spcAft>
            </a:pPr>
            <a:r>
              <a:rPr sz="1200" b="0" i="0">
                <a:solidFill>
                  <a:srgbClr val="9EB2C4"/>
                </a:solidFill>
                <a:latin typeface="Arial"/>
              </a:rPr>
              <a:t>Thành viên: Trần Đình Khôi · Nguyễn Khánh Trình · Nguyễn Đăng Khoa · Trần Lê Đan · Lê Gia Luật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